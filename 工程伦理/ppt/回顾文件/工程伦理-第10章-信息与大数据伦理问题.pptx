
<file path=[Content_Types].xml><?xml version="1.0" encoding="utf-8"?>
<Types xmlns="http://schemas.openxmlformats.org/package/2006/content-types">
  <Default Extension="jpeg" ContentType="image/jpe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55"/>
  </p:handoutMasterIdLst>
  <p:sldIdLst>
    <p:sldId id="258" r:id="rId3"/>
    <p:sldId id="383" r:id="rId5"/>
    <p:sldId id="432" r:id="rId6"/>
    <p:sldId id="372" r:id="rId7"/>
    <p:sldId id="319" r:id="rId8"/>
    <p:sldId id="373" r:id="rId9"/>
    <p:sldId id="322" r:id="rId10"/>
    <p:sldId id="300" r:id="rId11"/>
    <p:sldId id="321" r:id="rId12"/>
    <p:sldId id="318" r:id="rId13"/>
    <p:sldId id="320" r:id="rId14"/>
    <p:sldId id="374" r:id="rId15"/>
    <p:sldId id="304" r:id="rId16"/>
    <p:sldId id="375" r:id="rId17"/>
    <p:sldId id="330" r:id="rId18"/>
    <p:sldId id="268" r:id="rId19"/>
    <p:sldId id="280" r:id="rId20"/>
    <p:sldId id="262" r:id="rId21"/>
    <p:sldId id="332" r:id="rId22"/>
    <p:sldId id="333" r:id="rId23"/>
    <p:sldId id="273" r:id="rId24"/>
    <p:sldId id="336" r:id="rId25"/>
    <p:sldId id="334" r:id="rId26"/>
    <p:sldId id="283" r:id="rId27"/>
    <p:sldId id="335" r:id="rId28"/>
    <p:sldId id="293" r:id="rId29"/>
    <p:sldId id="285" r:id="rId30"/>
    <p:sldId id="286" r:id="rId31"/>
    <p:sldId id="287" r:id="rId32"/>
    <p:sldId id="356" r:id="rId33"/>
    <p:sldId id="352" r:id="rId34"/>
    <p:sldId id="344" r:id="rId35"/>
    <p:sldId id="289" r:id="rId36"/>
    <p:sldId id="365" r:id="rId37"/>
    <p:sldId id="362" r:id="rId38"/>
    <p:sldId id="363" r:id="rId39"/>
    <p:sldId id="364" r:id="rId40"/>
    <p:sldId id="290" r:id="rId41"/>
    <p:sldId id="274" r:id="rId42"/>
    <p:sldId id="343" r:id="rId43"/>
    <p:sldId id="366" r:id="rId44"/>
    <p:sldId id="368" r:id="rId45"/>
    <p:sldId id="278" r:id="rId46"/>
    <p:sldId id="369" r:id="rId47"/>
    <p:sldId id="370" r:id="rId48"/>
    <p:sldId id="381" r:id="rId49"/>
    <p:sldId id="377" r:id="rId50"/>
    <p:sldId id="379" r:id="rId51"/>
    <p:sldId id="380" r:id="rId52"/>
    <p:sldId id="382" r:id="rId53"/>
    <p:sldId id="292" r:id="rId54"/>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50"/>
    <p:restoredTop sz="94595"/>
  </p:normalViewPr>
  <p:slideViewPr>
    <p:cSldViewPr snapToGrid="0">
      <p:cViewPr varScale="1">
        <p:scale>
          <a:sx n="63" d="100"/>
          <a:sy n="63" d="100"/>
        </p:scale>
        <p:origin x="-126" y="-16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5" d="100"/>
          <a:sy n="85" d="100"/>
        </p:scale>
        <p:origin x="2952" y="10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handoutMaster" Target="handoutMasters/handoutMaster1.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9F71C4C-30CD-4ED9-83F2-524A2CF6CC8C}" type="doc">
      <dgm:prSet loTypeId="urn:microsoft.com/office/officeart/2005/8/layout/vList2" loCatId="list" qsTypeId="urn:microsoft.com/office/officeart/2005/8/quickstyle/simple1#1" qsCatId="simple" csTypeId="urn:microsoft.com/office/officeart/2005/8/colors/accent1_2#1" csCatId="accent1" phldr="1"/>
      <dgm:spPr/>
      <dgm:t>
        <a:bodyPr/>
        <a:lstStyle/>
        <a:p>
          <a:endParaRPr lang="zh-CN" altLang="en-US"/>
        </a:p>
      </dgm:t>
    </dgm:pt>
    <dgm:pt modelId="{FF96198F-AF80-4003-AEC6-1DE9E7416903}">
      <dgm:prSet phldrT="[文本]"/>
      <dgm:spPr/>
      <dgm:t>
        <a:bodyPr/>
        <a:lstStyle/>
        <a:p>
          <a:r>
            <a:rPr lang="zh-CN" altLang="en-US" b="1" dirty="0" smtClean="0">
              <a:latin typeface="微软雅黑" panose="020B0503020204020204" pitchFamily="34" charset="-122"/>
              <a:ea typeface="微软雅黑" panose="020B0503020204020204" pitchFamily="34" charset="-122"/>
            </a:rPr>
            <a:t>突破</a:t>
          </a:r>
          <a:r>
            <a:rPr lang="en-US" altLang="zh-CN" b="1" dirty="0" smtClean="0">
              <a:latin typeface="微软雅黑" panose="020B0503020204020204" pitchFamily="34" charset="-122"/>
              <a:ea typeface="微软雅黑" panose="020B0503020204020204" pitchFamily="34" charset="-122"/>
            </a:rPr>
            <a:t>1</a:t>
          </a:r>
          <a:r>
            <a:rPr lang="zh-CN" altLang="en-US" b="1" dirty="0" smtClean="0">
              <a:latin typeface="微软雅黑" panose="020B0503020204020204" pitchFamily="34" charset="-122"/>
              <a:ea typeface="微软雅黑" panose="020B0503020204020204" pitchFamily="34" charset="-122"/>
            </a:rPr>
            <a:t>：开展技术升级：落实网络实名制，加大对一年</a:t>
          </a:r>
          <a:r>
            <a:rPr lang="en-US" altLang="zh-CN" b="1" dirty="0" smtClean="0">
              <a:latin typeface="微软雅黑" panose="020B0503020204020204" pitchFamily="34" charset="-122"/>
              <a:ea typeface="微软雅黑" panose="020B0503020204020204" pitchFamily="34" charset="-122"/>
            </a:rPr>
            <a:t>800</a:t>
          </a:r>
          <a:r>
            <a:rPr lang="zh-CN" altLang="en-US" b="1" dirty="0" smtClean="0">
              <a:latin typeface="微软雅黑" panose="020B0503020204020204" pitchFamily="34" charset="-122"/>
              <a:ea typeface="微软雅黑" panose="020B0503020204020204" pitchFamily="34" charset="-122"/>
            </a:rPr>
            <a:t>亿条改号电话的拦截力度</a:t>
          </a:r>
          <a:endParaRPr lang="zh-CN" altLang="en-US" b="1" dirty="0">
            <a:latin typeface="微软雅黑" panose="020B0503020204020204" pitchFamily="34" charset="-122"/>
            <a:ea typeface="微软雅黑" panose="020B0503020204020204" pitchFamily="34" charset="-122"/>
          </a:endParaRPr>
        </a:p>
      </dgm:t>
    </dgm:pt>
    <dgm:pt modelId="{D9D85364-D41A-4B74-B157-23DCF8A93E2E}" cxnId="{9D420D1B-1D19-4EC9-B6F4-B017946D0465}" type="parTrans">
      <dgm:prSet/>
      <dgm:spPr/>
      <dgm:t>
        <a:bodyPr/>
        <a:lstStyle/>
        <a:p>
          <a:endParaRPr lang="zh-CN" altLang="en-US" b="1">
            <a:latin typeface="微软雅黑" panose="020B0503020204020204" pitchFamily="34" charset="-122"/>
            <a:ea typeface="微软雅黑" panose="020B0503020204020204" pitchFamily="34" charset="-122"/>
          </a:endParaRPr>
        </a:p>
      </dgm:t>
    </dgm:pt>
    <dgm:pt modelId="{3CE0F09F-B1E8-40F8-B764-700CD668595F}" cxnId="{9D420D1B-1D19-4EC9-B6F4-B017946D0465}" type="sibTrans">
      <dgm:prSet/>
      <dgm:spPr/>
      <dgm:t>
        <a:bodyPr/>
        <a:lstStyle/>
        <a:p>
          <a:endParaRPr lang="zh-CN" altLang="en-US" b="1">
            <a:latin typeface="微软雅黑" panose="020B0503020204020204" pitchFamily="34" charset="-122"/>
            <a:ea typeface="微软雅黑" panose="020B0503020204020204" pitchFamily="34" charset="-122"/>
          </a:endParaRPr>
        </a:p>
      </dgm:t>
    </dgm:pt>
    <dgm:pt modelId="{B06B5A09-A38E-4A7F-8328-2D0EDC10D9D2}">
      <dgm:prSet phldrT="[文本]" phldr="1"/>
      <dgm:spPr/>
      <dgm:t>
        <a:bodyPr/>
        <a:lstStyle/>
        <a:p>
          <a:endParaRPr lang="zh-CN" altLang="en-US" b="1">
            <a:latin typeface="微软雅黑" panose="020B0503020204020204" pitchFamily="34" charset="-122"/>
            <a:ea typeface="微软雅黑" panose="020B0503020204020204" pitchFamily="34" charset="-122"/>
          </a:endParaRPr>
        </a:p>
      </dgm:t>
    </dgm:pt>
    <dgm:pt modelId="{483F978E-D5EF-4C25-91A4-36C77940C00A}" cxnId="{9F65EC30-61FD-4AEA-8741-8265F57E62D8}" type="parTrans">
      <dgm:prSet/>
      <dgm:spPr/>
      <dgm:t>
        <a:bodyPr/>
        <a:lstStyle/>
        <a:p>
          <a:endParaRPr lang="zh-CN" altLang="en-US" b="1">
            <a:latin typeface="微软雅黑" panose="020B0503020204020204" pitchFamily="34" charset="-122"/>
            <a:ea typeface="微软雅黑" panose="020B0503020204020204" pitchFamily="34" charset="-122"/>
          </a:endParaRPr>
        </a:p>
      </dgm:t>
    </dgm:pt>
    <dgm:pt modelId="{A60BCBB7-9AE9-404B-ACB4-4EDCCC0A3C8D}" cxnId="{9F65EC30-61FD-4AEA-8741-8265F57E62D8}" type="sibTrans">
      <dgm:prSet/>
      <dgm:spPr/>
      <dgm:t>
        <a:bodyPr/>
        <a:lstStyle/>
        <a:p>
          <a:endParaRPr lang="zh-CN" altLang="en-US" b="1">
            <a:latin typeface="微软雅黑" panose="020B0503020204020204" pitchFamily="34" charset="-122"/>
            <a:ea typeface="微软雅黑" panose="020B0503020204020204" pitchFamily="34" charset="-122"/>
          </a:endParaRPr>
        </a:p>
      </dgm:t>
    </dgm:pt>
    <dgm:pt modelId="{473F7257-AFDA-4726-9857-0E2C68F92185}">
      <dgm:prSet phldrT="[文本]"/>
      <dgm:spPr/>
      <dgm:t>
        <a:bodyPr/>
        <a:lstStyle/>
        <a:p>
          <a:r>
            <a:rPr lang="zh-CN" altLang="en-US" b="1" dirty="0" smtClean="0">
              <a:latin typeface="微软雅黑" panose="020B0503020204020204" pitchFamily="34" charset="-122"/>
              <a:ea typeface="微软雅黑" panose="020B0503020204020204" pitchFamily="34" charset="-122"/>
            </a:rPr>
            <a:t>突破</a:t>
          </a:r>
          <a:r>
            <a:rPr lang="en-US" altLang="zh-CN" b="1" dirty="0" smtClean="0">
              <a:latin typeface="微软雅黑" panose="020B0503020204020204" pitchFamily="34" charset="-122"/>
              <a:ea typeface="微软雅黑" panose="020B0503020204020204" pitchFamily="34" charset="-122"/>
            </a:rPr>
            <a:t>3</a:t>
          </a:r>
          <a:r>
            <a:rPr lang="zh-CN" altLang="en-US" b="1" dirty="0" smtClean="0">
              <a:latin typeface="微软雅黑" panose="020B0503020204020204" pitchFamily="34" charset="-122"/>
              <a:ea typeface="微软雅黑" panose="020B0503020204020204" pitchFamily="34" charset="-122"/>
            </a:rPr>
            <a:t>：堵住资金流：公安和银行联动，前</a:t>
          </a:r>
          <a:r>
            <a:rPr lang="en-US" altLang="zh-CN" b="1" dirty="0" smtClean="0">
              <a:latin typeface="微软雅黑" panose="020B0503020204020204" pitchFamily="34" charset="-122"/>
              <a:ea typeface="微软雅黑" panose="020B0503020204020204" pitchFamily="34" charset="-122"/>
            </a:rPr>
            <a:t>10</a:t>
          </a:r>
          <a:r>
            <a:rPr lang="zh-CN" altLang="en-US" b="1" dirty="0" smtClean="0">
              <a:latin typeface="微软雅黑" panose="020B0503020204020204" pitchFamily="34" charset="-122"/>
              <a:ea typeface="微软雅黑" panose="020B0503020204020204" pitchFamily="34" charset="-122"/>
            </a:rPr>
            <a:t>个月避免损失</a:t>
          </a:r>
          <a:r>
            <a:rPr lang="en-US" altLang="zh-CN" b="1" dirty="0" smtClean="0">
              <a:latin typeface="微软雅黑" panose="020B0503020204020204" pitchFamily="34" charset="-122"/>
              <a:ea typeface="微软雅黑" panose="020B0503020204020204" pitchFamily="34" charset="-122"/>
            </a:rPr>
            <a:t>48.7</a:t>
          </a:r>
          <a:r>
            <a:rPr lang="zh-CN" altLang="en-US" b="1" dirty="0" smtClean="0">
              <a:latin typeface="微软雅黑" panose="020B0503020204020204" pitchFamily="34" charset="-122"/>
              <a:ea typeface="微软雅黑" panose="020B0503020204020204" pitchFamily="34" charset="-122"/>
            </a:rPr>
            <a:t>亿元</a:t>
          </a:r>
          <a:endParaRPr lang="zh-CN" altLang="en-US" b="1" dirty="0">
            <a:latin typeface="微软雅黑" panose="020B0503020204020204" pitchFamily="34" charset="-122"/>
            <a:ea typeface="微软雅黑" panose="020B0503020204020204" pitchFamily="34" charset="-122"/>
          </a:endParaRPr>
        </a:p>
      </dgm:t>
    </dgm:pt>
    <dgm:pt modelId="{8D7BA096-7E2A-4D5B-9850-B884584D0035}" cxnId="{3F5DFB75-CB84-44D5-871F-26F3A8851104}" type="parTrans">
      <dgm:prSet/>
      <dgm:spPr/>
      <dgm:t>
        <a:bodyPr/>
        <a:lstStyle/>
        <a:p>
          <a:endParaRPr lang="zh-CN" altLang="en-US" b="1">
            <a:latin typeface="微软雅黑" panose="020B0503020204020204" pitchFamily="34" charset="-122"/>
            <a:ea typeface="微软雅黑" panose="020B0503020204020204" pitchFamily="34" charset="-122"/>
          </a:endParaRPr>
        </a:p>
      </dgm:t>
    </dgm:pt>
    <dgm:pt modelId="{F7D81555-5BAB-4FE2-8B7B-CA41EEAFB3C7}" cxnId="{3F5DFB75-CB84-44D5-871F-26F3A8851104}" type="sibTrans">
      <dgm:prSet/>
      <dgm:spPr/>
      <dgm:t>
        <a:bodyPr/>
        <a:lstStyle/>
        <a:p>
          <a:endParaRPr lang="zh-CN" altLang="en-US" b="1">
            <a:latin typeface="微软雅黑" panose="020B0503020204020204" pitchFamily="34" charset="-122"/>
            <a:ea typeface="微软雅黑" panose="020B0503020204020204" pitchFamily="34" charset="-122"/>
          </a:endParaRPr>
        </a:p>
      </dgm:t>
    </dgm:pt>
    <dgm:pt modelId="{26ED07DF-76D9-4329-B4AA-A6D259AE846A}">
      <dgm:prSet phldrT="[文本]"/>
      <dgm:spPr/>
      <dgm:t>
        <a:bodyPr/>
        <a:lstStyle/>
        <a:p>
          <a:r>
            <a:rPr lang="en-US" altLang="zh-CN" b="1" dirty="0" smtClean="0">
              <a:latin typeface="微软雅黑" panose="020B0503020204020204" pitchFamily="34" charset="-122"/>
              <a:ea typeface="微软雅黑" panose="020B0503020204020204" pitchFamily="34" charset="-122"/>
            </a:rPr>
            <a:t>2016</a:t>
          </a:r>
          <a:r>
            <a:rPr lang="zh-CN" altLang="en-US" b="1" dirty="0" smtClean="0">
              <a:latin typeface="微软雅黑" panose="020B0503020204020204" pitchFamily="34" charset="-122"/>
              <a:ea typeface="微软雅黑" panose="020B0503020204020204" pitchFamily="34" charset="-122"/>
            </a:rPr>
            <a:t>年</a:t>
          </a:r>
          <a:r>
            <a:rPr lang="en-US" altLang="zh-CN" b="1" dirty="0" smtClean="0">
              <a:latin typeface="微软雅黑" panose="020B0503020204020204" pitchFamily="34" charset="-122"/>
              <a:ea typeface="微软雅黑" panose="020B0503020204020204" pitchFamily="34" charset="-122"/>
            </a:rPr>
            <a:t>12</a:t>
          </a:r>
          <a:r>
            <a:rPr lang="zh-CN" altLang="en-US" b="1" dirty="0" smtClean="0">
              <a:latin typeface="微软雅黑" panose="020B0503020204020204" pitchFamily="34" charset="-122"/>
              <a:ea typeface="微软雅黑" panose="020B0503020204020204" pitchFamily="34" charset="-122"/>
            </a:rPr>
            <a:t>月</a:t>
          </a:r>
          <a:r>
            <a:rPr lang="en-US" altLang="zh-CN" b="1" dirty="0" smtClean="0">
              <a:latin typeface="微软雅黑" panose="020B0503020204020204" pitchFamily="34" charset="-122"/>
              <a:ea typeface="微软雅黑" panose="020B0503020204020204" pitchFamily="34" charset="-122"/>
            </a:rPr>
            <a:t>15</a:t>
          </a:r>
          <a:r>
            <a:rPr lang="zh-CN" altLang="en-US" b="1" dirty="0" smtClean="0">
              <a:latin typeface="微软雅黑" panose="020B0503020204020204" pitchFamily="34" charset="-122"/>
              <a:ea typeface="微软雅黑" panose="020B0503020204020204" pitchFamily="34" charset="-122"/>
            </a:rPr>
            <a:t>日新华社报道</a:t>
          </a:r>
          <a:r>
            <a:rPr lang="en-US" altLang="zh-CN" b="1" dirty="0" smtClean="0">
              <a:latin typeface="微软雅黑" panose="020B0503020204020204" pitchFamily="34" charset="-122"/>
              <a:ea typeface="微软雅黑" panose="020B0503020204020204" pitchFamily="34" charset="-122"/>
            </a:rPr>
            <a:t>;2016</a:t>
          </a:r>
          <a:r>
            <a:rPr lang="zh-CN" altLang="en-US" b="1" dirty="0" smtClean="0">
              <a:latin typeface="微软雅黑" panose="020B0503020204020204" pitchFamily="34" charset="-122"/>
              <a:ea typeface="微软雅黑" panose="020B0503020204020204" pitchFamily="34" charset="-122"/>
            </a:rPr>
            <a:t>电信诈骗案治理：破案</a:t>
          </a:r>
          <a:r>
            <a:rPr lang="en-US" altLang="zh-CN" b="1" dirty="0" smtClean="0">
              <a:latin typeface="微软雅黑" panose="020B0503020204020204" pitchFamily="34" charset="-122"/>
              <a:ea typeface="微软雅黑" panose="020B0503020204020204" pitchFamily="34" charset="-122"/>
            </a:rPr>
            <a:t>9.3</a:t>
          </a:r>
          <a:r>
            <a:rPr lang="zh-CN" altLang="en-US" b="1" dirty="0" smtClean="0">
              <a:latin typeface="微软雅黑" panose="020B0503020204020204" pitchFamily="34" charset="-122"/>
              <a:ea typeface="微软雅黑" panose="020B0503020204020204" pitchFamily="34" charset="-122"/>
            </a:rPr>
            <a:t>万起 挽回近</a:t>
          </a:r>
          <a:r>
            <a:rPr lang="en-US" altLang="zh-CN" b="1" dirty="0" smtClean="0">
              <a:latin typeface="微软雅黑" panose="020B0503020204020204" pitchFamily="34" charset="-122"/>
              <a:ea typeface="微软雅黑" panose="020B0503020204020204" pitchFamily="34" charset="-122"/>
            </a:rPr>
            <a:t>49</a:t>
          </a:r>
          <a:r>
            <a:rPr lang="zh-CN" altLang="en-US" b="1" dirty="0" smtClean="0">
              <a:latin typeface="微软雅黑" panose="020B0503020204020204" pitchFamily="34" charset="-122"/>
              <a:ea typeface="微软雅黑" panose="020B0503020204020204" pitchFamily="34" charset="-122"/>
            </a:rPr>
            <a:t>亿</a:t>
          </a:r>
          <a:endParaRPr lang="zh-CN" altLang="en-US" b="1" dirty="0">
            <a:latin typeface="微软雅黑" panose="020B0503020204020204" pitchFamily="34" charset="-122"/>
            <a:ea typeface="微软雅黑" panose="020B0503020204020204" pitchFamily="34" charset="-122"/>
          </a:endParaRPr>
        </a:p>
      </dgm:t>
    </dgm:pt>
    <dgm:pt modelId="{D2372EA7-A27C-486D-BB5D-44CAE0D183AE}" cxnId="{901E27E3-AC7C-4CB6-9A8E-0DD77DDCAD5F}" type="parTrans">
      <dgm:prSet/>
      <dgm:spPr/>
      <dgm:t>
        <a:bodyPr/>
        <a:lstStyle/>
        <a:p>
          <a:endParaRPr lang="zh-CN" altLang="en-US" b="1">
            <a:latin typeface="微软雅黑" panose="020B0503020204020204" pitchFamily="34" charset="-122"/>
            <a:ea typeface="微软雅黑" panose="020B0503020204020204" pitchFamily="34" charset="-122"/>
          </a:endParaRPr>
        </a:p>
      </dgm:t>
    </dgm:pt>
    <dgm:pt modelId="{469CCEC4-8266-4221-94D8-7E2D989F39C5}" cxnId="{901E27E3-AC7C-4CB6-9A8E-0DD77DDCAD5F}" type="sibTrans">
      <dgm:prSet/>
      <dgm:spPr/>
      <dgm:t>
        <a:bodyPr/>
        <a:lstStyle/>
        <a:p>
          <a:endParaRPr lang="zh-CN" altLang="en-US" b="1">
            <a:latin typeface="微软雅黑" panose="020B0503020204020204" pitchFamily="34" charset="-122"/>
            <a:ea typeface="微软雅黑" panose="020B0503020204020204" pitchFamily="34" charset="-122"/>
          </a:endParaRPr>
        </a:p>
      </dgm:t>
    </dgm:pt>
    <dgm:pt modelId="{3F97166A-E661-4D46-A1C8-F03EB82E9338}">
      <dgm:prSet/>
      <dgm:spPr/>
      <dgm:t>
        <a:bodyPr/>
        <a:lstStyle/>
        <a:p>
          <a:r>
            <a:rPr lang="zh-CN" altLang="en-US" b="1" dirty="0" smtClean="0">
              <a:latin typeface="微软雅黑" panose="020B0503020204020204" pitchFamily="34" charset="-122"/>
              <a:ea typeface="微软雅黑" panose="020B0503020204020204" pitchFamily="34" charset="-122"/>
            </a:rPr>
            <a:t>突破</a:t>
          </a:r>
          <a:r>
            <a:rPr lang="en-US" altLang="zh-CN" b="1" dirty="0" smtClean="0">
              <a:latin typeface="微软雅黑" panose="020B0503020204020204" pitchFamily="34" charset="-122"/>
              <a:ea typeface="微软雅黑" panose="020B0503020204020204" pitchFamily="34" charset="-122"/>
            </a:rPr>
            <a:t>2</a:t>
          </a:r>
          <a:r>
            <a:rPr lang="zh-CN" altLang="en-US" b="1" dirty="0" smtClean="0">
              <a:latin typeface="微软雅黑" panose="020B0503020204020204" pitchFamily="34" charset="-122"/>
              <a:ea typeface="微软雅黑" panose="020B0503020204020204" pitchFamily="34" charset="-122"/>
            </a:rPr>
            <a:t>：打击团伙犯罪：专项整治“诈骗之乡”，公安部督办</a:t>
          </a:r>
          <a:r>
            <a:rPr lang="en-US" altLang="zh-CN" b="1" dirty="0" smtClean="0">
              <a:latin typeface="微软雅黑" panose="020B0503020204020204" pitchFamily="34" charset="-122"/>
              <a:ea typeface="微软雅黑" panose="020B0503020204020204" pitchFamily="34" charset="-122"/>
            </a:rPr>
            <a:t>62</a:t>
          </a:r>
          <a:r>
            <a:rPr lang="zh-CN" altLang="en-US" b="1" dirty="0" smtClean="0">
              <a:latin typeface="微软雅黑" panose="020B0503020204020204" pitchFamily="34" charset="-122"/>
              <a:ea typeface="微软雅黑" panose="020B0503020204020204" pitchFamily="34" charset="-122"/>
            </a:rPr>
            <a:t>起电信网络诈骗案</a:t>
          </a:r>
          <a:endParaRPr lang="zh-CN" altLang="en-US" b="1" dirty="0">
            <a:latin typeface="微软雅黑" panose="020B0503020204020204" pitchFamily="34" charset="-122"/>
            <a:ea typeface="微软雅黑" panose="020B0503020204020204" pitchFamily="34" charset="-122"/>
          </a:endParaRPr>
        </a:p>
      </dgm:t>
    </dgm:pt>
    <dgm:pt modelId="{BBF3C7BF-04E3-43BD-ACF9-A1F86F5993A0}" cxnId="{D74E833A-6686-411D-BD9D-A24BC022B6CF}" type="parTrans">
      <dgm:prSet/>
      <dgm:spPr/>
      <dgm:t>
        <a:bodyPr/>
        <a:lstStyle/>
        <a:p>
          <a:endParaRPr lang="zh-CN" altLang="en-US" b="1">
            <a:latin typeface="微软雅黑" panose="020B0503020204020204" pitchFamily="34" charset="-122"/>
            <a:ea typeface="微软雅黑" panose="020B0503020204020204" pitchFamily="34" charset="-122"/>
          </a:endParaRPr>
        </a:p>
      </dgm:t>
    </dgm:pt>
    <dgm:pt modelId="{10DF6753-1D5D-4BE0-AF80-01792D269C42}" cxnId="{D74E833A-6686-411D-BD9D-A24BC022B6CF}" type="sibTrans">
      <dgm:prSet/>
      <dgm:spPr/>
      <dgm:t>
        <a:bodyPr/>
        <a:lstStyle/>
        <a:p>
          <a:endParaRPr lang="zh-CN" altLang="en-US" b="1">
            <a:latin typeface="微软雅黑" panose="020B0503020204020204" pitchFamily="34" charset="-122"/>
            <a:ea typeface="微软雅黑" panose="020B0503020204020204" pitchFamily="34" charset="-122"/>
          </a:endParaRPr>
        </a:p>
      </dgm:t>
    </dgm:pt>
    <dgm:pt modelId="{324DECEE-41D4-4A07-B1FE-F1ED75A5966D}" type="pres">
      <dgm:prSet presAssocID="{B9F71C4C-30CD-4ED9-83F2-524A2CF6CC8C}" presName="linear" presStyleCnt="0">
        <dgm:presLayoutVars>
          <dgm:animLvl val="lvl"/>
          <dgm:resizeHandles val="exact"/>
        </dgm:presLayoutVars>
      </dgm:prSet>
      <dgm:spPr/>
      <dgm:t>
        <a:bodyPr/>
        <a:lstStyle/>
        <a:p>
          <a:endParaRPr lang="zh-CN" altLang="en-US"/>
        </a:p>
      </dgm:t>
    </dgm:pt>
    <dgm:pt modelId="{717161F9-ACC0-4F7C-9F3D-295E74585564}" type="pres">
      <dgm:prSet presAssocID="{FF96198F-AF80-4003-AEC6-1DE9E7416903}" presName="parentText" presStyleLbl="node1" presStyleIdx="0" presStyleCnt="3" custLinFactNeighborX="-6112" custLinFactNeighborY="-45833">
        <dgm:presLayoutVars>
          <dgm:chMax val="0"/>
          <dgm:bulletEnabled val="1"/>
        </dgm:presLayoutVars>
      </dgm:prSet>
      <dgm:spPr/>
      <dgm:t>
        <a:bodyPr/>
        <a:lstStyle/>
        <a:p>
          <a:endParaRPr lang="zh-CN" altLang="en-US"/>
        </a:p>
      </dgm:t>
    </dgm:pt>
    <dgm:pt modelId="{187C09DA-0F78-4D32-A50A-D634F1E89738}" type="pres">
      <dgm:prSet presAssocID="{FF96198F-AF80-4003-AEC6-1DE9E7416903}" presName="childText" presStyleLbl="revTx" presStyleIdx="0" presStyleCnt="2">
        <dgm:presLayoutVars>
          <dgm:bulletEnabled val="1"/>
        </dgm:presLayoutVars>
      </dgm:prSet>
      <dgm:spPr/>
      <dgm:t>
        <a:bodyPr/>
        <a:lstStyle/>
        <a:p>
          <a:endParaRPr lang="zh-CN" altLang="en-US"/>
        </a:p>
      </dgm:t>
    </dgm:pt>
    <dgm:pt modelId="{F410F989-31E7-4D02-8F8C-A287B22E24FB}" type="pres">
      <dgm:prSet presAssocID="{473F7257-AFDA-4726-9857-0E2C68F92185}" presName="parentText" presStyleLbl="node1" presStyleIdx="1" presStyleCnt="3" custLinFactY="34896" custLinFactNeighborX="12" custLinFactNeighborY="100000">
        <dgm:presLayoutVars>
          <dgm:chMax val="0"/>
          <dgm:bulletEnabled val="1"/>
        </dgm:presLayoutVars>
      </dgm:prSet>
      <dgm:spPr/>
      <dgm:t>
        <a:bodyPr/>
        <a:lstStyle/>
        <a:p>
          <a:endParaRPr lang="zh-CN" altLang="en-US"/>
        </a:p>
      </dgm:t>
    </dgm:pt>
    <dgm:pt modelId="{FCF8B384-0A3D-4CB9-8E14-6BC329358825}" type="pres">
      <dgm:prSet presAssocID="{473F7257-AFDA-4726-9857-0E2C68F92185}" presName="childText" presStyleLbl="revTx" presStyleIdx="1" presStyleCnt="2" custLinFactY="3266" custLinFactNeighborX="12" custLinFactNeighborY="100000">
        <dgm:presLayoutVars>
          <dgm:bulletEnabled val="1"/>
        </dgm:presLayoutVars>
      </dgm:prSet>
      <dgm:spPr/>
      <dgm:t>
        <a:bodyPr/>
        <a:lstStyle/>
        <a:p>
          <a:endParaRPr lang="zh-CN" altLang="en-US"/>
        </a:p>
      </dgm:t>
    </dgm:pt>
    <dgm:pt modelId="{66E3B868-B4E1-45E6-9205-1F6262486AF8}" type="pres">
      <dgm:prSet presAssocID="{3F97166A-E661-4D46-A1C8-F03EB82E9338}" presName="parentText" presStyleLbl="node1" presStyleIdx="2" presStyleCnt="3" custLinFactY="-100000" custLinFactNeighborX="12" custLinFactNeighborY="-141469">
        <dgm:presLayoutVars>
          <dgm:chMax val="0"/>
          <dgm:bulletEnabled val="1"/>
        </dgm:presLayoutVars>
      </dgm:prSet>
      <dgm:spPr/>
      <dgm:t>
        <a:bodyPr/>
        <a:lstStyle/>
        <a:p>
          <a:endParaRPr lang="zh-CN" altLang="en-US"/>
        </a:p>
      </dgm:t>
    </dgm:pt>
  </dgm:ptLst>
  <dgm:cxnLst>
    <dgm:cxn modelId="{09C86FBF-D16F-480A-AFB9-D6B78D0615C5}" type="presOf" srcId="{B9F71C4C-30CD-4ED9-83F2-524A2CF6CC8C}" destId="{324DECEE-41D4-4A07-B1FE-F1ED75A5966D}" srcOrd="0" destOrd="0" presId="urn:microsoft.com/office/officeart/2005/8/layout/vList2"/>
    <dgm:cxn modelId="{901E27E3-AC7C-4CB6-9A8E-0DD77DDCAD5F}" srcId="{473F7257-AFDA-4726-9857-0E2C68F92185}" destId="{26ED07DF-76D9-4329-B4AA-A6D259AE846A}" srcOrd="0" destOrd="0" parTransId="{D2372EA7-A27C-486D-BB5D-44CAE0D183AE}" sibTransId="{469CCEC4-8266-4221-94D8-7E2D989F39C5}"/>
    <dgm:cxn modelId="{AE31D32F-BBCB-4F1F-8C08-B4E761AB2D08}" type="presOf" srcId="{B06B5A09-A38E-4A7F-8328-2D0EDC10D9D2}" destId="{187C09DA-0F78-4D32-A50A-D634F1E89738}" srcOrd="0" destOrd="0" presId="urn:microsoft.com/office/officeart/2005/8/layout/vList2"/>
    <dgm:cxn modelId="{D74E833A-6686-411D-BD9D-A24BC022B6CF}" srcId="{B9F71C4C-30CD-4ED9-83F2-524A2CF6CC8C}" destId="{3F97166A-E661-4D46-A1C8-F03EB82E9338}" srcOrd="2" destOrd="0" parTransId="{BBF3C7BF-04E3-43BD-ACF9-A1F86F5993A0}" sibTransId="{10DF6753-1D5D-4BE0-AF80-01792D269C42}"/>
    <dgm:cxn modelId="{309693EB-CD9B-41D4-9093-85BFCAD42A3D}" type="presOf" srcId="{26ED07DF-76D9-4329-B4AA-A6D259AE846A}" destId="{FCF8B384-0A3D-4CB9-8E14-6BC329358825}" srcOrd="0" destOrd="0" presId="urn:microsoft.com/office/officeart/2005/8/layout/vList2"/>
    <dgm:cxn modelId="{5C8F20B0-9FD6-4E28-A8FE-9C0C91BC536D}" type="presOf" srcId="{473F7257-AFDA-4726-9857-0E2C68F92185}" destId="{F410F989-31E7-4D02-8F8C-A287B22E24FB}" srcOrd="0" destOrd="0" presId="urn:microsoft.com/office/officeart/2005/8/layout/vList2"/>
    <dgm:cxn modelId="{CA5986BA-F4D1-440B-9F5E-9A85B5EC8886}" type="presOf" srcId="{3F97166A-E661-4D46-A1C8-F03EB82E9338}" destId="{66E3B868-B4E1-45E6-9205-1F6262486AF8}" srcOrd="0" destOrd="0" presId="urn:microsoft.com/office/officeart/2005/8/layout/vList2"/>
    <dgm:cxn modelId="{01E922D3-D1FE-4ACD-8BED-8F6F44897646}" type="presOf" srcId="{FF96198F-AF80-4003-AEC6-1DE9E7416903}" destId="{717161F9-ACC0-4F7C-9F3D-295E74585564}" srcOrd="0" destOrd="0" presId="urn:microsoft.com/office/officeart/2005/8/layout/vList2"/>
    <dgm:cxn modelId="{9F65EC30-61FD-4AEA-8741-8265F57E62D8}" srcId="{FF96198F-AF80-4003-AEC6-1DE9E7416903}" destId="{B06B5A09-A38E-4A7F-8328-2D0EDC10D9D2}" srcOrd="0" destOrd="0" parTransId="{483F978E-D5EF-4C25-91A4-36C77940C00A}" sibTransId="{A60BCBB7-9AE9-404B-ACB4-4EDCCC0A3C8D}"/>
    <dgm:cxn modelId="{9D420D1B-1D19-4EC9-B6F4-B017946D0465}" srcId="{B9F71C4C-30CD-4ED9-83F2-524A2CF6CC8C}" destId="{FF96198F-AF80-4003-AEC6-1DE9E7416903}" srcOrd="0" destOrd="0" parTransId="{D9D85364-D41A-4B74-B157-23DCF8A93E2E}" sibTransId="{3CE0F09F-B1E8-40F8-B764-700CD668595F}"/>
    <dgm:cxn modelId="{3F5DFB75-CB84-44D5-871F-26F3A8851104}" srcId="{B9F71C4C-30CD-4ED9-83F2-524A2CF6CC8C}" destId="{473F7257-AFDA-4726-9857-0E2C68F92185}" srcOrd="1" destOrd="0" parTransId="{8D7BA096-7E2A-4D5B-9850-B884584D0035}" sibTransId="{F7D81555-5BAB-4FE2-8B7B-CA41EEAFB3C7}"/>
    <dgm:cxn modelId="{9DC297E6-E52A-4BB6-A39F-85C9F5E5AAC6}" type="presParOf" srcId="{324DECEE-41D4-4A07-B1FE-F1ED75A5966D}" destId="{717161F9-ACC0-4F7C-9F3D-295E74585564}" srcOrd="0" destOrd="0" presId="urn:microsoft.com/office/officeart/2005/8/layout/vList2"/>
    <dgm:cxn modelId="{86E43940-4B03-42B9-9F2D-F4174A78B955}" type="presParOf" srcId="{324DECEE-41D4-4A07-B1FE-F1ED75A5966D}" destId="{187C09DA-0F78-4D32-A50A-D634F1E89738}" srcOrd="1" destOrd="0" presId="urn:microsoft.com/office/officeart/2005/8/layout/vList2"/>
    <dgm:cxn modelId="{60427906-72CE-42FC-BBDA-83D75E630ECA}" type="presParOf" srcId="{324DECEE-41D4-4A07-B1FE-F1ED75A5966D}" destId="{F410F989-31E7-4D02-8F8C-A287B22E24FB}" srcOrd="2" destOrd="0" presId="urn:microsoft.com/office/officeart/2005/8/layout/vList2"/>
    <dgm:cxn modelId="{1BA3F4E4-18A2-43E6-9655-947A7602A7A0}" type="presParOf" srcId="{324DECEE-41D4-4A07-B1FE-F1ED75A5966D}" destId="{FCF8B384-0A3D-4CB9-8E14-6BC329358825}" srcOrd="3" destOrd="0" presId="urn:microsoft.com/office/officeart/2005/8/layout/vList2"/>
    <dgm:cxn modelId="{57FB7955-FF4C-4BF5-8428-F4D985D3C33C}" type="presParOf" srcId="{324DECEE-41D4-4A07-B1FE-F1ED75A5966D}" destId="{66E3B868-B4E1-45E6-9205-1F6262486AF8}" srcOrd="4" destOrd="0" presId="urn:microsoft.com/office/officeart/2005/8/layout/vList2"/>
  </dgm:cxnLst>
  <dgm:bg>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29ECEB3-F8EB-49E3-B5BB-ED924401A928}" type="doc">
      <dgm:prSet loTypeId="urn:microsoft.com/office/officeart/2005/8/layout/vList2" loCatId="list" qsTypeId="urn:microsoft.com/office/officeart/2005/8/quickstyle/simple1#2" qsCatId="simple" csTypeId="urn:microsoft.com/office/officeart/2005/8/colors/accent1_2#2" csCatId="accent1" phldr="1"/>
      <dgm:spPr/>
      <dgm:t>
        <a:bodyPr/>
        <a:lstStyle/>
        <a:p>
          <a:endParaRPr lang="zh-CN" altLang="en-US"/>
        </a:p>
      </dgm:t>
    </dgm:pt>
    <dgm:pt modelId="{E94B10B6-E283-4923-8424-758BBB835816}">
      <dgm:prSet phldrT="[文本]" custT="1"/>
      <dgm:spPr/>
      <dgm:t>
        <a:bodyPr/>
        <a:lstStyle/>
        <a:p>
          <a:r>
            <a:rPr lang="zh-CN" altLang="en-US" sz="2000" b="1" dirty="0" smtClean="0">
              <a:latin typeface="微软雅黑" panose="020B0503020204020204" pitchFamily="34" charset="-122"/>
              <a:ea typeface="微软雅黑" panose="020B0503020204020204" pitchFamily="34" charset="-122"/>
            </a:rPr>
            <a:t>（</a:t>
          </a:r>
          <a:r>
            <a:rPr lang="en-US" altLang="zh-CN" sz="2000" b="1" dirty="0" smtClean="0">
              <a:latin typeface="微软雅黑" panose="020B0503020204020204" pitchFamily="34" charset="-122"/>
              <a:ea typeface="微软雅黑" panose="020B0503020204020204" pitchFamily="34" charset="-122"/>
            </a:rPr>
            <a:t>1</a:t>
          </a:r>
          <a:r>
            <a:rPr lang="zh-CN" altLang="en-US" sz="2000" b="1" dirty="0" smtClean="0">
              <a:latin typeface="微软雅黑" panose="020B0503020204020204" pitchFamily="34" charset="-122"/>
              <a:ea typeface="微软雅黑" panose="020B0503020204020204" pitchFamily="34" charset="-122"/>
            </a:rPr>
            <a:t>）被告单位快播公司通过网络系统中的大量缓存服务器介入淫秽视频传播而拒不履行安全管理义务，间接获取巨额非法利益，社会危害性大</a:t>
          </a:r>
          <a:r>
            <a:rPr lang="en-US" altLang="zh-CN" sz="2000" b="1" dirty="0" smtClean="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dgm:t>
    </dgm:pt>
    <dgm:pt modelId="{07A1EF4B-4A8C-4746-8076-38421AB9B297}" cxnId="{FE34EA95-8396-49CE-885A-53021417E802}" type="parTrans">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589B7EC1-D010-4419-9644-7BC53A60493A}" cxnId="{FE34EA95-8396-49CE-885A-53021417E802}" type="sibTrans">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79FEB0F4-1781-4561-A468-0A2B286985DD}">
      <dgm:prSet phldrT="[文本]" custT="1"/>
      <dgm:spPr/>
      <dgm:t>
        <a:bodyPr/>
        <a:lstStyle/>
        <a:p>
          <a:r>
            <a:rPr lang="en-US" altLang="zh-CN" sz="1600" b="1" dirty="0" smtClean="0">
              <a:latin typeface="微软雅黑" panose="020B0503020204020204" pitchFamily="34" charset="-122"/>
              <a:ea typeface="微软雅黑" panose="020B0503020204020204" pitchFamily="34" charset="-122"/>
            </a:rPr>
            <a:t>2016</a:t>
          </a:r>
          <a:r>
            <a:rPr lang="zh-CN" altLang="en-US" sz="1600" b="1" dirty="0" smtClean="0">
              <a:latin typeface="微软雅黑" panose="020B0503020204020204" pitchFamily="34" charset="-122"/>
              <a:ea typeface="微软雅黑" panose="020B0503020204020204" pitchFamily="34" charset="-122"/>
            </a:rPr>
            <a:t>年</a:t>
          </a:r>
          <a:r>
            <a:rPr lang="en-US" altLang="zh-CN" sz="1600" b="1" dirty="0" smtClean="0">
              <a:latin typeface="微软雅黑" panose="020B0503020204020204" pitchFamily="34" charset="-122"/>
              <a:ea typeface="微软雅黑" panose="020B0503020204020204" pitchFamily="34" charset="-122"/>
            </a:rPr>
            <a:t>9</a:t>
          </a:r>
          <a:r>
            <a:rPr lang="zh-CN" altLang="en-US" sz="1600" b="1" dirty="0" smtClean="0">
              <a:latin typeface="微软雅黑" panose="020B0503020204020204" pitchFamily="34" charset="-122"/>
              <a:ea typeface="微软雅黑" panose="020B0503020204020204" pitchFamily="34" charset="-122"/>
            </a:rPr>
            <a:t>月</a:t>
          </a:r>
          <a:r>
            <a:rPr lang="en-US" altLang="zh-CN" sz="1600" b="1" dirty="0" smtClean="0">
              <a:latin typeface="微软雅黑" panose="020B0503020204020204" pitchFamily="34" charset="-122"/>
              <a:ea typeface="微软雅黑" panose="020B0503020204020204" pitchFamily="34" charset="-122"/>
            </a:rPr>
            <a:t>13</a:t>
          </a:r>
          <a:r>
            <a:rPr lang="zh-CN" altLang="en-US" sz="1600" b="1" dirty="0" smtClean="0">
              <a:latin typeface="微软雅黑" panose="020B0503020204020204" pitchFamily="34" charset="-122"/>
              <a:ea typeface="微软雅黑" panose="020B0503020204020204" pitchFamily="34" charset="-122"/>
            </a:rPr>
            <a:t>日，海淀法院审结快播案</a:t>
          </a:r>
          <a:r>
            <a:rPr lang="en-US" altLang="zh-CN" sz="1600" b="1" dirty="0" smtClean="0">
              <a:latin typeface="微软雅黑" panose="020B0503020204020204" pitchFamily="34" charset="-122"/>
              <a:ea typeface="微软雅黑" panose="020B0503020204020204" pitchFamily="34" charset="-122"/>
            </a:rPr>
            <a:t>——</a:t>
          </a:r>
          <a:r>
            <a:rPr lang="zh-CN" altLang="en-US" sz="1600" b="1" dirty="0" smtClean="0">
              <a:latin typeface="微软雅黑" panose="020B0503020204020204" pitchFamily="34" charset="-122"/>
              <a:ea typeface="微软雅黑" panose="020B0503020204020204" pitchFamily="34" charset="-122"/>
            </a:rPr>
            <a:t>王欣认罪 被判三年六个月罚</a:t>
          </a:r>
          <a:r>
            <a:rPr lang="en-US" altLang="zh-CN" sz="1600" b="1" dirty="0" smtClean="0">
              <a:latin typeface="微软雅黑" panose="020B0503020204020204" pitchFamily="34" charset="-122"/>
              <a:ea typeface="微软雅黑" panose="020B0503020204020204" pitchFamily="34" charset="-122"/>
            </a:rPr>
            <a:t>100</a:t>
          </a:r>
          <a:r>
            <a:rPr lang="zh-CN" altLang="en-US" sz="1600" b="1" dirty="0" smtClean="0">
              <a:latin typeface="微软雅黑" panose="020B0503020204020204" pitchFamily="34" charset="-122"/>
              <a:ea typeface="微软雅黑" panose="020B0503020204020204" pitchFamily="34" charset="-122"/>
            </a:rPr>
            <a:t>万</a:t>
          </a:r>
          <a:endParaRPr lang="zh-CN" altLang="en-US" sz="1600" b="1" dirty="0">
            <a:latin typeface="微软雅黑" panose="020B0503020204020204" pitchFamily="34" charset="-122"/>
            <a:ea typeface="微软雅黑" panose="020B0503020204020204" pitchFamily="34" charset="-122"/>
          </a:endParaRPr>
        </a:p>
      </dgm:t>
    </dgm:pt>
    <dgm:pt modelId="{DF4C3F1B-4751-4BE6-8F53-5C1B4524B1E5}" cxnId="{8F970CBE-8741-465A-BDF3-FD1406F0519B}" type="parTrans">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A61D7C1D-762C-4FF7-A15B-7CED72B52FDB}" cxnId="{8F970CBE-8741-465A-BDF3-FD1406F0519B}" type="sibTrans">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42CCD543-C6B3-485F-98EF-39EBBC6A2D14}">
      <dgm:prSet custT="1"/>
      <dgm:spPr/>
      <dgm:t>
        <a:bodyPr/>
        <a:lstStyle/>
        <a:p>
          <a:r>
            <a:rPr lang="en-US" altLang="zh-CN" sz="2000" b="1" dirty="0" smtClean="0">
              <a:latin typeface="微软雅黑" panose="020B0503020204020204" pitchFamily="34" charset="-122"/>
              <a:ea typeface="微软雅黑" panose="020B0503020204020204" pitchFamily="34" charset="-122"/>
            </a:rPr>
            <a:t>2</a:t>
          </a:r>
          <a:r>
            <a:rPr lang="zh-CN" altLang="en-US" sz="2000" b="1" dirty="0" smtClean="0">
              <a:latin typeface="微软雅黑" panose="020B0503020204020204" pitchFamily="34" charset="-122"/>
              <a:ea typeface="微软雅黑" panose="020B0503020204020204" pitchFamily="34" charset="-122"/>
            </a:rPr>
            <a:t>）被告人王欣系快播公司法定代表人、股东、执行董事、经理，</a:t>
          </a:r>
          <a:r>
            <a:rPr lang="zh-CN" altLang="en-US" sz="2000" b="1" dirty="0" smtClean="0">
              <a:solidFill>
                <a:srgbClr val="FFFF00"/>
              </a:solidFill>
              <a:latin typeface="微软雅黑" panose="020B0503020204020204" pitchFamily="34" charset="-122"/>
              <a:ea typeface="微软雅黑" panose="020B0503020204020204" pitchFamily="34" charset="-122"/>
            </a:rPr>
            <a:t>明知快播软件的技术特点和存在的法律风险，拒不履行网络安全管理义务</a:t>
          </a:r>
          <a:r>
            <a:rPr lang="zh-CN" altLang="en-US" sz="2000" b="1" dirty="0" smtClean="0">
              <a:latin typeface="微软雅黑" panose="020B0503020204020204" pitchFamily="34" charset="-122"/>
              <a:ea typeface="微软雅黑" panose="020B0503020204020204" pitchFamily="34" charset="-122"/>
            </a:rPr>
            <a:t>，授意他人以作为的形式掩盖不作为的实质，在本案中起主要作用</a:t>
          </a:r>
          <a:r>
            <a:rPr lang="en-US" altLang="zh-CN" sz="2000" b="1" dirty="0" smtClean="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dgm:t>
    </dgm:pt>
    <dgm:pt modelId="{1A31E86D-65B1-4A13-893F-9FEDCF0B110F}" cxnId="{31287A5E-21E6-4AC1-B142-49B9532842D1}" type="parTrans">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20F75885-FB5C-4F67-A271-EC383AA2AA25}" cxnId="{31287A5E-21E6-4AC1-B142-49B9532842D1}" type="sibTrans">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D00925D9-D8AF-4222-90ED-EC311B9B204C}" type="pres">
      <dgm:prSet presAssocID="{429ECEB3-F8EB-49E3-B5BB-ED924401A928}" presName="linear" presStyleCnt="0">
        <dgm:presLayoutVars>
          <dgm:animLvl val="lvl"/>
          <dgm:resizeHandles val="exact"/>
        </dgm:presLayoutVars>
      </dgm:prSet>
      <dgm:spPr/>
      <dgm:t>
        <a:bodyPr/>
        <a:lstStyle/>
        <a:p>
          <a:endParaRPr lang="zh-CN" altLang="en-US"/>
        </a:p>
      </dgm:t>
    </dgm:pt>
    <dgm:pt modelId="{332C6E97-30D2-4A19-8CD8-2584279A1766}" type="pres">
      <dgm:prSet presAssocID="{E94B10B6-E283-4923-8424-758BBB835816}" presName="parentText" presStyleLbl="node1" presStyleIdx="0" presStyleCnt="2">
        <dgm:presLayoutVars>
          <dgm:chMax val="0"/>
          <dgm:bulletEnabled val="1"/>
        </dgm:presLayoutVars>
      </dgm:prSet>
      <dgm:spPr/>
      <dgm:t>
        <a:bodyPr/>
        <a:lstStyle/>
        <a:p>
          <a:endParaRPr lang="zh-CN" altLang="en-US"/>
        </a:p>
      </dgm:t>
    </dgm:pt>
    <dgm:pt modelId="{5FF75535-FCB1-4CFF-BCAE-AE13969CDA61}" type="pres">
      <dgm:prSet presAssocID="{E94B10B6-E283-4923-8424-758BBB835816}" presName="childText" presStyleLbl="revTx" presStyleIdx="0" presStyleCnt="1">
        <dgm:presLayoutVars>
          <dgm:bulletEnabled val="1"/>
        </dgm:presLayoutVars>
      </dgm:prSet>
      <dgm:spPr/>
      <dgm:t>
        <a:bodyPr/>
        <a:lstStyle/>
        <a:p>
          <a:endParaRPr lang="zh-CN" altLang="en-US"/>
        </a:p>
      </dgm:t>
    </dgm:pt>
    <dgm:pt modelId="{C00C392E-6E09-4AD5-ABE2-BD9C1F73A71D}" type="pres">
      <dgm:prSet presAssocID="{42CCD543-C6B3-485F-98EF-39EBBC6A2D14}" presName="parentText" presStyleLbl="node1" presStyleIdx="1" presStyleCnt="2" custLinFactNeighborX="106" custLinFactNeighborY="-39098">
        <dgm:presLayoutVars>
          <dgm:chMax val="0"/>
          <dgm:bulletEnabled val="1"/>
        </dgm:presLayoutVars>
      </dgm:prSet>
      <dgm:spPr/>
      <dgm:t>
        <a:bodyPr/>
        <a:lstStyle/>
        <a:p>
          <a:endParaRPr lang="zh-CN" altLang="en-US"/>
        </a:p>
      </dgm:t>
    </dgm:pt>
  </dgm:ptLst>
  <dgm:cxnLst>
    <dgm:cxn modelId="{FE34EA95-8396-49CE-885A-53021417E802}" srcId="{429ECEB3-F8EB-49E3-B5BB-ED924401A928}" destId="{E94B10B6-E283-4923-8424-758BBB835816}" srcOrd="0" destOrd="0" parTransId="{07A1EF4B-4A8C-4746-8076-38421AB9B297}" sibTransId="{589B7EC1-D010-4419-9644-7BC53A60493A}"/>
    <dgm:cxn modelId="{3402BE4B-DD6E-4EAD-8562-3DEA8C02E5F3}" type="presOf" srcId="{79FEB0F4-1781-4561-A468-0A2B286985DD}" destId="{5FF75535-FCB1-4CFF-BCAE-AE13969CDA61}" srcOrd="0" destOrd="0" presId="urn:microsoft.com/office/officeart/2005/8/layout/vList2"/>
    <dgm:cxn modelId="{A721485B-267D-4C82-AA6A-728B801E27E5}" type="presOf" srcId="{E94B10B6-E283-4923-8424-758BBB835816}" destId="{332C6E97-30D2-4A19-8CD8-2584279A1766}" srcOrd="0" destOrd="0" presId="urn:microsoft.com/office/officeart/2005/8/layout/vList2"/>
    <dgm:cxn modelId="{1F4D804C-F8D9-48EF-8238-EC475195C210}" type="presOf" srcId="{429ECEB3-F8EB-49E3-B5BB-ED924401A928}" destId="{D00925D9-D8AF-4222-90ED-EC311B9B204C}" srcOrd="0" destOrd="0" presId="urn:microsoft.com/office/officeart/2005/8/layout/vList2"/>
    <dgm:cxn modelId="{31287A5E-21E6-4AC1-B142-49B9532842D1}" srcId="{429ECEB3-F8EB-49E3-B5BB-ED924401A928}" destId="{42CCD543-C6B3-485F-98EF-39EBBC6A2D14}" srcOrd="1" destOrd="0" parTransId="{1A31E86D-65B1-4A13-893F-9FEDCF0B110F}" sibTransId="{20F75885-FB5C-4F67-A271-EC383AA2AA25}"/>
    <dgm:cxn modelId="{7C76B329-020A-4C80-BEF7-B8618A0A6022}" type="presOf" srcId="{42CCD543-C6B3-485F-98EF-39EBBC6A2D14}" destId="{C00C392E-6E09-4AD5-ABE2-BD9C1F73A71D}" srcOrd="0" destOrd="0" presId="urn:microsoft.com/office/officeart/2005/8/layout/vList2"/>
    <dgm:cxn modelId="{8F970CBE-8741-465A-BDF3-FD1406F0519B}" srcId="{E94B10B6-E283-4923-8424-758BBB835816}" destId="{79FEB0F4-1781-4561-A468-0A2B286985DD}" srcOrd="0" destOrd="0" parTransId="{DF4C3F1B-4751-4BE6-8F53-5C1B4524B1E5}" sibTransId="{A61D7C1D-762C-4FF7-A15B-7CED72B52FDB}"/>
    <dgm:cxn modelId="{B6EE1C9A-0CA2-4B01-839B-D362C0F277FD}" type="presParOf" srcId="{D00925D9-D8AF-4222-90ED-EC311B9B204C}" destId="{332C6E97-30D2-4A19-8CD8-2584279A1766}" srcOrd="0" destOrd="0" presId="urn:microsoft.com/office/officeart/2005/8/layout/vList2"/>
    <dgm:cxn modelId="{37D2460A-6099-4347-9BCD-F05763884257}" type="presParOf" srcId="{D00925D9-D8AF-4222-90ED-EC311B9B204C}" destId="{5FF75535-FCB1-4CFF-BCAE-AE13969CDA61}" srcOrd="1" destOrd="0" presId="urn:microsoft.com/office/officeart/2005/8/layout/vList2"/>
    <dgm:cxn modelId="{704426AA-B45C-4DE1-BA46-79E060CAFAE2}" type="presParOf" srcId="{D00925D9-D8AF-4222-90ED-EC311B9B204C}" destId="{C00C392E-6E09-4AD5-ABE2-BD9C1F73A71D}" srcOrd="2" destOrd="0" presId="urn:microsoft.com/office/officeart/2005/8/layout/vList2"/>
  </dgm:cxnLst>
  <dgm:bg>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7161F9-ACC0-4F7C-9F3D-295E74585564}">
      <dsp:nvSpPr>
        <dsp:cNvPr id="0" name=""/>
        <dsp:cNvSpPr/>
      </dsp:nvSpPr>
      <dsp:spPr>
        <a:xfrm>
          <a:off x="0" y="0"/>
          <a:ext cx="7996615" cy="11583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l" defTabSz="844550">
            <a:lnSpc>
              <a:spcPct val="90000"/>
            </a:lnSpc>
            <a:spcBef>
              <a:spcPct val="0"/>
            </a:spcBef>
            <a:spcAft>
              <a:spcPct val="35000"/>
            </a:spcAft>
          </a:pPr>
          <a:r>
            <a:rPr lang="zh-CN" altLang="en-US" sz="1900" b="1" kern="1200" dirty="0" smtClean="0">
              <a:latin typeface="微软雅黑" panose="020B0503020204020204" pitchFamily="34" charset="-122"/>
              <a:ea typeface="微软雅黑" panose="020B0503020204020204" pitchFamily="34" charset="-122"/>
            </a:rPr>
            <a:t>突破</a:t>
          </a:r>
          <a:r>
            <a:rPr lang="en-US" altLang="zh-CN" sz="1900" b="1" kern="1200" dirty="0" smtClean="0">
              <a:latin typeface="微软雅黑" panose="020B0503020204020204" pitchFamily="34" charset="-122"/>
              <a:ea typeface="微软雅黑" panose="020B0503020204020204" pitchFamily="34" charset="-122"/>
            </a:rPr>
            <a:t>1</a:t>
          </a:r>
          <a:r>
            <a:rPr lang="zh-CN" altLang="en-US" sz="1900" b="1" kern="1200" dirty="0" smtClean="0">
              <a:latin typeface="微软雅黑" panose="020B0503020204020204" pitchFamily="34" charset="-122"/>
              <a:ea typeface="微软雅黑" panose="020B0503020204020204" pitchFamily="34" charset="-122"/>
            </a:rPr>
            <a:t>：开展技术升级：落实网络实名制，加大对一年</a:t>
          </a:r>
          <a:r>
            <a:rPr lang="en-US" altLang="zh-CN" sz="1900" b="1" kern="1200" dirty="0" smtClean="0">
              <a:latin typeface="微软雅黑" panose="020B0503020204020204" pitchFamily="34" charset="-122"/>
              <a:ea typeface="微软雅黑" panose="020B0503020204020204" pitchFamily="34" charset="-122"/>
            </a:rPr>
            <a:t>800</a:t>
          </a:r>
          <a:r>
            <a:rPr lang="zh-CN" altLang="en-US" sz="1900" b="1" kern="1200" dirty="0" smtClean="0">
              <a:latin typeface="微软雅黑" panose="020B0503020204020204" pitchFamily="34" charset="-122"/>
              <a:ea typeface="微软雅黑" panose="020B0503020204020204" pitchFamily="34" charset="-122"/>
            </a:rPr>
            <a:t>亿条改号电话的拦截力度</a:t>
          </a:r>
          <a:endParaRPr lang="zh-CN" altLang="en-US" sz="1900" b="1" kern="1200" dirty="0">
            <a:latin typeface="微软雅黑" panose="020B0503020204020204" pitchFamily="34" charset="-122"/>
            <a:ea typeface="微软雅黑" panose="020B0503020204020204" pitchFamily="34" charset="-122"/>
          </a:endParaRPr>
        </a:p>
      </dsp:txBody>
      <dsp:txXfrm>
        <a:off x="56544" y="56544"/>
        <a:ext cx="7883527" cy="1045212"/>
      </dsp:txXfrm>
    </dsp:sp>
    <dsp:sp modelId="{187C09DA-0F78-4D32-A50A-D634F1E89738}">
      <dsp:nvSpPr>
        <dsp:cNvPr id="0" name=""/>
        <dsp:cNvSpPr/>
      </dsp:nvSpPr>
      <dsp:spPr>
        <a:xfrm>
          <a:off x="0" y="1260382"/>
          <a:ext cx="7996615"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893" tIns="24130" rIns="135128" bIns="24130" numCol="1" spcCol="1270" anchor="t" anchorCtr="0">
          <a:noAutofit/>
        </a:bodyPr>
        <a:lstStyle/>
        <a:p>
          <a:pPr marL="114300" lvl="1" indent="-114300" algn="l" defTabSz="666750">
            <a:lnSpc>
              <a:spcPct val="90000"/>
            </a:lnSpc>
            <a:spcBef>
              <a:spcPct val="0"/>
            </a:spcBef>
            <a:spcAft>
              <a:spcPct val="20000"/>
            </a:spcAft>
            <a:buChar char="••"/>
          </a:pPr>
          <a:endParaRPr lang="zh-CN" altLang="en-US" sz="1500" b="1" kern="1200">
            <a:latin typeface="微软雅黑" panose="020B0503020204020204" pitchFamily="34" charset="-122"/>
            <a:ea typeface="微软雅黑" panose="020B0503020204020204" pitchFamily="34" charset="-122"/>
          </a:endParaRPr>
        </a:p>
      </dsp:txBody>
      <dsp:txXfrm>
        <a:off x="0" y="1260382"/>
        <a:ext cx="7996615" cy="364320"/>
      </dsp:txXfrm>
    </dsp:sp>
    <dsp:sp modelId="{F410F989-31E7-4D02-8F8C-A287B22E24FB}">
      <dsp:nvSpPr>
        <dsp:cNvPr id="0" name=""/>
        <dsp:cNvSpPr/>
      </dsp:nvSpPr>
      <dsp:spPr>
        <a:xfrm>
          <a:off x="0" y="2757542"/>
          <a:ext cx="7996615" cy="11583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l" defTabSz="844550">
            <a:lnSpc>
              <a:spcPct val="90000"/>
            </a:lnSpc>
            <a:spcBef>
              <a:spcPct val="0"/>
            </a:spcBef>
            <a:spcAft>
              <a:spcPct val="35000"/>
            </a:spcAft>
          </a:pPr>
          <a:r>
            <a:rPr lang="zh-CN" altLang="en-US" sz="1900" b="1" kern="1200" dirty="0" smtClean="0">
              <a:latin typeface="微软雅黑" panose="020B0503020204020204" pitchFamily="34" charset="-122"/>
              <a:ea typeface="微软雅黑" panose="020B0503020204020204" pitchFamily="34" charset="-122"/>
            </a:rPr>
            <a:t>突破</a:t>
          </a:r>
          <a:r>
            <a:rPr lang="en-US" altLang="zh-CN" sz="1900" b="1" kern="1200" dirty="0" smtClean="0">
              <a:latin typeface="微软雅黑" panose="020B0503020204020204" pitchFamily="34" charset="-122"/>
              <a:ea typeface="微软雅黑" panose="020B0503020204020204" pitchFamily="34" charset="-122"/>
            </a:rPr>
            <a:t>3</a:t>
          </a:r>
          <a:r>
            <a:rPr lang="zh-CN" altLang="en-US" sz="1900" b="1" kern="1200" dirty="0" smtClean="0">
              <a:latin typeface="微软雅黑" panose="020B0503020204020204" pitchFamily="34" charset="-122"/>
              <a:ea typeface="微软雅黑" panose="020B0503020204020204" pitchFamily="34" charset="-122"/>
            </a:rPr>
            <a:t>：堵住资金流：公安和银行联动，前</a:t>
          </a:r>
          <a:r>
            <a:rPr lang="en-US" altLang="zh-CN" sz="1900" b="1" kern="1200" dirty="0" smtClean="0">
              <a:latin typeface="微软雅黑" panose="020B0503020204020204" pitchFamily="34" charset="-122"/>
              <a:ea typeface="微软雅黑" panose="020B0503020204020204" pitchFamily="34" charset="-122"/>
            </a:rPr>
            <a:t>10</a:t>
          </a:r>
          <a:r>
            <a:rPr lang="zh-CN" altLang="en-US" sz="1900" b="1" kern="1200" dirty="0" smtClean="0">
              <a:latin typeface="微软雅黑" panose="020B0503020204020204" pitchFamily="34" charset="-122"/>
              <a:ea typeface="微软雅黑" panose="020B0503020204020204" pitchFamily="34" charset="-122"/>
            </a:rPr>
            <a:t>个月避免损失</a:t>
          </a:r>
          <a:r>
            <a:rPr lang="en-US" altLang="zh-CN" sz="1900" b="1" kern="1200" dirty="0" smtClean="0">
              <a:latin typeface="微软雅黑" panose="020B0503020204020204" pitchFamily="34" charset="-122"/>
              <a:ea typeface="微软雅黑" panose="020B0503020204020204" pitchFamily="34" charset="-122"/>
            </a:rPr>
            <a:t>48.7</a:t>
          </a:r>
          <a:r>
            <a:rPr lang="zh-CN" altLang="en-US" sz="1900" b="1" kern="1200" dirty="0" smtClean="0">
              <a:latin typeface="微软雅黑" panose="020B0503020204020204" pitchFamily="34" charset="-122"/>
              <a:ea typeface="微软雅黑" panose="020B0503020204020204" pitchFamily="34" charset="-122"/>
            </a:rPr>
            <a:t>亿元</a:t>
          </a:r>
          <a:endParaRPr lang="zh-CN" altLang="en-US" sz="1900" b="1" kern="1200" dirty="0">
            <a:latin typeface="微软雅黑" panose="020B0503020204020204" pitchFamily="34" charset="-122"/>
            <a:ea typeface="微软雅黑" panose="020B0503020204020204" pitchFamily="34" charset="-122"/>
          </a:endParaRPr>
        </a:p>
      </dsp:txBody>
      <dsp:txXfrm>
        <a:off x="56544" y="2814086"/>
        <a:ext cx="7883527" cy="1045212"/>
      </dsp:txXfrm>
    </dsp:sp>
    <dsp:sp modelId="{FCF8B384-0A3D-4CB9-8E14-6BC329358825}">
      <dsp:nvSpPr>
        <dsp:cNvPr id="0" name=""/>
        <dsp:cNvSpPr/>
      </dsp:nvSpPr>
      <dsp:spPr>
        <a:xfrm>
          <a:off x="0" y="3965099"/>
          <a:ext cx="7996615" cy="728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893"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altLang="zh-CN" sz="1500" b="1" kern="1200" dirty="0" smtClean="0">
              <a:latin typeface="微软雅黑" panose="020B0503020204020204" pitchFamily="34" charset="-122"/>
              <a:ea typeface="微软雅黑" panose="020B0503020204020204" pitchFamily="34" charset="-122"/>
            </a:rPr>
            <a:t>2016</a:t>
          </a:r>
          <a:r>
            <a:rPr lang="zh-CN" altLang="en-US" sz="1500" b="1" kern="1200" dirty="0" smtClean="0">
              <a:latin typeface="微软雅黑" panose="020B0503020204020204" pitchFamily="34" charset="-122"/>
              <a:ea typeface="微软雅黑" panose="020B0503020204020204" pitchFamily="34" charset="-122"/>
            </a:rPr>
            <a:t>年</a:t>
          </a:r>
          <a:r>
            <a:rPr lang="en-US" altLang="zh-CN" sz="1500" b="1" kern="1200" dirty="0" smtClean="0">
              <a:latin typeface="微软雅黑" panose="020B0503020204020204" pitchFamily="34" charset="-122"/>
              <a:ea typeface="微软雅黑" panose="020B0503020204020204" pitchFamily="34" charset="-122"/>
            </a:rPr>
            <a:t>12</a:t>
          </a:r>
          <a:r>
            <a:rPr lang="zh-CN" altLang="en-US" sz="1500" b="1" kern="1200" dirty="0" smtClean="0">
              <a:latin typeface="微软雅黑" panose="020B0503020204020204" pitchFamily="34" charset="-122"/>
              <a:ea typeface="微软雅黑" panose="020B0503020204020204" pitchFamily="34" charset="-122"/>
            </a:rPr>
            <a:t>月</a:t>
          </a:r>
          <a:r>
            <a:rPr lang="en-US" altLang="zh-CN" sz="1500" b="1" kern="1200" dirty="0" smtClean="0">
              <a:latin typeface="微软雅黑" panose="020B0503020204020204" pitchFamily="34" charset="-122"/>
              <a:ea typeface="微软雅黑" panose="020B0503020204020204" pitchFamily="34" charset="-122"/>
            </a:rPr>
            <a:t>15</a:t>
          </a:r>
          <a:r>
            <a:rPr lang="zh-CN" altLang="en-US" sz="1500" b="1" kern="1200" dirty="0" smtClean="0">
              <a:latin typeface="微软雅黑" panose="020B0503020204020204" pitchFamily="34" charset="-122"/>
              <a:ea typeface="微软雅黑" panose="020B0503020204020204" pitchFamily="34" charset="-122"/>
            </a:rPr>
            <a:t>日新华社报道</a:t>
          </a:r>
          <a:r>
            <a:rPr lang="en-US" altLang="zh-CN" sz="1500" b="1" kern="1200" dirty="0" smtClean="0">
              <a:latin typeface="微软雅黑" panose="020B0503020204020204" pitchFamily="34" charset="-122"/>
              <a:ea typeface="微软雅黑" panose="020B0503020204020204" pitchFamily="34" charset="-122"/>
            </a:rPr>
            <a:t>;2016</a:t>
          </a:r>
          <a:r>
            <a:rPr lang="zh-CN" altLang="en-US" sz="1500" b="1" kern="1200" dirty="0" smtClean="0">
              <a:latin typeface="微软雅黑" panose="020B0503020204020204" pitchFamily="34" charset="-122"/>
              <a:ea typeface="微软雅黑" panose="020B0503020204020204" pitchFamily="34" charset="-122"/>
            </a:rPr>
            <a:t>电信诈骗案治理：破案</a:t>
          </a:r>
          <a:r>
            <a:rPr lang="en-US" altLang="zh-CN" sz="1500" b="1" kern="1200" dirty="0" smtClean="0">
              <a:latin typeface="微软雅黑" panose="020B0503020204020204" pitchFamily="34" charset="-122"/>
              <a:ea typeface="微软雅黑" panose="020B0503020204020204" pitchFamily="34" charset="-122"/>
            </a:rPr>
            <a:t>9.3</a:t>
          </a:r>
          <a:r>
            <a:rPr lang="zh-CN" altLang="en-US" sz="1500" b="1" kern="1200" dirty="0" smtClean="0">
              <a:latin typeface="微软雅黑" panose="020B0503020204020204" pitchFamily="34" charset="-122"/>
              <a:ea typeface="微软雅黑" panose="020B0503020204020204" pitchFamily="34" charset="-122"/>
            </a:rPr>
            <a:t>万起 挽回近</a:t>
          </a:r>
          <a:r>
            <a:rPr lang="en-US" altLang="zh-CN" sz="1500" b="1" kern="1200" dirty="0" smtClean="0">
              <a:latin typeface="微软雅黑" panose="020B0503020204020204" pitchFamily="34" charset="-122"/>
              <a:ea typeface="微软雅黑" panose="020B0503020204020204" pitchFamily="34" charset="-122"/>
            </a:rPr>
            <a:t>49</a:t>
          </a:r>
          <a:r>
            <a:rPr lang="zh-CN" altLang="en-US" sz="1500" b="1" kern="1200" dirty="0" smtClean="0">
              <a:latin typeface="微软雅黑" panose="020B0503020204020204" pitchFamily="34" charset="-122"/>
              <a:ea typeface="微软雅黑" panose="020B0503020204020204" pitchFamily="34" charset="-122"/>
            </a:rPr>
            <a:t>亿</a:t>
          </a:r>
          <a:endParaRPr lang="zh-CN" altLang="en-US" sz="1500" b="1" kern="1200" dirty="0">
            <a:latin typeface="微软雅黑" panose="020B0503020204020204" pitchFamily="34" charset="-122"/>
            <a:ea typeface="微软雅黑" panose="020B0503020204020204" pitchFamily="34" charset="-122"/>
          </a:endParaRPr>
        </a:p>
      </dsp:txBody>
      <dsp:txXfrm>
        <a:off x="0" y="3965099"/>
        <a:ext cx="7996615" cy="728640"/>
      </dsp:txXfrm>
    </dsp:sp>
    <dsp:sp modelId="{66E3B868-B4E1-45E6-9205-1F6262486AF8}">
      <dsp:nvSpPr>
        <dsp:cNvPr id="0" name=""/>
        <dsp:cNvSpPr/>
      </dsp:nvSpPr>
      <dsp:spPr>
        <a:xfrm>
          <a:off x="0" y="1322542"/>
          <a:ext cx="7996615" cy="11583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l" defTabSz="844550">
            <a:lnSpc>
              <a:spcPct val="90000"/>
            </a:lnSpc>
            <a:spcBef>
              <a:spcPct val="0"/>
            </a:spcBef>
            <a:spcAft>
              <a:spcPct val="35000"/>
            </a:spcAft>
          </a:pPr>
          <a:r>
            <a:rPr lang="zh-CN" altLang="en-US" sz="1900" b="1" kern="1200" dirty="0" smtClean="0">
              <a:latin typeface="微软雅黑" panose="020B0503020204020204" pitchFamily="34" charset="-122"/>
              <a:ea typeface="微软雅黑" panose="020B0503020204020204" pitchFamily="34" charset="-122"/>
            </a:rPr>
            <a:t>突破</a:t>
          </a:r>
          <a:r>
            <a:rPr lang="en-US" altLang="zh-CN" sz="1900" b="1" kern="1200" dirty="0" smtClean="0">
              <a:latin typeface="微软雅黑" panose="020B0503020204020204" pitchFamily="34" charset="-122"/>
              <a:ea typeface="微软雅黑" panose="020B0503020204020204" pitchFamily="34" charset="-122"/>
            </a:rPr>
            <a:t>2</a:t>
          </a:r>
          <a:r>
            <a:rPr lang="zh-CN" altLang="en-US" sz="1900" b="1" kern="1200" dirty="0" smtClean="0">
              <a:latin typeface="微软雅黑" panose="020B0503020204020204" pitchFamily="34" charset="-122"/>
              <a:ea typeface="微软雅黑" panose="020B0503020204020204" pitchFamily="34" charset="-122"/>
            </a:rPr>
            <a:t>：打击团伙犯罪：专项整治“诈骗之乡”，公安部督办</a:t>
          </a:r>
          <a:r>
            <a:rPr lang="en-US" altLang="zh-CN" sz="1900" b="1" kern="1200" dirty="0" smtClean="0">
              <a:latin typeface="微软雅黑" panose="020B0503020204020204" pitchFamily="34" charset="-122"/>
              <a:ea typeface="微软雅黑" panose="020B0503020204020204" pitchFamily="34" charset="-122"/>
            </a:rPr>
            <a:t>62</a:t>
          </a:r>
          <a:r>
            <a:rPr lang="zh-CN" altLang="en-US" sz="1900" b="1" kern="1200" dirty="0" smtClean="0">
              <a:latin typeface="微软雅黑" panose="020B0503020204020204" pitchFamily="34" charset="-122"/>
              <a:ea typeface="微软雅黑" panose="020B0503020204020204" pitchFamily="34" charset="-122"/>
            </a:rPr>
            <a:t>起电信网络诈骗案</a:t>
          </a:r>
          <a:endParaRPr lang="zh-CN" altLang="en-US" sz="1900" b="1" kern="1200" dirty="0">
            <a:latin typeface="微软雅黑" panose="020B0503020204020204" pitchFamily="34" charset="-122"/>
            <a:ea typeface="微软雅黑" panose="020B0503020204020204" pitchFamily="34" charset="-122"/>
          </a:endParaRPr>
        </a:p>
      </dsp:txBody>
      <dsp:txXfrm>
        <a:off x="56544" y="1379086"/>
        <a:ext cx="7883527" cy="10452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2C6E97-30D2-4A19-8CD8-2584279A1766}">
      <dsp:nvSpPr>
        <dsp:cNvPr id="0" name=""/>
        <dsp:cNvSpPr/>
      </dsp:nvSpPr>
      <dsp:spPr>
        <a:xfrm>
          <a:off x="0" y="219646"/>
          <a:ext cx="8950325" cy="148297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zh-CN" altLang="en-US" sz="2000" b="1" kern="1200" dirty="0" smtClean="0">
              <a:latin typeface="微软雅黑" panose="020B0503020204020204" pitchFamily="34" charset="-122"/>
              <a:ea typeface="微软雅黑" panose="020B0503020204020204" pitchFamily="34" charset="-122"/>
            </a:rPr>
            <a:t>（</a:t>
          </a:r>
          <a:r>
            <a:rPr lang="en-US" altLang="zh-CN" sz="2000" b="1" kern="1200" dirty="0" smtClean="0">
              <a:latin typeface="微软雅黑" panose="020B0503020204020204" pitchFamily="34" charset="-122"/>
              <a:ea typeface="微软雅黑" panose="020B0503020204020204" pitchFamily="34" charset="-122"/>
            </a:rPr>
            <a:t>1</a:t>
          </a:r>
          <a:r>
            <a:rPr lang="zh-CN" altLang="en-US" sz="2000" b="1" kern="1200" dirty="0" smtClean="0">
              <a:latin typeface="微软雅黑" panose="020B0503020204020204" pitchFamily="34" charset="-122"/>
              <a:ea typeface="微软雅黑" panose="020B0503020204020204" pitchFamily="34" charset="-122"/>
            </a:rPr>
            <a:t>）被告单位快播公司通过网络系统中的大量缓存服务器介入淫秽视频传播而拒不履行安全管理义务，间接获取巨额非法利益，社会危害性大</a:t>
          </a:r>
          <a:r>
            <a:rPr lang="en-US" altLang="zh-CN" sz="2000" b="1" kern="1200" dirty="0" smtClean="0">
              <a:latin typeface="微软雅黑" panose="020B0503020204020204" pitchFamily="34" charset="-122"/>
              <a:ea typeface="微软雅黑" panose="020B0503020204020204" pitchFamily="34" charset="-122"/>
            </a:rPr>
            <a:t>……</a:t>
          </a:r>
          <a:endParaRPr lang="zh-CN" altLang="en-US" sz="2000" b="1" kern="1200" dirty="0">
            <a:latin typeface="微软雅黑" panose="020B0503020204020204" pitchFamily="34" charset="-122"/>
            <a:ea typeface="微软雅黑" panose="020B0503020204020204" pitchFamily="34" charset="-122"/>
          </a:endParaRPr>
        </a:p>
      </dsp:txBody>
      <dsp:txXfrm>
        <a:off x="72393" y="292039"/>
        <a:ext cx="8805539" cy="1338188"/>
      </dsp:txXfrm>
    </dsp:sp>
    <dsp:sp modelId="{5FF75535-FCB1-4CFF-BCAE-AE13969CDA61}">
      <dsp:nvSpPr>
        <dsp:cNvPr id="0" name=""/>
        <dsp:cNvSpPr/>
      </dsp:nvSpPr>
      <dsp:spPr>
        <a:xfrm>
          <a:off x="0" y="1702621"/>
          <a:ext cx="895032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4173"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altLang="zh-CN" sz="1600" b="1" kern="1200" dirty="0" smtClean="0">
              <a:latin typeface="微软雅黑" panose="020B0503020204020204" pitchFamily="34" charset="-122"/>
              <a:ea typeface="微软雅黑" panose="020B0503020204020204" pitchFamily="34" charset="-122"/>
            </a:rPr>
            <a:t>2016</a:t>
          </a:r>
          <a:r>
            <a:rPr lang="zh-CN" altLang="en-US" sz="1600" b="1" kern="1200" dirty="0" smtClean="0">
              <a:latin typeface="微软雅黑" panose="020B0503020204020204" pitchFamily="34" charset="-122"/>
              <a:ea typeface="微软雅黑" panose="020B0503020204020204" pitchFamily="34" charset="-122"/>
            </a:rPr>
            <a:t>年</a:t>
          </a:r>
          <a:r>
            <a:rPr lang="en-US" altLang="zh-CN" sz="1600" b="1" kern="1200" dirty="0" smtClean="0">
              <a:latin typeface="微软雅黑" panose="020B0503020204020204" pitchFamily="34" charset="-122"/>
              <a:ea typeface="微软雅黑" panose="020B0503020204020204" pitchFamily="34" charset="-122"/>
            </a:rPr>
            <a:t>9</a:t>
          </a:r>
          <a:r>
            <a:rPr lang="zh-CN" altLang="en-US" sz="1600" b="1" kern="1200" dirty="0" smtClean="0">
              <a:latin typeface="微软雅黑" panose="020B0503020204020204" pitchFamily="34" charset="-122"/>
              <a:ea typeface="微软雅黑" panose="020B0503020204020204" pitchFamily="34" charset="-122"/>
            </a:rPr>
            <a:t>月</a:t>
          </a:r>
          <a:r>
            <a:rPr lang="en-US" altLang="zh-CN" sz="1600" b="1" kern="1200" dirty="0" smtClean="0">
              <a:latin typeface="微软雅黑" panose="020B0503020204020204" pitchFamily="34" charset="-122"/>
              <a:ea typeface="微软雅黑" panose="020B0503020204020204" pitchFamily="34" charset="-122"/>
            </a:rPr>
            <a:t>13</a:t>
          </a:r>
          <a:r>
            <a:rPr lang="zh-CN" altLang="en-US" sz="1600" b="1" kern="1200" dirty="0" smtClean="0">
              <a:latin typeface="微软雅黑" panose="020B0503020204020204" pitchFamily="34" charset="-122"/>
              <a:ea typeface="微软雅黑" panose="020B0503020204020204" pitchFamily="34" charset="-122"/>
            </a:rPr>
            <a:t>日，海淀法院审结快播案</a:t>
          </a:r>
          <a:r>
            <a:rPr lang="en-US" altLang="zh-CN" sz="1600" b="1" kern="1200" dirty="0" smtClean="0">
              <a:latin typeface="微软雅黑" panose="020B0503020204020204" pitchFamily="34" charset="-122"/>
              <a:ea typeface="微软雅黑" panose="020B0503020204020204" pitchFamily="34" charset="-122"/>
            </a:rPr>
            <a:t>——</a:t>
          </a:r>
          <a:r>
            <a:rPr lang="zh-CN" altLang="en-US" sz="1600" b="1" kern="1200" dirty="0" smtClean="0">
              <a:latin typeface="微软雅黑" panose="020B0503020204020204" pitchFamily="34" charset="-122"/>
              <a:ea typeface="微软雅黑" panose="020B0503020204020204" pitchFamily="34" charset="-122"/>
            </a:rPr>
            <a:t>王欣认罪 被判三年六个月罚</a:t>
          </a:r>
          <a:r>
            <a:rPr lang="en-US" altLang="zh-CN" sz="1600" b="1" kern="1200" dirty="0" smtClean="0">
              <a:latin typeface="微软雅黑" panose="020B0503020204020204" pitchFamily="34" charset="-122"/>
              <a:ea typeface="微软雅黑" panose="020B0503020204020204" pitchFamily="34" charset="-122"/>
            </a:rPr>
            <a:t>100</a:t>
          </a:r>
          <a:r>
            <a:rPr lang="zh-CN" altLang="en-US" sz="1600" b="1" kern="1200" dirty="0" smtClean="0">
              <a:latin typeface="微软雅黑" panose="020B0503020204020204" pitchFamily="34" charset="-122"/>
              <a:ea typeface="微软雅黑" panose="020B0503020204020204" pitchFamily="34" charset="-122"/>
            </a:rPr>
            <a:t>万</a:t>
          </a:r>
          <a:endParaRPr lang="zh-CN" altLang="en-US" sz="1600" b="1" kern="1200" dirty="0">
            <a:latin typeface="微软雅黑" panose="020B0503020204020204" pitchFamily="34" charset="-122"/>
            <a:ea typeface="微软雅黑" panose="020B0503020204020204" pitchFamily="34" charset="-122"/>
          </a:endParaRPr>
        </a:p>
      </dsp:txBody>
      <dsp:txXfrm>
        <a:off x="0" y="1702621"/>
        <a:ext cx="8950325" cy="1076400"/>
      </dsp:txXfrm>
    </dsp:sp>
    <dsp:sp modelId="{C00C392E-6E09-4AD5-ABE2-BD9C1F73A71D}">
      <dsp:nvSpPr>
        <dsp:cNvPr id="0" name=""/>
        <dsp:cNvSpPr/>
      </dsp:nvSpPr>
      <dsp:spPr>
        <a:xfrm>
          <a:off x="0" y="2358170"/>
          <a:ext cx="8950325" cy="148297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altLang="zh-CN" sz="2000" b="1" kern="1200" dirty="0" smtClean="0">
              <a:latin typeface="微软雅黑" panose="020B0503020204020204" pitchFamily="34" charset="-122"/>
              <a:ea typeface="微软雅黑" panose="020B0503020204020204" pitchFamily="34" charset="-122"/>
            </a:rPr>
            <a:t>2</a:t>
          </a:r>
          <a:r>
            <a:rPr lang="zh-CN" altLang="en-US" sz="2000" b="1" kern="1200" dirty="0" smtClean="0">
              <a:latin typeface="微软雅黑" panose="020B0503020204020204" pitchFamily="34" charset="-122"/>
              <a:ea typeface="微软雅黑" panose="020B0503020204020204" pitchFamily="34" charset="-122"/>
            </a:rPr>
            <a:t>）被告人王欣系快播公司法定代表人、股东、执行董事、经理，</a:t>
          </a:r>
          <a:r>
            <a:rPr lang="zh-CN" altLang="en-US" sz="2000" b="1" kern="1200" dirty="0" smtClean="0">
              <a:solidFill>
                <a:srgbClr val="FFFF00"/>
              </a:solidFill>
              <a:latin typeface="微软雅黑" panose="020B0503020204020204" pitchFamily="34" charset="-122"/>
              <a:ea typeface="微软雅黑" panose="020B0503020204020204" pitchFamily="34" charset="-122"/>
            </a:rPr>
            <a:t>明知快播软件的技术特点和存在的法律风险，拒不履行网络安全管理义务</a:t>
          </a:r>
          <a:r>
            <a:rPr lang="zh-CN" altLang="en-US" sz="2000" b="1" kern="1200" dirty="0" smtClean="0">
              <a:latin typeface="微软雅黑" panose="020B0503020204020204" pitchFamily="34" charset="-122"/>
              <a:ea typeface="微软雅黑" panose="020B0503020204020204" pitchFamily="34" charset="-122"/>
            </a:rPr>
            <a:t>，授意他人以作为的形式掩盖不作为的实质，在本案中起主要作用</a:t>
          </a:r>
          <a:r>
            <a:rPr lang="en-US" altLang="zh-CN" sz="2000" b="1" kern="1200" dirty="0" smtClean="0">
              <a:latin typeface="微软雅黑" panose="020B0503020204020204" pitchFamily="34" charset="-122"/>
              <a:ea typeface="微软雅黑" panose="020B0503020204020204" pitchFamily="34" charset="-122"/>
            </a:rPr>
            <a:t>……</a:t>
          </a:r>
          <a:endParaRPr lang="zh-CN" altLang="en-US" sz="2000" b="1" kern="1200" dirty="0">
            <a:latin typeface="微软雅黑" panose="020B0503020204020204" pitchFamily="34" charset="-122"/>
            <a:ea typeface="微软雅黑" panose="020B0503020204020204" pitchFamily="34" charset="-122"/>
          </a:endParaRPr>
        </a:p>
      </dsp:txBody>
      <dsp:txXfrm>
        <a:off x="72393" y="2430563"/>
        <a:ext cx="8805539" cy="133818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5AB3AE49-9DAA-427D-AE7A-33FC33887E98}" type="datetimeFigureOut">
              <a:rPr lang="zh-CN" altLang="en-US"/>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7858F6AF-70E4-4054-BC0C-C47B433F83C5}" type="slidenum">
              <a:rPr lang="zh-CN" altLang="en-US"/>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29876040-42E5-49CB-B7C5-2CEEE459C4AC}" type="datetimeFigureOut">
              <a:rPr lang="zh-CN" altLang="en-US"/>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8DD3D907-1EEF-45EC-92F3-D91E0CD55930}"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幻灯片图像占位符 1"/>
          <p:cNvSpPr>
            <a:spLocks noGrp="1" noRot="1" noChangeAspect="1"/>
          </p:cNvSpPr>
          <p:nvPr>
            <p:ph type="sldImg"/>
          </p:nvPr>
        </p:nvSpPr>
        <p:spPr bwMode="auto">
          <a:noFill/>
          <a:ln>
            <a:solidFill>
              <a:srgbClr val="000000"/>
            </a:solidFill>
            <a:miter lim="800000"/>
          </a:ln>
        </p:spPr>
      </p:sp>
      <p:sp>
        <p:nvSpPr>
          <p:cNvPr id="17410"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17411"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840FE133-36A2-4093-ACCD-D44F11F5DBAB}" type="slidenum">
              <a:rPr lang="zh-CN" altLang="en-US"/>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p:cNvSpPr>
            <a:spLocks noGrp="1" noRot="1" noChangeAspect="1"/>
          </p:cNvSpPr>
          <p:nvPr>
            <p:ph type="sldImg"/>
          </p:nvPr>
        </p:nvSpPr>
        <p:spPr bwMode="auto">
          <a:noFill/>
          <a:ln>
            <a:solidFill>
              <a:srgbClr val="000000"/>
            </a:solidFill>
            <a:miter lim="800000"/>
          </a:ln>
        </p:spPr>
      </p:sp>
      <p:sp>
        <p:nvSpPr>
          <p:cNvPr id="19458"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19459"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9E913CC1-F586-45B9-89B2-843BE30E2095}" type="slidenum">
              <a:rPr lang="zh-CN" altLang="en-US"/>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幻灯片图像占位符 1"/>
          <p:cNvSpPr>
            <a:spLocks noGrp="1" noRot="1" noChangeAspect="1"/>
          </p:cNvSpPr>
          <p:nvPr>
            <p:ph type="sldImg"/>
          </p:nvPr>
        </p:nvSpPr>
        <p:spPr bwMode="auto">
          <a:noFill/>
          <a:ln>
            <a:solidFill>
              <a:srgbClr val="000000"/>
            </a:solidFill>
            <a:miter lim="800000"/>
          </a:ln>
        </p:spPr>
      </p:sp>
      <p:sp>
        <p:nvSpPr>
          <p:cNvPr id="21506"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21507"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02014537-AA9B-4B90-BA89-1D89DAFD1895}" type="slidenum">
              <a:rPr lang="zh-CN" altLang="en-US"/>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p:cNvSpPr>
            <a:spLocks noGrp="1" noRot="1" noChangeAspect="1"/>
          </p:cNvSpPr>
          <p:nvPr>
            <p:ph type="sldImg"/>
          </p:nvPr>
        </p:nvSpPr>
        <p:spPr bwMode="auto">
          <a:noFill/>
          <a:ln>
            <a:solidFill>
              <a:srgbClr val="000000"/>
            </a:solidFill>
            <a:miter lim="800000"/>
          </a:ln>
        </p:spPr>
      </p:sp>
      <p:sp>
        <p:nvSpPr>
          <p:cNvPr id="25602"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25603"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261943E4-5AE5-4289-BEB6-7D04A4D3A8A9}" type="slidenum">
              <a:rPr lang="zh-CN" altLang="en-US"/>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幻灯片图像占位符 1"/>
          <p:cNvSpPr>
            <a:spLocks noGrp="1" noRot="1" noChangeAspect="1"/>
          </p:cNvSpPr>
          <p:nvPr>
            <p:ph type="sldImg"/>
          </p:nvPr>
        </p:nvSpPr>
        <p:spPr bwMode="auto">
          <a:noFill/>
          <a:ln>
            <a:solidFill>
              <a:srgbClr val="000000"/>
            </a:solidFill>
            <a:miter lim="800000"/>
          </a:ln>
        </p:spPr>
      </p:sp>
      <p:sp>
        <p:nvSpPr>
          <p:cNvPr id="28674"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28675"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C241BD03-E83C-47A0-BCE2-B963CC01009D}" type="slidenum">
              <a:rPr lang="zh-CN" altLang="en-US"/>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幻灯片图像占位符 1"/>
          <p:cNvSpPr>
            <a:spLocks noGrp="1" noRot="1" noChangeAspect="1"/>
          </p:cNvSpPr>
          <p:nvPr>
            <p:ph type="sldImg"/>
          </p:nvPr>
        </p:nvSpPr>
        <p:spPr bwMode="auto">
          <a:noFill/>
          <a:ln>
            <a:solidFill>
              <a:srgbClr val="000000"/>
            </a:solidFill>
            <a:miter lim="800000"/>
          </a:ln>
        </p:spPr>
      </p:sp>
      <p:sp>
        <p:nvSpPr>
          <p:cNvPr id="30722"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30723"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D89B5CA7-E243-4939-932D-87ADDF6D13D1}" type="slidenum">
              <a:rPr lang="zh-CN" altLang="en-US"/>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幻灯片图像占位符 1"/>
          <p:cNvSpPr>
            <a:spLocks noGrp="1" noRot="1" noChangeAspect="1"/>
          </p:cNvSpPr>
          <p:nvPr>
            <p:ph type="sldImg"/>
          </p:nvPr>
        </p:nvSpPr>
        <p:spPr bwMode="auto">
          <a:noFill/>
          <a:ln>
            <a:solidFill>
              <a:srgbClr val="000000"/>
            </a:solidFill>
            <a:miter lim="800000"/>
          </a:ln>
        </p:spPr>
      </p:sp>
      <p:sp>
        <p:nvSpPr>
          <p:cNvPr id="32770"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32771"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A8E948FC-AC01-482A-8822-887CE7DC3BDE}" type="slidenum">
              <a:rPr lang="zh-CN" altLang="en-US"/>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幻灯片图像占位符 1"/>
          <p:cNvSpPr>
            <a:spLocks noGrp="1" noRot="1" noChangeAspect="1"/>
          </p:cNvSpPr>
          <p:nvPr>
            <p:ph type="sldImg"/>
          </p:nvPr>
        </p:nvSpPr>
        <p:spPr bwMode="auto">
          <a:noFill/>
          <a:ln>
            <a:solidFill>
              <a:srgbClr val="000000"/>
            </a:solidFill>
            <a:miter lim="800000"/>
          </a:ln>
        </p:spPr>
      </p:sp>
      <p:sp>
        <p:nvSpPr>
          <p:cNvPr id="39938"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39939"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E2D5F66D-3829-4574-8F70-4CF7144AB259}" type="slidenum">
              <a:rPr lang="zh-CN" altLang="en-US"/>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幻灯片图像占位符 1"/>
          <p:cNvSpPr>
            <a:spLocks noGrp="1" noRot="1" noChangeAspect="1"/>
          </p:cNvSpPr>
          <p:nvPr>
            <p:ph type="sldImg"/>
          </p:nvPr>
        </p:nvSpPr>
        <p:spPr bwMode="auto">
          <a:noFill/>
          <a:ln>
            <a:solidFill>
              <a:srgbClr val="000000"/>
            </a:solidFill>
            <a:miter lim="800000"/>
          </a:ln>
        </p:spPr>
      </p:sp>
      <p:sp>
        <p:nvSpPr>
          <p:cNvPr id="73730"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73731"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566CBDBA-F2F3-4904-AD2A-09ED2738D1D9}" type="slidenum">
              <a:rPr lang="zh-CN" altLang="en-US"/>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幻灯片图像占位符 1"/>
          <p:cNvSpPr>
            <a:spLocks noGrp="1" noRot="1" noChangeAspect="1"/>
          </p:cNvSpPr>
          <p:nvPr>
            <p:ph type="sldImg"/>
          </p:nvPr>
        </p:nvSpPr>
        <p:spPr bwMode="auto">
          <a:noFill/>
          <a:ln>
            <a:solidFill>
              <a:srgbClr val="000000"/>
            </a:solidFill>
            <a:miter lim="800000"/>
          </a:ln>
        </p:spPr>
      </p:sp>
      <p:sp>
        <p:nvSpPr>
          <p:cNvPr id="73730"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73731"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566CBDBA-F2F3-4904-AD2A-09ED2738D1D9}" type="slidenum">
              <a:rPr lang="zh-CN" altLang="en-US"/>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r>
              <a:rPr lang="en-US" altLang="zh-CN"/>
              <a:t>2016/2/22</a:t>
            </a:r>
            <a:endParaRPr lang="zh-CN" altLang="en-US"/>
          </a:p>
        </p:txBody>
      </p:sp>
      <p:sp>
        <p:nvSpPr>
          <p:cNvPr id="5" name="页脚占位符 4"/>
          <p:cNvSpPr>
            <a:spLocks noGrp="1"/>
          </p:cNvSpPr>
          <p:nvPr>
            <p:ph type="ftr" sz="quarter" idx="11"/>
          </p:nvPr>
        </p:nvSpPr>
        <p:spPr/>
        <p:txBody>
          <a:bodyPr/>
          <a:lstStyle>
            <a:lvl1pPr>
              <a:defRPr>
                <a:solidFill>
                  <a:prstClr val="black">
                    <a:tint val="75000"/>
                  </a:prstClr>
                </a:solidFill>
              </a:defRPr>
            </a:lvl1pPr>
          </a:lstStyle>
          <a:p>
            <a:pPr>
              <a:defRPr/>
            </a:pPr>
            <a:r>
              <a:rPr lang="zh-CN" altLang="en-US"/>
              <a:t>清华大学   自动化系 张佐</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65B5B00-7FD2-4E60-9616-8BDEE89A5C6F}" type="slidenum">
              <a:rPr lang="zh-CN" altLang="en-US"/>
            </a:fld>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1pPr>
              <a:defRPr>
                <a:latin typeface="黑体" panose="02010609060101010101" pitchFamily="49" charset="-122"/>
                <a:ea typeface="黑体" panose="02010609060101010101" pitchFamily="49" charset="-122"/>
              </a:defRPr>
            </a:lvl1pPr>
            <a:lvl2pPr>
              <a:defRPr>
                <a:latin typeface="黑体" panose="02010609060101010101" pitchFamily="49" charset="-122"/>
                <a:ea typeface="黑体" panose="02010609060101010101" pitchFamily="49" charset="-122"/>
              </a:defRPr>
            </a:lvl2pPr>
            <a:lvl3pPr>
              <a:defRPr>
                <a:latin typeface="黑体" panose="02010609060101010101" pitchFamily="49" charset="-122"/>
                <a:ea typeface="黑体" panose="02010609060101010101" pitchFamily="49" charset="-122"/>
              </a:defRPr>
            </a:lvl3pPr>
            <a:lvl4pPr>
              <a:defRPr>
                <a:latin typeface="黑体" panose="02010609060101010101" pitchFamily="49" charset="-122"/>
                <a:ea typeface="黑体" panose="02010609060101010101" pitchFamily="49" charset="-122"/>
              </a:defRPr>
            </a:lvl4pPr>
            <a:lvl5pPr>
              <a:defRPr>
                <a:latin typeface="黑体" panose="02010609060101010101" pitchFamily="49" charset="-122"/>
                <a:ea typeface="黑体" panose="02010609060101010101" pitchFamily="49" charset="-122"/>
              </a:defRPr>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r>
              <a:rPr lang="en-US" altLang="zh-CN"/>
              <a:t>2016/2/22</a:t>
            </a:r>
            <a:endParaRPr lang="zh-CN" altLang="en-US"/>
          </a:p>
        </p:txBody>
      </p:sp>
      <p:sp>
        <p:nvSpPr>
          <p:cNvPr id="5" name="页脚占位符 4"/>
          <p:cNvSpPr>
            <a:spLocks noGrp="1"/>
          </p:cNvSpPr>
          <p:nvPr>
            <p:ph type="ftr" sz="quarter" idx="11"/>
          </p:nvPr>
        </p:nvSpPr>
        <p:spPr/>
        <p:txBody>
          <a:bodyPr/>
          <a:lstStyle>
            <a:lvl1pPr>
              <a:defRPr>
                <a:solidFill>
                  <a:schemeClr val="accent4">
                    <a:lumMod val="75000"/>
                  </a:schemeClr>
                </a:solidFill>
                <a:latin typeface="华文彩云" panose="02010800040101010101" pitchFamily="2" charset="-122"/>
                <a:ea typeface="华文彩云" panose="02010800040101010101" pitchFamily="2" charset="-122"/>
              </a:defRPr>
            </a:lvl1pPr>
          </a:lstStyle>
          <a:p>
            <a:pPr>
              <a:defRPr/>
            </a:pPr>
            <a:r>
              <a:rPr lang="zh-CN" altLang="en-US"/>
              <a:t>清华大学   自动化系 张佐</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32E4F57-91F6-42B3-86C9-A01B11DC8B1C}" type="slidenum">
              <a:rPr lang="zh-CN" altLang="en-US"/>
            </a:fld>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pPr>
              <a:defRPr/>
            </a:pPr>
            <a:r>
              <a:rPr lang="en-US" altLang="zh-CN"/>
              <a:t>2016/2/22</a:t>
            </a:r>
            <a:endParaRPr lang="zh-CN" altLang="en-US"/>
          </a:p>
        </p:txBody>
      </p:sp>
      <p:sp>
        <p:nvSpPr>
          <p:cNvPr id="5" name="页脚占位符 4"/>
          <p:cNvSpPr>
            <a:spLocks noGrp="1"/>
          </p:cNvSpPr>
          <p:nvPr>
            <p:ph type="ftr" sz="quarter" idx="11"/>
          </p:nvPr>
        </p:nvSpPr>
        <p:spPr/>
        <p:txBody>
          <a:bodyPr/>
          <a:lstStyle>
            <a:lvl1pPr>
              <a:defRPr>
                <a:solidFill>
                  <a:prstClr val="black">
                    <a:tint val="75000"/>
                  </a:prstClr>
                </a:solidFill>
              </a:defRPr>
            </a:lvl1pPr>
          </a:lstStyle>
          <a:p>
            <a:pPr>
              <a:defRPr/>
            </a:pPr>
            <a:r>
              <a:rPr lang="zh-CN" altLang="en-US"/>
              <a:t>清华大学   自动化系 张佐</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C52AC38-91F2-4186-963C-3ECF1110F482}"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dirty="0" smtClean="0"/>
              <a:t>单击此处编辑母版标题样式</a:t>
            </a:r>
            <a:endParaRPr lang="zh-CN" altLang="en-US" dirty="0"/>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5" name="日期占位符 4"/>
          <p:cNvSpPr>
            <a:spLocks noGrp="1"/>
          </p:cNvSpPr>
          <p:nvPr>
            <p:ph type="dt" sz="half" idx="10"/>
          </p:nvPr>
        </p:nvSpPr>
        <p:spPr/>
        <p:txBody>
          <a:bodyPr/>
          <a:lstStyle>
            <a:lvl1pPr>
              <a:defRPr/>
            </a:lvl1pPr>
          </a:lstStyle>
          <a:p>
            <a:pPr>
              <a:defRPr/>
            </a:pPr>
            <a:r>
              <a:rPr lang="en-US" altLang="zh-CN"/>
              <a:t>2016/2/22</a:t>
            </a:r>
            <a:endParaRPr lang="zh-CN" altLang="en-US"/>
          </a:p>
        </p:txBody>
      </p:sp>
      <p:sp>
        <p:nvSpPr>
          <p:cNvPr id="6" name="页脚占位符 5"/>
          <p:cNvSpPr>
            <a:spLocks noGrp="1"/>
          </p:cNvSpPr>
          <p:nvPr>
            <p:ph type="ftr" sz="quarter" idx="11"/>
          </p:nvPr>
        </p:nvSpPr>
        <p:spPr/>
        <p:txBody>
          <a:bodyPr/>
          <a:lstStyle>
            <a:lvl1pPr>
              <a:defRPr>
                <a:solidFill>
                  <a:prstClr val="black">
                    <a:tint val="75000"/>
                  </a:prstClr>
                </a:solidFill>
              </a:defRPr>
            </a:lvl1pPr>
          </a:lstStyle>
          <a:p>
            <a:pPr>
              <a:defRPr/>
            </a:pPr>
            <a:r>
              <a:rPr lang="zh-CN" altLang="en-US"/>
              <a:t>清华大学   自动化系 张佐</a:t>
            </a: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F8683D16-6888-4AF9-AEA5-ECA6533705B3}" type="slidenum">
              <a:rPr lang="zh-CN" altLang="en-US"/>
            </a:fld>
            <a:endParaRPr lang="zh-CN" alt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pPr>
              <a:defRPr/>
            </a:pPr>
            <a:r>
              <a:rPr lang="en-US" altLang="zh-CN"/>
              <a:t>2016/2/22</a:t>
            </a:r>
            <a:endParaRPr lang="zh-CN" altLang="en-US"/>
          </a:p>
        </p:txBody>
      </p:sp>
      <p:sp>
        <p:nvSpPr>
          <p:cNvPr id="8" name="页脚占位符 7"/>
          <p:cNvSpPr>
            <a:spLocks noGrp="1"/>
          </p:cNvSpPr>
          <p:nvPr>
            <p:ph type="ftr" sz="quarter" idx="11"/>
          </p:nvPr>
        </p:nvSpPr>
        <p:spPr/>
        <p:txBody>
          <a:bodyPr/>
          <a:lstStyle>
            <a:lvl1pPr>
              <a:defRPr>
                <a:solidFill>
                  <a:prstClr val="black">
                    <a:tint val="75000"/>
                  </a:prstClr>
                </a:solidFill>
              </a:defRPr>
            </a:lvl1pPr>
          </a:lstStyle>
          <a:p>
            <a:pPr>
              <a:defRPr/>
            </a:pPr>
            <a:r>
              <a:rPr lang="zh-CN" altLang="en-US"/>
              <a:t>清华大学   自动化系 张佐</a:t>
            </a:r>
            <a:endParaRPr lang="zh-CN" altLang="en-US"/>
          </a:p>
        </p:txBody>
      </p:sp>
      <p:sp>
        <p:nvSpPr>
          <p:cNvPr id="9" name="灯片编号占位符 8"/>
          <p:cNvSpPr>
            <a:spLocks noGrp="1"/>
          </p:cNvSpPr>
          <p:nvPr>
            <p:ph type="sldNum" sz="quarter" idx="12"/>
          </p:nvPr>
        </p:nvSpPr>
        <p:spPr/>
        <p:txBody>
          <a:bodyPr/>
          <a:lstStyle>
            <a:lvl1pPr>
              <a:defRPr/>
            </a:lvl1pPr>
          </a:lstStyle>
          <a:p>
            <a:pPr>
              <a:defRPr/>
            </a:pPr>
            <a:fld id="{8C3F9A82-8BC5-42C1-85BF-9FC652F8283B}"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pPr>
              <a:defRPr/>
            </a:pPr>
            <a:r>
              <a:rPr lang="en-US" altLang="zh-CN"/>
              <a:t>2016/2/22</a:t>
            </a:r>
            <a:endParaRPr lang="zh-CN" altLang="en-US"/>
          </a:p>
        </p:txBody>
      </p:sp>
      <p:sp>
        <p:nvSpPr>
          <p:cNvPr id="4" name="页脚占位符 3"/>
          <p:cNvSpPr>
            <a:spLocks noGrp="1"/>
          </p:cNvSpPr>
          <p:nvPr>
            <p:ph type="ftr" sz="quarter" idx="11"/>
          </p:nvPr>
        </p:nvSpPr>
        <p:spPr/>
        <p:txBody>
          <a:bodyPr/>
          <a:lstStyle>
            <a:lvl1pPr>
              <a:defRPr>
                <a:solidFill>
                  <a:prstClr val="black">
                    <a:tint val="75000"/>
                  </a:prstClr>
                </a:solidFill>
              </a:defRPr>
            </a:lvl1pPr>
          </a:lstStyle>
          <a:p>
            <a:pPr>
              <a:defRPr/>
            </a:pPr>
            <a:r>
              <a:rPr lang="zh-CN" altLang="en-US"/>
              <a:t>清华大学   自动化系 张佐</a:t>
            </a:r>
            <a:endParaRPr lang="zh-CN" altLang="en-US"/>
          </a:p>
        </p:txBody>
      </p:sp>
      <p:sp>
        <p:nvSpPr>
          <p:cNvPr id="5" name="灯片编号占位符 4"/>
          <p:cNvSpPr>
            <a:spLocks noGrp="1"/>
          </p:cNvSpPr>
          <p:nvPr>
            <p:ph type="sldNum" sz="quarter" idx="12"/>
          </p:nvPr>
        </p:nvSpPr>
        <p:spPr/>
        <p:txBody>
          <a:bodyPr/>
          <a:lstStyle>
            <a:lvl1pPr>
              <a:defRPr/>
            </a:lvl1pPr>
          </a:lstStyle>
          <a:p>
            <a:pPr>
              <a:defRPr/>
            </a:pPr>
            <a:fld id="{922C7BBD-A9F0-4F17-8FD1-0A7BBA2841D0}"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pPr>
              <a:defRPr/>
            </a:pPr>
            <a:r>
              <a:rPr lang="en-US" altLang="zh-CN"/>
              <a:t>2016/2/22</a:t>
            </a:r>
            <a:endParaRPr lang="zh-CN" altLang="en-US"/>
          </a:p>
        </p:txBody>
      </p:sp>
      <p:sp>
        <p:nvSpPr>
          <p:cNvPr id="6" name="页脚占位符 5"/>
          <p:cNvSpPr>
            <a:spLocks noGrp="1"/>
          </p:cNvSpPr>
          <p:nvPr>
            <p:ph type="ftr" sz="quarter" idx="11"/>
          </p:nvPr>
        </p:nvSpPr>
        <p:spPr/>
        <p:txBody>
          <a:bodyPr/>
          <a:lstStyle>
            <a:lvl1pPr>
              <a:defRPr>
                <a:solidFill>
                  <a:prstClr val="black">
                    <a:tint val="75000"/>
                  </a:prstClr>
                </a:solidFill>
              </a:defRPr>
            </a:lvl1pPr>
          </a:lstStyle>
          <a:p>
            <a:pPr>
              <a:defRPr/>
            </a:pPr>
            <a:r>
              <a:rPr lang="zh-CN" altLang="en-US"/>
              <a:t>清华大学   自动化系 张佐</a:t>
            </a: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1C3492C5-6D5F-431D-9C88-DCFA47FFB9BD}"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pPr>
              <a:defRPr/>
            </a:pPr>
            <a:r>
              <a:rPr lang="en-US" altLang="zh-CN"/>
              <a:t>2016/2/22</a:t>
            </a:r>
            <a:endParaRPr lang="zh-CN" altLang="en-US"/>
          </a:p>
        </p:txBody>
      </p:sp>
      <p:sp>
        <p:nvSpPr>
          <p:cNvPr id="6" name="页脚占位符 5"/>
          <p:cNvSpPr>
            <a:spLocks noGrp="1"/>
          </p:cNvSpPr>
          <p:nvPr>
            <p:ph type="ftr" sz="quarter" idx="11"/>
          </p:nvPr>
        </p:nvSpPr>
        <p:spPr/>
        <p:txBody>
          <a:bodyPr/>
          <a:lstStyle>
            <a:lvl1pPr>
              <a:defRPr>
                <a:solidFill>
                  <a:prstClr val="black">
                    <a:tint val="75000"/>
                  </a:prstClr>
                </a:solidFill>
              </a:defRPr>
            </a:lvl1pPr>
          </a:lstStyle>
          <a:p>
            <a:pPr>
              <a:defRPr/>
            </a:pPr>
            <a:r>
              <a:rPr lang="zh-CN" altLang="en-US"/>
              <a:t>清华大学   自动化系 张佐</a:t>
            </a: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DCC49C31-8BFB-49CC-B8D6-F582DB7A2B98}"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r>
              <a:rPr lang="en-US" altLang="zh-CN"/>
              <a:t>2016/2/22</a:t>
            </a:r>
            <a:endParaRPr lang="zh-CN" altLang="en-US"/>
          </a:p>
        </p:txBody>
      </p:sp>
      <p:sp>
        <p:nvSpPr>
          <p:cNvPr id="5" name="页脚占位符 4"/>
          <p:cNvSpPr>
            <a:spLocks noGrp="1"/>
          </p:cNvSpPr>
          <p:nvPr>
            <p:ph type="ftr" sz="quarter" idx="11"/>
          </p:nvPr>
        </p:nvSpPr>
        <p:spPr/>
        <p:txBody>
          <a:bodyPr/>
          <a:lstStyle>
            <a:lvl1pPr>
              <a:defRPr>
                <a:solidFill>
                  <a:prstClr val="black">
                    <a:tint val="75000"/>
                  </a:prstClr>
                </a:solidFill>
              </a:defRPr>
            </a:lvl1pPr>
          </a:lstStyle>
          <a:p>
            <a:pPr>
              <a:defRPr/>
            </a:pPr>
            <a:r>
              <a:rPr lang="zh-CN" altLang="en-US"/>
              <a:t>清华大学   自动化系 张佐</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F6DC5A5-E151-4C2C-BFC2-8F5C8B1F3185}"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r>
              <a:rPr lang="en-US" altLang="zh-CN"/>
              <a:t>2016/2/22</a:t>
            </a:r>
            <a:endParaRPr lang="zh-CN" altLang="en-US"/>
          </a:p>
        </p:txBody>
      </p:sp>
      <p:sp>
        <p:nvSpPr>
          <p:cNvPr id="5" name="页脚占位符 4"/>
          <p:cNvSpPr>
            <a:spLocks noGrp="1"/>
          </p:cNvSpPr>
          <p:nvPr>
            <p:ph type="ftr" sz="quarter" idx="11"/>
          </p:nvPr>
        </p:nvSpPr>
        <p:spPr/>
        <p:txBody>
          <a:bodyPr/>
          <a:lstStyle>
            <a:lvl1pPr>
              <a:defRPr>
                <a:solidFill>
                  <a:prstClr val="black">
                    <a:tint val="75000"/>
                  </a:prstClr>
                </a:solidFill>
              </a:defRPr>
            </a:lvl1pPr>
          </a:lstStyle>
          <a:p>
            <a:pPr>
              <a:defRPr/>
            </a:pPr>
            <a:r>
              <a:rPr lang="zh-CN" altLang="en-US"/>
              <a:t>清华大学   自动化系 张佐</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E5F7BB9-82F2-4564-A4F7-4D528C7EC4C8}" type="slidenum">
              <a:rPr lang="zh-CN" altLang="en-US"/>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368000" cy="1143000"/>
          </a:xfrm>
          <a:prstGeom prst="rect">
            <a:avLst/>
          </a:prstGeom>
        </p:spPr>
        <p:txBody>
          <a:bodyPr/>
          <a:lstStyle>
            <a:lvl1pPr algn="l">
              <a:defRPr/>
            </a:lvl1pPr>
          </a:lstStyle>
          <a:p>
            <a:r>
              <a:rPr lang="zh-CN" altLang="en-US" smtClean="0"/>
              <a:t>单击此处编辑母版标题样式</a:t>
            </a:r>
            <a:endParaRPr 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lstStyle>
            <a:lvl1pPr algn="ctr">
              <a:defRPr lang="en-US" altLang="zh-CN">
                <a:solidFill>
                  <a:schemeClr val="accent4">
                    <a:lumMod val="75000"/>
                  </a:schemeClr>
                </a:solidFill>
                <a:latin typeface="+mn-ea"/>
                <a:ea typeface="+mn-ea"/>
              </a:defRPr>
            </a:lvl1pPr>
          </a:lstStyle>
          <a:p>
            <a:pPr>
              <a:defRPr/>
            </a:pPr>
            <a:r>
              <a:t>2016/2/22</a:t>
            </a:r>
            <a:endParaRPr lang="zh-CN" altLang="en-US"/>
          </a:p>
        </p:txBody>
      </p:sp>
      <p:sp>
        <p:nvSpPr>
          <p:cNvPr id="5" name="页脚占位符 4"/>
          <p:cNvSpPr>
            <a:spLocks noGrp="1"/>
          </p:cNvSpPr>
          <p:nvPr>
            <p:ph type="ftr" sz="quarter" idx="11"/>
          </p:nvPr>
        </p:nvSpPr>
        <p:spPr/>
        <p:txBody>
          <a:bodyPr/>
          <a:lstStyle>
            <a:lvl1pPr>
              <a:defRPr>
                <a:solidFill>
                  <a:schemeClr val="accent4">
                    <a:lumMod val="75000"/>
                  </a:schemeClr>
                </a:solidFill>
                <a:latin typeface="华文彩云" panose="02010800040101010101" pitchFamily="2" charset="-122"/>
                <a:ea typeface="华文彩云" panose="02010800040101010101" pitchFamily="2" charset="-122"/>
              </a:defRPr>
            </a:lvl1pPr>
          </a:lstStyle>
          <a:p>
            <a:pPr>
              <a:defRPr/>
            </a:pPr>
            <a:r>
              <a:rPr lang="zh-CN" altLang="en-US"/>
              <a:t>清华大学   自动化系 张佐</a:t>
            </a:r>
            <a:endParaRPr lang="zh-CN" altLang="en-US"/>
          </a:p>
        </p:txBody>
      </p:sp>
      <p:sp>
        <p:nvSpPr>
          <p:cNvPr id="6" name="灯片编号占位符 5"/>
          <p:cNvSpPr>
            <a:spLocks noGrp="1"/>
          </p:cNvSpPr>
          <p:nvPr>
            <p:ph type="sldNum" sz="quarter" idx="12"/>
          </p:nvPr>
        </p:nvSpPr>
        <p:spPr/>
        <p:txBody>
          <a:bodyPr/>
          <a:lstStyle>
            <a:lvl1pPr>
              <a:defRPr>
                <a:solidFill>
                  <a:schemeClr val="tx1">
                    <a:tint val="75000"/>
                  </a:schemeClr>
                </a:solidFill>
              </a:defRPr>
            </a:lvl1pPr>
          </a:lstStyle>
          <a:p>
            <a:pPr>
              <a:defRPr/>
            </a:pPr>
            <a:fld id="{2AEB3BC6-8C2E-4C84-89B2-ECF51E487740}" type="slidenum">
              <a:rPr lang="zh-CN" altLang="en-US"/>
            </a:fld>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文本占位符 2"/>
          <p:cNvSpPr>
            <a:spLocks noGrp="1"/>
          </p:cNvSpPr>
          <p:nvPr>
            <p:ph type="body" idx="1"/>
          </p:nvPr>
        </p:nvSpPr>
        <p:spPr bwMode="auto">
          <a:xfrm>
            <a:off x="609600" y="1600200"/>
            <a:ext cx="10972800" cy="4525963"/>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4" name="日期占位符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fontAlgn="auto">
              <a:spcBef>
                <a:spcPts val="0"/>
              </a:spcBef>
              <a:spcAft>
                <a:spcPts val="0"/>
              </a:spcAft>
              <a:defRPr sz="1200">
                <a:solidFill>
                  <a:prstClr val="black">
                    <a:tint val="75000"/>
                  </a:prstClr>
                </a:solidFill>
                <a:latin typeface="+mn-lt"/>
                <a:ea typeface="+mn-ea"/>
              </a:defRPr>
            </a:lvl1pPr>
          </a:lstStyle>
          <a:p>
            <a:pPr>
              <a:defRPr/>
            </a:pPr>
            <a:r>
              <a:rPr lang="en-US" altLang="zh-CN"/>
              <a:t>2016/2/22</a:t>
            </a:r>
            <a:endParaRPr lang="zh-CN" altLang="en-US"/>
          </a:p>
        </p:txBody>
      </p:sp>
      <p:sp>
        <p:nvSpPr>
          <p:cNvPr id="5" name="页脚占位符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1">
                    <a:lumMod val="50000"/>
                  </a:schemeClr>
                </a:solidFill>
                <a:latin typeface="华文彩云" panose="02010800040101010101" pitchFamily="2" charset="-122"/>
                <a:ea typeface="华文彩云" panose="02010800040101010101" pitchFamily="2" charset="-122"/>
              </a:defRPr>
            </a:lvl1pPr>
          </a:lstStyle>
          <a:p>
            <a:pPr>
              <a:defRPr/>
            </a:pPr>
            <a:r>
              <a:rPr lang="zh-CN" altLang="en-US"/>
              <a:t>清华大学   自动化系 张佐</a:t>
            </a:r>
            <a:endParaRPr lang="zh-CN" altLang="en-US"/>
          </a:p>
        </p:txBody>
      </p:sp>
      <p:sp>
        <p:nvSpPr>
          <p:cNvPr id="6" name="灯片编号占位符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fontAlgn="auto">
              <a:spcBef>
                <a:spcPts val="0"/>
              </a:spcBef>
              <a:spcAft>
                <a:spcPts val="0"/>
              </a:spcAft>
              <a:defRPr sz="1200">
                <a:solidFill>
                  <a:prstClr val="black">
                    <a:tint val="75000"/>
                  </a:prstClr>
                </a:solidFill>
                <a:latin typeface="+mn-lt"/>
                <a:ea typeface="+mn-ea"/>
              </a:defRPr>
            </a:lvl1pPr>
          </a:lstStyle>
          <a:p>
            <a:pPr>
              <a:defRPr/>
            </a:pPr>
            <a:fld id="{844EF334-F178-4182-95FC-EA85479F56C0}" type="slidenum">
              <a:rPr lang="zh-CN" altLang="en-US"/>
            </a:fld>
            <a:endParaRPr lang="zh-CN" altLang="en-US"/>
          </a:p>
        </p:txBody>
      </p:sp>
      <p:pic>
        <p:nvPicPr>
          <p:cNvPr id="1030" name="图片 7"/>
          <p:cNvPicPr>
            <a:picLocks noChangeAspect="1"/>
          </p:cNvPicPr>
          <p:nvPr userDrawn="1"/>
        </p:nvPicPr>
        <p:blipFill>
          <a:blip r:embed="rId13" cstate="print"/>
          <a:srcRect/>
          <a:stretch>
            <a:fillRect/>
          </a:stretch>
        </p:blipFill>
        <p:spPr bwMode="auto">
          <a:xfrm>
            <a:off x="0" y="5791200"/>
            <a:ext cx="1670050" cy="11017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tags" Target="../tags/tag1.xml"/><Relationship Id="rId2" Type="http://schemas.openxmlformats.org/officeDocument/2006/relationships/hyperlink" Target="http://www.wenjuan.com/s/bArAniz/" TargetMode="External"/><Relationship Id="rId1" Type="http://schemas.openxmlformats.org/officeDocument/2006/relationships/hyperlink" Target="https://haokan.baidu.com/v?vid=14343011456223200952&amp;pd=bjh&amp;fr=bjhauthor&amp;type=video" TargetMode="Externa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9" Type="http://schemas.microsoft.com/office/2007/relationships/diagramDrawing" Target="../diagrams/drawing1.xml"/><Relationship Id="rId8" Type="http://schemas.openxmlformats.org/officeDocument/2006/relationships/diagramColors" Target="../diagrams/colors1.xml"/><Relationship Id="rId7" Type="http://schemas.openxmlformats.org/officeDocument/2006/relationships/diagramQuickStyle" Target="../diagrams/quickStyle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6.emf"/><Relationship Id="rId3" Type="http://schemas.openxmlformats.org/officeDocument/2006/relationships/image" Target="../media/image5.emf"/><Relationship Id="rId2" Type="http://schemas.openxmlformats.org/officeDocument/2006/relationships/hyperlink" Target="http://www.thepaper.cn/newsDetail_forward_1518854" TargetMode="External"/><Relationship Id="rId10"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9.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5.png"/><Relationship Id="rId1" Type="http://schemas.openxmlformats.org/officeDocument/2006/relationships/image" Target="../media/image14.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18.jpeg"/><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hyperlink" Target="http://www.huxiu.com/article/139378/1.html?f=index_feed_article"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9.png"/></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23.png"/><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image" Target="../media/image20.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7.jpeg"/><Relationship Id="rId1" Type="http://schemas.openxmlformats.org/officeDocument/2006/relationships/image" Target="../media/image16.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5.emf"/><Relationship Id="rId1" Type="http://schemas.openxmlformats.org/officeDocument/2006/relationships/image" Target="../media/image24.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hyperlink" Target="http://www.ieee.org/about/ieee_code_of_conduct.pdf" TargetMode="External"/><Relationship Id="rId1" Type="http://schemas.openxmlformats.org/officeDocument/2006/relationships/hyperlink" Target="http://f1000research.com/articles/3-38/v1"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hyperlink" Target="http://blog.sina.com.cn/s/blog_4e1d88520102vicz.html" TargetMode="External"/><Relationship Id="rId1" Type="http://schemas.openxmlformats.org/officeDocument/2006/relationships/hyperlink" Target="http://blog.sina.com.cn/s/blog_4e1d88520102vhxr.html"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27.jpe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7.jpe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8.jpeg"/><Relationship Id="rId1" Type="http://schemas.openxmlformats.org/officeDocument/2006/relationships/hyperlink" Target="http://pic.sogou.com/d?query=PPT+%B8%D0%D0%BB&amp;mood=0&amp;picformat=0&amp;mode=1&amp;di=2&amp;did=11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副标题 2"/>
          <p:cNvSpPr>
            <a:spLocks noGrp="1"/>
          </p:cNvSpPr>
          <p:nvPr>
            <p:ph type="subTitle" idx="1"/>
          </p:nvPr>
        </p:nvSpPr>
        <p:spPr>
          <a:xfrm>
            <a:off x="1828800" y="3825875"/>
            <a:ext cx="8534400" cy="1752600"/>
          </a:xfrm>
        </p:spPr>
        <p:txBody>
          <a:bodyPr/>
          <a:lstStyle/>
          <a:p>
            <a:pPr eaLnBrk="1" hangingPunct="1">
              <a:spcBef>
                <a:spcPts val="1200"/>
              </a:spcBef>
            </a:pPr>
            <a:r>
              <a:rPr lang="zh-CN" altLang="en-US" sz="3500" b="1" smtClean="0">
                <a:solidFill>
                  <a:srgbClr val="898989"/>
                </a:solidFill>
                <a:ea typeface="黑体" panose="02010609060101010101" pitchFamily="49" charset="-122"/>
              </a:rPr>
              <a:t>余文峰</a:t>
            </a:r>
            <a:endParaRPr lang="zh-CN" altLang="en-US" sz="3500" b="1" smtClean="0">
              <a:solidFill>
                <a:srgbClr val="898989"/>
              </a:solidFill>
              <a:ea typeface="黑体" panose="02010609060101010101" pitchFamily="49" charset="-122"/>
            </a:endParaRPr>
          </a:p>
          <a:p>
            <a:pPr eaLnBrk="1" hangingPunct="1">
              <a:spcBef>
                <a:spcPts val="1200"/>
              </a:spcBef>
            </a:pPr>
            <a:r>
              <a:rPr lang="zh-CN" altLang="en-US" sz="3500" b="1" smtClean="0">
                <a:solidFill>
                  <a:srgbClr val="898989"/>
                </a:solidFill>
                <a:ea typeface="黑体" panose="02010609060101010101" pitchFamily="49" charset="-122"/>
              </a:rPr>
              <a:t>华中科技大学</a:t>
            </a:r>
            <a:endParaRPr lang="zh-CN" altLang="en-US" smtClean="0">
              <a:solidFill>
                <a:srgbClr val="898989"/>
              </a:solidFill>
              <a:ea typeface="黑体" panose="02010609060101010101" pitchFamily="49" charset="-122"/>
            </a:endParaRPr>
          </a:p>
        </p:txBody>
      </p:sp>
      <p:sp>
        <p:nvSpPr>
          <p:cNvPr id="7" name="标题 1"/>
          <p:cNvSpPr txBox="1"/>
          <p:nvPr/>
        </p:nvSpPr>
        <p:spPr bwMode="auto">
          <a:xfrm>
            <a:off x="425355" y="1560311"/>
            <a:ext cx="11341288" cy="1275472"/>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p>
            <a:pPr algn="ctr" eaLnBrk="0" hangingPunct="0">
              <a:spcBef>
                <a:spcPct val="20000"/>
              </a:spcBef>
              <a:buFont typeface="Arial" panose="020B0604020202020204" pitchFamily="34" charset="0"/>
              <a:buNone/>
            </a:pPr>
            <a:r>
              <a:rPr kumimoji="1" lang="zh-CN" altLang="en-US" sz="4800">
                <a:solidFill>
                  <a:schemeClr val="bg1"/>
                </a:solidFill>
                <a:latin typeface="黑体" panose="02010609060101010101" pitchFamily="49" charset="-122"/>
                <a:ea typeface="黑体" panose="02010609060101010101" pitchFamily="49" charset="-122"/>
              </a:rPr>
              <a:t>信息与</a:t>
            </a:r>
            <a:r>
              <a:rPr kumimoji="1" lang="zh-CN" altLang="zh-CN" sz="4800">
                <a:solidFill>
                  <a:schemeClr val="bg1"/>
                </a:solidFill>
                <a:latin typeface="黑体" panose="02010609060101010101" pitchFamily="49" charset="-122"/>
                <a:ea typeface="黑体" panose="02010609060101010101" pitchFamily="49" charset="-122"/>
              </a:rPr>
              <a:t>大数据伦理</a:t>
            </a:r>
            <a:r>
              <a:rPr kumimoji="1" lang="zh-CN" altLang="en-US" sz="4800">
                <a:solidFill>
                  <a:schemeClr val="bg1"/>
                </a:solidFill>
                <a:latin typeface="黑体" panose="02010609060101010101" pitchFamily="49" charset="-122"/>
                <a:ea typeface="黑体" panose="02010609060101010101" pitchFamily="49" charset="-122"/>
              </a:rPr>
              <a:t>问题</a:t>
            </a:r>
            <a:endParaRPr kumimoji="1" lang="en-US" altLang="zh-CN" sz="4800">
              <a:solidFill>
                <a:schemeClr val="bg1"/>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600" y="1600201"/>
            <a:ext cx="10972800" cy="1143000"/>
          </a:xfrm>
        </p:spPr>
        <p:txBody>
          <a:bodyPr/>
          <a:lstStyle/>
          <a:p>
            <a:r>
              <a:rPr lang="en-US" altLang="zh-CN" dirty="0" smtClean="0">
                <a:hlinkClick r:id="rId1"/>
              </a:rPr>
              <a:t>https://haokan.baidu.com/v?vid=14343011456223200952&amp;pd=bjh&amp;fr=bjhauthor&amp;type=video </a:t>
            </a:r>
            <a:r>
              <a:rPr lang="zh-CN" altLang="en-US" dirty="0" smtClean="0"/>
              <a:t>搜索</a:t>
            </a:r>
            <a:r>
              <a:rPr lang="en-US" altLang="zh-CN" dirty="0" smtClean="0"/>
              <a:t>-</a:t>
            </a:r>
            <a:r>
              <a:rPr lang="zh-CN" altLang="en-US" dirty="0" smtClean="0"/>
              <a:t>电影</a:t>
            </a:r>
            <a:endParaRPr lang="en-US" altLang="zh-CN" dirty="0" smtClean="0"/>
          </a:p>
          <a:p>
            <a:endParaRPr lang="en-US" altLang="zh-CN" dirty="0"/>
          </a:p>
          <a:p>
            <a:pPr marL="0" indent="0">
              <a:buNone/>
            </a:pPr>
            <a:r>
              <a:rPr lang="zh-CN" altLang="en-US" dirty="0"/>
              <a:t>https://mp.weixin.qq.com/s/yKNuPpkWGAp_XbY5SkP5CA</a:t>
            </a:r>
            <a:endParaRPr lang="zh-CN" altLang="en-US" dirty="0"/>
          </a:p>
          <a:p>
            <a:pPr marL="0" indent="0">
              <a:buNone/>
            </a:pPr>
            <a:endParaRPr lang="zh-CN" altLang="en-US" dirty="0"/>
          </a:p>
          <a:p>
            <a:pPr marL="0" indent="0">
              <a:buNone/>
            </a:pPr>
            <a:r>
              <a:rPr lang="en-US" altLang="zh-CN" dirty="0" smtClean="0">
                <a:sym typeface="+mn-ea"/>
                <a:hlinkClick r:id="rId2"/>
              </a:rPr>
              <a:t>www.wenjuan.com/s/bArAniz/</a:t>
            </a:r>
            <a:endParaRPr lang="zh-CN" altLang="en-US" dirty="0"/>
          </a:p>
        </p:txBody>
      </p:sp>
      <p:sp>
        <p:nvSpPr>
          <p:cNvPr id="4" name="灯片编号占位符 3"/>
          <p:cNvSpPr>
            <a:spLocks noGrp="1"/>
          </p:cNvSpPr>
          <p:nvPr>
            <p:ph type="sldNum" sz="quarter" idx="12"/>
          </p:nvPr>
        </p:nvSpPr>
        <p:spPr/>
        <p:txBody>
          <a:bodyPr/>
          <a:lstStyle/>
          <a:p>
            <a:pPr>
              <a:defRPr/>
            </a:pPr>
            <a:fld id="{E32E4F57-91F6-42B3-86C9-A01B11DC8B1C}" type="slidenum">
              <a:rPr lang="zh-CN" altLang="en-US" smtClean="0"/>
            </a:fld>
            <a:endParaRPr lang="zh-CN" altLang="en-US"/>
          </a:p>
        </p:txBody>
      </p:sp>
      <p:pic>
        <p:nvPicPr>
          <p:cNvPr id="1026" name="Picture 2" descr="C:\Users\Administrator\Desktop\get_matrix_img"/>
          <p:cNvPicPr>
            <a:picLocks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8737600" y="4712970"/>
            <a:ext cx="1653540" cy="19183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E32E4F57-91F6-42B3-86C9-A01B11DC8B1C}" type="slidenum">
              <a:rPr lang="zh-CN" altLang="en-US" smtClean="0"/>
            </a:fld>
            <a:endParaRPr lang="zh-CN" altLang="en-US"/>
          </a:p>
        </p:txBody>
      </p:sp>
      <p:pic>
        <p:nvPicPr>
          <p:cNvPr id="3" name="图片 2"/>
          <p:cNvPicPr>
            <a:picLocks noChangeAspect="1"/>
          </p:cNvPicPr>
          <p:nvPr>
            <p:custDataLst>
              <p:tags r:id="rId1"/>
            </p:custDataLst>
          </p:nvPr>
        </p:nvPicPr>
        <p:blipFill>
          <a:blip r:embed="rId2"/>
          <a:stretch>
            <a:fillRect/>
          </a:stretch>
        </p:blipFill>
        <p:spPr>
          <a:xfrm>
            <a:off x="1053465" y="923290"/>
            <a:ext cx="9930130" cy="512953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089275" y="1343025"/>
            <a:ext cx="5424488" cy="4611688"/>
          </a:xfrm>
        </p:spPr>
        <p:txBody>
          <a:bodyPr rtlCol="0">
            <a:normAutofit/>
          </a:bodyPr>
          <a:lstStyle/>
          <a:p>
            <a:pPr marL="0" indent="0" eaLnBrk="1" fontAlgn="auto" hangingPunct="1">
              <a:spcAft>
                <a:spcPts val="0"/>
              </a:spcAft>
              <a:buFont typeface="Arial" panose="020B0604020202020204" pitchFamily="34" charset="0"/>
              <a:buNone/>
              <a:defRPr/>
            </a:pPr>
            <a:r>
              <a:rPr lang="zh-CN" altLang="en-US" dirty="0"/>
              <a:t>第</a:t>
            </a:r>
            <a:r>
              <a:rPr lang="zh-CN" altLang="en-US" dirty="0" smtClean="0"/>
              <a:t>一部分  主题引入</a:t>
            </a:r>
            <a:endParaRPr lang="en-US" altLang="zh-CN" dirty="0" smtClean="0"/>
          </a:p>
          <a:p>
            <a:pPr marL="971550" lvl="1" indent="-571500" eaLnBrk="1" fontAlgn="auto" hangingPunct="1">
              <a:spcAft>
                <a:spcPts val="0"/>
              </a:spcAft>
              <a:buFont typeface="Wingdings" panose="05000000000000000000" pitchFamily="2" charset="2"/>
              <a:buChar char="Ø"/>
              <a:defRPr/>
            </a:pPr>
            <a:r>
              <a:rPr lang="zh-CN" altLang="en-US" dirty="0"/>
              <a:t>层出不穷的新型案例</a:t>
            </a:r>
            <a:endParaRPr lang="en-US" altLang="zh-CN" dirty="0"/>
          </a:p>
          <a:p>
            <a:pPr marL="0" indent="0" eaLnBrk="1" fontAlgn="auto" hangingPunct="1">
              <a:spcAft>
                <a:spcPts val="0"/>
              </a:spcAft>
              <a:buFont typeface="Arial" panose="020B0604020202020204" pitchFamily="34" charset="0"/>
              <a:buNone/>
              <a:defRPr/>
            </a:pPr>
            <a:r>
              <a:rPr lang="zh-CN" altLang="en-US" dirty="0" smtClean="0"/>
              <a:t>第二部分  教学设计</a:t>
            </a:r>
            <a:endParaRPr lang="en-US" altLang="zh-CN" dirty="0"/>
          </a:p>
          <a:p>
            <a:pPr marL="971550" lvl="1" indent="-571500" eaLnBrk="1" fontAlgn="auto" hangingPunct="1">
              <a:spcAft>
                <a:spcPts val="0"/>
              </a:spcAft>
              <a:buFont typeface="Wingdings" panose="05000000000000000000" pitchFamily="2" charset="2"/>
              <a:buChar char="Ø"/>
              <a:defRPr/>
            </a:pPr>
            <a:r>
              <a:rPr lang="zh-CN" altLang="en-US" dirty="0" smtClean="0"/>
              <a:t>教学目的</a:t>
            </a:r>
            <a:endParaRPr lang="en-US" altLang="zh-CN" dirty="0" smtClean="0"/>
          </a:p>
          <a:p>
            <a:pPr marL="971550" lvl="1" indent="-571500" eaLnBrk="1" fontAlgn="auto" hangingPunct="1">
              <a:spcAft>
                <a:spcPts val="0"/>
              </a:spcAft>
              <a:buFont typeface="Wingdings" panose="05000000000000000000" pitchFamily="2" charset="2"/>
              <a:buChar char="Ø"/>
              <a:defRPr/>
            </a:pPr>
            <a:r>
              <a:rPr lang="zh-CN" altLang="en-US" dirty="0" smtClean="0"/>
              <a:t>教学内容</a:t>
            </a:r>
            <a:endParaRPr lang="en-US" altLang="zh-CN" dirty="0" smtClean="0"/>
          </a:p>
          <a:p>
            <a:pPr marL="971550" lvl="1" indent="-571500" eaLnBrk="1" fontAlgn="auto" hangingPunct="1">
              <a:spcAft>
                <a:spcPts val="0"/>
              </a:spcAft>
              <a:buFont typeface="Wingdings" panose="05000000000000000000" pitchFamily="2" charset="2"/>
              <a:buChar char="Ø"/>
              <a:defRPr/>
            </a:pPr>
            <a:r>
              <a:rPr lang="zh-CN" altLang="en-US" dirty="0" smtClean="0"/>
              <a:t>学生学习</a:t>
            </a:r>
            <a:endParaRPr lang="en-US" altLang="zh-CN" dirty="0" smtClean="0"/>
          </a:p>
          <a:p>
            <a:pPr marL="971550" lvl="1" indent="-571500" eaLnBrk="1" fontAlgn="auto" hangingPunct="1">
              <a:spcAft>
                <a:spcPts val="0"/>
              </a:spcAft>
              <a:buFont typeface="Wingdings" panose="05000000000000000000" pitchFamily="2" charset="2"/>
              <a:buChar char="Ø"/>
              <a:defRPr/>
            </a:pPr>
            <a:r>
              <a:rPr lang="zh-CN" altLang="en-US" dirty="0" smtClean="0"/>
              <a:t>实践体会</a:t>
            </a:r>
            <a:endParaRPr lang="en-US" altLang="zh-CN" dirty="0" smtClean="0">
              <a:solidFill>
                <a:srgbClr val="FF0000"/>
              </a:solidFill>
            </a:endParaRPr>
          </a:p>
          <a:p>
            <a:pPr marL="0" lvl="1" indent="0" eaLnBrk="1" fontAlgn="auto" hangingPunct="1">
              <a:spcAft>
                <a:spcPts val="0"/>
              </a:spcAft>
              <a:buFont typeface="Arial" panose="020B0604020202020204" pitchFamily="34" charset="0"/>
              <a:buNone/>
              <a:defRPr/>
            </a:pPr>
            <a:r>
              <a:rPr lang="zh-CN" altLang="en-US" sz="3200" dirty="0" smtClean="0"/>
              <a:t>第三部分 交流</a:t>
            </a:r>
            <a:r>
              <a:rPr lang="zh-CN" altLang="en-US" sz="3200" dirty="0"/>
              <a:t>讨论</a:t>
            </a:r>
            <a:endParaRPr lang="en-US" altLang="zh-CN" sz="3200" dirty="0"/>
          </a:p>
          <a:p>
            <a:pPr lvl="1" eaLnBrk="1" fontAlgn="auto" hangingPunct="1">
              <a:spcAft>
                <a:spcPts val="0"/>
              </a:spcAft>
              <a:buFont typeface="Arial" panose="020B0604020202020204" pitchFamily="34" charset="0"/>
              <a:buChar char="–"/>
              <a:defRPr/>
            </a:pPr>
            <a:endParaRPr lang="en-US" altLang="zh-CN" dirty="0" smtClean="0"/>
          </a:p>
          <a:p>
            <a:pPr eaLnBrk="1" fontAlgn="auto" hangingPunct="1">
              <a:spcAft>
                <a:spcPts val="0"/>
              </a:spcAft>
              <a:buFont typeface="Arial" panose="020B0604020202020204" pitchFamily="34" charset="0"/>
              <a:buChar char="•"/>
              <a:defRPr/>
            </a:pPr>
            <a:endParaRPr lang="zh-CN" altLang="en-US" dirty="0"/>
          </a:p>
        </p:txBody>
      </p:sp>
      <p:sp>
        <p:nvSpPr>
          <p:cNvPr id="6" name="标题 1"/>
          <p:cNvSpPr txBox="1">
            <a:spLocks noGrp="1"/>
          </p:cNvSpPr>
          <p:nvPr>
            <p:ph type="title" idx="4294967295"/>
          </p:nvPr>
        </p:nvSpPr>
        <p:spPr bwMode="auto">
          <a:xfrm>
            <a:off x="609599" y="160338"/>
            <a:ext cx="10972800" cy="1009650"/>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提纲</a:t>
            </a:r>
            <a:endParaRPr lang="en-US" altLang="zh-CN" sz="3600" dirty="0" smtClean="0">
              <a:solidFill>
                <a:schemeClr val="bg1"/>
              </a:solidFill>
            </a:endParaRPr>
          </a:p>
        </p:txBody>
      </p:sp>
      <p:sp>
        <p:nvSpPr>
          <p:cNvPr id="18438" name="灯片编号占位符 7"/>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169C79E9-125D-4337-9AFC-51906A305CC6}" type="slidenum">
              <a:rPr lang="zh-CN" altLang="en-US">
                <a:solidFill>
                  <a:srgbClr val="898989"/>
                </a:solidFill>
              </a:rPr>
            </a:fld>
            <a:endParaRPr lang="en-US" altLang="zh-CN">
              <a:solidFill>
                <a:srgbClr val="898989"/>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bwMode="auto">
          <a:xfrm>
            <a:off x="425355" y="1916927"/>
            <a:ext cx="11341288" cy="1275472"/>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4800" dirty="0" smtClean="0">
                <a:solidFill>
                  <a:schemeClr val="bg1"/>
                </a:solidFill>
              </a:rPr>
              <a:t>第一部分  主题引入</a:t>
            </a:r>
            <a:endParaRPr lang="en-US" altLang="zh-CN" sz="4800" dirty="0">
              <a:solidFill>
                <a:schemeClr val="bg1"/>
              </a:solidFill>
            </a:endParaRPr>
          </a:p>
        </p:txBody>
      </p:sp>
      <p:sp>
        <p:nvSpPr>
          <p:cNvPr id="2" name="副标题 1"/>
          <p:cNvSpPr>
            <a:spLocks noGrp="1"/>
          </p:cNvSpPr>
          <p:nvPr>
            <p:ph type="subTitle" idx="1"/>
          </p:nvPr>
        </p:nvSpPr>
        <p:spPr/>
        <p:txBody>
          <a:bodyPr rtlCol="0">
            <a:normAutofit/>
          </a:bodyPr>
          <a:lstStyle/>
          <a:p>
            <a:pPr eaLnBrk="1" fontAlgn="auto" hangingPunct="1">
              <a:spcAft>
                <a:spcPts val="0"/>
              </a:spcAft>
              <a:buFont typeface="Arial" panose="020B0604020202020204" pitchFamily="34" charset="0"/>
              <a:buNone/>
              <a:defRPr/>
            </a:pPr>
            <a:r>
              <a:rPr lang="zh-CN" altLang="en-US" dirty="0" smtClean="0"/>
              <a:t>信息与大数据伦理问题有何特点？</a:t>
            </a:r>
            <a:endParaRPr lang="zh-CN" alt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06C17A75-31FD-44F4-99AD-2D86C39D5861}" type="slidenum">
              <a:rPr lang="zh-CN" altLang="en-US">
                <a:solidFill>
                  <a:srgbClr val="898989"/>
                </a:solidFill>
              </a:rPr>
            </a:fld>
            <a:endParaRPr lang="en-US" altLang="zh-CN">
              <a:solidFill>
                <a:srgbClr val="898989"/>
              </a:solidFill>
            </a:endParaRPr>
          </a:p>
        </p:txBody>
      </p:sp>
      <p:pic>
        <p:nvPicPr>
          <p:cNvPr id="1027" name="Picture 3"/>
          <p:cNvPicPr>
            <a:picLocks noChangeAspect="1" noChangeArrowheads="1"/>
          </p:cNvPicPr>
          <p:nvPr/>
        </p:nvPicPr>
        <p:blipFill>
          <a:blip r:embed="rId1" cstate="print"/>
          <a:srcRect/>
          <a:stretch>
            <a:fillRect/>
          </a:stretch>
        </p:blipFill>
        <p:spPr bwMode="auto">
          <a:xfrm>
            <a:off x="6577013" y="1169988"/>
            <a:ext cx="4021137" cy="1674812"/>
          </a:xfrm>
          <a:prstGeom prst="rect">
            <a:avLst/>
          </a:prstGeom>
          <a:noFill/>
          <a:ln w="9525">
            <a:noFill/>
            <a:miter lim="800000"/>
            <a:headEnd/>
            <a:tailEnd/>
          </a:ln>
        </p:spPr>
      </p:pic>
      <p:sp>
        <p:nvSpPr>
          <p:cNvPr id="7" name="标题 1"/>
          <p:cNvSpPr txBox="1"/>
          <p:nvPr/>
        </p:nvSpPr>
        <p:spPr bwMode="auto">
          <a:xfrm>
            <a:off x="609599" y="160338"/>
            <a:ext cx="10972800" cy="1009650"/>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defTabSz="914400" rtl="0" eaLnBrk="0" fontAlgn="base" latinLnBrk="0"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案例</a:t>
            </a:r>
            <a:r>
              <a:rPr lang="en-US" altLang="zh-CN" sz="3600" dirty="0" smtClean="0">
                <a:solidFill>
                  <a:schemeClr val="bg1"/>
                </a:solidFill>
              </a:rPr>
              <a:t>1</a:t>
            </a:r>
            <a:r>
              <a:rPr lang="zh-CN" altLang="en-US" sz="3600" dirty="0" smtClean="0">
                <a:solidFill>
                  <a:schemeClr val="bg1"/>
                </a:solidFill>
              </a:rPr>
              <a:t>：“徐玉玉”事件</a:t>
            </a:r>
            <a:endParaRPr lang="en-US" altLang="zh-CN" sz="3600" dirty="0">
              <a:solidFill>
                <a:schemeClr val="bg1"/>
              </a:solidFill>
            </a:endParaRPr>
          </a:p>
        </p:txBody>
      </p:sp>
      <p:sp>
        <p:nvSpPr>
          <p:cNvPr id="8" name="内容占位符 1"/>
          <p:cNvSpPr txBox="1"/>
          <p:nvPr/>
        </p:nvSpPr>
        <p:spPr bwMode="auto">
          <a:xfrm>
            <a:off x="557213" y="1778000"/>
            <a:ext cx="5486400" cy="760413"/>
          </a:xfrm>
          <a:prstGeom prst="rect">
            <a:avLst/>
          </a:prstGeom>
          <a:noFill/>
          <a:ln w="9525">
            <a:noFill/>
            <a:miter lim="800000"/>
          </a:ln>
        </p:spPr>
        <p:txBody>
          <a:bodyPr/>
          <a:lstStyle/>
          <a:p>
            <a:pPr marL="742950" lvl="1" indent="-285750">
              <a:spcBef>
                <a:spcPct val="20000"/>
              </a:spcBef>
              <a:buFont typeface="Arial" panose="020B0604020202020204" pitchFamily="34" charset="0"/>
              <a:buChar char="–"/>
            </a:pPr>
            <a:r>
              <a:rPr lang="en-US" altLang="zh-CN" sz="2800">
                <a:latin typeface="黑体" panose="02010609060101010101" pitchFamily="49" charset="-122"/>
                <a:ea typeface="黑体" panose="02010609060101010101" pitchFamily="49" charset="-122"/>
                <a:cs typeface="Times New Roman" panose="02020603050405020304" pitchFamily="18" charset="0"/>
                <a:hlinkClick r:id="rId2"/>
              </a:rPr>
              <a:t>【</a:t>
            </a:r>
            <a:r>
              <a:rPr lang="zh-CN" altLang="en-US" sz="2800">
                <a:latin typeface="黑体" panose="02010609060101010101" pitchFamily="49" charset="-122"/>
                <a:ea typeface="黑体" panose="02010609060101010101" pitchFamily="49" charset="-122"/>
                <a:cs typeface="Times New Roman" panose="02020603050405020304" pitchFamily="18" charset="0"/>
                <a:hlinkClick r:id="rId2"/>
              </a:rPr>
              <a:t>社论</a:t>
            </a:r>
            <a:r>
              <a:rPr lang="en-US" altLang="zh-CN" sz="2800">
                <a:latin typeface="黑体" panose="02010609060101010101" pitchFamily="49" charset="-122"/>
                <a:ea typeface="黑体" panose="02010609060101010101" pitchFamily="49" charset="-122"/>
                <a:cs typeface="Times New Roman" panose="02020603050405020304" pitchFamily="18" charset="0"/>
                <a:hlinkClick r:id="rId2"/>
              </a:rPr>
              <a:t>】</a:t>
            </a:r>
            <a:r>
              <a:rPr lang="zh-CN" altLang="en-US" sz="2800">
                <a:latin typeface="黑体" panose="02010609060101010101" pitchFamily="49" charset="-122"/>
                <a:ea typeface="黑体" panose="02010609060101010101" pitchFamily="49" charset="-122"/>
                <a:cs typeface="Times New Roman" panose="02020603050405020304" pitchFamily="18" charset="0"/>
                <a:hlinkClick r:id="rId2"/>
              </a:rPr>
              <a:t>谁害死了徐玉玉</a:t>
            </a:r>
            <a:endParaRPr lang="en-US" altLang="zh-CN" sz="2800">
              <a:latin typeface="黑体" panose="02010609060101010101" pitchFamily="49" charset="-122"/>
              <a:ea typeface="黑体" panose="02010609060101010101" pitchFamily="49" charset="-122"/>
              <a:cs typeface="Times New Roman" panose="02020603050405020304" pitchFamily="18" charset="0"/>
            </a:endParaRPr>
          </a:p>
          <a:p>
            <a:pPr marL="742950" lvl="1" indent="-285750">
              <a:spcBef>
                <a:spcPct val="20000"/>
              </a:spcBef>
              <a:buFont typeface="Arial" panose="020B0604020202020204" pitchFamily="34" charset="0"/>
              <a:buChar char="–"/>
            </a:pPr>
            <a:endParaRPr lang="zh-CN" altLang="en-US" sz="2800">
              <a:latin typeface="黑体" panose="02010609060101010101" pitchFamily="49" charset="-122"/>
              <a:ea typeface="黑体" panose="02010609060101010101" pitchFamily="49" charset="-122"/>
              <a:cs typeface="Times New Roman" panose="02020603050405020304" pitchFamily="18" charset="0"/>
            </a:endParaRPr>
          </a:p>
        </p:txBody>
      </p:sp>
      <p:pic>
        <p:nvPicPr>
          <p:cNvPr id="1028" name="Picture 4"/>
          <p:cNvPicPr>
            <a:picLocks noChangeAspect="1" noChangeArrowheads="1"/>
          </p:cNvPicPr>
          <p:nvPr/>
        </p:nvPicPr>
        <p:blipFill>
          <a:blip r:embed="rId3" cstate="print"/>
          <a:srcRect/>
          <a:stretch>
            <a:fillRect/>
          </a:stretch>
        </p:blipFill>
        <p:spPr bwMode="auto">
          <a:xfrm>
            <a:off x="6096000" y="2925763"/>
            <a:ext cx="5880100" cy="3273425"/>
          </a:xfrm>
          <a:prstGeom prst="rect">
            <a:avLst/>
          </a:prstGeom>
          <a:noFill/>
          <a:ln w="9525">
            <a:noFill/>
            <a:miter lim="800000"/>
            <a:headEnd/>
            <a:tailEnd/>
          </a:ln>
        </p:spPr>
      </p:pic>
      <p:pic>
        <p:nvPicPr>
          <p:cNvPr id="1029" name="Picture 5"/>
          <p:cNvPicPr>
            <a:picLocks noChangeAspect="1" noChangeArrowheads="1"/>
          </p:cNvPicPr>
          <p:nvPr/>
        </p:nvPicPr>
        <p:blipFill>
          <a:blip r:embed="rId4" cstate="print"/>
          <a:srcRect/>
          <a:stretch>
            <a:fillRect/>
          </a:stretch>
        </p:blipFill>
        <p:spPr bwMode="auto">
          <a:xfrm>
            <a:off x="120650" y="3063875"/>
            <a:ext cx="5797550" cy="3135313"/>
          </a:xfrm>
          <a:prstGeom prst="rect">
            <a:avLst/>
          </a:prstGeom>
          <a:noFill/>
          <a:ln w="9525">
            <a:noFill/>
            <a:miter lim="800000"/>
            <a:headEnd/>
            <a:tailEnd/>
          </a:ln>
        </p:spPr>
      </p:pic>
      <p:sp>
        <p:nvSpPr>
          <p:cNvPr id="6" name="爆炸形 1 5"/>
          <p:cNvSpPr/>
          <p:nvPr/>
        </p:nvSpPr>
        <p:spPr>
          <a:xfrm>
            <a:off x="825500" y="1778000"/>
            <a:ext cx="10972800" cy="3392488"/>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sz="3200" dirty="0">
                <a:latin typeface="黑体" panose="02010609060101010101" pitchFamily="49" charset="-122"/>
                <a:ea typeface="黑体" panose="02010609060101010101" pitchFamily="49" charset="-122"/>
              </a:rPr>
              <a:t>随</a:t>
            </a:r>
            <a:r>
              <a:rPr lang="en-US" altLang="zh-CN" sz="3200" dirty="0">
                <a:latin typeface="黑体" panose="02010609060101010101" pitchFamily="49" charset="-122"/>
                <a:ea typeface="黑体" panose="02010609060101010101" pitchFamily="49" charset="-122"/>
              </a:rPr>
              <a:t>IT</a:t>
            </a:r>
            <a:r>
              <a:rPr lang="zh-CN" altLang="en-US" sz="3200" dirty="0">
                <a:latin typeface="黑体" panose="02010609060101010101" pitchFamily="49" charset="-122"/>
                <a:ea typeface="黑体" panose="02010609060101010101" pitchFamily="49" charset="-122"/>
              </a:rPr>
              <a:t>和</a:t>
            </a:r>
            <a:r>
              <a:rPr lang="en-US" altLang="zh-CN" sz="3200" dirty="0">
                <a:latin typeface="黑体" panose="02010609060101010101" pitchFamily="49" charset="-122"/>
                <a:ea typeface="黑体" panose="02010609060101010101" pitchFamily="49" charset="-122"/>
              </a:rPr>
              <a:t>BD</a:t>
            </a:r>
            <a:r>
              <a:rPr lang="zh-CN" altLang="en-US" sz="3200" dirty="0">
                <a:latin typeface="黑体" panose="02010609060101010101" pitchFamily="49" charset="-122"/>
                <a:ea typeface="黑体" panose="02010609060101010101" pitchFamily="49" charset="-122"/>
              </a:rPr>
              <a:t>应用不断创新</a:t>
            </a:r>
            <a:endParaRPr lang="en-US" altLang="zh-CN" sz="3200" dirty="0">
              <a:latin typeface="黑体" panose="02010609060101010101" pitchFamily="49" charset="-122"/>
              <a:ea typeface="黑体" panose="02010609060101010101" pitchFamily="49" charset="-122"/>
            </a:endParaRPr>
          </a:p>
          <a:p>
            <a:pPr algn="ctr" fontAlgn="auto">
              <a:spcBef>
                <a:spcPts val="0"/>
              </a:spcBef>
              <a:spcAft>
                <a:spcPts val="0"/>
              </a:spcAft>
              <a:defRPr/>
            </a:pPr>
            <a:r>
              <a:rPr lang="zh-CN" altLang="en-US" sz="3200" dirty="0">
                <a:latin typeface="黑体" panose="02010609060101010101" pitchFamily="49" charset="-122"/>
                <a:ea typeface="黑体" panose="02010609060101010101" pitchFamily="49" charset="-122"/>
              </a:rPr>
              <a:t>违背道德或法律的案例层出不穷！</a:t>
            </a:r>
            <a:endParaRPr lang="zh-CN" altLang="en-US" sz="3200" dirty="0">
              <a:latin typeface="黑体" panose="02010609060101010101" pitchFamily="49" charset="-122"/>
              <a:ea typeface="黑体" panose="02010609060101010101" pitchFamily="49" charset="-122"/>
            </a:endParaRPr>
          </a:p>
        </p:txBody>
      </p:sp>
      <p:cxnSp>
        <p:nvCxnSpPr>
          <p:cNvPr id="10" name="直接连接符 9"/>
          <p:cNvCxnSpPr/>
          <p:nvPr/>
        </p:nvCxnSpPr>
        <p:spPr>
          <a:xfrm flipV="1">
            <a:off x="609600" y="3457575"/>
            <a:ext cx="2995613" cy="20638"/>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6311900" y="3159125"/>
            <a:ext cx="1897063" cy="20638"/>
          </a:xfrm>
          <a:prstGeom prst="line">
            <a:avLst/>
          </a:prstGeom>
          <a:ln w="22225"/>
        </p:spPr>
        <p:style>
          <a:lnRef idx="1">
            <a:schemeClr val="accent1"/>
          </a:lnRef>
          <a:fillRef idx="0">
            <a:schemeClr val="accent1"/>
          </a:fillRef>
          <a:effectRef idx="0">
            <a:schemeClr val="accent1"/>
          </a:effectRef>
          <a:fontRef idx="minor">
            <a:schemeClr val="tx1"/>
          </a:fontRef>
        </p:style>
      </p:cxnSp>
      <p:graphicFrame>
        <p:nvGraphicFramePr>
          <p:cNvPr id="2" name="图示 1"/>
          <p:cNvGraphicFramePr/>
          <p:nvPr/>
        </p:nvGraphicFramePr>
        <p:xfrm>
          <a:off x="3512759" y="1584326"/>
          <a:ext cx="7996615" cy="477202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28"/>
                                        </p:tgtEl>
                                        <p:attrNameLst>
                                          <p:attrName>style.visibility</p:attrName>
                                        </p:attrNameLst>
                                      </p:cBhvr>
                                      <p:to>
                                        <p:strVal val="visible"/>
                                      </p:to>
                                    </p:set>
                                    <p:animEffect transition="in" filter="fade">
                                      <p:cBhvr>
                                        <p:cTn id="22" dur="500"/>
                                        <p:tgtEl>
                                          <p:spTgt spid="102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1000"/>
                                        <p:tgtEl>
                                          <p:spTgt spid="6"/>
                                        </p:tgtEl>
                                      </p:cBhvr>
                                    </p:animEffect>
                                    <p:anim calcmode="lin" valueType="num">
                                      <p:cBhvr>
                                        <p:cTn id="33" dur="1000" fill="hold"/>
                                        <p:tgtEl>
                                          <p:spTgt spid="6"/>
                                        </p:tgtEl>
                                        <p:attrNameLst>
                                          <p:attrName>ppt_x</p:attrName>
                                        </p:attrNameLst>
                                      </p:cBhvr>
                                      <p:tavLst>
                                        <p:tav tm="0">
                                          <p:val>
                                            <p:strVal val="#ppt_x"/>
                                          </p:val>
                                        </p:tav>
                                        <p:tav tm="100000">
                                          <p:val>
                                            <p:strVal val="#ppt_x"/>
                                          </p:val>
                                        </p:tav>
                                      </p:tavLst>
                                    </p:anim>
                                    <p:anim calcmode="lin" valueType="num">
                                      <p:cBhvr>
                                        <p:cTn id="3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fade">
                                      <p:cBhvr>
                                        <p:cTn id="3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animBg="1"/>
      <p:bldGraphic spid="2"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562100"/>
            <a:ext cx="5495925" cy="4267200"/>
          </a:xfrm>
          <a:ln>
            <a:solidFill>
              <a:schemeClr val="accent1">
                <a:shade val="50000"/>
              </a:schemeClr>
            </a:solidFill>
          </a:ln>
        </p:spPr>
        <p:txBody>
          <a:bodyPr rtlCol="0">
            <a:noAutofit/>
          </a:bodyPr>
          <a:lstStyle/>
          <a:p>
            <a:pPr eaLnBrk="1" fontAlgn="auto" hangingPunct="1">
              <a:spcAft>
                <a:spcPts val="0"/>
              </a:spcAft>
              <a:buFont typeface="Arial" panose="020B0604020202020204" pitchFamily="34" charset="0"/>
              <a:buChar char="•"/>
              <a:defRPr/>
            </a:pPr>
            <a:r>
              <a:rPr lang="zh-CN" altLang="en-US" sz="2000" dirty="0">
                <a:solidFill>
                  <a:srgbClr val="FF0000"/>
                </a:solidFill>
              </a:rPr>
              <a:t>事件回顾</a:t>
            </a:r>
            <a:r>
              <a:rPr lang="zh-CN" altLang="en-US" sz="2000" dirty="0" smtClean="0"/>
              <a:t>：</a:t>
            </a:r>
            <a:r>
              <a:rPr lang="en-US" altLang="zh-CN" sz="1800" dirty="0" smtClean="0"/>
              <a:t>2016</a:t>
            </a:r>
            <a:r>
              <a:rPr lang="zh-CN" altLang="en-US" sz="1800" dirty="0" smtClean="0"/>
              <a:t>年</a:t>
            </a:r>
            <a:r>
              <a:rPr lang="en-US" altLang="zh-CN" sz="1800" dirty="0" smtClean="0"/>
              <a:t>1</a:t>
            </a:r>
            <a:r>
              <a:rPr lang="zh-CN" altLang="en-US" sz="1800" dirty="0" smtClean="0"/>
              <a:t>月</a:t>
            </a:r>
            <a:r>
              <a:rPr lang="en-US" altLang="zh-CN" sz="1800" dirty="0" smtClean="0"/>
              <a:t>8</a:t>
            </a:r>
            <a:r>
              <a:rPr lang="zh-CN" altLang="en-US" sz="1800" dirty="0" smtClean="0"/>
              <a:t>日，深圳快播公司（</a:t>
            </a:r>
            <a:r>
              <a:rPr lang="en-US" altLang="zh-CN" sz="1800" dirty="0" smtClean="0"/>
              <a:t>QVOD</a:t>
            </a:r>
            <a:r>
              <a:rPr lang="zh-CN" altLang="en-US" sz="1800" dirty="0" smtClean="0"/>
              <a:t>播放器）涉黄案在北京市海淀法院一审开庭。快</a:t>
            </a:r>
            <a:r>
              <a:rPr lang="zh-CN" altLang="en-US" sz="1800" dirty="0"/>
              <a:t>播</a:t>
            </a:r>
            <a:r>
              <a:rPr lang="en-US" altLang="zh-CN" sz="1800" dirty="0" smtClean="0"/>
              <a:t>CEO</a:t>
            </a:r>
            <a:r>
              <a:rPr lang="zh-CN" altLang="en-US" sz="1800" dirty="0" smtClean="0"/>
              <a:t>等</a:t>
            </a:r>
            <a:r>
              <a:rPr lang="en-US" altLang="zh-CN" sz="1800" dirty="0" smtClean="0"/>
              <a:t>4</a:t>
            </a:r>
            <a:r>
              <a:rPr lang="zh-CN" altLang="en-US" sz="1800" dirty="0" smtClean="0"/>
              <a:t>名高层出庭受审。控辩实录上网发布，引发热议。</a:t>
            </a:r>
            <a:endParaRPr lang="en-US" altLang="zh-CN" sz="1800" dirty="0" smtClean="0"/>
          </a:p>
          <a:p>
            <a:pPr eaLnBrk="1" fontAlgn="auto" hangingPunct="1">
              <a:spcAft>
                <a:spcPts val="0"/>
              </a:spcAft>
              <a:buFont typeface="Arial" panose="020B0604020202020204" pitchFamily="34" charset="0"/>
              <a:buChar char="•"/>
              <a:defRPr/>
            </a:pPr>
            <a:r>
              <a:rPr lang="zh-CN" altLang="en-US" sz="2000" dirty="0">
                <a:solidFill>
                  <a:srgbClr val="FF0000"/>
                </a:solidFill>
              </a:rPr>
              <a:t>争论焦点</a:t>
            </a:r>
            <a:r>
              <a:rPr lang="zh-CN" altLang="en-US" sz="2000" dirty="0" smtClean="0"/>
              <a:t>：</a:t>
            </a:r>
            <a:r>
              <a:rPr lang="zh-CN" altLang="en-US" sz="1800" dirty="0"/>
              <a:t>技术中立能否成立？是否尽到监管义务？是否构成刑事责任？</a:t>
            </a:r>
            <a:endParaRPr lang="zh-CN" altLang="en-US" sz="1800" dirty="0"/>
          </a:p>
          <a:p>
            <a:pPr eaLnBrk="1" fontAlgn="auto" hangingPunct="1">
              <a:spcAft>
                <a:spcPts val="0"/>
              </a:spcAft>
              <a:buFont typeface="Arial" panose="020B0604020202020204" pitchFamily="34" charset="0"/>
              <a:buChar char="•"/>
              <a:defRPr/>
            </a:pPr>
            <a:r>
              <a:rPr lang="zh-CN" altLang="en-US" sz="2000" dirty="0">
                <a:solidFill>
                  <a:srgbClr val="FF0000"/>
                </a:solidFill>
              </a:rPr>
              <a:t>法律依据（大陆法体系）</a:t>
            </a:r>
            <a:r>
              <a:rPr lang="zh-CN" altLang="en-US" sz="2000" b="1" dirty="0" smtClean="0"/>
              <a:t>：</a:t>
            </a:r>
            <a:r>
              <a:rPr lang="zh-CN" altLang="zh-CN" sz="1800" dirty="0"/>
              <a:t>《刑法》第</a:t>
            </a:r>
            <a:r>
              <a:rPr lang="en-US" altLang="zh-CN" sz="1800" dirty="0"/>
              <a:t>363</a:t>
            </a:r>
            <a:r>
              <a:rPr lang="zh-CN" altLang="zh-CN" sz="1800" dirty="0"/>
              <a:t>条</a:t>
            </a:r>
            <a:r>
              <a:rPr lang="zh-CN" altLang="en-US" sz="1800" dirty="0"/>
              <a:t>（</a:t>
            </a:r>
            <a:r>
              <a:rPr lang="zh-CN" altLang="zh-CN" sz="1800" dirty="0"/>
              <a:t>制作、复制、出版、贩卖、传播淫秽物品牟利罪</a:t>
            </a:r>
            <a:r>
              <a:rPr lang="zh-CN" altLang="en-US" sz="1800" dirty="0"/>
              <a:t>）、第</a:t>
            </a:r>
            <a:r>
              <a:rPr lang="en-US" altLang="zh-CN" sz="1800" dirty="0"/>
              <a:t>367</a:t>
            </a:r>
            <a:r>
              <a:rPr lang="zh-CN" altLang="en-US" sz="1800" dirty="0"/>
              <a:t>条（</a:t>
            </a:r>
            <a:r>
              <a:rPr lang="zh-CN" altLang="zh-CN" sz="1800" dirty="0"/>
              <a:t>淫秽物品的范围</a:t>
            </a:r>
            <a:r>
              <a:rPr lang="zh-CN" altLang="en-US" sz="1800" dirty="0"/>
              <a:t>）；</a:t>
            </a:r>
            <a:r>
              <a:rPr lang="zh-CN" altLang="zh-CN" sz="1800" dirty="0"/>
              <a:t>两高《关于办理利用互联网、移动通讯终端、声讯台制作、复制、出版、贩卖、传播淫秽电子信息刑事案件具体应用法律若干问题的解释</a:t>
            </a:r>
            <a:r>
              <a:rPr lang="en-US" altLang="zh-CN" sz="1800" dirty="0"/>
              <a:t>(</a:t>
            </a:r>
            <a:r>
              <a:rPr lang="zh-CN" altLang="zh-CN" sz="1800" dirty="0"/>
              <a:t>一</a:t>
            </a:r>
            <a:r>
              <a:rPr lang="en-US" altLang="zh-CN" sz="1800" dirty="0"/>
              <a:t>)</a:t>
            </a:r>
            <a:r>
              <a:rPr lang="zh-CN" altLang="en-US" sz="1800" dirty="0"/>
              <a:t>（二）</a:t>
            </a:r>
            <a:r>
              <a:rPr lang="en-US" altLang="zh-CN" sz="1800" dirty="0"/>
              <a:t> </a:t>
            </a:r>
            <a:r>
              <a:rPr lang="zh-CN" altLang="zh-CN" sz="1800" dirty="0"/>
              <a:t>》（法释</a:t>
            </a:r>
            <a:r>
              <a:rPr lang="en-US" altLang="zh-CN" sz="1800" dirty="0"/>
              <a:t>[2004]11</a:t>
            </a:r>
            <a:r>
              <a:rPr lang="zh-CN" altLang="zh-CN" sz="1800" dirty="0"/>
              <a:t>号）（法释</a:t>
            </a:r>
            <a:r>
              <a:rPr lang="en-US" altLang="zh-CN" sz="1800" dirty="0"/>
              <a:t>[2010]3</a:t>
            </a:r>
            <a:r>
              <a:rPr lang="zh-CN" altLang="zh-CN" sz="1800" dirty="0"/>
              <a:t>号）</a:t>
            </a:r>
            <a:endParaRPr lang="en-US" altLang="zh-CN" sz="1800" dirty="0"/>
          </a:p>
        </p:txBody>
      </p:sp>
      <p:sp>
        <p:nvSpPr>
          <p:cNvPr id="7" name="标题 1"/>
          <p:cNvSpPr txBox="1"/>
          <p:nvPr/>
        </p:nvSpPr>
        <p:spPr bwMode="auto">
          <a:xfrm>
            <a:off x="597526" y="213292"/>
            <a:ext cx="10925361" cy="936104"/>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案例</a:t>
            </a:r>
            <a:r>
              <a:rPr lang="en-US" altLang="zh-CN" sz="3600" dirty="0" smtClean="0">
                <a:solidFill>
                  <a:schemeClr val="bg1"/>
                </a:solidFill>
              </a:rPr>
              <a:t>2</a:t>
            </a:r>
            <a:r>
              <a:rPr lang="zh-CN" altLang="en-US" sz="3600" dirty="0" smtClean="0">
                <a:solidFill>
                  <a:schemeClr val="bg1"/>
                </a:solidFill>
              </a:rPr>
              <a:t>：快播涉黄案</a:t>
            </a:r>
            <a:r>
              <a:rPr lang="zh-CN" altLang="en-US" sz="3600" dirty="0">
                <a:solidFill>
                  <a:schemeClr val="bg1"/>
                </a:solidFill>
              </a:rPr>
              <a:t>审理</a:t>
            </a:r>
            <a:r>
              <a:rPr lang="zh-CN" altLang="en-US" sz="3600" dirty="0" smtClean="0">
                <a:solidFill>
                  <a:schemeClr val="bg1"/>
                </a:solidFill>
              </a:rPr>
              <a:t>引发的争议</a:t>
            </a:r>
            <a:endParaRPr lang="en-US" altLang="zh-CN" sz="3600" dirty="0" smtClean="0">
              <a:solidFill>
                <a:schemeClr val="bg1"/>
              </a:solidFill>
            </a:endParaRPr>
          </a:p>
        </p:txBody>
      </p:sp>
      <p:sp>
        <p:nvSpPr>
          <p:cNvPr id="9" name="内容占位符 2"/>
          <p:cNvSpPr txBox="1"/>
          <p:nvPr/>
        </p:nvSpPr>
        <p:spPr>
          <a:xfrm>
            <a:off x="6257925" y="1562100"/>
            <a:ext cx="5324475" cy="4286250"/>
          </a:xfrm>
          <a:prstGeom prst="rect">
            <a:avLst/>
          </a:prstGeom>
          <a:ln>
            <a:solidFill>
              <a:schemeClr val="accent1">
                <a:shade val="50000"/>
              </a:schemeClr>
            </a:solidFill>
          </a:ln>
        </p:spPr>
        <p:txBody>
          <a:bodyPr>
            <a:normAutofit fontScale="40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黑体" panose="02010609060101010101" pitchFamily="49" charset="-122"/>
                <a:ea typeface="黑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黑体" panose="02010609060101010101" pitchFamily="49" charset="-122"/>
                <a:ea typeface="黑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黑体" panose="02010609060101010101" pitchFamily="49" charset="-122"/>
                <a:ea typeface="黑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auto">
              <a:spcAft>
                <a:spcPts val="0"/>
              </a:spcAft>
              <a:defRPr/>
            </a:pPr>
            <a:r>
              <a:rPr lang="zh-CN" altLang="en-US" sz="5000" dirty="0" smtClean="0"/>
              <a:t>美国参考案例（普通法体系）</a:t>
            </a:r>
            <a:endParaRPr lang="en-US" altLang="zh-CN" sz="5000" dirty="0" smtClean="0"/>
          </a:p>
          <a:p>
            <a:pPr lvl="1" fontAlgn="auto">
              <a:lnSpc>
                <a:spcPct val="120000"/>
              </a:lnSpc>
              <a:spcAft>
                <a:spcPts val="0"/>
              </a:spcAft>
              <a:defRPr/>
            </a:pPr>
            <a:r>
              <a:rPr lang="en-US" altLang="zh-CN" sz="4500" dirty="0" smtClean="0"/>
              <a:t>1980</a:t>
            </a:r>
            <a:r>
              <a:rPr lang="zh-CN" altLang="en-US" sz="4500" dirty="0" smtClean="0"/>
              <a:t>年代，</a:t>
            </a:r>
            <a:r>
              <a:rPr lang="en-US" altLang="zh-CN" sz="4500" dirty="0" smtClean="0">
                <a:solidFill>
                  <a:srgbClr val="FF0000"/>
                </a:solidFill>
                <a:latin typeface="Times New Roman" panose="02020603050405020304" pitchFamily="18" charset="0"/>
                <a:cs typeface="Times New Roman" panose="02020603050405020304" pitchFamily="18" charset="0"/>
              </a:rPr>
              <a:t>Sony</a:t>
            </a:r>
            <a:r>
              <a:rPr lang="zh-CN" altLang="en-US" sz="4500" dirty="0" smtClean="0">
                <a:solidFill>
                  <a:srgbClr val="FF0000"/>
                </a:solidFill>
                <a:latin typeface="Times New Roman" panose="02020603050405020304" pitchFamily="18" charset="0"/>
                <a:cs typeface="Times New Roman" panose="02020603050405020304" pitchFamily="18" charset="0"/>
              </a:rPr>
              <a:t>录像机</a:t>
            </a:r>
            <a:r>
              <a:rPr lang="zh-CN" altLang="en-US" sz="4500" dirty="0">
                <a:solidFill>
                  <a:srgbClr val="FF0000"/>
                </a:solidFill>
                <a:latin typeface="Times New Roman" panose="02020603050405020304" pitchFamily="18" charset="0"/>
                <a:cs typeface="Times New Roman" panose="02020603050405020304" pitchFamily="18" charset="0"/>
              </a:rPr>
              <a:t>侵权案</a:t>
            </a:r>
            <a:r>
              <a:rPr lang="zh-CN" altLang="en-US" sz="4500" dirty="0" smtClean="0"/>
              <a:t>，</a:t>
            </a:r>
            <a:r>
              <a:rPr lang="zh-CN" altLang="zh-CN" sz="4500" dirty="0" smtClean="0"/>
              <a:t>最高法院多数派法官从保护技术创新的角度出发， </a:t>
            </a:r>
            <a:r>
              <a:rPr lang="zh-CN" altLang="en-US" sz="4500" dirty="0" smtClean="0"/>
              <a:t>提出“</a:t>
            </a:r>
            <a:r>
              <a:rPr lang="zh-CN" altLang="zh-CN" sz="4500" dirty="0" smtClean="0"/>
              <a:t>实质性非侵权用途”</a:t>
            </a:r>
            <a:r>
              <a:rPr lang="zh-CN" altLang="en-US" sz="4500" dirty="0" smtClean="0"/>
              <a:t>未判侵权</a:t>
            </a:r>
            <a:endParaRPr lang="en-US" altLang="zh-CN" sz="4500" dirty="0" smtClean="0"/>
          </a:p>
          <a:p>
            <a:pPr lvl="1" fontAlgn="auto">
              <a:lnSpc>
                <a:spcPct val="120000"/>
              </a:lnSpc>
              <a:spcAft>
                <a:spcPts val="0"/>
              </a:spcAft>
              <a:defRPr/>
            </a:pPr>
            <a:r>
              <a:rPr lang="en-US" altLang="zh-CN" sz="4500" dirty="0" smtClean="0"/>
              <a:t>2000</a:t>
            </a:r>
            <a:r>
              <a:rPr lang="zh-CN" altLang="en-US" sz="4500" dirty="0" smtClean="0"/>
              <a:t>年，</a:t>
            </a:r>
            <a:r>
              <a:rPr lang="en-US" altLang="zh-CN" sz="4500" dirty="0" err="1">
                <a:solidFill>
                  <a:srgbClr val="FF0000"/>
                </a:solidFill>
                <a:latin typeface="Times New Roman" panose="02020603050405020304" pitchFamily="18" charset="0"/>
                <a:cs typeface="Times New Roman" panose="02020603050405020304" pitchFamily="18" charset="0"/>
              </a:rPr>
              <a:t>Nepster</a:t>
            </a:r>
            <a:r>
              <a:rPr lang="zh-CN" altLang="en-US" sz="4500" dirty="0">
                <a:solidFill>
                  <a:srgbClr val="FF0000"/>
                </a:solidFill>
                <a:latin typeface="Times New Roman" panose="02020603050405020304" pitchFamily="18" charset="0"/>
                <a:cs typeface="Times New Roman" panose="02020603050405020304" pitchFamily="18" charset="0"/>
              </a:rPr>
              <a:t>侵权案</a:t>
            </a:r>
            <a:r>
              <a:rPr lang="zh-CN" altLang="en-US" sz="4500" dirty="0" smtClean="0"/>
              <a:t>，其软件</a:t>
            </a:r>
            <a:r>
              <a:rPr lang="en-US" altLang="zh-CN" sz="4500" dirty="0" err="1" smtClean="0"/>
              <a:t>MusicShare</a:t>
            </a:r>
            <a:r>
              <a:rPr lang="zh-CN" altLang="en-US" sz="4500" dirty="0" smtClean="0"/>
              <a:t>虽符合“</a:t>
            </a:r>
            <a:r>
              <a:rPr lang="zh-CN" altLang="zh-CN" sz="4500" dirty="0"/>
              <a:t>实质性非侵权用途</a:t>
            </a:r>
            <a:r>
              <a:rPr lang="zh-CN" altLang="zh-CN" sz="4500" dirty="0" smtClean="0"/>
              <a:t>”</a:t>
            </a:r>
            <a:r>
              <a:rPr lang="zh-CN" altLang="en-US" sz="4500" dirty="0" smtClean="0"/>
              <a:t>特点，但接到版权人发出多份权利通知且公司有能力做监管处理而不作为，最终被判侵权，“领头羊”公司由此退出历史</a:t>
            </a:r>
            <a:endParaRPr lang="en-US" altLang="zh-CN" sz="4500" dirty="0" smtClean="0"/>
          </a:p>
          <a:p>
            <a:pPr lvl="1" fontAlgn="auto">
              <a:lnSpc>
                <a:spcPct val="120000"/>
              </a:lnSpc>
              <a:spcAft>
                <a:spcPts val="0"/>
              </a:spcAft>
              <a:defRPr/>
            </a:pPr>
            <a:r>
              <a:rPr lang="en-US" altLang="zh-CN" sz="4500" dirty="0" smtClean="0"/>
              <a:t>2005</a:t>
            </a:r>
            <a:r>
              <a:rPr lang="zh-CN" altLang="en-US" sz="4500" dirty="0" smtClean="0"/>
              <a:t>年，</a:t>
            </a:r>
            <a:r>
              <a:rPr lang="en-US" altLang="zh-CN" sz="4500" dirty="0" err="1">
                <a:solidFill>
                  <a:srgbClr val="FF0000"/>
                </a:solidFill>
                <a:latin typeface="Times New Roman" panose="02020603050405020304" pitchFamily="18" charset="0"/>
                <a:cs typeface="Times New Roman" panose="02020603050405020304" pitchFamily="18" charset="0"/>
              </a:rPr>
              <a:t>Grokster</a:t>
            </a:r>
            <a:r>
              <a:rPr lang="zh-CN" altLang="en-US" sz="4500" dirty="0">
                <a:solidFill>
                  <a:srgbClr val="FF0000"/>
                </a:solidFill>
                <a:latin typeface="Times New Roman" panose="02020603050405020304" pitchFamily="18" charset="0"/>
                <a:cs typeface="Times New Roman" panose="02020603050405020304" pitchFamily="18" charset="0"/>
              </a:rPr>
              <a:t>侵权案</a:t>
            </a:r>
            <a:r>
              <a:rPr lang="zh-CN" altLang="en-US" sz="4500" dirty="0" smtClean="0"/>
              <a:t>，虽符合“</a:t>
            </a:r>
            <a:r>
              <a:rPr lang="zh-CN" altLang="zh-CN" sz="4500" dirty="0"/>
              <a:t>实质性非侵权用途</a:t>
            </a:r>
            <a:r>
              <a:rPr lang="zh-CN" altLang="zh-CN" sz="4500" dirty="0" smtClean="0"/>
              <a:t>”</a:t>
            </a:r>
            <a:r>
              <a:rPr lang="zh-CN" altLang="en-US" sz="4500" dirty="0" smtClean="0"/>
              <a:t>、且技术实现不再拥有去实质监管能力，最终法官以“</a:t>
            </a:r>
            <a:r>
              <a:rPr lang="zh-CN" altLang="zh-CN" sz="4500" dirty="0" smtClean="0"/>
              <a:t>引诱规则”</a:t>
            </a:r>
            <a:r>
              <a:rPr lang="zh-CN" altLang="en-US" sz="4500" dirty="0" smtClean="0"/>
              <a:t>判其侵权。</a:t>
            </a:r>
            <a:endParaRPr lang="en-US" altLang="zh-CN" sz="4500" dirty="0" smtClean="0"/>
          </a:p>
        </p:txBody>
      </p:sp>
      <p:sp>
        <p:nvSpPr>
          <p:cNvPr id="5" name="灯片编号占位符 4"/>
          <p:cNvSpPr>
            <a:spLocks noGrp="1"/>
          </p:cNvSpPr>
          <p:nvPr>
            <p:ph type="sldNum" sz="quarter" idx="12"/>
          </p:nvPr>
        </p:nvSpPr>
        <p:spPr/>
        <p:txBody>
          <a:bodyPr/>
          <a:lstStyle/>
          <a:p>
            <a:pPr>
              <a:defRPr/>
            </a:pPr>
            <a:fld id="{9FD10983-32B4-4DC5-AD0F-1ADD07AA88CE}" type="slidenum">
              <a:rPr lang="zh-CN" altLang="en-US"/>
            </a:fld>
            <a:endParaRPr lang="zh-CN" altLang="en-US" dirty="0"/>
          </a:p>
        </p:txBody>
      </p:sp>
      <p:sp>
        <p:nvSpPr>
          <p:cNvPr id="8" name="爆炸形 1 7"/>
          <p:cNvSpPr/>
          <p:nvPr/>
        </p:nvSpPr>
        <p:spPr>
          <a:xfrm>
            <a:off x="596900" y="1562100"/>
            <a:ext cx="10985500" cy="3603625"/>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sz="3200" dirty="0">
                <a:latin typeface="黑体" panose="02010609060101010101" pitchFamily="49" charset="-122"/>
                <a:ea typeface="黑体" panose="02010609060101010101" pitchFamily="49" charset="-122"/>
              </a:rPr>
              <a:t>法律建设往往滞后于实践</a:t>
            </a:r>
            <a:endParaRPr lang="en-US" altLang="zh-CN" sz="3200" dirty="0">
              <a:latin typeface="黑体" panose="02010609060101010101" pitchFamily="49" charset="-122"/>
              <a:ea typeface="黑体" panose="02010609060101010101" pitchFamily="49" charset="-122"/>
            </a:endParaRPr>
          </a:p>
          <a:p>
            <a:pPr algn="ctr" fontAlgn="auto">
              <a:spcBef>
                <a:spcPts val="0"/>
              </a:spcBef>
              <a:spcAft>
                <a:spcPts val="0"/>
              </a:spcAft>
              <a:defRPr/>
            </a:pPr>
            <a:r>
              <a:rPr lang="en-US" altLang="zh-CN" sz="3200" dirty="0">
                <a:latin typeface="黑体" panose="02010609060101010101" pitchFamily="49" charset="-122"/>
                <a:ea typeface="黑体" panose="02010609060101010101" pitchFamily="49" charset="-122"/>
              </a:rPr>
              <a:t>IT</a:t>
            </a:r>
            <a:r>
              <a:rPr lang="zh-CN" altLang="en-US" sz="3200" dirty="0">
                <a:latin typeface="黑体" panose="02010609060101010101" pitchFamily="49" charset="-122"/>
                <a:ea typeface="黑体" panose="02010609060101010101" pitchFamily="49" charset="-122"/>
              </a:rPr>
              <a:t>和</a:t>
            </a:r>
            <a:r>
              <a:rPr lang="en-US" altLang="zh-CN" sz="3200" dirty="0">
                <a:latin typeface="黑体" panose="02010609060101010101" pitchFamily="49" charset="-122"/>
                <a:ea typeface="黑体" panose="02010609060101010101" pitchFamily="49" charset="-122"/>
              </a:rPr>
              <a:t>BD</a:t>
            </a:r>
            <a:r>
              <a:rPr lang="zh-CN" altLang="en-US" sz="3200" dirty="0">
                <a:latin typeface="黑体" panose="02010609060101010101" pitchFamily="49" charset="-122"/>
                <a:ea typeface="黑体" panose="02010609060101010101" pitchFamily="49" charset="-122"/>
              </a:rPr>
              <a:t>创新者须尊崇道德律！</a:t>
            </a:r>
            <a:endParaRPr lang="zh-CN" altLang="en-US" sz="3200" dirty="0">
              <a:latin typeface="黑体" panose="02010609060101010101" pitchFamily="49" charset="-122"/>
              <a:ea typeface="黑体" panose="02010609060101010101" pitchFamily="49" charset="-122"/>
            </a:endParaRPr>
          </a:p>
        </p:txBody>
      </p:sp>
      <p:graphicFrame>
        <p:nvGraphicFramePr>
          <p:cNvPr id="4" name="图示 3"/>
          <p:cNvGraphicFramePr/>
          <p:nvPr/>
        </p:nvGraphicFramePr>
        <p:xfrm>
          <a:off x="2489199" y="1454878"/>
          <a:ext cx="8950325" cy="448164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1000" fill="hold"/>
                                        <p:tgtEl>
                                          <p:spTgt spid="4"/>
                                        </p:tgtEl>
                                        <p:attrNameLst>
                                          <p:attrName>ppt_w</p:attrName>
                                        </p:attrNameLst>
                                      </p:cBhvr>
                                      <p:tavLst>
                                        <p:tav tm="0">
                                          <p:val>
                                            <p:fltVal val="0"/>
                                          </p:val>
                                        </p:tav>
                                        <p:tav tm="100000">
                                          <p:val>
                                            <p:strVal val="#ppt_w"/>
                                          </p:val>
                                        </p:tav>
                                      </p:tavLst>
                                    </p:anim>
                                    <p:anim calcmode="lin" valueType="num">
                                      <p:cBhvr>
                                        <p:cTn id="15" dur="1000" fill="hold"/>
                                        <p:tgtEl>
                                          <p:spTgt spid="4"/>
                                        </p:tgtEl>
                                        <p:attrNameLst>
                                          <p:attrName>ppt_h</p:attrName>
                                        </p:attrNameLst>
                                      </p:cBhvr>
                                      <p:tavLst>
                                        <p:tav tm="0">
                                          <p:val>
                                            <p:fltVal val="0"/>
                                          </p:val>
                                        </p:tav>
                                        <p:tav tm="100000">
                                          <p:val>
                                            <p:strVal val="#ppt_h"/>
                                          </p:val>
                                        </p:tav>
                                      </p:tavLst>
                                    </p:anim>
                                    <p:anim calcmode="lin" valueType="num">
                                      <p:cBhvr>
                                        <p:cTn id="16" dur="1000" fill="hold"/>
                                        <p:tgtEl>
                                          <p:spTgt spid="4"/>
                                        </p:tgtEl>
                                        <p:attrNameLst>
                                          <p:attrName>style.rotation</p:attrName>
                                        </p:attrNameLst>
                                      </p:cBhvr>
                                      <p:tavLst>
                                        <p:tav tm="0">
                                          <p:val>
                                            <p:fltVal val="90"/>
                                          </p:val>
                                        </p:tav>
                                        <p:tav tm="100000">
                                          <p:val>
                                            <p:fltVal val="0"/>
                                          </p:val>
                                        </p:tav>
                                      </p:tavLst>
                                    </p:anim>
                                    <p:animEffect transition="in" filter="fade">
                                      <p:cBhvr>
                                        <p:cTn id="1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Graphic spid="4"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内容占位符 2"/>
          <p:cNvSpPr>
            <a:spLocks noGrp="1"/>
          </p:cNvSpPr>
          <p:nvPr>
            <p:ph idx="1"/>
          </p:nvPr>
        </p:nvSpPr>
        <p:spPr>
          <a:xfrm>
            <a:off x="538163" y="1333500"/>
            <a:ext cx="6824662" cy="4514850"/>
          </a:xfrm>
          <a:ln>
            <a:solidFill>
              <a:schemeClr val="accent1"/>
            </a:solidFill>
          </a:ln>
        </p:spPr>
        <p:txBody>
          <a:bodyPr/>
          <a:lstStyle/>
          <a:p>
            <a:pPr eaLnBrk="1" hangingPunct="1">
              <a:spcBef>
                <a:spcPts val="600"/>
              </a:spcBef>
            </a:pPr>
            <a:r>
              <a:rPr lang="zh-CN" altLang="en-US" sz="1600" smtClean="0">
                <a:solidFill>
                  <a:srgbClr val="FF0000"/>
                </a:solidFill>
                <a:latin typeface="黑体" panose="02010609060101010101" pitchFamily="49" charset="-122"/>
                <a:ea typeface="黑体" panose="02010609060101010101" pitchFamily="49" charset="-122"/>
              </a:rPr>
              <a:t>腾讯马化腾委员：</a:t>
            </a:r>
            <a:r>
              <a:rPr lang="zh-CN" altLang="en-US" sz="1600" smtClean="0">
                <a:latin typeface="黑体" panose="02010609060101010101" pitchFamily="49" charset="-122"/>
                <a:ea typeface="黑体" panose="02010609060101010101" pitchFamily="49" charset="-122"/>
              </a:rPr>
              <a:t>快车、顺风车等业态充分调动社会闲置资源，体现了分享经济化解社会问题的强大适应性</a:t>
            </a:r>
            <a:endParaRPr lang="en-US" altLang="zh-CN" sz="1600" smtClean="0">
              <a:latin typeface="黑体" panose="02010609060101010101" pitchFamily="49" charset="-122"/>
              <a:ea typeface="黑体" panose="02010609060101010101" pitchFamily="49" charset="-122"/>
            </a:endParaRPr>
          </a:p>
          <a:p>
            <a:pPr eaLnBrk="1" hangingPunct="1">
              <a:spcBef>
                <a:spcPts val="600"/>
              </a:spcBef>
            </a:pPr>
            <a:r>
              <a:rPr lang="zh-CN" altLang="en-US" sz="1600" smtClean="0">
                <a:solidFill>
                  <a:srgbClr val="FF0000"/>
                </a:solidFill>
                <a:latin typeface="黑体" panose="02010609060101010101" pitchFamily="49" charset="-122"/>
                <a:ea typeface="黑体" panose="02010609060101010101" pitchFamily="49" charset="-122"/>
              </a:rPr>
              <a:t>潘建伟委员：</a:t>
            </a:r>
            <a:r>
              <a:rPr lang="zh-CN" altLang="en-US" sz="1600" smtClean="0">
                <a:latin typeface="黑体" panose="02010609060101010101" pitchFamily="49" charset="-122"/>
                <a:ea typeface="黑体" panose="02010609060101010101" pitchFamily="49" charset="-122"/>
              </a:rPr>
              <a:t>我再也不用走几条街也打不到车了</a:t>
            </a:r>
            <a:endParaRPr lang="en-US" altLang="zh-CN" sz="1600" smtClean="0">
              <a:latin typeface="黑体" panose="02010609060101010101" pitchFamily="49" charset="-122"/>
              <a:ea typeface="黑体" panose="02010609060101010101" pitchFamily="49" charset="-122"/>
            </a:endParaRPr>
          </a:p>
          <a:p>
            <a:pPr eaLnBrk="1" hangingPunct="1">
              <a:spcBef>
                <a:spcPts val="600"/>
              </a:spcBef>
            </a:pPr>
            <a:r>
              <a:rPr lang="zh-CN" altLang="en-US" sz="1600" smtClean="0">
                <a:solidFill>
                  <a:srgbClr val="FF0000"/>
                </a:solidFill>
                <a:latin typeface="黑体" panose="02010609060101010101" pitchFamily="49" charset="-122"/>
                <a:ea typeface="黑体" panose="02010609060101010101" pitchFamily="49" charset="-122"/>
              </a:rPr>
              <a:t>蔡继明代表：</a:t>
            </a:r>
            <a:r>
              <a:rPr lang="zh-CN" altLang="en-US" sz="1600" smtClean="0">
                <a:latin typeface="黑体" panose="02010609060101010101" pitchFamily="49" charset="-122"/>
                <a:ea typeface="黑体" panose="02010609060101010101" pitchFamily="49" charset="-122"/>
              </a:rPr>
              <a:t>网络约车平台对司机和乘客的供需两端资源进行科学合理配置，降低了自驾出行比例，减少了城市道路拥堵，创造了较大的经济和社会效益</a:t>
            </a:r>
            <a:r>
              <a:rPr lang="zh-CN" altLang="en-US" sz="1400" smtClean="0">
                <a:latin typeface="黑体" panose="02010609060101010101" pitchFamily="49" charset="-122"/>
                <a:ea typeface="黑体" panose="02010609060101010101" pitchFamily="49" charset="-122"/>
              </a:rPr>
              <a:t>。</a:t>
            </a:r>
            <a:endParaRPr lang="en-US" altLang="zh-CN" sz="1600" smtClean="0">
              <a:latin typeface="黑体" panose="02010609060101010101" pitchFamily="49" charset="-122"/>
              <a:ea typeface="黑体" panose="02010609060101010101" pitchFamily="49" charset="-122"/>
            </a:endParaRPr>
          </a:p>
          <a:p>
            <a:pPr eaLnBrk="1" hangingPunct="1">
              <a:spcBef>
                <a:spcPts val="600"/>
              </a:spcBef>
            </a:pPr>
            <a:r>
              <a:rPr lang="zh-CN" altLang="en-US" sz="1600" smtClean="0">
                <a:solidFill>
                  <a:srgbClr val="FF0000"/>
                </a:solidFill>
                <a:latin typeface="黑体" panose="02010609060101010101" pitchFamily="49" charset="-122"/>
                <a:ea typeface="黑体" panose="02010609060101010101" pitchFamily="49" charset="-122"/>
              </a:rPr>
              <a:t>火箭专家梁小虹委员：</a:t>
            </a:r>
            <a:r>
              <a:rPr lang="zh-CN" altLang="en-US" sz="1600" smtClean="0">
                <a:latin typeface="黑体" panose="02010609060101010101" pitchFamily="49" charset="-122"/>
                <a:ea typeface="黑体" panose="02010609060101010101" pitchFamily="49" charset="-122"/>
              </a:rPr>
              <a:t>能够改变人行为方式的技术，都将有进一步的增长</a:t>
            </a:r>
            <a:endParaRPr lang="en-US" altLang="zh-CN" sz="1600" smtClean="0">
              <a:latin typeface="黑体" panose="02010609060101010101" pitchFamily="49" charset="-122"/>
              <a:ea typeface="黑体" panose="02010609060101010101" pitchFamily="49" charset="-122"/>
            </a:endParaRPr>
          </a:p>
          <a:p>
            <a:pPr eaLnBrk="1" hangingPunct="1">
              <a:spcBef>
                <a:spcPts val="600"/>
              </a:spcBef>
            </a:pPr>
            <a:r>
              <a:rPr lang="zh-CN" altLang="en-US" sz="1600" smtClean="0">
                <a:solidFill>
                  <a:srgbClr val="FF0000"/>
                </a:solidFill>
                <a:latin typeface="黑体" panose="02010609060101010101" pitchFamily="49" charset="-122"/>
                <a:ea typeface="黑体" panose="02010609060101010101" pitchFamily="49" charset="-122"/>
              </a:rPr>
              <a:t>记者：</a:t>
            </a:r>
            <a:r>
              <a:rPr lang="zh-CN" altLang="en-US" sz="1600" smtClean="0">
                <a:latin typeface="黑体" panose="02010609060101010101" pitchFamily="49" charset="-122"/>
                <a:ea typeface="黑体" panose="02010609060101010101" pitchFamily="49" charset="-122"/>
              </a:rPr>
              <a:t>私家车主从事有偿载客服务，如何保障车况符合安全行驶要求；出现交通事故如何理赔？</a:t>
            </a:r>
            <a:endParaRPr lang="en-US" altLang="zh-CN" sz="1600" smtClean="0">
              <a:latin typeface="黑体" panose="02010609060101010101" pitchFamily="49" charset="-122"/>
              <a:ea typeface="黑体" panose="02010609060101010101" pitchFamily="49" charset="-122"/>
            </a:endParaRPr>
          </a:p>
          <a:p>
            <a:pPr eaLnBrk="1" hangingPunct="1">
              <a:spcBef>
                <a:spcPts val="600"/>
              </a:spcBef>
            </a:pPr>
            <a:r>
              <a:rPr lang="zh-CN" altLang="en-US" sz="1600" smtClean="0">
                <a:solidFill>
                  <a:srgbClr val="FF0000"/>
                </a:solidFill>
                <a:latin typeface="黑体" panose="02010609060101010101" pitchFamily="49" charset="-122"/>
                <a:ea typeface="黑体" panose="02010609060101010101" pitchFamily="49" charset="-122"/>
              </a:rPr>
              <a:t>刘凝律师：</a:t>
            </a:r>
            <a:r>
              <a:rPr lang="zh-CN" altLang="en-US" sz="1600" smtClean="0">
                <a:latin typeface="黑体" panose="02010609060101010101" pitchFamily="49" charset="-122"/>
                <a:ea typeface="黑体" panose="02010609060101010101" pitchFamily="49" charset="-122"/>
              </a:rPr>
              <a:t>淘宝、支付宝、余额宝发展之初，也曾面临账户安全、是否符合制度政策规定等一系列问题。“潮流是不可逆的，一定会促进传统出租车改革，改得越早越主动。”</a:t>
            </a:r>
            <a:endParaRPr lang="en-US" altLang="zh-CN" sz="1600" smtClean="0">
              <a:latin typeface="黑体" panose="02010609060101010101" pitchFamily="49" charset="-122"/>
              <a:ea typeface="黑体" panose="02010609060101010101" pitchFamily="49" charset="-122"/>
            </a:endParaRPr>
          </a:p>
          <a:p>
            <a:pPr eaLnBrk="1" hangingPunct="1">
              <a:spcBef>
                <a:spcPts val="600"/>
              </a:spcBef>
            </a:pPr>
            <a:r>
              <a:rPr lang="zh-CN" altLang="en-US" sz="1600" smtClean="0">
                <a:solidFill>
                  <a:srgbClr val="FF0000"/>
                </a:solidFill>
                <a:latin typeface="黑体" panose="02010609060101010101" pitchFamily="49" charset="-122"/>
                <a:ea typeface="黑体" panose="02010609060101010101" pitchFamily="49" charset="-122"/>
              </a:rPr>
              <a:t>交通部官员：</a:t>
            </a:r>
            <a:r>
              <a:rPr lang="zh-CN" altLang="en-US" sz="1600" smtClean="0">
                <a:latin typeface="黑体" panose="02010609060101010101" pitchFamily="49" charset="-122"/>
                <a:ea typeface="黑体" panose="02010609060101010101" pitchFamily="49" charset="-122"/>
              </a:rPr>
              <a:t>没有有效监管，现在的发展是无序的</a:t>
            </a:r>
            <a:endParaRPr lang="en-US" altLang="zh-CN" sz="1600" smtClean="0">
              <a:latin typeface="黑体" panose="02010609060101010101" pitchFamily="49" charset="-122"/>
              <a:ea typeface="黑体" panose="02010609060101010101" pitchFamily="49" charset="-122"/>
            </a:endParaRPr>
          </a:p>
          <a:p>
            <a:pPr eaLnBrk="1" hangingPunct="1">
              <a:spcBef>
                <a:spcPts val="600"/>
              </a:spcBef>
            </a:pPr>
            <a:r>
              <a:rPr lang="zh-CN" altLang="en-US" sz="1600" smtClean="0">
                <a:solidFill>
                  <a:srgbClr val="FF0000"/>
                </a:solidFill>
                <a:latin typeface="黑体" panose="02010609060101010101" pitchFamily="49" charset="-122"/>
                <a:ea typeface="黑体" panose="02010609060101010101" pitchFamily="49" charset="-122"/>
              </a:rPr>
              <a:t>交通部部长杨传堂：</a:t>
            </a:r>
            <a:r>
              <a:rPr lang="zh-CN" altLang="en-US" sz="1600" smtClean="0">
                <a:latin typeface="黑体" panose="02010609060101010101" pitchFamily="49" charset="-122"/>
                <a:ea typeface="黑体" panose="02010609060101010101" pitchFamily="49" charset="-122"/>
              </a:rPr>
              <a:t>相关办法公布后，专车将得到规范管理，这一点我比你们都着急</a:t>
            </a:r>
            <a:endParaRPr lang="zh-CN" altLang="en-US" sz="1600" smtClean="0">
              <a:latin typeface="黑体" panose="02010609060101010101" pitchFamily="49" charset="-122"/>
              <a:ea typeface="黑体" panose="02010609060101010101" pitchFamily="49" charset="-122"/>
            </a:endParaRPr>
          </a:p>
        </p:txBody>
      </p:sp>
      <p:sp>
        <p:nvSpPr>
          <p:cNvPr id="6" name="标题 1"/>
          <p:cNvSpPr txBox="1"/>
          <p:nvPr/>
        </p:nvSpPr>
        <p:spPr bwMode="auto">
          <a:xfrm>
            <a:off x="597526" y="213292"/>
            <a:ext cx="10925361" cy="936104"/>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案例</a:t>
            </a:r>
            <a:r>
              <a:rPr lang="en-US" altLang="zh-CN" sz="3600" dirty="0">
                <a:solidFill>
                  <a:schemeClr val="bg1"/>
                </a:solidFill>
              </a:rPr>
              <a:t>3</a:t>
            </a:r>
            <a:r>
              <a:rPr lang="zh-CN" altLang="en-US" sz="3600" dirty="0" smtClean="0">
                <a:solidFill>
                  <a:schemeClr val="bg1"/>
                </a:solidFill>
              </a:rPr>
              <a:t>：大数据创新之网约车改革路</a:t>
            </a:r>
            <a:endParaRPr lang="en-US" altLang="zh-CN" sz="3600" dirty="0">
              <a:solidFill>
                <a:schemeClr val="bg1"/>
              </a:solidFill>
            </a:endParaRPr>
          </a:p>
        </p:txBody>
      </p:sp>
      <p:pic>
        <p:nvPicPr>
          <p:cNvPr id="24581" name="Picture 2" descr="http://news.xinhuanet.com/legal/2016-03/07/128778206_14573068857031n.jpg"/>
          <p:cNvPicPr>
            <a:picLocks noChangeAspect="1" noChangeArrowheads="1"/>
          </p:cNvPicPr>
          <p:nvPr/>
        </p:nvPicPr>
        <p:blipFill>
          <a:blip r:embed="rId1" cstate="print"/>
          <a:srcRect/>
          <a:stretch>
            <a:fillRect/>
          </a:stretch>
        </p:blipFill>
        <p:spPr bwMode="auto">
          <a:xfrm>
            <a:off x="7764463" y="1333500"/>
            <a:ext cx="3817937" cy="4162425"/>
          </a:xfrm>
          <a:prstGeom prst="rect">
            <a:avLst/>
          </a:prstGeom>
          <a:noFill/>
          <a:ln w="9525">
            <a:noFill/>
            <a:miter lim="800000"/>
            <a:headEnd/>
            <a:tailEnd/>
          </a:ln>
        </p:spPr>
      </p:pic>
      <p:sp>
        <p:nvSpPr>
          <p:cNvPr id="2" name="矩形 1"/>
          <p:cNvSpPr>
            <a:spLocks noChangeArrowheads="1"/>
          </p:cNvSpPr>
          <p:nvPr/>
        </p:nvSpPr>
        <p:spPr bwMode="auto">
          <a:xfrm>
            <a:off x="7448550" y="5646738"/>
            <a:ext cx="4476750" cy="1200150"/>
          </a:xfrm>
          <a:prstGeom prst="rect">
            <a:avLst/>
          </a:prstGeom>
          <a:noFill/>
          <a:ln w="9525">
            <a:noFill/>
            <a:miter lim="800000"/>
          </a:ln>
        </p:spPr>
        <p:txBody>
          <a:bodyPr>
            <a:spAutoFit/>
          </a:bodyPr>
          <a:lstStyle/>
          <a:p>
            <a:r>
              <a:rPr lang="en-US" altLang="zh-CN">
                <a:latin typeface="黑体" panose="02010609060101010101" pitchFamily="49" charset="-122"/>
                <a:ea typeface="黑体" panose="02010609060101010101" pitchFamily="49" charset="-122"/>
              </a:rPr>
              <a:t>2016</a:t>
            </a:r>
            <a:r>
              <a:rPr lang="zh-CN" altLang="en-US">
                <a:latin typeface="黑体" panose="02010609060101010101" pitchFamily="49" charset="-122"/>
                <a:ea typeface="黑体" panose="02010609060101010101" pitchFamily="49" charset="-122"/>
              </a:rPr>
              <a:t>年</a:t>
            </a:r>
            <a:r>
              <a:rPr lang="en-US" altLang="zh-CN">
                <a:latin typeface="黑体" panose="02010609060101010101" pitchFamily="49" charset="-122"/>
                <a:ea typeface="黑体" panose="02010609060101010101" pitchFamily="49" charset="-122"/>
              </a:rPr>
              <a:t>7</a:t>
            </a:r>
            <a:r>
              <a:rPr lang="zh-CN" altLang="en-US">
                <a:latin typeface="黑体" panose="02010609060101010101" pitchFamily="49" charset="-122"/>
                <a:ea typeface="黑体" panose="02010609060101010101" pitchFamily="49" charset="-122"/>
              </a:rPr>
              <a:t>月底，出租车行业改革走出重要一步，网约车</a:t>
            </a:r>
            <a:r>
              <a:rPr lang="zh-CN" altLang="en-US">
                <a:solidFill>
                  <a:srgbClr val="FF0000"/>
                </a:solidFill>
                <a:latin typeface="黑体" panose="02010609060101010101" pitchFamily="49" charset="-122"/>
                <a:ea typeface="黑体" panose="02010609060101010101" pitchFamily="49" charset="-122"/>
              </a:rPr>
              <a:t>创新合法化</a:t>
            </a:r>
            <a:r>
              <a:rPr lang="zh-CN" altLang="en-US">
                <a:latin typeface="黑体" panose="02010609060101010101" pitchFamily="49" charset="-122"/>
                <a:ea typeface="黑体" panose="02010609060101010101" pitchFamily="49" charset="-122"/>
              </a:rPr>
              <a:t>并</a:t>
            </a:r>
            <a:r>
              <a:rPr lang="zh-CN" altLang="en-US">
                <a:solidFill>
                  <a:srgbClr val="FF0000"/>
                </a:solidFill>
                <a:latin typeface="黑体" panose="02010609060101010101" pitchFamily="49" charset="-122"/>
                <a:ea typeface="黑体" panose="02010609060101010101" pitchFamily="49" charset="-122"/>
              </a:rPr>
              <a:t>建立监管体系</a:t>
            </a:r>
            <a:r>
              <a:rPr lang="zh-CN" altLang="en-US">
                <a:latin typeface="黑体" panose="02010609060101010101" pitchFamily="49" charset="-122"/>
                <a:ea typeface="黑体" panose="02010609060101010101" pitchFamily="49" charset="-122"/>
              </a:rPr>
              <a:t>。</a:t>
            </a:r>
            <a:endParaRPr lang="en-US" altLang="zh-CN">
              <a:latin typeface="黑体" panose="02010609060101010101" pitchFamily="49" charset="-122"/>
              <a:ea typeface="黑体" panose="02010609060101010101" pitchFamily="49" charset="-122"/>
            </a:endParaRPr>
          </a:p>
          <a:p>
            <a:r>
              <a:rPr lang="en-US" altLang="zh-CN">
                <a:latin typeface="黑体" panose="02010609060101010101" pitchFamily="49" charset="-122"/>
                <a:ea typeface="黑体" panose="02010609060101010101" pitchFamily="49" charset="-122"/>
              </a:rPr>
              <a:t>2016</a:t>
            </a:r>
            <a:r>
              <a:rPr lang="zh-CN" altLang="en-US">
                <a:latin typeface="黑体" panose="02010609060101010101" pitchFamily="49" charset="-122"/>
                <a:ea typeface="黑体" panose="02010609060101010101" pitchFamily="49" charset="-122"/>
              </a:rPr>
              <a:t>年</a:t>
            </a:r>
            <a:r>
              <a:rPr lang="en-US" altLang="zh-CN">
                <a:latin typeface="黑体" panose="02010609060101010101" pitchFamily="49" charset="-122"/>
                <a:ea typeface="黑体" panose="02010609060101010101" pitchFamily="49" charset="-122"/>
              </a:rPr>
              <a:t>12</a:t>
            </a:r>
            <a:r>
              <a:rPr lang="zh-CN" altLang="en-US">
                <a:latin typeface="黑体" panose="02010609060101010101" pitchFamily="49" charset="-122"/>
                <a:ea typeface="黑体" panose="02010609060101010101" pitchFamily="49" charset="-122"/>
              </a:rPr>
              <a:t>月底，京沪等地网约车新政，</a:t>
            </a:r>
            <a:r>
              <a:rPr lang="zh-CN" altLang="en-US">
                <a:solidFill>
                  <a:srgbClr val="FF0000"/>
                </a:solidFill>
                <a:latin typeface="黑体" panose="02010609060101010101" pitchFamily="49" charset="-122"/>
                <a:ea typeface="黑体" panose="02010609060101010101" pitchFamily="49" charset="-122"/>
              </a:rPr>
              <a:t>限本地户口、本地车牌</a:t>
            </a:r>
            <a:r>
              <a:rPr lang="en-US" altLang="zh-CN">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新的争议</a:t>
            </a:r>
            <a:endParaRPr lang="zh-CN" altLang="en-US">
              <a:latin typeface="黑体" panose="02010609060101010101" pitchFamily="49" charset="-122"/>
              <a:ea typeface="黑体" panose="02010609060101010101" pitchFamily="49" charset="-122"/>
            </a:endParaRPr>
          </a:p>
        </p:txBody>
      </p:sp>
      <p:sp>
        <p:nvSpPr>
          <p:cNvPr id="24584" name="灯片编号占位符 7"/>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612ECD1A-C757-42A4-B930-871DE48A06F9}" type="slidenum">
              <a:rPr lang="zh-CN" altLang="en-US">
                <a:solidFill>
                  <a:srgbClr val="898989"/>
                </a:solidFill>
              </a:rPr>
            </a:fld>
            <a:endParaRPr lang="en-US" altLang="zh-CN">
              <a:solidFill>
                <a:srgbClr val="898989"/>
              </a:solidFill>
            </a:endParaRPr>
          </a:p>
        </p:txBody>
      </p:sp>
      <p:sp>
        <p:nvSpPr>
          <p:cNvPr id="9" name="爆炸形 1 8"/>
          <p:cNvSpPr/>
          <p:nvPr/>
        </p:nvSpPr>
        <p:spPr>
          <a:xfrm>
            <a:off x="596900" y="1717675"/>
            <a:ext cx="10363200" cy="3392488"/>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3200" dirty="0">
                <a:latin typeface="黑体" panose="02010609060101010101" pitchFamily="49" charset="-122"/>
                <a:ea typeface="黑体" panose="02010609060101010101" pitchFamily="49" charset="-122"/>
              </a:rPr>
              <a:t>BD</a:t>
            </a:r>
            <a:r>
              <a:rPr lang="zh-CN" altLang="en-US" sz="3200" dirty="0">
                <a:latin typeface="黑体" panose="02010609060101010101" pitchFamily="49" charset="-122"/>
                <a:ea typeface="黑体" panose="02010609060101010101" pitchFamily="49" charset="-122"/>
              </a:rPr>
              <a:t>“跨界”创新可能</a:t>
            </a:r>
            <a:endParaRPr lang="en-US" altLang="zh-CN" sz="3200" dirty="0">
              <a:latin typeface="黑体" panose="02010609060101010101" pitchFamily="49" charset="-122"/>
              <a:ea typeface="黑体" panose="02010609060101010101" pitchFamily="49" charset="-122"/>
            </a:endParaRPr>
          </a:p>
          <a:p>
            <a:pPr algn="ctr" fontAlgn="auto">
              <a:spcBef>
                <a:spcPts val="0"/>
              </a:spcBef>
              <a:spcAft>
                <a:spcPts val="0"/>
              </a:spcAft>
              <a:defRPr/>
            </a:pPr>
            <a:r>
              <a:rPr lang="zh-CN" altLang="en-US" sz="3200" dirty="0">
                <a:latin typeface="黑体" panose="02010609060101010101" pitchFamily="49" charset="-122"/>
                <a:ea typeface="黑体" panose="02010609060101010101" pitchFamily="49" charset="-122"/>
              </a:rPr>
              <a:t>撬动深层次改革！</a:t>
            </a:r>
            <a:endParaRPr lang="zh-CN" altLang="en-US" sz="3200"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1000"/>
                                        <p:tgtEl>
                                          <p:spTgt spid="9"/>
                                        </p:tgtEl>
                                      </p:cBhvr>
                                    </p:animEffect>
                                    <p:anim calcmode="lin" valueType="num">
                                      <p:cBhvr>
                                        <p:cTn id="16" dur="1000" fill="hold"/>
                                        <p:tgtEl>
                                          <p:spTgt spid="9"/>
                                        </p:tgtEl>
                                        <p:attrNameLst>
                                          <p:attrName>ppt_x</p:attrName>
                                        </p:attrNameLst>
                                      </p:cBhvr>
                                      <p:tavLst>
                                        <p:tav tm="0">
                                          <p:val>
                                            <p:strVal val="#ppt_x"/>
                                          </p:val>
                                        </p:tav>
                                        <p:tav tm="100000">
                                          <p:val>
                                            <p:strVal val="#ppt_x"/>
                                          </p:val>
                                        </p:tav>
                                      </p:tavLst>
                                    </p:anim>
                                    <p:anim calcmode="lin" valueType="num">
                                      <p:cBhvr>
                                        <p:cTn id="1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5" name="Picture 6"/>
          <p:cNvPicPr>
            <a:picLocks noChangeAspect="1" noChangeArrowheads="1"/>
          </p:cNvPicPr>
          <p:nvPr/>
        </p:nvPicPr>
        <p:blipFill>
          <a:blip r:embed="rId1" cstate="print"/>
          <a:srcRect/>
          <a:stretch>
            <a:fillRect/>
          </a:stretch>
        </p:blipFill>
        <p:spPr bwMode="auto">
          <a:xfrm>
            <a:off x="996950" y="1509713"/>
            <a:ext cx="3657600" cy="2484437"/>
          </a:xfrm>
          <a:prstGeom prst="rect">
            <a:avLst/>
          </a:prstGeom>
          <a:noFill/>
          <a:ln w="9525">
            <a:noFill/>
            <a:miter lim="800000"/>
            <a:headEnd/>
            <a:tailEnd/>
          </a:ln>
        </p:spPr>
      </p:pic>
      <p:pic>
        <p:nvPicPr>
          <p:cNvPr id="26626" name="Picture 7"/>
          <p:cNvPicPr>
            <a:picLocks noChangeAspect="1" noChangeArrowheads="1"/>
          </p:cNvPicPr>
          <p:nvPr/>
        </p:nvPicPr>
        <p:blipFill>
          <a:blip r:embed="rId2" cstate="print"/>
          <a:srcRect/>
          <a:stretch>
            <a:fillRect/>
          </a:stretch>
        </p:blipFill>
        <p:spPr bwMode="auto">
          <a:xfrm>
            <a:off x="5965825" y="1501775"/>
            <a:ext cx="3349625" cy="2513013"/>
          </a:xfrm>
          <a:prstGeom prst="rect">
            <a:avLst/>
          </a:prstGeom>
          <a:noFill/>
          <a:ln w="9525">
            <a:noFill/>
            <a:miter lim="800000"/>
            <a:headEnd/>
            <a:tailEnd/>
          </a:ln>
        </p:spPr>
      </p:pic>
      <p:sp>
        <p:nvSpPr>
          <p:cNvPr id="7" name="标题 1"/>
          <p:cNvSpPr txBox="1"/>
          <p:nvPr/>
        </p:nvSpPr>
        <p:spPr bwMode="auto">
          <a:xfrm>
            <a:off x="597526" y="213292"/>
            <a:ext cx="10925361" cy="936104"/>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案例</a:t>
            </a:r>
            <a:r>
              <a:rPr lang="en-US" altLang="zh-CN" sz="3600" dirty="0">
                <a:solidFill>
                  <a:schemeClr val="bg1"/>
                </a:solidFill>
              </a:rPr>
              <a:t>4</a:t>
            </a:r>
            <a:r>
              <a:rPr lang="zh-CN" altLang="en-US" sz="3600" dirty="0" smtClean="0">
                <a:solidFill>
                  <a:schemeClr val="bg1"/>
                </a:solidFill>
              </a:rPr>
              <a:t>：上海外滩跨年踩踏惨剧</a:t>
            </a:r>
            <a:endParaRPr lang="en-US" altLang="zh-CN" sz="3600" dirty="0" smtClean="0">
              <a:solidFill>
                <a:schemeClr val="bg1"/>
              </a:solidFill>
            </a:endParaRPr>
          </a:p>
        </p:txBody>
      </p:sp>
      <p:sp>
        <p:nvSpPr>
          <p:cNvPr id="26630" name="内容占位符 2"/>
          <p:cNvSpPr txBox="1"/>
          <p:nvPr/>
        </p:nvSpPr>
        <p:spPr bwMode="auto">
          <a:xfrm>
            <a:off x="9563100" y="2651125"/>
            <a:ext cx="1960563" cy="533400"/>
          </a:xfrm>
          <a:prstGeom prst="rect">
            <a:avLst/>
          </a:prstGeom>
          <a:noFill/>
          <a:ln w="9525">
            <a:noFill/>
            <a:miter lim="800000"/>
          </a:ln>
        </p:spPr>
        <p:txBody>
          <a:bodyPr/>
          <a:lstStyle/>
          <a:p>
            <a:pPr>
              <a:lnSpc>
                <a:spcPct val="120000"/>
              </a:lnSpc>
              <a:spcBef>
                <a:spcPct val="20000"/>
              </a:spcBef>
              <a:buFont typeface="Arial" panose="020B0604020202020204" pitchFamily="34" charset="0"/>
              <a:buNone/>
            </a:pPr>
            <a:r>
              <a:rPr lang="zh-CN" altLang="en-US">
                <a:latin typeface="楷体" panose="02010609060101010101" pitchFamily="49" charset="-122"/>
                <a:ea typeface="楷体" panose="02010609060101010101" pitchFamily="49" charset="-122"/>
                <a:cs typeface="楷体" panose="02010609060101010101" pitchFamily="49" charset="-122"/>
              </a:rPr>
              <a:t>（图片来自网络）</a:t>
            </a:r>
            <a:endParaRPr lang="zh-CN" altLang="en-US" sz="1600">
              <a:solidFill>
                <a:srgbClr val="FFFF00"/>
              </a:solidFill>
              <a:latin typeface="楷体" panose="02010609060101010101" pitchFamily="49" charset="-122"/>
              <a:ea typeface="楷体" panose="02010609060101010101" pitchFamily="49" charset="-122"/>
              <a:cs typeface="楷体" panose="02010609060101010101" pitchFamily="49" charset="-122"/>
            </a:endParaRPr>
          </a:p>
        </p:txBody>
      </p:sp>
      <p:sp>
        <p:nvSpPr>
          <p:cNvPr id="12" name="矩形 11"/>
          <p:cNvSpPr/>
          <p:nvPr/>
        </p:nvSpPr>
        <p:spPr>
          <a:xfrm>
            <a:off x="1647825" y="4084638"/>
            <a:ext cx="9875838" cy="2309812"/>
          </a:xfrm>
          <a:prstGeom prst="rect">
            <a:avLst/>
          </a:prstGeom>
          <a:ln>
            <a:solidFill>
              <a:schemeClr val="accent1">
                <a:shade val="50000"/>
              </a:schemeClr>
            </a:solidFill>
          </a:ln>
        </p:spPr>
        <p:txBody>
          <a:bodyPr>
            <a:spAutoFit/>
          </a:bodyPr>
          <a:lstStyle/>
          <a:p>
            <a:pPr fontAlgn="auto">
              <a:spcBef>
                <a:spcPts val="0"/>
              </a:spcBef>
              <a:spcAft>
                <a:spcPts val="0"/>
              </a:spcAft>
              <a:defRPr/>
            </a:pPr>
            <a:r>
              <a:rPr lang="en-US" altLang="zh-CN" sz="1600" dirty="0">
                <a:latin typeface="黑体" panose="02010609060101010101" pitchFamily="49" charset="-122"/>
                <a:ea typeface="黑体" panose="02010609060101010101" pitchFamily="49" charset="-122"/>
              </a:rPr>
              <a:t>    2014</a:t>
            </a:r>
            <a:r>
              <a:rPr lang="zh-CN" altLang="en-US" sz="1600" dirty="0">
                <a:latin typeface="黑体" panose="02010609060101010101" pitchFamily="49" charset="-122"/>
                <a:ea typeface="黑体" panose="02010609060101010101" pitchFamily="49" charset="-122"/>
              </a:rPr>
              <a:t>年</a:t>
            </a:r>
            <a:r>
              <a:rPr lang="en-US" altLang="zh-CN" sz="1600" dirty="0">
                <a:latin typeface="黑体" panose="02010609060101010101" pitchFamily="49" charset="-122"/>
                <a:ea typeface="黑体" panose="02010609060101010101" pitchFamily="49" charset="-122"/>
              </a:rPr>
              <a:t>12</a:t>
            </a:r>
            <a:r>
              <a:rPr lang="zh-CN" altLang="en-US" sz="1600" dirty="0">
                <a:latin typeface="黑体" panose="02010609060101010101" pitchFamily="49" charset="-122"/>
                <a:ea typeface="黑体" panose="02010609060101010101" pitchFamily="49" charset="-122"/>
              </a:rPr>
              <a:t>月</a:t>
            </a:r>
            <a:r>
              <a:rPr lang="en-US" altLang="zh-CN" sz="1600" dirty="0">
                <a:latin typeface="黑体" panose="02010609060101010101" pitchFamily="49" charset="-122"/>
                <a:ea typeface="黑体" panose="02010609060101010101" pitchFamily="49" charset="-122"/>
              </a:rPr>
              <a:t>31</a:t>
            </a:r>
            <a:r>
              <a:rPr lang="zh-CN" altLang="en-US" sz="1600" dirty="0">
                <a:latin typeface="黑体" panose="02010609060101010101" pitchFamily="49" charset="-122"/>
                <a:ea typeface="黑体" panose="02010609060101010101" pitchFamily="49" charset="-122"/>
              </a:rPr>
              <a:t>日</a:t>
            </a:r>
            <a:r>
              <a:rPr lang="en-US" altLang="zh-CN" sz="1600" dirty="0">
                <a:latin typeface="黑体" panose="02010609060101010101" pitchFamily="49" charset="-122"/>
                <a:ea typeface="黑体" panose="02010609060101010101" pitchFamily="49" charset="-122"/>
              </a:rPr>
              <a:t>23</a:t>
            </a:r>
            <a:r>
              <a:rPr lang="zh-CN" altLang="en-US" sz="1600" dirty="0">
                <a:latin typeface="黑体" panose="02010609060101010101" pitchFamily="49" charset="-122"/>
                <a:ea typeface="黑体" panose="02010609060101010101" pitchFamily="49" charset="-122"/>
              </a:rPr>
              <a:t>时</a:t>
            </a:r>
            <a:r>
              <a:rPr lang="en-US" altLang="zh-CN" sz="1600" dirty="0">
                <a:latin typeface="黑体" panose="02010609060101010101" pitchFamily="49" charset="-122"/>
                <a:ea typeface="黑体" panose="02010609060101010101" pitchFamily="49" charset="-122"/>
              </a:rPr>
              <a:t>35</a:t>
            </a:r>
            <a:r>
              <a:rPr lang="zh-CN" altLang="en-US" sz="1600" dirty="0">
                <a:latin typeface="黑体" panose="02010609060101010101" pitchFamily="49" charset="-122"/>
                <a:ea typeface="黑体" panose="02010609060101010101" pitchFamily="49" charset="-122"/>
              </a:rPr>
              <a:t>分，正值跨年夜活动，因很多游客市民聚集在上海外滩迎接新年，上海市黄浦区外滩陈毅广场东南角通往黄浦江观景平台的人行通道阶梯处底部有人失衡跌倒，继而引发多人摔倒、叠压，致使拥挤踩踏事件发生，造成</a:t>
            </a:r>
            <a:r>
              <a:rPr lang="en-US" altLang="zh-CN" sz="1600" dirty="0">
                <a:solidFill>
                  <a:srgbClr val="FF0000"/>
                </a:solidFill>
                <a:latin typeface="黑体" panose="02010609060101010101" pitchFamily="49" charset="-122"/>
                <a:ea typeface="黑体" panose="02010609060101010101" pitchFamily="49" charset="-122"/>
              </a:rPr>
              <a:t>36</a:t>
            </a:r>
            <a:r>
              <a:rPr lang="zh-CN" altLang="en-US" sz="1600" dirty="0">
                <a:solidFill>
                  <a:srgbClr val="FF0000"/>
                </a:solidFill>
                <a:latin typeface="黑体" panose="02010609060101010101" pitchFamily="49" charset="-122"/>
                <a:ea typeface="黑体" panose="02010609060101010101" pitchFamily="49" charset="-122"/>
              </a:rPr>
              <a:t>人死亡，</a:t>
            </a:r>
            <a:r>
              <a:rPr lang="en-US" altLang="zh-CN" sz="1600" dirty="0">
                <a:solidFill>
                  <a:srgbClr val="FF0000"/>
                </a:solidFill>
                <a:latin typeface="黑体" panose="02010609060101010101" pitchFamily="49" charset="-122"/>
                <a:ea typeface="黑体" panose="02010609060101010101" pitchFamily="49" charset="-122"/>
              </a:rPr>
              <a:t>49</a:t>
            </a:r>
            <a:r>
              <a:rPr lang="zh-CN" altLang="en-US" sz="1600" dirty="0">
                <a:solidFill>
                  <a:srgbClr val="FF0000"/>
                </a:solidFill>
                <a:latin typeface="黑体" panose="02010609060101010101" pitchFamily="49" charset="-122"/>
                <a:ea typeface="黑体" panose="02010609060101010101" pitchFamily="49" charset="-122"/>
              </a:rPr>
              <a:t>人受伤</a:t>
            </a:r>
            <a:r>
              <a:rPr lang="zh-CN" altLang="en-US" sz="1600" dirty="0">
                <a:latin typeface="黑体" panose="02010609060101010101" pitchFamily="49" charset="-122"/>
                <a:ea typeface="黑体" panose="02010609060101010101" pitchFamily="49" charset="-122"/>
              </a:rPr>
              <a:t>。</a:t>
            </a:r>
            <a:endParaRPr lang="zh-CN" altLang="en-US" sz="1600" dirty="0">
              <a:latin typeface="黑体" panose="02010609060101010101" pitchFamily="49" charset="-122"/>
              <a:ea typeface="黑体" panose="02010609060101010101" pitchFamily="49" charset="-122"/>
            </a:endParaRPr>
          </a:p>
          <a:p>
            <a:pPr fontAlgn="auto">
              <a:spcBef>
                <a:spcPts val="0"/>
              </a:spcBef>
              <a:spcAft>
                <a:spcPts val="0"/>
              </a:spcAft>
              <a:defRPr/>
            </a:pPr>
            <a:r>
              <a:rPr lang="en-US" altLang="zh-CN" sz="1600" dirty="0">
                <a:latin typeface="黑体" panose="02010609060101010101" pitchFamily="49" charset="-122"/>
                <a:ea typeface="黑体" panose="02010609060101010101" pitchFamily="49" charset="-122"/>
              </a:rPr>
              <a:t>    2015</a:t>
            </a:r>
            <a:r>
              <a:rPr lang="zh-CN" altLang="en-US" sz="1600" dirty="0">
                <a:latin typeface="黑体" panose="02010609060101010101" pitchFamily="49" charset="-122"/>
                <a:ea typeface="黑体" panose="02010609060101010101" pitchFamily="49" charset="-122"/>
              </a:rPr>
              <a:t>年</a:t>
            </a:r>
            <a:r>
              <a:rPr lang="en-US" altLang="zh-CN" sz="1600" dirty="0">
                <a:latin typeface="黑体" panose="02010609060101010101" pitchFamily="49" charset="-122"/>
                <a:ea typeface="黑体" panose="02010609060101010101" pitchFamily="49" charset="-122"/>
              </a:rPr>
              <a:t>1</a:t>
            </a:r>
            <a:r>
              <a:rPr lang="zh-CN" altLang="en-US" sz="1600" dirty="0">
                <a:latin typeface="黑体" panose="02010609060101010101" pitchFamily="49" charset="-122"/>
                <a:ea typeface="黑体" panose="02010609060101010101" pitchFamily="49" charset="-122"/>
              </a:rPr>
              <a:t>月</a:t>
            </a:r>
            <a:r>
              <a:rPr lang="en-US" altLang="zh-CN" sz="1600" dirty="0">
                <a:latin typeface="黑体" panose="02010609060101010101" pitchFamily="49" charset="-122"/>
                <a:ea typeface="黑体" panose="02010609060101010101" pitchFamily="49" charset="-122"/>
              </a:rPr>
              <a:t>21</a:t>
            </a:r>
            <a:r>
              <a:rPr lang="zh-CN" altLang="en-US" sz="1600" dirty="0">
                <a:latin typeface="黑体" panose="02010609060101010101" pitchFamily="49" charset="-122"/>
                <a:ea typeface="黑体" panose="02010609060101010101" pitchFamily="49" charset="-122"/>
              </a:rPr>
              <a:t>日，上海市公布</a:t>
            </a:r>
            <a:r>
              <a:rPr lang="en-US" altLang="zh-CN" sz="1600" dirty="0">
                <a:latin typeface="黑体" panose="02010609060101010101" pitchFamily="49" charset="-122"/>
                <a:ea typeface="黑体" panose="02010609060101010101" pitchFamily="49" charset="-122"/>
              </a:rPr>
              <a:t>12·31</a:t>
            </a:r>
            <a:r>
              <a:rPr lang="zh-CN" altLang="en-US" sz="1600" dirty="0">
                <a:latin typeface="黑体" panose="02010609060101010101" pitchFamily="49" charset="-122"/>
                <a:ea typeface="黑体" panose="02010609060101010101" pitchFamily="49" charset="-122"/>
              </a:rPr>
              <a:t>外滩拥挤踩踏事件调查报告，认定这是一起对群众性活动</a:t>
            </a:r>
            <a:r>
              <a:rPr lang="zh-CN" altLang="en-US" sz="1600" dirty="0">
                <a:solidFill>
                  <a:srgbClr val="FF0000"/>
                </a:solidFill>
                <a:latin typeface="黑体" panose="02010609060101010101" pitchFamily="49" charset="-122"/>
                <a:ea typeface="黑体" panose="02010609060101010101" pitchFamily="49" charset="-122"/>
              </a:rPr>
              <a:t>预防准备不足、现场管理不力、应对处置不当而引发的拥挤踩踏并造成重大伤亡和严重后果的公共安全责任事件</a:t>
            </a:r>
            <a:r>
              <a:rPr lang="zh-CN" altLang="en-US" sz="1600" dirty="0">
                <a:latin typeface="黑体" panose="02010609060101010101" pitchFamily="49" charset="-122"/>
                <a:ea typeface="黑体" panose="02010609060101010101" pitchFamily="49" charset="-122"/>
              </a:rPr>
              <a:t>。黄浦区政府和相关部门对这起事件负有不可推卸的责任。调查报告建议，对包括黄浦区区委书记周伟、黄浦区区长彭崧在内的</a:t>
            </a:r>
            <a:r>
              <a:rPr lang="en-US" altLang="zh-CN" sz="1600" dirty="0">
                <a:latin typeface="黑体" panose="02010609060101010101" pitchFamily="49" charset="-122"/>
                <a:ea typeface="黑体" panose="02010609060101010101" pitchFamily="49" charset="-122"/>
              </a:rPr>
              <a:t>11</a:t>
            </a:r>
            <a:r>
              <a:rPr lang="zh-CN" altLang="en-US" sz="1600" dirty="0">
                <a:latin typeface="黑体" panose="02010609060101010101" pitchFamily="49" charset="-122"/>
                <a:ea typeface="黑体" panose="02010609060101010101" pitchFamily="49" charset="-122"/>
              </a:rPr>
              <a:t>名党政干部进行处分。</a:t>
            </a:r>
            <a:endParaRPr lang="en-US" altLang="zh-CN" sz="1600" dirty="0">
              <a:latin typeface="黑体" panose="02010609060101010101" pitchFamily="49" charset="-122"/>
              <a:ea typeface="黑体" panose="02010609060101010101" pitchFamily="49" charset="-122"/>
            </a:endParaRPr>
          </a:p>
          <a:p>
            <a:pPr fontAlgn="auto">
              <a:spcBef>
                <a:spcPts val="0"/>
              </a:spcBef>
              <a:spcAft>
                <a:spcPts val="0"/>
              </a:spcAft>
              <a:defRPr/>
            </a:pPr>
            <a:r>
              <a:rPr lang="en-US" altLang="zh-CN" sz="1600" dirty="0">
                <a:latin typeface="黑体" panose="02010609060101010101" pitchFamily="49" charset="-122"/>
                <a:ea typeface="黑体" panose="02010609060101010101" pitchFamily="49" charset="-122"/>
              </a:rPr>
              <a:t>    2015</a:t>
            </a:r>
            <a:r>
              <a:rPr lang="zh-CN" altLang="en-US" sz="1600" dirty="0">
                <a:latin typeface="黑体" panose="02010609060101010101" pitchFamily="49" charset="-122"/>
                <a:ea typeface="黑体" panose="02010609060101010101" pitchFamily="49" charset="-122"/>
              </a:rPr>
              <a:t>年</a:t>
            </a:r>
            <a:r>
              <a:rPr lang="en-US" altLang="zh-CN" sz="1600" dirty="0">
                <a:latin typeface="黑体" panose="02010609060101010101" pitchFamily="49" charset="-122"/>
                <a:ea typeface="黑体" panose="02010609060101010101" pitchFamily="49" charset="-122"/>
              </a:rPr>
              <a:t>1</a:t>
            </a:r>
            <a:r>
              <a:rPr lang="zh-CN" altLang="en-US" sz="1600" dirty="0">
                <a:latin typeface="黑体" panose="02010609060101010101" pitchFamily="49" charset="-122"/>
                <a:ea typeface="黑体" panose="02010609060101010101" pitchFamily="49" charset="-122"/>
              </a:rPr>
              <a:t>月</a:t>
            </a:r>
            <a:r>
              <a:rPr lang="en-US" altLang="zh-CN" sz="1600" dirty="0">
                <a:latin typeface="黑体" panose="02010609060101010101" pitchFamily="49" charset="-122"/>
                <a:ea typeface="黑体" panose="02010609060101010101" pitchFamily="49" charset="-122"/>
              </a:rPr>
              <a:t>21</a:t>
            </a:r>
            <a:r>
              <a:rPr lang="zh-CN" altLang="en-US" sz="1600" dirty="0">
                <a:latin typeface="黑体" panose="02010609060101010101" pitchFamily="49" charset="-122"/>
                <a:ea typeface="黑体" panose="02010609060101010101" pitchFamily="49" charset="-122"/>
              </a:rPr>
              <a:t>日，上海市公布上海外滩踩踏事件遇难者家属将获</a:t>
            </a:r>
            <a:r>
              <a:rPr lang="en-US" altLang="zh-CN" sz="1600" dirty="0">
                <a:latin typeface="黑体" panose="02010609060101010101" pitchFamily="49" charset="-122"/>
                <a:ea typeface="黑体" panose="02010609060101010101" pitchFamily="49" charset="-122"/>
              </a:rPr>
              <a:t>80</a:t>
            </a:r>
            <a:r>
              <a:rPr lang="zh-CN" altLang="en-US" sz="1600" dirty="0">
                <a:latin typeface="黑体" panose="02010609060101010101" pitchFamily="49" charset="-122"/>
                <a:ea typeface="黑体" panose="02010609060101010101" pitchFamily="49" charset="-122"/>
              </a:rPr>
              <a:t>万抚慰金。</a:t>
            </a:r>
            <a:endParaRPr lang="en-US" altLang="zh-CN" sz="1600" baseline="30000" dirty="0">
              <a:latin typeface="黑体" panose="02010609060101010101" pitchFamily="49" charset="-122"/>
              <a:ea typeface="黑体" panose="02010609060101010101" pitchFamily="49" charset="-122"/>
            </a:endParaRPr>
          </a:p>
          <a:p>
            <a:pPr algn="r" fontAlgn="auto">
              <a:spcBef>
                <a:spcPts val="0"/>
              </a:spcBef>
              <a:spcAft>
                <a:spcPts val="0"/>
              </a:spcAft>
              <a:defRPr/>
            </a:pPr>
            <a:r>
              <a:rPr lang="en-US" altLang="zh-CN" sz="1600" dirty="0">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据百度百科“</a:t>
            </a:r>
            <a:r>
              <a:rPr lang="en-US" altLang="zh-CN" sz="1600" dirty="0">
                <a:latin typeface="黑体" panose="02010609060101010101" pitchFamily="49" charset="-122"/>
                <a:ea typeface="黑体" panose="02010609060101010101" pitchFamily="49" charset="-122"/>
              </a:rPr>
              <a:t>12·31</a:t>
            </a:r>
            <a:r>
              <a:rPr lang="zh-CN" altLang="en-US" sz="1600" dirty="0">
                <a:latin typeface="黑体" panose="02010609060101010101" pitchFamily="49" charset="-122"/>
                <a:ea typeface="黑体" panose="02010609060101010101" pitchFamily="49" charset="-122"/>
              </a:rPr>
              <a:t>上海外滩踩踏事件”</a:t>
            </a:r>
            <a:endParaRPr lang="zh-CN" altLang="en-US" sz="1600" dirty="0">
              <a:latin typeface="黑体" panose="02010609060101010101" pitchFamily="49" charset="-122"/>
              <a:ea typeface="黑体" panose="02010609060101010101" pitchFamily="49" charset="-122"/>
            </a:endParaRPr>
          </a:p>
        </p:txBody>
      </p:sp>
      <p:sp>
        <p:nvSpPr>
          <p:cNvPr id="14" name="灯片编号占位符 13"/>
          <p:cNvSpPr>
            <a:spLocks noGrp="1"/>
          </p:cNvSpPr>
          <p:nvPr>
            <p:ph type="sldNum" sz="quarter" idx="12"/>
          </p:nvPr>
        </p:nvSpPr>
        <p:spPr/>
        <p:txBody>
          <a:bodyPr/>
          <a:lstStyle/>
          <a:p>
            <a:pPr>
              <a:defRPr/>
            </a:pPr>
            <a:fld id="{33AC1966-C5B6-42E9-A9CD-06FDC529578A}" type="slidenum">
              <a:rPr lang="zh-CN" altLang="en-US"/>
            </a:fld>
            <a:endParaRPr lang="zh-CN" alt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8050213" y="3536950"/>
            <a:ext cx="2930525" cy="1824038"/>
          </a:xfrm>
          <a:prstGeom prst="rect">
            <a:avLst/>
          </a:prstGeom>
          <a:noFill/>
          <a:ln w="9525">
            <a:noFill/>
            <a:miter lim="800000"/>
            <a:headEnd/>
            <a:tailEnd/>
          </a:ln>
        </p:spPr>
      </p:pic>
      <p:pic>
        <p:nvPicPr>
          <p:cNvPr id="1028" name="Picture 4"/>
          <p:cNvPicPr>
            <a:picLocks noChangeAspect="1" noChangeArrowheads="1"/>
          </p:cNvPicPr>
          <p:nvPr/>
        </p:nvPicPr>
        <p:blipFill>
          <a:blip r:embed="rId2" cstate="print"/>
          <a:srcRect/>
          <a:stretch>
            <a:fillRect/>
          </a:stretch>
        </p:blipFill>
        <p:spPr bwMode="auto">
          <a:xfrm>
            <a:off x="795338" y="3424238"/>
            <a:ext cx="2978150" cy="2049462"/>
          </a:xfrm>
          <a:prstGeom prst="rect">
            <a:avLst/>
          </a:prstGeom>
          <a:noFill/>
          <a:ln w="9525">
            <a:noFill/>
            <a:miter lim="800000"/>
            <a:headEnd/>
            <a:tailEnd/>
          </a:ln>
        </p:spPr>
      </p:pic>
      <p:pic>
        <p:nvPicPr>
          <p:cNvPr id="1029" name="Picture 5"/>
          <p:cNvPicPr>
            <a:picLocks noChangeAspect="1" noChangeArrowheads="1"/>
          </p:cNvPicPr>
          <p:nvPr/>
        </p:nvPicPr>
        <p:blipFill>
          <a:blip r:embed="rId3" cstate="print"/>
          <a:srcRect/>
          <a:stretch>
            <a:fillRect/>
          </a:stretch>
        </p:blipFill>
        <p:spPr bwMode="auto">
          <a:xfrm>
            <a:off x="3952875" y="3616325"/>
            <a:ext cx="3514725" cy="1778000"/>
          </a:xfrm>
          <a:prstGeom prst="rect">
            <a:avLst/>
          </a:prstGeom>
          <a:noFill/>
          <a:ln w="9525">
            <a:noFill/>
            <a:miter lim="800000"/>
            <a:headEnd/>
            <a:tailEnd/>
          </a:ln>
        </p:spPr>
      </p:pic>
      <p:sp>
        <p:nvSpPr>
          <p:cNvPr id="5" name="矩形 4"/>
          <p:cNvSpPr/>
          <p:nvPr/>
        </p:nvSpPr>
        <p:spPr>
          <a:xfrm>
            <a:off x="596900" y="1371600"/>
            <a:ext cx="10926763" cy="1058863"/>
          </a:xfrm>
          <a:prstGeom prst="rect">
            <a:avLst/>
          </a:prstGeom>
          <a:ln>
            <a:solidFill>
              <a:schemeClr val="accent1">
                <a:shade val="50000"/>
              </a:schemeClr>
            </a:solidFill>
          </a:ln>
        </p:spPr>
        <p:txBody>
          <a:bodyPr>
            <a:spAutoFit/>
          </a:bodyPr>
          <a:lstStyle/>
          <a:p>
            <a:pPr lvl="1" fontAlgn="auto">
              <a:lnSpc>
                <a:spcPct val="120000"/>
              </a:lnSpc>
              <a:spcBef>
                <a:spcPts val="0"/>
              </a:spcBef>
              <a:spcAft>
                <a:spcPts val="0"/>
              </a:spcAft>
              <a:defRPr/>
            </a:pPr>
            <a:r>
              <a:rPr lang="zh-CN" altLang="en-US" sz="2800" dirty="0">
                <a:latin typeface="黑体" panose="02010609060101010101" pitchFamily="49" charset="-122"/>
                <a:ea typeface="黑体" panose="02010609060101010101" pitchFamily="49" charset="-122"/>
              </a:rPr>
              <a:t>    科技工作者事后反思：在公共安全面前，如何让公共事务管理者与公众参与者能享受到</a:t>
            </a:r>
            <a:r>
              <a:rPr lang="zh-CN" altLang="en-US" sz="2800" dirty="0">
                <a:solidFill>
                  <a:srgbClr val="FF0000"/>
                </a:solidFill>
                <a:latin typeface="黑体" panose="02010609060101010101" pitchFamily="49" charset="-122"/>
                <a:ea typeface="黑体" panose="02010609060101010101" pitchFamily="49" charset="-122"/>
              </a:rPr>
              <a:t>先进技术的优质服务</a:t>
            </a:r>
            <a:r>
              <a:rPr lang="zh-CN" altLang="en-US" sz="2800" dirty="0">
                <a:latin typeface="黑体" panose="02010609060101010101" pitchFamily="49" charset="-122"/>
                <a:ea typeface="黑体" panose="02010609060101010101" pitchFamily="49" charset="-122"/>
              </a:rPr>
              <a:t>？</a:t>
            </a:r>
            <a:endParaRPr lang="zh-CN" altLang="en-US" sz="2800" dirty="0">
              <a:latin typeface="黑体" panose="02010609060101010101" pitchFamily="49" charset="-122"/>
              <a:ea typeface="黑体" panose="02010609060101010101" pitchFamily="49" charset="-122"/>
            </a:endParaRPr>
          </a:p>
        </p:txBody>
      </p:sp>
      <p:sp>
        <p:nvSpPr>
          <p:cNvPr id="10" name="标题 1"/>
          <p:cNvSpPr txBox="1"/>
          <p:nvPr/>
        </p:nvSpPr>
        <p:spPr bwMode="auto">
          <a:xfrm>
            <a:off x="597526" y="213292"/>
            <a:ext cx="10925361" cy="936104"/>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案例</a:t>
            </a:r>
            <a:r>
              <a:rPr lang="en-US" altLang="zh-CN" sz="3600" dirty="0">
                <a:solidFill>
                  <a:schemeClr val="bg1"/>
                </a:solidFill>
              </a:rPr>
              <a:t>4</a:t>
            </a:r>
            <a:r>
              <a:rPr lang="zh-CN" altLang="en-US" sz="3600" dirty="0" smtClean="0">
                <a:solidFill>
                  <a:schemeClr val="bg1"/>
                </a:solidFill>
              </a:rPr>
              <a:t>：上海外滩跨年踩踏惨剧反思</a:t>
            </a:r>
            <a:endParaRPr lang="en-US" altLang="zh-CN" sz="3600" dirty="0" smtClean="0">
              <a:solidFill>
                <a:schemeClr val="bg1"/>
              </a:solidFill>
            </a:endParaRPr>
          </a:p>
        </p:txBody>
      </p:sp>
      <p:sp>
        <p:nvSpPr>
          <p:cNvPr id="12" name="内容占位符 2"/>
          <p:cNvSpPr txBox="1"/>
          <p:nvPr/>
        </p:nvSpPr>
        <p:spPr bwMode="auto">
          <a:xfrm>
            <a:off x="8475663" y="5654675"/>
            <a:ext cx="2505075" cy="533400"/>
          </a:xfrm>
          <a:prstGeom prst="rect">
            <a:avLst/>
          </a:prstGeom>
          <a:noFill/>
          <a:ln w="9525">
            <a:noFill/>
            <a:miter lim="800000"/>
          </a:ln>
        </p:spPr>
        <p:txBody>
          <a:bodyPr/>
          <a:lstStyle/>
          <a:p>
            <a:pPr>
              <a:lnSpc>
                <a:spcPct val="120000"/>
              </a:lnSpc>
              <a:spcBef>
                <a:spcPct val="20000"/>
              </a:spcBef>
              <a:buFont typeface="Arial" panose="020B0604020202020204" pitchFamily="34" charset="0"/>
              <a:buNone/>
            </a:pPr>
            <a:r>
              <a:rPr lang="zh-CN" altLang="en-US">
                <a:latin typeface="楷体" panose="02010609060101010101" pitchFamily="49" charset="-122"/>
                <a:ea typeface="楷体" panose="02010609060101010101" pitchFamily="49" charset="-122"/>
                <a:cs typeface="楷体" panose="02010609060101010101" pitchFamily="49" charset="-122"/>
              </a:rPr>
              <a:t>（图片均来自网络）</a:t>
            </a:r>
            <a:endParaRPr lang="zh-CN" altLang="en-US" sz="1600">
              <a:solidFill>
                <a:srgbClr val="FFFF00"/>
              </a:solidFill>
              <a:latin typeface="楷体" panose="02010609060101010101" pitchFamily="49" charset="-122"/>
              <a:ea typeface="楷体" panose="02010609060101010101" pitchFamily="49" charset="-122"/>
              <a:cs typeface="楷体" panose="02010609060101010101" pitchFamily="49" charset="-122"/>
            </a:endParaRPr>
          </a:p>
        </p:txBody>
      </p:sp>
      <p:sp>
        <p:nvSpPr>
          <p:cNvPr id="8" name="灯片编号占位符 7"/>
          <p:cNvSpPr>
            <a:spLocks noGrp="1"/>
          </p:cNvSpPr>
          <p:nvPr>
            <p:ph type="sldNum" sz="quarter" idx="12"/>
          </p:nvPr>
        </p:nvSpPr>
        <p:spPr/>
        <p:txBody>
          <a:bodyPr/>
          <a:lstStyle/>
          <a:p>
            <a:pPr>
              <a:defRPr/>
            </a:pPr>
            <a:fld id="{7063744A-3E7B-46D9-9C77-9A28FF94FFB6}" type="slidenum">
              <a:rPr lang="zh-CN" altLang="en-US"/>
            </a:fld>
            <a:endParaRPr lang="zh-CN" altLang="en-US"/>
          </a:p>
        </p:txBody>
      </p:sp>
      <p:sp>
        <p:nvSpPr>
          <p:cNvPr id="11" name="爆炸形 1 10"/>
          <p:cNvSpPr/>
          <p:nvPr/>
        </p:nvSpPr>
        <p:spPr>
          <a:xfrm>
            <a:off x="966788" y="2024063"/>
            <a:ext cx="10363200" cy="3392487"/>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3200" dirty="0">
                <a:solidFill>
                  <a:schemeClr val="bg1"/>
                </a:solidFill>
                <a:latin typeface="黑体" panose="02010609060101010101" pitchFamily="49" charset="-122"/>
                <a:ea typeface="黑体" panose="02010609060101010101" pitchFamily="49" charset="-122"/>
              </a:rPr>
              <a:t>BD</a:t>
            </a:r>
            <a:r>
              <a:rPr lang="zh-CN" altLang="en-US" sz="3200" dirty="0">
                <a:solidFill>
                  <a:schemeClr val="bg1"/>
                </a:solidFill>
                <a:latin typeface="黑体" panose="02010609060101010101" pitchFamily="49" charset="-122"/>
                <a:ea typeface="黑体" panose="02010609060101010101" pitchFamily="49" charset="-122"/>
              </a:rPr>
              <a:t>创新方便公务人员、交通服务运营者、科技人员更好扛起社会责任！</a:t>
            </a:r>
            <a:endParaRPr lang="zh-CN" altLang="en-US" sz="3200" dirty="0">
              <a:solidFill>
                <a:schemeClr val="bg1"/>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2" grpId="0"/>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bwMode="auto">
          <a:xfrm>
            <a:off x="597526" y="213292"/>
            <a:ext cx="10925361" cy="936104"/>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en-US" altLang="zh-CN" sz="3600" dirty="0" smtClean="0">
                <a:solidFill>
                  <a:schemeClr val="bg1"/>
                </a:solidFill>
              </a:rPr>
              <a:t>《</a:t>
            </a:r>
            <a:r>
              <a:rPr lang="zh-CN" altLang="en-US" sz="3600" dirty="0" smtClean="0">
                <a:solidFill>
                  <a:schemeClr val="bg1"/>
                </a:solidFill>
              </a:rPr>
              <a:t>工程伦理</a:t>
            </a:r>
            <a:r>
              <a:rPr lang="en-US" altLang="zh-CN" sz="3600" dirty="0" smtClean="0">
                <a:solidFill>
                  <a:schemeClr val="bg1"/>
                </a:solidFill>
              </a:rPr>
              <a:t>》</a:t>
            </a:r>
            <a:r>
              <a:rPr lang="zh-CN" altLang="en-US" sz="3600" dirty="0" smtClean="0">
                <a:solidFill>
                  <a:schemeClr val="bg1"/>
                </a:solidFill>
              </a:rPr>
              <a:t>设立本选题的必要性：问题导向</a:t>
            </a:r>
            <a:endParaRPr lang="en-US" altLang="zh-CN" sz="3600" dirty="0" smtClean="0">
              <a:solidFill>
                <a:schemeClr val="bg1"/>
              </a:solidFill>
            </a:endParaRPr>
          </a:p>
        </p:txBody>
      </p:sp>
      <p:sp>
        <p:nvSpPr>
          <p:cNvPr id="10" name="内容占位符 2"/>
          <p:cNvSpPr txBox="1"/>
          <p:nvPr/>
        </p:nvSpPr>
        <p:spPr>
          <a:xfrm>
            <a:off x="633413" y="1703388"/>
            <a:ext cx="10925175" cy="3983037"/>
          </a:xfrm>
          <a:prstGeom prst="rect">
            <a:avLst/>
          </a:prstGeom>
          <a:noFill/>
          <a:ln>
            <a:solidFill>
              <a:schemeClr val="accent1">
                <a:shade val="50000"/>
              </a:schemeClr>
            </a:solidFill>
          </a:ln>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黑体" panose="02010609060101010101" pitchFamily="49" charset="-122"/>
                <a:ea typeface="黑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黑体" panose="02010609060101010101" pitchFamily="49" charset="-122"/>
                <a:ea typeface="黑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黑体" panose="02010609060101010101" pitchFamily="49" charset="-122"/>
                <a:ea typeface="黑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auto">
              <a:spcAft>
                <a:spcPts val="0"/>
              </a:spcAft>
              <a:defRPr/>
            </a:pPr>
            <a:r>
              <a:rPr lang="en-US" altLang="zh-CN" dirty="0"/>
              <a:t>IT</a:t>
            </a:r>
            <a:r>
              <a:rPr lang="zh-CN" altLang="en-US" dirty="0" smtClean="0"/>
              <a:t>和</a:t>
            </a:r>
            <a:r>
              <a:rPr lang="en-US" altLang="zh-CN" dirty="0" smtClean="0"/>
              <a:t>BD</a:t>
            </a:r>
            <a:r>
              <a:rPr lang="zh-CN" altLang="en-US" dirty="0" smtClean="0"/>
              <a:t>创新</a:t>
            </a:r>
            <a:r>
              <a:rPr lang="zh-CN" altLang="en-US" dirty="0"/>
              <a:t>具有</a:t>
            </a:r>
            <a:r>
              <a:rPr lang="zh-CN" altLang="en-US" dirty="0">
                <a:solidFill>
                  <a:srgbClr val="FF0000"/>
                </a:solidFill>
              </a:rPr>
              <a:t>双刃</a:t>
            </a:r>
            <a:r>
              <a:rPr lang="zh-CN" altLang="en-US" dirty="0" smtClean="0">
                <a:solidFill>
                  <a:srgbClr val="FF0000"/>
                </a:solidFill>
              </a:rPr>
              <a:t>性，</a:t>
            </a:r>
            <a:r>
              <a:rPr lang="zh-CN" altLang="en-US" dirty="0" smtClean="0"/>
              <a:t>其负面效应往往是</a:t>
            </a:r>
            <a:r>
              <a:rPr lang="zh-CN" altLang="en-US" dirty="0" smtClean="0">
                <a:solidFill>
                  <a:srgbClr val="FF0000"/>
                </a:solidFill>
              </a:rPr>
              <a:t>模糊、滞后</a:t>
            </a:r>
            <a:r>
              <a:rPr lang="zh-CN" altLang="en-US" dirty="0" smtClean="0"/>
              <a:t>却又</a:t>
            </a:r>
            <a:r>
              <a:rPr lang="zh-CN" altLang="en-US" dirty="0" smtClean="0">
                <a:solidFill>
                  <a:srgbClr val="FF0000"/>
                </a:solidFill>
              </a:rPr>
              <a:t>层出不穷</a:t>
            </a:r>
            <a:r>
              <a:rPr lang="zh-CN" altLang="en-US" dirty="0" smtClean="0"/>
              <a:t>的。</a:t>
            </a:r>
            <a:endParaRPr lang="en-US" altLang="zh-CN" dirty="0"/>
          </a:p>
          <a:p>
            <a:pPr fontAlgn="auto">
              <a:spcAft>
                <a:spcPts val="0"/>
              </a:spcAft>
              <a:defRPr/>
            </a:pPr>
            <a:r>
              <a:rPr lang="zh-CN" altLang="en-US" dirty="0" smtClean="0"/>
              <a:t>技术本身可以</a:t>
            </a:r>
            <a:r>
              <a:rPr lang="zh-CN" altLang="en-US" dirty="0"/>
              <a:t>是中立的，但做技术的人需在法律、</a:t>
            </a:r>
            <a:r>
              <a:rPr lang="zh-CN" altLang="en-US" dirty="0" smtClean="0"/>
              <a:t>伦理框架下</a:t>
            </a:r>
            <a:r>
              <a:rPr lang="zh-CN" altLang="en-US" dirty="0" smtClean="0">
                <a:solidFill>
                  <a:srgbClr val="FF0000"/>
                </a:solidFill>
              </a:rPr>
              <a:t>做正确的而不仅仅是最经济的</a:t>
            </a:r>
            <a:r>
              <a:rPr lang="zh-CN" altLang="en-US" dirty="0" smtClean="0"/>
              <a:t>方案选择</a:t>
            </a:r>
            <a:r>
              <a:rPr lang="en-US" altLang="zh-CN" dirty="0" smtClean="0"/>
              <a:t>——</a:t>
            </a:r>
            <a:r>
              <a:rPr lang="zh-CN" altLang="en-US" dirty="0" smtClean="0">
                <a:solidFill>
                  <a:srgbClr val="FF0000"/>
                </a:solidFill>
              </a:rPr>
              <a:t>技术和工程伦理</a:t>
            </a:r>
            <a:r>
              <a:rPr lang="zh-CN" altLang="en-US" dirty="0" smtClean="0"/>
              <a:t>在</a:t>
            </a:r>
            <a:r>
              <a:rPr lang="en-US" altLang="zh-CN" dirty="0">
                <a:solidFill>
                  <a:srgbClr val="FF0000"/>
                </a:solidFill>
              </a:rPr>
              <a:t>IT</a:t>
            </a:r>
            <a:r>
              <a:rPr lang="zh-CN" altLang="en-US" dirty="0" smtClean="0">
                <a:solidFill>
                  <a:srgbClr val="FF0000"/>
                </a:solidFill>
              </a:rPr>
              <a:t>和</a:t>
            </a:r>
            <a:r>
              <a:rPr lang="en-US" altLang="zh-CN" dirty="0" smtClean="0">
                <a:solidFill>
                  <a:srgbClr val="FF0000"/>
                </a:solidFill>
              </a:rPr>
              <a:t>BD</a:t>
            </a:r>
            <a:r>
              <a:rPr lang="zh-CN" altLang="en-US" dirty="0" smtClean="0">
                <a:solidFill>
                  <a:srgbClr val="FF0000"/>
                </a:solidFill>
              </a:rPr>
              <a:t>创新</a:t>
            </a:r>
            <a:r>
              <a:rPr lang="zh-CN" altLang="en-US" dirty="0">
                <a:solidFill>
                  <a:srgbClr val="FF0000"/>
                </a:solidFill>
              </a:rPr>
              <a:t>领域</a:t>
            </a:r>
            <a:r>
              <a:rPr lang="zh-CN" altLang="en-US" dirty="0"/>
              <a:t>存在且十分重要</a:t>
            </a:r>
            <a:r>
              <a:rPr lang="zh-CN" altLang="en-US" dirty="0" smtClean="0"/>
              <a:t>！</a:t>
            </a:r>
            <a:endParaRPr lang="en-US" altLang="zh-CN" dirty="0" smtClean="0"/>
          </a:p>
          <a:p>
            <a:pPr fontAlgn="auto">
              <a:spcAft>
                <a:spcPts val="0"/>
              </a:spcAft>
              <a:defRPr/>
            </a:pPr>
            <a:r>
              <a:rPr lang="zh-CN" altLang="en-US" dirty="0" smtClean="0"/>
              <a:t>在</a:t>
            </a:r>
            <a:r>
              <a:rPr lang="en-US" altLang="zh-CN" dirty="0" smtClean="0"/>
              <a:t>IT</a:t>
            </a:r>
            <a:r>
              <a:rPr lang="zh-CN" altLang="en-US" dirty="0" smtClean="0"/>
              <a:t>和</a:t>
            </a:r>
            <a:r>
              <a:rPr lang="en-US" altLang="zh-CN" dirty="0"/>
              <a:t>BD</a:t>
            </a:r>
            <a:r>
              <a:rPr lang="zh-CN" altLang="en-US" dirty="0" smtClean="0"/>
              <a:t>创新</a:t>
            </a:r>
            <a:r>
              <a:rPr lang="zh-CN" altLang="en-US" dirty="0"/>
              <a:t>设计、开发、应用阶段，怎么能有效规避这些风险</a:t>
            </a:r>
            <a:r>
              <a:rPr lang="zh-CN" altLang="en-US" dirty="0" smtClean="0"/>
              <a:t>、</a:t>
            </a:r>
            <a:r>
              <a:rPr lang="zh-CN" altLang="en-US" dirty="0"/>
              <a:t>进而</a:t>
            </a:r>
            <a:r>
              <a:rPr lang="zh-CN" altLang="en-US" dirty="0" smtClean="0"/>
              <a:t>保障</a:t>
            </a:r>
            <a:r>
              <a:rPr lang="zh-CN" altLang="en-US" dirty="0">
                <a:solidFill>
                  <a:srgbClr val="FF0000"/>
                </a:solidFill>
              </a:rPr>
              <a:t>创新成果可持续</a:t>
            </a:r>
            <a:r>
              <a:rPr lang="zh-CN" altLang="en-US" dirty="0"/>
              <a:t>呢？</a:t>
            </a:r>
            <a:endParaRPr lang="zh-CN" altLang="en-US" dirty="0"/>
          </a:p>
          <a:p>
            <a:pPr marL="0" indent="0" fontAlgn="auto">
              <a:spcAft>
                <a:spcPts val="0"/>
              </a:spcAft>
              <a:buFont typeface="Arial" panose="020B0604020202020204" pitchFamily="34" charset="0"/>
              <a:buNone/>
              <a:defRPr/>
            </a:pPr>
            <a:endParaRPr lang="zh-CN" altLang="zh-CN" dirty="0">
              <a:solidFill>
                <a:srgbClr val="FF0000"/>
              </a:solidFill>
            </a:endParaRPr>
          </a:p>
        </p:txBody>
      </p:sp>
      <p:sp>
        <p:nvSpPr>
          <p:cNvPr id="14" name="灯片编号占位符 13"/>
          <p:cNvSpPr>
            <a:spLocks noGrp="1"/>
          </p:cNvSpPr>
          <p:nvPr>
            <p:ph type="sldNum" sz="quarter" idx="12"/>
          </p:nvPr>
        </p:nvSpPr>
        <p:spPr/>
        <p:txBody>
          <a:bodyPr/>
          <a:lstStyle/>
          <a:p>
            <a:pPr>
              <a:defRPr/>
            </a:pPr>
            <a:fld id="{850DABA3-2D7D-4806-8766-5D269B3E87A4}" type="slidenum">
              <a:rPr lang="zh-CN" altLang="en-US"/>
            </a:fld>
            <a:endParaRPr lang="zh-CN"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bwMode="auto">
          <a:xfrm>
            <a:off x="425355" y="1916927"/>
            <a:ext cx="11341288" cy="1275472"/>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4800" dirty="0" smtClean="0">
                <a:solidFill>
                  <a:schemeClr val="bg1"/>
                </a:solidFill>
              </a:rPr>
              <a:t>第二部分  教学设计</a:t>
            </a:r>
            <a:endParaRPr lang="en-US" altLang="zh-CN" sz="4800" dirty="0">
              <a:solidFill>
                <a:schemeClr val="bg1"/>
              </a:solidFill>
            </a:endParaRPr>
          </a:p>
        </p:txBody>
      </p:sp>
      <p:sp>
        <p:nvSpPr>
          <p:cNvPr id="2" name="副标题 1"/>
          <p:cNvSpPr>
            <a:spLocks noGrp="1"/>
          </p:cNvSpPr>
          <p:nvPr>
            <p:ph type="subTitle" idx="1"/>
          </p:nvPr>
        </p:nvSpPr>
        <p:spPr/>
        <p:txBody>
          <a:bodyPr rtlCol="0">
            <a:normAutofit/>
          </a:bodyPr>
          <a:lstStyle/>
          <a:p>
            <a:pPr eaLnBrk="1" fontAlgn="auto" hangingPunct="1">
              <a:spcAft>
                <a:spcPts val="0"/>
              </a:spcAft>
              <a:buFont typeface="Arial" panose="020B0604020202020204" pitchFamily="34" charset="0"/>
              <a:buNone/>
              <a:defRPr/>
            </a:pPr>
            <a:r>
              <a:rPr lang="zh-CN" altLang="en-US" dirty="0" smtClean="0"/>
              <a:t>教学目标、教学内容、教学实践</a:t>
            </a:r>
            <a:endParaRPr lang="zh-CN"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390650"/>
            <a:ext cx="10914063" cy="3790950"/>
          </a:xfrm>
          <a:ln>
            <a:solidFill>
              <a:schemeClr val="accent1"/>
            </a:solidFill>
          </a:ln>
        </p:spPr>
        <p:txBody>
          <a:bodyPr rtlCol="0">
            <a:normAutofit/>
          </a:bodyPr>
          <a:lstStyle/>
          <a:p>
            <a:pPr marL="514350" indent="-514350" eaLnBrk="1" fontAlgn="auto" hangingPunct="1">
              <a:spcAft>
                <a:spcPts val="0"/>
              </a:spcAft>
              <a:buFont typeface="+mj-lt"/>
              <a:buAutoNum type="arabicPeriod"/>
              <a:defRPr/>
            </a:pPr>
            <a:r>
              <a:rPr lang="zh-CN" altLang="zh-CN" sz="3600" dirty="0" smtClean="0"/>
              <a:t>了解</a:t>
            </a:r>
            <a:r>
              <a:rPr lang="en-US" altLang="zh-CN" sz="3600" dirty="0" smtClean="0"/>
              <a:t>IT</a:t>
            </a:r>
            <a:r>
              <a:rPr lang="zh-CN" altLang="en-US" sz="3600" dirty="0" smtClean="0"/>
              <a:t>和</a:t>
            </a:r>
            <a:r>
              <a:rPr lang="en-US" altLang="zh-CN" sz="3600" dirty="0" smtClean="0"/>
              <a:t>BD</a:t>
            </a:r>
            <a:r>
              <a:rPr lang="zh-CN" altLang="zh-CN" sz="3600" dirty="0" smtClean="0"/>
              <a:t>技术</a:t>
            </a:r>
            <a:r>
              <a:rPr lang="zh-CN" altLang="zh-CN" sz="3600" dirty="0"/>
              <a:t>特点及其涉及的</a:t>
            </a:r>
            <a:r>
              <a:rPr lang="zh-CN" altLang="zh-CN" sz="3600" dirty="0">
                <a:solidFill>
                  <a:srgbClr val="FF0000"/>
                </a:solidFill>
              </a:rPr>
              <a:t>伦理冲突</a:t>
            </a:r>
            <a:endParaRPr lang="zh-CN" altLang="zh-CN" sz="3600" dirty="0">
              <a:solidFill>
                <a:srgbClr val="FF0000"/>
              </a:solidFill>
            </a:endParaRPr>
          </a:p>
          <a:p>
            <a:pPr marL="514350" indent="-514350" eaLnBrk="1" fontAlgn="auto" hangingPunct="1">
              <a:spcAft>
                <a:spcPts val="0"/>
              </a:spcAft>
              <a:buFont typeface="+mj-lt"/>
              <a:buAutoNum type="arabicPeriod"/>
              <a:defRPr/>
            </a:pPr>
            <a:r>
              <a:rPr lang="zh-CN" altLang="zh-CN" sz="3600" dirty="0" smtClean="0"/>
              <a:t>掌握</a:t>
            </a:r>
            <a:r>
              <a:rPr lang="en-US" altLang="zh-CN" sz="3600" dirty="0"/>
              <a:t>IT</a:t>
            </a:r>
            <a:r>
              <a:rPr lang="zh-CN" altLang="en-US" sz="3600" dirty="0"/>
              <a:t>和</a:t>
            </a:r>
            <a:r>
              <a:rPr lang="en-US" altLang="zh-CN" sz="3600" dirty="0"/>
              <a:t>BD</a:t>
            </a:r>
            <a:r>
              <a:rPr lang="zh-CN" altLang="zh-CN" sz="3600" dirty="0" smtClean="0"/>
              <a:t>创新</a:t>
            </a:r>
            <a:r>
              <a:rPr lang="zh-CN" altLang="zh-CN" sz="3600" dirty="0"/>
              <a:t>引发的新型伦理问题及需遵循的</a:t>
            </a:r>
            <a:r>
              <a:rPr lang="zh-CN" altLang="zh-CN" sz="3600" dirty="0">
                <a:solidFill>
                  <a:srgbClr val="FF0000"/>
                </a:solidFill>
              </a:rPr>
              <a:t>伦理</a:t>
            </a:r>
            <a:r>
              <a:rPr lang="zh-CN" altLang="zh-CN" sz="3600" dirty="0" smtClean="0">
                <a:solidFill>
                  <a:srgbClr val="FF0000"/>
                </a:solidFill>
              </a:rPr>
              <a:t>原则</a:t>
            </a:r>
            <a:endParaRPr lang="en-US" altLang="zh-CN" sz="3600" dirty="0" smtClean="0">
              <a:solidFill>
                <a:srgbClr val="FF0000"/>
              </a:solidFill>
            </a:endParaRPr>
          </a:p>
          <a:p>
            <a:pPr marL="514350" indent="-514350" eaLnBrk="1" fontAlgn="auto" hangingPunct="1">
              <a:spcAft>
                <a:spcPts val="0"/>
              </a:spcAft>
              <a:buFont typeface="+mj-lt"/>
              <a:buAutoNum type="arabicPeriod"/>
              <a:defRPr/>
            </a:pPr>
            <a:r>
              <a:rPr lang="zh-CN" altLang="zh-CN" sz="3600" dirty="0" smtClean="0"/>
              <a:t>认识</a:t>
            </a:r>
            <a:r>
              <a:rPr lang="en-US" altLang="zh-CN" sz="3600" dirty="0"/>
              <a:t>IT</a:t>
            </a:r>
            <a:r>
              <a:rPr lang="zh-CN" altLang="en-US" sz="3600" dirty="0"/>
              <a:t>和</a:t>
            </a:r>
            <a:r>
              <a:rPr lang="en-US" altLang="zh-CN" sz="3600" dirty="0" smtClean="0"/>
              <a:t>BD</a:t>
            </a:r>
            <a:r>
              <a:rPr lang="zh-CN" altLang="zh-CN" sz="3600" dirty="0" smtClean="0"/>
              <a:t>创新</a:t>
            </a:r>
            <a:r>
              <a:rPr lang="zh-CN" altLang="zh-CN" sz="3600" dirty="0"/>
              <a:t>科技人员的</a:t>
            </a:r>
            <a:r>
              <a:rPr lang="zh-CN" altLang="zh-CN" sz="3600" dirty="0">
                <a:solidFill>
                  <a:srgbClr val="FF0000"/>
                </a:solidFill>
              </a:rPr>
              <a:t>伦理责任</a:t>
            </a:r>
            <a:r>
              <a:rPr lang="zh-CN" altLang="zh-CN" sz="3600" dirty="0"/>
              <a:t>及</a:t>
            </a:r>
            <a:r>
              <a:rPr lang="zh-CN" altLang="zh-CN" sz="3600" dirty="0">
                <a:solidFill>
                  <a:srgbClr val="FF0000"/>
                </a:solidFill>
              </a:rPr>
              <a:t>行为规范</a:t>
            </a:r>
            <a:endParaRPr lang="zh-CN" altLang="zh-CN" sz="3600" dirty="0">
              <a:solidFill>
                <a:srgbClr val="FF0000"/>
              </a:solidFill>
            </a:endParaRPr>
          </a:p>
          <a:p>
            <a:pPr marL="0" indent="0" eaLnBrk="1" fontAlgn="auto" hangingPunct="1">
              <a:spcAft>
                <a:spcPts val="0"/>
              </a:spcAft>
              <a:buFont typeface="Arial" panose="020B0604020202020204" pitchFamily="34" charset="0"/>
              <a:buNone/>
              <a:defRPr/>
            </a:pPr>
            <a:endParaRPr lang="en-US" altLang="zh-CN" sz="3600" dirty="0" smtClean="0"/>
          </a:p>
        </p:txBody>
      </p:sp>
      <p:sp>
        <p:nvSpPr>
          <p:cNvPr id="6" name="标题 1"/>
          <p:cNvSpPr txBox="1"/>
          <p:nvPr/>
        </p:nvSpPr>
        <p:spPr bwMode="auto">
          <a:xfrm>
            <a:off x="597526" y="213292"/>
            <a:ext cx="10925361" cy="936104"/>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一  教学目标</a:t>
            </a:r>
            <a:endParaRPr lang="en-US" altLang="zh-CN" sz="3600" dirty="0">
              <a:solidFill>
                <a:schemeClr val="bg1"/>
              </a:solidFill>
            </a:endParaRPr>
          </a:p>
        </p:txBody>
      </p:sp>
      <p:sp>
        <p:nvSpPr>
          <p:cNvPr id="33798" name="灯片编号占位符 6"/>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9B6CA5AE-E200-4C60-9605-C55240D11EB9}" type="slidenum">
              <a:rPr lang="zh-CN" altLang="en-US">
                <a:solidFill>
                  <a:srgbClr val="898989"/>
                </a:solidFill>
              </a:rPr>
            </a:fld>
            <a:endParaRPr lang="en-US" altLang="zh-CN">
              <a:solidFill>
                <a:srgbClr val="898989"/>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bwMode="auto">
          <a:xfrm>
            <a:off x="597526" y="213292"/>
            <a:ext cx="10925361" cy="936104"/>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二  教学内容</a:t>
            </a:r>
            <a:endParaRPr lang="en-US" altLang="zh-CN" sz="3600" dirty="0">
              <a:solidFill>
                <a:schemeClr val="bg1"/>
              </a:solidFill>
            </a:endParaRPr>
          </a:p>
        </p:txBody>
      </p:sp>
      <p:sp>
        <p:nvSpPr>
          <p:cNvPr id="34821" name="灯片编号占位符 6"/>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C516466B-9FA2-4FB5-8361-76323141DDAA}" type="slidenum">
              <a:rPr lang="zh-CN" altLang="en-US">
                <a:solidFill>
                  <a:srgbClr val="898989"/>
                </a:solidFill>
              </a:rPr>
            </a:fld>
            <a:endParaRPr lang="en-US" altLang="zh-CN">
              <a:solidFill>
                <a:srgbClr val="898989"/>
              </a:solidFill>
            </a:endParaRPr>
          </a:p>
        </p:txBody>
      </p:sp>
      <p:sp>
        <p:nvSpPr>
          <p:cNvPr id="8" name="内容占位符 2"/>
          <p:cNvSpPr>
            <a:spLocks noGrp="1"/>
          </p:cNvSpPr>
          <p:nvPr>
            <p:ph idx="1"/>
          </p:nvPr>
        </p:nvSpPr>
        <p:spPr>
          <a:xfrm>
            <a:off x="609600" y="1492250"/>
            <a:ext cx="10972800" cy="4633913"/>
          </a:xfrm>
          <a:ln>
            <a:solidFill>
              <a:schemeClr val="accent1">
                <a:shade val="50000"/>
              </a:schemeClr>
            </a:solidFill>
          </a:ln>
        </p:spPr>
        <p:txBody>
          <a:bodyPr rtlCol="0">
            <a:normAutofit/>
          </a:bodyPr>
          <a:lstStyle/>
          <a:p>
            <a:pPr marL="571500" indent="-571500" eaLnBrk="1" fontAlgn="auto" hangingPunct="1">
              <a:spcAft>
                <a:spcPts val="0"/>
              </a:spcAft>
              <a:buFont typeface="+mj-lt"/>
              <a:buAutoNum type="arabicPeriod"/>
              <a:defRPr/>
            </a:pPr>
            <a:r>
              <a:rPr lang="en-US" altLang="zh-CN" dirty="0"/>
              <a:t>IT</a:t>
            </a:r>
            <a:r>
              <a:rPr lang="zh-CN" altLang="en-US" dirty="0"/>
              <a:t>和</a:t>
            </a:r>
            <a:r>
              <a:rPr lang="en-US" altLang="zh-CN" dirty="0"/>
              <a:t>BD</a:t>
            </a:r>
            <a:r>
              <a:rPr lang="zh-CN" altLang="zh-CN" dirty="0" smtClean="0"/>
              <a:t>的社会影响</a:t>
            </a:r>
            <a:endParaRPr lang="en-US" altLang="zh-CN" dirty="0" smtClean="0"/>
          </a:p>
          <a:p>
            <a:pPr marL="571500" indent="-571500" eaLnBrk="1" fontAlgn="auto" hangingPunct="1">
              <a:spcAft>
                <a:spcPts val="0"/>
              </a:spcAft>
              <a:buFont typeface="+mj-ea"/>
              <a:buAutoNum type="arabicPeriod"/>
              <a:defRPr/>
            </a:pPr>
            <a:r>
              <a:rPr lang="en-US" altLang="zh-CN" dirty="0"/>
              <a:t>IT</a:t>
            </a:r>
            <a:r>
              <a:rPr lang="zh-CN" altLang="en-US" dirty="0"/>
              <a:t>和</a:t>
            </a:r>
            <a:r>
              <a:rPr lang="en-US" altLang="zh-CN" dirty="0"/>
              <a:t>BD</a:t>
            </a:r>
            <a:r>
              <a:rPr lang="zh-CN" altLang="zh-CN" dirty="0" smtClean="0"/>
              <a:t>伦理</a:t>
            </a:r>
            <a:r>
              <a:rPr lang="zh-CN" altLang="en-US" dirty="0"/>
              <a:t>新</a:t>
            </a:r>
            <a:r>
              <a:rPr lang="zh-CN" altLang="zh-CN" dirty="0" smtClean="0"/>
              <a:t>问题</a:t>
            </a:r>
            <a:endParaRPr lang="en-US" altLang="zh-CN" dirty="0"/>
          </a:p>
          <a:p>
            <a:pPr marL="571500" indent="-571500" eaLnBrk="1" fontAlgn="auto" hangingPunct="1">
              <a:spcAft>
                <a:spcPts val="0"/>
              </a:spcAft>
              <a:buFont typeface="+mj-ea"/>
              <a:buAutoNum type="arabicPeriod"/>
              <a:defRPr/>
            </a:pPr>
            <a:r>
              <a:rPr lang="en-US" altLang="zh-CN" dirty="0" smtClean="0"/>
              <a:t>IT</a:t>
            </a:r>
            <a:r>
              <a:rPr lang="zh-CN" altLang="en-US" dirty="0"/>
              <a:t>和</a:t>
            </a:r>
            <a:r>
              <a:rPr lang="en-US" altLang="zh-CN" dirty="0"/>
              <a:t>BD</a:t>
            </a:r>
            <a:r>
              <a:rPr lang="zh-CN" altLang="en-US" dirty="0" smtClean="0"/>
              <a:t>创新</a:t>
            </a:r>
            <a:r>
              <a:rPr lang="zh-CN" altLang="en-US" dirty="0"/>
              <a:t>科技人员的伦理</a:t>
            </a:r>
            <a:r>
              <a:rPr lang="zh-CN" altLang="en-US" dirty="0" smtClean="0"/>
              <a:t>责任</a:t>
            </a:r>
            <a:endParaRPr lang="en-US" altLang="zh-CN" dirty="0" smtClean="0"/>
          </a:p>
          <a:p>
            <a:pPr eaLnBrk="1" fontAlgn="auto" hangingPunct="1">
              <a:spcAft>
                <a:spcPts val="0"/>
              </a:spcAft>
              <a:buFont typeface="Arial" panose="020B0604020202020204" pitchFamily="34" charset="0"/>
              <a:buChar char="•"/>
              <a:defRPr/>
            </a:pPr>
            <a:endParaRPr lang="zh-CN"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23900" y="1314450"/>
            <a:ext cx="10799763" cy="5041900"/>
          </a:xfrm>
          <a:ln>
            <a:solidFill>
              <a:schemeClr val="accent1">
                <a:shade val="50000"/>
              </a:schemeClr>
            </a:solidFill>
          </a:ln>
        </p:spPr>
        <p:txBody>
          <a:bodyPr rtlCol="0">
            <a:noAutofit/>
          </a:bodyPr>
          <a:lstStyle/>
          <a:p>
            <a:pPr eaLnBrk="1" fontAlgn="auto" hangingPunct="1">
              <a:lnSpc>
                <a:spcPct val="120000"/>
              </a:lnSpc>
              <a:spcAft>
                <a:spcPts val="0"/>
              </a:spcAft>
              <a:buFont typeface="Arial" panose="020B0604020202020204" pitchFamily="34" charset="0"/>
              <a:buChar char="•"/>
              <a:defRPr/>
            </a:pPr>
            <a:r>
              <a:rPr lang="zh-CN" altLang="zh-CN" sz="1600" dirty="0">
                <a:solidFill>
                  <a:srgbClr val="FF0000"/>
                </a:solidFill>
              </a:rPr>
              <a:t>电气化</a:t>
            </a:r>
            <a:r>
              <a:rPr lang="zh-CN" altLang="en-US" sz="1600" dirty="0">
                <a:solidFill>
                  <a:srgbClr val="FF0000"/>
                </a:solidFill>
              </a:rPr>
              <a:t>：</a:t>
            </a:r>
            <a:r>
              <a:rPr lang="en-US" altLang="zh-CN" sz="1600" dirty="0"/>
              <a:t>1903</a:t>
            </a:r>
            <a:r>
              <a:rPr lang="zh-CN" altLang="zh-CN" sz="1600" dirty="0" smtClean="0"/>
              <a:t>年蒸汽</a:t>
            </a:r>
            <a:r>
              <a:rPr lang="zh-CN" altLang="zh-CN" sz="1600" dirty="0"/>
              <a:t>涡轮发电机；</a:t>
            </a:r>
            <a:r>
              <a:rPr lang="en-US" altLang="zh-CN" sz="1600" dirty="0"/>
              <a:t>1927</a:t>
            </a:r>
            <a:r>
              <a:rPr lang="zh-CN" altLang="zh-CN" sz="1600" dirty="0"/>
              <a:t>年铺设传输高电压线；</a:t>
            </a:r>
            <a:r>
              <a:rPr lang="en-US" altLang="zh-CN" sz="1600" dirty="0"/>
              <a:t>1932</a:t>
            </a:r>
            <a:r>
              <a:rPr lang="zh-CN" altLang="zh-CN" sz="1600" dirty="0" smtClean="0"/>
              <a:t>年建胡</a:t>
            </a:r>
            <a:r>
              <a:rPr lang="zh-CN" altLang="zh-CN" sz="1600" dirty="0"/>
              <a:t>佛大坝；</a:t>
            </a:r>
            <a:r>
              <a:rPr lang="en-US" altLang="zh-CN" sz="1600" dirty="0"/>
              <a:t>40</a:t>
            </a:r>
            <a:r>
              <a:rPr lang="zh-CN" altLang="zh-CN" sz="1600" dirty="0"/>
              <a:t>年代中期</a:t>
            </a:r>
            <a:r>
              <a:rPr lang="zh-CN" altLang="en-US" sz="1600" dirty="0"/>
              <a:t>美</a:t>
            </a:r>
            <a:r>
              <a:rPr lang="zh-CN" altLang="zh-CN" sz="1600" dirty="0"/>
              <a:t>国电网基本形成</a:t>
            </a:r>
            <a:endParaRPr lang="zh-CN" altLang="zh-CN" sz="1600" dirty="0"/>
          </a:p>
          <a:p>
            <a:pPr eaLnBrk="1" fontAlgn="auto" hangingPunct="1">
              <a:lnSpc>
                <a:spcPct val="120000"/>
              </a:lnSpc>
              <a:spcAft>
                <a:spcPts val="0"/>
              </a:spcAft>
              <a:buFont typeface="Arial" panose="020B0604020202020204" pitchFamily="34" charset="0"/>
              <a:buChar char="•"/>
              <a:defRPr/>
            </a:pPr>
            <a:r>
              <a:rPr lang="zh-CN" altLang="zh-CN" sz="1600" dirty="0">
                <a:solidFill>
                  <a:srgbClr val="FF0000"/>
                </a:solidFill>
              </a:rPr>
              <a:t>电话</a:t>
            </a:r>
            <a:r>
              <a:rPr lang="zh-CN" altLang="en-US" sz="1600" dirty="0">
                <a:solidFill>
                  <a:srgbClr val="FF0000"/>
                </a:solidFill>
              </a:rPr>
              <a:t>：</a:t>
            </a:r>
            <a:r>
              <a:rPr lang="en-US" altLang="zh-CN" sz="1600" dirty="0"/>
              <a:t>1900</a:t>
            </a:r>
            <a:r>
              <a:rPr lang="zh-CN" altLang="zh-CN" sz="1600" dirty="0"/>
              <a:t>年</a:t>
            </a:r>
            <a:r>
              <a:rPr lang="zh-CN" altLang="zh-CN" sz="1600" dirty="0" smtClean="0"/>
              <a:t>纽约电话公司卡尔迪将普宾发明的装配</a:t>
            </a:r>
            <a:r>
              <a:rPr lang="zh-CN" altLang="zh-CN" sz="1600" dirty="0"/>
              <a:t>载荷线圈成功用于扩大电话传输范围且减少交叉通话干扰；</a:t>
            </a:r>
            <a:r>
              <a:rPr lang="en-US" altLang="zh-CN" sz="1600" dirty="0"/>
              <a:t>1914</a:t>
            </a:r>
            <a:r>
              <a:rPr lang="zh-CN" altLang="zh-CN" sz="1600" dirty="0"/>
              <a:t>年地下电缆连接波士顿、纽约与华盛顿，进而发展成电子交换、环球通话</a:t>
            </a:r>
            <a:endParaRPr lang="zh-CN" altLang="zh-CN" sz="1600" dirty="0"/>
          </a:p>
          <a:p>
            <a:pPr eaLnBrk="1" fontAlgn="auto" hangingPunct="1">
              <a:lnSpc>
                <a:spcPct val="120000"/>
              </a:lnSpc>
              <a:spcAft>
                <a:spcPts val="0"/>
              </a:spcAft>
              <a:buFont typeface="Arial" panose="020B0604020202020204" pitchFamily="34" charset="0"/>
              <a:buChar char="•"/>
              <a:defRPr/>
            </a:pPr>
            <a:r>
              <a:rPr lang="zh-CN" altLang="zh-CN" sz="1600" dirty="0">
                <a:solidFill>
                  <a:srgbClr val="FF0000"/>
                </a:solidFill>
              </a:rPr>
              <a:t>广播电视</a:t>
            </a:r>
            <a:r>
              <a:rPr lang="zh-CN" altLang="en-US" sz="1600" dirty="0"/>
              <a:t>：</a:t>
            </a:r>
            <a:r>
              <a:rPr lang="en-US" altLang="zh-CN" sz="1600" dirty="0"/>
              <a:t>1901</a:t>
            </a:r>
            <a:r>
              <a:rPr lang="zh-CN" altLang="zh-CN" sz="1600" dirty="0" smtClean="0"/>
              <a:t>年马可尼用</a:t>
            </a:r>
            <a:r>
              <a:rPr lang="zh-CN" altLang="zh-CN" sz="1600" dirty="0"/>
              <a:t>莫尔斯码向</a:t>
            </a:r>
            <a:r>
              <a:rPr lang="en-US" altLang="zh-CN" sz="1600" dirty="0"/>
              <a:t>2000</a:t>
            </a:r>
            <a:r>
              <a:rPr lang="zh-CN" altLang="zh-CN" sz="1600" dirty="0"/>
              <a:t>英里外发送无线电报；</a:t>
            </a:r>
            <a:r>
              <a:rPr lang="en-US" altLang="zh-CN" sz="1600" dirty="0"/>
              <a:t>1912</a:t>
            </a:r>
            <a:r>
              <a:rPr lang="zh-CN" altLang="zh-CN" sz="1600" dirty="0"/>
              <a:t>年阿姆斯特朗研制出第一台调幅无线电收音机；</a:t>
            </a:r>
            <a:r>
              <a:rPr lang="en-US" altLang="zh-CN" sz="1600" dirty="0"/>
              <a:t>1925</a:t>
            </a:r>
            <a:r>
              <a:rPr lang="zh-CN" altLang="zh-CN" sz="1600" dirty="0"/>
              <a:t>年拜尔德成功地传送了一个可识别图像，广播、电视随后成重要大众传媒</a:t>
            </a:r>
            <a:endParaRPr lang="zh-CN" altLang="zh-CN" sz="1600" dirty="0"/>
          </a:p>
          <a:p>
            <a:pPr eaLnBrk="1" fontAlgn="auto" hangingPunct="1">
              <a:lnSpc>
                <a:spcPct val="120000"/>
              </a:lnSpc>
              <a:spcAft>
                <a:spcPts val="0"/>
              </a:spcAft>
              <a:buFont typeface="Arial" panose="020B0604020202020204" pitchFamily="34" charset="0"/>
              <a:buChar char="•"/>
              <a:defRPr/>
            </a:pPr>
            <a:r>
              <a:rPr lang="zh-CN" altLang="zh-CN" sz="1600" dirty="0">
                <a:solidFill>
                  <a:srgbClr val="FF0000"/>
                </a:solidFill>
              </a:rPr>
              <a:t>电子化</a:t>
            </a:r>
            <a:r>
              <a:rPr lang="zh-CN" altLang="en-US" sz="1600" dirty="0">
                <a:solidFill>
                  <a:srgbClr val="FF0000"/>
                </a:solidFill>
              </a:rPr>
              <a:t>：</a:t>
            </a:r>
            <a:r>
              <a:rPr lang="en-US" altLang="zh-CN" sz="1600" dirty="0"/>
              <a:t>1904</a:t>
            </a:r>
            <a:r>
              <a:rPr lang="zh-CN" altLang="zh-CN" sz="1600" dirty="0"/>
              <a:t>年弗莱明发明真空管和二极管；</a:t>
            </a:r>
            <a:r>
              <a:rPr lang="en-US" altLang="zh-CN" sz="1600" dirty="0"/>
              <a:t>1947</a:t>
            </a:r>
            <a:r>
              <a:rPr lang="zh-CN" altLang="zh-CN" sz="1600" dirty="0"/>
              <a:t>年巴顿、布拉泰因和肖克利发明晶体管；</a:t>
            </a:r>
            <a:r>
              <a:rPr lang="en-US" altLang="zh-CN" sz="1600" dirty="0"/>
              <a:t>1958</a:t>
            </a:r>
            <a:r>
              <a:rPr lang="zh-CN" altLang="zh-CN" sz="1600" dirty="0"/>
              <a:t>年诺伊斯开发出能够可靠制造的小型集成电路，后创办英特尔公司；此后，</a:t>
            </a:r>
            <a:r>
              <a:rPr lang="en-US" altLang="zh-CN" sz="1600" dirty="0"/>
              <a:t>IC</a:t>
            </a:r>
            <a:r>
              <a:rPr lang="zh-CN" altLang="zh-CN" sz="1600" dirty="0"/>
              <a:t>芯片门集成度依照摩尔定律每</a:t>
            </a:r>
            <a:r>
              <a:rPr lang="en-US" altLang="zh-CN" sz="1600" dirty="0"/>
              <a:t>18</a:t>
            </a:r>
            <a:r>
              <a:rPr lang="zh-CN" altLang="zh-CN" sz="1600" dirty="0"/>
              <a:t>个月翻番</a:t>
            </a:r>
            <a:endParaRPr lang="zh-CN" altLang="zh-CN" sz="1600" dirty="0"/>
          </a:p>
          <a:p>
            <a:pPr eaLnBrk="1" fontAlgn="auto" hangingPunct="1">
              <a:lnSpc>
                <a:spcPct val="120000"/>
              </a:lnSpc>
              <a:spcAft>
                <a:spcPts val="0"/>
              </a:spcAft>
              <a:buFont typeface="Arial" panose="020B0604020202020204" pitchFamily="34" charset="0"/>
              <a:buChar char="•"/>
              <a:defRPr/>
            </a:pPr>
            <a:r>
              <a:rPr lang="zh-CN" altLang="zh-CN" sz="1600" dirty="0">
                <a:solidFill>
                  <a:srgbClr val="FF0000"/>
                </a:solidFill>
              </a:rPr>
              <a:t>计算机</a:t>
            </a:r>
            <a:r>
              <a:rPr lang="zh-CN" altLang="en-US" sz="1600" dirty="0">
                <a:solidFill>
                  <a:srgbClr val="FF0000"/>
                </a:solidFill>
              </a:rPr>
              <a:t>：</a:t>
            </a:r>
            <a:r>
              <a:rPr lang="en-US" altLang="zh-CN" sz="1600" dirty="0"/>
              <a:t>1939</a:t>
            </a:r>
            <a:r>
              <a:rPr lang="zh-CN" altLang="zh-CN" sz="1600" dirty="0"/>
              <a:t>年阿塔纳索夫和拜利在衣阿华大学发明第一台计算机；</a:t>
            </a:r>
            <a:r>
              <a:rPr lang="en-US" altLang="zh-CN" sz="1600" dirty="0"/>
              <a:t>1945</a:t>
            </a:r>
            <a:r>
              <a:rPr lang="zh-CN" altLang="zh-CN" sz="1600" dirty="0"/>
              <a:t>年图灵发表论文阐述现代计算机原理，冯·诺依曼独立地写出描述存储程序的计算机文件，两人共同奠定了计算机工业基础；</a:t>
            </a:r>
            <a:r>
              <a:rPr lang="en-US" altLang="zh-CN" sz="1600" dirty="0"/>
              <a:t>1946</a:t>
            </a:r>
            <a:r>
              <a:rPr lang="zh-CN" altLang="zh-CN" sz="1600" dirty="0"/>
              <a:t>年第一台电子数字计算机</a:t>
            </a:r>
            <a:r>
              <a:rPr lang="en-US" altLang="zh-CN" sz="1600" dirty="0"/>
              <a:t>ENIAC</a:t>
            </a:r>
            <a:r>
              <a:rPr lang="zh-CN" altLang="zh-CN" sz="1600" dirty="0"/>
              <a:t>在宾夕法尼亚大学诞生；</a:t>
            </a:r>
            <a:r>
              <a:rPr lang="en-US" altLang="zh-CN" sz="1600" dirty="0"/>
              <a:t>1975</a:t>
            </a:r>
            <a:r>
              <a:rPr lang="zh-CN" altLang="zh-CN" sz="1600" dirty="0"/>
              <a:t>年盖茨和艾伦创建微软公司；此后</a:t>
            </a:r>
            <a:r>
              <a:rPr lang="en-US" altLang="zh-CN" sz="1600" dirty="0"/>
              <a:t>30</a:t>
            </a:r>
            <a:r>
              <a:rPr lang="zh-CN" altLang="zh-CN" sz="1600" dirty="0"/>
              <a:t>多年里，</a:t>
            </a:r>
            <a:r>
              <a:rPr lang="en-US" altLang="zh-CN" sz="1600" dirty="0"/>
              <a:t>Wintel</a:t>
            </a:r>
            <a:r>
              <a:rPr lang="zh-CN" altLang="zh-CN" sz="1600" dirty="0"/>
              <a:t>架构统领个人计算机时代，直到</a:t>
            </a:r>
            <a:r>
              <a:rPr lang="en-US" altLang="zh-CN" sz="1600" dirty="0"/>
              <a:t>2007</a:t>
            </a:r>
            <a:r>
              <a:rPr lang="zh-CN" altLang="zh-CN" sz="1600" dirty="0"/>
              <a:t>年乔布斯推出苹果手机</a:t>
            </a:r>
            <a:r>
              <a:rPr lang="en-US" altLang="zh-CN" sz="1600" dirty="0" err="1"/>
              <a:t>iphone</a:t>
            </a:r>
            <a:r>
              <a:rPr lang="zh-CN" altLang="zh-CN" sz="1600" dirty="0"/>
              <a:t>，开创智能手机和移动互联应用新时期</a:t>
            </a:r>
            <a:endParaRPr lang="en-US" altLang="zh-CN" sz="1600" dirty="0"/>
          </a:p>
          <a:p>
            <a:pPr eaLnBrk="1" fontAlgn="auto" hangingPunct="1">
              <a:lnSpc>
                <a:spcPct val="120000"/>
              </a:lnSpc>
              <a:spcAft>
                <a:spcPts val="0"/>
              </a:spcAft>
              <a:buFont typeface="Arial" panose="020B0604020202020204" pitchFamily="34" charset="0"/>
              <a:buChar char="•"/>
              <a:defRPr/>
            </a:pPr>
            <a:r>
              <a:rPr lang="zh-CN" altLang="zh-CN" sz="1600" dirty="0">
                <a:solidFill>
                  <a:srgbClr val="FF0000"/>
                </a:solidFill>
              </a:rPr>
              <a:t>互联网</a:t>
            </a:r>
            <a:r>
              <a:rPr lang="zh-CN" altLang="en-US" sz="1600" dirty="0">
                <a:solidFill>
                  <a:srgbClr val="FF0000"/>
                </a:solidFill>
              </a:rPr>
              <a:t>：</a:t>
            </a:r>
            <a:r>
              <a:rPr lang="en-US" altLang="zh-CN" sz="1600" dirty="0"/>
              <a:t>1969</a:t>
            </a:r>
            <a:r>
              <a:rPr lang="zh-CN" altLang="zh-CN" sz="1600" dirty="0"/>
              <a:t>年美国军方研制的</a:t>
            </a:r>
            <a:r>
              <a:rPr lang="en-US" altLang="zh-CN" sz="1600" dirty="0"/>
              <a:t>ARPANET</a:t>
            </a:r>
            <a:r>
              <a:rPr lang="zh-CN" altLang="zh-CN" sz="1600" dirty="0"/>
              <a:t>公诸与众；</a:t>
            </a:r>
            <a:r>
              <a:rPr lang="en-US" altLang="zh-CN" sz="1600" dirty="0"/>
              <a:t>1972</a:t>
            </a:r>
            <a:r>
              <a:rPr lang="zh-CN" altLang="zh-CN" sz="1600" dirty="0"/>
              <a:t>年汤姆林森推出电子邮件；</a:t>
            </a:r>
            <a:r>
              <a:rPr lang="en-US" altLang="zh-CN" sz="1600" dirty="0"/>
              <a:t>1991</a:t>
            </a:r>
            <a:r>
              <a:rPr lang="zh-CN" altLang="zh-CN" sz="1600" dirty="0"/>
              <a:t>年荷兰的迪姆·伯奈斯</a:t>
            </a:r>
            <a:r>
              <a:rPr lang="en-US" altLang="zh-CN" sz="1600" dirty="0"/>
              <a:t>-</a:t>
            </a:r>
            <a:r>
              <a:rPr lang="zh-CN" altLang="zh-CN" sz="1600" dirty="0"/>
              <a:t>李发明万维网</a:t>
            </a:r>
            <a:r>
              <a:rPr lang="en-US" altLang="zh-CN" sz="1600" dirty="0"/>
              <a:t>(World Wide Web)</a:t>
            </a:r>
            <a:r>
              <a:rPr lang="zh-CN" altLang="zh-CN" sz="1600" dirty="0"/>
              <a:t>，从此，信息互通，地球成村，应用创新，势头正盛——雅</a:t>
            </a:r>
            <a:r>
              <a:rPr lang="zh-CN" altLang="zh-CN" sz="1600" dirty="0" smtClean="0"/>
              <a:t>虎</a:t>
            </a:r>
            <a:r>
              <a:rPr lang="zh-CN" altLang="en-US" sz="1600" dirty="0" smtClean="0"/>
              <a:t>（门户）</a:t>
            </a:r>
            <a:r>
              <a:rPr lang="zh-CN" altLang="zh-CN" sz="1600" dirty="0" smtClean="0"/>
              <a:t>、谷歌</a:t>
            </a:r>
            <a:r>
              <a:rPr lang="zh-CN" altLang="en-US" sz="1600" dirty="0" smtClean="0"/>
              <a:t>（搜索）</a:t>
            </a:r>
            <a:r>
              <a:rPr lang="zh-CN" altLang="zh-CN" sz="1600" dirty="0" smtClean="0"/>
              <a:t>、易贝</a:t>
            </a:r>
            <a:r>
              <a:rPr lang="zh-CN" altLang="en-US" sz="1600" dirty="0" smtClean="0"/>
              <a:t>（电商）</a:t>
            </a:r>
            <a:r>
              <a:rPr lang="zh-CN" altLang="zh-CN" sz="1600" dirty="0" smtClean="0"/>
              <a:t>、</a:t>
            </a:r>
            <a:r>
              <a:rPr lang="zh-CN" altLang="zh-CN" sz="1600" dirty="0"/>
              <a:t>推</a:t>
            </a:r>
            <a:r>
              <a:rPr lang="zh-CN" altLang="zh-CN" sz="1600" dirty="0" smtClean="0"/>
              <a:t>特</a:t>
            </a:r>
            <a:r>
              <a:rPr lang="zh-CN" altLang="en-US" sz="1600" dirty="0" smtClean="0"/>
              <a:t>（社交）</a:t>
            </a:r>
            <a:r>
              <a:rPr lang="zh-CN" altLang="zh-CN" sz="1600" dirty="0" smtClean="0"/>
              <a:t>、</a:t>
            </a:r>
            <a:r>
              <a:rPr lang="zh-CN" altLang="zh-CN" sz="1600" dirty="0"/>
              <a:t>脸</a:t>
            </a:r>
            <a:r>
              <a:rPr lang="zh-CN" altLang="zh-CN" sz="1600" dirty="0" smtClean="0"/>
              <a:t>书</a:t>
            </a:r>
            <a:r>
              <a:rPr lang="zh-CN" altLang="en-US" sz="1600" dirty="0" smtClean="0"/>
              <a:t>（社交）</a:t>
            </a:r>
            <a:r>
              <a:rPr lang="zh-CN" altLang="zh-CN" sz="1600" dirty="0" smtClean="0"/>
              <a:t>、</a:t>
            </a:r>
            <a:r>
              <a:rPr lang="zh-CN" altLang="zh-CN" sz="1600" dirty="0"/>
              <a:t>优</a:t>
            </a:r>
            <a:r>
              <a:rPr lang="zh-CN" altLang="zh-CN" sz="1600" dirty="0" smtClean="0"/>
              <a:t>步</a:t>
            </a:r>
            <a:r>
              <a:rPr lang="zh-CN" altLang="en-US" sz="1600" dirty="0" smtClean="0"/>
              <a:t>（交通）</a:t>
            </a:r>
            <a:r>
              <a:rPr lang="en-US" altLang="zh-CN" sz="1600" dirty="0" smtClean="0"/>
              <a:t>……</a:t>
            </a:r>
            <a:r>
              <a:rPr lang="zh-CN" altLang="en-US" sz="1600" dirty="0" smtClean="0"/>
              <a:t>以及基于中国的阿里、百度、腾讯为代表的互联网企业。</a:t>
            </a:r>
            <a:endParaRPr lang="en-US" altLang="zh-CN" sz="1600" dirty="0" smtClean="0"/>
          </a:p>
          <a:p>
            <a:pPr eaLnBrk="1" fontAlgn="auto" hangingPunct="1">
              <a:lnSpc>
                <a:spcPct val="120000"/>
              </a:lnSpc>
              <a:spcAft>
                <a:spcPts val="0"/>
              </a:spcAft>
              <a:buFont typeface="Arial" panose="020B0604020202020204" pitchFamily="34" charset="0"/>
              <a:buChar char="•"/>
              <a:defRPr/>
            </a:pPr>
            <a:r>
              <a:rPr lang="zh-CN" altLang="en-US" sz="1600" dirty="0">
                <a:solidFill>
                  <a:srgbClr val="FF0000"/>
                </a:solidFill>
              </a:rPr>
              <a:t>人工智能</a:t>
            </a:r>
            <a:r>
              <a:rPr lang="zh-CN" altLang="en-US" sz="1600" dirty="0"/>
              <a:t>：</a:t>
            </a:r>
            <a:r>
              <a:rPr lang="en-US" altLang="zh-CN" sz="1600" dirty="0" err="1"/>
              <a:t>AlphaGo</a:t>
            </a:r>
            <a:r>
              <a:rPr lang="zh-CN" altLang="en-US" sz="1600" dirty="0"/>
              <a:t>，</a:t>
            </a:r>
            <a:r>
              <a:rPr lang="en-US" altLang="zh-CN" sz="1600" dirty="0"/>
              <a:t>@Master</a:t>
            </a:r>
            <a:endParaRPr lang="zh-CN" altLang="zh-CN" sz="1600" dirty="0"/>
          </a:p>
          <a:p>
            <a:pPr eaLnBrk="1" fontAlgn="auto" hangingPunct="1">
              <a:lnSpc>
                <a:spcPct val="120000"/>
              </a:lnSpc>
              <a:spcAft>
                <a:spcPts val="0"/>
              </a:spcAft>
              <a:buFont typeface="Arial" panose="020B0604020202020204" pitchFamily="34" charset="0"/>
              <a:buChar char="•"/>
              <a:defRPr/>
            </a:pPr>
            <a:endParaRPr lang="zh-CN" altLang="en-US" sz="1600" dirty="0"/>
          </a:p>
        </p:txBody>
      </p:sp>
      <p:sp>
        <p:nvSpPr>
          <p:cNvPr id="5" name="标题 1"/>
          <p:cNvSpPr txBox="1"/>
          <p:nvPr/>
        </p:nvSpPr>
        <p:spPr bwMode="auto">
          <a:xfrm>
            <a:off x="597526" y="213292"/>
            <a:ext cx="10925361" cy="936104"/>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教学内容</a:t>
            </a:r>
            <a:r>
              <a:rPr lang="en-US" altLang="zh-CN" sz="3600" dirty="0" smtClean="0">
                <a:solidFill>
                  <a:schemeClr val="bg1"/>
                </a:solidFill>
              </a:rPr>
              <a:t>1.IT</a:t>
            </a:r>
            <a:r>
              <a:rPr lang="zh-CN" altLang="en-US" sz="3600" dirty="0">
                <a:solidFill>
                  <a:schemeClr val="bg1"/>
                </a:solidFill>
              </a:rPr>
              <a:t>和</a:t>
            </a:r>
            <a:r>
              <a:rPr lang="en-US" altLang="zh-CN" sz="3600" dirty="0">
                <a:solidFill>
                  <a:schemeClr val="bg1"/>
                </a:solidFill>
              </a:rPr>
              <a:t>BD</a:t>
            </a:r>
            <a:r>
              <a:rPr lang="zh-CN" altLang="en-US" sz="3600" dirty="0" smtClean="0">
                <a:solidFill>
                  <a:schemeClr val="bg1"/>
                </a:solidFill>
              </a:rPr>
              <a:t>的社会影响：</a:t>
            </a:r>
            <a:r>
              <a:rPr lang="en-US" altLang="zh-CN" sz="3600" dirty="0" smtClean="0">
                <a:solidFill>
                  <a:schemeClr val="bg1"/>
                </a:solidFill>
              </a:rPr>
              <a:t>IT</a:t>
            </a:r>
            <a:r>
              <a:rPr lang="zh-CN" altLang="en-US" sz="3600" dirty="0" smtClean="0">
                <a:solidFill>
                  <a:schemeClr val="bg1"/>
                </a:solidFill>
              </a:rPr>
              <a:t>发展历史</a:t>
            </a:r>
            <a:endParaRPr lang="en-US" altLang="zh-CN" sz="3600" dirty="0" smtClean="0">
              <a:solidFill>
                <a:schemeClr val="bg1"/>
              </a:solidFill>
            </a:endParaRPr>
          </a:p>
        </p:txBody>
      </p:sp>
      <p:sp>
        <p:nvSpPr>
          <p:cNvPr id="8" name="灯片编号占位符 7"/>
          <p:cNvSpPr>
            <a:spLocks noGrp="1"/>
          </p:cNvSpPr>
          <p:nvPr>
            <p:ph type="sldNum" sz="quarter" idx="12"/>
          </p:nvPr>
        </p:nvSpPr>
        <p:spPr/>
        <p:txBody>
          <a:bodyPr/>
          <a:lstStyle/>
          <a:p>
            <a:pPr>
              <a:defRPr/>
            </a:pPr>
            <a:fld id="{8C278EDA-C905-43BE-BCE5-8FEA3523D282}" type="slidenum">
              <a:rPr lang="zh-CN" altLang="en-US"/>
            </a:fld>
            <a:endParaRPr lang="zh-CN" altLang="en-US"/>
          </a:p>
        </p:txBody>
      </p:sp>
      <p:sp>
        <p:nvSpPr>
          <p:cNvPr id="9" name="爆炸形 1 8"/>
          <p:cNvSpPr/>
          <p:nvPr/>
        </p:nvSpPr>
        <p:spPr>
          <a:xfrm>
            <a:off x="1035050" y="1895475"/>
            <a:ext cx="10363200" cy="371475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sz="3200" dirty="0">
                <a:solidFill>
                  <a:schemeClr val="bg1"/>
                </a:solidFill>
                <a:latin typeface="黑体" panose="02010609060101010101" pitchFamily="49" charset="-122"/>
                <a:ea typeface="黑体" panose="02010609060101010101" pitchFamily="49" charset="-122"/>
              </a:rPr>
              <a:t>催生了无数现代生活的基础，如：电力、数字化、通信、网络、人工智能！</a:t>
            </a:r>
            <a:endParaRPr lang="zh-CN" altLang="en-US" sz="3200" dirty="0">
              <a:solidFill>
                <a:schemeClr val="bg1"/>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408113"/>
            <a:ext cx="10972800" cy="4919662"/>
          </a:xfrm>
          <a:ln>
            <a:solidFill>
              <a:schemeClr val="accent1"/>
            </a:solidFill>
          </a:ln>
        </p:spPr>
        <p:txBody>
          <a:bodyPr rtlCol="0">
            <a:normAutofit fontScale="62500" lnSpcReduction="20000"/>
          </a:bodyPr>
          <a:lstStyle/>
          <a:p>
            <a:pPr eaLnBrk="1" fontAlgn="auto" hangingPunct="1">
              <a:lnSpc>
                <a:spcPct val="120000"/>
              </a:lnSpc>
              <a:spcBef>
                <a:spcPts val="1200"/>
              </a:spcBef>
              <a:spcAft>
                <a:spcPts val="0"/>
              </a:spcAft>
              <a:buFont typeface="Arial" panose="020B0604020202020204" pitchFamily="34" charset="0"/>
              <a:buChar char="•"/>
              <a:defRPr/>
            </a:pPr>
            <a:r>
              <a:rPr lang="zh-CN" altLang="zh-CN" dirty="0" smtClean="0"/>
              <a:t>连接能力</a:t>
            </a:r>
            <a:r>
              <a:rPr lang="en-US" altLang="zh-CN" dirty="0" smtClean="0"/>
              <a:t>——</a:t>
            </a:r>
            <a:r>
              <a:rPr lang="zh-CN" altLang="en-US" dirty="0" smtClean="0">
                <a:solidFill>
                  <a:srgbClr val="FF0000"/>
                </a:solidFill>
              </a:rPr>
              <a:t>人</a:t>
            </a:r>
            <a:r>
              <a:rPr lang="en-US" altLang="zh-CN" dirty="0" smtClean="0">
                <a:solidFill>
                  <a:srgbClr val="FF0000"/>
                </a:solidFill>
              </a:rPr>
              <a:t>-</a:t>
            </a:r>
            <a:r>
              <a:rPr lang="zh-CN" altLang="en-US" dirty="0" smtClean="0">
                <a:solidFill>
                  <a:srgbClr val="FF0000"/>
                </a:solidFill>
              </a:rPr>
              <a:t>人，人</a:t>
            </a:r>
            <a:r>
              <a:rPr lang="en-US" altLang="zh-CN" dirty="0" smtClean="0">
                <a:solidFill>
                  <a:srgbClr val="FF0000"/>
                </a:solidFill>
              </a:rPr>
              <a:t>-</a:t>
            </a:r>
            <a:r>
              <a:rPr lang="zh-CN" altLang="en-US" dirty="0" smtClean="0">
                <a:solidFill>
                  <a:srgbClr val="FF0000"/>
                </a:solidFill>
              </a:rPr>
              <a:t>熟人，人</a:t>
            </a:r>
            <a:r>
              <a:rPr lang="en-US" altLang="zh-CN" dirty="0" smtClean="0">
                <a:solidFill>
                  <a:srgbClr val="FF0000"/>
                </a:solidFill>
              </a:rPr>
              <a:t>-</a:t>
            </a:r>
            <a:r>
              <a:rPr lang="zh-CN" altLang="en-US" dirty="0" smtClean="0">
                <a:solidFill>
                  <a:srgbClr val="FF0000"/>
                </a:solidFill>
              </a:rPr>
              <a:t>陌生人</a:t>
            </a:r>
            <a:r>
              <a:rPr lang="en-US" altLang="zh-CN" dirty="0" smtClean="0">
                <a:solidFill>
                  <a:srgbClr val="FF0000"/>
                </a:solidFill>
              </a:rPr>
              <a:t>……</a:t>
            </a:r>
            <a:endParaRPr lang="en-US" altLang="zh-CN" dirty="0" smtClean="0">
              <a:solidFill>
                <a:srgbClr val="FF0000"/>
              </a:solidFill>
            </a:endParaRPr>
          </a:p>
          <a:p>
            <a:pPr lvl="1" eaLnBrk="1" fontAlgn="auto" hangingPunct="1">
              <a:lnSpc>
                <a:spcPct val="120000"/>
              </a:lnSpc>
              <a:spcBef>
                <a:spcPts val="1200"/>
              </a:spcBef>
              <a:spcAft>
                <a:spcPts val="0"/>
              </a:spcAft>
              <a:buFont typeface="Arial" panose="020B0604020202020204" pitchFamily="34" charset="0"/>
              <a:buChar char="–"/>
              <a:defRPr/>
            </a:pPr>
            <a:r>
              <a:rPr lang="zh-CN" altLang="zh-CN" dirty="0" smtClean="0"/>
              <a:t>在</a:t>
            </a:r>
            <a:r>
              <a:rPr lang="zh-CN" altLang="zh-CN" dirty="0"/>
              <a:t>无线、有线、局域、广域的通信网络技术和手机、智能终端、计算机、嵌入式设备支持下，人、机、物形成</a:t>
            </a:r>
            <a:r>
              <a:rPr lang="zh-CN" altLang="zh-CN" dirty="0">
                <a:solidFill>
                  <a:srgbClr val="FF0000"/>
                </a:solidFill>
              </a:rPr>
              <a:t>全时空、可追溯、可预测</a:t>
            </a:r>
            <a:r>
              <a:rPr lang="zh-CN" altLang="zh-CN" dirty="0"/>
              <a:t>的互联互通的</a:t>
            </a:r>
            <a:r>
              <a:rPr lang="zh-CN" altLang="zh-CN" dirty="0" smtClean="0"/>
              <a:t>网络</a:t>
            </a:r>
            <a:endParaRPr lang="zh-CN" altLang="zh-CN" dirty="0"/>
          </a:p>
          <a:p>
            <a:pPr eaLnBrk="1" fontAlgn="auto" hangingPunct="1">
              <a:lnSpc>
                <a:spcPct val="120000"/>
              </a:lnSpc>
              <a:spcBef>
                <a:spcPts val="1200"/>
              </a:spcBef>
              <a:spcAft>
                <a:spcPts val="0"/>
              </a:spcAft>
              <a:buFont typeface="Arial" panose="020B0604020202020204" pitchFamily="34" charset="0"/>
              <a:buChar char="•"/>
              <a:defRPr/>
            </a:pPr>
            <a:r>
              <a:rPr lang="zh-CN" altLang="zh-CN" dirty="0"/>
              <a:t>交互</a:t>
            </a:r>
            <a:r>
              <a:rPr lang="zh-CN" altLang="zh-CN" dirty="0" smtClean="0"/>
              <a:t>能力</a:t>
            </a:r>
            <a:r>
              <a:rPr lang="en-US" altLang="zh-CN" dirty="0" smtClean="0"/>
              <a:t>——</a:t>
            </a:r>
            <a:r>
              <a:rPr lang="zh-CN" altLang="en-US" dirty="0" smtClean="0">
                <a:solidFill>
                  <a:srgbClr val="FF0000"/>
                </a:solidFill>
              </a:rPr>
              <a:t>人</a:t>
            </a:r>
            <a:r>
              <a:rPr lang="en-US" altLang="zh-CN" dirty="0" smtClean="0">
                <a:solidFill>
                  <a:srgbClr val="FF0000"/>
                </a:solidFill>
              </a:rPr>
              <a:t>-</a:t>
            </a:r>
            <a:r>
              <a:rPr lang="zh-CN" altLang="en-US" dirty="0" smtClean="0">
                <a:solidFill>
                  <a:srgbClr val="FF0000"/>
                </a:solidFill>
              </a:rPr>
              <a:t>机</a:t>
            </a:r>
            <a:r>
              <a:rPr lang="en-US" altLang="zh-CN" dirty="0" smtClean="0">
                <a:solidFill>
                  <a:srgbClr val="FF0000"/>
                </a:solidFill>
              </a:rPr>
              <a:t>-</a:t>
            </a:r>
            <a:r>
              <a:rPr lang="zh-CN" altLang="en-US" dirty="0" smtClean="0">
                <a:solidFill>
                  <a:srgbClr val="FF0000"/>
                </a:solidFill>
              </a:rPr>
              <a:t>人</a:t>
            </a:r>
            <a:endParaRPr lang="en-US" altLang="zh-CN" dirty="0" smtClean="0">
              <a:solidFill>
                <a:srgbClr val="FF0000"/>
              </a:solidFill>
            </a:endParaRPr>
          </a:p>
          <a:p>
            <a:pPr lvl="1" eaLnBrk="1" fontAlgn="auto" hangingPunct="1">
              <a:lnSpc>
                <a:spcPct val="120000"/>
              </a:lnSpc>
              <a:spcBef>
                <a:spcPts val="1200"/>
              </a:spcBef>
              <a:spcAft>
                <a:spcPts val="0"/>
              </a:spcAft>
              <a:buFont typeface="Arial" panose="020B0604020202020204" pitchFamily="34" charset="0"/>
              <a:buChar char="–"/>
              <a:defRPr/>
            </a:pPr>
            <a:r>
              <a:rPr lang="zh-CN" altLang="zh-CN" dirty="0" smtClean="0"/>
              <a:t>符号</a:t>
            </a:r>
            <a:r>
              <a:rPr lang="zh-CN" altLang="zh-CN" dirty="0"/>
              <a:t>、命令、文字、语音、图像乃至手势、表情，都可以被计算设备感知、识别，人机之间可以更加</a:t>
            </a:r>
            <a:r>
              <a:rPr lang="zh-CN" altLang="zh-CN" dirty="0">
                <a:solidFill>
                  <a:srgbClr val="FF0000"/>
                </a:solidFill>
              </a:rPr>
              <a:t>自然</a:t>
            </a:r>
            <a:r>
              <a:rPr lang="zh-CN" altLang="zh-CN" dirty="0" smtClean="0">
                <a:solidFill>
                  <a:srgbClr val="FF0000"/>
                </a:solidFill>
              </a:rPr>
              <a:t>“对话”</a:t>
            </a:r>
            <a:endParaRPr lang="zh-CN" altLang="zh-CN" dirty="0">
              <a:solidFill>
                <a:srgbClr val="FF0000"/>
              </a:solidFill>
            </a:endParaRPr>
          </a:p>
          <a:p>
            <a:pPr eaLnBrk="1" fontAlgn="auto" hangingPunct="1">
              <a:lnSpc>
                <a:spcPct val="120000"/>
              </a:lnSpc>
              <a:spcBef>
                <a:spcPts val="1200"/>
              </a:spcBef>
              <a:spcAft>
                <a:spcPts val="0"/>
              </a:spcAft>
              <a:buFont typeface="Arial" panose="020B0604020202020204" pitchFamily="34" charset="0"/>
              <a:buChar char="•"/>
              <a:defRPr/>
            </a:pPr>
            <a:r>
              <a:rPr lang="zh-CN" altLang="zh-CN" dirty="0"/>
              <a:t>渗透</a:t>
            </a:r>
            <a:r>
              <a:rPr lang="zh-CN" altLang="zh-CN" dirty="0" smtClean="0"/>
              <a:t>特性</a:t>
            </a:r>
            <a:r>
              <a:rPr lang="en-US" altLang="zh-CN" dirty="0" smtClean="0"/>
              <a:t>——</a:t>
            </a:r>
            <a:r>
              <a:rPr lang="zh-CN" altLang="en-US" dirty="0" smtClean="0">
                <a:solidFill>
                  <a:srgbClr val="FF0000"/>
                </a:solidFill>
              </a:rPr>
              <a:t>人</a:t>
            </a:r>
            <a:r>
              <a:rPr lang="en-US" altLang="zh-CN" dirty="0" smtClean="0">
                <a:solidFill>
                  <a:srgbClr val="FF0000"/>
                </a:solidFill>
              </a:rPr>
              <a:t>-</a:t>
            </a:r>
            <a:r>
              <a:rPr lang="zh-CN" altLang="en-US" dirty="0" smtClean="0">
                <a:solidFill>
                  <a:srgbClr val="FF0000"/>
                </a:solidFill>
              </a:rPr>
              <a:t>少数人</a:t>
            </a:r>
            <a:r>
              <a:rPr lang="en-US" altLang="zh-CN" dirty="0" smtClean="0">
                <a:solidFill>
                  <a:srgbClr val="FF0000"/>
                </a:solidFill>
              </a:rPr>
              <a:t>-</a:t>
            </a:r>
            <a:r>
              <a:rPr lang="zh-CN" altLang="en-US" dirty="0" smtClean="0">
                <a:solidFill>
                  <a:srgbClr val="FF0000"/>
                </a:solidFill>
              </a:rPr>
              <a:t>众人</a:t>
            </a:r>
            <a:r>
              <a:rPr lang="en-US" altLang="zh-CN" dirty="0" smtClean="0">
                <a:solidFill>
                  <a:srgbClr val="FF0000"/>
                </a:solidFill>
              </a:rPr>
              <a:t>-</a:t>
            </a:r>
            <a:r>
              <a:rPr lang="zh-CN" altLang="en-US" dirty="0" smtClean="0">
                <a:solidFill>
                  <a:srgbClr val="FF0000"/>
                </a:solidFill>
              </a:rPr>
              <a:t>全球众人</a:t>
            </a:r>
            <a:endParaRPr lang="en-US" altLang="zh-CN" dirty="0" smtClean="0">
              <a:solidFill>
                <a:srgbClr val="FF0000"/>
              </a:solidFill>
            </a:endParaRPr>
          </a:p>
          <a:p>
            <a:pPr lvl="1" eaLnBrk="1" fontAlgn="auto" hangingPunct="1">
              <a:lnSpc>
                <a:spcPct val="120000"/>
              </a:lnSpc>
              <a:spcBef>
                <a:spcPts val="1200"/>
              </a:spcBef>
              <a:spcAft>
                <a:spcPts val="0"/>
              </a:spcAft>
              <a:buFont typeface="Arial" panose="020B0604020202020204" pitchFamily="34" charset="0"/>
              <a:buChar char="–"/>
              <a:defRPr/>
            </a:pPr>
            <a:r>
              <a:rPr lang="zh-CN" altLang="zh-CN" dirty="0" smtClean="0"/>
              <a:t>家电</a:t>
            </a:r>
            <a:r>
              <a:rPr lang="zh-CN" altLang="zh-CN" dirty="0"/>
              <a:t>可以上网，汽车可以联网，农作物生长态势及销售情况可以经由农业物联网送达农技人员、采购人员和百姓、政府</a:t>
            </a:r>
            <a:r>
              <a:rPr lang="en-US" altLang="zh-CN" dirty="0"/>
              <a:t>……</a:t>
            </a:r>
            <a:r>
              <a:rPr lang="zh-CN" altLang="zh-CN" dirty="0"/>
              <a:t>各种</a:t>
            </a:r>
            <a:r>
              <a:rPr lang="zh-CN" altLang="zh-CN" dirty="0">
                <a:solidFill>
                  <a:srgbClr val="FF0000"/>
                </a:solidFill>
              </a:rPr>
              <a:t>嵌入式设备</a:t>
            </a:r>
            <a:r>
              <a:rPr lang="zh-CN" altLang="zh-CN" dirty="0"/>
              <a:t>被戴在手上、穿进鞋里、藏在筷子里。跨界、颠覆，成为信息科技的重要</a:t>
            </a:r>
            <a:r>
              <a:rPr lang="zh-CN" altLang="zh-CN" dirty="0" smtClean="0"/>
              <a:t>特性</a:t>
            </a:r>
            <a:endParaRPr lang="en-US" altLang="zh-CN" dirty="0" smtClean="0"/>
          </a:p>
          <a:p>
            <a:pPr eaLnBrk="1" fontAlgn="auto" hangingPunct="1">
              <a:lnSpc>
                <a:spcPct val="120000"/>
              </a:lnSpc>
              <a:spcBef>
                <a:spcPts val="1200"/>
              </a:spcBef>
              <a:spcAft>
                <a:spcPts val="0"/>
              </a:spcAft>
              <a:buFont typeface="Arial" panose="020B0604020202020204" pitchFamily="34" charset="0"/>
              <a:buChar char="•"/>
              <a:defRPr/>
            </a:pPr>
            <a:r>
              <a:rPr lang="zh-CN" altLang="zh-CN" dirty="0" smtClean="0"/>
              <a:t>融合能力</a:t>
            </a:r>
            <a:r>
              <a:rPr lang="en-US" altLang="zh-CN" dirty="0" smtClean="0"/>
              <a:t>——</a:t>
            </a:r>
            <a:r>
              <a:rPr lang="zh-CN" altLang="en-US" dirty="0" smtClean="0">
                <a:solidFill>
                  <a:srgbClr val="FF0000"/>
                </a:solidFill>
              </a:rPr>
              <a:t>“用户画像”</a:t>
            </a:r>
            <a:r>
              <a:rPr lang="en-US" altLang="zh-CN" dirty="0" smtClean="0">
                <a:solidFill>
                  <a:srgbClr val="FF0000"/>
                </a:solidFill>
              </a:rPr>
              <a:t>-</a:t>
            </a:r>
            <a:r>
              <a:rPr lang="zh-CN" altLang="en-US" dirty="0" smtClean="0">
                <a:solidFill>
                  <a:srgbClr val="FF0000"/>
                </a:solidFill>
              </a:rPr>
              <a:t>定位真人</a:t>
            </a:r>
            <a:endParaRPr lang="en-US" altLang="zh-CN" dirty="0" smtClean="0">
              <a:solidFill>
                <a:srgbClr val="FF0000"/>
              </a:solidFill>
            </a:endParaRPr>
          </a:p>
          <a:p>
            <a:pPr lvl="1" eaLnBrk="1" fontAlgn="auto" hangingPunct="1">
              <a:lnSpc>
                <a:spcPct val="120000"/>
              </a:lnSpc>
              <a:spcBef>
                <a:spcPts val="1200"/>
              </a:spcBef>
              <a:spcAft>
                <a:spcPts val="0"/>
              </a:spcAft>
              <a:buFont typeface="Arial" panose="020B0604020202020204" pitchFamily="34" charset="0"/>
              <a:buChar char="–"/>
              <a:defRPr/>
            </a:pPr>
            <a:r>
              <a:rPr lang="zh-CN" altLang="zh-CN" dirty="0" smtClean="0"/>
              <a:t>信息</a:t>
            </a:r>
            <a:r>
              <a:rPr lang="zh-CN" altLang="zh-CN" dirty="0"/>
              <a:t>科技以数字化的</a:t>
            </a:r>
            <a:r>
              <a:rPr lang="en-US" altLang="zh-CN" dirty="0"/>
              <a:t>0</a:t>
            </a:r>
            <a:r>
              <a:rPr lang="zh-CN" altLang="zh-CN" dirty="0"/>
              <a:t>和</a:t>
            </a:r>
            <a:r>
              <a:rPr lang="en-US" altLang="zh-CN" dirty="0"/>
              <a:t>1</a:t>
            </a:r>
            <a:r>
              <a:rPr lang="zh-CN" altLang="zh-CN" dirty="0"/>
              <a:t>为基本形式记录、存储、传输、转换各类信息，不同信息可以方便地传输到同一个设备上，进而进行匹配、关联、融合等深度处理，产生</a:t>
            </a:r>
            <a:r>
              <a:rPr lang="zh-CN" altLang="zh-CN" dirty="0">
                <a:solidFill>
                  <a:srgbClr val="FF0000"/>
                </a:solidFill>
              </a:rPr>
              <a:t>新的</a:t>
            </a:r>
            <a:r>
              <a:rPr lang="zh-CN" altLang="zh-CN" dirty="0" smtClean="0">
                <a:solidFill>
                  <a:srgbClr val="FF0000"/>
                </a:solidFill>
              </a:rPr>
              <a:t>使用价值</a:t>
            </a:r>
            <a:endParaRPr lang="zh-CN" altLang="zh-CN" dirty="0">
              <a:solidFill>
                <a:srgbClr val="FF0000"/>
              </a:solidFill>
            </a:endParaRPr>
          </a:p>
        </p:txBody>
      </p:sp>
      <p:sp>
        <p:nvSpPr>
          <p:cNvPr id="36866" name="标题 5"/>
          <p:cNvSpPr>
            <a:spLocks noGrp="1"/>
          </p:cNvSpPr>
          <p:nvPr>
            <p:ph type="title" idx="4294967295"/>
          </p:nvPr>
        </p:nvSpPr>
        <p:spPr bwMode="auto">
          <a:xfrm>
            <a:off x="609600" y="274638"/>
            <a:ext cx="10972800" cy="1143000"/>
          </a:xfrm>
          <a:prstGeom prst="rect">
            <a:avLst/>
          </a:prstGeom>
          <a:noFill/>
          <a:ln>
            <a:miter lim="800000"/>
          </a:ln>
        </p:spPr>
        <p:txBody>
          <a:bodyPr/>
          <a:lstStyle/>
          <a:p>
            <a:pPr eaLnBrk="1" hangingPunct="1"/>
            <a:endParaRPr lang="zh-CN" altLang="en-US" smtClean="0"/>
          </a:p>
        </p:txBody>
      </p:sp>
      <p:sp>
        <p:nvSpPr>
          <p:cNvPr id="7" name="标题 1"/>
          <p:cNvSpPr txBox="1"/>
          <p:nvPr/>
        </p:nvSpPr>
        <p:spPr bwMode="auto">
          <a:xfrm>
            <a:off x="597526" y="213292"/>
            <a:ext cx="10925361" cy="936104"/>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en-US" altLang="zh-CN" sz="3600" dirty="0">
                <a:solidFill>
                  <a:schemeClr val="bg1"/>
                </a:solidFill>
              </a:rPr>
              <a:t>IT</a:t>
            </a:r>
            <a:r>
              <a:rPr lang="zh-CN" altLang="en-US" sz="3600" dirty="0">
                <a:solidFill>
                  <a:schemeClr val="bg1"/>
                </a:solidFill>
              </a:rPr>
              <a:t>和</a:t>
            </a:r>
            <a:r>
              <a:rPr lang="en-US" altLang="zh-CN" sz="3600" dirty="0">
                <a:solidFill>
                  <a:schemeClr val="bg1"/>
                </a:solidFill>
              </a:rPr>
              <a:t>BD</a:t>
            </a:r>
            <a:r>
              <a:rPr lang="zh-CN" altLang="en-US" sz="3600" dirty="0" smtClean="0">
                <a:solidFill>
                  <a:schemeClr val="bg1"/>
                </a:solidFill>
              </a:rPr>
              <a:t>特点：颠覆性</a:t>
            </a:r>
            <a:endParaRPr lang="en-US" altLang="zh-CN" sz="3600" dirty="0" smtClean="0">
              <a:solidFill>
                <a:schemeClr val="bg1"/>
              </a:solidFill>
            </a:endParaRPr>
          </a:p>
        </p:txBody>
      </p:sp>
      <p:sp>
        <p:nvSpPr>
          <p:cNvPr id="36871" name="灯片编号占位符 7"/>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45B7D04F-B83B-495C-BAEF-F939A67321C8}" type="slidenum">
              <a:rPr lang="zh-CN" altLang="en-US">
                <a:solidFill>
                  <a:srgbClr val="898989"/>
                </a:solidFill>
              </a:rPr>
            </a:fld>
            <a:endParaRPr lang="en-US" altLang="zh-CN">
              <a:solidFill>
                <a:srgbClr val="898989"/>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内容占位符 2"/>
          <p:cNvSpPr>
            <a:spLocks noGrp="1"/>
          </p:cNvSpPr>
          <p:nvPr>
            <p:ph idx="1"/>
          </p:nvPr>
        </p:nvSpPr>
        <p:spPr>
          <a:xfrm>
            <a:off x="642938" y="1692275"/>
            <a:ext cx="10925175" cy="4545013"/>
          </a:xfrm>
          <a:ln w="19050">
            <a:solidFill>
              <a:schemeClr val="tx2"/>
            </a:solidFill>
          </a:ln>
        </p:spPr>
        <p:txBody>
          <a:bodyPr/>
          <a:lstStyle/>
          <a:p>
            <a:pPr eaLnBrk="1" hangingPunct="1">
              <a:spcBef>
                <a:spcPts val="1200"/>
              </a:spcBef>
            </a:pPr>
            <a:r>
              <a:rPr lang="zh-CN" altLang="en-US" sz="2400" smtClean="0">
                <a:latin typeface="黑体" panose="02010609060101010101" pitchFamily="49" charset="-122"/>
                <a:ea typeface="黑体" panose="02010609060101010101" pitchFamily="49" charset="-122"/>
              </a:rPr>
              <a:t>信息技术是社会进步的加速器</a:t>
            </a:r>
            <a:endParaRPr lang="en-US" altLang="zh-CN" sz="2400" smtClean="0">
              <a:latin typeface="黑体" panose="02010609060101010101" pitchFamily="49" charset="-122"/>
              <a:ea typeface="黑体" panose="02010609060101010101" pitchFamily="49" charset="-122"/>
            </a:endParaRPr>
          </a:p>
          <a:p>
            <a:pPr lvl="1" eaLnBrk="1" hangingPunct="1">
              <a:spcBef>
                <a:spcPts val="1200"/>
              </a:spcBef>
            </a:pPr>
            <a:r>
              <a:rPr lang="zh-CN" altLang="en-US" sz="2000" smtClean="0">
                <a:latin typeface="黑体" panose="02010609060101010101" pitchFamily="49" charset="-122"/>
                <a:ea typeface="黑体" panose="02010609060101010101" pitchFamily="49" charset="-122"/>
              </a:rPr>
              <a:t>提供新的技术手段、经营业态、思想观念、社会网络，支撑市场经济改革和向现代化的转型</a:t>
            </a:r>
            <a:endParaRPr lang="en-US" altLang="zh-CN" sz="2000" smtClean="0">
              <a:latin typeface="黑体" panose="02010609060101010101" pitchFamily="49" charset="-122"/>
              <a:ea typeface="黑体" panose="02010609060101010101" pitchFamily="49" charset="-122"/>
            </a:endParaRPr>
          </a:p>
          <a:p>
            <a:pPr eaLnBrk="1" hangingPunct="1">
              <a:spcBef>
                <a:spcPts val="1200"/>
              </a:spcBef>
            </a:pPr>
            <a:r>
              <a:rPr lang="zh-CN" altLang="en-US" sz="2400" smtClean="0">
                <a:latin typeface="黑体" panose="02010609060101010101" pitchFamily="49" charset="-122"/>
                <a:ea typeface="黑体" panose="02010609060101010101" pitchFamily="49" charset="-122"/>
              </a:rPr>
              <a:t>信息技术创造社会生活新方式</a:t>
            </a:r>
            <a:endParaRPr lang="en-US" altLang="zh-CN" sz="2400" smtClean="0">
              <a:latin typeface="黑体" panose="02010609060101010101" pitchFamily="49" charset="-122"/>
              <a:ea typeface="黑体" panose="02010609060101010101" pitchFamily="49" charset="-122"/>
            </a:endParaRPr>
          </a:p>
          <a:p>
            <a:pPr lvl="1" eaLnBrk="1" hangingPunct="1">
              <a:spcBef>
                <a:spcPts val="1200"/>
              </a:spcBef>
            </a:pPr>
            <a:r>
              <a:rPr lang="zh-CN" altLang="en-US" sz="2000" smtClean="0">
                <a:latin typeface="黑体" panose="02010609060101010101" pitchFamily="49" charset="-122"/>
                <a:ea typeface="黑体" panose="02010609060101010101" pitchFamily="49" charset="-122"/>
              </a:rPr>
              <a:t>在线学习、电子商务、电子政务</a:t>
            </a:r>
            <a:r>
              <a:rPr lang="en-US" altLang="zh-CN" sz="2000" smtClean="0">
                <a:latin typeface="黑体" panose="02010609060101010101" pitchFamily="49" charset="-122"/>
                <a:ea typeface="黑体" panose="02010609060101010101" pitchFamily="49" charset="-122"/>
              </a:rPr>
              <a:t>……</a:t>
            </a:r>
            <a:endParaRPr lang="en-US" altLang="zh-CN" sz="2000" smtClean="0">
              <a:latin typeface="黑体" panose="02010609060101010101" pitchFamily="49" charset="-122"/>
              <a:ea typeface="黑体" panose="02010609060101010101" pitchFamily="49" charset="-122"/>
            </a:endParaRPr>
          </a:p>
          <a:p>
            <a:pPr eaLnBrk="1" hangingPunct="1">
              <a:spcBef>
                <a:spcPts val="1200"/>
              </a:spcBef>
            </a:pPr>
            <a:r>
              <a:rPr lang="zh-CN" altLang="en-US" sz="2400" smtClean="0">
                <a:latin typeface="黑体" panose="02010609060101010101" pitchFamily="49" charset="-122"/>
                <a:ea typeface="黑体" panose="02010609060101010101" pitchFamily="49" charset="-122"/>
              </a:rPr>
              <a:t>信息技术引发社会新问题、给社会科学研究带来新机遇</a:t>
            </a:r>
            <a:endParaRPr lang="en-US" altLang="zh-CN" sz="2400" smtClean="0">
              <a:latin typeface="黑体" panose="02010609060101010101" pitchFamily="49" charset="-122"/>
              <a:ea typeface="黑体" panose="02010609060101010101" pitchFamily="49" charset="-122"/>
            </a:endParaRPr>
          </a:p>
          <a:p>
            <a:pPr lvl="1" eaLnBrk="1" hangingPunct="1">
              <a:spcBef>
                <a:spcPts val="1200"/>
              </a:spcBef>
            </a:pPr>
            <a:r>
              <a:rPr lang="zh-CN" altLang="en-US" sz="2000" smtClean="0">
                <a:latin typeface="黑体" panose="02010609060101010101" pitchFamily="49" charset="-122"/>
                <a:ea typeface="黑体" panose="02010609060101010101" pitchFamily="49" charset="-122"/>
              </a:rPr>
              <a:t>信息安全隐患经由</a:t>
            </a:r>
            <a:r>
              <a:rPr lang="en-US" altLang="zh-CN" sz="2000" smtClean="0">
                <a:latin typeface="黑体" panose="02010609060101010101" pitchFamily="49" charset="-122"/>
                <a:ea typeface="黑体" panose="02010609060101010101" pitchFamily="49" charset="-122"/>
              </a:rPr>
              <a:t>CPS</a:t>
            </a:r>
            <a:r>
              <a:rPr lang="zh-CN" altLang="en-US" sz="2000" smtClean="0">
                <a:latin typeface="黑体" panose="02010609060101010101" pitchFamily="49" charset="-122"/>
                <a:ea typeface="黑体" panose="02010609060101010101" pitchFamily="49" charset="-122"/>
              </a:rPr>
              <a:t>（信息物理系统</a:t>
            </a:r>
            <a:r>
              <a:rPr lang="en-US" altLang="zh-CN" sz="2000" smtClean="0">
                <a:latin typeface="黑体" panose="02010609060101010101" pitchFamily="49" charset="-122"/>
                <a:ea typeface="黑体" panose="02010609060101010101" pitchFamily="49" charset="-122"/>
              </a:rPr>
              <a:t>)</a:t>
            </a:r>
            <a:r>
              <a:rPr lang="zh-CN" altLang="en-US" sz="2000" smtClean="0">
                <a:latin typeface="黑体" panose="02010609060101010101" pitchFamily="49" charset="-122"/>
                <a:ea typeface="黑体" panose="02010609060101010101" pitchFamily="49" charset="-122"/>
              </a:rPr>
              <a:t>而扩大到物质社会系统的巨大风险（</a:t>
            </a:r>
            <a:r>
              <a:rPr lang="zh-CN" altLang="en-US" sz="2000" smtClean="0">
                <a:solidFill>
                  <a:srgbClr val="FF0000"/>
                </a:solidFill>
                <a:latin typeface="黑体" panose="02010609060101010101" pitchFamily="49" charset="-122"/>
                <a:ea typeface="黑体" panose="02010609060101010101" pitchFamily="49" charset="-122"/>
              </a:rPr>
              <a:t>风险社会</a:t>
            </a:r>
            <a:r>
              <a:rPr lang="zh-CN" altLang="en-US" sz="2000" smtClean="0">
                <a:latin typeface="黑体" panose="02010609060101010101" pitchFamily="49" charset="-122"/>
                <a:ea typeface="黑体" panose="02010609060101010101" pitchFamily="49" charset="-122"/>
              </a:rPr>
              <a:t>）</a:t>
            </a:r>
            <a:endParaRPr lang="en-US" altLang="zh-CN" sz="2000" smtClean="0">
              <a:latin typeface="黑体" panose="02010609060101010101" pitchFamily="49" charset="-122"/>
              <a:ea typeface="黑体" panose="02010609060101010101" pitchFamily="49" charset="-122"/>
            </a:endParaRPr>
          </a:p>
          <a:p>
            <a:pPr lvl="1" eaLnBrk="1" hangingPunct="1">
              <a:spcBef>
                <a:spcPts val="1200"/>
              </a:spcBef>
            </a:pPr>
            <a:r>
              <a:rPr lang="zh-CN" altLang="en-US" sz="2000" smtClean="0">
                <a:solidFill>
                  <a:srgbClr val="FF0000"/>
                </a:solidFill>
                <a:latin typeface="黑体" panose="02010609060101010101" pitchFamily="49" charset="-122"/>
                <a:ea typeface="黑体" panose="02010609060101010101" pitchFamily="49" charset="-122"/>
              </a:rPr>
              <a:t>数字鸿沟</a:t>
            </a:r>
            <a:r>
              <a:rPr lang="zh-CN" altLang="en-US" sz="2000" smtClean="0">
                <a:latin typeface="黑体" panose="02010609060101010101" pitchFamily="49" charset="-122"/>
                <a:ea typeface="黑体" panose="02010609060101010101" pitchFamily="49" charset="-122"/>
              </a:rPr>
              <a:t>进一步拉大发展不平衡（区域、代际、贫富）（</a:t>
            </a:r>
            <a:r>
              <a:rPr lang="zh-CN" altLang="en-US" sz="2000" smtClean="0">
                <a:solidFill>
                  <a:srgbClr val="FF0000"/>
                </a:solidFill>
                <a:latin typeface="黑体" panose="02010609060101010101" pitchFamily="49" charset="-122"/>
                <a:ea typeface="黑体" panose="02010609060101010101" pitchFamily="49" charset="-122"/>
              </a:rPr>
              <a:t>公平和正义</a:t>
            </a:r>
            <a:r>
              <a:rPr lang="zh-CN" altLang="en-US" sz="2000" smtClean="0">
                <a:latin typeface="黑体" panose="02010609060101010101" pitchFamily="49" charset="-122"/>
                <a:ea typeface="黑体" panose="02010609060101010101" pitchFamily="49" charset="-122"/>
              </a:rPr>
              <a:t>）</a:t>
            </a:r>
            <a:endParaRPr lang="en-US" altLang="zh-CN" sz="2000" smtClean="0">
              <a:latin typeface="黑体" panose="02010609060101010101" pitchFamily="49" charset="-122"/>
              <a:ea typeface="黑体" panose="02010609060101010101" pitchFamily="49" charset="-122"/>
            </a:endParaRPr>
          </a:p>
          <a:p>
            <a:pPr lvl="1" eaLnBrk="1" hangingPunct="1">
              <a:spcBef>
                <a:spcPts val="1200"/>
              </a:spcBef>
            </a:pPr>
            <a:r>
              <a:rPr lang="zh-CN" altLang="en-US" sz="2000" smtClean="0">
                <a:latin typeface="黑体" panose="02010609060101010101" pitchFamily="49" charset="-122"/>
                <a:ea typeface="黑体" panose="02010609060101010101" pitchFamily="49" charset="-122"/>
              </a:rPr>
              <a:t>社交网络正在挑战</a:t>
            </a:r>
            <a:r>
              <a:rPr lang="zh-CN" altLang="en-US" sz="2000" smtClean="0">
                <a:solidFill>
                  <a:srgbClr val="FF0000"/>
                </a:solidFill>
                <a:latin typeface="黑体" panose="02010609060101010101" pitchFamily="49" charset="-122"/>
                <a:ea typeface="黑体" panose="02010609060101010101" pitchFamily="49" charset="-122"/>
              </a:rPr>
              <a:t>社会结构、社会秩序、社会控制、社会道德伦理</a:t>
            </a:r>
            <a:r>
              <a:rPr lang="zh-CN" altLang="en-US" sz="2000" smtClean="0">
                <a:latin typeface="黑体" panose="02010609060101010101" pitchFamily="49" charset="-122"/>
                <a:ea typeface="黑体" panose="02010609060101010101" pitchFamily="49" charset="-122"/>
              </a:rPr>
              <a:t>的理论构建和分析结果</a:t>
            </a:r>
            <a:endParaRPr lang="zh-CN" altLang="en-US" sz="2000" smtClean="0">
              <a:latin typeface="黑体" panose="02010609060101010101" pitchFamily="49" charset="-122"/>
              <a:ea typeface="黑体" panose="02010609060101010101" pitchFamily="49" charset="-122"/>
            </a:endParaRPr>
          </a:p>
        </p:txBody>
      </p:sp>
      <p:sp>
        <p:nvSpPr>
          <p:cNvPr id="7" name="标题 1"/>
          <p:cNvSpPr txBox="1"/>
          <p:nvPr/>
        </p:nvSpPr>
        <p:spPr bwMode="auto">
          <a:xfrm>
            <a:off x="643246" y="582960"/>
            <a:ext cx="10925361" cy="936104"/>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en-US" altLang="zh-CN" sz="3600" dirty="0">
                <a:solidFill>
                  <a:schemeClr val="bg1"/>
                </a:solidFill>
              </a:rPr>
              <a:t>IT</a:t>
            </a:r>
            <a:r>
              <a:rPr lang="zh-CN" altLang="en-US" sz="3600" dirty="0">
                <a:solidFill>
                  <a:schemeClr val="bg1"/>
                </a:solidFill>
              </a:rPr>
              <a:t>和</a:t>
            </a:r>
            <a:r>
              <a:rPr lang="en-US" altLang="zh-CN" sz="3600" dirty="0">
                <a:solidFill>
                  <a:schemeClr val="bg1"/>
                </a:solidFill>
              </a:rPr>
              <a:t>BD</a:t>
            </a:r>
            <a:r>
              <a:rPr lang="zh-CN" altLang="en-US" sz="3600" dirty="0" smtClean="0">
                <a:solidFill>
                  <a:schemeClr val="bg1"/>
                </a:solidFill>
              </a:rPr>
              <a:t>的社会影响：双刃性</a:t>
            </a:r>
            <a:endParaRPr lang="en-US" altLang="zh-CN" sz="3600" dirty="0" smtClean="0">
              <a:solidFill>
                <a:schemeClr val="bg1"/>
              </a:solidFill>
            </a:endParaRPr>
          </a:p>
        </p:txBody>
      </p:sp>
      <p:sp>
        <p:nvSpPr>
          <p:cNvPr id="37894" name="灯片编号占位符 3"/>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7C3F707F-9B62-4544-B476-1FED4FDE9720}" type="slidenum">
              <a:rPr lang="zh-CN" altLang="en-US">
                <a:solidFill>
                  <a:srgbClr val="898989"/>
                </a:solidFill>
              </a:rPr>
            </a:fld>
            <a:endParaRPr lang="en-US" altLang="zh-CN">
              <a:solidFill>
                <a:srgbClr val="898989"/>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内容占位符 2"/>
          <p:cNvSpPr>
            <a:spLocks noGrp="1"/>
          </p:cNvSpPr>
          <p:nvPr>
            <p:ph idx="1"/>
          </p:nvPr>
        </p:nvSpPr>
        <p:spPr>
          <a:xfrm>
            <a:off x="596900" y="1362075"/>
            <a:ext cx="11345863" cy="4003675"/>
          </a:xfrm>
          <a:ln>
            <a:solidFill>
              <a:schemeClr val="accent1"/>
            </a:solidFill>
          </a:ln>
        </p:spPr>
        <p:txBody>
          <a:bodyPr/>
          <a:lstStyle/>
          <a:p>
            <a:pPr eaLnBrk="1" hangingPunct="1">
              <a:spcBef>
                <a:spcPts val="1200"/>
              </a:spcBef>
            </a:pPr>
            <a:r>
              <a:rPr lang="zh-CN" altLang="zh-CN" sz="2400" smtClean="0">
                <a:latin typeface="黑体" panose="02010609060101010101" pitchFamily="49" charset="-122"/>
                <a:ea typeface="黑体" panose="02010609060101010101" pitchFamily="49" charset="-122"/>
              </a:rPr>
              <a:t>信息技术</a:t>
            </a:r>
            <a:r>
              <a:rPr lang="zh-CN" altLang="en-US" sz="2400" smtClean="0">
                <a:latin typeface="黑体" panose="02010609060101010101" pitchFamily="49" charset="-122"/>
                <a:ea typeface="黑体" panose="02010609060101010101" pitchFamily="49" charset="-122"/>
              </a:rPr>
              <a:t>具有</a:t>
            </a:r>
            <a:r>
              <a:rPr lang="zh-CN" altLang="zh-CN" sz="2400" smtClean="0">
                <a:latin typeface="黑体" panose="02010609060101010101" pitchFamily="49" charset="-122"/>
                <a:ea typeface="黑体" panose="02010609060101010101" pitchFamily="49" charset="-122"/>
              </a:rPr>
              <a:t>强大</a:t>
            </a:r>
            <a:r>
              <a:rPr lang="zh-CN" altLang="zh-CN" sz="2400" smtClean="0">
                <a:solidFill>
                  <a:srgbClr val="FF0000"/>
                </a:solidFill>
                <a:latin typeface="黑体" panose="02010609060101010101" pitchFamily="49" charset="-122"/>
                <a:ea typeface="黑体" panose="02010609060101010101" pitchFamily="49" charset="-122"/>
              </a:rPr>
              <a:t>社会变革力</a:t>
            </a:r>
            <a:r>
              <a:rPr lang="en-US" altLang="zh-CN" sz="2400" smtClean="0">
                <a:latin typeface="黑体" panose="02010609060101010101" pitchFamily="49" charset="-122"/>
                <a:ea typeface="黑体" panose="02010609060101010101" pitchFamily="49" charset="-122"/>
              </a:rPr>
              <a:t>——</a:t>
            </a:r>
            <a:r>
              <a:rPr lang="zh-CN" altLang="en-US" sz="2400" smtClean="0">
                <a:latin typeface="黑体" panose="02010609060101010101" pitchFamily="49" charset="-122"/>
                <a:ea typeface="黑体" panose="02010609060101010101" pitchFamily="49" charset="-122"/>
              </a:rPr>
              <a:t>颠覆性</a:t>
            </a:r>
            <a:endParaRPr lang="en-US" altLang="zh-CN" sz="2400" smtClean="0">
              <a:latin typeface="黑体" panose="02010609060101010101" pitchFamily="49" charset="-122"/>
              <a:ea typeface="黑体" panose="02010609060101010101" pitchFamily="49" charset="-122"/>
            </a:endParaRPr>
          </a:p>
          <a:p>
            <a:pPr eaLnBrk="1" hangingPunct="1">
              <a:spcBef>
                <a:spcPts val="1200"/>
              </a:spcBef>
            </a:pPr>
            <a:r>
              <a:rPr lang="zh-CN" altLang="zh-CN" sz="2400" smtClean="0">
                <a:solidFill>
                  <a:srgbClr val="FF0000"/>
                </a:solidFill>
                <a:latin typeface="黑体" panose="02010609060101010101" pitchFamily="49" charset="-122"/>
                <a:ea typeface="黑体" panose="02010609060101010101" pitchFamily="49" charset="-122"/>
              </a:rPr>
              <a:t>大数据</a:t>
            </a:r>
            <a:r>
              <a:rPr lang="zh-CN" altLang="en-US" sz="2400" smtClean="0">
                <a:solidFill>
                  <a:srgbClr val="FF0000"/>
                </a:solidFill>
                <a:latin typeface="黑体" panose="02010609060101010101" pitchFamily="49" charset="-122"/>
                <a:ea typeface="黑体" panose="02010609060101010101" pitchFamily="49" charset="-122"/>
              </a:rPr>
              <a:t>应用</a:t>
            </a:r>
            <a:r>
              <a:rPr lang="zh-CN" altLang="en-US" sz="2400" smtClean="0">
                <a:latin typeface="黑体" panose="02010609060101010101" pitchFamily="49" charset="-122"/>
                <a:ea typeface="黑体" panose="02010609060101010101" pitchFamily="49" charset="-122"/>
              </a:rPr>
              <a:t>借移动互联网之力，挟</a:t>
            </a:r>
            <a:r>
              <a:rPr lang="zh-CN" altLang="zh-CN" sz="2400" smtClean="0">
                <a:latin typeface="黑体" panose="02010609060101010101" pitchFamily="49" charset="-122"/>
                <a:ea typeface="黑体" panose="02010609060101010101" pitchFamily="49" charset="-122"/>
              </a:rPr>
              <a:t>冲破部门行业藩篱、提供丰富资源、产生跨界价值</a:t>
            </a:r>
            <a:r>
              <a:rPr lang="zh-CN" altLang="en-US" sz="2400" smtClean="0">
                <a:latin typeface="黑体" panose="02010609060101010101" pitchFamily="49" charset="-122"/>
                <a:ea typeface="黑体" panose="02010609060101010101" pitchFamily="49" charset="-122"/>
              </a:rPr>
              <a:t>之威，竞相涌现</a:t>
            </a:r>
            <a:endParaRPr lang="en-US" altLang="zh-CN" sz="2400" smtClean="0">
              <a:latin typeface="黑体" panose="02010609060101010101" pitchFamily="49" charset="-122"/>
              <a:ea typeface="黑体" panose="02010609060101010101" pitchFamily="49" charset="-122"/>
            </a:endParaRPr>
          </a:p>
          <a:p>
            <a:pPr eaLnBrk="1" hangingPunct="1">
              <a:spcBef>
                <a:spcPts val="1200"/>
              </a:spcBef>
            </a:pPr>
            <a:r>
              <a:rPr lang="zh-CN" altLang="en-US" sz="2400" smtClean="0">
                <a:latin typeface="黑体" panose="02010609060101010101" pitchFamily="49" charset="-122"/>
                <a:ea typeface="黑体" panose="02010609060101010101" pitchFamily="49" charset="-122"/>
              </a:rPr>
              <a:t>网络空间与</a:t>
            </a:r>
            <a:r>
              <a:rPr lang="zh-CN" altLang="zh-CN" sz="2400" smtClean="0">
                <a:latin typeface="黑体" panose="02010609060101010101" pitchFamily="49" charset="-122"/>
                <a:ea typeface="黑体" panose="02010609060101010101" pitchFamily="49" charset="-122"/>
              </a:rPr>
              <a:t>现实生活</a:t>
            </a:r>
            <a:r>
              <a:rPr lang="zh-CN" altLang="en-US" sz="2400" smtClean="0">
                <a:latin typeface="黑体" panose="02010609060101010101" pitchFamily="49" charset="-122"/>
                <a:ea typeface="黑体" panose="02010609060101010101" pitchFamily="49" charset="-122"/>
              </a:rPr>
              <a:t>已经</a:t>
            </a:r>
            <a:r>
              <a:rPr lang="zh-CN" altLang="en-US" sz="2400" smtClean="0">
                <a:solidFill>
                  <a:srgbClr val="FF0000"/>
                </a:solidFill>
                <a:latin typeface="黑体" panose="02010609060101010101" pitchFamily="49" charset="-122"/>
                <a:ea typeface="黑体" panose="02010609060101010101" pitchFamily="49" charset="-122"/>
              </a:rPr>
              <a:t>深度</a:t>
            </a:r>
            <a:r>
              <a:rPr lang="zh-CN" altLang="zh-CN" sz="2400" smtClean="0">
                <a:solidFill>
                  <a:srgbClr val="FF0000"/>
                </a:solidFill>
                <a:latin typeface="黑体" panose="02010609060101010101" pitchFamily="49" charset="-122"/>
                <a:ea typeface="黑体" panose="02010609060101010101" pitchFamily="49" charset="-122"/>
              </a:rPr>
              <a:t>交织交错</a:t>
            </a:r>
            <a:endParaRPr lang="en-US" altLang="zh-CN" sz="2400" smtClean="0">
              <a:solidFill>
                <a:srgbClr val="FF0000"/>
              </a:solidFill>
              <a:latin typeface="黑体" panose="02010609060101010101" pitchFamily="49" charset="-122"/>
              <a:ea typeface="黑体" panose="02010609060101010101" pitchFamily="49" charset="-122"/>
            </a:endParaRPr>
          </a:p>
          <a:p>
            <a:pPr lvl="1" eaLnBrk="1" hangingPunct="1">
              <a:spcBef>
                <a:spcPts val="1200"/>
              </a:spcBef>
            </a:pPr>
            <a:r>
              <a:rPr lang="zh-CN" altLang="en-US" sz="2400" smtClean="0">
                <a:latin typeface="黑体" panose="02010609060101010101" pitchFamily="49" charset="-122"/>
                <a:ea typeface="黑体" panose="02010609060101010101" pitchFamily="49" charset="-122"/>
              </a:rPr>
              <a:t>有形：获取信息、处理事务的</a:t>
            </a:r>
            <a:r>
              <a:rPr lang="zh-CN" altLang="zh-CN" sz="2400" smtClean="0">
                <a:latin typeface="黑体" panose="02010609060101010101" pitchFamily="49" charset="-122"/>
                <a:ea typeface="黑体" panose="02010609060101010101" pitchFamily="49" charset="-122"/>
              </a:rPr>
              <a:t>主</a:t>
            </a:r>
            <a:r>
              <a:rPr lang="zh-CN" altLang="en-US" sz="2400" smtClean="0">
                <a:latin typeface="黑体" panose="02010609060101010101" pitchFamily="49" charset="-122"/>
                <a:ea typeface="黑体" panose="02010609060101010101" pitchFamily="49" charset="-122"/>
              </a:rPr>
              <a:t>渠道</a:t>
            </a:r>
            <a:endParaRPr lang="en-US" altLang="zh-CN" sz="2400" smtClean="0">
              <a:latin typeface="黑体" panose="02010609060101010101" pitchFamily="49" charset="-122"/>
              <a:ea typeface="黑体" panose="02010609060101010101" pitchFamily="49" charset="-122"/>
            </a:endParaRPr>
          </a:p>
          <a:p>
            <a:pPr lvl="1" eaLnBrk="1" hangingPunct="1">
              <a:spcBef>
                <a:spcPts val="1200"/>
              </a:spcBef>
            </a:pPr>
            <a:r>
              <a:rPr lang="zh-CN" altLang="en-US" sz="2400" smtClean="0">
                <a:latin typeface="黑体" panose="02010609060101010101" pitchFamily="49" charset="-122"/>
                <a:ea typeface="黑体" panose="02010609060101010101" pitchFamily="49" charset="-122"/>
              </a:rPr>
              <a:t>无形：认知过程、价值判断受到影响</a:t>
            </a:r>
            <a:endParaRPr lang="en-US" altLang="zh-CN" sz="2400" smtClean="0">
              <a:latin typeface="黑体" panose="02010609060101010101" pitchFamily="49" charset="-122"/>
              <a:ea typeface="黑体" panose="02010609060101010101" pitchFamily="49" charset="-122"/>
            </a:endParaRPr>
          </a:p>
          <a:p>
            <a:pPr eaLnBrk="1" hangingPunct="1">
              <a:spcBef>
                <a:spcPts val="1200"/>
              </a:spcBef>
            </a:pPr>
            <a:r>
              <a:rPr lang="zh-CN" altLang="zh-CN" sz="2400" smtClean="0">
                <a:latin typeface="黑体" panose="02010609060101010101" pitchFamily="49" charset="-122"/>
                <a:ea typeface="黑体" panose="02010609060101010101" pitchFamily="49" charset="-122"/>
              </a:rPr>
              <a:t>平等、自由、安全、公正、责任</a:t>
            </a:r>
            <a:r>
              <a:rPr lang="zh-CN" altLang="en-US" sz="2400" smtClean="0">
                <a:latin typeface="黑体" panose="02010609060101010101" pitchFamily="49" charset="-122"/>
                <a:ea typeface="黑体" panose="02010609060101010101" pitchFamily="49" charset="-122"/>
              </a:rPr>
              <a:t>等</a:t>
            </a:r>
            <a:r>
              <a:rPr lang="zh-CN" altLang="zh-CN" sz="2400" smtClean="0">
                <a:solidFill>
                  <a:srgbClr val="FF0000"/>
                </a:solidFill>
                <a:latin typeface="黑体" panose="02010609060101010101" pitchFamily="49" charset="-122"/>
                <a:ea typeface="黑体" panose="02010609060101010101" pitchFamily="49" charset="-122"/>
              </a:rPr>
              <a:t>伦理原则</a:t>
            </a:r>
            <a:r>
              <a:rPr lang="zh-CN" altLang="zh-CN" sz="2400" smtClean="0">
                <a:latin typeface="黑体" panose="02010609060101010101" pitchFamily="49" charset="-122"/>
                <a:ea typeface="黑体" panose="02010609060101010101" pitchFamily="49" charset="-122"/>
              </a:rPr>
              <a:t>，</a:t>
            </a:r>
            <a:r>
              <a:rPr lang="zh-CN" altLang="en-US" sz="2400" smtClean="0">
                <a:latin typeface="黑体" panose="02010609060101010101" pitchFamily="49" charset="-122"/>
                <a:ea typeface="黑体" panose="02010609060101010101" pitchFamily="49" charset="-122"/>
              </a:rPr>
              <a:t>是创造</a:t>
            </a:r>
            <a:r>
              <a:rPr lang="zh-CN" altLang="zh-CN" sz="2400" smtClean="0">
                <a:latin typeface="黑体" panose="02010609060101010101" pitchFamily="49" charset="-122"/>
                <a:ea typeface="黑体" panose="02010609060101010101" pitchFamily="49" charset="-122"/>
              </a:rPr>
              <a:t>网络应用</a:t>
            </a:r>
            <a:r>
              <a:rPr lang="zh-CN" altLang="en-US" sz="2400" smtClean="0">
                <a:latin typeface="黑体" panose="02010609060101010101" pitchFamily="49" charset="-122"/>
                <a:ea typeface="黑体" panose="02010609060101010101" pitchFamily="49" charset="-122"/>
              </a:rPr>
              <a:t>、治理网络空间之必须</a:t>
            </a:r>
            <a:endParaRPr lang="en-US" altLang="zh-CN" sz="2400" smtClean="0">
              <a:latin typeface="黑体" panose="02010609060101010101" pitchFamily="49" charset="-122"/>
              <a:ea typeface="黑体" panose="02010609060101010101" pitchFamily="49" charset="-122"/>
            </a:endParaRPr>
          </a:p>
        </p:txBody>
      </p:sp>
      <p:sp>
        <p:nvSpPr>
          <p:cNvPr id="10" name="标题 1"/>
          <p:cNvSpPr txBox="1"/>
          <p:nvPr/>
        </p:nvSpPr>
        <p:spPr bwMode="auto">
          <a:xfrm>
            <a:off x="597526" y="213292"/>
            <a:ext cx="11344538" cy="936104"/>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教学内容</a:t>
            </a:r>
            <a:r>
              <a:rPr lang="en-US" altLang="zh-CN" sz="3600" dirty="0" smtClean="0">
                <a:solidFill>
                  <a:schemeClr val="bg1"/>
                </a:solidFill>
              </a:rPr>
              <a:t>1</a:t>
            </a:r>
            <a:r>
              <a:rPr lang="zh-CN" altLang="en-US" sz="3600" dirty="0" smtClean="0">
                <a:solidFill>
                  <a:schemeClr val="bg1"/>
                </a:solidFill>
              </a:rPr>
              <a:t>小结：</a:t>
            </a:r>
            <a:r>
              <a:rPr lang="en-US" altLang="zh-CN" sz="3600" dirty="0" smtClean="0">
                <a:solidFill>
                  <a:schemeClr val="bg1"/>
                </a:solidFill>
              </a:rPr>
              <a:t>IT</a:t>
            </a:r>
            <a:r>
              <a:rPr lang="zh-CN" altLang="en-US" sz="3600" dirty="0" smtClean="0">
                <a:solidFill>
                  <a:schemeClr val="bg1"/>
                </a:solidFill>
              </a:rPr>
              <a:t>和</a:t>
            </a:r>
            <a:r>
              <a:rPr lang="en-US" altLang="zh-CN" sz="3600" dirty="0" smtClean="0">
                <a:solidFill>
                  <a:schemeClr val="bg1"/>
                </a:solidFill>
              </a:rPr>
              <a:t>BD</a:t>
            </a:r>
            <a:r>
              <a:rPr lang="zh-CN" altLang="en-US" sz="3600" dirty="0" smtClean="0">
                <a:solidFill>
                  <a:schemeClr val="bg1"/>
                </a:solidFill>
              </a:rPr>
              <a:t>科技的社会影响</a:t>
            </a:r>
            <a:endParaRPr lang="en-US" altLang="zh-CN" sz="3600" dirty="0" smtClean="0">
              <a:solidFill>
                <a:schemeClr val="bg1"/>
              </a:solidFill>
            </a:endParaRPr>
          </a:p>
        </p:txBody>
      </p:sp>
      <p:sp>
        <p:nvSpPr>
          <p:cNvPr id="38918" name="灯片编号占位符 3"/>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B90B1DA2-79D1-4E8B-94E7-9AADB3BECAC3}" type="slidenum">
              <a:rPr lang="zh-CN" altLang="en-US">
                <a:solidFill>
                  <a:srgbClr val="898989"/>
                </a:solidFill>
              </a:rPr>
            </a:fld>
            <a:endParaRPr lang="en-US" altLang="zh-CN">
              <a:solidFill>
                <a:srgbClr val="898989"/>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2"/>
          </p:nvPr>
        </p:nvSpPr>
        <p:spPr>
          <a:xfrm>
            <a:off x="609600" y="1682750"/>
            <a:ext cx="7162800" cy="4443413"/>
          </a:xfrm>
          <a:ln w="19050">
            <a:solidFill>
              <a:schemeClr val="tx2"/>
            </a:solidFill>
          </a:ln>
        </p:spPr>
        <p:txBody>
          <a:bodyPr rtlCol="0">
            <a:normAutofit fontScale="62500" lnSpcReduction="20000"/>
          </a:bodyPr>
          <a:lstStyle/>
          <a:p>
            <a:pPr marL="0" indent="0" eaLnBrk="1" fontAlgn="auto" hangingPunct="1">
              <a:lnSpc>
                <a:spcPct val="120000"/>
              </a:lnSpc>
              <a:spcBef>
                <a:spcPts val="1200"/>
              </a:spcBef>
              <a:spcAft>
                <a:spcPts val="0"/>
              </a:spcAft>
              <a:buFont typeface="Arial" panose="020B0604020202020204" pitchFamily="34" charset="0"/>
              <a:buNone/>
              <a:defRPr/>
            </a:pPr>
            <a:r>
              <a:rPr lang="zh-CN" altLang="en-US" sz="5100" b="1" dirty="0" smtClean="0"/>
              <a:t>回顾历史：信息伦理</a:t>
            </a:r>
            <a:endParaRPr lang="en-US" altLang="zh-CN" sz="5100" b="1" dirty="0" smtClean="0"/>
          </a:p>
          <a:p>
            <a:pPr eaLnBrk="1" fontAlgn="auto" hangingPunct="1">
              <a:lnSpc>
                <a:spcPct val="120000"/>
              </a:lnSpc>
              <a:spcBef>
                <a:spcPts val="1200"/>
              </a:spcBef>
              <a:spcAft>
                <a:spcPts val="0"/>
              </a:spcAft>
              <a:buFont typeface="Arial" panose="020B0604020202020204" pitchFamily="34" charset="0"/>
              <a:buChar char="•"/>
              <a:defRPr/>
            </a:pPr>
            <a:r>
              <a:rPr lang="en-US" altLang="zh-CN" dirty="0" smtClean="0"/>
              <a:t>1950</a:t>
            </a:r>
            <a:r>
              <a:rPr lang="zh-CN" altLang="zh-CN" dirty="0" smtClean="0"/>
              <a:t>年</a:t>
            </a:r>
            <a:r>
              <a:rPr lang="zh-CN" altLang="en-US" dirty="0" smtClean="0"/>
              <a:t>，</a:t>
            </a:r>
            <a:r>
              <a:rPr lang="zh-CN" altLang="zh-CN" dirty="0" smtClean="0"/>
              <a:t>罗伯特·维纳</a:t>
            </a:r>
            <a:r>
              <a:rPr lang="zh-CN" altLang="en-US" dirty="0" smtClean="0"/>
              <a:t>出版</a:t>
            </a:r>
            <a:r>
              <a:rPr lang="zh-CN" altLang="zh-CN" dirty="0" smtClean="0"/>
              <a:t>《人有人的用处》</a:t>
            </a:r>
            <a:r>
              <a:rPr lang="zh-CN" altLang="en-US" dirty="0" smtClean="0"/>
              <a:t>，率先</a:t>
            </a:r>
            <a:r>
              <a:rPr lang="zh-CN" altLang="zh-CN" dirty="0" smtClean="0"/>
              <a:t>提出信息与计算机伦理</a:t>
            </a:r>
            <a:r>
              <a:rPr lang="zh-CN" altLang="en-US" dirty="0" smtClean="0"/>
              <a:t>，</a:t>
            </a:r>
            <a:r>
              <a:rPr lang="zh-CN" altLang="zh-CN" dirty="0" smtClean="0"/>
              <a:t>追问信息技术对诸如生命、健康、快乐、能力、知识、自由、安全、发展机会等人类核心价值的意义，并采用“</a:t>
            </a:r>
            <a:r>
              <a:rPr lang="zh-CN" altLang="zh-CN" dirty="0" smtClean="0">
                <a:solidFill>
                  <a:srgbClr val="FF0000"/>
                </a:solidFill>
              </a:rPr>
              <a:t>伟大的公正原则</a:t>
            </a:r>
            <a:r>
              <a:rPr lang="zh-CN" altLang="zh-CN" dirty="0" smtClean="0"/>
              <a:t>”作为信息伦理的基石</a:t>
            </a:r>
            <a:endParaRPr lang="en-US" altLang="zh-CN" dirty="0" smtClean="0"/>
          </a:p>
          <a:p>
            <a:pPr eaLnBrk="1" fontAlgn="auto" hangingPunct="1">
              <a:lnSpc>
                <a:spcPct val="120000"/>
              </a:lnSpc>
              <a:spcBef>
                <a:spcPts val="1200"/>
              </a:spcBef>
              <a:spcAft>
                <a:spcPts val="0"/>
              </a:spcAft>
              <a:buFont typeface="Arial" panose="020B0604020202020204" pitchFamily="34" charset="0"/>
              <a:buChar char="•"/>
              <a:defRPr/>
            </a:pPr>
            <a:r>
              <a:rPr lang="en-US" altLang="zh-CN" sz="2500" dirty="0" smtClean="0"/>
              <a:t>60</a:t>
            </a:r>
            <a:r>
              <a:rPr lang="zh-CN" altLang="zh-CN" sz="2500" dirty="0" smtClean="0"/>
              <a:t>年代，计算机科学家唐·帕克收集计算机专业人员利用高科技犯罪和从事不道德行为的案例，为</a:t>
            </a:r>
            <a:r>
              <a:rPr lang="en-US" altLang="zh-CN" sz="2500" dirty="0" smtClean="0"/>
              <a:t>ACM</a:t>
            </a:r>
            <a:r>
              <a:rPr lang="zh-CN" altLang="zh-CN" sz="2500" dirty="0" smtClean="0"/>
              <a:t>起草</a:t>
            </a:r>
            <a:r>
              <a:rPr lang="zh-CN" altLang="zh-CN" sz="2500" dirty="0" smtClean="0">
                <a:solidFill>
                  <a:srgbClr val="FF0000"/>
                </a:solidFill>
              </a:rPr>
              <a:t>计算机工程师职业伦理规范</a:t>
            </a:r>
            <a:r>
              <a:rPr lang="zh-CN" altLang="zh-CN" sz="2500" dirty="0" smtClean="0"/>
              <a:t>并宣讲</a:t>
            </a:r>
            <a:r>
              <a:rPr lang="zh-CN" altLang="en-US" sz="2500" dirty="0" smtClean="0"/>
              <a:t>、</a:t>
            </a:r>
            <a:r>
              <a:rPr lang="zh-CN" altLang="zh-CN" sz="2500" dirty="0" smtClean="0"/>
              <a:t>培训</a:t>
            </a:r>
            <a:endParaRPr lang="zh-CN" altLang="zh-CN" sz="2500" dirty="0" smtClean="0"/>
          </a:p>
          <a:p>
            <a:pPr eaLnBrk="1" fontAlgn="auto" hangingPunct="1">
              <a:lnSpc>
                <a:spcPct val="120000"/>
              </a:lnSpc>
              <a:spcBef>
                <a:spcPts val="1200"/>
              </a:spcBef>
              <a:spcAft>
                <a:spcPts val="0"/>
              </a:spcAft>
              <a:buFont typeface="Arial" panose="020B0604020202020204" pitchFamily="34" charset="0"/>
              <a:buChar char="•"/>
              <a:defRPr/>
            </a:pPr>
            <a:r>
              <a:rPr lang="en-US" altLang="zh-CN" sz="2500" dirty="0" smtClean="0"/>
              <a:t>70</a:t>
            </a:r>
            <a:r>
              <a:rPr lang="zh-CN" altLang="zh-CN" sz="2500" dirty="0" smtClean="0"/>
              <a:t>年代，既是哲学家后又成为计算机教授的瓦尔特·曼纳</a:t>
            </a:r>
            <a:r>
              <a:rPr lang="zh-CN" altLang="en-US" sz="2500" dirty="0" smtClean="0"/>
              <a:t>提出</a:t>
            </a:r>
            <a:r>
              <a:rPr lang="en-US" altLang="zh-CN" sz="2500" dirty="0" smtClean="0">
                <a:solidFill>
                  <a:srgbClr val="FF0000"/>
                </a:solidFill>
              </a:rPr>
              <a:t>Computer Ethics</a:t>
            </a:r>
            <a:r>
              <a:rPr lang="zh-CN" altLang="en-US" sz="2500" dirty="0" smtClean="0"/>
              <a:t>作为新的</a:t>
            </a:r>
            <a:r>
              <a:rPr lang="zh-CN" altLang="zh-CN" sz="2500" dirty="0" smtClean="0"/>
              <a:t>应用伦理</a:t>
            </a:r>
            <a:r>
              <a:rPr lang="zh-CN" altLang="en-US" sz="2500" dirty="0" smtClean="0"/>
              <a:t>方向</a:t>
            </a:r>
            <a:endParaRPr lang="en-US" altLang="zh-CN" sz="2500" dirty="0" smtClean="0"/>
          </a:p>
          <a:p>
            <a:pPr eaLnBrk="1" fontAlgn="auto" hangingPunct="1">
              <a:lnSpc>
                <a:spcPct val="120000"/>
              </a:lnSpc>
              <a:spcBef>
                <a:spcPts val="1200"/>
              </a:spcBef>
              <a:spcAft>
                <a:spcPts val="0"/>
              </a:spcAft>
              <a:buFont typeface="Arial" panose="020B0604020202020204" pitchFamily="34" charset="0"/>
              <a:buChar char="•"/>
              <a:defRPr/>
            </a:pPr>
            <a:r>
              <a:rPr lang="en-US" altLang="zh-CN" sz="2500" dirty="0" smtClean="0"/>
              <a:t>80</a:t>
            </a:r>
            <a:r>
              <a:rPr lang="zh-CN" altLang="zh-CN" sz="2500" dirty="0" smtClean="0"/>
              <a:t>年代后期和整个</a:t>
            </a:r>
            <a:r>
              <a:rPr lang="en-US" altLang="zh-CN" sz="2500" dirty="0" smtClean="0"/>
              <a:t>90</a:t>
            </a:r>
            <a:r>
              <a:rPr lang="zh-CN" altLang="zh-CN" sz="2500" dirty="0" smtClean="0"/>
              <a:t>年代，计算机伦理学发展迅速。</a:t>
            </a:r>
            <a:r>
              <a:rPr lang="en-US" altLang="zh-CN" sz="2500" dirty="0" smtClean="0"/>
              <a:t>1985</a:t>
            </a:r>
            <a:r>
              <a:rPr lang="zh-CN" altLang="zh-CN" sz="2500" dirty="0" smtClean="0"/>
              <a:t>年，詹姆斯·穆尔发表论文“何谓</a:t>
            </a:r>
            <a:r>
              <a:rPr lang="zh-CN" altLang="zh-CN" sz="2500" dirty="0" smtClean="0">
                <a:solidFill>
                  <a:srgbClr val="FF0000"/>
                </a:solidFill>
              </a:rPr>
              <a:t>计算机伦理学</a:t>
            </a:r>
            <a:r>
              <a:rPr lang="zh-CN" altLang="zh-CN" sz="2500" dirty="0" smtClean="0"/>
              <a:t>？”，德博拉·约翰森撰写《计算机伦理学》经典教材，学术会议、大学课程、研究中心、专业期刊和讲席教授席位应运而生；实际问题层出不穷；还出现了负责日常甄别信息技术使用情况、监管滥用的专门组织，定期发布报告，提出降低风险的举措</a:t>
            </a:r>
            <a:endParaRPr lang="en-US" altLang="zh-CN" sz="2500" dirty="0" smtClean="0"/>
          </a:p>
        </p:txBody>
      </p:sp>
      <p:sp>
        <p:nvSpPr>
          <p:cNvPr id="6" name="内容占位符 5"/>
          <p:cNvSpPr>
            <a:spLocks noGrp="1"/>
          </p:cNvSpPr>
          <p:nvPr>
            <p:ph sz="quarter" idx="4"/>
          </p:nvPr>
        </p:nvSpPr>
        <p:spPr>
          <a:xfrm>
            <a:off x="8166100" y="1673225"/>
            <a:ext cx="3416300" cy="4452938"/>
          </a:xfrm>
          <a:ln>
            <a:solidFill>
              <a:schemeClr val="accent1"/>
            </a:solidFill>
          </a:ln>
        </p:spPr>
        <p:txBody>
          <a:bodyPr rtlCol="0">
            <a:normAutofit/>
          </a:bodyPr>
          <a:lstStyle/>
          <a:p>
            <a:pPr marL="0" indent="0" eaLnBrk="1" fontAlgn="auto" hangingPunct="1">
              <a:spcAft>
                <a:spcPts val="0"/>
              </a:spcAft>
              <a:buFont typeface="Arial" panose="020B0604020202020204" pitchFamily="34" charset="0"/>
              <a:buNone/>
              <a:defRPr/>
            </a:pPr>
            <a:r>
              <a:rPr lang="zh-CN" altLang="en-US" sz="3200" b="1" dirty="0" smtClean="0"/>
              <a:t>主题</a:t>
            </a:r>
            <a:endParaRPr lang="en-US" altLang="zh-CN" sz="3200" b="1" dirty="0" smtClean="0"/>
          </a:p>
          <a:p>
            <a:pPr eaLnBrk="1" fontAlgn="auto" hangingPunct="1">
              <a:spcAft>
                <a:spcPts val="0"/>
              </a:spcAft>
              <a:buFont typeface="Arial" panose="020B0604020202020204" pitchFamily="34" charset="0"/>
              <a:buChar char="•"/>
              <a:defRPr/>
            </a:pPr>
            <a:endParaRPr lang="en-US" altLang="zh-CN" b="1" dirty="0" smtClean="0"/>
          </a:p>
          <a:p>
            <a:pPr eaLnBrk="1" fontAlgn="auto" hangingPunct="1">
              <a:spcAft>
                <a:spcPts val="0"/>
              </a:spcAft>
              <a:buFont typeface="Arial" panose="020B0604020202020204" pitchFamily="34" charset="0"/>
              <a:buChar char="•"/>
              <a:defRPr/>
            </a:pPr>
            <a:r>
              <a:rPr lang="zh-CN" altLang="zh-CN" dirty="0" smtClean="0"/>
              <a:t>人际关系</a:t>
            </a:r>
            <a:r>
              <a:rPr lang="zh-CN" altLang="zh-CN" dirty="0"/>
              <a:t>虚拟化</a:t>
            </a:r>
            <a:endParaRPr lang="zh-CN" altLang="zh-CN" dirty="0"/>
          </a:p>
          <a:p>
            <a:pPr eaLnBrk="1" fontAlgn="auto" hangingPunct="1">
              <a:spcAft>
                <a:spcPts val="0"/>
              </a:spcAft>
              <a:buFont typeface="Arial" panose="020B0604020202020204" pitchFamily="34" charset="0"/>
              <a:buChar char="•"/>
              <a:defRPr/>
            </a:pPr>
            <a:r>
              <a:rPr lang="zh-CN" altLang="zh-CN" dirty="0" smtClean="0"/>
              <a:t>正当</a:t>
            </a:r>
            <a:r>
              <a:rPr lang="zh-CN" altLang="zh-CN" dirty="0"/>
              <a:t>的网络行为</a:t>
            </a:r>
            <a:endParaRPr lang="zh-CN" altLang="zh-CN" dirty="0"/>
          </a:p>
          <a:p>
            <a:pPr eaLnBrk="1" fontAlgn="auto" hangingPunct="1">
              <a:spcAft>
                <a:spcPts val="0"/>
              </a:spcAft>
              <a:buFont typeface="Arial" panose="020B0604020202020204" pitchFamily="34" charset="0"/>
              <a:buChar char="•"/>
              <a:defRPr/>
            </a:pPr>
            <a:r>
              <a:rPr lang="zh-CN" altLang="en-US" dirty="0"/>
              <a:t>平等与公正</a:t>
            </a:r>
            <a:endParaRPr lang="en-US" altLang="zh-CN" dirty="0"/>
          </a:p>
          <a:p>
            <a:pPr eaLnBrk="1" fontAlgn="auto" hangingPunct="1">
              <a:spcAft>
                <a:spcPts val="0"/>
              </a:spcAft>
              <a:buFont typeface="Arial" panose="020B0604020202020204" pitchFamily="34" charset="0"/>
              <a:buChar char="•"/>
              <a:defRPr/>
            </a:pPr>
            <a:r>
              <a:rPr lang="zh-CN" altLang="zh-CN" dirty="0"/>
              <a:t>知识产权争议</a:t>
            </a:r>
            <a:endParaRPr lang="en-US" altLang="zh-CN" dirty="0"/>
          </a:p>
          <a:p>
            <a:pPr eaLnBrk="1" fontAlgn="auto" hangingPunct="1">
              <a:spcAft>
                <a:spcPts val="0"/>
              </a:spcAft>
              <a:buFont typeface="Arial" panose="020B0604020202020204" pitchFamily="34" charset="0"/>
              <a:buChar char="•"/>
              <a:defRPr/>
            </a:pPr>
            <a:r>
              <a:rPr lang="zh-CN" altLang="zh-CN" dirty="0" smtClean="0"/>
              <a:t>全球化</a:t>
            </a:r>
            <a:r>
              <a:rPr lang="zh-CN" altLang="zh-CN" dirty="0"/>
              <a:t>信息交互与治理</a:t>
            </a:r>
            <a:r>
              <a:rPr lang="zh-CN" altLang="zh-CN" dirty="0" smtClean="0"/>
              <a:t>困境</a:t>
            </a:r>
            <a:endParaRPr lang="en-US" altLang="zh-CN" dirty="0" smtClean="0"/>
          </a:p>
          <a:p>
            <a:pPr eaLnBrk="1" fontAlgn="auto" hangingPunct="1">
              <a:spcAft>
                <a:spcPts val="0"/>
              </a:spcAft>
              <a:buFont typeface="Arial" panose="020B0604020202020204" pitchFamily="34" charset="0"/>
              <a:buChar char="•"/>
              <a:defRPr/>
            </a:pPr>
            <a:r>
              <a:rPr lang="zh-CN" altLang="en-US" dirty="0" smtClean="0">
                <a:solidFill>
                  <a:srgbClr val="FF0000"/>
                </a:solidFill>
              </a:rPr>
              <a:t>网络空间安全</a:t>
            </a:r>
            <a:endParaRPr lang="zh-CN" altLang="en-US" dirty="0">
              <a:solidFill>
                <a:srgbClr val="FF0000"/>
              </a:solidFill>
            </a:endParaRPr>
          </a:p>
        </p:txBody>
      </p:sp>
      <p:sp>
        <p:nvSpPr>
          <p:cNvPr id="8" name="标题 1"/>
          <p:cNvSpPr txBox="1"/>
          <p:nvPr/>
        </p:nvSpPr>
        <p:spPr bwMode="auto">
          <a:xfrm>
            <a:off x="643246" y="582960"/>
            <a:ext cx="10925361" cy="936104"/>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教学内容</a:t>
            </a:r>
            <a:r>
              <a:rPr lang="en-US" altLang="zh-CN" sz="3600" dirty="0" smtClean="0">
                <a:solidFill>
                  <a:schemeClr val="bg1"/>
                </a:solidFill>
              </a:rPr>
              <a:t>2</a:t>
            </a:r>
            <a:r>
              <a:rPr lang="zh-CN" altLang="en-US" sz="3600" dirty="0" smtClean="0">
                <a:solidFill>
                  <a:schemeClr val="bg1"/>
                </a:solidFill>
              </a:rPr>
              <a:t>：</a:t>
            </a:r>
            <a:r>
              <a:rPr lang="en-US" altLang="zh-CN" sz="3600" dirty="0" smtClean="0">
                <a:solidFill>
                  <a:schemeClr val="bg1"/>
                </a:solidFill>
              </a:rPr>
              <a:t>IT</a:t>
            </a:r>
            <a:r>
              <a:rPr lang="zh-CN" altLang="en-US" sz="3600" dirty="0" smtClean="0">
                <a:solidFill>
                  <a:schemeClr val="bg1"/>
                </a:solidFill>
              </a:rPr>
              <a:t>和</a:t>
            </a:r>
            <a:r>
              <a:rPr lang="en-US" altLang="zh-CN" sz="3600" dirty="0" smtClean="0">
                <a:solidFill>
                  <a:schemeClr val="bg1"/>
                </a:solidFill>
              </a:rPr>
              <a:t>BD</a:t>
            </a:r>
            <a:r>
              <a:rPr lang="zh-CN" altLang="en-US" sz="3600" dirty="0" smtClean="0">
                <a:solidFill>
                  <a:schemeClr val="bg1"/>
                </a:solidFill>
              </a:rPr>
              <a:t>伦理新问题</a:t>
            </a:r>
            <a:endParaRPr lang="en-US" altLang="zh-CN" sz="3600" dirty="0" smtClean="0">
              <a:solidFill>
                <a:schemeClr val="bg1"/>
              </a:solidFill>
            </a:endParaRPr>
          </a:p>
        </p:txBody>
      </p:sp>
      <p:sp>
        <p:nvSpPr>
          <p:cNvPr id="40967" name="灯片编号占位符 1"/>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B729EB32-2285-422B-B580-8116A48841C7}" type="slidenum">
              <a:rPr lang="zh-CN" altLang="en-US">
                <a:solidFill>
                  <a:srgbClr val="898989"/>
                </a:solidFill>
              </a:rPr>
            </a:fld>
            <a:endParaRPr lang="en-US" altLang="zh-CN">
              <a:solidFill>
                <a:srgbClr val="898989"/>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690688"/>
            <a:ext cx="10033000" cy="2374900"/>
          </a:xfrm>
        </p:spPr>
        <p:txBody>
          <a:bodyPr rtlCol="0">
            <a:normAutofit lnSpcReduction="10000"/>
          </a:bodyPr>
          <a:lstStyle/>
          <a:p>
            <a:pPr eaLnBrk="1" fontAlgn="auto" hangingPunct="1">
              <a:spcAft>
                <a:spcPts val="0"/>
              </a:spcAft>
              <a:buFont typeface="Arial" panose="020B0604020202020204" pitchFamily="34" charset="0"/>
              <a:buChar char="•"/>
              <a:defRPr/>
            </a:pPr>
            <a:r>
              <a:rPr kumimoji="1" lang="zh-CN" altLang="en-US" sz="2400" dirty="0">
                <a:solidFill>
                  <a:srgbClr val="FF0000"/>
                </a:solidFill>
              </a:rPr>
              <a:t>“我” </a:t>
            </a:r>
            <a:r>
              <a:rPr kumimoji="1" lang="zh-CN" altLang="en-US" sz="2400" dirty="0" smtClean="0"/>
              <a:t>在网络上留下了很多“足迹”</a:t>
            </a:r>
            <a:endParaRPr kumimoji="1" lang="en-US" altLang="zh-CN" sz="2400" dirty="0" smtClean="0"/>
          </a:p>
          <a:p>
            <a:pPr eaLnBrk="1" fontAlgn="auto" hangingPunct="1">
              <a:spcAft>
                <a:spcPts val="0"/>
              </a:spcAft>
              <a:buFont typeface="Arial" panose="020B0604020202020204" pitchFamily="34" charset="0"/>
              <a:buChar char="•"/>
              <a:defRPr/>
            </a:pPr>
            <a:r>
              <a:rPr kumimoji="1" lang="zh-CN" altLang="en-US" sz="2400" dirty="0" smtClean="0">
                <a:solidFill>
                  <a:srgbClr val="FF0000"/>
                </a:solidFill>
              </a:rPr>
              <a:t>我</a:t>
            </a:r>
            <a:r>
              <a:rPr kumimoji="1" lang="zh-CN" altLang="en-US" sz="2400" dirty="0" smtClean="0"/>
              <a:t>享受了网络带来的生活服务、社会交往和信息获取的便利</a:t>
            </a:r>
            <a:endParaRPr kumimoji="1" lang="en-US" altLang="zh-CN" sz="2400" dirty="0" smtClean="0"/>
          </a:p>
          <a:p>
            <a:pPr eaLnBrk="1" fontAlgn="auto" hangingPunct="1">
              <a:spcAft>
                <a:spcPts val="0"/>
              </a:spcAft>
              <a:buFont typeface="Arial" panose="020B0604020202020204" pitchFamily="34" charset="0"/>
              <a:buChar char="•"/>
              <a:defRPr/>
            </a:pPr>
            <a:r>
              <a:rPr kumimoji="1" lang="zh-CN" altLang="en-US" sz="2400" dirty="0" smtClean="0">
                <a:solidFill>
                  <a:srgbClr val="FF0000"/>
                </a:solidFill>
              </a:rPr>
              <a:t>我</a:t>
            </a:r>
            <a:r>
              <a:rPr kumimoji="1" lang="zh-CN" altLang="en-US" sz="2400" dirty="0" smtClean="0"/>
              <a:t>也在生活中经受了不少推销电话、不感兴趣的网络推荐等烦扰，还不时担心个人账号失密</a:t>
            </a:r>
            <a:endParaRPr kumimoji="1" lang="en-US" altLang="zh-CN" sz="2000" dirty="0">
              <a:solidFill>
                <a:srgbClr val="FF0000"/>
              </a:solidFill>
            </a:endParaRPr>
          </a:p>
          <a:p>
            <a:pPr eaLnBrk="1" fontAlgn="auto" hangingPunct="1">
              <a:spcAft>
                <a:spcPts val="0"/>
              </a:spcAft>
              <a:buFont typeface="Arial" panose="020B0604020202020204" pitchFamily="34" charset="0"/>
              <a:buChar char="•"/>
              <a:defRPr/>
            </a:pPr>
            <a:r>
              <a:rPr kumimoji="1" lang="zh-CN" altLang="en-US" sz="2400" dirty="0"/>
              <a:t>我有条件地同意研究人员使用</a:t>
            </a:r>
            <a:r>
              <a:rPr kumimoji="1" lang="zh-CN" altLang="en-US" sz="2400" dirty="0" smtClean="0"/>
              <a:t>我个人数据展开科技创造，比如，我不希望做对我个人行为和日常生活的挖掘、跟踪！</a:t>
            </a:r>
            <a:endParaRPr kumimoji="1" lang="en-US" altLang="zh-CN" sz="2400" dirty="0"/>
          </a:p>
          <a:p>
            <a:pPr marL="457200" lvl="1" indent="0" eaLnBrk="1" fontAlgn="auto" hangingPunct="1">
              <a:spcAft>
                <a:spcPts val="0"/>
              </a:spcAft>
              <a:buFont typeface="Arial" panose="020B0604020202020204" pitchFamily="34" charset="0"/>
              <a:buNone/>
              <a:defRPr/>
            </a:pPr>
            <a:endParaRPr kumimoji="1" lang="en-US" altLang="zh-CN" sz="2000" dirty="0"/>
          </a:p>
        </p:txBody>
      </p:sp>
      <p:pic>
        <p:nvPicPr>
          <p:cNvPr id="41986" name="Picture 2"/>
          <p:cNvPicPr>
            <a:picLocks noChangeAspect="1" noChangeArrowheads="1"/>
          </p:cNvPicPr>
          <p:nvPr/>
        </p:nvPicPr>
        <p:blipFill>
          <a:blip r:embed="rId1" cstate="print"/>
          <a:srcRect/>
          <a:stretch>
            <a:fillRect/>
          </a:stretch>
        </p:blipFill>
        <p:spPr bwMode="auto">
          <a:xfrm>
            <a:off x="6257925" y="4079875"/>
            <a:ext cx="5772150" cy="2641600"/>
          </a:xfrm>
          <a:prstGeom prst="rect">
            <a:avLst/>
          </a:prstGeom>
          <a:noFill/>
          <a:ln w="9525">
            <a:noFill/>
            <a:miter lim="800000"/>
            <a:headEnd/>
            <a:tailEnd/>
          </a:ln>
        </p:spPr>
      </p:pic>
      <p:sp>
        <p:nvSpPr>
          <p:cNvPr id="6" name="标题 1"/>
          <p:cNvSpPr txBox="1"/>
          <p:nvPr/>
        </p:nvSpPr>
        <p:spPr bwMode="auto">
          <a:xfrm>
            <a:off x="643246" y="582960"/>
            <a:ext cx="10925361" cy="936104"/>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新鲜经验：我和“大数据”</a:t>
            </a:r>
            <a:endParaRPr lang="en-US" altLang="zh-CN" sz="3600" dirty="0" smtClean="0">
              <a:solidFill>
                <a:schemeClr val="bg1"/>
              </a:solidFill>
            </a:endParaRPr>
          </a:p>
        </p:txBody>
      </p:sp>
      <p:sp>
        <p:nvSpPr>
          <p:cNvPr id="8" name="灯片编号占位符 7"/>
          <p:cNvSpPr>
            <a:spLocks noGrp="1"/>
          </p:cNvSpPr>
          <p:nvPr>
            <p:ph type="sldNum" sz="quarter" idx="12"/>
          </p:nvPr>
        </p:nvSpPr>
        <p:spPr/>
        <p:txBody>
          <a:bodyPr/>
          <a:lstStyle/>
          <a:p>
            <a:pPr>
              <a:defRPr/>
            </a:pPr>
            <a:fld id="{8AACC56C-6E1A-4735-A6D8-B172E511D887}" type="slidenum">
              <a:rPr lang="zh-CN" altLang="en-US"/>
            </a:fld>
            <a:endParaRPr lang="zh-CN" alt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内容占位符 2"/>
          <p:cNvSpPr>
            <a:spLocks noGrp="1"/>
          </p:cNvSpPr>
          <p:nvPr>
            <p:ph idx="1"/>
          </p:nvPr>
        </p:nvSpPr>
        <p:spPr>
          <a:xfrm>
            <a:off x="642938" y="1692275"/>
            <a:ext cx="10925175" cy="4764088"/>
          </a:xfrm>
          <a:ln w="19050">
            <a:solidFill>
              <a:schemeClr val="tx2"/>
            </a:solidFill>
          </a:ln>
        </p:spPr>
        <p:txBody>
          <a:bodyPr/>
          <a:lstStyle/>
          <a:p>
            <a:pPr marL="457200" indent="-457200" eaLnBrk="1" hangingPunct="1">
              <a:spcBef>
                <a:spcPts val="600"/>
              </a:spcBef>
              <a:buFont typeface="Calibri" panose="020F0502020204030204" pitchFamily="34" charset="0"/>
              <a:buAutoNum type="arabicPeriod"/>
            </a:pPr>
            <a:r>
              <a:rPr lang="zh-CN" altLang="en-US" sz="2000" smtClean="0">
                <a:solidFill>
                  <a:srgbClr val="FF0000"/>
                </a:solidFill>
                <a:latin typeface="黑体" panose="02010609060101010101" pitchFamily="49" charset="-122"/>
                <a:ea typeface="黑体" panose="02010609060101010101" pitchFamily="49" charset="-122"/>
              </a:rPr>
              <a:t>数据安全</a:t>
            </a:r>
            <a:endParaRPr lang="en-US" altLang="zh-CN" sz="2000" smtClean="0">
              <a:solidFill>
                <a:srgbClr val="FF0000"/>
              </a:solidFill>
              <a:latin typeface="黑体" panose="02010609060101010101" pitchFamily="49" charset="-122"/>
              <a:ea typeface="黑体" panose="02010609060101010101" pitchFamily="49" charset="-122"/>
            </a:endParaRPr>
          </a:p>
          <a:p>
            <a:pPr lvl="1" eaLnBrk="1" hangingPunct="1">
              <a:spcBef>
                <a:spcPts val="600"/>
              </a:spcBef>
            </a:pPr>
            <a:r>
              <a:rPr lang="zh-CN" altLang="en-US" sz="1800" smtClean="0">
                <a:latin typeface="黑体" panose="02010609060101010101" pitchFamily="49" charset="-122"/>
                <a:ea typeface="黑体" panose="02010609060101010101" pitchFamily="49" charset="-122"/>
              </a:rPr>
              <a:t>从采集、存储、关联计算、发布到交易、存档，全流程中数据能不能保证不被盗、不被破解、不被篡改、不主动泄露？安全、可靠？</a:t>
            </a:r>
            <a:endParaRPr lang="en-US" altLang="zh-CN" sz="2000" b="1" smtClean="0">
              <a:solidFill>
                <a:srgbClr val="FF0000"/>
              </a:solidFill>
              <a:latin typeface="黑体" panose="02010609060101010101" pitchFamily="49" charset="-122"/>
              <a:ea typeface="黑体" panose="02010609060101010101" pitchFamily="49" charset="-122"/>
            </a:endParaRPr>
          </a:p>
          <a:p>
            <a:pPr marL="457200" indent="-457200" eaLnBrk="1" hangingPunct="1">
              <a:spcBef>
                <a:spcPts val="600"/>
              </a:spcBef>
              <a:buFont typeface="Calibri" panose="020F0502020204030204" pitchFamily="34" charset="0"/>
              <a:buAutoNum type="arabicPeriod"/>
            </a:pPr>
            <a:r>
              <a:rPr lang="zh-CN" altLang="zh-CN" sz="2000" smtClean="0">
                <a:solidFill>
                  <a:srgbClr val="FF0000"/>
                </a:solidFill>
                <a:latin typeface="黑体" panose="02010609060101010101" pitchFamily="49" charset="-122"/>
                <a:ea typeface="黑体" panose="02010609060101010101" pitchFamily="49" charset="-122"/>
              </a:rPr>
              <a:t>身份困境</a:t>
            </a:r>
            <a:endParaRPr lang="en-US" altLang="zh-CN" sz="2000" smtClean="0">
              <a:solidFill>
                <a:srgbClr val="FF0000"/>
              </a:solidFill>
              <a:latin typeface="黑体" panose="02010609060101010101" pitchFamily="49" charset="-122"/>
              <a:ea typeface="黑体" panose="02010609060101010101" pitchFamily="49" charset="-122"/>
            </a:endParaRPr>
          </a:p>
          <a:p>
            <a:pPr lvl="1" eaLnBrk="1" hangingPunct="1">
              <a:spcBef>
                <a:spcPts val="600"/>
              </a:spcBef>
            </a:pPr>
            <a:r>
              <a:rPr lang="zh-CN" altLang="zh-CN" sz="1800" smtClean="0">
                <a:latin typeface="黑体" panose="02010609060101010101" pitchFamily="49" charset="-122"/>
                <a:ea typeface="黑体" panose="02010609060101010101" pitchFamily="49" charset="-122"/>
              </a:rPr>
              <a:t>数字身份与社会身份，可以分离还是必须关联？</a:t>
            </a:r>
            <a:endParaRPr lang="zh-CN" altLang="zh-CN" sz="1800" smtClean="0">
              <a:latin typeface="黑体" panose="02010609060101010101" pitchFamily="49" charset="-122"/>
              <a:ea typeface="黑体" panose="02010609060101010101" pitchFamily="49" charset="-122"/>
            </a:endParaRPr>
          </a:p>
          <a:p>
            <a:pPr marL="457200" indent="-457200" eaLnBrk="1" hangingPunct="1">
              <a:spcBef>
                <a:spcPts val="600"/>
              </a:spcBef>
              <a:buFont typeface="Calibri" panose="020F0502020204030204" pitchFamily="34" charset="0"/>
              <a:buAutoNum type="arabicPeriod"/>
            </a:pPr>
            <a:r>
              <a:rPr lang="zh-CN" altLang="zh-CN" sz="2000" smtClean="0">
                <a:solidFill>
                  <a:srgbClr val="FF0000"/>
                </a:solidFill>
                <a:latin typeface="黑体" panose="02010609060101010101" pitchFamily="49" charset="-122"/>
                <a:ea typeface="黑体" panose="02010609060101010101" pitchFamily="49" charset="-122"/>
              </a:rPr>
              <a:t>隐私边界</a:t>
            </a:r>
            <a:endParaRPr lang="en-US" altLang="zh-CN" sz="2000" smtClean="0">
              <a:solidFill>
                <a:srgbClr val="FF0000"/>
              </a:solidFill>
              <a:latin typeface="黑体" panose="02010609060101010101" pitchFamily="49" charset="-122"/>
              <a:ea typeface="黑体" panose="02010609060101010101" pitchFamily="49" charset="-122"/>
            </a:endParaRPr>
          </a:p>
          <a:p>
            <a:pPr lvl="1" eaLnBrk="1" hangingPunct="1">
              <a:spcBef>
                <a:spcPts val="600"/>
              </a:spcBef>
            </a:pPr>
            <a:r>
              <a:rPr lang="zh-CN" altLang="zh-CN" sz="1800" smtClean="0">
                <a:latin typeface="黑体" panose="02010609060101010101" pitchFamily="49" charset="-122"/>
                <a:ea typeface="黑体" panose="02010609060101010101" pitchFamily="49" charset="-122"/>
              </a:rPr>
              <a:t>当你听说“相比遭遇恐怖袭击、破产和财产被盗，美国人更担心网络在不经意间泄露了自己的隐私”，你怎么理解大数据时代个人隐私？法律该如何提供保护？</a:t>
            </a:r>
            <a:endParaRPr lang="zh-CN" altLang="zh-CN" sz="1800" smtClean="0">
              <a:latin typeface="黑体" panose="02010609060101010101" pitchFamily="49" charset="-122"/>
              <a:ea typeface="黑体" panose="02010609060101010101" pitchFamily="49" charset="-122"/>
            </a:endParaRPr>
          </a:p>
          <a:p>
            <a:pPr marL="457200" indent="-457200" eaLnBrk="1" hangingPunct="1">
              <a:spcBef>
                <a:spcPts val="600"/>
              </a:spcBef>
              <a:buFont typeface="Calibri" panose="020F0502020204030204" pitchFamily="34" charset="0"/>
              <a:buAutoNum type="arabicPeriod"/>
            </a:pPr>
            <a:r>
              <a:rPr lang="zh-CN" altLang="zh-CN" sz="2000" smtClean="0">
                <a:solidFill>
                  <a:srgbClr val="FF0000"/>
                </a:solidFill>
                <a:latin typeface="黑体" panose="02010609060101010101" pitchFamily="49" charset="-122"/>
                <a:ea typeface="黑体" panose="02010609060101010101" pitchFamily="49" charset="-122"/>
              </a:rPr>
              <a:t>数据权利</a:t>
            </a:r>
            <a:endParaRPr lang="en-US" altLang="zh-CN" sz="2000" smtClean="0">
              <a:solidFill>
                <a:srgbClr val="FF0000"/>
              </a:solidFill>
              <a:latin typeface="黑体" panose="02010609060101010101" pitchFamily="49" charset="-122"/>
              <a:ea typeface="黑体" panose="02010609060101010101" pitchFamily="49" charset="-122"/>
            </a:endParaRPr>
          </a:p>
          <a:p>
            <a:pPr lvl="1" eaLnBrk="1" hangingPunct="1">
              <a:spcBef>
                <a:spcPts val="600"/>
              </a:spcBef>
            </a:pPr>
            <a:r>
              <a:rPr lang="zh-CN" altLang="zh-CN" sz="1800" smtClean="0">
                <a:latin typeface="黑体" panose="02010609060101010101" pitchFamily="49" charset="-122"/>
                <a:ea typeface="黑体" panose="02010609060101010101" pitchFamily="49" charset="-122"/>
              </a:rPr>
              <a:t>大数据是资产</a:t>
            </a:r>
            <a:r>
              <a:rPr lang="zh-CN" altLang="en-US" sz="1800" smtClean="0">
                <a:latin typeface="黑体" panose="02010609060101010101" pitchFamily="49" charset="-122"/>
                <a:ea typeface="黑体" panose="02010609060101010101" pitchFamily="49" charset="-122"/>
              </a:rPr>
              <a:t>吗</a:t>
            </a:r>
            <a:r>
              <a:rPr lang="zh-CN" altLang="zh-CN" sz="1800" smtClean="0">
                <a:latin typeface="黑体" panose="02010609060101010101" pitchFamily="49" charset="-122"/>
                <a:ea typeface="黑体" panose="02010609060101010101" pitchFamily="49" charset="-122"/>
              </a:rPr>
              <a:t>？在</a:t>
            </a:r>
            <a:r>
              <a:rPr lang="zh-CN" altLang="en-US" sz="1800" smtClean="0">
                <a:latin typeface="黑体" panose="02010609060101010101" pitchFamily="49" charset="-122"/>
                <a:ea typeface="黑体" panose="02010609060101010101" pitchFamily="49" charset="-122"/>
              </a:rPr>
              <a:t>“我”</a:t>
            </a:r>
            <a:r>
              <a:rPr lang="zh-CN" altLang="zh-CN" sz="1800" smtClean="0">
                <a:latin typeface="黑体" panose="02010609060101010101" pitchFamily="49" charset="-122"/>
                <a:ea typeface="黑体" panose="02010609060101010101" pitchFamily="49" charset="-122"/>
              </a:rPr>
              <a:t>、</a:t>
            </a:r>
            <a:r>
              <a:rPr lang="en-US" altLang="zh-CN" sz="1800" smtClean="0">
                <a:latin typeface="黑体" panose="02010609060101010101" pitchFamily="49" charset="-122"/>
                <a:ea typeface="黑体" panose="02010609060101010101" pitchFamily="49" charset="-122"/>
              </a:rPr>
              <a:t>BAT</a:t>
            </a:r>
            <a:r>
              <a:rPr lang="zh-CN" altLang="en-US" sz="1800" smtClean="0">
                <a:latin typeface="黑体" panose="02010609060101010101" pitchFamily="49" charset="-122"/>
                <a:ea typeface="黑体" panose="02010609060101010101" pitchFamily="49" charset="-122"/>
              </a:rPr>
              <a:t>等企业</a:t>
            </a:r>
            <a:r>
              <a:rPr lang="zh-CN" altLang="zh-CN" sz="1800" smtClean="0">
                <a:latin typeface="黑体" panose="02010609060101010101" pitchFamily="49" charset="-122"/>
                <a:ea typeface="黑体" panose="02010609060101010101" pitchFamily="49" charset="-122"/>
              </a:rPr>
              <a:t>、政府</a:t>
            </a:r>
            <a:r>
              <a:rPr lang="zh-CN" altLang="en-US" sz="1800" smtClean="0">
                <a:latin typeface="黑体" panose="02010609060101010101" pitchFamily="49" charset="-122"/>
                <a:ea typeface="黑体" panose="02010609060101010101" pitchFamily="49" charset="-122"/>
              </a:rPr>
              <a:t>、他人或公众</a:t>
            </a:r>
            <a:r>
              <a:rPr lang="zh-CN" altLang="zh-CN" sz="1800" smtClean="0">
                <a:latin typeface="黑体" panose="02010609060101010101" pitchFamily="49" charset="-122"/>
                <a:ea typeface="黑体" panose="02010609060101010101" pitchFamily="49" charset="-122"/>
              </a:rPr>
              <a:t>之间，拥有权、采集权、使用权、处理权、交易权、分红权，这一整套的数据权利成立吗？可以定价吗？符合伦理吗？</a:t>
            </a:r>
            <a:endParaRPr lang="zh-CN" altLang="zh-CN" sz="1800" smtClean="0">
              <a:latin typeface="黑体" panose="02010609060101010101" pitchFamily="49" charset="-122"/>
              <a:ea typeface="黑体" panose="02010609060101010101" pitchFamily="49" charset="-122"/>
            </a:endParaRPr>
          </a:p>
          <a:p>
            <a:pPr marL="457200" indent="-457200" eaLnBrk="1" hangingPunct="1">
              <a:spcBef>
                <a:spcPts val="600"/>
              </a:spcBef>
              <a:buFont typeface="Calibri" panose="020F0502020204030204" pitchFamily="34" charset="0"/>
              <a:buAutoNum type="arabicPeriod"/>
            </a:pPr>
            <a:r>
              <a:rPr lang="zh-CN" altLang="en-US" sz="2000" smtClean="0">
                <a:solidFill>
                  <a:srgbClr val="FF0000"/>
                </a:solidFill>
                <a:latin typeface="黑体" panose="02010609060101010101" pitchFamily="49" charset="-122"/>
                <a:ea typeface="黑体" panose="02010609060101010101" pitchFamily="49" charset="-122"/>
              </a:rPr>
              <a:t>大</a:t>
            </a:r>
            <a:r>
              <a:rPr lang="zh-CN" altLang="zh-CN" sz="2000" smtClean="0">
                <a:solidFill>
                  <a:srgbClr val="FF0000"/>
                </a:solidFill>
                <a:latin typeface="黑体" panose="02010609060101010101" pitchFamily="49" charset="-122"/>
                <a:ea typeface="黑体" panose="02010609060101010101" pitchFamily="49" charset="-122"/>
              </a:rPr>
              <a:t>数据</a:t>
            </a:r>
            <a:r>
              <a:rPr lang="zh-CN" altLang="en-US" sz="2000" smtClean="0">
                <a:solidFill>
                  <a:srgbClr val="FF0000"/>
                </a:solidFill>
                <a:latin typeface="黑体" panose="02010609060101010101" pitchFamily="49" charset="-122"/>
                <a:ea typeface="黑体" panose="02010609060101010101" pitchFamily="49" charset="-122"/>
              </a:rPr>
              <a:t>公共</a:t>
            </a:r>
            <a:r>
              <a:rPr lang="zh-CN" altLang="zh-CN" sz="2000" smtClean="0">
                <a:solidFill>
                  <a:srgbClr val="FF0000"/>
                </a:solidFill>
                <a:latin typeface="黑体" panose="02010609060101010101" pitchFamily="49" charset="-122"/>
                <a:ea typeface="黑体" panose="02010609060101010101" pitchFamily="49" charset="-122"/>
              </a:rPr>
              <a:t>治理</a:t>
            </a:r>
            <a:endParaRPr lang="en-US" altLang="zh-CN" sz="2000" smtClean="0">
              <a:solidFill>
                <a:srgbClr val="FF0000"/>
              </a:solidFill>
              <a:latin typeface="黑体" panose="02010609060101010101" pitchFamily="49" charset="-122"/>
              <a:ea typeface="黑体" panose="02010609060101010101" pitchFamily="49" charset="-122"/>
            </a:endParaRPr>
          </a:p>
          <a:p>
            <a:pPr lvl="1" eaLnBrk="1" hangingPunct="1">
              <a:spcBef>
                <a:spcPts val="600"/>
              </a:spcBef>
            </a:pPr>
            <a:r>
              <a:rPr lang="zh-CN" altLang="zh-CN" sz="1800" smtClean="0">
                <a:latin typeface="黑体" panose="02010609060101010101" pitchFamily="49" charset="-122"/>
                <a:ea typeface="黑体" panose="02010609060101010101" pitchFamily="49" charset="-122"/>
              </a:rPr>
              <a:t>政府主导的公众数据是否应当无条件开放共享？基于大数据的公共治理创新如何才能避免歧视、不当得利、威胁个人自由？</a:t>
            </a:r>
            <a:endParaRPr lang="zh-CN" altLang="en-US" sz="2000" smtClean="0">
              <a:latin typeface="黑体" panose="02010609060101010101" pitchFamily="49" charset="-122"/>
              <a:ea typeface="黑体" panose="02010609060101010101" pitchFamily="49" charset="-122"/>
            </a:endParaRPr>
          </a:p>
        </p:txBody>
      </p:sp>
      <p:sp>
        <p:nvSpPr>
          <p:cNvPr id="7" name="标题 1"/>
          <p:cNvSpPr txBox="1"/>
          <p:nvPr/>
        </p:nvSpPr>
        <p:spPr bwMode="auto">
          <a:xfrm>
            <a:off x="643246" y="500664"/>
            <a:ext cx="10925361" cy="936104"/>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a:solidFill>
                  <a:schemeClr val="bg1"/>
                </a:solidFill>
              </a:rPr>
              <a:t>大</a:t>
            </a:r>
            <a:r>
              <a:rPr lang="zh-CN" altLang="en-US" sz="3600" dirty="0" smtClean="0">
                <a:solidFill>
                  <a:schemeClr val="bg1"/>
                </a:solidFill>
              </a:rPr>
              <a:t>数据时代新的伦理问题</a:t>
            </a:r>
            <a:endParaRPr lang="en-US" altLang="zh-CN" sz="3600" dirty="0" smtClean="0">
              <a:solidFill>
                <a:schemeClr val="bg1"/>
              </a:solidFill>
            </a:endParaRPr>
          </a:p>
        </p:txBody>
      </p:sp>
      <p:sp>
        <p:nvSpPr>
          <p:cNvPr id="43014" name="灯片编号占位符 3"/>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DBCA5A15-1B4E-4096-B5EE-DA2C6C589625}" type="slidenum">
              <a:rPr lang="zh-CN" altLang="en-US">
                <a:solidFill>
                  <a:srgbClr val="898989"/>
                </a:solidFill>
              </a:rPr>
            </a:fld>
            <a:endParaRPr lang="en-US" altLang="zh-CN">
              <a:solidFill>
                <a:srgbClr val="898989"/>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内容占位符 3"/>
          <p:cNvSpPr>
            <a:spLocks noGrp="1"/>
          </p:cNvSpPr>
          <p:nvPr>
            <p:ph sz="half" idx="2"/>
          </p:nvPr>
        </p:nvSpPr>
        <p:spPr>
          <a:xfrm>
            <a:off x="609600" y="1535113"/>
            <a:ext cx="10972800" cy="2100262"/>
          </a:xfrm>
          <a:ln>
            <a:solidFill>
              <a:schemeClr val="accent1"/>
            </a:solidFill>
          </a:ln>
        </p:spPr>
        <p:txBody>
          <a:bodyPr/>
          <a:lstStyle/>
          <a:p>
            <a:pPr eaLnBrk="1" hangingPunct="1"/>
            <a:r>
              <a:rPr lang="zh-CN" altLang="en-US" smtClean="0">
                <a:ea typeface="黑体" panose="02010609060101010101" pitchFamily="49" charset="-122"/>
              </a:rPr>
              <a:t>个人数据“被提取”“被记录”“被滥用”“被关联处理”，其获取过程无意识，使用边界不清晰，常超出客户最初授权范围，综合信息、敏感信息安全风险</a:t>
            </a:r>
            <a:endParaRPr lang="en-US" altLang="zh-CN" smtClean="0">
              <a:ea typeface="黑体" panose="02010609060101010101" pitchFamily="49" charset="-122"/>
            </a:endParaRPr>
          </a:p>
          <a:p>
            <a:pPr eaLnBrk="1" hangingPunct="1"/>
            <a:r>
              <a:rPr lang="zh-CN" altLang="en-US" smtClean="0">
                <a:ea typeface="黑体" panose="02010609060101010101" pitchFamily="49" charset="-122"/>
              </a:rPr>
              <a:t>网络条件下，各种应用系统被“撞库”成功后的数据泄露风险</a:t>
            </a:r>
            <a:endParaRPr lang="en-US" altLang="zh-CN" smtClean="0">
              <a:ea typeface="黑体" panose="02010609060101010101" pitchFamily="49" charset="-122"/>
            </a:endParaRPr>
          </a:p>
          <a:p>
            <a:pPr eaLnBrk="1" hangingPunct="1"/>
            <a:r>
              <a:rPr lang="zh-CN" altLang="en-US" smtClean="0">
                <a:ea typeface="黑体" panose="02010609060101010101" pitchFamily="49" charset="-122"/>
              </a:rPr>
              <a:t>“云端”安全管理与审计体制安全风险</a:t>
            </a:r>
            <a:endParaRPr lang="en-US" altLang="zh-CN" smtClean="0">
              <a:ea typeface="黑体" panose="02010609060101010101" pitchFamily="49" charset="-122"/>
            </a:endParaRPr>
          </a:p>
        </p:txBody>
      </p:sp>
      <p:sp>
        <p:nvSpPr>
          <p:cNvPr id="44035" name="灯片编号占位符 7"/>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6A61958A-B02A-4591-B161-4F6D5DA3B0A7}" type="slidenum">
              <a:rPr lang="zh-CN" altLang="en-US">
                <a:solidFill>
                  <a:srgbClr val="898989"/>
                </a:solidFill>
              </a:rPr>
            </a:fld>
            <a:endParaRPr lang="en-US" altLang="zh-CN">
              <a:solidFill>
                <a:srgbClr val="898989"/>
              </a:solidFill>
            </a:endParaRPr>
          </a:p>
        </p:txBody>
      </p:sp>
      <p:sp>
        <p:nvSpPr>
          <p:cNvPr id="9" name="标题 1"/>
          <p:cNvSpPr txBox="1">
            <a:spLocks noGrp="1"/>
          </p:cNvSpPr>
          <p:nvPr>
            <p:ph type="title"/>
          </p:nvPr>
        </p:nvSpPr>
        <p:spPr bwMode="auto"/>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新问题</a:t>
            </a:r>
            <a:r>
              <a:rPr lang="en-US" altLang="zh-CN" sz="3600" dirty="0" smtClean="0">
                <a:solidFill>
                  <a:schemeClr val="bg1"/>
                </a:solidFill>
              </a:rPr>
              <a:t>1</a:t>
            </a:r>
            <a:r>
              <a:rPr lang="zh-CN" altLang="en-US" sz="3600" dirty="0" smtClean="0">
                <a:solidFill>
                  <a:schemeClr val="bg1"/>
                </a:solidFill>
              </a:rPr>
              <a:t>：新型数据安全风险</a:t>
            </a:r>
            <a:endParaRPr lang="en-US" altLang="zh-CN" sz="3600" dirty="0" smtClean="0">
              <a:solidFill>
                <a:schemeClr val="bg1"/>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
          <p:cNvSpPr txBox="1">
            <a:spLocks noGrp="1"/>
          </p:cNvSpPr>
          <p:nvPr>
            <p:ph type="title"/>
          </p:nvPr>
        </p:nvSpPr>
        <p:spPr bwMode="auto"/>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数字身份之困</a:t>
            </a:r>
            <a:endParaRPr lang="en-US" altLang="zh-CN" sz="3600" dirty="0" smtClean="0">
              <a:solidFill>
                <a:schemeClr val="bg1"/>
              </a:solidFill>
            </a:endParaRPr>
          </a:p>
        </p:txBody>
      </p:sp>
      <p:pic>
        <p:nvPicPr>
          <p:cNvPr id="45060" name="内容占位符 5"/>
          <p:cNvPicPr>
            <a:picLocks noGrp="1" noChangeAspect="1"/>
          </p:cNvPicPr>
          <p:nvPr>
            <p:ph sz="half" idx="2"/>
          </p:nvPr>
        </p:nvPicPr>
        <p:blipFill>
          <a:blip r:embed="rId1" cstate="print"/>
          <a:srcRect/>
          <a:stretch>
            <a:fillRect/>
          </a:stretch>
        </p:blipFill>
        <p:spPr>
          <a:xfrm>
            <a:off x="1006475" y="1600200"/>
            <a:ext cx="3971925" cy="2209800"/>
          </a:xfrm>
        </p:spPr>
      </p:pic>
      <p:sp>
        <p:nvSpPr>
          <p:cNvPr id="45061" name="内容占位符 11"/>
          <p:cNvSpPr>
            <a:spLocks noGrp="1"/>
          </p:cNvSpPr>
          <p:nvPr>
            <p:ph sz="quarter" idx="4"/>
          </p:nvPr>
        </p:nvSpPr>
        <p:spPr>
          <a:xfrm>
            <a:off x="1289050" y="4068763"/>
            <a:ext cx="9994900" cy="2011362"/>
          </a:xfrm>
          <a:ln>
            <a:solidFill>
              <a:schemeClr val="accent1"/>
            </a:solidFill>
          </a:ln>
        </p:spPr>
        <p:txBody>
          <a:bodyPr/>
          <a:lstStyle/>
          <a:p>
            <a:pPr eaLnBrk="1" hangingPunct="1"/>
            <a:r>
              <a:rPr lang="zh-CN" altLang="en-US" smtClean="0">
                <a:latin typeface="黑体" panose="02010609060101010101" pitchFamily="49" charset="-122"/>
                <a:ea typeface="黑体" panose="02010609060101010101" pitchFamily="49" charset="-122"/>
              </a:rPr>
              <a:t>数字身份特点</a:t>
            </a:r>
            <a:endParaRPr lang="en-US" altLang="zh-CN" smtClean="0">
              <a:latin typeface="黑体" panose="02010609060101010101" pitchFamily="49" charset="-122"/>
              <a:ea typeface="黑体" panose="02010609060101010101" pitchFamily="49" charset="-122"/>
            </a:endParaRPr>
          </a:p>
          <a:p>
            <a:pPr lvl="1" eaLnBrk="1" hangingPunct="1"/>
            <a:r>
              <a:rPr lang="zh-CN" altLang="en-US" smtClean="0">
                <a:latin typeface="黑体" panose="02010609060101010101" pitchFamily="49" charset="-122"/>
                <a:ea typeface="黑体" panose="02010609060101010101" pitchFamily="49" charset="-122"/>
              </a:rPr>
              <a:t>多样、可变、允许匿名</a:t>
            </a:r>
            <a:r>
              <a:rPr lang="en-US" altLang="zh-CN" smtClean="0">
                <a:latin typeface="黑体" panose="02010609060101010101" pitchFamily="49" charset="-122"/>
                <a:ea typeface="黑体" panose="02010609060101010101" pitchFamily="49" charset="-122"/>
              </a:rPr>
              <a:t>/</a:t>
            </a:r>
            <a:r>
              <a:rPr lang="zh-CN" altLang="en-US" smtClean="0">
                <a:latin typeface="黑体" panose="02010609060101010101" pitchFamily="49" charset="-122"/>
                <a:ea typeface="黑体" panose="02010609060101010101" pitchFamily="49" charset="-122"/>
              </a:rPr>
              <a:t>假名</a:t>
            </a:r>
            <a:endParaRPr lang="en-US" altLang="zh-CN" smtClean="0">
              <a:latin typeface="黑体" panose="02010609060101010101" pitchFamily="49" charset="-122"/>
              <a:ea typeface="黑体" panose="02010609060101010101" pitchFamily="49" charset="-122"/>
            </a:endParaRPr>
          </a:p>
          <a:p>
            <a:pPr lvl="1" eaLnBrk="1" hangingPunct="1"/>
            <a:r>
              <a:rPr lang="zh-CN" altLang="en-US" smtClean="0">
                <a:latin typeface="黑体" panose="02010609060101010101" pitchFamily="49" charset="-122"/>
                <a:ea typeface="黑体" panose="02010609060101010101" pitchFamily="49" charset="-122"/>
              </a:rPr>
              <a:t>易被盗用，易被追溯</a:t>
            </a:r>
            <a:endParaRPr lang="en-US" altLang="zh-CN" smtClean="0">
              <a:latin typeface="黑体" panose="02010609060101010101" pitchFamily="49" charset="-122"/>
              <a:ea typeface="黑体" panose="02010609060101010101" pitchFamily="49" charset="-122"/>
            </a:endParaRPr>
          </a:p>
          <a:p>
            <a:pPr eaLnBrk="1" hangingPunct="1"/>
            <a:r>
              <a:rPr lang="zh-CN" altLang="en-US" smtClean="0">
                <a:latin typeface="黑体" panose="02010609060101010101" pitchFamily="49" charset="-122"/>
                <a:ea typeface="黑体" panose="02010609060101010101" pitchFamily="49" charset="-122"/>
              </a:rPr>
              <a:t>匿名还是实名？</a:t>
            </a:r>
            <a:endParaRPr lang="en-US" altLang="zh-CN" smtClean="0">
              <a:latin typeface="黑体" panose="02010609060101010101" pitchFamily="49" charset="-122"/>
              <a:ea typeface="黑体" panose="02010609060101010101" pitchFamily="49" charset="-122"/>
            </a:endParaRPr>
          </a:p>
          <a:p>
            <a:pPr eaLnBrk="1" hangingPunct="1"/>
            <a:endParaRPr lang="en-US" altLang="zh-CN" smtClean="0">
              <a:latin typeface="黑体" panose="02010609060101010101" pitchFamily="49" charset="-122"/>
              <a:ea typeface="黑体" panose="02010609060101010101" pitchFamily="49" charset="-122"/>
            </a:endParaRPr>
          </a:p>
          <a:p>
            <a:pPr eaLnBrk="1" hangingPunct="1"/>
            <a:endParaRPr lang="en-US" altLang="zh-CN" smtClean="0">
              <a:latin typeface="黑体" panose="02010609060101010101" pitchFamily="49" charset="-122"/>
              <a:ea typeface="黑体" panose="02010609060101010101" pitchFamily="49" charset="-122"/>
            </a:endParaRPr>
          </a:p>
          <a:p>
            <a:pPr eaLnBrk="1" hangingPunct="1"/>
            <a:endParaRPr lang="zh-CN" altLang="en-US" smtClean="0">
              <a:latin typeface="黑体" panose="02010609060101010101" pitchFamily="49" charset="-122"/>
              <a:ea typeface="黑体" panose="02010609060101010101" pitchFamily="49" charset="-122"/>
            </a:endParaRPr>
          </a:p>
        </p:txBody>
      </p:sp>
      <p:pic>
        <p:nvPicPr>
          <p:cNvPr id="45062" name="图片 6"/>
          <p:cNvPicPr>
            <a:picLocks noChangeAspect="1"/>
          </p:cNvPicPr>
          <p:nvPr/>
        </p:nvPicPr>
        <p:blipFill>
          <a:blip r:embed="rId2" cstate="print"/>
          <a:srcRect/>
          <a:stretch>
            <a:fillRect/>
          </a:stretch>
        </p:blipFill>
        <p:spPr bwMode="auto">
          <a:xfrm>
            <a:off x="6635750" y="1622425"/>
            <a:ext cx="4114800" cy="2351088"/>
          </a:xfrm>
          <a:prstGeom prst="rect">
            <a:avLst/>
          </a:prstGeom>
          <a:noFill/>
          <a:ln w="9525">
            <a:noFill/>
            <a:miter lim="800000"/>
            <a:headEnd/>
            <a:tailEnd/>
          </a:ln>
        </p:spPr>
      </p:pic>
      <p:sp>
        <p:nvSpPr>
          <p:cNvPr id="17" name="标题 1"/>
          <p:cNvSpPr txBox="1"/>
          <p:nvPr/>
        </p:nvSpPr>
        <p:spPr bwMode="auto">
          <a:xfrm>
            <a:off x="597526" y="323020"/>
            <a:ext cx="10925361" cy="936104"/>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a:solidFill>
                  <a:schemeClr val="bg1"/>
                </a:solidFill>
              </a:rPr>
              <a:t>新</a:t>
            </a:r>
            <a:r>
              <a:rPr lang="zh-CN" altLang="en-US" sz="3600" dirty="0" smtClean="0">
                <a:solidFill>
                  <a:schemeClr val="bg1"/>
                </a:solidFill>
              </a:rPr>
              <a:t>问题</a:t>
            </a:r>
            <a:r>
              <a:rPr lang="en-US" altLang="zh-CN" sz="3600" dirty="0" smtClean="0">
                <a:solidFill>
                  <a:schemeClr val="bg1"/>
                </a:solidFill>
              </a:rPr>
              <a:t>2</a:t>
            </a:r>
            <a:r>
              <a:rPr lang="zh-CN" altLang="en-US" sz="3600" dirty="0" smtClean="0">
                <a:solidFill>
                  <a:schemeClr val="bg1"/>
                </a:solidFill>
              </a:rPr>
              <a:t>：数字身份困境</a:t>
            </a:r>
            <a:endParaRPr lang="en-US" altLang="zh-CN" sz="3600" dirty="0" smtClean="0">
              <a:solidFill>
                <a:schemeClr val="bg1"/>
              </a:solidFill>
            </a:endParaRPr>
          </a:p>
        </p:txBody>
      </p:sp>
      <p:sp>
        <p:nvSpPr>
          <p:cNvPr id="45067" name="灯片编号占位符 2"/>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5F161B9B-B377-4EED-9A89-FD57C54F2797}" type="slidenum">
              <a:rPr lang="zh-CN" altLang="en-US">
                <a:solidFill>
                  <a:srgbClr val="898989"/>
                </a:solidFill>
              </a:rPr>
            </a:fld>
            <a:endParaRPr lang="en-US" altLang="zh-CN">
              <a:solidFill>
                <a:srgbClr val="898989"/>
              </a:solidFill>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页脚占位符 5"/>
          <p:cNvSpPr>
            <a:spLocks noGrp="1"/>
          </p:cNvSpPr>
          <p:nvPr>
            <p:ph type="ftr" sz="quarter" idx="11"/>
          </p:nvPr>
        </p:nvSpPr>
        <p:spPr bwMode="auto">
          <a:noFill/>
          <a:ln>
            <a:miter lim="800000"/>
          </a:ln>
        </p:spPr>
        <p:txBody>
          <a:bodyPr wrap="square" numCol="1" anchorCtr="0" compatLnSpc="1"/>
          <a:lstStyle/>
          <a:p>
            <a:pPr fontAlgn="base">
              <a:spcBef>
                <a:spcPct val="0"/>
              </a:spcBef>
              <a:spcAft>
                <a:spcPct val="0"/>
              </a:spcAft>
            </a:pPr>
            <a:r>
              <a:rPr lang="zh-CN" altLang="en-US" smtClean="0">
                <a:solidFill>
                  <a:srgbClr val="898989"/>
                </a:solidFill>
                <a:latin typeface="华文彩云" panose="02010800040101010101" pitchFamily="2" charset="-122"/>
                <a:ea typeface="华文彩云" panose="02010800040101010101" pitchFamily="2" charset="-122"/>
                <a:cs typeface="华文彩云" panose="02010800040101010101" pitchFamily="2" charset="-122"/>
              </a:rPr>
              <a:t>清华大学   自动化系 张佐</a:t>
            </a:r>
            <a:endParaRPr lang="zh-CN" altLang="en-US" smtClean="0">
              <a:solidFill>
                <a:srgbClr val="898989"/>
              </a:solidFill>
              <a:latin typeface="华文彩云" panose="02010800040101010101" pitchFamily="2" charset="-122"/>
              <a:ea typeface="华文彩云" panose="02010800040101010101" pitchFamily="2" charset="-122"/>
              <a:cs typeface="华文彩云" panose="02010800040101010101" pitchFamily="2" charset="-122"/>
            </a:endParaRPr>
          </a:p>
        </p:txBody>
      </p:sp>
      <p:sp>
        <p:nvSpPr>
          <p:cNvPr id="7" name="标题 1"/>
          <p:cNvSpPr txBox="1"/>
          <p:nvPr/>
        </p:nvSpPr>
        <p:spPr bwMode="auto">
          <a:xfrm>
            <a:off x="643246" y="500664"/>
            <a:ext cx="10925361" cy="936104"/>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辩论实名制</a:t>
            </a:r>
            <a:endParaRPr lang="en-US" altLang="zh-CN" sz="3600" dirty="0" smtClean="0">
              <a:solidFill>
                <a:schemeClr val="bg1"/>
              </a:solidFill>
            </a:endParaRPr>
          </a:p>
        </p:txBody>
      </p:sp>
      <p:graphicFrame>
        <p:nvGraphicFramePr>
          <p:cNvPr id="4" name="内容占位符 3"/>
          <p:cNvGraphicFramePr>
            <a:graphicFrameLocks noGrp="1"/>
          </p:cNvGraphicFramePr>
          <p:nvPr>
            <p:ph idx="1"/>
          </p:nvPr>
        </p:nvGraphicFramePr>
        <p:xfrm>
          <a:off x="642938" y="1619250"/>
          <a:ext cx="10925175" cy="5122228"/>
        </p:xfrm>
        <a:graphic>
          <a:graphicData uri="http://schemas.openxmlformats.org/drawingml/2006/table">
            <a:tbl>
              <a:tblPr/>
              <a:tblGrid>
                <a:gridCol w="1697037"/>
                <a:gridCol w="5083175"/>
                <a:gridCol w="4144963"/>
              </a:tblGrid>
              <a:tr h="203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相关方</a:t>
                      </a:r>
                      <a:endParaRPr kumimoji="0" lang="zh-CN" altLang="en-US" sz="18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8064A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利</a:t>
                      </a:r>
                      <a:endParaRPr kumimoji="0" lang="zh-CN" altLang="en-US" sz="18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8064A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弊</a:t>
                      </a:r>
                      <a:endParaRPr kumimoji="0" lang="zh-CN" altLang="en-US" sz="18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8064A2"/>
                    </a:solidFill>
                  </a:tcPr>
                </a:tc>
              </a:tr>
              <a:tr h="1016000">
                <a:tc>
                  <a:txBody>
                    <a:bodyPr/>
                    <a:lstStyle/>
                    <a:p>
                      <a:pPr marL="0" marR="0" lvl="0" indent="0" algn="ctr" defTabSz="914400" rtl="0" eaLnBrk="1" fontAlgn="base" latinLnBrk="0" hangingPunct="1">
                        <a:lnSpc>
                          <a:spcPct val="100000"/>
                        </a:lnSpc>
                        <a:spcBef>
                          <a:spcPct val="0"/>
                        </a:spcBef>
                        <a:spcAft>
                          <a:spcPts val="600"/>
                        </a:spcAft>
                        <a:buClrTx/>
                        <a:buSzTx/>
                        <a:buFontTx/>
                        <a:buNone/>
                      </a:pPr>
                      <a:r>
                        <a:rPr kumimoji="0" lang="zh-CN" altLang="en-US" sz="18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用户</a:t>
                      </a:r>
                      <a:endParaRPr kumimoji="0" lang="zh-CN" altLang="en-US" sz="18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8064A2"/>
                    </a:solidFill>
                  </a:tcPr>
                </a:tc>
                <a:tc>
                  <a:txBody>
                    <a:bodyPr/>
                    <a:lstStyle/>
                    <a:p>
                      <a:pPr marL="0" marR="0" lvl="0" indent="0" algn="just" defTabSz="914400" rtl="0" eaLnBrk="1" fontAlgn="base" latinLnBrk="0" hangingPunct="1">
                        <a:lnSpc>
                          <a:spcPct val="100000"/>
                        </a:lnSpc>
                        <a:spcBef>
                          <a:spcPct val="0"/>
                        </a:spcBef>
                        <a:spcAft>
                          <a:spcPts val="60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网络发表言论时更加谨慎、更加合乎法律、道德规范；更利于青少年习得良好的社会行为</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0" algn="just" defTabSz="914400" rtl="0" eaLnBrk="1" fontAlgn="base" latinLnBrk="0" hangingPunct="1">
                        <a:lnSpc>
                          <a:spcPct val="100000"/>
                        </a:lnSpc>
                        <a:spcBef>
                          <a:spcPct val="0"/>
                        </a:spcBef>
                        <a:spcAft>
                          <a:spcPts val="60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言论自由受到限制；个人数据泄露后隐私权、名誉权、财产权受到伤害的风险增加；接受不当个性化推送服务的频次增加</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r>
              <a:tr h="8128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网络服务</a:t>
                      </a:r>
                      <a:endParaRPr kumimoji="0" lang="zh-CN" altLang="en-US" sz="18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18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运营商</a:t>
                      </a:r>
                      <a:endParaRPr kumimoji="0" lang="zh-CN" altLang="en-US" sz="18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8064A2"/>
                    </a:solidFill>
                  </a:tcPr>
                </a:tc>
                <a:tc>
                  <a:txBody>
                    <a:bodyPr/>
                    <a:lstStyle/>
                    <a:p>
                      <a:pPr marL="0" marR="0" lvl="0" indent="0" algn="just" defTabSz="914400" rtl="0" eaLnBrk="1" fontAlgn="base" latinLnBrk="0" hangingPunct="1">
                        <a:lnSpc>
                          <a:spcPct val="100000"/>
                        </a:lnSpc>
                        <a:spcBef>
                          <a:spcPct val="0"/>
                        </a:spcBef>
                        <a:spcAft>
                          <a:spcPts val="60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更易于管理和运行，如向未成年人拦截不适合的网络游戏、暴力内容；更利于开展精准商业服务</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c>
                  <a:txBody>
                    <a:bodyPr/>
                    <a:lstStyle/>
                    <a:p>
                      <a:pPr marL="0" marR="0" lvl="0" indent="0" algn="just" defTabSz="914400" rtl="0" eaLnBrk="1" fontAlgn="base" latinLnBrk="0" hangingPunct="1">
                        <a:lnSpc>
                          <a:spcPct val="100000"/>
                        </a:lnSpc>
                        <a:spcBef>
                          <a:spcPct val="0"/>
                        </a:spcBef>
                        <a:spcAft>
                          <a:spcPts val="60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服务吸引力受影响（如失去用户、失去粘度），进而减损价值；对信息和网络安全的投入要大大增加</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r>
              <a:tr h="122078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政府</a:t>
                      </a:r>
                      <a:endParaRPr kumimoji="0" lang="zh-CN" altLang="en-US" sz="18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8064A2"/>
                    </a:solidFill>
                  </a:tcPr>
                </a:tc>
                <a:tc>
                  <a:txBody>
                    <a:bodyPr/>
                    <a:lstStyle/>
                    <a:p>
                      <a:pPr marL="0" marR="0" lvl="0" indent="0" algn="just" defTabSz="914400" rtl="0" eaLnBrk="1" fontAlgn="base" latinLnBrk="0" hangingPunct="1">
                        <a:lnSpc>
                          <a:spcPct val="100000"/>
                        </a:lnSpc>
                        <a:spcBef>
                          <a:spcPct val="0"/>
                        </a:spcBef>
                        <a:spcAft>
                          <a:spcPts val="60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更利于提供精准公共服务；更利于减少网络不良信息，使得言论空间更加晴朗；利于青少年和知识水平不高的网民的生存、学习和成长；侦查和惩治网络犯罪更快</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0" algn="just" defTabSz="914400" rtl="0" eaLnBrk="1" fontAlgn="base" latinLnBrk="0" hangingPunct="1">
                        <a:lnSpc>
                          <a:spcPct val="100000"/>
                        </a:lnSpc>
                        <a:spcBef>
                          <a:spcPct val="0"/>
                        </a:spcBef>
                        <a:spcAft>
                          <a:spcPts val="60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便于实施类似“棱镜门”计划，而失去部分公民的信任；“寒蝉效应”使言路闭塞</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r>
              <a:tr h="609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他人</a:t>
                      </a:r>
                      <a:endParaRPr kumimoji="0" lang="zh-CN" altLang="en-US" sz="18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8064A2"/>
                    </a:solidFill>
                  </a:tcPr>
                </a:tc>
                <a:tc>
                  <a:txBody>
                    <a:bodyPr/>
                    <a:lstStyle/>
                    <a:p>
                      <a:pPr marL="0" marR="0" lvl="0" indent="0" algn="just" defTabSz="914400" rtl="0" eaLnBrk="1" fontAlgn="base" latinLnBrk="0" hangingPunct="1">
                        <a:lnSpc>
                          <a:spcPct val="100000"/>
                        </a:lnSpc>
                        <a:spcBef>
                          <a:spcPct val="0"/>
                        </a:spcBef>
                        <a:spcAft>
                          <a:spcPts val="60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发生被不当“人肉”时易于找到事主并追责；被有意无意网络侵权的风险降低</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c>
                  <a:txBody>
                    <a:bodyPr/>
                    <a:lstStyle/>
                    <a:p>
                      <a:pPr marL="0" marR="0" lvl="0" indent="0" algn="just" defTabSz="914400" rtl="0" eaLnBrk="1" fontAlgn="base" latinLnBrk="0" hangingPunct="1">
                        <a:lnSpc>
                          <a:spcPct val="100000"/>
                        </a:lnSpc>
                        <a:spcBef>
                          <a:spcPct val="0"/>
                        </a:spcBef>
                        <a:spcAft>
                          <a:spcPts val="60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盗取、兜售或伪造公民信息的新型网络犯罪可能更加多发</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r>
              <a:tr h="10160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法律</a:t>
                      </a:r>
                      <a:r>
                        <a:rPr kumimoji="0" lang="en-US" altLang="zh-CN" sz="18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18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伦理学者</a:t>
                      </a:r>
                      <a:endParaRPr kumimoji="0" lang="zh-CN" altLang="en-US" sz="18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8064A2"/>
                    </a:solidFill>
                  </a:tcPr>
                </a:tc>
                <a:tc>
                  <a:txBody>
                    <a:bodyPr/>
                    <a:lstStyle/>
                    <a:p>
                      <a:pPr marL="0" marR="0" lvl="0" indent="0" algn="just" defTabSz="914400" rtl="0" eaLnBrk="1" fontAlgn="base" latinLnBrk="0" hangingPunct="1">
                        <a:lnSpc>
                          <a:spcPct val="100000"/>
                        </a:lnSpc>
                        <a:spcBef>
                          <a:spcPct val="0"/>
                        </a:spcBef>
                        <a:spcAft>
                          <a:spcPts val="60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利于发扬他律与自律共治的道德作用；维护正当的合法性与必要性原则</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0" algn="just" defTabSz="914400" rtl="0" eaLnBrk="1" fontAlgn="base" latinLnBrk="0" hangingPunct="1">
                        <a:lnSpc>
                          <a:spcPct val="100000"/>
                        </a:lnSpc>
                        <a:spcBef>
                          <a:spcPct val="0"/>
                        </a:spcBef>
                        <a:spcAft>
                          <a:spcPts val="60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以不信任作为获得信任的前提；以限制自由来保护自由；以正价值信息全面否定负价值信息；以用户个体的潜在风险换取网络空间的安全</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r>
            </a:tbl>
          </a:graphicData>
        </a:graphic>
      </p:graphicFrame>
      <p:sp>
        <p:nvSpPr>
          <p:cNvPr id="46115" name="灯片编号占位符 2"/>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FE940BE9-D9A5-4966-B205-77D951C13BCC}" type="slidenum">
              <a:rPr lang="zh-CN" altLang="en-US">
                <a:solidFill>
                  <a:srgbClr val="898989"/>
                </a:solidFill>
              </a:rPr>
            </a:fld>
            <a:endParaRPr lang="zh-CN" altLang="en-US">
              <a:solidFill>
                <a:srgbClr val="898989"/>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105400" y="4868863"/>
            <a:ext cx="5383213" cy="1617662"/>
          </a:xfrm>
        </p:spPr>
        <p:txBody>
          <a:bodyPr/>
          <a:lstStyle/>
          <a:p>
            <a:pPr eaLnBrk="1" hangingPunct="1"/>
            <a:r>
              <a:rPr lang="en-US" altLang="zh-CN" sz="2000" b="1" smtClean="0">
                <a:ea typeface="黑体" panose="02010609060101010101" pitchFamily="49" charset="-122"/>
              </a:rPr>
              <a:t>2016</a:t>
            </a:r>
            <a:r>
              <a:rPr lang="zh-CN" altLang="en-US" sz="2000" b="1" smtClean="0">
                <a:ea typeface="黑体" panose="02010609060101010101" pitchFamily="49" charset="-122"/>
              </a:rPr>
              <a:t>年</a:t>
            </a:r>
            <a:r>
              <a:rPr lang="en-US" altLang="zh-CN" sz="2000" b="1" smtClean="0">
                <a:ea typeface="黑体" panose="02010609060101010101" pitchFamily="49" charset="-122"/>
              </a:rPr>
              <a:t>2</a:t>
            </a:r>
            <a:r>
              <a:rPr lang="zh-CN" altLang="en-US" sz="2000" b="1" smtClean="0">
                <a:ea typeface="黑体" panose="02010609060101010101" pitchFamily="49" charset="-122"/>
              </a:rPr>
              <a:t>月</a:t>
            </a:r>
            <a:r>
              <a:rPr lang="en-US" altLang="zh-CN" sz="2000" b="1" smtClean="0">
                <a:ea typeface="黑体" panose="02010609060101010101" pitchFamily="49" charset="-122"/>
              </a:rPr>
              <a:t>17</a:t>
            </a:r>
            <a:r>
              <a:rPr lang="zh-CN" altLang="en-US" sz="2000" b="1" smtClean="0">
                <a:ea typeface="黑体" panose="02010609060101010101" pitchFamily="49" charset="-122"/>
              </a:rPr>
              <a:t>日，</a:t>
            </a:r>
            <a:r>
              <a:rPr lang="en-US" altLang="zh-CN" sz="2000" b="1" smtClean="0">
                <a:ea typeface="黑体" panose="02010609060101010101" pitchFamily="49" charset="-122"/>
              </a:rPr>
              <a:t>《</a:t>
            </a:r>
            <a:r>
              <a:rPr lang="zh-CN" altLang="en-US" sz="2000" b="1" smtClean="0">
                <a:ea typeface="黑体" panose="02010609060101010101" pitchFamily="49" charset="-122"/>
              </a:rPr>
              <a:t>库克怒发公开信：苹果不会给美国政府开后门</a:t>
            </a:r>
            <a:r>
              <a:rPr lang="en-US" altLang="zh-CN" sz="2000" b="1" smtClean="0">
                <a:ea typeface="黑体" panose="02010609060101010101" pitchFamily="49" charset="-122"/>
              </a:rPr>
              <a:t>》</a:t>
            </a:r>
            <a:r>
              <a:rPr lang="zh-CN" altLang="en-US" sz="2000" b="1" smtClean="0">
                <a:ea typeface="黑体" panose="02010609060101010101" pitchFamily="49" charset="-122"/>
              </a:rPr>
              <a:t>（</a:t>
            </a:r>
            <a:r>
              <a:rPr lang="en-US" altLang="zh-CN" sz="2000" b="1" smtClean="0">
                <a:ea typeface="黑体" panose="02010609060101010101" pitchFamily="49" charset="-122"/>
                <a:hlinkClick r:id="rId1"/>
              </a:rPr>
              <a:t>h</a:t>
            </a:r>
            <a:r>
              <a:rPr lang="en-US" altLang="zh-CN" sz="2000" smtClean="0">
                <a:ea typeface="黑体" panose="02010609060101010101" pitchFamily="49" charset="-122"/>
                <a:hlinkClick r:id="rId1"/>
              </a:rPr>
              <a:t>ttp://www.huxiu.com/article/139378/1.html?f=index_feed_article</a:t>
            </a:r>
            <a:r>
              <a:rPr lang="en-US" altLang="zh-CN" sz="2000" smtClean="0">
                <a:ea typeface="黑体" panose="02010609060101010101" pitchFamily="49" charset="-122"/>
              </a:rPr>
              <a:t>)</a:t>
            </a:r>
            <a:endParaRPr lang="en-US" altLang="zh-CN" sz="2000" smtClean="0">
              <a:ea typeface="黑体" panose="02010609060101010101" pitchFamily="49" charset="-122"/>
            </a:endParaRPr>
          </a:p>
        </p:txBody>
      </p:sp>
      <p:pic>
        <p:nvPicPr>
          <p:cNvPr id="7" name="内容占位符 2"/>
          <p:cNvPicPr>
            <a:picLocks noChangeAspect="1"/>
          </p:cNvPicPr>
          <p:nvPr/>
        </p:nvPicPr>
        <p:blipFill>
          <a:blip r:embed="rId2" cstate="print"/>
          <a:srcRect/>
          <a:stretch>
            <a:fillRect/>
          </a:stretch>
        </p:blipFill>
        <p:spPr bwMode="auto">
          <a:xfrm>
            <a:off x="9517063" y="1579563"/>
            <a:ext cx="1943100" cy="1457325"/>
          </a:xfrm>
          <a:prstGeom prst="rect">
            <a:avLst/>
          </a:prstGeom>
          <a:noFill/>
          <a:ln w="9525">
            <a:noFill/>
            <a:miter lim="800000"/>
            <a:headEnd/>
            <a:tailEnd/>
          </a:ln>
        </p:spPr>
      </p:pic>
      <p:pic>
        <p:nvPicPr>
          <p:cNvPr id="9" name="图片 8" descr="库克怒发公开信：苹果不会给美国政府开后门"/>
          <p:cNvPicPr>
            <a:picLocks noChangeAspect="1" noChangeArrowheads="1"/>
          </p:cNvPicPr>
          <p:nvPr/>
        </p:nvPicPr>
        <p:blipFill>
          <a:blip r:embed="rId3" cstate="print"/>
          <a:srcRect/>
          <a:stretch>
            <a:fillRect/>
          </a:stretch>
        </p:blipFill>
        <p:spPr bwMode="auto">
          <a:xfrm>
            <a:off x="1133475" y="4144963"/>
            <a:ext cx="3024188" cy="1803400"/>
          </a:xfrm>
          <a:prstGeom prst="rect">
            <a:avLst/>
          </a:prstGeom>
          <a:noFill/>
          <a:ln w="9525">
            <a:noFill/>
            <a:miter lim="800000"/>
            <a:headEnd/>
            <a:tailEnd/>
          </a:ln>
        </p:spPr>
      </p:pic>
      <p:sp>
        <p:nvSpPr>
          <p:cNvPr id="10" name="内容占位符 2"/>
          <p:cNvSpPr txBox="1"/>
          <p:nvPr/>
        </p:nvSpPr>
        <p:spPr bwMode="auto">
          <a:xfrm>
            <a:off x="657225" y="1579563"/>
            <a:ext cx="4448175" cy="2046287"/>
          </a:xfrm>
          <a:prstGeom prst="rect">
            <a:avLst/>
          </a:prstGeom>
          <a:noFill/>
          <a:ln w="9525">
            <a:noFill/>
            <a:miter lim="800000"/>
          </a:ln>
        </p:spPr>
        <p:txBody>
          <a:bodyPr/>
          <a:lstStyle/>
          <a:p>
            <a:pPr marL="342900" indent="-342900">
              <a:spcBef>
                <a:spcPct val="20000"/>
              </a:spcBef>
              <a:buClr>
                <a:schemeClr val="tx2"/>
              </a:buClr>
              <a:buSzPct val="60000"/>
              <a:buFont typeface="Arial" panose="020B0604020202020204" pitchFamily="34" charset="0"/>
              <a:buChar char="•"/>
            </a:pPr>
            <a:r>
              <a:rPr lang="en-US" altLang="zh-CN" sz="2400">
                <a:latin typeface="Times New Roman" panose="02020603050405020304" pitchFamily="18" charset="0"/>
                <a:ea typeface="黑体" panose="02010609060101010101" pitchFamily="49" charset="-122"/>
                <a:cs typeface="Times New Roman" panose="02020603050405020304" pitchFamily="18" charset="0"/>
              </a:rPr>
              <a:t>2013</a:t>
            </a:r>
            <a:r>
              <a:rPr lang="zh-CN" altLang="en-US" sz="2400">
                <a:latin typeface="Times New Roman" panose="02020603050405020304" pitchFamily="18" charset="0"/>
                <a:ea typeface="黑体" panose="02010609060101010101" pitchFamily="49" charset="-122"/>
                <a:cs typeface="Times New Roman" panose="02020603050405020304" pitchFamily="18" charset="0"/>
              </a:rPr>
              <a:t>年</a:t>
            </a:r>
            <a:r>
              <a:rPr lang="en-US" altLang="zh-CN" sz="2400">
                <a:latin typeface="Times New Roman" panose="02020603050405020304" pitchFamily="18" charset="0"/>
                <a:ea typeface="黑体" panose="02010609060101010101" pitchFamily="49" charset="-122"/>
                <a:cs typeface="Times New Roman" panose="02020603050405020304" pitchFamily="18" charset="0"/>
              </a:rPr>
              <a:t>6</a:t>
            </a:r>
            <a:r>
              <a:rPr lang="zh-CN" altLang="en-US" sz="2400">
                <a:latin typeface="Times New Roman" panose="02020603050405020304" pitchFamily="18" charset="0"/>
                <a:ea typeface="黑体" panose="02010609060101010101" pitchFamily="49" charset="-122"/>
                <a:cs typeface="Times New Roman" panose="02020603050405020304" pitchFamily="18" charset="0"/>
              </a:rPr>
              <a:t>月</a:t>
            </a:r>
            <a:r>
              <a:rPr lang="en-US" altLang="zh-CN" sz="2400">
                <a:latin typeface="Times New Roman" panose="02020603050405020304" pitchFamily="18" charset="0"/>
                <a:ea typeface="黑体" panose="02010609060101010101" pitchFamily="49" charset="-122"/>
                <a:cs typeface="Times New Roman" panose="02020603050405020304" pitchFamily="18" charset="0"/>
              </a:rPr>
              <a:t>6</a:t>
            </a:r>
            <a:r>
              <a:rPr lang="zh-CN" altLang="en-US" sz="2400">
                <a:latin typeface="Times New Roman" panose="02020603050405020304" pitchFamily="18" charset="0"/>
                <a:ea typeface="黑体" panose="02010609060101010101" pitchFamily="49" charset="-122"/>
                <a:cs typeface="Times New Roman" panose="02020603050405020304" pitchFamily="18" charset="0"/>
              </a:rPr>
              <a:t>日，前美国中情局职员斯诺登披露</a:t>
            </a:r>
            <a:r>
              <a:rPr lang="en-US" altLang="zh-CN" sz="2400">
                <a:latin typeface="Times New Roman" panose="02020603050405020304" pitchFamily="18" charset="0"/>
                <a:ea typeface="黑体" panose="02010609060101010101" pitchFamily="49" charset="-122"/>
                <a:cs typeface="Times New Roman" panose="02020603050405020304" pitchFamily="18" charset="0"/>
              </a:rPr>
              <a:t>PRISM</a:t>
            </a:r>
            <a:r>
              <a:rPr lang="zh-CN" altLang="en-US" sz="2400">
                <a:latin typeface="Times New Roman" panose="02020603050405020304" pitchFamily="18" charset="0"/>
                <a:ea typeface="黑体" panose="02010609060101010101" pitchFamily="49" charset="-122"/>
                <a:cs typeface="Times New Roman" panose="02020603050405020304" pitchFamily="18" charset="0"/>
              </a:rPr>
              <a:t>计划，引起公众极度关注</a:t>
            </a:r>
            <a:endParaRPr lang="en-US" altLang="zh-CN" sz="2400">
              <a:latin typeface="Times New Roman" panose="02020603050405020304" pitchFamily="18" charset="0"/>
              <a:ea typeface="黑体" panose="02010609060101010101" pitchFamily="49" charset="-122"/>
              <a:cs typeface="Times New Roman" panose="02020603050405020304" pitchFamily="18" charset="0"/>
            </a:endParaRPr>
          </a:p>
          <a:p>
            <a:pPr marL="342900" indent="-342900">
              <a:spcBef>
                <a:spcPct val="20000"/>
              </a:spcBef>
              <a:buClr>
                <a:schemeClr val="tx2"/>
              </a:buClr>
              <a:buSzPct val="60000"/>
              <a:buFont typeface="Arial" panose="020B0604020202020204" pitchFamily="34" charset="0"/>
              <a:buChar char="•"/>
            </a:pPr>
            <a:r>
              <a:rPr lang="zh-CN" altLang="en-US" sz="2400">
                <a:latin typeface="Times New Roman" panose="02020603050405020304" pitchFamily="18" charset="0"/>
                <a:ea typeface="黑体" panose="02010609060101010101" pitchFamily="49" charset="-122"/>
                <a:cs typeface="Times New Roman" panose="02020603050405020304" pitchFamily="18" charset="0"/>
              </a:rPr>
              <a:t>互联网技术创新 </a:t>
            </a:r>
            <a:r>
              <a:rPr lang="en-US" altLang="zh-CN" sz="2400">
                <a:latin typeface="Times New Roman" panose="02020603050405020304" pitchFamily="18" charset="0"/>
                <a:ea typeface="黑体" panose="02010609060101010101" pitchFamily="49" charset="-122"/>
                <a:cs typeface="Times New Roman" panose="02020603050405020304" pitchFamily="18" charset="0"/>
              </a:rPr>
              <a:t>vs.</a:t>
            </a:r>
            <a:r>
              <a:rPr lang="zh-CN" altLang="en-US" sz="2400">
                <a:latin typeface="Times New Roman" panose="02020603050405020304" pitchFamily="18" charset="0"/>
                <a:ea typeface="黑体" panose="02010609060101010101" pitchFamily="49" charset="-122"/>
                <a:cs typeface="Times New Roman" panose="02020603050405020304" pitchFamily="18" charset="0"/>
              </a:rPr>
              <a:t> 个人信息</a:t>
            </a:r>
            <a:r>
              <a:rPr lang="en-US" altLang="zh-CN" sz="240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a:latin typeface="Times New Roman" panose="02020603050405020304" pitchFamily="18" charset="0"/>
                <a:ea typeface="黑体" panose="02010609060101010101" pitchFamily="49" charset="-122"/>
                <a:cs typeface="Times New Roman" panose="02020603050405020304" pitchFamily="18" charset="0"/>
              </a:rPr>
              <a:t>隐私泄露</a:t>
            </a:r>
            <a:r>
              <a:rPr lang="en-US" altLang="zh-CN" sz="2400">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r>
              <a:rPr lang="zh-CN" altLang="en-US" sz="2400">
                <a:latin typeface="Times New Roman" panose="02020603050405020304" pitchFamily="18" charset="0"/>
                <a:ea typeface="黑体" panose="02010609060101010101" pitchFamily="49" charset="-122"/>
                <a:cs typeface="Times New Roman" panose="02020603050405020304" pitchFamily="18" charset="0"/>
              </a:rPr>
              <a:t>社会安全风险</a:t>
            </a:r>
            <a:endParaRPr lang="zh-CN" altLang="en-US" sz="240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2" name="图片 11"/>
          <p:cNvPicPr>
            <a:picLocks noChangeAspect="1"/>
          </p:cNvPicPr>
          <p:nvPr/>
        </p:nvPicPr>
        <p:blipFill>
          <a:blip r:embed="rId4" cstate="print"/>
          <a:srcRect/>
          <a:stretch>
            <a:fillRect/>
          </a:stretch>
        </p:blipFill>
        <p:spPr bwMode="auto">
          <a:xfrm>
            <a:off x="5962650" y="2300288"/>
            <a:ext cx="3554413" cy="2325687"/>
          </a:xfrm>
          <a:prstGeom prst="rect">
            <a:avLst/>
          </a:prstGeom>
          <a:noFill/>
          <a:ln w="9525">
            <a:noFill/>
            <a:miter lim="800000"/>
            <a:headEnd/>
            <a:tailEnd/>
          </a:ln>
        </p:spPr>
      </p:pic>
      <p:sp>
        <p:nvSpPr>
          <p:cNvPr id="11" name="标题 1"/>
          <p:cNvSpPr txBox="1"/>
          <p:nvPr/>
        </p:nvSpPr>
        <p:spPr bwMode="auto">
          <a:xfrm>
            <a:off x="609600" y="274638"/>
            <a:ext cx="10972800" cy="1143000"/>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defTabSz="914400" rtl="0" eaLnBrk="0" fontAlgn="base" latinLnBrk="0"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a:solidFill>
                  <a:schemeClr val="bg1"/>
                </a:solidFill>
              </a:rPr>
              <a:t>新</a:t>
            </a:r>
            <a:r>
              <a:rPr lang="zh-CN" altLang="en-US" sz="3600" dirty="0" smtClean="0">
                <a:solidFill>
                  <a:schemeClr val="bg1"/>
                </a:solidFill>
              </a:rPr>
              <a:t>问题</a:t>
            </a:r>
            <a:r>
              <a:rPr lang="en-US" altLang="zh-CN" sz="3600" dirty="0" smtClean="0">
                <a:solidFill>
                  <a:schemeClr val="bg1"/>
                </a:solidFill>
              </a:rPr>
              <a:t>3</a:t>
            </a:r>
            <a:r>
              <a:rPr lang="zh-CN" altLang="en-US" sz="3600" dirty="0" smtClean="0">
                <a:solidFill>
                  <a:schemeClr val="bg1"/>
                </a:solidFill>
              </a:rPr>
              <a:t>：大数据时代不再有个人隐私？</a:t>
            </a:r>
            <a:endParaRPr lang="en-US" altLang="zh-CN" sz="36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内容占位符 6"/>
          <p:cNvGraphicFramePr>
            <a:graphicFrameLocks noGrp="1"/>
          </p:cNvGraphicFramePr>
          <p:nvPr>
            <p:ph idx="1"/>
          </p:nvPr>
        </p:nvGraphicFramePr>
        <p:xfrm>
          <a:off x="636588" y="1497013"/>
          <a:ext cx="10945812" cy="4779329"/>
        </p:xfrm>
        <a:graphic>
          <a:graphicData uri="http://schemas.openxmlformats.org/drawingml/2006/table">
            <a:tbl>
              <a:tblPr/>
              <a:tblGrid>
                <a:gridCol w="1651000"/>
                <a:gridCol w="2884487"/>
                <a:gridCol w="2747963"/>
                <a:gridCol w="1646237"/>
                <a:gridCol w="2016125"/>
              </a:tblGrid>
              <a:tr h="439738">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采集方法</a:t>
                      </a:r>
                      <a:endParaRPr kumimoji="0" lang="zh-CN" altLang="en-US" sz="18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8064A2"/>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案例</a:t>
                      </a:r>
                      <a:endParaRPr kumimoji="0" lang="zh-CN" altLang="en-US" sz="18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8064A2"/>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示例技术</a:t>
                      </a:r>
                      <a:endParaRPr kumimoji="0" lang="zh-CN" altLang="en-US" sz="18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8064A2"/>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用户能感知到吗？</a:t>
                      </a:r>
                      <a:endParaRPr kumimoji="0" lang="zh-CN" altLang="en-US" sz="18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8064A2"/>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用户可自由选择退出吗？</a:t>
                      </a:r>
                      <a:endParaRPr kumimoji="0" lang="zh-CN" altLang="en-US" sz="18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8064A2"/>
                    </a:solidFill>
                  </a:tcPr>
                </a:tc>
              </a:tr>
              <a:tr h="55880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收集公开数据</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用爬虫软件“扒”近期微博</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新浪微博开放</a:t>
                      </a:r>
                      <a:r>
                        <a:rPr kumimoji="0" lang="en-US" altLang="zh-CN"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API</a:t>
                      </a:r>
                      <a:endParaRPr kumimoji="0" lang="zh-CN" altLang="zh-CN"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不能</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不能</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r>
              <a:tr h="566738">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公开收集数据</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微博关键词云图应用，网站问卷</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Web</a:t>
                      </a: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应用，</a:t>
                      </a:r>
                      <a:r>
                        <a:rPr kumimoji="0" lang="en-US" altLang="zh-CN"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Cookie…</a:t>
                      </a:r>
                      <a:endParaRPr kumimoji="0" lang="zh-CN" altLang="zh-CN"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能，确定</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不用</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r>
              <a:tr h="450850">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日志文件</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电商，搜索引擎，地图</a:t>
                      </a:r>
                      <a:r>
                        <a:rPr kumimoji="0" lang="en-US" altLang="zh-CN"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Cookie…</a:t>
                      </a:r>
                      <a:endParaRPr kumimoji="0" lang="zh-CN" altLang="zh-CN"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不能</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不能或很难</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r>
              <a:tr h="739775">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隐藏式收集</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手机手电筒</a:t>
                      </a:r>
                      <a:r>
                        <a:rPr kumimoji="0" lang="en-US" altLang="zh-CN"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App</a:t>
                      </a: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索取获取精确定位信息权限</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Android /ios</a:t>
                      </a: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等</a:t>
                      </a:r>
                      <a:r>
                        <a:rPr kumimoji="0" lang="en-US" altLang="zh-CN"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API </a:t>
                      </a:r>
                      <a:endParaRPr kumimoji="0" lang="zh-CN" altLang="zh-CN"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能，常被忽视</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不能或难</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r>
              <a:tr h="444500">
                <a:tc>
                  <a:txBody>
                    <a:bodyPr/>
                    <a:lstStyle/>
                    <a:p>
                      <a:pPr marL="0" marR="0" lvl="0" indent="635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攻击、破解</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6350" algn="just" defTabSz="914400" rtl="0" eaLnBrk="1" fontAlgn="base" latinLnBrk="0" hangingPunct="1">
                        <a:lnSpc>
                          <a:spcPct val="100000"/>
                        </a:lnSpc>
                        <a:spcBef>
                          <a:spcPts val="600"/>
                        </a:spcBef>
                        <a:spcAft>
                          <a:spcPct val="0"/>
                        </a:spcAft>
                        <a:buClrTx/>
                        <a:buSzTx/>
                        <a:buFontTx/>
                        <a:buNone/>
                      </a:pPr>
                      <a:r>
                        <a:rPr kumimoji="0" lang="en-US" altLang="zh-CN"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12306</a:t>
                      </a: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用户信息暴露</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635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黑客攻击等</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635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不能</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不能</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r>
              <a:tr h="735013">
                <a:tc>
                  <a:txBody>
                    <a:bodyPr/>
                    <a:lstStyle/>
                    <a:p>
                      <a:pPr marL="0" marR="0" lvl="0" indent="635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买卖</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c>
                  <a:txBody>
                    <a:bodyPr/>
                    <a:lstStyle/>
                    <a:p>
                      <a:pPr marL="0" marR="0" lvl="0" indent="635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骚扰信息（出生、银行开户、手机开户</a:t>
                      </a:r>
                      <a:r>
                        <a:rPr kumimoji="0" lang="en-US" altLang="zh-CN"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c>
                  <a:txBody>
                    <a:bodyPr/>
                    <a:lstStyle/>
                    <a:p>
                      <a:pPr marL="0" marR="0" lvl="0" indent="635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交易（公开或私密）</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c>
                  <a:txBody>
                    <a:bodyPr/>
                    <a:lstStyle/>
                    <a:p>
                      <a:pPr marL="0" marR="0" lvl="0" indent="635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不能</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不能</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r>
              <a:tr h="735013">
                <a:tc>
                  <a:txBody>
                    <a:bodyPr/>
                    <a:lstStyle/>
                    <a:p>
                      <a:pPr marL="0" marR="0" lvl="0" indent="635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关联、推断</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洛杉矶警方统计推断出某些小区较不安全</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635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关联分析、聚类分析、机器学习</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635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可能不能</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不能</a:t>
                      </a:r>
                      <a:endParaRPr kumimoji="0" lang="zh-CN" altLang="en-US" sz="18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r>
            </a:tbl>
          </a:graphicData>
        </a:graphic>
      </p:graphicFrame>
      <p:sp>
        <p:nvSpPr>
          <p:cNvPr id="6" name="标题 1"/>
          <p:cNvSpPr txBox="1">
            <a:spLocks noGrp="1"/>
          </p:cNvSpPr>
          <p:nvPr>
            <p:ph type="title" idx="4294967295"/>
          </p:nvPr>
        </p:nvSpPr>
        <p:spPr bwMode="auto">
          <a:xfrm>
            <a:off x="609600" y="274638"/>
            <a:ext cx="10972800" cy="1143000"/>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a:solidFill>
                  <a:schemeClr val="bg1"/>
                </a:solidFill>
              </a:rPr>
              <a:t>大数据</a:t>
            </a:r>
            <a:r>
              <a:rPr lang="zh-CN" altLang="en-US" sz="3600" dirty="0" smtClean="0">
                <a:solidFill>
                  <a:schemeClr val="bg1"/>
                </a:solidFill>
              </a:rPr>
              <a:t>时代再无隐私</a:t>
            </a:r>
            <a:r>
              <a:rPr lang="en-US" altLang="zh-CN" sz="3600" dirty="0" smtClean="0">
                <a:solidFill>
                  <a:schemeClr val="bg1"/>
                </a:solidFill>
              </a:rPr>
              <a:t>——</a:t>
            </a:r>
            <a:r>
              <a:rPr lang="zh-CN" altLang="en-US" sz="3600" dirty="0">
                <a:solidFill>
                  <a:schemeClr val="bg1"/>
                </a:solidFill>
              </a:rPr>
              <a:t>大</a:t>
            </a:r>
            <a:r>
              <a:rPr lang="zh-CN" altLang="en-US" sz="3600" dirty="0" smtClean="0">
                <a:solidFill>
                  <a:schemeClr val="bg1"/>
                </a:solidFill>
              </a:rPr>
              <a:t>数据怎么获取？</a:t>
            </a:r>
            <a:endParaRPr lang="en-US" altLang="zh-CN" sz="3600" dirty="0">
              <a:solidFill>
                <a:schemeClr val="bg1"/>
              </a:solidFill>
            </a:endParaRPr>
          </a:p>
        </p:txBody>
      </p:sp>
      <p:sp>
        <p:nvSpPr>
          <p:cNvPr id="48189" name="灯片编号占位符 2"/>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45FAD22C-1B12-47B4-A28A-18532A6001F7}" type="slidenum">
              <a:rPr lang="zh-CN" altLang="en-US">
                <a:solidFill>
                  <a:srgbClr val="898989"/>
                </a:solidFill>
              </a:rPr>
            </a:fld>
            <a:endParaRPr lang="en-US" altLang="zh-CN">
              <a:solidFill>
                <a:srgbClr val="898989"/>
              </a:solidFill>
            </a:endParaRPr>
          </a:p>
        </p:txBody>
      </p:sp>
      <p:sp>
        <p:nvSpPr>
          <p:cNvPr id="2" name="圆角矩形 1"/>
          <p:cNvSpPr/>
          <p:nvPr/>
        </p:nvSpPr>
        <p:spPr>
          <a:xfrm>
            <a:off x="4238625" y="3114675"/>
            <a:ext cx="4724400" cy="13239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sz="2400" dirty="0">
                <a:latin typeface="微软雅黑" panose="020B0503020204020204" pitchFamily="34" charset="-122"/>
                <a:ea typeface="微软雅黑" panose="020B0503020204020204" pitchFamily="34" charset="-122"/>
              </a:rPr>
              <a:t>尊重、平等</a:t>
            </a:r>
            <a:endParaRPr lang="en-US" altLang="zh-CN" sz="2400" dirty="0">
              <a:latin typeface="微软雅黑" panose="020B0503020204020204" pitchFamily="34" charset="-122"/>
              <a:ea typeface="微软雅黑" panose="020B0503020204020204" pitchFamily="34" charset="-122"/>
            </a:endParaRPr>
          </a:p>
          <a:p>
            <a:pPr algn="ctr" fontAlgn="auto">
              <a:spcBef>
                <a:spcPts val="0"/>
              </a:spcBef>
              <a:spcAft>
                <a:spcPts val="0"/>
              </a:spcAft>
              <a:defRPr/>
            </a:pPr>
            <a:r>
              <a:rPr lang="zh-CN" altLang="en-US" sz="2400" dirty="0">
                <a:latin typeface="微软雅黑" panose="020B0503020204020204" pitchFamily="34" charset="-122"/>
                <a:ea typeface="微软雅黑" panose="020B0503020204020204" pitchFamily="34" charset="-122"/>
              </a:rPr>
              <a:t>授权、撤销授权</a:t>
            </a:r>
            <a:r>
              <a:rPr lang="en-US" altLang="zh-CN"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solidFill>
              <a:schemeClr val="accent1"/>
            </a:solidFill>
          </a:ln>
        </p:spPr>
        <p:txBody>
          <a:bodyPr rtlCol="0">
            <a:normAutofit fontScale="70000" lnSpcReduction="20000"/>
          </a:bodyPr>
          <a:lstStyle/>
          <a:p>
            <a:pPr eaLnBrk="1" fontAlgn="auto" hangingPunct="1">
              <a:lnSpc>
                <a:spcPct val="120000"/>
              </a:lnSpc>
              <a:spcBef>
                <a:spcPts val="1200"/>
              </a:spcBef>
              <a:spcAft>
                <a:spcPts val="0"/>
              </a:spcAft>
              <a:buFont typeface="Arial" panose="020B0604020202020204" pitchFamily="34" charset="0"/>
              <a:buChar char="•"/>
              <a:defRPr/>
            </a:pPr>
            <a:r>
              <a:rPr lang="en-US" altLang="zh-CN" dirty="0" smtClean="0">
                <a:latin typeface="Times New Roman" panose="02020603050405020304" pitchFamily="18" charset="0"/>
              </a:rPr>
              <a:t>1988</a:t>
            </a:r>
            <a:r>
              <a:rPr lang="zh-CN" altLang="zh-CN" dirty="0">
                <a:latin typeface="Times New Roman" panose="02020603050405020304" pitchFamily="18" charset="0"/>
              </a:rPr>
              <a:t>年通过的美国视频隐私保护法案（</a:t>
            </a:r>
            <a:r>
              <a:rPr lang="en-US" altLang="zh-CN" dirty="0">
                <a:latin typeface="Times New Roman" panose="02020603050405020304" pitchFamily="18" charset="0"/>
              </a:rPr>
              <a:t>VPPA</a:t>
            </a:r>
            <a:r>
              <a:rPr lang="zh-CN" altLang="zh-CN" dirty="0">
                <a:latin typeface="Times New Roman" panose="02020603050405020304" pitchFamily="18" charset="0"/>
              </a:rPr>
              <a:t>），视客户租借视频录像的记录为隐私，禁止出租商在正常业务流程之外透露给他人或机构，违者可罚款至</a:t>
            </a:r>
            <a:r>
              <a:rPr lang="en-US" altLang="zh-CN" dirty="0">
                <a:latin typeface="Times New Roman" panose="02020603050405020304" pitchFamily="18" charset="0"/>
              </a:rPr>
              <a:t>2500</a:t>
            </a:r>
            <a:r>
              <a:rPr lang="zh-CN" altLang="zh-CN" dirty="0">
                <a:latin typeface="Times New Roman" panose="02020603050405020304" pitchFamily="18" charset="0"/>
              </a:rPr>
              <a:t>美元。该法案的设立，直接源于</a:t>
            </a:r>
            <a:r>
              <a:rPr lang="en-US" altLang="zh-CN" dirty="0">
                <a:latin typeface="Times New Roman" panose="02020603050405020304" pitchFamily="18" charset="0"/>
              </a:rPr>
              <a:t>1987</a:t>
            </a:r>
            <a:r>
              <a:rPr lang="zh-CN" altLang="zh-CN" dirty="0">
                <a:latin typeface="Times New Roman" panose="02020603050405020304" pitchFamily="18" charset="0"/>
              </a:rPr>
              <a:t>年得到大法官提名的</a:t>
            </a:r>
            <a:r>
              <a:rPr lang="en-US" altLang="zh-CN" dirty="0" err="1">
                <a:latin typeface="Times New Roman" panose="02020603050405020304" pitchFamily="18" charset="0"/>
              </a:rPr>
              <a:t>Robort</a:t>
            </a:r>
            <a:r>
              <a:rPr lang="en-US" altLang="zh-CN" dirty="0">
                <a:latin typeface="Times New Roman" panose="02020603050405020304" pitchFamily="18" charset="0"/>
              </a:rPr>
              <a:t> Bork</a:t>
            </a:r>
            <a:r>
              <a:rPr lang="zh-CN" altLang="zh-CN" dirty="0">
                <a:latin typeface="Times New Roman" panose="02020603050405020304" pitchFamily="18" charset="0"/>
              </a:rPr>
              <a:t>租借录像带记录被曝光，其中不良影视剧使他名誉受影响，隐私遭侵袭，被迫接受了对其能否胜任最高法院大法官的严苛评估。</a:t>
            </a:r>
            <a:endParaRPr lang="zh-CN" altLang="zh-CN" dirty="0">
              <a:latin typeface="Times New Roman" panose="02020603050405020304" pitchFamily="18" charset="0"/>
            </a:endParaRPr>
          </a:p>
          <a:p>
            <a:pPr eaLnBrk="1" fontAlgn="auto" hangingPunct="1">
              <a:lnSpc>
                <a:spcPct val="120000"/>
              </a:lnSpc>
              <a:spcBef>
                <a:spcPts val="1200"/>
              </a:spcBef>
              <a:spcAft>
                <a:spcPts val="0"/>
              </a:spcAft>
              <a:buFont typeface="Arial" panose="020B0604020202020204" pitchFamily="34" charset="0"/>
              <a:buChar char="•"/>
              <a:defRPr/>
            </a:pPr>
            <a:r>
              <a:rPr lang="en-US" altLang="zh-CN" dirty="0">
                <a:latin typeface="Times New Roman" panose="02020603050405020304" pitchFamily="18" charset="0"/>
              </a:rPr>
              <a:t>2011</a:t>
            </a:r>
            <a:r>
              <a:rPr lang="zh-CN" altLang="zh-CN" dirty="0">
                <a:latin typeface="Times New Roman" panose="02020603050405020304" pitchFamily="18" charset="0"/>
              </a:rPr>
              <a:t>年，由于视频网站纷纷希望对接社交领域而制造更多</a:t>
            </a:r>
            <a:r>
              <a:rPr lang="zh-CN" altLang="zh-CN" dirty="0" smtClean="0">
                <a:latin typeface="Times New Roman" panose="02020603050405020304" pitchFamily="18" charset="0"/>
              </a:rPr>
              <a:t>的</a:t>
            </a:r>
            <a:r>
              <a:rPr lang="zh-CN" altLang="en-US" dirty="0" smtClean="0">
                <a:latin typeface="Times New Roman" panose="02020603050405020304" pitchFamily="18" charset="0"/>
              </a:rPr>
              <a:t>“</a:t>
            </a:r>
            <a:r>
              <a:rPr lang="zh-CN" altLang="zh-CN" dirty="0" smtClean="0">
                <a:latin typeface="Times New Roman" panose="02020603050405020304" pitchFamily="18" charset="0"/>
              </a:rPr>
              <a:t>分享经济</a:t>
            </a:r>
            <a:r>
              <a:rPr lang="zh-CN" altLang="en-US" dirty="0">
                <a:latin typeface="Times New Roman" panose="02020603050405020304" pitchFamily="18" charset="0"/>
              </a:rPr>
              <a:t>”</a:t>
            </a:r>
            <a:r>
              <a:rPr lang="zh-CN" altLang="zh-CN" dirty="0" smtClean="0">
                <a:latin typeface="Times New Roman" panose="02020603050405020304" pitchFamily="18" charset="0"/>
              </a:rPr>
              <a:t>，</a:t>
            </a:r>
            <a:r>
              <a:rPr lang="zh-CN" altLang="zh-CN" dirty="0">
                <a:latin typeface="Times New Roman" panose="02020603050405020304" pitchFamily="18" charset="0"/>
              </a:rPr>
              <a:t>以</a:t>
            </a:r>
            <a:r>
              <a:rPr lang="en-US" altLang="zh-CN" dirty="0">
                <a:latin typeface="Times New Roman" panose="02020603050405020304" pitchFamily="18" charset="0"/>
              </a:rPr>
              <a:t>Netflix</a:t>
            </a:r>
            <a:r>
              <a:rPr lang="zh-CN" altLang="zh-CN" dirty="0">
                <a:latin typeface="Times New Roman" panose="02020603050405020304" pitchFamily="18" charset="0"/>
              </a:rPr>
              <a:t>为代表的公司一再游说国会，要求允许已经乐于分享个人行踪和喜怒哀乐</a:t>
            </a:r>
            <a:r>
              <a:rPr lang="zh-CN" altLang="zh-CN" dirty="0" smtClean="0">
                <a:latin typeface="Times New Roman" panose="02020603050405020304" pitchFamily="18" charset="0"/>
              </a:rPr>
              <a:t>的</a:t>
            </a:r>
            <a:r>
              <a:rPr lang="zh-CN" altLang="en-US" dirty="0">
                <a:latin typeface="Times New Roman" panose="02020603050405020304" pitchFamily="18" charset="0"/>
              </a:rPr>
              <a:t>“</a:t>
            </a:r>
            <a:r>
              <a:rPr lang="en-US" altLang="zh-CN" dirty="0" smtClean="0">
                <a:latin typeface="Times New Roman" panose="02020603050405020304" pitchFamily="18" charset="0"/>
              </a:rPr>
              <a:t>Facebook</a:t>
            </a:r>
            <a:r>
              <a:rPr lang="zh-CN" altLang="zh-CN" dirty="0" smtClean="0">
                <a:latin typeface="Times New Roman" panose="02020603050405020304" pitchFamily="18" charset="0"/>
              </a:rPr>
              <a:t>一代</a:t>
            </a:r>
            <a:r>
              <a:rPr lang="zh-CN" altLang="en-US" dirty="0">
                <a:latin typeface="Times New Roman" panose="02020603050405020304" pitchFamily="18" charset="0"/>
              </a:rPr>
              <a:t>”</a:t>
            </a:r>
            <a:r>
              <a:rPr lang="zh-CN" altLang="zh-CN" dirty="0" smtClean="0">
                <a:latin typeface="Times New Roman" panose="02020603050405020304" pitchFamily="18" charset="0"/>
              </a:rPr>
              <a:t>可以</a:t>
            </a:r>
            <a:r>
              <a:rPr lang="zh-CN" altLang="zh-CN" dirty="0">
                <a:latin typeface="Times New Roman" panose="02020603050405020304" pitchFamily="18" charset="0"/>
              </a:rPr>
              <a:t>向朋友分享其观影历史，而不再把它视作隐私权利。国会很快通过了修正案，规定像</a:t>
            </a:r>
            <a:r>
              <a:rPr lang="en-US" altLang="zh-CN" dirty="0">
                <a:latin typeface="Times New Roman" panose="02020603050405020304" pitchFamily="18" charset="0"/>
              </a:rPr>
              <a:t>Netflix</a:t>
            </a:r>
            <a:r>
              <a:rPr lang="zh-CN" altLang="zh-CN" dirty="0">
                <a:latin typeface="Times New Roman" panose="02020603050405020304" pitchFamily="18" charset="0"/>
              </a:rPr>
              <a:t>一样的公司必须在获得了</a:t>
            </a:r>
            <a:r>
              <a:rPr lang="zh-CN" altLang="zh-CN" dirty="0" smtClean="0">
                <a:latin typeface="Times New Roman" panose="02020603050405020304" pitchFamily="18" charset="0"/>
              </a:rPr>
              <a:t>用户</a:t>
            </a:r>
            <a:r>
              <a:rPr lang="zh-CN" altLang="en-US" dirty="0">
                <a:latin typeface="Times New Roman" panose="02020603050405020304" pitchFamily="18" charset="0"/>
              </a:rPr>
              <a:t>“</a:t>
            </a:r>
            <a:r>
              <a:rPr lang="zh-CN" altLang="zh-CN" dirty="0" smtClean="0">
                <a:latin typeface="Times New Roman" panose="02020603050405020304" pitchFamily="18" charset="0"/>
              </a:rPr>
              <a:t>明确</a:t>
            </a:r>
            <a:r>
              <a:rPr lang="zh-CN" altLang="zh-CN" dirty="0">
                <a:latin typeface="Times New Roman" panose="02020603050405020304" pitchFamily="18" charset="0"/>
              </a:rPr>
              <a:t>的书面</a:t>
            </a:r>
            <a:r>
              <a:rPr lang="zh-CN" altLang="zh-CN" dirty="0" smtClean="0">
                <a:latin typeface="Times New Roman" panose="02020603050405020304" pitchFamily="18" charset="0"/>
              </a:rPr>
              <a:t>同意</a:t>
            </a:r>
            <a:r>
              <a:rPr lang="zh-CN" altLang="en-US" dirty="0">
                <a:latin typeface="Times New Roman" panose="02020603050405020304" pitchFamily="18" charset="0"/>
              </a:rPr>
              <a:t>”</a:t>
            </a:r>
            <a:r>
              <a:rPr lang="zh-CN" altLang="zh-CN" dirty="0" smtClean="0">
                <a:latin typeface="Times New Roman" panose="02020603050405020304" pitchFamily="18" charset="0"/>
              </a:rPr>
              <a:t>后</a:t>
            </a:r>
            <a:r>
              <a:rPr lang="zh-CN" altLang="zh-CN" dirty="0">
                <a:latin typeface="Times New Roman" panose="02020603050405020304" pitchFamily="18" charset="0"/>
              </a:rPr>
              <a:t>才能通过互联网共享用户观影记录，同时保留用户随时撤回同意授权的权利。</a:t>
            </a:r>
            <a:endParaRPr lang="zh-CN" altLang="zh-CN" dirty="0">
              <a:latin typeface="Times New Roman" panose="02020603050405020304" pitchFamily="18" charset="0"/>
            </a:endParaRPr>
          </a:p>
          <a:p>
            <a:pPr eaLnBrk="1" fontAlgn="auto" hangingPunct="1">
              <a:lnSpc>
                <a:spcPct val="120000"/>
              </a:lnSpc>
              <a:spcBef>
                <a:spcPts val="1200"/>
              </a:spcBef>
              <a:spcAft>
                <a:spcPts val="0"/>
              </a:spcAft>
              <a:buFont typeface="Arial" panose="020B0604020202020204" pitchFamily="34" charset="0"/>
              <a:buChar char="•"/>
              <a:defRPr/>
            </a:pPr>
            <a:r>
              <a:rPr lang="en-US" altLang="zh-CN" dirty="0">
                <a:solidFill>
                  <a:srgbClr val="FF0000"/>
                </a:solidFill>
                <a:latin typeface="Times New Roman" panose="02020603050405020304" pitchFamily="18" charset="0"/>
              </a:rPr>
              <a:t>23</a:t>
            </a:r>
            <a:r>
              <a:rPr lang="zh-CN" altLang="zh-CN" dirty="0">
                <a:solidFill>
                  <a:srgbClr val="FF0000"/>
                </a:solidFill>
                <a:latin typeface="Times New Roman" panose="02020603050405020304" pitchFamily="18" charset="0"/>
              </a:rPr>
              <a:t>年前后，隐私和隐私权的界定呈</a:t>
            </a:r>
            <a:r>
              <a:rPr lang="zh-CN" altLang="zh-CN" dirty="0" smtClean="0">
                <a:solidFill>
                  <a:srgbClr val="FF0000"/>
                </a:solidFill>
                <a:latin typeface="Times New Roman" panose="02020603050405020304" pitchFamily="18" charset="0"/>
              </a:rPr>
              <a:t>云泥之别</a:t>
            </a:r>
            <a:r>
              <a:rPr lang="en-US" altLang="zh-CN" dirty="0">
                <a:solidFill>
                  <a:srgbClr val="FF0000"/>
                </a:solidFill>
                <a:latin typeface="Times New Roman" panose="02020603050405020304" pitchFamily="18" charset="0"/>
              </a:rPr>
              <a:t> </a:t>
            </a:r>
            <a:endParaRPr lang="zh-CN" altLang="zh-CN" dirty="0">
              <a:solidFill>
                <a:srgbClr val="FF0000"/>
              </a:solidFill>
              <a:latin typeface="Times New Roman" panose="02020603050405020304" pitchFamily="18" charset="0"/>
            </a:endParaRPr>
          </a:p>
          <a:p>
            <a:pPr eaLnBrk="1" fontAlgn="auto" hangingPunct="1">
              <a:lnSpc>
                <a:spcPct val="120000"/>
              </a:lnSpc>
              <a:spcBef>
                <a:spcPts val="1200"/>
              </a:spcBef>
              <a:spcAft>
                <a:spcPts val="0"/>
              </a:spcAft>
              <a:buFont typeface="Arial" panose="020B0604020202020204" pitchFamily="34" charset="0"/>
              <a:buChar char="•"/>
              <a:defRPr/>
            </a:pPr>
            <a:endParaRPr lang="zh-CN" altLang="en-US" dirty="0">
              <a:latin typeface="Times New Roman" panose="02020603050405020304" pitchFamily="18" charset="0"/>
            </a:endParaRPr>
          </a:p>
        </p:txBody>
      </p:sp>
      <p:sp>
        <p:nvSpPr>
          <p:cNvPr id="6" name="标题 1"/>
          <p:cNvSpPr txBox="1">
            <a:spLocks noGrp="1"/>
          </p:cNvSpPr>
          <p:nvPr>
            <p:ph type="title" idx="4294967295"/>
          </p:nvPr>
        </p:nvSpPr>
        <p:spPr bwMode="auto">
          <a:xfrm>
            <a:off x="609600" y="274638"/>
            <a:ext cx="10972800" cy="1143000"/>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隐私之变</a:t>
            </a:r>
            <a:endParaRPr lang="en-US" altLang="zh-CN" sz="3600" dirty="0" smtClean="0">
              <a:solidFill>
                <a:schemeClr val="bg1"/>
              </a:solidFill>
            </a:endParaRPr>
          </a:p>
        </p:txBody>
      </p:sp>
      <p:sp>
        <p:nvSpPr>
          <p:cNvPr id="49158" name="灯片编号占位符 6"/>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0FE635EE-CEC2-42E4-8A32-4B0FC84F580C}" type="slidenum">
              <a:rPr lang="zh-CN" altLang="en-US">
                <a:solidFill>
                  <a:srgbClr val="898989"/>
                </a:solidFill>
              </a:rPr>
            </a:fld>
            <a:endParaRPr lang="en-US" altLang="zh-CN">
              <a:solidFill>
                <a:srgbClr val="898989"/>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solidFill>
              <a:schemeClr val="accent1"/>
            </a:solidFill>
          </a:ln>
        </p:spPr>
        <p:txBody>
          <a:bodyPr rtlCol="0">
            <a:normAutofit fontScale="62500" lnSpcReduction="20000"/>
          </a:bodyPr>
          <a:lstStyle/>
          <a:p>
            <a:pPr eaLnBrk="1" fontAlgn="auto" hangingPunct="1">
              <a:lnSpc>
                <a:spcPct val="120000"/>
              </a:lnSpc>
              <a:spcBef>
                <a:spcPts val="1200"/>
              </a:spcBef>
              <a:spcAft>
                <a:spcPts val="0"/>
              </a:spcAft>
              <a:buFont typeface="Arial" panose="020B0604020202020204" pitchFamily="34" charset="0"/>
              <a:buChar char="•"/>
              <a:defRPr/>
            </a:pPr>
            <a:r>
              <a:rPr lang="zh-CN" altLang="zh-CN" dirty="0">
                <a:solidFill>
                  <a:srgbClr val="FF0000"/>
                </a:solidFill>
              </a:rPr>
              <a:t>大数据预测</a:t>
            </a:r>
            <a:r>
              <a:rPr lang="zh-CN" altLang="zh-CN" dirty="0"/>
              <a:t>，是采用聚类、关联分析、统计学习等方法，对多来源、多形式、多维度的海量数据进行计算，从而不仅能“复现过去”，也能“预测未来”，很多成功的案例见于感冒疫情预测、经济走势反转点预测、</a:t>
            </a:r>
            <a:r>
              <a:rPr lang="en-US" altLang="zh-CN" dirty="0"/>
              <a:t>CPI</a:t>
            </a:r>
            <a:r>
              <a:rPr lang="zh-CN" altLang="zh-CN" dirty="0"/>
              <a:t>指数预测</a:t>
            </a:r>
            <a:r>
              <a:rPr lang="zh-CN" altLang="zh-CN" dirty="0" smtClean="0"/>
              <a:t>等</a:t>
            </a:r>
            <a:endParaRPr lang="en-US" altLang="zh-CN" dirty="0"/>
          </a:p>
          <a:p>
            <a:pPr eaLnBrk="1" fontAlgn="auto" hangingPunct="1">
              <a:lnSpc>
                <a:spcPct val="120000"/>
              </a:lnSpc>
              <a:spcBef>
                <a:spcPts val="1200"/>
              </a:spcBef>
              <a:spcAft>
                <a:spcPts val="0"/>
              </a:spcAft>
              <a:buFont typeface="Arial" panose="020B0604020202020204" pitchFamily="34" charset="0"/>
              <a:buChar char="•"/>
              <a:defRPr/>
            </a:pPr>
            <a:r>
              <a:rPr lang="zh-CN" altLang="en-US" dirty="0" smtClean="0"/>
              <a:t>然而，其</a:t>
            </a:r>
            <a:r>
              <a:rPr lang="zh-CN" altLang="zh-CN" dirty="0" smtClean="0"/>
              <a:t>所</a:t>
            </a:r>
            <a:r>
              <a:rPr lang="zh-CN" altLang="zh-CN" dirty="0"/>
              <a:t>处理、分析的数据可能主要是人的活动</a:t>
            </a:r>
            <a:r>
              <a:rPr lang="zh-CN" altLang="zh-CN" dirty="0" smtClean="0"/>
              <a:t>，如</a:t>
            </a:r>
            <a:r>
              <a:rPr lang="zh-CN" altLang="zh-CN" dirty="0"/>
              <a:t>，当看到求职者社交网上留着其“青春期”酗酒后的狂乱神态的照片，就此预测当事人未来还将缺乏自我把控能力而拒绝聘用，合理</a:t>
            </a:r>
            <a:r>
              <a:rPr lang="zh-CN" altLang="zh-CN" dirty="0" smtClean="0"/>
              <a:t>吗</a:t>
            </a:r>
            <a:r>
              <a:rPr lang="en-US" altLang="zh-CN" dirty="0" smtClean="0"/>
              <a:t>——</a:t>
            </a:r>
            <a:r>
              <a:rPr lang="zh-CN" altLang="en-US" dirty="0" smtClean="0">
                <a:solidFill>
                  <a:srgbClr val="FF0000"/>
                </a:solidFill>
              </a:rPr>
              <a:t>网络遗忘权受法律保护吗</a:t>
            </a:r>
            <a:r>
              <a:rPr lang="zh-CN" altLang="zh-CN" dirty="0" smtClean="0"/>
              <a:t>？</a:t>
            </a:r>
            <a:endParaRPr lang="zh-CN" altLang="zh-CN" dirty="0"/>
          </a:p>
          <a:p>
            <a:pPr eaLnBrk="1" fontAlgn="auto" hangingPunct="1">
              <a:lnSpc>
                <a:spcPct val="120000"/>
              </a:lnSpc>
              <a:spcBef>
                <a:spcPts val="1200"/>
              </a:spcBef>
              <a:spcAft>
                <a:spcPts val="0"/>
              </a:spcAft>
              <a:buFont typeface="Arial" panose="020B0604020202020204" pitchFamily="34" charset="0"/>
              <a:buChar char="•"/>
              <a:defRPr/>
            </a:pPr>
            <a:r>
              <a:rPr lang="zh-CN" altLang="zh-CN" dirty="0"/>
              <a:t>有</a:t>
            </a:r>
            <a:r>
              <a:rPr lang="zh-CN" altLang="zh-CN" dirty="0" smtClean="0"/>
              <a:t>学者</a:t>
            </a:r>
            <a:r>
              <a:rPr lang="zh-CN" altLang="en-US" dirty="0" smtClean="0"/>
              <a:t>认为</a:t>
            </a:r>
            <a:r>
              <a:rPr lang="zh-CN" altLang="zh-CN" dirty="0" smtClean="0"/>
              <a:t>大</a:t>
            </a:r>
            <a:r>
              <a:rPr lang="zh-CN" altLang="zh-CN" dirty="0"/>
              <a:t>数据预测</a:t>
            </a:r>
            <a:r>
              <a:rPr lang="zh-CN" altLang="zh-CN" dirty="0" smtClean="0"/>
              <a:t>技术存在</a:t>
            </a:r>
            <a:r>
              <a:rPr lang="zh-CN" altLang="en-US" dirty="0" smtClean="0"/>
              <a:t>伦理困境</a:t>
            </a:r>
            <a:endParaRPr lang="en-US" altLang="zh-CN" dirty="0" smtClean="0"/>
          </a:p>
          <a:p>
            <a:pPr lvl="1" eaLnBrk="1" fontAlgn="auto" hangingPunct="1">
              <a:lnSpc>
                <a:spcPct val="120000"/>
              </a:lnSpc>
              <a:spcBef>
                <a:spcPts val="1200"/>
              </a:spcBef>
              <a:spcAft>
                <a:spcPts val="0"/>
              </a:spcAft>
              <a:buFont typeface="Arial" panose="020B0604020202020204" pitchFamily="34" charset="0"/>
              <a:buChar char="–"/>
              <a:defRPr/>
            </a:pPr>
            <a:r>
              <a:rPr lang="zh-CN" altLang="zh-CN" dirty="0" smtClean="0">
                <a:solidFill>
                  <a:srgbClr val="FF0000"/>
                </a:solidFill>
              </a:rPr>
              <a:t>结果</a:t>
            </a:r>
            <a:r>
              <a:rPr lang="zh-CN" altLang="zh-CN" dirty="0">
                <a:solidFill>
                  <a:srgbClr val="FF0000"/>
                </a:solidFill>
              </a:rPr>
              <a:t>预判挑战</a:t>
            </a:r>
            <a:r>
              <a:rPr lang="zh-CN" altLang="zh-CN" dirty="0" smtClean="0">
                <a:solidFill>
                  <a:srgbClr val="FF0000"/>
                </a:solidFill>
              </a:rPr>
              <a:t>自由</a:t>
            </a:r>
            <a:endParaRPr lang="en-US" altLang="zh-CN" dirty="0" smtClean="0">
              <a:solidFill>
                <a:srgbClr val="FF0000"/>
              </a:solidFill>
            </a:endParaRPr>
          </a:p>
          <a:p>
            <a:pPr lvl="1" eaLnBrk="1" fontAlgn="auto" hangingPunct="1">
              <a:lnSpc>
                <a:spcPct val="120000"/>
              </a:lnSpc>
              <a:spcBef>
                <a:spcPts val="1200"/>
              </a:spcBef>
              <a:spcAft>
                <a:spcPts val="0"/>
              </a:spcAft>
              <a:buFont typeface="Arial" panose="020B0604020202020204" pitchFamily="34" charset="0"/>
              <a:buChar char="–"/>
              <a:defRPr/>
            </a:pPr>
            <a:r>
              <a:rPr lang="zh-CN" altLang="zh-CN" dirty="0" smtClean="0">
                <a:solidFill>
                  <a:srgbClr val="FF0000"/>
                </a:solidFill>
              </a:rPr>
              <a:t>隐私</a:t>
            </a:r>
            <a:r>
              <a:rPr lang="zh-CN" altLang="zh-CN" dirty="0">
                <a:solidFill>
                  <a:srgbClr val="FF0000"/>
                </a:solidFill>
              </a:rPr>
              <a:t>披露挑战</a:t>
            </a:r>
            <a:r>
              <a:rPr lang="zh-CN" altLang="zh-CN" dirty="0" smtClean="0">
                <a:solidFill>
                  <a:srgbClr val="FF0000"/>
                </a:solidFill>
              </a:rPr>
              <a:t>尊严</a:t>
            </a:r>
            <a:endParaRPr lang="en-US" altLang="zh-CN" dirty="0" smtClean="0">
              <a:solidFill>
                <a:srgbClr val="FF0000"/>
              </a:solidFill>
            </a:endParaRPr>
          </a:p>
          <a:p>
            <a:pPr lvl="1" eaLnBrk="1" fontAlgn="auto" hangingPunct="1">
              <a:lnSpc>
                <a:spcPct val="120000"/>
              </a:lnSpc>
              <a:spcBef>
                <a:spcPts val="1200"/>
              </a:spcBef>
              <a:spcAft>
                <a:spcPts val="0"/>
              </a:spcAft>
              <a:buFont typeface="Arial" panose="020B0604020202020204" pitchFamily="34" charset="0"/>
              <a:buChar char="–"/>
              <a:defRPr/>
            </a:pPr>
            <a:r>
              <a:rPr lang="zh-CN" altLang="zh-CN" dirty="0" smtClean="0">
                <a:solidFill>
                  <a:srgbClr val="FF0000"/>
                </a:solidFill>
              </a:rPr>
              <a:t>信息</a:t>
            </a:r>
            <a:r>
              <a:rPr lang="zh-CN" altLang="zh-CN" dirty="0">
                <a:solidFill>
                  <a:srgbClr val="FF0000"/>
                </a:solidFill>
              </a:rPr>
              <a:t>垄断挑战</a:t>
            </a:r>
            <a:r>
              <a:rPr lang="zh-CN" altLang="zh-CN" dirty="0" smtClean="0">
                <a:solidFill>
                  <a:srgbClr val="FF0000"/>
                </a:solidFill>
              </a:rPr>
              <a:t>公平</a:t>
            </a:r>
            <a:endParaRPr lang="en-US" altLang="zh-CN" dirty="0" smtClean="0">
              <a:solidFill>
                <a:srgbClr val="FF0000"/>
              </a:solidFill>
            </a:endParaRPr>
          </a:p>
          <a:p>
            <a:pPr lvl="1" eaLnBrk="1" fontAlgn="auto" hangingPunct="1">
              <a:lnSpc>
                <a:spcPct val="120000"/>
              </a:lnSpc>
              <a:spcBef>
                <a:spcPts val="1200"/>
              </a:spcBef>
              <a:spcAft>
                <a:spcPts val="0"/>
              </a:spcAft>
              <a:buFont typeface="Arial" panose="020B0604020202020204" pitchFamily="34" charset="0"/>
              <a:buChar char="–"/>
              <a:defRPr/>
            </a:pPr>
            <a:r>
              <a:rPr lang="zh-CN" altLang="zh-CN" dirty="0" smtClean="0">
                <a:solidFill>
                  <a:srgbClr val="FF0000"/>
                </a:solidFill>
              </a:rPr>
              <a:t>固化</a:t>
            </a:r>
            <a:r>
              <a:rPr lang="zh-CN" altLang="zh-CN" dirty="0">
                <a:solidFill>
                  <a:srgbClr val="FF0000"/>
                </a:solidFill>
              </a:rPr>
              <a:t>标签挑战</a:t>
            </a:r>
            <a:r>
              <a:rPr lang="zh-CN" altLang="zh-CN" dirty="0" smtClean="0">
                <a:solidFill>
                  <a:srgbClr val="FF0000"/>
                </a:solidFill>
              </a:rPr>
              <a:t>正义</a:t>
            </a:r>
            <a:endParaRPr lang="zh-CN" altLang="en-US" dirty="0">
              <a:solidFill>
                <a:srgbClr val="FF0000"/>
              </a:solidFill>
            </a:endParaRPr>
          </a:p>
        </p:txBody>
      </p:sp>
      <p:sp>
        <p:nvSpPr>
          <p:cNvPr id="6" name="标题 1"/>
          <p:cNvSpPr txBox="1">
            <a:spLocks noGrp="1"/>
          </p:cNvSpPr>
          <p:nvPr>
            <p:ph type="title" idx="4294967295"/>
          </p:nvPr>
        </p:nvSpPr>
        <p:spPr bwMode="auto">
          <a:xfrm>
            <a:off x="609600" y="274638"/>
            <a:ext cx="10972800" cy="1143000"/>
          </a:xfrm>
          <a:prstGeom prst="rect">
            <a:avLst/>
          </a:prstGeom>
        </p:spPr>
        <p:style>
          <a:lnRef idx="0">
            <a:schemeClr val="accent4"/>
          </a:lnRef>
          <a:fillRef idx="3">
            <a:schemeClr val="accent4"/>
          </a:fillRef>
          <a:effectRef idx="3">
            <a:schemeClr val="accent4"/>
          </a:effectRef>
          <a:fontRef idx="minor">
            <a:schemeClr val="lt1"/>
          </a:fontRef>
        </p:style>
        <p:txBody>
          <a:bodyPr anchor="ctr">
            <a:normAutofit/>
          </a:bodyP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隐私之辩</a:t>
            </a:r>
            <a:endParaRPr lang="en-US" altLang="zh-CN" sz="3600" dirty="0" smtClean="0">
              <a:solidFill>
                <a:schemeClr val="bg1"/>
              </a:solidFill>
            </a:endParaRPr>
          </a:p>
        </p:txBody>
      </p:sp>
      <p:sp>
        <p:nvSpPr>
          <p:cNvPr id="50182" name="灯片编号占位符 6"/>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C70BE2D8-2B31-4159-847C-0D9029237E46}" type="slidenum">
              <a:rPr lang="zh-CN" altLang="en-US">
                <a:solidFill>
                  <a:srgbClr val="898989"/>
                </a:solidFill>
              </a:rPr>
            </a:fld>
            <a:endParaRPr lang="en-US" altLang="zh-CN">
              <a:solidFill>
                <a:srgbClr val="898989"/>
              </a:solidFill>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a:spLocks noGrp="1"/>
          </p:cNvSpPr>
          <p:nvPr>
            <p:ph type="title"/>
          </p:nvPr>
        </p:nvSpPr>
        <p:spPr bwMode="auto">
          <a:xfrm>
            <a:off x="609600" y="227014"/>
            <a:ext cx="10972800" cy="1143000"/>
          </a:xfrm>
        </p:spPr>
        <p:style>
          <a:lnRef idx="0">
            <a:schemeClr val="accent4"/>
          </a:lnRef>
          <a:fillRef idx="3">
            <a:schemeClr val="accent4"/>
          </a:fillRef>
          <a:effectRef idx="3">
            <a:schemeClr val="accent4"/>
          </a:effectRef>
          <a:fontRef idx="minor">
            <a:schemeClr val="lt1"/>
          </a:fontRef>
        </p:style>
        <p:txBody>
          <a:bodyPr anchor="ctr">
            <a:normAutofit/>
          </a:bodyP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a:solidFill>
                  <a:schemeClr val="bg1"/>
                </a:solidFill>
              </a:rPr>
              <a:t>新</a:t>
            </a:r>
            <a:r>
              <a:rPr lang="zh-CN" altLang="en-US" sz="3600" dirty="0" smtClean="0">
                <a:solidFill>
                  <a:schemeClr val="bg1"/>
                </a:solidFill>
              </a:rPr>
              <a:t>问题</a:t>
            </a:r>
            <a:r>
              <a:rPr lang="en-US" altLang="zh-CN" sz="3600" dirty="0" smtClean="0">
                <a:solidFill>
                  <a:schemeClr val="bg1"/>
                </a:solidFill>
              </a:rPr>
              <a:t>4</a:t>
            </a:r>
            <a:r>
              <a:rPr lang="zh-CN" altLang="en-US" sz="3600" dirty="0" smtClean="0">
                <a:solidFill>
                  <a:schemeClr val="bg1"/>
                </a:solidFill>
              </a:rPr>
              <a:t>：数据权利</a:t>
            </a:r>
            <a:r>
              <a:rPr lang="en-US" altLang="zh-CN" sz="3600" dirty="0" smtClean="0">
                <a:solidFill>
                  <a:schemeClr val="bg1"/>
                </a:solidFill>
              </a:rPr>
              <a:t>——</a:t>
            </a:r>
            <a:r>
              <a:rPr lang="zh-CN" altLang="en-US" sz="3600" dirty="0" smtClean="0">
                <a:solidFill>
                  <a:schemeClr val="bg1"/>
                </a:solidFill>
              </a:rPr>
              <a:t>大数据是资产吗？</a:t>
            </a:r>
            <a:endParaRPr lang="en-US" altLang="zh-CN" sz="3600" dirty="0" smtClean="0">
              <a:solidFill>
                <a:schemeClr val="bg1"/>
              </a:solidFill>
            </a:endParaRPr>
          </a:p>
        </p:txBody>
      </p:sp>
      <p:sp>
        <p:nvSpPr>
          <p:cNvPr id="3" name="内容占位符 2"/>
          <p:cNvSpPr>
            <a:spLocks noGrp="1"/>
          </p:cNvSpPr>
          <p:nvPr>
            <p:ph sz="half" idx="1"/>
          </p:nvPr>
        </p:nvSpPr>
        <p:spPr>
          <a:xfrm>
            <a:off x="609600" y="1600200"/>
            <a:ext cx="3898900" cy="4525963"/>
          </a:xfrm>
          <a:ln>
            <a:solidFill>
              <a:schemeClr val="accent1"/>
            </a:solidFill>
          </a:ln>
        </p:spPr>
        <p:txBody>
          <a:bodyPr rtlCol="0">
            <a:normAutofit fontScale="92500" lnSpcReduction="20000"/>
          </a:bodyPr>
          <a:lstStyle/>
          <a:p>
            <a:pPr marL="0" indent="0" eaLnBrk="1" fontAlgn="auto" hangingPunct="1">
              <a:lnSpc>
                <a:spcPct val="120000"/>
              </a:lnSpc>
              <a:spcBef>
                <a:spcPts val="1200"/>
              </a:spcBef>
              <a:spcAft>
                <a:spcPts val="0"/>
              </a:spcAft>
              <a:buFont typeface="Arial" panose="020B0604020202020204" pitchFamily="34" charset="0"/>
              <a:buNone/>
              <a:defRPr/>
            </a:pPr>
            <a:r>
              <a:rPr lang="zh-CN" altLang="zh-CN" dirty="0">
                <a:latin typeface="黑体" panose="02010609060101010101" pitchFamily="49" charset="-122"/>
              </a:rPr>
              <a:t>从财务上看，自然人或法人的资产须具备三要素：</a:t>
            </a:r>
            <a:endParaRPr lang="zh-CN" altLang="zh-CN" dirty="0">
              <a:latin typeface="黑体" panose="02010609060101010101" pitchFamily="49" charset="-122"/>
            </a:endParaRPr>
          </a:p>
          <a:p>
            <a:pPr marL="514350" indent="-514350" eaLnBrk="1" fontAlgn="auto" hangingPunct="1">
              <a:lnSpc>
                <a:spcPct val="120000"/>
              </a:lnSpc>
              <a:spcBef>
                <a:spcPts val="1200"/>
              </a:spcBef>
              <a:spcAft>
                <a:spcPts val="0"/>
              </a:spcAft>
              <a:buFont typeface="+mj-lt"/>
              <a:buAutoNum type="arabicPeriod"/>
              <a:defRPr/>
            </a:pPr>
            <a:r>
              <a:rPr lang="zh-CN" altLang="zh-CN" dirty="0" smtClean="0">
                <a:latin typeface="黑体" panose="02010609060101010101" pitchFamily="49" charset="-122"/>
              </a:rPr>
              <a:t>被</a:t>
            </a:r>
            <a:r>
              <a:rPr lang="zh-CN" altLang="zh-CN" dirty="0">
                <a:latin typeface="黑体" panose="02010609060101010101" pitchFamily="49" charset="-122"/>
              </a:rPr>
              <a:t>他拥有和</a:t>
            </a:r>
            <a:r>
              <a:rPr lang="zh-CN" altLang="zh-CN" dirty="0" smtClean="0">
                <a:latin typeface="黑体" panose="02010609060101010101" pitchFamily="49" charset="-122"/>
              </a:rPr>
              <a:t>控制</a:t>
            </a:r>
            <a:endParaRPr lang="zh-CN" altLang="zh-CN" dirty="0">
              <a:latin typeface="黑体" panose="02010609060101010101" pitchFamily="49" charset="-122"/>
            </a:endParaRPr>
          </a:p>
          <a:p>
            <a:pPr marL="514350" indent="-514350" eaLnBrk="1" fontAlgn="auto" hangingPunct="1">
              <a:lnSpc>
                <a:spcPct val="120000"/>
              </a:lnSpc>
              <a:spcBef>
                <a:spcPts val="1200"/>
              </a:spcBef>
              <a:spcAft>
                <a:spcPts val="0"/>
              </a:spcAft>
              <a:buFont typeface="+mj-lt"/>
              <a:buAutoNum type="arabicPeriod"/>
              <a:defRPr/>
            </a:pPr>
            <a:r>
              <a:rPr lang="zh-CN" altLang="zh-CN" dirty="0" smtClean="0">
                <a:latin typeface="黑体" panose="02010609060101010101" pitchFamily="49" charset="-122"/>
              </a:rPr>
              <a:t>能够</a:t>
            </a:r>
            <a:r>
              <a:rPr lang="zh-CN" altLang="zh-CN" dirty="0">
                <a:latin typeface="黑体" panose="02010609060101010101" pitchFamily="49" charset="-122"/>
              </a:rPr>
              <a:t>用货币来</a:t>
            </a:r>
            <a:r>
              <a:rPr lang="zh-CN" altLang="zh-CN" dirty="0" smtClean="0">
                <a:latin typeface="黑体" panose="02010609060101010101" pitchFamily="49" charset="-122"/>
              </a:rPr>
              <a:t>衡量</a:t>
            </a:r>
            <a:endParaRPr lang="zh-CN" altLang="zh-CN" dirty="0">
              <a:latin typeface="黑体" panose="02010609060101010101" pitchFamily="49" charset="-122"/>
            </a:endParaRPr>
          </a:p>
          <a:p>
            <a:pPr marL="514350" indent="-514350" eaLnBrk="1" fontAlgn="auto" hangingPunct="1">
              <a:lnSpc>
                <a:spcPct val="120000"/>
              </a:lnSpc>
              <a:spcBef>
                <a:spcPts val="1200"/>
              </a:spcBef>
              <a:spcAft>
                <a:spcPts val="0"/>
              </a:spcAft>
              <a:buFont typeface="+mj-lt"/>
              <a:buAutoNum type="arabicPeriod"/>
              <a:defRPr/>
            </a:pPr>
            <a:r>
              <a:rPr lang="zh-CN" altLang="zh-CN" dirty="0" smtClean="0">
                <a:latin typeface="黑体" panose="02010609060101010101" pitchFamily="49" charset="-122"/>
              </a:rPr>
              <a:t>能为</a:t>
            </a:r>
            <a:r>
              <a:rPr lang="zh-CN" altLang="zh-CN" dirty="0">
                <a:latin typeface="黑体" panose="02010609060101010101" pitchFamily="49" charset="-122"/>
              </a:rPr>
              <a:t>他带来经济</a:t>
            </a:r>
            <a:r>
              <a:rPr lang="zh-CN" altLang="zh-CN" dirty="0" smtClean="0">
                <a:latin typeface="黑体" panose="02010609060101010101" pitchFamily="49" charset="-122"/>
              </a:rPr>
              <a:t>利益</a:t>
            </a:r>
            <a:endParaRPr lang="zh-CN" altLang="zh-CN" dirty="0">
              <a:latin typeface="黑体" panose="02010609060101010101" pitchFamily="49" charset="-122"/>
            </a:endParaRPr>
          </a:p>
        </p:txBody>
      </p:sp>
      <p:sp>
        <p:nvSpPr>
          <p:cNvPr id="7" name="内容占位符 6"/>
          <p:cNvSpPr>
            <a:spLocks noGrp="1"/>
          </p:cNvSpPr>
          <p:nvPr>
            <p:ph sz="half" idx="2"/>
          </p:nvPr>
        </p:nvSpPr>
        <p:spPr>
          <a:xfrm>
            <a:off x="4791075" y="1600200"/>
            <a:ext cx="6791325" cy="4525963"/>
          </a:xfrm>
          <a:ln>
            <a:solidFill>
              <a:schemeClr val="accent1"/>
            </a:solidFill>
          </a:ln>
        </p:spPr>
        <p:txBody>
          <a:bodyPr rtlCol="0">
            <a:normAutofit fontScale="92500" lnSpcReduction="20000"/>
          </a:bodyPr>
          <a:lstStyle/>
          <a:p>
            <a:pPr marL="0" indent="0" eaLnBrk="1" fontAlgn="auto" hangingPunct="1">
              <a:lnSpc>
                <a:spcPct val="120000"/>
              </a:lnSpc>
              <a:spcBef>
                <a:spcPts val="1200"/>
              </a:spcBef>
              <a:spcAft>
                <a:spcPts val="0"/>
              </a:spcAft>
              <a:buFont typeface="Arial" panose="020B0604020202020204" pitchFamily="34" charset="0"/>
              <a:buNone/>
              <a:defRPr/>
            </a:pPr>
            <a:r>
              <a:rPr lang="zh-CN" altLang="zh-CN" dirty="0">
                <a:latin typeface="黑体" panose="02010609060101010101" pitchFamily="49" charset="-122"/>
              </a:rPr>
              <a:t>大数据</a:t>
            </a:r>
            <a:r>
              <a:rPr lang="zh-CN" altLang="zh-CN" dirty="0" smtClean="0">
                <a:latin typeface="黑体" panose="02010609060101010101" pitchFamily="49" charset="-122"/>
              </a:rPr>
              <a:t>实践</a:t>
            </a:r>
            <a:r>
              <a:rPr lang="zh-CN" altLang="en-US" dirty="0" smtClean="0">
                <a:latin typeface="黑体" panose="02010609060101010101" pitchFamily="49" charset="-122"/>
              </a:rPr>
              <a:t>中，</a:t>
            </a:r>
            <a:endParaRPr lang="en-US" altLang="zh-CN" dirty="0" smtClean="0">
              <a:latin typeface="黑体" panose="02010609060101010101" pitchFamily="49" charset="-122"/>
            </a:endParaRPr>
          </a:p>
          <a:p>
            <a:pPr marL="514350" indent="-514350" eaLnBrk="1" fontAlgn="auto" hangingPunct="1">
              <a:lnSpc>
                <a:spcPct val="120000"/>
              </a:lnSpc>
              <a:spcBef>
                <a:spcPts val="1200"/>
              </a:spcBef>
              <a:spcAft>
                <a:spcPts val="0"/>
              </a:spcAft>
              <a:buFont typeface="+mj-lt"/>
              <a:buAutoNum type="arabicPeriod"/>
              <a:defRPr/>
            </a:pPr>
            <a:r>
              <a:rPr lang="zh-CN" altLang="zh-CN" dirty="0" smtClean="0">
                <a:latin typeface="黑体" panose="02010609060101010101" pitchFamily="49" charset="-122"/>
              </a:rPr>
              <a:t>大</a:t>
            </a:r>
            <a:r>
              <a:rPr lang="zh-CN" altLang="zh-CN" dirty="0">
                <a:latin typeface="黑体" panose="02010609060101010101" pitchFamily="49" charset="-122"/>
              </a:rPr>
              <a:t>数据在数据</a:t>
            </a:r>
            <a:r>
              <a:rPr lang="zh-CN" altLang="zh-CN" dirty="0">
                <a:solidFill>
                  <a:srgbClr val="FF0000"/>
                </a:solidFill>
                <a:latin typeface="黑体" panose="02010609060101010101" pitchFamily="49" charset="-122"/>
              </a:rPr>
              <a:t>权属</a:t>
            </a:r>
            <a:r>
              <a:rPr lang="zh-CN" altLang="zh-CN" dirty="0">
                <a:latin typeface="黑体" panose="02010609060101010101" pitchFamily="49" charset="-122"/>
              </a:rPr>
              <a:t>上存在模糊</a:t>
            </a:r>
            <a:r>
              <a:rPr lang="zh-CN" altLang="zh-CN" dirty="0" smtClean="0">
                <a:latin typeface="黑体" panose="02010609060101010101" pitchFamily="49" charset="-122"/>
              </a:rPr>
              <a:t>地带</a:t>
            </a:r>
            <a:endParaRPr lang="zh-CN" altLang="zh-CN" dirty="0">
              <a:latin typeface="黑体" panose="02010609060101010101" pitchFamily="49" charset="-122"/>
            </a:endParaRPr>
          </a:p>
          <a:p>
            <a:pPr marL="514350" indent="-514350" eaLnBrk="1" fontAlgn="auto" hangingPunct="1">
              <a:lnSpc>
                <a:spcPct val="120000"/>
              </a:lnSpc>
              <a:spcBef>
                <a:spcPts val="1200"/>
              </a:spcBef>
              <a:spcAft>
                <a:spcPts val="0"/>
              </a:spcAft>
              <a:buFont typeface="+mj-lt"/>
              <a:buAutoNum type="arabicPeriod"/>
              <a:defRPr/>
            </a:pPr>
            <a:r>
              <a:rPr lang="zh-CN" altLang="zh-CN" dirty="0" smtClean="0">
                <a:latin typeface="黑体" panose="02010609060101010101" pitchFamily="49" charset="-122"/>
              </a:rPr>
              <a:t>其</a:t>
            </a:r>
            <a:r>
              <a:rPr lang="zh-CN" altLang="zh-CN" dirty="0">
                <a:latin typeface="黑体" panose="02010609060101010101" pitchFamily="49" charset="-122"/>
              </a:rPr>
              <a:t>货币价值与可用真实性、可信性、完整性、可用性等指标度量的</a:t>
            </a:r>
            <a:r>
              <a:rPr lang="zh-CN" altLang="zh-CN" dirty="0">
                <a:solidFill>
                  <a:srgbClr val="FF0000"/>
                </a:solidFill>
                <a:latin typeface="黑体" panose="02010609060101010101" pitchFamily="49" charset="-122"/>
              </a:rPr>
              <a:t>数据质量</a:t>
            </a:r>
            <a:r>
              <a:rPr lang="zh-CN" altLang="zh-CN" dirty="0" smtClean="0">
                <a:latin typeface="黑体" panose="02010609060101010101" pitchFamily="49" charset="-122"/>
              </a:rPr>
              <a:t>密切相关</a:t>
            </a:r>
            <a:endParaRPr lang="zh-CN" altLang="zh-CN" dirty="0">
              <a:latin typeface="黑体" panose="02010609060101010101" pitchFamily="49" charset="-122"/>
            </a:endParaRPr>
          </a:p>
          <a:p>
            <a:pPr marL="514350" indent="-514350" eaLnBrk="1" fontAlgn="auto" hangingPunct="1">
              <a:lnSpc>
                <a:spcPct val="120000"/>
              </a:lnSpc>
              <a:spcBef>
                <a:spcPts val="1200"/>
              </a:spcBef>
              <a:spcAft>
                <a:spcPts val="0"/>
              </a:spcAft>
              <a:buFont typeface="+mj-lt"/>
              <a:buAutoNum type="arabicPeriod"/>
              <a:defRPr/>
            </a:pPr>
            <a:r>
              <a:rPr lang="zh-CN" altLang="zh-CN" dirty="0" smtClean="0">
                <a:latin typeface="黑体" panose="02010609060101010101" pitchFamily="49" charset="-122"/>
              </a:rPr>
              <a:t>大</a:t>
            </a:r>
            <a:r>
              <a:rPr lang="zh-CN" altLang="zh-CN" dirty="0">
                <a:latin typeface="黑体" panose="02010609060101010101" pitchFamily="49" charset="-122"/>
              </a:rPr>
              <a:t>数据的价值多体现在</a:t>
            </a:r>
            <a:r>
              <a:rPr lang="zh-CN" altLang="zh-CN" dirty="0">
                <a:solidFill>
                  <a:srgbClr val="FF0000"/>
                </a:solidFill>
                <a:latin typeface="黑体" panose="02010609060101010101" pitchFamily="49" charset="-122"/>
              </a:rPr>
              <a:t>关联价值</a:t>
            </a:r>
            <a:r>
              <a:rPr lang="zh-CN" altLang="zh-CN" dirty="0">
                <a:latin typeface="黑体" panose="02010609060101010101" pitchFamily="49" charset="-122"/>
              </a:rPr>
              <a:t>上，即通过将数据不断聚合、加工后产生</a:t>
            </a:r>
            <a:r>
              <a:rPr lang="zh-CN" altLang="zh-CN" dirty="0" smtClean="0">
                <a:latin typeface="黑体" panose="02010609060101010101" pitchFamily="49" charset="-122"/>
              </a:rPr>
              <a:t>增值</a:t>
            </a:r>
            <a:endParaRPr lang="zh-CN" altLang="zh-CN" dirty="0">
              <a:latin typeface="黑体" panose="02010609060101010101" pitchFamily="49" charset="-122"/>
            </a:endParaRPr>
          </a:p>
          <a:p>
            <a:pPr marL="514350" indent="-514350" eaLnBrk="1" fontAlgn="auto" hangingPunct="1">
              <a:lnSpc>
                <a:spcPct val="120000"/>
              </a:lnSpc>
              <a:spcBef>
                <a:spcPts val="1200"/>
              </a:spcBef>
              <a:spcAft>
                <a:spcPts val="0"/>
              </a:spcAft>
              <a:buFont typeface="+mj-lt"/>
              <a:buAutoNum type="arabicPeriod"/>
              <a:defRPr/>
            </a:pPr>
            <a:r>
              <a:rPr lang="zh-CN" altLang="zh-CN" dirty="0" smtClean="0">
                <a:latin typeface="黑体" panose="02010609060101010101" pitchFamily="49" charset="-122"/>
              </a:rPr>
              <a:t>不同</a:t>
            </a:r>
            <a:r>
              <a:rPr lang="zh-CN" altLang="zh-CN" dirty="0">
                <a:latin typeface="黑体" panose="02010609060101010101" pitchFamily="49" charset="-122"/>
              </a:rPr>
              <a:t>于一般物质性资产，数据的价值不随使用次数的增多而减少，具有</a:t>
            </a:r>
            <a:r>
              <a:rPr lang="zh-CN" altLang="zh-CN" dirty="0">
                <a:solidFill>
                  <a:srgbClr val="FF0000"/>
                </a:solidFill>
                <a:latin typeface="黑体" panose="02010609060101010101" pitchFamily="49" charset="-122"/>
              </a:rPr>
              <a:t>非消耗</a:t>
            </a:r>
            <a:r>
              <a:rPr lang="zh-CN" altLang="zh-CN" dirty="0" smtClean="0">
                <a:solidFill>
                  <a:srgbClr val="FF0000"/>
                </a:solidFill>
                <a:latin typeface="黑体" panose="02010609060101010101" pitchFamily="49" charset="-122"/>
              </a:rPr>
              <a:t>性</a:t>
            </a:r>
            <a:endParaRPr lang="zh-CN" altLang="zh-CN" dirty="0">
              <a:latin typeface="黑体" panose="02010609060101010101" pitchFamily="49" charset="-122"/>
            </a:endParaRPr>
          </a:p>
          <a:p>
            <a:pPr eaLnBrk="1" fontAlgn="auto" hangingPunct="1">
              <a:lnSpc>
                <a:spcPct val="120000"/>
              </a:lnSpc>
              <a:spcBef>
                <a:spcPts val="1200"/>
              </a:spcBef>
              <a:spcAft>
                <a:spcPts val="0"/>
              </a:spcAft>
              <a:buFont typeface="Arial" panose="020B0604020202020204" pitchFamily="34" charset="0"/>
              <a:buChar char="•"/>
              <a:defRPr/>
            </a:pPr>
            <a:endParaRPr lang="zh-CN" altLang="en-US" dirty="0">
              <a:latin typeface="黑体" panose="02010609060101010101" pitchFamily="49" charset="-122"/>
            </a:endParaRPr>
          </a:p>
        </p:txBody>
      </p:sp>
      <p:sp>
        <p:nvSpPr>
          <p:cNvPr id="51207" name="灯片编号占位符 7"/>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FFAA780F-1779-4105-9AB0-20C4BC08CA3B}" type="slidenum">
              <a:rPr lang="zh-CN" altLang="en-US">
                <a:solidFill>
                  <a:srgbClr val="898989"/>
                </a:solidFill>
              </a:rPr>
            </a:fld>
            <a:endParaRPr lang="en-US" altLang="zh-CN">
              <a:solidFill>
                <a:srgbClr val="898989"/>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标题 1"/>
          <p:cNvSpPr>
            <a:spLocks noGrp="1"/>
          </p:cNvSpPr>
          <p:nvPr>
            <p:ph type="title"/>
          </p:nvPr>
        </p:nvSpPr>
        <p:spPr bwMode="auto">
          <a:noFill/>
          <a:ln>
            <a:miter lim="800000"/>
          </a:ln>
        </p:spPr>
        <p:txBody>
          <a:bodyPr vert="horz" wrap="square" lIns="91440" tIns="45720" rIns="91440" bIns="45720" numCol="1" anchor="t" anchorCtr="0" compatLnSpc="1"/>
          <a:lstStyle/>
          <a:p>
            <a:pPr eaLnBrk="1" hangingPunct="1"/>
            <a:endParaRPr lang="zh-CN" altLang="en-US" smtClean="0"/>
          </a:p>
        </p:txBody>
      </p:sp>
      <p:graphicFrame>
        <p:nvGraphicFramePr>
          <p:cNvPr id="7" name="内容占位符 6"/>
          <p:cNvGraphicFramePr>
            <a:graphicFrameLocks noGrp="1"/>
          </p:cNvGraphicFramePr>
          <p:nvPr>
            <p:ph sz="half" idx="2"/>
          </p:nvPr>
        </p:nvGraphicFramePr>
        <p:xfrm>
          <a:off x="4170363" y="1582738"/>
          <a:ext cx="7412736" cy="4459438"/>
        </p:xfrm>
        <a:graphic>
          <a:graphicData uri="http://schemas.openxmlformats.org/drawingml/2006/table">
            <a:tbl>
              <a:tblPr firstRow="1" bandRow="1">
                <a:tableStyleId>{00A15C55-8517-42AA-B614-E9B94910E393}</a:tableStyleId>
              </a:tblPr>
              <a:tblGrid>
                <a:gridCol w="1808055"/>
                <a:gridCol w="2087289"/>
                <a:gridCol w="3517392"/>
              </a:tblGrid>
              <a:tr h="694491">
                <a:tc>
                  <a:txBody>
                    <a:bodyPr/>
                    <a:lstStyle/>
                    <a:p>
                      <a:pPr marL="228600" algn="ctr">
                        <a:spcAft>
                          <a:spcPts val="0"/>
                        </a:spcAft>
                      </a:pPr>
                      <a:r>
                        <a:rPr lang="zh-CN" sz="2400" kern="100" dirty="0">
                          <a:effectLst/>
                          <a:latin typeface="黑体" panose="02010609060101010101" pitchFamily="49" charset="-122"/>
                          <a:ea typeface="黑体" panose="02010609060101010101" pitchFamily="49" charset="-122"/>
                        </a:rPr>
                        <a:t>弱者</a:t>
                      </a:r>
                      <a:endParaRPr lang="zh-CN" sz="2400" kern="100" dirty="0">
                        <a:solidFill>
                          <a:srgbClr val="000000"/>
                        </a:solidFill>
                        <a:effectLst/>
                        <a:latin typeface="黑体" panose="02010609060101010101" pitchFamily="49" charset="-122"/>
                        <a:ea typeface="黑体" panose="02010609060101010101" pitchFamily="49" charset="-122"/>
                        <a:cs typeface="Times New Roman" panose="02020603050405020304"/>
                      </a:endParaRPr>
                    </a:p>
                  </a:txBody>
                  <a:tcPr marL="68580" marR="68580" marT="0" marB="0"/>
                </a:tc>
                <a:tc>
                  <a:txBody>
                    <a:bodyPr/>
                    <a:lstStyle/>
                    <a:p>
                      <a:pPr marL="228600" algn="ctr">
                        <a:spcAft>
                          <a:spcPts val="0"/>
                        </a:spcAft>
                      </a:pPr>
                      <a:r>
                        <a:rPr lang="zh-CN" sz="2400" kern="100" dirty="0">
                          <a:effectLst/>
                          <a:latin typeface="黑体" panose="02010609060101010101" pitchFamily="49" charset="-122"/>
                          <a:ea typeface="黑体" panose="02010609060101010101" pitchFamily="49" charset="-122"/>
                        </a:rPr>
                        <a:t>风险与威胁</a:t>
                      </a:r>
                      <a:endParaRPr lang="zh-CN" sz="2400" kern="100" dirty="0">
                        <a:solidFill>
                          <a:srgbClr val="000000"/>
                        </a:solidFill>
                        <a:effectLst/>
                        <a:latin typeface="黑体" panose="02010609060101010101" pitchFamily="49" charset="-122"/>
                        <a:ea typeface="黑体" panose="02010609060101010101" pitchFamily="49" charset="-122"/>
                        <a:cs typeface="Times New Roman" panose="02020603050405020304"/>
                      </a:endParaRPr>
                    </a:p>
                  </a:txBody>
                  <a:tcPr marL="68580" marR="68580" marT="0" marB="0"/>
                </a:tc>
                <a:tc>
                  <a:txBody>
                    <a:bodyPr/>
                    <a:lstStyle/>
                    <a:p>
                      <a:pPr marL="228600" algn="ctr">
                        <a:spcAft>
                          <a:spcPts val="0"/>
                        </a:spcAft>
                      </a:pPr>
                      <a:r>
                        <a:rPr lang="en-US" sz="2400" kern="100" dirty="0">
                          <a:effectLst/>
                          <a:latin typeface="黑体" panose="02010609060101010101" pitchFamily="49" charset="-122"/>
                          <a:ea typeface="黑体" panose="02010609060101010101" pitchFamily="49" charset="-122"/>
                        </a:rPr>
                        <a:t> </a:t>
                      </a:r>
                      <a:r>
                        <a:rPr lang="zh-CN" sz="2400" kern="100" dirty="0">
                          <a:effectLst/>
                          <a:latin typeface="黑体" panose="02010609060101010101" pitchFamily="49" charset="-122"/>
                          <a:ea typeface="黑体" panose="02010609060101010101" pitchFamily="49" charset="-122"/>
                        </a:rPr>
                        <a:t>保护</a:t>
                      </a:r>
                      <a:endParaRPr lang="zh-CN" sz="2400" kern="100" dirty="0">
                        <a:solidFill>
                          <a:srgbClr val="000000"/>
                        </a:solidFill>
                        <a:effectLst/>
                        <a:latin typeface="黑体" panose="02010609060101010101" pitchFamily="49" charset="-122"/>
                        <a:ea typeface="黑体" panose="02010609060101010101" pitchFamily="49" charset="-122"/>
                        <a:cs typeface="Times New Roman" panose="02020603050405020304"/>
                      </a:endParaRPr>
                    </a:p>
                  </a:txBody>
                  <a:tcPr marL="68580" marR="68580" marT="0" marB="0"/>
                </a:tc>
              </a:tr>
              <a:tr h="1354082">
                <a:tc>
                  <a:txBody>
                    <a:bodyPr/>
                    <a:lstStyle/>
                    <a:p>
                      <a:pPr algn="ctr">
                        <a:spcAft>
                          <a:spcPts val="0"/>
                        </a:spcAft>
                        <a:tabLst>
                          <a:tab pos="506095" algn="l"/>
                        </a:tabLst>
                      </a:pPr>
                      <a:r>
                        <a:rPr lang="en-US" sz="2000" b="1" kern="100" dirty="0">
                          <a:effectLst/>
                          <a:latin typeface="黑体" panose="02010609060101010101" pitchFamily="49" charset="-122"/>
                          <a:ea typeface="黑体" panose="02010609060101010101" pitchFamily="49" charset="-122"/>
                        </a:rPr>
                        <a:t>“</a:t>
                      </a:r>
                      <a:r>
                        <a:rPr lang="zh-CN" sz="2000" b="1" kern="100" dirty="0">
                          <a:solidFill>
                            <a:srgbClr val="FF0000"/>
                          </a:solidFill>
                          <a:effectLst/>
                          <a:latin typeface="黑体" panose="02010609060101010101" pitchFamily="49" charset="-122"/>
                          <a:ea typeface="黑体" panose="02010609060101010101" pitchFamily="49" charset="-122"/>
                        </a:rPr>
                        <a:t>数据鸿沟</a:t>
                      </a:r>
                      <a:r>
                        <a:rPr lang="en-US" sz="2000" b="1" kern="100" dirty="0">
                          <a:effectLst/>
                          <a:latin typeface="黑体" panose="02010609060101010101" pitchFamily="49" charset="-122"/>
                          <a:ea typeface="黑体" panose="02010609060101010101" pitchFamily="49" charset="-122"/>
                        </a:rPr>
                        <a:t>”</a:t>
                      </a:r>
                      <a:endParaRPr lang="zh-CN" sz="2000" b="1" kern="100" dirty="0">
                        <a:effectLst/>
                        <a:latin typeface="黑体" panose="02010609060101010101" pitchFamily="49" charset="-122"/>
                        <a:ea typeface="黑体" panose="02010609060101010101" pitchFamily="49" charset="-122"/>
                      </a:endParaRPr>
                    </a:p>
                    <a:p>
                      <a:pPr algn="ctr">
                        <a:spcAft>
                          <a:spcPts val="0"/>
                        </a:spcAft>
                        <a:tabLst>
                          <a:tab pos="506095" algn="l"/>
                        </a:tabLst>
                      </a:pPr>
                      <a:r>
                        <a:rPr lang="zh-CN" sz="2000" b="1" kern="100" dirty="0">
                          <a:effectLst/>
                          <a:latin typeface="黑体" panose="02010609060101010101" pitchFamily="49" charset="-122"/>
                          <a:ea typeface="黑体" panose="02010609060101010101" pitchFamily="49" charset="-122"/>
                        </a:rPr>
                        <a:t>彼岸</a:t>
                      </a:r>
                      <a:endParaRPr lang="zh-CN" sz="2000" b="1" kern="100" dirty="0">
                        <a:solidFill>
                          <a:srgbClr val="000000"/>
                        </a:solidFill>
                        <a:effectLst/>
                        <a:latin typeface="黑体" panose="02010609060101010101" pitchFamily="49" charset="-122"/>
                        <a:ea typeface="黑体" panose="02010609060101010101" pitchFamily="49" charset="-122"/>
                        <a:cs typeface="Times New Roman" panose="02020603050405020304"/>
                      </a:endParaRPr>
                    </a:p>
                  </a:txBody>
                  <a:tcPr marL="68580" marR="68580" marT="0" marB="0"/>
                </a:tc>
                <a:tc>
                  <a:txBody>
                    <a:bodyPr/>
                    <a:lstStyle/>
                    <a:p>
                      <a:pPr algn="just">
                        <a:spcAft>
                          <a:spcPts val="0"/>
                        </a:spcAft>
                        <a:tabLst>
                          <a:tab pos="506095" algn="l"/>
                        </a:tabLst>
                      </a:pPr>
                      <a:r>
                        <a:rPr lang="zh-CN" sz="2000" kern="100" dirty="0">
                          <a:effectLst/>
                          <a:latin typeface="黑体" panose="02010609060101010101" pitchFamily="49" charset="-122"/>
                          <a:ea typeface="黑体" panose="02010609060101010101" pitchFamily="49" charset="-122"/>
                        </a:rPr>
                        <a:t>丧失公平机会</a:t>
                      </a:r>
                      <a:endParaRPr lang="zh-CN" sz="2000" kern="100" dirty="0">
                        <a:effectLst/>
                        <a:latin typeface="黑体" panose="02010609060101010101" pitchFamily="49" charset="-122"/>
                        <a:ea typeface="黑体" panose="02010609060101010101" pitchFamily="49" charset="-122"/>
                      </a:endParaRPr>
                    </a:p>
                    <a:p>
                      <a:pPr algn="just">
                        <a:spcAft>
                          <a:spcPts val="0"/>
                        </a:spcAft>
                        <a:tabLst>
                          <a:tab pos="506095" algn="l"/>
                        </a:tabLst>
                      </a:pPr>
                      <a:r>
                        <a:rPr lang="zh-CN" sz="2000" kern="100" dirty="0">
                          <a:effectLst/>
                          <a:latin typeface="黑体" panose="02010609060101010101" pitchFamily="49" charset="-122"/>
                          <a:ea typeface="黑体" panose="02010609060101010101" pitchFamily="49" charset="-122"/>
                        </a:rPr>
                        <a:t>人财物安全受侵害</a:t>
                      </a:r>
                      <a:endParaRPr lang="zh-CN" sz="2000" kern="100" dirty="0">
                        <a:solidFill>
                          <a:srgbClr val="000000"/>
                        </a:solidFill>
                        <a:effectLst/>
                        <a:latin typeface="黑体" panose="02010609060101010101" pitchFamily="49" charset="-122"/>
                        <a:ea typeface="黑体" panose="02010609060101010101" pitchFamily="49" charset="-122"/>
                        <a:cs typeface="Times New Roman" panose="02020603050405020304"/>
                      </a:endParaRPr>
                    </a:p>
                  </a:txBody>
                  <a:tcPr marL="68580" marR="68580" marT="0" marB="0"/>
                </a:tc>
                <a:tc>
                  <a:txBody>
                    <a:bodyPr/>
                    <a:lstStyle/>
                    <a:p>
                      <a:pPr algn="just">
                        <a:spcAft>
                          <a:spcPts val="0"/>
                        </a:spcAft>
                        <a:tabLst>
                          <a:tab pos="506095" algn="l"/>
                        </a:tabLst>
                      </a:pPr>
                      <a:r>
                        <a:rPr lang="zh-CN" sz="2000" kern="100" dirty="0">
                          <a:effectLst/>
                          <a:latin typeface="黑体" panose="02010609060101010101" pitchFamily="49" charset="-122"/>
                          <a:ea typeface="黑体" panose="02010609060101010101" pitchFamily="49" charset="-122"/>
                        </a:rPr>
                        <a:t>政府普惠信息设施、教育、基本社会保障</a:t>
                      </a:r>
                      <a:endParaRPr lang="zh-CN" sz="2000" kern="100" dirty="0">
                        <a:effectLst/>
                        <a:latin typeface="黑体" panose="02010609060101010101" pitchFamily="49" charset="-122"/>
                        <a:ea typeface="黑体" panose="02010609060101010101" pitchFamily="49" charset="-122"/>
                      </a:endParaRPr>
                    </a:p>
                    <a:p>
                      <a:pPr algn="just">
                        <a:spcAft>
                          <a:spcPts val="0"/>
                        </a:spcAft>
                        <a:tabLst>
                          <a:tab pos="506095" algn="l"/>
                        </a:tabLst>
                      </a:pPr>
                      <a:r>
                        <a:rPr lang="zh-CN" sz="2000" kern="100" dirty="0">
                          <a:effectLst/>
                          <a:latin typeface="黑体" panose="02010609060101010101" pitchFamily="49" charset="-122"/>
                          <a:ea typeface="黑体" panose="02010609060101010101" pitchFamily="49" charset="-122"/>
                        </a:rPr>
                        <a:t>培育和发展社会组织</a:t>
                      </a:r>
                      <a:endParaRPr lang="zh-CN" sz="2000" kern="100" dirty="0">
                        <a:effectLst/>
                        <a:latin typeface="黑体" panose="02010609060101010101" pitchFamily="49" charset="-122"/>
                        <a:ea typeface="黑体" panose="02010609060101010101" pitchFamily="49" charset="-122"/>
                      </a:endParaRPr>
                    </a:p>
                    <a:p>
                      <a:pPr algn="just">
                        <a:spcAft>
                          <a:spcPts val="0"/>
                        </a:spcAft>
                        <a:tabLst>
                          <a:tab pos="506095" algn="l"/>
                        </a:tabLst>
                      </a:pPr>
                      <a:r>
                        <a:rPr lang="zh-CN" sz="2000" kern="100" dirty="0">
                          <a:effectLst/>
                          <a:latin typeface="黑体" panose="02010609060101010101" pitchFamily="49" charset="-122"/>
                          <a:ea typeface="黑体" panose="02010609060101010101" pitchFamily="49" charset="-122"/>
                        </a:rPr>
                        <a:t>提供人性化公益服务</a:t>
                      </a:r>
                      <a:endParaRPr lang="zh-CN" sz="2000" kern="100" dirty="0">
                        <a:solidFill>
                          <a:srgbClr val="000000"/>
                        </a:solidFill>
                        <a:effectLst/>
                        <a:latin typeface="黑体" panose="02010609060101010101" pitchFamily="49" charset="-122"/>
                        <a:ea typeface="黑体" panose="02010609060101010101" pitchFamily="49" charset="-122"/>
                        <a:cs typeface="Times New Roman" panose="02020603050405020304"/>
                      </a:endParaRPr>
                    </a:p>
                  </a:txBody>
                  <a:tcPr marL="68580" marR="68580" marT="0" marB="0"/>
                </a:tc>
              </a:tr>
              <a:tr h="1626357">
                <a:tc>
                  <a:txBody>
                    <a:bodyPr/>
                    <a:lstStyle/>
                    <a:p>
                      <a:pPr algn="ctr">
                        <a:spcAft>
                          <a:spcPts val="0"/>
                        </a:spcAft>
                        <a:tabLst>
                          <a:tab pos="506095" algn="l"/>
                        </a:tabLst>
                      </a:pPr>
                      <a:r>
                        <a:rPr lang="zh-CN" sz="2000" b="1" kern="100" dirty="0">
                          <a:effectLst/>
                          <a:latin typeface="黑体" panose="02010609060101010101" pitchFamily="49" charset="-122"/>
                          <a:ea typeface="黑体" panose="02010609060101010101" pitchFamily="49" charset="-122"/>
                        </a:rPr>
                        <a:t>个人一方</a:t>
                      </a:r>
                      <a:endParaRPr lang="zh-CN" sz="2000" b="1" kern="100" dirty="0">
                        <a:solidFill>
                          <a:srgbClr val="000000"/>
                        </a:solidFill>
                        <a:effectLst/>
                        <a:latin typeface="黑体" panose="02010609060101010101" pitchFamily="49" charset="-122"/>
                        <a:ea typeface="黑体" panose="02010609060101010101" pitchFamily="49" charset="-122"/>
                        <a:cs typeface="Times New Roman" panose="02020603050405020304"/>
                      </a:endParaRPr>
                    </a:p>
                  </a:txBody>
                  <a:tcPr marL="68580" marR="68580" marT="0" marB="0"/>
                </a:tc>
                <a:tc>
                  <a:txBody>
                    <a:bodyPr/>
                    <a:lstStyle/>
                    <a:p>
                      <a:pPr algn="just">
                        <a:spcAft>
                          <a:spcPts val="0"/>
                        </a:spcAft>
                        <a:tabLst>
                          <a:tab pos="506095" algn="l"/>
                        </a:tabLst>
                      </a:pPr>
                      <a:r>
                        <a:rPr lang="zh-CN" sz="2000" kern="100" dirty="0">
                          <a:effectLst/>
                          <a:latin typeface="黑体" panose="02010609060101010101" pitchFamily="49" charset="-122"/>
                          <a:ea typeface="黑体" panose="02010609060101010101" pitchFamily="49" charset="-122"/>
                        </a:rPr>
                        <a:t>个人隐私被侵害</a:t>
                      </a:r>
                      <a:endParaRPr lang="zh-CN" sz="2000" kern="100" dirty="0">
                        <a:effectLst/>
                        <a:latin typeface="黑体" panose="02010609060101010101" pitchFamily="49" charset="-122"/>
                        <a:ea typeface="黑体" panose="02010609060101010101" pitchFamily="49" charset="-122"/>
                      </a:endParaRPr>
                    </a:p>
                    <a:p>
                      <a:pPr algn="just">
                        <a:spcAft>
                          <a:spcPts val="0"/>
                        </a:spcAft>
                        <a:tabLst>
                          <a:tab pos="506095" algn="l"/>
                        </a:tabLst>
                      </a:pPr>
                      <a:r>
                        <a:rPr lang="zh-CN" sz="2000" kern="100" dirty="0">
                          <a:effectLst/>
                          <a:latin typeface="黑体" panose="02010609060101010101" pitchFamily="49" charset="-122"/>
                          <a:ea typeface="黑体" panose="02010609060101010101" pitchFamily="49" charset="-122"/>
                        </a:rPr>
                        <a:t>数据收益无保障</a:t>
                      </a:r>
                      <a:endParaRPr lang="zh-CN" sz="2000" kern="100" dirty="0">
                        <a:solidFill>
                          <a:srgbClr val="000000"/>
                        </a:solidFill>
                        <a:effectLst/>
                        <a:latin typeface="黑体" panose="02010609060101010101" pitchFamily="49" charset="-122"/>
                        <a:ea typeface="黑体" panose="02010609060101010101" pitchFamily="49" charset="-122"/>
                        <a:cs typeface="Times New Roman" panose="02020603050405020304"/>
                      </a:endParaRPr>
                    </a:p>
                  </a:txBody>
                  <a:tcPr marL="68580" marR="68580" marT="0" marB="0"/>
                </a:tc>
                <a:tc>
                  <a:txBody>
                    <a:bodyPr/>
                    <a:lstStyle/>
                    <a:p>
                      <a:pPr algn="just">
                        <a:spcAft>
                          <a:spcPts val="0"/>
                        </a:spcAft>
                        <a:tabLst>
                          <a:tab pos="506095" algn="l"/>
                        </a:tabLst>
                      </a:pPr>
                      <a:r>
                        <a:rPr lang="zh-CN" sz="2000" kern="100" dirty="0">
                          <a:effectLst/>
                          <a:latin typeface="黑体" panose="02010609060101010101" pitchFamily="49" charset="-122"/>
                          <a:ea typeface="黑体" panose="02010609060101010101" pitchFamily="49" charset="-122"/>
                        </a:rPr>
                        <a:t>加快个人隐私、数据资产相关法治建设，尤其是司法实践</a:t>
                      </a:r>
                      <a:endParaRPr lang="zh-CN" sz="2000" kern="100" dirty="0">
                        <a:effectLst/>
                        <a:latin typeface="黑体" panose="02010609060101010101" pitchFamily="49" charset="-122"/>
                        <a:ea typeface="黑体" panose="02010609060101010101" pitchFamily="49" charset="-122"/>
                      </a:endParaRPr>
                    </a:p>
                    <a:p>
                      <a:pPr algn="just">
                        <a:spcAft>
                          <a:spcPts val="0"/>
                        </a:spcAft>
                        <a:tabLst>
                          <a:tab pos="506095" algn="l"/>
                        </a:tabLst>
                      </a:pPr>
                      <a:r>
                        <a:rPr lang="zh-CN" sz="2000" kern="100" dirty="0">
                          <a:effectLst/>
                          <a:latin typeface="黑体" panose="02010609060101010101" pitchFamily="49" charset="-122"/>
                          <a:ea typeface="黑体" panose="02010609060101010101" pitchFamily="49" charset="-122"/>
                        </a:rPr>
                        <a:t>研究、试行数据权属交易规则</a:t>
                      </a:r>
                      <a:endParaRPr lang="zh-CN" sz="2000" kern="100" dirty="0">
                        <a:effectLst/>
                        <a:latin typeface="黑体" panose="02010609060101010101" pitchFamily="49" charset="-122"/>
                        <a:ea typeface="黑体" panose="02010609060101010101" pitchFamily="49" charset="-122"/>
                      </a:endParaRPr>
                    </a:p>
                    <a:p>
                      <a:pPr algn="just">
                        <a:spcAft>
                          <a:spcPts val="0"/>
                        </a:spcAft>
                        <a:tabLst>
                          <a:tab pos="506095" algn="l"/>
                        </a:tabLst>
                      </a:pPr>
                      <a:r>
                        <a:rPr lang="zh-CN" sz="2000" kern="100" dirty="0">
                          <a:effectLst/>
                          <a:latin typeface="黑体" panose="02010609060101010101" pitchFamily="49" charset="-122"/>
                          <a:ea typeface="黑体" panose="02010609060101010101" pitchFamily="49" charset="-122"/>
                        </a:rPr>
                        <a:t>培育和发展坚守社会价值的社会组织</a:t>
                      </a:r>
                      <a:endParaRPr lang="zh-CN" sz="2000" kern="100" dirty="0">
                        <a:solidFill>
                          <a:srgbClr val="000000"/>
                        </a:solidFill>
                        <a:effectLst/>
                        <a:latin typeface="黑体" panose="02010609060101010101" pitchFamily="49" charset="-122"/>
                        <a:ea typeface="黑体" panose="02010609060101010101" pitchFamily="49" charset="-122"/>
                        <a:cs typeface="Times New Roman" panose="02020603050405020304"/>
                      </a:endParaRPr>
                    </a:p>
                  </a:txBody>
                  <a:tcPr marL="68580" marR="68580" marT="0" marB="0"/>
                </a:tc>
              </a:tr>
              <a:tr h="784508">
                <a:tc>
                  <a:txBody>
                    <a:bodyPr/>
                    <a:lstStyle/>
                    <a:p>
                      <a:pPr algn="ctr">
                        <a:spcAft>
                          <a:spcPts val="0"/>
                        </a:spcAft>
                        <a:tabLst>
                          <a:tab pos="506095" algn="l"/>
                        </a:tabLst>
                      </a:pPr>
                      <a:r>
                        <a:rPr lang="zh-CN" sz="2000" b="1" kern="100" dirty="0">
                          <a:effectLst/>
                          <a:latin typeface="黑体" panose="02010609060101010101" pitchFamily="49" charset="-122"/>
                          <a:ea typeface="黑体" panose="02010609060101010101" pitchFamily="49" charset="-122"/>
                        </a:rPr>
                        <a:t>小微创业者</a:t>
                      </a:r>
                      <a:endParaRPr lang="zh-CN" sz="2000" b="1" kern="100" dirty="0">
                        <a:solidFill>
                          <a:srgbClr val="000000"/>
                        </a:solidFill>
                        <a:effectLst/>
                        <a:latin typeface="黑体" panose="02010609060101010101" pitchFamily="49" charset="-122"/>
                        <a:ea typeface="黑体" panose="02010609060101010101" pitchFamily="49" charset="-122"/>
                        <a:cs typeface="Times New Roman" panose="02020603050405020304"/>
                      </a:endParaRPr>
                    </a:p>
                  </a:txBody>
                  <a:tcPr marL="68580" marR="68580" marT="0" marB="0"/>
                </a:tc>
                <a:tc>
                  <a:txBody>
                    <a:bodyPr/>
                    <a:lstStyle/>
                    <a:p>
                      <a:pPr algn="just">
                        <a:spcAft>
                          <a:spcPts val="0"/>
                        </a:spcAft>
                        <a:tabLst>
                          <a:tab pos="506095" algn="l"/>
                        </a:tabLst>
                      </a:pPr>
                      <a:r>
                        <a:rPr lang="zh-CN" sz="2000" kern="100">
                          <a:effectLst/>
                          <a:latin typeface="黑体" panose="02010609060101010101" pitchFamily="49" charset="-122"/>
                          <a:ea typeface="黑体" panose="02010609060101010101" pitchFamily="49" charset="-122"/>
                        </a:rPr>
                        <a:t>数据资产被垄断</a:t>
                      </a:r>
                      <a:endParaRPr lang="zh-CN" sz="2000" kern="100">
                        <a:solidFill>
                          <a:srgbClr val="000000"/>
                        </a:solidFill>
                        <a:effectLst/>
                        <a:latin typeface="黑体" panose="02010609060101010101" pitchFamily="49" charset="-122"/>
                        <a:ea typeface="黑体" panose="02010609060101010101" pitchFamily="49" charset="-122"/>
                        <a:cs typeface="Times New Roman" panose="02020603050405020304"/>
                      </a:endParaRPr>
                    </a:p>
                  </a:txBody>
                  <a:tcPr marL="68580" marR="68580" marT="0" marB="0"/>
                </a:tc>
                <a:tc>
                  <a:txBody>
                    <a:bodyPr/>
                    <a:lstStyle/>
                    <a:p>
                      <a:pPr algn="just">
                        <a:spcAft>
                          <a:spcPts val="0"/>
                        </a:spcAft>
                        <a:tabLst>
                          <a:tab pos="506095" algn="l"/>
                        </a:tabLst>
                      </a:pPr>
                      <a:r>
                        <a:rPr lang="zh-CN" sz="2000" kern="100" dirty="0">
                          <a:effectLst/>
                          <a:latin typeface="黑体" panose="02010609060101010101" pitchFamily="49" charset="-122"/>
                          <a:ea typeface="黑体" panose="02010609060101010101" pitchFamily="49" charset="-122"/>
                        </a:rPr>
                        <a:t>加大数据共享、开放力度</a:t>
                      </a:r>
                      <a:endParaRPr lang="zh-CN" sz="2000" kern="100" dirty="0">
                        <a:effectLst/>
                        <a:latin typeface="黑体" panose="02010609060101010101" pitchFamily="49" charset="-122"/>
                        <a:ea typeface="黑体" panose="02010609060101010101" pitchFamily="49" charset="-122"/>
                      </a:endParaRPr>
                    </a:p>
                    <a:p>
                      <a:pPr algn="just">
                        <a:spcAft>
                          <a:spcPts val="0"/>
                        </a:spcAft>
                        <a:tabLst>
                          <a:tab pos="506095" algn="l"/>
                        </a:tabLst>
                      </a:pPr>
                      <a:r>
                        <a:rPr lang="zh-CN" sz="2000" kern="100" dirty="0">
                          <a:effectLst/>
                          <a:latin typeface="黑体" panose="02010609060101010101" pitchFamily="49" charset="-122"/>
                          <a:ea typeface="黑体" panose="02010609060101010101" pitchFamily="49" charset="-122"/>
                        </a:rPr>
                        <a:t>规范数据市场</a:t>
                      </a:r>
                      <a:endParaRPr lang="zh-CN" sz="2000" kern="100" dirty="0">
                        <a:solidFill>
                          <a:srgbClr val="000000"/>
                        </a:solidFill>
                        <a:effectLst/>
                        <a:latin typeface="黑体" panose="02010609060101010101" pitchFamily="49" charset="-122"/>
                        <a:ea typeface="黑体" panose="02010609060101010101" pitchFamily="49" charset="-122"/>
                        <a:cs typeface="Times New Roman" panose="02020603050405020304"/>
                      </a:endParaRPr>
                    </a:p>
                  </a:txBody>
                  <a:tcPr marL="68580" marR="68580" marT="0" marB="0"/>
                </a:tc>
              </a:tr>
            </a:tbl>
          </a:graphicData>
        </a:graphic>
      </p:graphicFrame>
      <p:sp>
        <p:nvSpPr>
          <p:cNvPr id="9" name="标题 1"/>
          <p:cNvSpPr txBox="1"/>
          <p:nvPr/>
        </p:nvSpPr>
        <p:spPr bwMode="auto">
          <a:xfrm>
            <a:off x="609600" y="274638"/>
            <a:ext cx="10972800" cy="1143000"/>
          </a:xfrm>
          <a:prstGeom prst="rect">
            <a:avLst/>
          </a:prstGeom>
        </p:spPr>
        <p:style>
          <a:lnRef idx="0">
            <a:schemeClr val="accent4"/>
          </a:lnRef>
          <a:fillRef idx="3">
            <a:schemeClr val="accent4"/>
          </a:fillRef>
          <a:effectRef idx="3">
            <a:schemeClr val="accent4"/>
          </a:effectRef>
          <a:fontRef idx="minor">
            <a:schemeClr val="lt1"/>
          </a:fontRef>
        </p:style>
        <p:txBody>
          <a:bodyPr anchor="ctr">
            <a:normAutofit/>
          </a:bodyPr>
          <a:lstStyle>
            <a:lvl1pPr marL="342900" indent="-342900" algn="l" defTabSz="914400" rtl="0" eaLnBrk="0" fontAlgn="base" latinLnBrk="0"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哪些权利？如何扶“弱”？</a:t>
            </a:r>
            <a:endParaRPr lang="en-US" altLang="zh-CN" sz="3600" dirty="0" smtClean="0">
              <a:solidFill>
                <a:schemeClr val="bg1"/>
              </a:solidFill>
            </a:endParaRPr>
          </a:p>
        </p:txBody>
      </p:sp>
      <p:sp>
        <p:nvSpPr>
          <p:cNvPr id="10" name="内容占位符 2"/>
          <p:cNvSpPr txBox="1"/>
          <p:nvPr/>
        </p:nvSpPr>
        <p:spPr>
          <a:xfrm>
            <a:off x="609600" y="1609725"/>
            <a:ext cx="3395663" cy="4525963"/>
          </a:xfrm>
          <a:prstGeom prst="rect">
            <a:avLst/>
          </a:prstGeom>
          <a:ln>
            <a:solidFill>
              <a:schemeClr val="accent1"/>
            </a:solidFill>
          </a:ln>
        </p:spPr>
        <p:txBody>
          <a:bodyPr>
            <a:normAutofit fontScale="70000" lnSpcReduction="20000"/>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20000"/>
              </a:lnSpc>
              <a:spcBef>
                <a:spcPts val="1200"/>
              </a:spcBef>
              <a:spcAft>
                <a:spcPts val="0"/>
              </a:spcAft>
              <a:defRPr/>
            </a:pPr>
            <a:r>
              <a:rPr lang="en-US" altLang="zh-CN" dirty="0" smtClean="0">
                <a:latin typeface="Times New Roman" panose="02020603050405020304" pitchFamily="18" charset="0"/>
                <a:ea typeface="黑体" panose="02010609060101010101" pitchFamily="49" charset="-122"/>
                <a:cs typeface="Times New Roman" panose="02020603050405020304" pitchFamily="18" charset="0"/>
              </a:rPr>
              <a:t>UGC</a:t>
            </a: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（用户产生的数据</a:t>
            </a:r>
            <a:r>
              <a:rPr lang="en-US" altLang="zh-CN"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是大数据应用重要依靠</a:t>
            </a:r>
            <a:endParaRPr lang="en-US" altLang="zh-CN" dirty="0" smtClean="0">
              <a:latin typeface="Times New Roman" panose="02020603050405020304" pitchFamily="18" charset="0"/>
              <a:ea typeface="黑体" panose="02010609060101010101" pitchFamily="49" charset="-122"/>
              <a:cs typeface="Times New Roman" panose="02020603050405020304" pitchFamily="18" charset="0"/>
            </a:endParaRPr>
          </a:p>
          <a:p>
            <a:pPr fontAlgn="auto">
              <a:lnSpc>
                <a:spcPct val="120000"/>
              </a:lnSpc>
              <a:spcBef>
                <a:spcPts val="1200"/>
              </a:spcBef>
              <a:spcAft>
                <a:spcPts val="0"/>
              </a:spcAft>
              <a:defRPr/>
            </a:pP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但，</a:t>
            </a:r>
            <a:r>
              <a:rPr lang="zh-CN" altLang="zh-CN" dirty="0" smtClean="0">
                <a:latin typeface="Times New Roman" panose="02020603050405020304" pitchFamily="18" charset="0"/>
                <a:ea typeface="黑体" panose="02010609060101010101" pitchFamily="49" charset="-122"/>
                <a:cs typeface="Times New Roman" panose="02020603050405020304" pitchFamily="18" charset="0"/>
              </a:rPr>
              <a:t>这些</a:t>
            </a:r>
            <a:r>
              <a:rPr lang="zh-CN" altLang="zh-CN" dirty="0">
                <a:latin typeface="Times New Roman" panose="02020603050405020304" pitchFamily="18" charset="0"/>
                <a:ea typeface="黑体" panose="02010609060101010101" pitchFamily="49" charset="-122"/>
                <a:cs typeface="Times New Roman" panose="02020603050405020304" pitchFamily="18" charset="0"/>
              </a:rPr>
              <a:t>数据的权属在认识上和实践上存在多种分歧：</a:t>
            </a:r>
            <a:endParaRPr lang="zh-CN" altLang="zh-CN" dirty="0">
              <a:latin typeface="Times New Roman" panose="02020603050405020304" pitchFamily="18" charset="0"/>
              <a:ea typeface="黑体" panose="02010609060101010101" pitchFamily="49" charset="-122"/>
              <a:cs typeface="Times New Roman" panose="02020603050405020304" pitchFamily="18" charset="0"/>
            </a:endParaRPr>
          </a:p>
          <a:p>
            <a:pPr lvl="1" fontAlgn="auto">
              <a:lnSpc>
                <a:spcPct val="120000"/>
              </a:lnSpc>
              <a:spcBef>
                <a:spcPts val="1200"/>
              </a:spcBef>
              <a:spcAft>
                <a:spcPts val="0"/>
              </a:spcAft>
              <a:defRPr/>
            </a:pPr>
            <a:r>
              <a:rPr lang="zh-CN" altLang="zh-CN" dirty="0" smtClean="0">
                <a:latin typeface="Times New Roman" panose="02020603050405020304" pitchFamily="18" charset="0"/>
                <a:ea typeface="黑体" panose="02010609060101010101" pitchFamily="49" charset="-122"/>
                <a:cs typeface="Times New Roman" panose="02020603050405020304" pitchFamily="18" charset="0"/>
              </a:rPr>
              <a:t>未</a:t>
            </a:r>
            <a:r>
              <a:rPr lang="zh-CN" altLang="zh-CN" dirty="0">
                <a:latin typeface="Times New Roman" panose="02020603050405020304" pitchFamily="18" charset="0"/>
                <a:ea typeface="黑体" panose="02010609060101010101" pitchFamily="49" charset="-122"/>
                <a:cs typeface="Times New Roman" panose="02020603050405020304" pitchFamily="18" charset="0"/>
              </a:rPr>
              <a:t>清晰界定数据</a:t>
            </a:r>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所有权和使用权</a:t>
            </a:r>
            <a:r>
              <a:rPr lang="zh-CN" altLang="zh-CN" dirty="0">
                <a:latin typeface="Times New Roman" panose="02020603050405020304" pitchFamily="18" charset="0"/>
                <a:ea typeface="黑体" panose="02010609060101010101" pitchFamily="49" charset="-122"/>
                <a:cs typeface="Times New Roman" panose="02020603050405020304" pitchFamily="18" charset="0"/>
              </a:rPr>
              <a:t>，且缺乏明确的数据</a:t>
            </a:r>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授权、让渡</a:t>
            </a:r>
            <a:r>
              <a:rPr lang="zh-CN" altLang="zh-CN" dirty="0" smtClean="0">
                <a:latin typeface="Times New Roman" panose="02020603050405020304" pitchFamily="18" charset="0"/>
                <a:ea typeface="黑体" panose="02010609060101010101" pitchFamily="49" charset="-122"/>
                <a:cs typeface="Times New Roman" panose="02020603050405020304" pitchFamily="18" charset="0"/>
              </a:rPr>
              <a:t>机制</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lvl="1" fontAlgn="auto">
              <a:lnSpc>
                <a:spcPct val="120000"/>
              </a:lnSpc>
              <a:spcBef>
                <a:spcPts val="1200"/>
              </a:spcBef>
              <a:spcAft>
                <a:spcPts val="0"/>
              </a:spcAft>
              <a:defRPr/>
            </a:pP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缺</a:t>
            </a:r>
            <a:r>
              <a:rPr lang="zh-CN" altLang="zh-CN" dirty="0" smtClean="0">
                <a:latin typeface="Times New Roman" panose="02020603050405020304" pitchFamily="18" charset="0"/>
                <a:ea typeface="黑体" panose="02010609060101010101" pitchFamily="49" charset="-122"/>
                <a:cs typeface="Times New Roman" panose="02020603050405020304" pitchFamily="18" charset="0"/>
              </a:rPr>
              <a:t>少</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对数据是否按照预设目的和要求来使用、共享和删除的</a:t>
            </a:r>
            <a:r>
              <a:rPr lang="zh-CN" altLang="zh-CN"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审计权</a:t>
            </a:r>
            <a:endParaRPr lang="en-US"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lvl="1" fontAlgn="auto">
              <a:lnSpc>
                <a:spcPct val="120000"/>
              </a:lnSpc>
              <a:spcBef>
                <a:spcPts val="1200"/>
              </a:spcBef>
              <a:spcAft>
                <a:spcPts val="0"/>
              </a:spcAft>
              <a:defRPr/>
            </a:pPr>
            <a:r>
              <a:rPr lang="zh-CN" altLang="zh-CN" dirty="0" smtClean="0">
                <a:latin typeface="Times New Roman" panose="02020603050405020304" pitchFamily="18" charset="0"/>
                <a:ea typeface="黑体" panose="02010609060101010101" pitchFamily="49" charset="-122"/>
                <a:cs typeface="Times New Roman" panose="02020603050405020304" pitchFamily="18" charset="0"/>
              </a:rPr>
              <a:t>未定义</a:t>
            </a:r>
            <a:r>
              <a:rPr lang="zh-CN" altLang="zh-CN" dirty="0">
                <a:latin typeface="Times New Roman" panose="02020603050405020304" pitchFamily="18" charset="0"/>
                <a:ea typeface="黑体" panose="02010609060101010101" pitchFamily="49" charset="-122"/>
                <a:cs typeface="Times New Roman" panose="02020603050405020304" pitchFamily="18" charset="0"/>
              </a:rPr>
              <a:t>涉及财产性和声誉性回报的数据</a:t>
            </a:r>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分红</a:t>
            </a:r>
            <a:r>
              <a:rPr lang="zh-CN" altLang="zh-CN"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权</a:t>
            </a:r>
            <a:endParaRPr lang="en-US"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2253" name="灯片编号占位符 3"/>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478FEE38-F5DF-409C-804A-D34AF00B15FA}" type="slidenum">
              <a:rPr lang="zh-CN" altLang="en-US">
                <a:solidFill>
                  <a:srgbClr val="898989"/>
                </a:solidFill>
              </a:rPr>
            </a:fld>
            <a:endParaRPr lang="en-US" altLang="zh-CN">
              <a:solidFill>
                <a:srgbClr val="898989"/>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5F5BBBF9-C779-434E-97F0-291C493F70FE}" type="slidenum">
              <a:rPr lang="zh-CN" altLang="en-US"/>
            </a:fld>
            <a:endParaRPr lang="zh-CN" altLang="en-US" dirty="0"/>
          </a:p>
        </p:txBody>
      </p:sp>
      <p:pic>
        <p:nvPicPr>
          <p:cNvPr id="53250" name="Picture 2"/>
          <p:cNvPicPr>
            <a:picLocks noGrp="1" noChangeAspect="1" noChangeArrowheads="1"/>
          </p:cNvPicPr>
          <p:nvPr>
            <p:ph idx="1"/>
          </p:nvPr>
        </p:nvPicPr>
        <p:blipFill>
          <a:blip r:embed="rId1" cstate="print"/>
          <a:srcRect/>
          <a:stretch>
            <a:fillRect/>
          </a:stretch>
        </p:blipFill>
        <p:spPr>
          <a:xfrm>
            <a:off x="2424113" y="1708150"/>
            <a:ext cx="6551612" cy="4146550"/>
          </a:xfrm>
        </p:spPr>
      </p:pic>
      <p:sp>
        <p:nvSpPr>
          <p:cNvPr id="53251" name="矩形 7"/>
          <p:cNvSpPr>
            <a:spLocks noChangeArrowheads="1"/>
          </p:cNvSpPr>
          <p:nvPr/>
        </p:nvSpPr>
        <p:spPr bwMode="auto">
          <a:xfrm>
            <a:off x="3575050" y="5876925"/>
            <a:ext cx="6588125" cy="369888"/>
          </a:xfrm>
          <a:prstGeom prst="rect">
            <a:avLst/>
          </a:prstGeom>
          <a:noFill/>
          <a:ln w="9525">
            <a:noFill/>
            <a:miter lim="800000"/>
          </a:ln>
        </p:spPr>
        <p:txBody>
          <a:bodyPr>
            <a:spAutoFit/>
          </a:bodyPr>
          <a:lstStyle/>
          <a:p>
            <a:pPr algn="r"/>
            <a:r>
              <a:rPr lang="zh-CN" altLang="zh-CN">
                <a:latin typeface="Calibri" panose="020F0502020204030204" pitchFamily="34" charset="0"/>
              </a:rPr>
              <a:t>来源：贵阳大数据交易所</a:t>
            </a:r>
            <a:r>
              <a:rPr lang="zh-CN" altLang="en-US">
                <a:latin typeface="Calibri" panose="020F0502020204030204" pitchFamily="34" charset="0"/>
              </a:rPr>
              <a:t>，</a:t>
            </a:r>
            <a:r>
              <a:rPr lang="en-US" altLang="zh-CN">
                <a:latin typeface="Calibri" panose="020F0502020204030204" pitchFamily="34" charset="0"/>
              </a:rPr>
              <a:t>《2015</a:t>
            </a:r>
            <a:r>
              <a:rPr lang="zh-CN" altLang="zh-CN">
                <a:latin typeface="Calibri" panose="020F0502020204030204" pitchFamily="34" charset="0"/>
              </a:rPr>
              <a:t>年中国大数据交易白皮书</a:t>
            </a:r>
            <a:r>
              <a:rPr lang="en-US" altLang="zh-CN">
                <a:latin typeface="Calibri" panose="020F0502020204030204" pitchFamily="34" charset="0"/>
              </a:rPr>
              <a:t>》</a:t>
            </a:r>
            <a:endParaRPr lang="zh-CN" altLang="en-US">
              <a:latin typeface="Calibri" panose="020F0502020204030204" pitchFamily="34" charset="0"/>
            </a:endParaRPr>
          </a:p>
        </p:txBody>
      </p:sp>
      <p:sp>
        <p:nvSpPr>
          <p:cNvPr id="9" name="标题 1"/>
          <p:cNvSpPr txBox="1"/>
          <p:nvPr/>
        </p:nvSpPr>
        <p:spPr bwMode="auto">
          <a:xfrm>
            <a:off x="411296" y="251130"/>
            <a:ext cx="10972800" cy="1143000"/>
          </a:xfrm>
          <a:prstGeom prst="rect">
            <a:avLst/>
          </a:prstGeom>
        </p:spPr>
        <p:style>
          <a:lnRef idx="0">
            <a:schemeClr val="accent4"/>
          </a:lnRef>
          <a:fillRef idx="3">
            <a:schemeClr val="accent4"/>
          </a:fillRef>
          <a:effectRef idx="3">
            <a:schemeClr val="accent4"/>
          </a:effectRef>
          <a:fontRef idx="minor">
            <a:schemeClr val="lt1"/>
          </a:fontRef>
        </p:style>
        <p:txBody>
          <a:bodyPr anchor="ctr">
            <a:normAutofit/>
          </a:bodyPr>
          <a:lstStyle>
            <a:lvl1pPr marL="342900" indent="-342900" algn="l" defTabSz="914400" rtl="0" eaLnBrk="0" fontAlgn="base" latinLnBrk="0"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探索建立大数据交易规范和公平市场</a:t>
            </a:r>
            <a:endParaRPr lang="en-US" altLang="zh-CN" sz="3600" dirty="0">
              <a:solidFill>
                <a:schemeClr val="bg1"/>
              </a:solidFil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11163" y="1719263"/>
            <a:ext cx="10972800" cy="2794000"/>
          </a:xfrm>
          <a:ln>
            <a:solidFill>
              <a:schemeClr val="accent1">
                <a:shade val="50000"/>
              </a:schemeClr>
            </a:solidFill>
          </a:ln>
        </p:spPr>
        <p:txBody>
          <a:bodyPr rtlCol="0">
            <a:normAutofit fontScale="77500" lnSpcReduction="20000"/>
          </a:bodyPr>
          <a:lstStyle/>
          <a:p>
            <a:pPr eaLnBrk="1" fontAlgn="auto" hangingPunct="1">
              <a:lnSpc>
                <a:spcPct val="120000"/>
              </a:lnSpc>
              <a:spcAft>
                <a:spcPts val="0"/>
              </a:spcAft>
              <a:buFont typeface="Arial" panose="020B0604020202020204" pitchFamily="34" charset="0"/>
              <a:buChar char="•"/>
              <a:defRPr/>
            </a:pPr>
            <a:r>
              <a:rPr lang="zh-CN" altLang="en-US" dirty="0" smtClean="0"/>
              <a:t>传染病病毒结构、疫苗研制案例，加快阻止传播、治愈病人：</a:t>
            </a:r>
            <a:r>
              <a:rPr lang="en-US" altLang="zh-CN" dirty="0" smtClean="0"/>
              <a:t>AIDS</a:t>
            </a:r>
            <a:r>
              <a:rPr lang="zh-CN" altLang="en-US" dirty="0" smtClean="0"/>
              <a:t>、</a:t>
            </a:r>
            <a:r>
              <a:rPr lang="en-US" altLang="zh-CN" dirty="0" smtClean="0"/>
              <a:t>SARS</a:t>
            </a:r>
            <a:r>
              <a:rPr lang="zh-CN" altLang="en-US" dirty="0" smtClean="0"/>
              <a:t>、</a:t>
            </a:r>
            <a:r>
              <a:rPr lang="en-US" altLang="zh-CN" dirty="0" smtClean="0"/>
              <a:t>EBO</a:t>
            </a:r>
            <a:r>
              <a:rPr lang="en-US" altLang="zh-CN" dirty="0"/>
              <a:t>L</a:t>
            </a:r>
            <a:r>
              <a:rPr lang="en-US" altLang="zh-CN" dirty="0" smtClean="0"/>
              <a:t>A…</a:t>
            </a:r>
            <a:endParaRPr lang="en-US" altLang="zh-CN" dirty="0" smtClean="0"/>
          </a:p>
          <a:p>
            <a:pPr eaLnBrk="1" fontAlgn="auto" hangingPunct="1">
              <a:lnSpc>
                <a:spcPct val="120000"/>
              </a:lnSpc>
              <a:spcAft>
                <a:spcPts val="0"/>
              </a:spcAft>
              <a:buFont typeface="Arial" panose="020B0604020202020204" pitchFamily="34" charset="0"/>
              <a:buChar char="•"/>
              <a:defRPr/>
            </a:pPr>
            <a:r>
              <a:rPr lang="zh-CN" altLang="en-US" dirty="0" smtClean="0"/>
              <a:t>抗震减灾的</a:t>
            </a:r>
            <a:r>
              <a:rPr lang="zh-CN" altLang="zh-CN" dirty="0" smtClean="0"/>
              <a:t>地震</a:t>
            </a:r>
            <a:r>
              <a:rPr lang="zh-CN" altLang="zh-CN" dirty="0"/>
              <a:t>科学</a:t>
            </a:r>
            <a:r>
              <a:rPr lang="zh-CN" altLang="zh-CN" dirty="0" smtClean="0"/>
              <a:t>数据</a:t>
            </a:r>
            <a:r>
              <a:rPr lang="zh-CN" altLang="en-US" dirty="0" smtClean="0"/>
              <a:t>共享案例：</a:t>
            </a:r>
            <a:r>
              <a:rPr lang="en-US" altLang="zh-CN" dirty="0" smtClean="0"/>
              <a:t>《</a:t>
            </a:r>
            <a:r>
              <a:rPr lang="zh-CN" altLang="en-US" dirty="0" smtClean="0"/>
              <a:t>地震科学数据</a:t>
            </a:r>
            <a:r>
              <a:rPr lang="zh-CN" altLang="zh-CN" dirty="0" smtClean="0"/>
              <a:t>共享</a:t>
            </a:r>
            <a:r>
              <a:rPr lang="zh-CN" altLang="zh-CN" dirty="0"/>
              <a:t>系统运行</a:t>
            </a:r>
            <a:r>
              <a:rPr lang="zh-CN" altLang="zh-CN" dirty="0" smtClean="0"/>
              <a:t>规范</a:t>
            </a:r>
            <a:r>
              <a:rPr lang="en-US" altLang="zh-CN" dirty="0" smtClean="0"/>
              <a:t>》</a:t>
            </a:r>
            <a:r>
              <a:rPr lang="zh-CN" altLang="en-US" dirty="0" smtClean="0"/>
              <a:t>（中国地震局，</a:t>
            </a:r>
            <a:r>
              <a:rPr lang="en-US" altLang="zh-CN" dirty="0" smtClean="0"/>
              <a:t>2009</a:t>
            </a:r>
            <a:r>
              <a:rPr lang="zh-CN" altLang="en-US" dirty="0" smtClean="0"/>
              <a:t>年颁布）</a:t>
            </a:r>
            <a:endParaRPr lang="en-US" altLang="zh-CN" dirty="0" smtClean="0"/>
          </a:p>
          <a:p>
            <a:pPr eaLnBrk="1" fontAlgn="auto" hangingPunct="1">
              <a:lnSpc>
                <a:spcPct val="120000"/>
              </a:lnSpc>
              <a:spcAft>
                <a:spcPts val="0"/>
              </a:spcAft>
              <a:buFont typeface="Arial" panose="020B0604020202020204" pitchFamily="34" charset="0"/>
              <a:buChar char="•"/>
              <a:defRPr/>
            </a:pPr>
            <a:r>
              <a:rPr lang="zh-CN" altLang="en-US" dirty="0" smtClean="0"/>
              <a:t>缩小研究数据造假、学术失范的空间：小宝方晴子、黄禹锡、汉芯造假等</a:t>
            </a:r>
            <a:endParaRPr lang="en-US" altLang="zh-CN" dirty="0" smtClean="0"/>
          </a:p>
          <a:p>
            <a:pPr eaLnBrk="1" fontAlgn="auto" hangingPunct="1">
              <a:lnSpc>
                <a:spcPct val="120000"/>
              </a:lnSpc>
              <a:spcAft>
                <a:spcPts val="0"/>
              </a:spcAft>
              <a:buFont typeface="Arial" panose="020B0604020202020204" pitchFamily="34" charset="0"/>
              <a:buChar char="•"/>
              <a:defRPr/>
            </a:pPr>
            <a:r>
              <a:rPr lang="zh-CN" altLang="en-US" dirty="0" smtClean="0"/>
              <a:t>“众筹”力量开展科学研究</a:t>
            </a:r>
            <a:endParaRPr lang="en-US" altLang="zh-CN" dirty="0" smtClean="0"/>
          </a:p>
        </p:txBody>
      </p:sp>
      <p:sp>
        <p:nvSpPr>
          <p:cNvPr id="4" name="日期占位符 3"/>
          <p:cNvSpPr>
            <a:spLocks noGrp="1"/>
          </p:cNvSpPr>
          <p:nvPr>
            <p:ph type="dt" sz="quarter" idx="10"/>
          </p:nvPr>
        </p:nvSpPr>
        <p:spPr/>
        <p:txBody>
          <a:bodyPr/>
          <a:lstStyle/>
          <a:p>
            <a:pPr>
              <a:defRPr/>
            </a:pPr>
            <a:endParaRPr lang="zh-CN" altLang="en-US"/>
          </a:p>
        </p:txBody>
      </p:sp>
      <p:sp>
        <p:nvSpPr>
          <p:cNvPr id="6" name="灯片编号占位符 5"/>
          <p:cNvSpPr>
            <a:spLocks noGrp="1"/>
          </p:cNvSpPr>
          <p:nvPr>
            <p:ph type="sldNum" sz="quarter" idx="12"/>
          </p:nvPr>
        </p:nvSpPr>
        <p:spPr/>
        <p:txBody>
          <a:bodyPr/>
          <a:lstStyle/>
          <a:p>
            <a:pPr>
              <a:defRPr/>
            </a:pPr>
            <a:fld id="{5C12AA0B-6E13-4E49-B6B7-7FC4BAAE1E8C}" type="slidenum">
              <a:rPr lang="zh-CN" altLang="en-US"/>
            </a:fld>
            <a:endParaRPr lang="zh-CN" altLang="en-US"/>
          </a:p>
        </p:txBody>
      </p:sp>
      <p:pic>
        <p:nvPicPr>
          <p:cNvPr id="54276" name="Picture 2" descr="http://f.hiphotos.baidu.com/baike/c0%3Dbaike92%2C5%2C5%2C92%2C30/sign=654d7c7d269759ee5e5d6899d3922873/2cf5e0fe9925bc3131d719e85edf8db1cb137033.jpg"/>
          <p:cNvPicPr>
            <a:picLocks noChangeAspect="1" noChangeArrowheads="1"/>
          </p:cNvPicPr>
          <p:nvPr/>
        </p:nvPicPr>
        <p:blipFill>
          <a:blip r:embed="rId1" cstate="print"/>
          <a:srcRect/>
          <a:stretch>
            <a:fillRect/>
          </a:stretch>
        </p:blipFill>
        <p:spPr bwMode="auto">
          <a:xfrm>
            <a:off x="254000" y="4845050"/>
            <a:ext cx="1328738" cy="1169988"/>
          </a:xfrm>
          <a:prstGeom prst="rect">
            <a:avLst/>
          </a:prstGeom>
          <a:noFill/>
          <a:ln w="9525">
            <a:noFill/>
            <a:miter lim="800000"/>
            <a:headEnd/>
            <a:tailEnd/>
          </a:ln>
        </p:spPr>
      </p:pic>
      <p:pic>
        <p:nvPicPr>
          <p:cNvPr id="54277" name="Picture 4" descr="埃博拉病毒结构形态"/>
          <p:cNvPicPr>
            <a:picLocks noChangeAspect="1" noChangeArrowheads="1"/>
          </p:cNvPicPr>
          <p:nvPr/>
        </p:nvPicPr>
        <p:blipFill>
          <a:blip r:embed="rId2" cstate="print"/>
          <a:srcRect/>
          <a:stretch>
            <a:fillRect/>
          </a:stretch>
        </p:blipFill>
        <p:spPr bwMode="auto">
          <a:xfrm>
            <a:off x="1582738" y="4857750"/>
            <a:ext cx="1479550" cy="1157288"/>
          </a:xfrm>
          <a:prstGeom prst="rect">
            <a:avLst/>
          </a:prstGeom>
          <a:noFill/>
          <a:ln w="9525">
            <a:noFill/>
            <a:miter lim="800000"/>
            <a:headEnd/>
            <a:tailEnd/>
          </a:ln>
        </p:spPr>
      </p:pic>
      <p:pic>
        <p:nvPicPr>
          <p:cNvPr id="54278" name="Picture 6" descr="http://a.hiphotos.baidu.com/baike/s%3D220/sign=ed6be9879925bc312f5d069a6ede8de7/738b4710b912c8fc0350ca84fc039245d78821d3.jpg"/>
          <p:cNvPicPr>
            <a:picLocks noChangeAspect="1" noChangeArrowheads="1"/>
          </p:cNvPicPr>
          <p:nvPr/>
        </p:nvPicPr>
        <p:blipFill>
          <a:blip r:embed="rId3" cstate="print"/>
          <a:srcRect/>
          <a:stretch>
            <a:fillRect/>
          </a:stretch>
        </p:blipFill>
        <p:spPr bwMode="auto">
          <a:xfrm>
            <a:off x="3062288" y="4857750"/>
            <a:ext cx="1195387" cy="1168400"/>
          </a:xfrm>
          <a:prstGeom prst="rect">
            <a:avLst/>
          </a:prstGeom>
          <a:noFill/>
          <a:ln w="9525">
            <a:noFill/>
            <a:miter lim="800000"/>
            <a:headEnd/>
            <a:tailEnd/>
          </a:ln>
        </p:spPr>
      </p:pic>
      <p:sp>
        <p:nvSpPr>
          <p:cNvPr id="11" name="标题 1"/>
          <p:cNvSpPr txBox="1"/>
          <p:nvPr/>
        </p:nvSpPr>
        <p:spPr>
          <a:xfrm>
            <a:off x="-635000" y="2595563"/>
            <a:ext cx="7775575" cy="1143000"/>
          </a:xfrm>
          <a:prstGeom prst="rect">
            <a:avLst/>
          </a:prstGeom>
        </p:spPr>
        <p:txBody>
          <a:bodyPr anchor="ctr">
            <a:normAutofit fontScale="97500"/>
            <a:scene3d>
              <a:camera prst="orthographicFront"/>
              <a:lightRig rig="soft" dir="t"/>
            </a:scene3d>
            <a:sp3d prstMaterial="matte">
              <a:bevelT w="12700" h="12700"/>
            </a:sp3d>
          </a:bodyPr>
          <a:lstStyle>
            <a:lvl1pPr algn="l" rtl="0" eaLnBrk="1" latinLnBrk="0" hangingPunct="1">
              <a:spcBef>
                <a:spcPct val="0"/>
              </a:spcBef>
              <a:buNone/>
              <a:defRPr kumimoji="0" lang="zh-CN" altLang="en-US" sz="4400" b="0" kern="1200" spc="50">
                <a:ln w="12700">
                  <a:noFill/>
                  <a:prstDash val="solid"/>
                </a:ln>
                <a:solidFill>
                  <a:schemeClr val="accent4"/>
                </a:solidFill>
                <a:effectLst>
                  <a:outerShdw blurRad="38100" dist="20320" dir="2700000" algn="tl" rotWithShape="0">
                    <a:srgbClr val="000000">
                      <a:alpha val="70000"/>
                    </a:srgbClr>
                  </a:outerShdw>
                </a:effectLst>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a:lstStyle>
          <a:p>
            <a:pPr fontAlgn="auto">
              <a:spcAft>
                <a:spcPts val="0"/>
              </a:spcAft>
              <a:defRPr/>
            </a:pPr>
            <a:endParaRPr sz="4000" dirty="0"/>
          </a:p>
        </p:txBody>
      </p:sp>
      <p:sp>
        <p:nvSpPr>
          <p:cNvPr id="12" name="标题 1"/>
          <p:cNvSpPr txBox="1">
            <a:spLocks noGrp="1"/>
          </p:cNvSpPr>
          <p:nvPr>
            <p:ph type="title"/>
          </p:nvPr>
        </p:nvSpPr>
        <p:spPr bwMode="auto">
          <a:xfrm>
            <a:off x="411296" y="251130"/>
            <a:ext cx="10972800" cy="1143000"/>
          </a:xfrm>
        </p:spPr>
        <p:style>
          <a:lnRef idx="0">
            <a:schemeClr val="accent4"/>
          </a:lnRef>
          <a:fillRef idx="3">
            <a:schemeClr val="accent4"/>
          </a:fillRef>
          <a:effectRef idx="3">
            <a:schemeClr val="accent4"/>
          </a:effectRef>
          <a:fontRef idx="minor">
            <a:schemeClr val="lt1"/>
          </a:fontRef>
        </p:style>
        <p:txBody>
          <a:bodyPr anchor="ctr">
            <a:normAutofit/>
          </a:bodyP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推动科学研究数据开放共享</a:t>
            </a:r>
            <a:endParaRPr lang="en-US" altLang="zh-CN" sz="3600" dirty="0">
              <a:solidFill>
                <a:schemeClr val="bg1"/>
              </a:solidFill>
            </a:endParaRPr>
          </a:p>
        </p:txBody>
      </p:sp>
      <p:pic>
        <p:nvPicPr>
          <p:cNvPr id="54283" name="Picture 4" descr="http://mmbiz.qpic.cn/mmbiz/NzKkzoeG5s1CyWiaxbhZwicqQ0TLEXMOFsCVA0fC7m20wAPSZyNEcJd9MQYNTtLOTpuztnjIoCNet8Tmp3MXRCUQ/0?wxfrom=5"/>
          <p:cNvPicPr>
            <a:picLocks noChangeAspect="1" noChangeArrowheads="1"/>
          </p:cNvPicPr>
          <p:nvPr/>
        </p:nvPicPr>
        <p:blipFill>
          <a:blip r:embed="rId4" cstate="print"/>
          <a:srcRect/>
          <a:stretch>
            <a:fillRect/>
          </a:stretch>
        </p:blipFill>
        <p:spPr bwMode="auto">
          <a:xfrm>
            <a:off x="4391025" y="4913313"/>
            <a:ext cx="6840538" cy="9826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标题 1"/>
          <p:cNvSpPr>
            <a:spLocks noGrp="1"/>
          </p:cNvSpPr>
          <p:nvPr>
            <p:ph type="title"/>
          </p:nvPr>
        </p:nvSpPr>
        <p:spPr bwMode="auto">
          <a:noFill/>
          <a:ln>
            <a:miter lim="800000"/>
          </a:ln>
        </p:spPr>
        <p:txBody>
          <a:bodyPr vert="horz" wrap="square" lIns="91440" tIns="45720" rIns="91440" bIns="45720" numCol="1" anchor="t" anchorCtr="0" compatLnSpc="1"/>
          <a:lstStyle/>
          <a:p>
            <a:pPr eaLnBrk="1" hangingPunct="1"/>
            <a:endParaRPr lang="zh-CN" altLang="en-US" smtClean="0"/>
          </a:p>
        </p:txBody>
      </p:sp>
      <p:sp>
        <p:nvSpPr>
          <p:cNvPr id="9" name="标题 1"/>
          <p:cNvSpPr txBox="1"/>
          <p:nvPr/>
        </p:nvSpPr>
        <p:spPr bwMode="auto">
          <a:xfrm>
            <a:off x="609600" y="274638"/>
            <a:ext cx="10972800" cy="1143000"/>
          </a:xfrm>
          <a:prstGeom prst="rect">
            <a:avLst/>
          </a:prstGeom>
        </p:spPr>
        <p:style>
          <a:lnRef idx="0">
            <a:schemeClr val="accent4"/>
          </a:lnRef>
          <a:fillRef idx="3">
            <a:schemeClr val="accent4"/>
          </a:fillRef>
          <a:effectRef idx="3">
            <a:schemeClr val="accent4"/>
          </a:effectRef>
          <a:fontRef idx="minor">
            <a:schemeClr val="lt1"/>
          </a:fontRef>
        </p:style>
        <p:txBody>
          <a:bodyPr anchor="ctr">
            <a:normAutofit/>
          </a:bodyPr>
          <a:lstStyle>
            <a:lvl1pPr marL="342900" indent="-342900" algn="l" defTabSz="914400" rtl="0" eaLnBrk="0" fontAlgn="base" latinLnBrk="0"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数据：从共享到开放</a:t>
            </a:r>
            <a:endParaRPr lang="en-US" altLang="zh-CN" sz="3600" dirty="0" smtClean="0">
              <a:solidFill>
                <a:schemeClr val="bg1"/>
              </a:solidFill>
            </a:endParaRPr>
          </a:p>
        </p:txBody>
      </p:sp>
      <p:sp>
        <p:nvSpPr>
          <p:cNvPr id="10" name="内容占位符 2"/>
          <p:cNvSpPr txBox="1"/>
          <p:nvPr/>
        </p:nvSpPr>
        <p:spPr>
          <a:xfrm>
            <a:off x="609600" y="1609725"/>
            <a:ext cx="3678238" cy="4718050"/>
          </a:xfrm>
          <a:prstGeom prst="rect">
            <a:avLst/>
          </a:prstGeom>
          <a:ln>
            <a:solidFill>
              <a:schemeClr val="accent1"/>
            </a:solidFill>
          </a:ln>
        </p:spPr>
        <p:txBody>
          <a:bodyPr>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20000"/>
              </a:lnSpc>
              <a:spcBef>
                <a:spcPts val="1200"/>
              </a:spcBef>
              <a:spcAft>
                <a:spcPts val="0"/>
              </a:spcAft>
              <a:buFont typeface="Arial" panose="020B0604020202020204" pitchFamily="34" charset="0"/>
              <a:buNone/>
              <a:defRPr/>
            </a:pPr>
            <a:r>
              <a:rPr lang="zh-CN" altLang="zh-CN" dirty="0" smtClean="0">
                <a:latin typeface="黑体" panose="02010609060101010101" pitchFamily="49" charset="-122"/>
                <a:ea typeface="黑体" panose="02010609060101010101" pitchFamily="49" charset="-122"/>
              </a:rPr>
              <a:t>“</a:t>
            </a:r>
            <a:r>
              <a:rPr lang="zh-CN" altLang="zh-CN" dirty="0">
                <a:latin typeface="黑体" panose="02010609060101010101" pitchFamily="49" charset="-122"/>
                <a:ea typeface="黑体" panose="02010609060101010101" pitchFamily="49" charset="-122"/>
              </a:rPr>
              <a:t>谁占有数据，谁就占有先机。”从增进社会福祉角度考虑，大数据时代更应积极</a:t>
            </a:r>
            <a:r>
              <a:rPr lang="zh-CN" altLang="zh-CN" dirty="0">
                <a:solidFill>
                  <a:srgbClr val="FF0000"/>
                </a:solidFill>
                <a:latin typeface="黑体" panose="02010609060101010101" pitchFamily="49" charset="-122"/>
                <a:ea typeface="黑体" panose="02010609060101010101" pitchFamily="49" charset="-122"/>
              </a:rPr>
              <a:t>推动数据共享与开放</a:t>
            </a:r>
            <a:r>
              <a:rPr lang="zh-CN" altLang="zh-CN" dirty="0">
                <a:latin typeface="黑体" panose="02010609060101010101" pitchFamily="49" charset="-122"/>
                <a:ea typeface="黑体" panose="02010609060101010101" pitchFamily="49" charset="-122"/>
              </a:rPr>
              <a:t>，让人们能够更加平等、公平地访问和使用数据，让科学发现和知识生产过程更加快速，让更多产品和服务得以萌生，让更多的就业机会和更适宜的生活方式不断涌现。</a:t>
            </a:r>
            <a:endParaRPr lang="en-US" altLang="zh-CN" dirty="0">
              <a:solidFill>
                <a:srgbClr val="FF0000"/>
              </a:solidFill>
              <a:latin typeface="黑体" panose="02010609060101010101" pitchFamily="49" charset="-122"/>
              <a:ea typeface="黑体" panose="02010609060101010101" pitchFamily="49" charset="-122"/>
            </a:endParaRPr>
          </a:p>
        </p:txBody>
      </p:sp>
      <p:graphicFrame>
        <p:nvGraphicFramePr>
          <p:cNvPr id="4" name="内容占位符 3"/>
          <p:cNvGraphicFramePr>
            <a:graphicFrameLocks noGrp="1"/>
          </p:cNvGraphicFramePr>
          <p:nvPr>
            <p:ph sz="half" idx="2"/>
          </p:nvPr>
        </p:nvGraphicFramePr>
        <p:xfrm>
          <a:off x="4435475" y="1609725"/>
          <a:ext cx="6948488" cy="4686301"/>
        </p:xfrm>
        <a:graphic>
          <a:graphicData uri="http://schemas.openxmlformats.org/drawingml/2006/table">
            <a:tbl>
              <a:tblPr/>
              <a:tblGrid>
                <a:gridCol w="1362075"/>
                <a:gridCol w="1947863"/>
                <a:gridCol w="2249487"/>
                <a:gridCol w="1389063"/>
              </a:tblGrid>
              <a:tr h="566738">
                <a:tc>
                  <a:txBody>
                    <a:bodyPr/>
                    <a:lstStyle/>
                    <a:p>
                      <a:pPr marL="0" marR="0" lvl="0" indent="0" algn="ctr" defTabSz="914400" rtl="0" eaLnBrk="1" fontAlgn="base" latinLnBrk="0" hangingPunct="1">
                        <a:lnSpc>
                          <a:spcPct val="100000"/>
                        </a:lnSpc>
                        <a:spcBef>
                          <a:spcPts val="1200"/>
                        </a:spcBef>
                        <a:spcAft>
                          <a:spcPct val="0"/>
                        </a:spcAft>
                        <a:buClrTx/>
                        <a:buSzTx/>
                        <a:buFontTx/>
                        <a:buNone/>
                      </a:pPr>
                      <a:r>
                        <a:rPr kumimoji="0" lang="zh-CN" altLang="en-US" sz="20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类型</a:t>
                      </a:r>
                      <a:endParaRPr kumimoji="0" lang="zh-CN" altLang="en-US" sz="20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242" marR="68242"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8064A2"/>
                    </a:solidFill>
                  </a:tcPr>
                </a:tc>
                <a:tc>
                  <a:txBody>
                    <a:bodyPr/>
                    <a:lstStyle/>
                    <a:p>
                      <a:pPr marL="0" marR="0" lvl="0" indent="0" algn="ctr" defTabSz="914400" rtl="0" eaLnBrk="1" fontAlgn="base" latinLnBrk="0" hangingPunct="1">
                        <a:lnSpc>
                          <a:spcPct val="100000"/>
                        </a:lnSpc>
                        <a:spcBef>
                          <a:spcPts val="1200"/>
                        </a:spcBef>
                        <a:spcAft>
                          <a:spcPct val="0"/>
                        </a:spcAft>
                        <a:buClrTx/>
                        <a:buSzTx/>
                        <a:buFontTx/>
                        <a:buNone/>
                      </a:pPr>
                      <a:r>
                        <a:rPr kumimoji="0" lang="zh-CN" altLang="en-US" sz="20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访问模式</a:t>
                      </a:r>
                      <a:endParaRPr kumimoji="0" lang="zh-CN" altLang="en-US" sz="20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242" marR="68242"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8064A2"/>
                    </a:solidFill>
                  </a:tcPr>
                </a:tc>
                <a:tc>
                  <a:txBody>
                    <a:bodyPr/>
                    <a:lstStyle/>
                    <a:p>
                      <a:pPr marL="0" marR="0" lvl="0" indent="0" algn="ctr" defTabSz="914400" rtl="0" eaLnBrk="1" fontAlgn="base" latinLnBrk="0" hangingPunct="1">
                        <a:lnSpc>
                          <a:spcPct val="100000"/>
                        </a:lnSpc>
                        <a:spcBef>
                          <a:spcPts val="1200"/>
                        </a:spcBef>
                        <a:spcAft>
                          <a:spcPct val="0"/>
                        </a:spcAft>
                        <a:buClrTx/>
                        <a:buSzTx/>
                        <a:buFontTx/>
                        <a:buNone/>
                      </a:pPr>
                      <a:r>
                        <a:rPr kumimoji="0" lang="zh-CN" altLang="en-US" sz="20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数据要求</a:t>
                      </a:r>
                      <a:endParaRPr kumimoji="0" lang="zh-CN" altLang="en-US" sz="20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242" marR="68242"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8064A2"/>
                    </a:solidFill>
                  </a:tcPr>
                </a:tc>
                <a:tc>
                  <a:txBody>
                    <a:bodyPr/>
                    <a:lstStyle/>
                    <a:p>
                      <a:pPr marL="0" marR="0" lvl="0" indent="0" algn="ctr" defTabSz="914400" rtl="0" eaLnBrk="1" fontAlgn="base" latinLnBrk="0" hangingPunct="1">
                        <a:lnSpc>
                          <a:spcPct val="100000"/>
                        </a:lnSpc>
                        <a:spcBef>
                          <a:spcPts val="1200"/>
                        </a:spcBef>
                        <a:spcAft>
                          <a:spcPct val="0"/>
                        </a:spcAft>
                        <a:buClrTx/>
                        <a:buSzTx/>
                        <a:buFontTx/>
                        <a:buNone/>
                      </a:pPr>
                      <a:r>
                        <a:rPr kumimoji="0" lang="zh-CN" altLang="en-US" sz="20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权利约定方式</a:t>
                      </a:r>
                      <a:endParaRPr kumimoji="0" lang="zh-CN" altLang="en-US" sz="20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242" marR="68242"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8064A2"/>
                    </a:solidFill>
                  </a:tcPr>
                </a:tc>
              </a:tr>
              <a:tr h="1300163">
                <a:tc>
                  <a:txBody>
                    <a:bodyPr/>
                    <a:lstStyle/>
                    <a:p>
                      <a:pPr marL="0" marR="0" lvl="0" indent="0" algn="ctr" defTabSz="914400" rtl="0" eaLnBrk="1" fontAlgn="base" latinLnBrk="0" hangingPunct="1">
                        <a:lnSpc>
                          <a:spcPct val="100000"/>
                        </a:lnSpc>
                        <a:spcBef>
                          <a:spcPts val="1200"/>
                        </a:spcBef>
                        <a:spcAft>
                          <a:spcPct val="0"/>
                        </a:spcAft>
                        <a:buClrTx/>
                        <a:buSzTx/>
                        <a:buFontTx/>
                        <a:buNone/>
                      </a:pPr>
                      <a:r>
                        <a:rPr kumimoji="0" lang="zh-CN" altLang="en-US" sz="20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数据共享</a:t>
                      </a:r>
                      <a:endParaRPr kumimoji="0" lang="zh-CN" altLang="en-US" sz="20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242" marR="682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8064A2"/>
                    </a:solidFill>
                  </a:tcPr>
                </a:tc>
                <a:tc>
                  <a:txBody>
                    <a:bodyPr/>
                    <a:lstStyle/>
                    <a:p>
                      <a:pPr marL="0" marR="0" lvl="0" indent="0" algn="just" defTabSz="914400" rtl="0" eaLnBrk="1" fontAlgn="base" latinLnBrk="0" hangingPunct="1">
                        <a:lnSpc>
                          <a:spcPct val="100000"/>
                        </a:lnSpc>
                        <a:spcBef>
                          <a:spcPts val="1200"/>
                        </a:spcBef>
                        <a:spcAft>
                          <a:spcPct val="0"/>
                        </a:spcAft>
                        <a:buClrTx/>
                        <a:buSzTx/>
                        <a:buFontTx/>
                        <a:buNone/>
                      </a:pPr>
                      <a:r>
                        <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一对一、一对多和多对多</a:t>
                      </a:r>
                      <a:endPar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just" defTabSz="914400" rtl="0" eaLnBrk="1" fontAlgn="base" latinLnBrk="0" hangingPunct="1">
                        <a:lnSpc>
                          <a:spcPct val="100000"/>
                        </a:lnSpc>
                        <a:spcBef>
                          <a:spcPts val="1200"/>
                        </a:spcBef>
                        <a:spcAft>
                          <a:spcPct val="0"/>
                        </a:spcAft>
                        <a:buClrTx/>
                        <a:buSzTx/>
                        <a:buFontTx/>
                        <a:buNone/>
                      </a:pPr>
                      <a:r>
                        <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一般不公开访问</a:t>
                      </a:r>
                      <a:endPar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242" marR="682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0" algn="just" defTabSz="914400" rtl="0" eaLnBrk="1" fontAlgn="base" latinLnBrk="0" hangingPunct="1">
                        <a:lnSpc>
                          <a:spcPct val="100000"/>
                        </a:lnSpc>
                        <a:spcBef>
                          <a:spcPts val="1200"/>
                        </a:spcBef>
                        <a:spcAft>
                          <a:spcPct val="0"/>
                        </a:spcAft>
                        <a:buClrTx/>
                        <a:buSzTx/>
                        <a:buFontTx/>
                        <a:buNone/>
                      </a:pPr>
                      <a:r>
                        <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单独约定</a:t>
                      </a:r>
                      <a:endPar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242" marR="682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0" algn="ctr" defTabSz="914400" rtl="0" eaLnBrk="1" fontAlgn="base" latinLnBrk="0" hangingPunct="1">
                        <a:lnSpc>
                          <a:spcPct val="100000"/>
                        </a:lnSpc>
                        <a:spcBef>
                          <a:spcPts val="1200"/>
                        </a:spcBef>
                        <a:spcAft>
                          <a:spcPct val="0"/>
                        </a:spcAft>
                        <a:buClrTx/>
                        <a:buSzTx/>
                        <a:buFontTx/>
                        <a:buNone/>
                      </a:pPr>
                      <a:r>
                        <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逐一授权</a:t>
                      </a:r>
                      <a:endPar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242" marR="682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r>
              <a:tr h="566738">
                <a:tc>
                  <a:txBody>
                    <a:bodyPr/>
                    <a:lstStyle/>
                    <a:p>
                      <a:pPr marL="0" marR="0" lvl="0" indent="0" algn="ctr" defTabSz="914400" rtl="0" eaLnBrk="1" fontAlgn="base" latinLnBrk="0" hangingPunct="1">
                        <a:lnSpc>
                          <a:spcPct val="100000"/>
                        </a:lnSpc>
                        <a:spcBef>
                          <a:spcPts val="1200"/>
                        </a:spcBef>
                        <a:spcAft>
                          <a:spcPct val="0"/>
                        </a:spcAft>
                        <a:buClrTx/>
                        <a:buSzTx/>
                        <a:buFontTx/>
                        <a:buNone/>
                      </a:pPr>
                      <a:r>
                        <a:rPr kumimoji="0" lang="zh-CN" altLang="en-US" sz="20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数据公开</a:t>
                      </a:r>
                      <a:endParaRPr kumimoji="0" lang="zh-CN" altLang="en-US" sz="20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242" marR="682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8064A2"/>
                    </a:solidFill>
                  </a:tcPr>
                </a:tc>
                <a:tc>
                  <a:txBody>
                    <a:bodyPr/>
                    <a:lstStyle/>
                    <a:p>
                      <a:pPr marL="0" marR="0" lvl="0" indent="0" algn="just" defTabSz="914400" rtl="0" eaLnBrk="1" fontAlgn="base" latinLnBrk="0" hangingPunct="1">
                        <a:lnSpc>
                          <a:spcPct val="100000"/>
                        </a:lnSpc>
                        <a:spcBef>
                          <a:spcPts val="1200"/>
                        </a:spcBef>
                        <a:spcAft>
                          <a:spcPct val="0"/>
                        </a:spcAft>
                        <a:buClrTx/>
                        <a:buSzTx/>
                        <a:buFontTx/>
                        <a:buNone/>
                      </a:pPr>
                      <a:r>
                        <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一对多，公开访问</a:t>
                      </a:r>
                      <a:endPar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242" marR="682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c>
                  <a:txBody>
                    <a:bodyPr/>
                    <a:lstStyle/>
                    <a:p>
                      <a:pPr marL="0" marR="0" lvl="0" indent="0" algn="just" defTabSz="914400" rtl="0" eaLnBrk="1" fontAlgn="base" latinLnBrk="0" hangingPunct="1">
                        <a:lnSpc>
                          <a:spcPct val="100000"/>
                        </a:lnSpc>
                        <a:spcBef>
                          <a:spcPts val="1200"/>
                        </a:spcBef>
                        <a:spcAft>
                          <a:spcPct val="0"/>
                        </a:spcAft>
                        <a:buClrTx/>
                        <a:buSzTx/>
                        <a:buFontTx/>
                        <a:buNone/>
                      </a:pPr>
                      <a:r>
                        <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包含元数据</a:t>
                      </a:r>
                      <a:endPar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242" marR="682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c>
                  <a:txBody>
                    <a:bodyPr/>
                    <a:lstStyle/>
                    <a:p>
                      <a:pPr marL="0" marR="0" lvl="0" indent="0" algn="ctr" defTabSz="914400" rtl="0" eaLnBrk="1" fontAlgn="base" latinLnBrk="0" hangingPunct="1">
                        <a:lnSpc>
                          <a:spcPct val="100000"/>
                        </a:lnSpc>
                        <a:spcBef>
                          <a:spcPts val="1200"/>
                        </a:spcBef>
                        <a:spcAft>
                          <a:spcPct val="0"/>
                        </a:spcAft>
                        <a:buClrTx/>
                        <a:buSzTx/>
                        <a:buFontTx/>
                        <a:buNone/>
                      </a:pPr>
                      <a:r>
                        <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公开声明文件约定</a:t>
                      </a:r>
                      <a:endPar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242" marR="682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r>
              <a:tr h="2166938">
                <a:tc>
                  <a:txBody>
                    <a:bodyPr/>
                    <a:lstStyle/>
                    <a:p>
                      <a:pPr marL="0" marR="0" lvl="0" indent="0" algn="ctr" defTabSz="914400" rtl="0" eaLnBrk="1" fontAlgn="base" latinLnBrk="0" hangingPunct="1">
                        <a:lnSpc>
                          <a:spcPct val="100000"/>
                        </a:lnSpc>
                        <a:spcBef>
                          <a:spcPts val="1200"/>
                        </a:spcBef>
                        <a:spcAft>
                          <a:spcPct val="0"/>
                        </a:spcAft>
                        <a:buClrTx/>
                        <a:buSzTx/>
                        <a:buFontTx/>
                        <a:buNone/>
                      </a:pPr>
                      <a:r>
                        <a:rPr kumimoji="0" lang="zh-CN" altLang="en-US" sz="20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数据开放</a:t>
                      </a:r>
                      <a:endParaRPr kumimoji="0" lang="zh-CN" altLang="en-US" sz="20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242" marR="682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8064A2"/>
                    </a:solidFill>
                  </a:tcPr>
                </a:tc>
                <a:tc>
                  <a:txBody>
                    <a:bodyPr/>
                    <a:lstStyle/>
                    <a:p>
                      <a:pPr marL="0" marR="0" lvl="0" indent="0" algn="just" defTabSz="914400" rtl="0" eaLnBrk="1" fontAlgn="base" latinLnBrk="0" hangingPunct="1">
                        <a:lnSpc>
                          <a:spcPct val="100000"/>
                        </a:lnSpc>
                        <a:spcBef>
                          <a:spcPts val="1200"/>
                        </a:spcBef>
                        <a:spcAft>
                          <a:spcPct val="0"/>
                        </a:spcAft>
                        <a:buClrTx/>
                        <a:buSzTx/>
                        <a:buFontTx/>
                        <a:buNone/>
                      </a:pPr>
                      <a:r>
                        <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一对多，公开访问</a:t>
                      </a:r>
                      <a:endPar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242" marR="682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0" algn="just" defTabSz="914400" rtl="0" eaLnBrk="1" fontAlgn="base" latinLnBrk="0" hangingPunct="1">
                        <a:lnSpc>
                          <a:spcPct val="100000"/>
                        </a:lnSpc>
                        <a:spcBef>
                          <a:spcPts val="1200"/>
                        </a:spcBef>
                        <a:spcAft>
                          <a:spcPct val="0"/>
                        </a:spcAft>
                        <a:buClrTx/>
                        <a:buSzTx/>
                        <a:buFontTx/>
                        <a:buNone/>
                      </a:pPr>
                      <a:r>
                        <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开放授权；数据结构化；开放格式；提供</a:t>
                      </a:r>
                      <a:r>
                        <a:rPr kumimoji="0" lang="en-US" altLang="zh-CN"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URI</a:t>
                      </a:r>
                      <a:r>
                        <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定位；能与其他数据链接</a:t>
                      </a:r>
                      <a:endPar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242" marR="682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c>
                  <a:txBody>
                    <a:bodyPr/>
                    <a:lstStyle/>
                    <a:p>
                      <a:pPr marL="0" marR="0" lvl="0" indent="0" algn="ctr" defTabSz="914400" rtl="0" eaLnBrk="1" fontAlgn="base" latinLnBrk="0" hangingPunct="1">
                        <a:lnSpc>
                          <a:spcPct val="100000"/>
                        </a:lnSpc>
                        <a:spcBef>
                          <a:spcPts val="1200"/>
                        </a:spcBef>
                        <a:spcAft>
                          <a:spcPct val="0"/>
                        </a:spcAft>
                        <a:buClrTx/>
                        <a:buSzTx/>
                        <a:buFontTx/>
                        <a:buNone/>
                      </a:pPr>
                      <a:r>
                        <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公开声明文件约定</a:t>
                      </a:r>
                      <a:endPar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242" marR="68242"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r>
            </a:tbl>
          </a:graphicData>
        </a:graphic>
      </p:graphicFrame>
      <p:sp>
        <p:nvSpPr>
          <p:cNvPr id="55330" name="灯片编号占位符 6"/>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03BEC268-96CB-4D01-AD81-708817B542C9}" type="slidenum">
              <a:rPr lang="zh-CN" altLang="en-US">
                <a:solidFill>
                  <a:srgbClr val="898989"/>
                </a:solidFill>
              </a:rPr>
            </a:fld>
            <a:endParaRPr lang="en-US" altLang="zh-CN">
              <a:solidFill>
                <a:srgbClr val="898989"/>
              </a:solidFill>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内容占位符 2"/>
          <p:cNvSpPr>
            <a:spLocks noGrp="1"/>
          </p:cNvSpPr>
          <p:nvPr>
            <p:ph idx="1"/>
          </p:nvPr>
        </p:nvSpPr>
        <p:spPr>
          <a:xfrm>
            <a:off x="4560888" y="3949700"/>
            <a:ext cx="7183437" cy="2536825"/>
          </a:xfrm>
        </p:spPr>
        <p:txBody>
          <a:bodyPr/>
          <a:lstStyle/>
          <a:p>
            <a:pPr eaLnBrk="1" hangingPunct="1"/>
            <a:r>
              <a:rPr lang="en-US" altLang="zh-CN" sz="2000" b="1" smtClean="0">
                <a:ea typeface="黑体" panose="02010609060101010101" pitchFamily="49" charset="-122"/>
              </a:rPr>
              <a:t>2016</a:t>
            </a:r>
            <a:r>
              <a:rPr lang="zh-CN" altLang="en-US" sz="2000" b="1" smtClean="0">
                <a:ea typeface="黑体" panose="02010609060101010101" pitchFamily="49" charset="-122"/>
              </a:rPr>
              <a:t>年</a:t>
            </a:r>
            <a:r>
              <a:rPr lang="en-US" altLang="zh-CN" sz="2000" b="1" smtClean="0">
                <a:ea typeface="黑体" panose="02010609060101010101" pitchFamily="49" charset="-122"/>
              </a:rPr>
              <a:t>2</a:t>
            </a:r>
            <a:r>
              <a:rPr lang="zh-CN" altLang="en-US" sz="2000" b="1" smtClean="0">
                <a:ea typeface="黑体" panose="02010609060101010101" pitchFamily="49" charset="-122"/>
              </a:rPr>
              <a:t>月</a:t>
            </a:r>
            <a:r>
              <a:rPr lang="en-US" altLang="zh-CN" sz="2000" b="1" smtClean="0">
                <a:ea typeface="黑体" panose="02010609060101010101" pitchFamily="49" charset="-122"/>
              </a:rPr>
              <a:t>17</a:t>
            </a:r>
            <a:r>
              <a:rPr lang="zh-CN" altLang="en-US" sz="2000" b="1" smtClean="0">
                <a:ea typeface="黑体" panose="02010609060101010101" pitchFamily="49" charset="-122"/>
              </a:rPr>
              <a:t>日，</a:t>
            </a:r>
            <a:r>
              <a:rPr lang="en-US" altLang="zh-CN" sz="2000" b="1" smtClean="0">
                <a:ea typeface="黑体" panose="02010609060101010101" pitchFamily="49" charset="-122"/>
              </a:rPr>
              <a:t>《</a:t>
            </a:r>
            <a:r>
              <a:rPr lang="zh-CN" altLang="en-US" sz="2000" b="1" smtClean="0">
                <a:ea typeface="黑体" panose="02010609060101010101" pitchFamily="49" charset="-122"/>
              </a:rPr>
              <a:t>库克怒发公开信：苹果不会给美国政府开后门</a:t>
            </a:r>
            <a:r>
              <a:rPr lang="en-US" altLang="zh-CN" sz="2000" b="1" smtClean="0">
                <a:ea typeface="黑体" panose="02010609060101010101" pitchFamily="49" charset="-122"/>
              </a:rPr>
              <a:t>》</a:t>
            </a:r>
            <a:r>
              <a:rPr lang="zh-CN" altLang="en-US" sz="2000" b="1" smtClean="0">
                <a:ea typeface="黑体" panose="02010609060101010101" pitchFamily="49" charset="-122"/>
              </a:rPr>
              <a:t>称：</a:t>
            </a:r>
            <a:r>
              <a:rPr lang="zh-CN" altLang="en-US" sz="2000" b="1" smtClean="0">
                <a:latin typeface="楷体" panose="02010609060101010101" pitchFamily="49" charset="-122"/>
                <a:ea typeface="楷体" panose="02010609060101010101" pitchFamily="49" charset="-122"/>
                <a:cs typeface="楷体" panose="02010609060101010101" pitchFamily="49" charset="-122"/>
              </a:rPr>
              <a:t>今天苹果碰到的问题，其实是美国政府和整个科技届在争夺“信息的解密权”，这个焦点矛盾的白热化爆发。苹果代表科技公司们，维护的是用户的隐私，以大公司的诚信背书。而政府则渲染着反恐的情绪，</a:t>
            </a:r>
            <a:r>
              <a:rPr lang="zh-CN" altLang="en-US" sz="2000" b="1" smtClean="0">
                <a:solidFill>
                  <a:srgbClr val="FF0000"/>
                </a:solidFill>
                <a:latin typeface="楷体" panose="02010609060101010101" pitchFamily="49" charset="-122"/>
                <a:ea typeface="楷体" panose="02010609060101010101" pitchFamily="49" charset="-122"/>
                <a:cs typeface="楷体" panose="02010609060101010101" pitchFamily="49" charset="-122"/>
              </a:rPr>
              <a:t>试图监控全民</a:t>
            </a:r>
            <a:r>
              <a:rPr lang="zh-CN" altLang="en-US" sz="2000" b="1" smtClean="0">
                <a:latin typeface="楷体" panose="02010609060101010101" pitchFamily="49" charset="-122"/>
                <a:ea typeface="楷体" panose="02010609060101010101" pitchFamily="49" charset="-122"/>
                <a:cs typeface="楷体" panose="02010609060101010101" pitchFamily="49" charset="-122"/>
              </a:rPr>
              <a:t>的一手信息。科技与政治对信息的争夺，已经如此赤裸裸。而用户？早就不在游戏中了。见：</a:t>
            </a:r>
            <a:r>
              <a:rPr lang="en-US" altLang="zh-CN" sz="2000" b="1" smtClean="0">
                <a:ea typeface="黑体" panose="02010609060101010101" pitchFamily="49" charset="-122"/>
              </a:rPr>
              <a:t>h</a:t>
            </a:r>
            <a:r>
              <a:rPr lang="en-US" altLang="zh-CN" sz="2000" smtClean="0">
                <a:ea typeface="黑体" panose="02010609060101010101" pitchFamily="49" charset="-122"/>
              </a:rPr>
              <a:t>ttp://www.huxiu.com/article/139378/1.html?f=index_feed_article</a:t>
            </a:r>
            <a:endParaRPr lang="en-US" altLang="zh-CN" sz="2000" smtClean="0">
              <a:ea typeface="黑体" panose="02010609060101010101" pitchFamily="49" charset="-122"/>
            </a:endParaRPr>
          </a:p>
        </p:txBody>
      </p:sp>
      <p:pic>
        <p:nvPicPr>
          <p:cNvPr id="56322" name="内容占位符 2"/>
          <p:cNvPicPr>
            <a:picLocks noChangeAspect="1"/>
          </p:cNvPicPr>
          <p:nvPr/>
        </p:nvPicPr>
        <p:blipFill>
          <a:blip r:embed="rId1" cstate="print"/>
          <a:srcRect/>
          <a:stretch>
            <a:fillRect/>
          </a:stretch>
        </p:blipFill>
        <p:spPr bwMode="auto">
          <a:xfrm>
            <a:off x="8515350" y="1579563"/>
            <a:ext cx="2944813" cy="2208212"/>
          </a:xfrm>
          <a:prstGeom prst="rect">
            <a:avLst/>
          </a:prstGeom>
          <a:noFill/>
          <a:ln w="9525">
            <a:noFill/>
            <a:miter lim="800000"/>
            <a:headEnd/>
            <a:tailEnd/>
          </a:ln>
        </p:spPr>
      </p:pic>
      <p:pic>
        <p:nvPicPr>
          <p:cNvPr id="56323" name="图片 8" descr="库克怒发公开信：苹果不会给美国政府开后门"/>
          <p:cNvPicPr>
            <a:picLocks noChangeAspect="1" noChangeArrowheads="1"/>
          </p:cNvPicPr>
          <p:nvPr/>
        </p:nvPicPr>
        <p:blipFill>
          <a:blip r:embed="rId2" cstate="print"/>
          <a:srcRect/>
          <a:stretch>
            <a:fillRect/>
          </a:stretch>
        </p:blipFill>
        <p:spPr bwMode="auto">
          <a:xfrm>
            <a:off x="879475" y="3949700"/>
            <a:ext cx="3284538" cy="2058988"/>
          </a:xfrm>
          <a:prstGeom prst="rect">
            <a:avLst/>
          </a:prstGeom>
          <a:noFill/>
          <a:ln w="9525">
            <a:noFill/>
            <a:miter lim="800000"/>
            <a:headEnd/>
            <a:tailEnd/>
          </a:ln>
        </p:spPr>
      </p:pic>
      <p:sp>
        <p:nvSpPr>
          <p:cNvPr id="56324" name="内容占位符 2"/>
          <p:cNvSpPr txBox="1"/>
          <p:nvPr/>
        </p:nvSpPr>
        <p:spPr bwMode="auto">
          <a:xfrm>
            <a:off x="657225" y="1579563"/>
            <a:ext cx="7704138" cy="2046287"/>
          </a:xfrm>
          <a:prstGeom prst="rect">
            <a:avLst/>
          </a:prstGeom>
          <a:noFill/>
          <a:ln w="9525">
            <a:noFill/>
            <a:miter lim="800000"/>
          </a:ln>
        </p:spPr>
        <p:txBody>
          <a:bodyPr/>
          <a:lstStyle/>
          <a:p>
            <a:pPr marL="342900" indent="-342900">
              <a:spcBef>
                <a:spcPct val="20000"/>
              </a:spcBef>
              <a:buClr>
                <a:schemeClr val="tx2"/>
              </a:buClr>
              <a:buSzPct val="60000"/>
              <a:buFont typeface="Arial" panose="020B0604020202020204" pitchFamily="34" charset="0"/>
              <a:buChar char="•"/>
            </a:pPr>
            <a:r>
              <a:rPr lang="zh-CN" altLang="en-US" sz="2400">
                <a:latin typeface="Times New Roman" panose="02020603050405020304" pitchFamily="18" charset="0"/>
                <a:ea typeface="黑体" panose="02010609060101010101" pitchFamily="49" charset="-122"/>
                <a:cs typeface="Times New Roman" panose="02020603050405020304" pitchFamily="18" charset="0"/>
              </a:rPr>
              <a:t>政府声称，得益于棱镜门计划，预警并成功阻止了若干起恐怖袭击的发生。</a:t>
            </a:r>
            <a:endParaRPr lang="en-US" altLang="zh-CN" sz="2400">
              <a:latin typeface="Times New Roman" panose="02020603050405020304" pitchFamily="18" charset="0"/>
              <a:ea typeface="黑体" panose="02010609060101010101" pitchFamily="49" charset="-122"/>
              <a:cs typeface="Times New Roman" panose="02020603050405020304" pitchFamily="18" charset="0"/>
            </a:endParaRPr>
          </a:p>
          <a:p>
            <a:pPr marL="342900" indent="-342900">
              <a:spcBef>
                <a:spcPct val="20000"/>
              </a:spcBef>
              <a:buClr>
                <a:schemeClr val="tx2"/>
              </a:buClr>
              <a:buSzPct val="60000"/>
              <a:buFont typeface="Arial" panose="020B0604020202020204" pitchFamily="34" charset="0"/>
              <a:buChar char="•"/>
            </a:pPr>
            <a:r>
              <a:rPr lang="zh-CN" altLang="en-US" sz="2400">
                <a:latin typeface="Times New Roman" panose="02020603050405020304" pitchFamily="18" charset="0"/>
                <a:ea typeface="黑体" panose="02010609060101010101" pitchFamily="49" charset="-122"/>
                <a:cs typeface="Times New Roman" panose="02020603050405020304" pitchFamily="18" charset="0"/>
              </a:rPr>
              <a:t>假如</a:t>
            </a:r>
            <a:r>
              <a:rPr lang="en-US" altLang="zh-CN" sz="2400">
                <a:latin typeface="Times New Roman" panose="02020603050405020304" pitchFamily="18" charset="0"/>
                <a:ea typeface="黑体" panose="02010609060101010101" pitchFamily="49" charset="-122"/>
                <a:cs typeface="Times New Roman" panose="02020603050405020304" pitchFamily="18" charset="0"/>
              </a:rPr>
              <a:t>2015</a:t>
            </a:r>
            <a:r>
              <a:rPr lang="zh-CN" altLang="en-US" sz="2400">
                <a:latin typeface="Times New Roman" panose="02020603050405020304" pitchFamily="18" charset="0"/>
                <a:ea typeface="黑体" panose="02010609060101010101" pitchFamily="49" charset="-122"/>
                <a:cs typeface="Times New Roman" panose="02020603050405020304" pitchFamily="18" charset="0"/>
              </a:rPr>
              <a:t>年</a:t>
            </a:r>
            <a:r>
              <a:rPr lang="en-US" altLang="zh-CN" sz="2400">
                <a:latin typeface="Times New Roman" panose="02020603050405020304" pitchFamily="18" charset="0"/>
                <a:ea typeface="黑体" panose="02010609060101010101" pitchFamily="49" charset="-122"/>
                <a:cs typeface="Times New Roman" panose="02020603050405020304" pitchFamily="18" charset="0"/>
              </a:rPr>
              <a:t>11</a:t>
            </a:r>
            <a:r>
              <a:rPr lang="zh-CN" altLang="en-US" sz="2400">
                <a:latin typeface="Times New Roman" panose="02020603050405020304" pitchFamily="18" charset="0"/>
                <a:ea typeface="黑体" panose="02010609060101010101" pitchFamily="49" charset="-122"/>
                <a:cs typeface="Times New Roman" panose="02020603050405020304" pitchFamily="18" charset="0"/>
              </a:rPr>
              <a:t>月死亡超过</a:t>
            </a:r>
            <a:r>
              <a:rPr lang="en-US" altLang="zh-CN" sz="2400">
                <a:latin typeface="Times New Roman" panose="02020603050405020304" pitchFamily="18" charset="0"/>
                <a:ea typeface="黑体" panose="02010609060101010101" pitchFamily="49" charset="-122"/>
                <a:cs typeface="Times New Roman" panose="02020603050405020304" pitchFamily="18" charset="0"/>
              </a:rPr>
              <a:t>130</a:t>
            </a:r>
            <a:r>
              <a:rPr lang="zh-CN" altLang="en-US" sz="2400">
                <a:latin typeface="Times New Roman" panose="02020603050405020304" pitchFamily="18" charset="0"/>
                <a:ea typeface="黑体" panose="02010609060101010101" pitchFamily="49" charset="-122"/>
                <a:cs typeface="Times New Roman" panose="02020603050405020304" pitchFamily="18" charset="0"/>
              </a:rPr>
              <a:t>多人的巴黎恐怖袭击能够通过类似“棱镜门”计划而消灭在萌芽阶段，你的认识会改变吗？</a:t>
            </a:r>
            <a:endParaRPr lang="zh-CN" altLang="en-US" sz="24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标题 1"/>
          <p:cNvSpPr txBox="1"/>
          <p:nvPr/>
        </p:nvSpPr>
        <p:spPr bwMode="auto">
          <a:xfrm>
            <a:off x="609600" y="274638"/>
            <a:ext cx="10972800" cy="1143000"/>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defTabSz="914400" rtl="0" eaLnBrk="0" fontAlgn="base" latinLnBrk="0"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a:solidFill>
                  <a:schemeClr val="bg1"/>
                </a:solidFill>
              </a:rPr>
              <a:t>新</a:t>
            </a:r>
            <a:r>
              <a:rPr lang="zh-CN" altLang="en-US" sz="3600" dirty="0" smtClean="0">
                <a:solidFill>
                  <a:schemeClr val="bg1"/>
                </a:solidFill>
              </a:rPr>
              <a:t>问题</a:t>
            </a:r>
            <a:r>
              <a:rPr lang="en-US" altLang="zh-CN" sz="3600" dirty="0">
                <a:solidFill>
                  <a:schemeClr val="bg1"/>
                </a:solidFill>
              </a:rPr>
              <a:t>5</a:t>
            </a:r>
            <a:r>
              <a:rPr lang="zh-CN" altLang="en-US" sz="3600" dirty="0" smtClean="0">
                <a:solidFill>
                  <a:schemeClr val="bg1"/>
                </a:solidFill>
              </a:rPr>
              <a:t>：国家如何正确“监控”“破解”个人信息？</a:t>
            </a:r>
            <a:endParaRPr lang="en-US" altLang="zh-CN" sz="3600" dirty="0">
              <a:solidFill>
                <a:schemeClr val="bg1"/>
              </a:solidFill>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内容占位符 2"/>
          <p:cNvSpPr>
            <a:spLocks noGrp="1"/>
          </p:cNvSpPr>
          <p:nvPr>
            <p:ph idx="1"/>
          </p:nvPr>
        </p:nvSpPr>
        <p:spPr>
          <a:xfrm>
            <a:off x="609600" y="1641475"/>
            <a:ext cx="10972800" cy="4513263"/>
          </a:xfrm>
          <a:ln>
            <a:solidFill>
              <a:schemeClr val="accent1"/>
            </a:solidFill>
          </a:ln>
        </p:spPr>
        <p:txBody>
          <a:bodyPr/>
          <a:lstStyle/>
          <a:p>
            <a:pPr eaLnBrk="1" hangingPunct="1">
              <a:lnSpc>
                <a:spcPct val="120000"/>
              </a:lnSpc>
              <a:spcBef>
                <a:spcPct val="0"/>
              </a:spcBef>
            </a:pPr>
            <a:r>
              <a:rPr kumimoji="1" lang="zh-CN" altLang="en-US" sz="2800" smtClean="0">
                <a:solidFill>
                  <a:srgbClr val="FF0000"/>
                </a:solidFill>
                <a:ea typeface="黑体" panose="02010609060101010101" pitchFamily="49" charset="-122"/>
              </a:rPr>
              <a:t>国家</a:t>
            </a:r>
            <a:r>
              <a:rPr kumimoji="1" lang="zh-CN" altLang="zh-CN" sz="2400" smtClean="0">
                <a:ea typeface="黑体" panose="02010609060101010101" pitchFamily="49" charset="-122"/>
              </a:rPr>
              <a:t>：</a:t>
            </a:r>
            <a:r>
              <a:rPr kumimoji="1" lang="zh-CN" altLang="en-US" sz="2400" smtClean="0">
                <a:ea typeface="黑体" panose="02010609060101010101" pitchFamily="49" charset="-122"/>
              </a:rPr>
              <a:t>不同文明时代，国家特性不同</a:t>
            </a:r>
            <a:endParaRPr kumimoji="1" lang="en-US" altLang="zh-CN" sz="2400" smtClean="0">
              <a:ea typeface="黑体" panose="02010609060101010101" pitchFamily="49" charset="-122"/>
            </a:endParaRPr>
          </a:p>
          <a:p>
            <a:pPr eaLnBrk="1" hangingPunct="1">
              <a:lnSpc>
                <a:spcPct val="120000"/>
              </a:lnSpc>
              <a:spcBef>
                <a:spcPct val="0"/>
              </a:spcBef>
            </a:pPr>
            <a:r>
              <a:rPr kumimoji="1" lang="zh-CN" altLang="en-US" sz="2800" smtClean="0">
                <a:solidFill>
                  <a:srgbClr val="FF0000"/>
                </a:solidFill>
                <a:ea typeface="黑体" panose="02010609060101010101" pitchFamily="49" charset="-122"/>
              </a:rPr>
              <a:t>现代国家</a:t>
            </a:r>
            <a:endParaRPr kumimoji="1" lang="en-US" altLang="zh-CN" sz="2800" smtClean="0">
              <a:solidFill>
                <a:srgbClr val="FF0000"/>
              </a:solidFill>
              <a:ea typeface="黑体" panose="02010609060101010101" pitchFamily="49" charset="-122"/>
            </a:endParaRPr>
          </a:p>
          <a:p>
            <a:pPr lvl="1" eaLnBrk="1" hangingPunct="1">
              <a:lnSpc>
                <a:spcPct val="120000"/>
              </a:lnSpc>
              <a:spcBef>
                <a:spcPct val="0"/>
              </a:spcBef>
            </a:pPr>
            <a:r>
              <a:rPr lang="zh-CN" altLang="en-US" sz="2400" smtClean="0">
                <a:ea typeface="黑体" panose="02010609060101010101" pitchFamily="49" charset="-122"/>
              </a:rPr>
              <a:t>三要素：政治权力与领土、人民的统一</a:t>
            </a:r>
            <a:endParaRPr lang="en-US" altLang="zh-CN" sz="2400" smtClean="0">
              <a:ea typeface="黑体" panose="02010609060101010101" pitchFamily="49" charset="-122"/>
            </a:endParaRPr>
          </a:p>
          <a:p>
            <a:pPr lvl="1" eaLnBrk="1" hangingPunct="1">
              <a:lnSpc>
                <a:spcPct val="120000"/>
              </a:lnSpc>
              <a:spcBef>
                <a:spcPct val="0"/>
              </a:spcBef>
            </a:pPr>
            <a:r>
              <a:rPr lang="zh-CN" altLang="en-US" sz="2400" smtClean="0">
                <a:ea typeface="黑体" panose="02010609060101010101" pitchFamily="49" charset="-122"/>
              </a:rPr>
              <a:t>关键词：主权与合法性</a:t>
            </a:r>
            <a:endParaRPr lang="en-US" altLang="zh-CN" sz="2400" smtClean="0">
              <a:ea typeface="黑体" panose="02010609060101010101" pitchFamily="49" charset="-122"/>
            </a:endParaRPr>
          </a:p>
          <a:p>
            <a:pPr lvl="1" eaLnBrk="1" hangingPunct="1">
              <a:lnSpc>
                <a:spcPct val="120000"/>
              </a:lnSpc>
              <a:spcBef>
                <a:spcPct val="0"/>
              </a:spcBef>
            </a:pPr>
            <a:r>
              <a:rPr lang="zh-CN" altLang="en-US" sz="2400" smtClean="0">
                <a:ea typeface="黑体" panose="02010609060101010101" pitchFamily="49" charset="-122"/>
              </a:rPr>
              <a:t>职能：卫国；卫民；举办公共事务；提供公共服务</a:t>
            </a:r>
            <a:endParaRPr lang="en-US" altLang="zh-CN" sz="2400" smtClean="0">
              <a:ea typeface="黑体" panose="02010609060101010101" pitchFamily="49" charset="-122"/>
            </a:endParaRPr>
          </a:p>
          <a:p>
            <a:pPr eaLnBrk="1" hangingPunct="1">
              <a:lnSpc>
                <a:spcPct val="130000"/>
              </a:lnSpc>
              <a:spcBef>
                <a:spcPct val="0"/>
              </a:spcBef>
            </a:pPr>
            <a:r>
              <a:rPr kumimoji="1" lang="zh-CN" altLang="en-US" sz="2800" smtClean="0">
                <a:solidFill>
                  <a:srgbClr val="FF0000"/>
                </a:solidFill>
                <a:ea typeface="黑体" panose="02010609060101010101" pitchFamily="49" charset="-122"/>
              </a:rPr>
              <a:t>从管制（</a:t>
            </a:r>
            <a:r>
              <a:rPr kumimoji="1" lang="en-US" altLang="zh-CN" sz="2800" smtClean="0">
                <a:solidFill>
                  <a:srgbClr val="FF0000"/>
                </a:solidFill>
                <a:ea typeface="黑体" panose="02010609060101010101" pitchFamily="49" charset="-122"/>
              </a:rPr>
              <a:t>regulation</a:t>
            </a:r>
            <a:r>
              <a:rPr kumimoji="1" lang="zh-CN" altLang="en-US" sz="2800" smtClean="0">
                <a:solidFill>
                  <a:srgbClr val="FF0000"/>
                </a:solidFill>
                <a:ea typeface="黑体" panose="02010609060101010101" pitchFamily="49" charset="-122"/>
              </a:rPr>
              <a:t>）到治理（</a:t>
            </a:r>
            <a:r>
              <a:rPr kumimoji="1" lang="en-US" altLang="zh-CN" sz="2800" smtClean="0">
                <a:solidFill>
                  <a:srgbClr val="FF0000"/>
                </a:solidFill>
                <a:ea typeface="黑体" panose="02010609060101010101" pitchFamily="49" charset="-122"/>
              </a:rPr>
              <a:t>governance</a:t>
            </a:r>
            <a:r>
              <a:rPr kumimoji="1" lang="zh-CN" altLang="en-US" sz="2800" smtClean="0">
                <a:solidFill>
                  <a:srgbClr val="FF0000"/>
                </a:solidFill>
                <a:ea typeface="黑体" panose="02010609060101010101" pitchFamily="49" charset="-122"/>
              </a:rPr>
              <a:t>）、共治、善治</a:t>
            </a:r>
            <a:endParaRPr kumimoji="1" lang="en-US" altLang="zh-CN" sz="2800" smtClean="0">
              <a:solidFill>
                <a:srgbClr val="FF0000"/>
              </a:solidFill>
              <a:ea typeface="黑体" panose="02010609060101010101" pitchFamily="49" charset="-122"/>
            </a:endParaRPr>
          </a:p>
          <a:p>
            <a:pPr lvl="1" eaLnBrk="1" hangingPunct="1">
              <a:lnSpc>
                <a:spcPct val="120000"/>
              </a:lnSpc>
              <a:spcBef>
                <a:spcPct val="0"/>
              </a:spcBef>
            </a:pPr>
            <a:r>
              <a:rPr lang="zh-CN" altLang="en-US" sz="2400" smtClean="0">
                <a:ea typeface="黑体" panose="02010609060101010101" pitchFamily="49" charset="-122"/>
              </a:rPr>
              <a:t>治理：制度供给，政策激励，外部约束</a:t>
            </a:r>
            <a:endParaRPr lang="en-US" altLang="zh-CN" sz="2400" smtClean="0">
              <a:ea typeface="黑体" panose="02010609060101010101" pitchFamily="49" charset="-122"/>
            </a:endParaRPr>
          </a:p>
          <a:p>
            <a:pPr lvl="1" eaLnBrk="1" hangingPunct="1">
              <a:lnSpc>
                <a:spcPct val="120000"/>
              </a:lnSpc>
              <a:spcBef>
                <a:spcPct val="0"/>
              </a:spcBef>
            </a:pPr>
            <a:r>
              <a:rPr lang="zh-CN" altLang="en-US" sz="2400" smtClean="0">
                <a:ea typeface="黑体" panose="02010609060101010101" pitchFamily="49" charset="-122"/>
              </a:rPr>
              <a:t>依法，公平，公开，救济安排</a:t>
            </a:r>
            <a:endParaRPr lang="en-US" altLang="zh-CN" sz="2400" smtClean="0">
              <a:ea typeface="黑体" panose="02010609060101010101" pitchFamily="49" charset="-122"/>
            </a:endParaRPr>
          </a:p>
          <a:p>
            <a:pPr lvl="1" eaLnBrk="1" hangingPunct="1">
              <a:lnSpc>
                <a:spcPct val="120000"/>
              </a:lnSpc>
              <a:spcBef>
                <a:spcPct val="0"/>
              </a:spcBef>
            </a:pPr>
            <a:endParaRPr lang="en-US" altLang="zh-CN" smtClean="0">
              <a:ea typeface="黑体" panose="02010609060101010101" pitchFamily="49" charset="-122"/>
            </a:endParaRPr>
          </a:p>
          <a:p>
            <a:pPr lvl="2" eaLnBrk="1" hangingPunct="1">
              <a:lnSpc>
                <a:spcPct val="120000"/>
              </a:lnSpc>
              <a:spcBef>
                <a:spcPct val="0"/>
              </a:spcBef>
            </a:pPr>
            <a:endParaRPr lang="en-US" altLang="zh-CN" sz="2000" smtClean="0">
              <a:ea typeface="黑体" panose="02010609060101010101" pitchFamily="49" charset="-122"/>
            </a:endParaRPr>
          </a:p>
        </p:txBody>
      </p:sp>
      <p:sp>
        <p:nvSpPr>
          <p:cNvPr id="4" name="日期占位符 3"/>
          <p:cNvSpPr>
            <a:spLocks noGrp="1"/>
          </p:cNvSpPr>
          <p:nvPr>
            <p:ph type="dt" sz="quarter" idx="10"/>
          </p:nvPr>
        </p:nvSpPr>
        <p:spPr/>
        <p:txBody>
          <a:bodyPr/>
          <a:lstStyle/>
          <a:p>
            <a:pPr algn="l">
              <a:defRPr/>
            </a:pPr>
            <a:fld id="{552D65AC-F41C-4C64-BAD3-30A5D380C55C}" type="datetime1">
              <a:rPr lang="zh-CN" altLang="en-US"/>
            </a:fld>
            <a:endParaRPr lang="zh-CN" altLang="en-US"/>
          </a:p>
        </p:txBody>
      </p:sp>
      <p:sp>
        <p:nvSpPr>
          <p:cNvPr id="5" name="灯片编号占位符 4"/>
          <p:cNvSpPr>
            <a:spLocks noGrp="1"/>
          </p:cNvSpPr>
          <p:nvPr>
            <p:ph type="sldNum" sz="quarter" idx="12"/>
          </p:nvPr>
        </p:nvSpPr>
        <p:spPr/>
        <p:txBody>
          <a:bodyPr/>
          <a:lstStyle/>
          <a:p>
            <a:pPr>
              <a:defRPr/>
            </a:pPr>
            <a:fld id="{AC0296F6-4128-405D-859E-696FEAEAE9D2}" type="slidenum">
              <a:rPr lang="zh-CN" altLang="en-US"/>
            </a:fld>
            <a:endParaRPr lang="zh-CN" altLang="en-US"/>
          </a:p>
        </p:txBody>
      </p:sp>
      <p:sp>
        <p:nvSpPr>
          <p:cNvPr id="6" name="标题 1"/>
          <p:cNvSpPr txBox="1"/>
          <p:nvPr/>
        </p:nvSpPr>
        <p:spPr bwMode="auto">
          <a:xfrm>
            <a:off x="609600" y="274638"/>
            <a:ext cx="10972800" cy="1143000"/>
          </a:xfrm>
          <a:prstGeom prst="rect">
            <a:avLst/>
          </a:prstGeom>
        </p:spPr>
        <p:style>
          <a:lnRef idx="0">
            <a:schemeClr val="accent4"/>
          </a:lnRef>
          <a:fillRef idx="3">
            <a:schemeClr val="accent4"/>
          </a:fillRef>
          <a:effectRef idx="3">
            <a:schemeClr val="accent4"/>
          </a:effectRef>
          <a:fontRef idx="minor">
            <a:schemeClr val="lt1"/>
          </a:fontRef>
        </p:style>
        <p:txBody>
          <a:bodyPr anchor="ctr">
            <a:normAutofit/>
          </a:bodyPr>
          <a:lstStyle>
            <a:lvl1pPr marL="342900" indent="-342900" algn="l" defTabSz="914400" rtl="0" eaLnBrk="0" fontAlgn="base" latinLnBrk="0"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国家与治理：政治哲学变迁</a:t>
            </a:r>
            <a:endParaRPr lang="en-US" altLang="zh-CN" sz="3600" dirty="0" smtClean="0">
              <a:solidFill>
                <a:schemeClr val="bg1"/>
              </a:solidFill>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lgn="l">
              <a:defRPr/>
            </a:pPr>
            <a:fld id="{552D65AC-F41C-4C64-BAD3-30A5D380C55C}" type="datetime1">
              <a:rPr lang="zh-CN" altLang="en-US"/>
            </a:fld>
            <a:endParaRPr lang="zh-CN" altLang="en-US"/>
          </a:p>
        </p:txBody>
      </p:sp>
      <p:sp>
        <p:nvSpPr>
          <p:cNvPr id="5" name="灯片编号占位符 4"/>
          <p:cNvSpPr>
            <a:spLocks noGrp="1"/>
          </p:cNvSpPr>
          <p:nvPr>
            <p:ph type="sldNum" sz="quarter" idx="12"/>
          </p:nvPr>
        </p:nvSpPr>
        <p:spPr/>
        <p:txBody>
          <a:bodyPr/>
          <a:lstStyle/>
          <a:p>
            <a:pPr>
              <a:defRPr/>
            </a:pPr>
            <a:fld id="{A37837D7-F7CD-4062-93AD-BFDB98580D4C}" type="slidenum">
              <a:rPr lang="zh-CN" altLang="en-US"/>
            </a:fld>
            <a:endParaRPr lang="zh-CN" altLang="en-US"/>
          </a:p>
        </p:txBody>
      </p:sp>
      <p:sp>
        <p:nvSpPr>
          <p:cNvPr id="6" name="标题 1"/>
          <p:cNvSpPr txBox="1"/>
          <p:nvPr/>
        </p:nvSpPr>
        <p:spPr bwMode="auto">
          <a:xfrm>
            <a:off x="609600" y="274638"/>
            <a:ext cx="10972800" cy="1143000"/>
          </a:xfrm>
          <a:prstGeom prst="rect">
            <a:avLst/>
          </a:prstGeom>
        </p:spPr>
        <p:style>
          <a:lnRef idx="0">
            <a:schemeClr val="accent4"/>
          </a:lnRef>
          <a:fillRef idx="3">
            <a:schemeClr val="accent4"/>
          </a:fillRef>
          <a:effectRef idx="3">
            <a:schemeClr val="accent4"/>
          </a:effectRef>
          <a:fontRef idx="minor">
            <a:schemeClr val="lt1"/>
          </a:fontRef>
        </p:style>
        <p:txBody>
          <a:bodyPr anchor="ctr">
            <a:normAutofit/>
          </a:bodyPr>
          <a:lstStyle>
            <a:lvl1pPr marL="342900" indent="-342900" algn="l" defTabSz="914400" rtl="0" eaLnBrk="0" fontAlgn="base" latinLnBrk="0"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国家与治理：中国传统文化影响</a:t>
            </a:r>
            <a:endParaRPr lang="en-US" altLang="zh-CN" sz="3600" dirty="0" smtClean="0">
              <a:solidFill>
                <a:schemeClr val="bg1"/>
              </a:solidFill>
            </a:endParaRPr>
          </a:p>
        </p:txBody>
      </p:sp>
      <p:pic>
        <p:nvPicPr>
          <p:cNvPr id="58374" name="Picture 2"/>
          <p:cNvPicPr>
            <a:picLocks noChangeAspect="1" noChangeArrowheads="1"/>
          </p:cNvPicPr>
          <p:nvPr/>
        </p:nvPicPr>
        <p:blipFill>
          <a:blip r:embed="rId1" cstate="print"/>
          <a:srcRect/>
          <a:stretch>
            <a:fillRect/>
          </a:stretch>
        </p:blipFill>
        <p:spPr bwMode="auto">
          <a:xfrm>
            <a:off x="609600" y="1592263"/>
            <a:ext cx="8970963" cy="3252787"/>
          </a:xfrm>
          <a:prstGeom prst="rect">
            <a:avLst/>
          </a:prstGeom>
          <a:noFill/>
          <a:ln w="9525">
            <a:noFill/>
            <a:miter lim="800000"/>
            <a:headEnd/>
            <a:tailEnd/>
          </a:ln>
        </p:spPr>
      </p:pic>
      <p:pic>
        <p:nvPicPr>
          <p:cNvPr id="58375" name="Picture 3"/>
          <p:cNvPicPr>
            <a:picLocks noChangeAspect="1" noChangeArrowheads="1"/>
          </p:cNvPicPr>
          <p:nvPr/>
        </p:nvPicPr>
        <p:blipFill>
          <a:blip r:embed="rId2" cstate="print"/>
          <a:srcRect/>
          <a:stretch>
            <a:fillRect/>
          </a:stretch>
        </p:blipFill>
        <p:spPr bwMode="auto">
          <a:xfrm>
            <a:off x="1190625" y="4845050"/>
            <a:ext cx="8969375" cy="1492250"/>
          </a:xfrm>
          <a:prstGeom prst="rect">
            <a:avLst/>
          </a:prstGeom>
          <a:noFill/>
          <a:ln w="9525">
            <a:noFill/>
            <a:miter lim="800000"/>
            <a:headEnd/>
            <a:tailEnd/>
          </a:ln>
        </p:spPr>
      </p:pic>
      <p:sp>
        <p:nvSpPr>
          <p:cNvPr id="58376" name="TextBox 5"/>
          <p:cNvSpPr txBox="1">
            <a:spLocks noChangeArrowheads="1"/>
          </p:cNvSpPr>
          <p:nvPr/>
        </p:nvSpPr>
        <p:spPr bwMode="auto">
          <a:xfrm>
            <a:off x="9580563" y="4514850"/>
            <a:ext cx="2111375" cy="1200150"/>
          </a:xfrm>
          <a:prstGeom prst="rect">
            <a:avLst/>
          </a:prstGeom>
          <a:noFill/>
          <a:ln w="9525">
            <a:noFill/>
            <a:miter lim="800000"/>
          </a:ln>
        </p:spPr>
        <p:txBody>
          <a:bodyPr>
            <a:spAutoFit/>
          </a:bodyPr>
          <a:lstStyle/>
          <a:p>
            <a:r>
              <a:rPr lang="zh-CN" altLang="en-US">
                <a:latin typeface="楷体" panose="02010609060101010101" pitchFamily="49" charset="-122"/>
                <a:ea typeface="楷体" panose="02010609060101010101" pitchFamily="49" charset="-122"/>
                <a:cs typeface="楷体" panose="02010609060101010101" pitchFamily="49" charset="-122"/>
              </a:rPr>
              <a:t>来源：</a:t>
            </a:r>
            <a:endParaRPr lang="en-US" altLang="zh-CN">
              <a:latin typeface="楷体" panose="02010609060101010101" pitchFamily="49" charset="-122"/>
              <a:ea typeface="楷体" panose="02010609060101010101" pitchFamily="49" charset="-122"/>
              <a:cs typeface="楷体" panose="02010609060101010101" pitchFamily="49" charset="-122"/>
            </a:endParaRPr>
          </a:p>
          <a:p>
            <a:r>
              <a:rPr lang="zh-CN" altLang="en-US">
                <a:latin typeface="楷体" panose="02010609060101010101" pitchFamily="49" charset="-122"/>
                <a:ea typeface="楷体" panose="02010609060101010101" pitchFamily="49" charset="-122"/>
                <a:cs typeface="楷体" panose="02010609060101010101" pitchFamily="49" charset="-122"/>
              </a:rPr>
              <a:t>张中秋</a:t>
            </a:r>
            <a:r>
              <a:rPr lang="en-US" altLang="zh-CN">
                <a:latin typeface="楷体" panose="02010609060101010101" pitchFamily="49" charset="-122"/>
                <a:ea typeface="楷体" panose="02010609060101010101" pitchFamily="49" charset="-122"/>
                <a:cs typeface="楷体" panose="02010609060101010101" pitchFamily="49" charset="-122"/>
              </a:rPr>
              <a:t>. </a:t>
            </a:r>
            <a:r>
              <a:rPr lang="zh-CN" altLang="en-US">
                <a:latin typeface="楷体" panose="02010609060101010101" pitchFamily="49" charset="-122"/>
                <a:ea typeface="楷体" panose="02010609060101010101" pitchFamily="49" charset="-122"/>
                <a:cs typeface="楷体" panose="02010609060101010101" pitchFamily="49" charset="-122"/>
              </a:rPr>
              <a:t>传统中国国家观新探</a:t>
            </a:r>
            <a:r>
              <a:rPr lang="en-US" altLang="zh-CN">
                <a:latin typeface="楷体" panose="02010609060101010101" pitchFamily="49" charset="-122"/>
                <a:ea typeface="楷体" panose="02010609060101010101" pitchFamily="49" charset="-122"/>
                <a:cs typeface="楷体" panose="02010609060101010101" pitchFamily="49" charset="-122"/>
              </a:rPr>
              <a:t>. </a:t>
            </a:r>
            <a:r>
              <a:rPr lang="zh-CN" altLang="en-US">
                <a:latin typeface="楷体" panose="02010609060101010101" pitchFamily="49" charset="-122"/>
                <a:ea typeface="楷体" panose="02010609060101010101" pitchFamily="49" charset="-122"/>
                <a:cs typeface="楷体" panose="02010609060101010101" pitchFamily="49" charset="-122"/>
              </a:rPr>
              <a:t>法学</a:t>
            </a:r>
            <a:r>
              <a:rPr lang="en-US" altLang="zh-CN">
                <a:latin typeface="楷体" panose="02010609060101010101" pitchFamily="49" charset="-122"/>
                <a:ea typeface="楷体" panose="02010609060101010101" pitchFamily="49" charset="-122"/>
                <a:cs typeface="楷体" panose="02010609060101010101" pitchFamily="49" charset="-122"/>
              </a:rPr>
              <a:t>. 2014</a:t>
            </a:r>
            <a:r>
              <a:rPr lang="zh-CN" altLang="en-US">
                <a:latin typeface="楷体" panose="02010609060101010101" pitchFamily="49" charset="-122"/>
                <a:ea typeface="楷体" panose="02010609060101010101" pitchFamily="49" charset="-122"/>
                <a:cs typeface="楷体" panose="02010609060101010101" pitchFamily="49" charset="-122"/>
              </a:rPr>
              <a:t>第</a:t>
            </a:r>
            <a:r>
              <a:rPr lang="en-US" altLang="zh-CN">
                <a:latin typeface="楷体" panose="02010609060101010101" pitchFamily="49" charset="-122"/>
                <a:ea typeface="楷体" panose="02010609060101010101" pitchFamily="49" charset="-122"/>
                <a:cs typeface="楷体" panose="02010609060101010101" pitchFamily="49" charset="-122"/>
              </a:rPr>
              <a:t>5</a:t>
            </a:r>
            <a:r>
              <a:rPr lang="zh-CN" altLang="en-US">
                <a:latin typeface="楷体" panose="02010609060101010101" pitchFamily="49" charset="-122"/>
                <a:ea typeface="楷体" panose="02010609060101010101" pitchFamily="49" charset="-122"/>
                <a:cs typeface="楷体" panose="02010609060101010101" pitchFamily="49" charset="-122"/>
              </a:rPr>
              <a:t>期</a:t>
            </a:r>
            <a:endParaRPr lang="zh-CN" altLang="en-US">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628775"/>
            <a:ext cx="10969625" cy="2844800"/>
          </a:xfrm>
          <a:ln>
            <a:solidFill>
              <a:schemeClr val="accent1"/>
            </a:solidFill>
          </a:ln>
        </p:spPr>
        <p:txBody>
          <a:bodyPr rtlCol="0">
            <a:normAutofit/>
          </a:bodyPr>
          <a:lstStyle/>
          <a:p>
            <a:pPr eaLnBrk="1" fontAlgn="auto" hangingPunct="1">
              <a:lnSpc>
                <a:spcPct val="110000"/>
              </a:lnSpc>
              <a:spcAft>
                <a:spcPts val="0"/>
              </a:spcAft>
              <a:buFont typeface="Arial" panose="020B0604020202020204" pitchFamily="34" charset="0"/>
              <a:buChar char="•"/>
              <a:defRPr/>
            </a:pPr>
            <a:r>
              <a:rPr lang="zh-CN" altLang="en-US" sz="2800" dirty="0"/>
              <a:t>既与专制、封闭等</a:t>
            </a:r>
            <a:r>
              <a:rPr lang="zh-CN" altLang="en-US" sz="2800" dirty="0">
                <a:solidFill>
                  <a:srgbClr val="FF0000"/>
                </a:solidFill>
              </a:rPr>
              <a:t>王朝政权</a:t>
            </a:r>
            <a:r>
              <a:rPr lang="zh-CN" altLang="en-US" sz="2800" dirty="0"/>
              <a:t>联系，又强调了道德责任、合理有序、共生共荣、不同而和、天下一家的</a:t>
            </a:r>
            <a:r>
              <a:rPr lang="zh-CN" altLang="en-US" sz="2800" dirty="0">
                <a:solidFill>
                  <a:srgbClr val="FF0000"/>
                </a:solidFill>
              </a:rPr>
              <a:t>人文关怀与人类</a:t>
            </a:r>
            <a:r>
              <a:rPr lang="zh-CN" altLang="en-US" sz="2800" dirty="0" smtClean="0">
                <a:solidFill>
                  <a:srgbClr val="FF0000"/>
                </a:solidFill>
              </a:rPr>
              <a:t>理想</a:t>
            </a:r>
            <a:endParaRPr lang="en-US" altLang="zh-CN" sz="2800" dirty="0">
              <a:solidFill>
                <a:srgbClr val="FF0000"/>
              </a:solidFill>
            </a:endParaRPr>
          </a:p>
          <a:p>
            <a:pPr eaLnBrk="1" fontAlgn="auto" hangingPunct="1">
              <a:lnSpc>
                <a:spcPct val="110000"/>
              </a:lnSpc>
              <a:spcAft>
                <a:spcPts val="0"/>
              </a:spcAft>
              <a:buFont typeface="Arial" panose="020B0604020202020204" pitchFamily="34" charset="0"/>
              <a:buChar char="•"/>
              <a:defRPr/>
            </a:pPr>
            <a:endParaRPr lang="en-US" altLang="zh-CN" sz="2800" dirty="0"/>
          </a:p>
          <a:p>
            <a:pPr eaLnBrk="1" fontAlgn="auto" hangingPunct="1">
              <a:lnSpc>
                <a:spcPct val="110000"/>
              </a:lnSpc>
              <a:spcAft>
                <a:spcPts val="0"/>
              </a:spcAft>
              <a:buFont typeface="Arial" panose="020B0604020202020204" pitchFamily="34" charset="0"/>
              <a:buChar char="•"/>
              <a:defRPr/>
            </a:pPr>
            <a:r>
              <a:rPr lang="zh-CN" altLang="en-US" sz="2800" dirty="0"/>
              <a:t>混淆了公与私、政事与民事的界限，人民的主体性、选择性受到根本</a:t>
            </a:r>
            <a:r>
              <a:rPr lang="zh-CN" altLang="en-US" sz="2800" dirty="0" smtClean="0"/>
              <a:t>限制</a:t>
            </a:r>
            <a:endParaRPr lang="en-US" altLang="zh-CN" dirty="0"/>
          </a:p>
          <a:p>
            <a:pPr marL="0" indent="0" eaLnBrk="1" fontAlgn="auto" hangingPunct="1">
              <a:lnSpc>
                <a:spcPct val="110000"/>
              </a:lnSpc>
              <a:spcAft>
                <a:spcPts val="0"/>
              </a:spcAft>
              <a:buFont typeface="Arial" panose="020B0604020202020204" pitchFamily="34" charset="0"/>
              <a:buNone/>
              <a:defRPr/>
            </a:pPr>
            <a:endParaRPr lang="zh-CN" altLang="en-US" sz="2800" dirty="0"/>
          </a:p>
        </p:txBody>
      </p:sp>
      <p:sp>
        <p:nvSpPr>
          <p:cNvPr id="4" name="日期占位符 3"/>
          <p:cNvSpPr>
            <a:spLocks noGrp="1"/>
          </p:cNvSpPr>
          <p:nvPr>
            <p:ph type="dt" sz="quarter" idx="10"/>
          </p:nvPr>
        </p:nvSpPr>
        <p:spPr/>
        <p:txBody>
          <a:bodyPr/>
          <a:lstStyle/>
          <a:p>
            <a:pPr algn="l">
              <a:defRPr/>
            </a:pPr>
            <a:fld id="{1F4C5E0D-9DBC-4765-A36D-8EC13E0DA6E7}" type="datetime1">
              <a:rPr lang="zh-CN" altLang="en-US"/>
            </a:fld>
            <a:endParaRPr lang="zh-CN" altLang="en-US" dirty="0"/>
          </a:p>
        </p:txBody>
      </p:sp>
      <p:sp>
        <p:nvSpPr>
          <p:cNvPr id="5" name="灯片编号占位符 4"/>
          <p:cNvSpPr>
            <a:spLocks noGrp="1"/>
          </p:cNvSpPr>
          <p:nvPr>
            <p:ph type="sldNum" sz="quarter" idx="12"/>
          </p:nvPr>
        </p:nvSpPr>
        <p:spPr/>
        <p:txBody>
          <a:bodyPr/>
          <a:lstStyle/>
          <a:p>
            <a:pPr>
              <a:defRPr/>
            </a:pPr>
            <a:fld id="{AFA5A827-078E-4BC6-BA1C-DF2749608F9F}" type="slidenum">
              <a:rPr lang="zh-CN" altLang="en-US"/>
            </a:fld>
            <a:endParaRPr lang="zh-CN" altLang="en-US"/>
          </a:p>
        </p:txBody>
      </p:sp>
      <p:sp>
        <p:nvSpPr>
          <p:cNvPr id="6" name="标题 1"/>
          <p:cNvSpPr txBox="1"/>
          <p:nvPr/>
        </p:nvSpPr>
        <p:spPr bwMode="auto">
          <a:xfrm>
            <a:off x="609600" y="370708"/>
            <a:ext cx="10972800" cy="1143000"/>
          </a:xfrm>
          <a:prstGeom prst="rect">
            <a:avLst/>
          </a:prstGeom>
        </p:spPr>
        <p:style>
          <a:lnRef idx="0">
            <a:schemeClr val="accent4"/>
          </a:lnRef>
          <a:fillRef idx="3">
            <a:schemeClr val="accent4"/>
          </a:fillRef>
          <a:effectRef idx="3">
            <a:schemeClr val="accent4"/>
          </a:effectRef>
          <a:fontRef idx="minor">
            <a:schemeClr val="lt1"/>
          </a:fontRef>
        </p:style>
        <p:txBody>
          <a:bodyPr anchor="ctr">
            <a:normAutofit/>
          </a:bodyPr>
          <a:lstStyle>
            <a:lvl1pPr marL="342900" indent="-342900" algn="l" defTabSz="914400" rtl="0" eaLnBrk="0" fontAlgn="base" latinLnBrk="0"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中国传统文化中的国家思想特征</a:t>
            </a:r>
            <a:endParaRPr lang="en-US" altLang="zh-CN" sz="3600" dirty="0" smtClean="0">
              <a:solidFill>
                <a:schemeClr val="bg1"/>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09600" y="1627188"/>
            <a:ext cx="5400675" cy="4114800"/>
          </a:xfrm>
          <a:ln>
            <a:solidFill>
              <a:schemeClr val="accent1"/>
            </a:solidFill>
          </a:ln>
        </p:spPr>
        <p:txBody>
          <a:bodyPr rtlCol="0">
            <a:normAutofit/>
          </a:bodyPr>
          <a:lstStyle/>
          <a:p>
            <a:pPr eaLnBrk="1" fontAlgn="auto" hangingPunct="1">
              <a:spcAft>
                <a:spcPts val="0"/>
              </a:spcAft>
              <a:buFont typeface="Arial" panose="020B0604020202020204" pitchFamily="34" charset="0"/>
              <a:buChar char="•"/>
              <a:defRPr/>
            </a:pPr>
            <a:r>
              <a:rPr lang="zh-CN" altLang="zh-CN" sz="2400" dirty="0" smtClean="0"/>
              <a:t>中国政府</a:t>
            </a:r>
            <a:r>
              <a:rPr lang="zh-CN" altLang="zh-CN" sz="2400" dirty="0"/>
              <a:t>数据资源共享开放工程</a:t>
            </a:r>
            <a:endParaRPr lang="zh-CN" altLang="zh-CN" sz="2400" dirty="0"/>
          </a:p>
          <a:p>
            <a:pPr eaLnBrk="1" fontAlgn="auto" hangingPunct="1">
              <a:spcAft>
                <a:spcPts val="0"/>
              </a:spcAft>
              <a:buFont typeface="Arial" panose="020B0604020202020204" pitchFamily="34" charset="0"/>
              <a:buChar char="•"/>
              <a:defRPr/>
            </a:pPr>
            <a:r>
              <a:rPr lang="zh-CN" altLang="en-US" sz="2400" dirty="0" smtClean="0"/>
              <a:t>中</a:t>
            </a:r>
            <a:r>
              <a:rPr lang="zh-CN" altLang="zh-CN" sz="2400" dirty="0" smtClean="0"/>
              <a:t>国政府</a:t>
            </a:r>
            <a:r>
              <a:rPr lang="zh-CN" altLang="zh-CN" sz="2400" dirty="0"/>
              <a:t>治理大数据工程促进计划</a:t>
            </a:r>
            <a:endParaRPr lang="zh-CN" altLang="zh-CN" sz="2400" dirty="0"/>
          </a:p>
          <a:p>
            <a:pPr marL="0" indent="0" eaLnBrk="1" fontAlgn="auto" hangingPunct="1">
              <a:spcAft>
                <a:spcPts val="0"/>
              </a:spcAft>
              <a:buFont typeface="Arial" panose="020B0604020202020204" pitchFamily="34" charset="0"/>
              <a:buNone/>
              <a:defRPr/>
            </a:pPr>
            <a:r>
              <a:rPr lang="en-US" altLang="zh-CN" sz="2000" dirty="0"/>
              <a:t> </a:t>
            </a:r>
            <a:r>
              <a:rPr lang="en-US" altLang="zh-CN" sz="2000" dirty="0" smtClean="0"/>
              <a:t> ——</a:t>
            </a:r>
            <a:r>
              <a:rPr lang="zh-CN" altLang="zh-CN" sz="2000" dirty="0" smtClean="0"/>
              <a:t>《促进大数据发展行动纲要》</a:t>
            </a:r>
            <a:r>
              <a:rPr lang="en-US" altLang="zh-CN" sz="2000" dirty="0" smtClean="0"/>
              <a:t>2015.8</a:t>
            </a:r>
            <a:endParaRPr lang="en-US" altLang="zh-CN" sz="2000" dirty="0" smtClean="0"/>
          </a:p>
          <a:p>
            <a:pPr marL="0" indent="0" eaLnBrk="1" fontAlgn="auto" hangingPunct="1">
              <a:spcAft>
                <a:spcPts val="0"/>
              </a:spcAft>
              <a:buFont typeface="Arial" panose="020B0604020202020204" pitchFamily="34" charset="0"/>
              <a:buNone/>
              <a:defRPr/>
            </a:pPr>
            <a:endParaRPr lang="en-US" altLang="zh-CN" sz="2000" dirty="0"/>
          </a:p>
          <a:p>
            <a:pPr marL="0" indent="0" eaLnBrk="1" fontAlgn="auto" hangingPunct="1">
              <a:spcAft>
                <a:spcPts val="0"/>
              </a:spcAft>
              <a:buFont typeface="Arial" panose="020B0604020202020204" pitchFamily="34" charset="0"/>
              <a:buNone/>
              <a:defRPr/>
            </a:pPr>
            <a:r>
              <a:rPr lang="zh-CN" altLang="en-US" sz="2000" dirty="0" smtClean="0"/>
              <a:t>“</a:t>
            </a:r>
            <a:r>
              <a:rPr lang="zh-CN" altLang="zh-CN" sz="2000" dirty="0" smtClean="0"/>
              <a:t>大</a:t>
            </a:r>
            <a:r>
              <a:rPr lang="zh-CN" altLang="zh-CN" sz="2000" dirty="0"/>
              <a:t>数据征信体系</a:t>
            </a:r>
            <a:r>
              <a:rPr lang="zh-CN" altLang="zh-CN" sz="2000" dirty="0" smtClean="0"/>
              <a:t>建设</a:t>
            </a:r>
            <a:r>
              <a:rPr lang="zh-CN" altLang="en-US" sz="2000" dirty="0" smtClean="0"/>
              <a:t>”为例</a:t>
            </a:r>
            <a:endParaRPr lang="en-US" altLang="zh-CN" sz="2000" dirty="0" smtClean="0"/>
          </a:p>
          <a:p>
            <a:pPr marL="0" indent="0" eaLnBrk="1" fontAlgn="auto" hangingPunct="1">
              <a:spcAft>
                <a:spcPts val="0"/>
              </a:spcAft>
              <a:buFont typeface="Arial" panose="020B0604020202020204" pitchFamily="34" charset="0"/>
              <a:buNone/>
              <a:defRPr/>
            </a:pPr>
            <a:r>
              <a:rPr lang="zh-CN" altLang="zh-CN" sz="2000" dirty="0"/>
              <a:t>中国人民银行个人征信</a:t>
            </a:r>
            <a:r>
              <a:rPr lang="zh-CN" altLang="zh-CN" sz="2000" dirty="0" smtClean="0"/>
              <a:t>系统</a:t>
            </a:r>
            <a:r>
              <a:rPr lang="zh-CN" altLang="en-US" sz="2000" dirty="0"/>
              <a:t>和</a:t>
            </a:r>
            <a:r>
              <a:rPr lang="zh-CN" altLang="en-US" sz="2000" dirty="0" smtClean="0"/>
              <a:t>芝麻信用</a:t>
            </a:r>
            <a:endParaRPr lang="en-US" altLang="zh-CN" sz="2000" dirty="0" smtClean="0"/>
          </a:p>
          <a:p>
            <a:pPr marL="0" indent="0" eaLnBrk="1" fontAlgn="auto" hangingPunct="1">
              <a:spcAft>
                <a:spcPts val="0"/>
              </a:spcAft>
              <a:buFont typeface="Arial" panose="020B0604020202020204" pitchFamily="34" charset="0"/>
              <a:buNone/>
              <a:defRPr/>
            </a:pPr>
            <a:endParaRPr lang="en-US" altLang="zh-CN" sz="2000" dirty="0" smtClean="0"/>
          </a:p>
          <a:p>
            <a:pPr marL="0" indent="0" eaLnBrk="1" fontAlgn="auto" hangingPunct="1">
              <a:spcAft>
                <a:spcPts val="0"/>
              </a:spcAft>
              <a:buFont typeface="Arial" panose="020B0604020202020204" pitchFamily="34" charset="0"/>
              <a:buNone/>
              <a:defRPr/>
            </a:pPr>
            <a:r>
              <a:rPr lang="zh-CN" altLang="en-US" sz="2000" dirty="0" smtClean="0"/>
              <a:t>数据有偏性与社会公正性</a:t>
            </a:r>
            <a:endParaRPr lang="en-US" altLang="zh-CN" sz="2000" dirty="0" smtClean="0"/>
          </a:p>
          <a:p>
            <a:pPr marL="0" indent="0" eaLnBrk="1" fontAlgn="auto" hangingPunct="1">
              <a:spcAft>
                <a:spcPts val="0"/>
              </a:spcAft>
              <a:buFont typeface="Arial" panose="020B0604020202020204" pitchFamily="34" charset="0"/>
              <a:buNone/>
              <a:defRPr/>
            </a:pPr>
            <a:r>
              <a:rPr lang="zh-CN" altLang="en-US" sz="2000" dirty="0"/>
              <a:t>知情</a:t>
            </a:r>
            <a:r>
              <a:rPr lang="zh-CN" altLang="en-US" sz="2000" dirty="0" smtClean="0"/>
              <a:t>权与参与权保障</a:t>
            </a:r>
            <a:endParaRPr lang="en-US" altLang="zh-CN" sz="2000" dirty="0" smtClean="0"/>
          </a:p>
          <a:p>
            <a:pPr marL="0" indent="0" eaLnBrk="1" fontAlgn="auto" hangingPunct="1">
              <a:spcAft>
                <a:spcPts val="0"/>
              </a:spcAft>
              <a:buFont typeface="Arial" panose="020B0604020202020204" pitchFamily="34" charset="0"/>
              <a:buNone/>
              <a:defRPr/>
            </a:pPr>
            <a:r>
              <a:rPr lang="zh-CN" altLang="en-US" sz="2000" dirty="0" smtClean="0"/>
              <a:t>信息管控：信息可及性（自由）和不当可及</a:t>
            </a:r>
            <a:endParaRPr lang="en-US" altLang="zh-CN" sz="2000" dirty="0" smtClean="0"/>
          </a:p>
          <a:p>
            <a:pPr marL="0" indent="0" eaLnBrk="1" fontAlgn="auto" hangingPunct="1">
              <a:spcAft>
                <a:spcPts val="0"/>
              </a:spcAft>
              <a:buFont typeface="Arial" panose="020B0604020202020204" pitchFamily="34" charset="0"/>
              <a:buNone/>
              <a:defRPr/>
            </a:pPr>
            <a:endParaRPr lang="en-US" altLang="zh-CN" sz="2000" dirty="0" smtClean="0"/>
          </a:p>
          <a:p>
            <a:pPr marL="0" indent="0" eaLnBrk="1" fontAlgn="auto" hangingPunct="1">
              <a:spcAft>
                <a:spcPts val="0"/>
              </a:spcAft>
              <a:buFont typeface="Arial" panose="020B0604020202020204" pitchFamily="34" charset="0"/>
              <a:buNone/>
              <a:defRPr/>
            </a:pPr>
            <a:endParaRPr lang="zh-CN" altLang="en-US" sz="2000" dirty="0"/>
          </a:p>
        </p:txBody>
      </p:sp>
      <p:sp>
        <p:nvSpPr>
          <p:cNvPr id="4" name="内容占位符 3"/>
          <p:cNvSpPr>
            <a:spLocks noGrp="1"/>
          </p:cNvSpPr>
          <p:nvPr>
            <p:ph sz="half" idx="2"/>
          </p:nvPr>
        </p:nvSpPr>
        <p:spPr>
          <a:xfrm>
            <a:off x="6108700" y="1600200"/>
            <a:ext cx="5473700" cy="4141788"/>
          </a:xfrm>
          <a:ln>
            <a:solidFill>
              <a:schemeClr val="accent1"/>
            </a:solidFill>
          </a:ln>
        </p:spPr>
        <p:txBody>
          <a:bodyPr rtlCol="0">
            <a:normAutofit/>
          </a:bodyPr>
          <a:lstStyle/>
          <a:p>
            <a:pPr eaLnBrk="1" fontAlgn="auto" hangingPunct="1">
              <a:spcAft>
                <a:spcPts val="0"/>
              </a:spcAft>
              <a:buFont typeface="Arial" panose="020B0604020202020204" pitchFamily="34" charset="0"/>
              <a:buChar char="•"/>
              <a:defRPr/>
            </a:pPr>
            <a:r>
              <a:rPr lang="zh-CN" altLang="en-US" sz="2400" dirty="0" smtClean="0">
                <a:latin typeface="黑体" panose="02010609060101010101" pitchFamily="49" charset="-122"/>
              </a:rPr>
              <a:t>坚持</a:t>
            </a:r>
            <a:r>
              <a:rPr lang="zh-CN" altLang="en-US" sz="2400" dirty="0" smtClean="0">
                <a:solidFill>
                  <a:srgbClr val="FF0000"/>
                </a:solidFill>
                <a:latin typeface="黑体" panose="02010609060101010101" pitchFamily="49" charset="-122"/>
              </a:rPr>
              <a:t>尊重、公正、有限记忆、无害和可持续原则，</a:t>
            </a:r>
            <a:r>
              <a:rPr lang="zh-CN" altLang="en-US" sz="2400" dirty="0" smtClean="0">
                <a:latin typeface="黑体" panose="02010609060101010101" pitchFamily="49" charset="-122"/>
              </a:rPr>
              <a:t>其中，</a:t>
            </a:r>
            <a:r>
              <a:rPr lang="zh-CN" altLang="zh-CN" sz="2400" dirty="0" smtClean="0">
                <a:solidFill>
                  <a:srgbClr val="FF0000"/>
                </a:solidFill>
                <a:latin typeface="黑体" panose="02010609060101010101" pitchFamily="49" charset="-122"/>
              </a:rPr>
              <a:t>信息惠民</a:t>
            </a:r>
            <a:r>
              <a:rPr lang="zh-CN" altLang="zh-CN" sz="2400" dirty="0" smtClean="0">
                <a:latin typeface="黑体" panose="02010609060101010101" pitchFamily="49" charset="-122"/>
              </a:rPr>
              <a:t>可能</a:t>
            </a:r>
            <a:r>
              <a:rPr lang="zh-CN" altLang="zh-CN" sz="2400" dirty="0">
                <a:latin typeface="黑体" panose="02010609060101010101" pitchFamily="49" charset="-122"/>
              </a:rPr>
              <a:t>是大数据公共治理中的最高</a:t>
            </a:r>
            <a:r>
              <a:rPr lang="zh-CN" altLang="zh-CN" sz="2400" dirty="0" smtClean="0">
                <a:latin typeface="黑体" panose="02010609060101010101" pitchFamily="49" charset="-122"/>
              </a:rPr>
              <a:t>要求</a:t>
            </a:r>
            <a:endParaRPr lang="en-US" altLang="zh-CN" sz="2400" dirty="0" smtClean="0">
              <a:latin typeface="黑体" panose="02010609060101010101" pitchFamily="49" charset="-122"/>
            </a:endParaRPr>
          </a:p>
          <a:p>
            <a:pPr eaLnBrk="1" fontAlgn="auto" hangingPunct="1">
              <a:spcAft>
                <a:spcPts val="0"/>
              </a:spcAft>
              <a:buFont typeface="Arial" panose="020B0604020202020204" pitchFamily="34" charset="0"/>
              <a:buChar char="•"/>
              <a:defRPr/>
            </a:pPr>
            <a:r>
              <a:rPr lang="zh-CN" altLang="zh-CN" sz="2400" dirty="0" smtClean="0">
                <a:solidFill>
                  <a:srgbClr val="FF0000"/>
                </a:solidFill>
                <a:latin typeface="黑体" panose="02010609060101010101" pitchFamily="49" charset="-122"/>
              </a:rPr>
              <a:t>信息</a:t>
            </a:r>
            <a:r>
              <a:rPr lang="zh-CN" altLang="zh-CN" sz="2400" dirty="0">
                <a:solidFill>
                  <a:srgbClr val="FF0000"/>
                </a:solidFill>
                <a:latin typeface="黑体" panose="02010609060101010101" pitchFamily="49" charset="-122"/>
              </a:rPr>
              <a:t>惠民</a:t>
            </a:r>
            <a:r>
              <a:rPr lang="zh-CN" altLang="zh-CN" sz="2400" dirty="0">
                <a:latin typeface="黑体" panose="02010609060101010101" pitchFamily="49" charset="-122"/>
              </a:rPr>
              <a:t>，惠什么</a:t>
            </a:r>
            <a:r>
              <a:rPr lang="zh-CN" altLang="zh-CN" sz="2400" dirty="0" smtClean="0">
                <a:latin typeface="黑体" panose="02010609060101010101" pitchFamily="49" charset="-122"/>
              </a:rPr>
              <a:t>？</a:t>
            </a:r>
            <a:endParaRPr lang="en-US" altLang="zh-CN" sz="2400" dirty="0" smtClean="0">
              <a:latin typeface="黑体" panose="02010609060101010101" pitchFamily="49" charset="-122"/>
            </a:endParaRPr>
          </a:p>
          <a:p>
            <a:pPr lvl="1" eaLnBrk="1" fontAlgn="auto" hangingPunct="1">
              <a:spcAft>
                <a:spcPts val="0"/>
              </a:spcAft>
              <a:buFont typeface="Arial" panose="020B0604020202020204" pitchFamily="34" charset="0"/>
              <a:buChar char="–"/>
              <a:defRPr/>
            </a:pPr>
            <a:r>
              <a:rPr lang="zh-CN" altLang="zh-CN" sz="2000" dirty="0" smtClean="0">
                <a:solidFill>
                  <a:srgbClr val="FF0000"/>
                </a:solidFill>
                <a:latin typeface="黑体" panose="02010609060101010101" pitchFamily="49" charset="-122"/>
              </a:rPr>
              <a:t>方便</a:t>
            </a:r>
            <a:r>
              <a:rPr lang="zh-CN" altLang="zh-CN" sz="2000" dirty="0">
                <a:latin typeface="黑体" panose="02010609060101010101" pitchFamily="49" charset="-122"/>
              </a:rPr>
              <a:t>，提供服务方便，老百姓感觉被服务的</a:t>
            </a:r>
            <a:r>
              <a:rPr lang="zh-CN" altLang="zh-CN" sz="2000" dirty="0" smtClean="0">
                <a:latin typeface="黑体" panose="02010609060101010101" pitchFamily="49" charset="-122"/>
              </a:rPr>
              <a:t>方便</a:t>
            </a:r>
            <a:endParaRPr lang="en-US" altLang="zh-CN" sz="2000" dirty="0" smtClean="0">
              <a:latin typeface="黑体" panose="02010609060101010101" pitchFamily="49" charset="-122"/>
            </a:endParaRPr>
          </a:p>
          <a:p>
            <a:pPr lvl="1" eaLnBrk="1" fontAlgn="auto" hangingPunct="1">
              <a:spcAft>
                <a:spcPts val="0"/>
              </a:spcAft>
              <a:buFont typeface="Arial" panose="020B0604020202020204" pitchFamily="34" charset="0"/>
              <a:buChar char="–"/>
              <a:defRPr/>
            </a:pPr>
            <a:r>
              <a:rPr lang="zh-CN" altLang="zh-CN" sz="2000" dirty="0" smtClean="0">
                <a:solidFill>
                  <a:srgbClr val="FF0000"/>
                </a:solidFill>
                <a:latin typeface="黑体" panose="02010609060101010101" pitchFamily="49" charset="-122"/>
              </a:rPr>
              <a:t>安全</a:t>
            </a:r>
            <a:r>
              <a:rPr lang="zh-CN" altLang="zh-CN" sz="2000" dirty="0">
                <a:latin typeface="黑体" panose="02010609060101010101" pitchFamily="49" charset="-122"/>
              </a:rPr>
              <a:t>，集中的、强大的风险防范强于分散的、薄弱的甚至缺失的风险</a:t>
            </a:r>
            <a:r>
              <a:rPr lang="zh-CN" altLang="zh-CN" sz="2000" dirty="0" smtClean="0">
                <a:latin typeface="黑体" panose="02010609060101010101" pitchFamily="49" charset="-122"/>
              </a:rPr>
              <a:t>防范</a:t>
            </a:r>
            <a:endParaRPr lang="en-US" altLang="zh-CN" sz="2000" dirty="0" smtClean="0">
              <a:latin typeface="黑体" panose="02010609060101010101" pitchFamily="49" charset="-122"/>
            </a:endParaRPr>
          </a:p>
          <a:p>
            <a:pPr lvl="1" eaLnBrk="1" fontAlgn="auto" hangingPunct="1">
              <a:spcAft>
                <a:spcPts val="0"/>
              </a:spcAft>
              <a:buFont typeface="Arial" panose="020B0604020202020204" pitchFamily="34" charset="0"/>
              <a:buChar char="–"/>
              <a:defRPr/>
            </a:pPr>
            <a:r>
              <a:rPr lang="zh-CN" altLang="zh-CN" sz="2000" dirty="0" smtClean="0">
                <a:solidFill>
                  <a:srgbClr val="FF0000"/>
                </a:solidFill>
                <a:latin typeface="黑体" panose="02010609060101010101" pitchFamily="49" charset="-122"/>
              </a:rPr>
              <a:t>和谐</a:t>
            </a:r>
            <a:r>
              <a:rPr lang="zh-CN" altLang="zh-CN" sz="2000" dirty="0">
                <a:solidFill>
                  <a:srgbClr val="FF0000"/>
                </a:solidFill>
                <a:latin typeface="黑体" panose="02010609060101010101" pitchFamily="49" charset="-122"/>
              </a:rPr>
              <a:t>美好</a:t>
            </a:r>
            <a:r>
              <a:rPr lang="zh-CN" altLang="zh-CN" sz="2000" dirty="0">
                <a:latin typeface="黑体" panose="02010609060101010101" pitchFamily="49" charset="-122"/>
              </a:rPr>
              <a:t>，让社会运行更加和谐，让人民生活更加</a:t>
            </a:r>
            <a:r>
              <a:rPr lang="zh-CN" altLang="zh-CN" sz="2000" dirty="0" smtClean="0">
                <a:latin typeface="黑体" panose="02010609060101010101" pitchFamily="49" charset="-122"/>
              </a:rPr>
              <a:t>美好</a:t>
            </a:r>
            <a:endParaRPr lang="zh-CN" altLang="zh-CN" sz="2000" dirty="0">
              <a:latin typeface="黑体" panose="02010609060101010101" pitchFamily="49" charset="-122"/>
            </a:endParaRPr>
          </a:p>
          <a:p>
            <a:pPr marL="0" indent="0" eaLnBrk="1" fontAlgn="auto" hangingPunct="1">
              <a:spcAft>
                <a:spcPts val="0"/>
              </a:spcAft>
              <a:buFont typeface="Arial" panose="020B0604020202020204" pitchFamily="34" charset="0"/>
              <a:buNone/>
              <a:defRPr/>
            </a:pPr>
            <a:endParaRPr lang="zh-CN" altLang="en-US" sz="2400" dirty="0">
              <a:latin typeface="黑体" panose="02010609060101010101" pitchFamily="49" charset="-122"/>
            </a:endParaRPr>
          </a:p>
        </p:txBody>
      </p:sp>
      <p:sp>
        <p:nvSpPr>
          <p:cNvPr id="8" name="标题 1"/>
          <p:cNvSpPr txBox="1">
            <a:spLocks noGrp="1"/>
          </p:cNvSpPr>
          <p:nvPr>
            <p:ph type="title"/>
          </p:nvPr>
        </p:nvSpPr>
        <p:spPr bwMode="auto"/>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大数据时代中国公共治理的伦理价值应为何？</a:t>
            </a:r>
            <a:endParaRPr lang="en-US" altLang="zh-CN" sz="3600" dirty="0">
              <a:solidFill>
                <a:schemeClr val="bg1"/>
              </a:solidFill>
            </a:endParaRPr>
          </a:p>
        </p:txBody>
      </p:sp>
      <p:sp>
        <p:nvSpPr>
          <p:cNvPr id="60423" name="灯片编号占位符 6"/>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C9E18B94-FE3A-4B4B-90E5-4AA36EC97823}" type="slidenum">
              <a:rPr lang="zh-CN" altLang="en-US">
                <a:solidFill>
                  <a:srgbClr val="898989"/>
                </a:solidFill>
              </a:rPr>
            </a:fld>
            <a:endParaRPr lang="en-US" altLang="zh-CN">
              <a:solidFill>
                <a:srgbClr val="898989"/>
              </a:solidFill>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bwMode="auto">
          <a:xfrm>
            <a:off x="657039" y="296521"/>
            <a:ext cx="10925361" cy="936104"/>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面对新的伦理问题，为什么要进行</a:t>
            </a:r>
            <a:r>
              <a:rPr lang="zh-CN" altLang="zh-CN" sz="3600" dirty="0" smtClean="0">
                <a:solidFill>
                  <a:schemeClr val="bg1"/>
                </a:solidFill>
              </a:rPr>
              <a:t>价值追问</a:t>
            </a:r>
            <a:r>
              <a:rPr lang="zh-CN" altLang="en-US" sz="3600" dirty="0" smtClean="0">
                <a:solidFill>
                  <a:schemeClr val="bg1"/>
                </a:solidFill>
              </a:rPr>
              <a:t>？</a:t>
            </a:r>
            <a:endParaRPr lang="en-US" altLang="zh-CN" sz="3600" dirty="0">
              <a:solidFill>
                <a:schemeClr val="bg1"/>
              </a:solidFill>
            </a:endParaRPr>
          </a:p>
        </p:txBody>
      </p:sp>
      <p:graphicFrame>
        <p:nvGraphicFramePr>
          <p:cNvPr id="9" name="内容占位符 8"/>
          <p:cNvGraphicFramePr>
            <a:graphicFrameLocks noGrp="1"/>
          </p:cNvGraphicFramePr>
          <p:nvPr>
            <p:ph idx="1"/>
          </p:nvPr>
        </p:nvGraphicFramePr>
        <p:xfrm>
          <a:off x="657225" y="1387475"/>
          <a:ext cx="10925175" cy="4578351"/>
        </p:xfrm>
        <a:graphic>
          <a:graphicData uri="http://schemas.openxmlformats.org/drawingml/2006/table">
            <a:tbl>
              <a:tblPr/>
              <a:tblGrid>
                <a:gridCol w="1770063"/>
                <a:gridCol w="9155112"/>
              </a:tblGrid>
              <a:tr h="51752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责任主体</a:t>
                      </a:r>
                      <a:endParaRPr kumimoji="0" lang="zh-CN" altLang="en-US" sz="2400" b="1" i="0" u="none" strike="noStrike" cap="none" normalizeH="0" baseline="0" smtClean="0">
                        <a:ln>
                          <a:noFill/>
                        </a:ln>
                        <a:solidFill>
                          <a:srgbClr val="7030A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8064A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价值追问收益</a:t>
                      </a:r>
                      <a:endParaRPr kumimoji="0" lang="zh-CN" altLang="en-US" sz="2400" b="1" i="0" u="none" strike="noStrike" cap="none" normalizeH="0" baseline="0" smtClean="0">
                        <a:ln>
                          <a:noFill/>
                        </a:ln>
                        <a:solidFill>
                          <a:srgbClr val="7030A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8064A2"/>
                    </a:solidFill>
                  </a:tcPr>
                </a:tc>
              </a:tr>
              <a:tr h="11938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企业</a:t>
                      </a:r>
                      <a:endParaRPr kumimoji="0" lang="zh-CN" altLang="en-US" sz="2400" b="1" i="0" u="none" strike="noStrike" cap="none" normalizeH="0" baseline="0" smtClean="0">
                        <a:ln>
                          <a:noFill/>
                        </a:ln>
                        <a:solidFill>
                          <a:srgbClr val="7030A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8064A2"/>
                    </a:solidFill>
                  </a:tcPr>
                </a:tc>
                <a:tc>
                  <a:txBody>
                    <a:bodyPr/>
                    <a:lstStyle/>
                    <a:p>
                      <a:pPr marL="0" marR="0" lvl="0" indent="-11430" algn="just"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通过明确责任、降低风险以快速吸引用户；通过对约束和义务的全面理解而减少法律纠纷；藉由共同价值观而加快协作创新的进程；追求实现长期目标而减轻意外后果的风险；获取榜样的示范效益</a:t>
                      </a:r>
                      <a:endPar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r>
              <a:tr h="95408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个人</a:t>
                      </a:r>
                      <a:endParaRPr kumimoji="0" lang="zh-CN" altLang="en-US" sz="2400" b="1" i="0" u="none" strike="noStrike" cap="none" normalizeH="0" baseline="0" smtClean="0">
                        <a:ln>
                          <a:noFill/>
                        </a:ln>
                        <a:solidFill>
                          <a:srgbClr val="7030A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8064A2"/>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个人德性之要求；对个人遵从的价值观的梳理、践行、坚持与进步（如爱国、敬业、诚信、友善）；了解做人做事的底线、边界和高度</a:t>
                      </a:r>
                      <a:endPar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r>
              <a:tr h="95885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社会大众</a:t>
                      </a:r>
                      <a:endParaRPr kumimoji="0" lang="zh-CN" altLang="en-US" sz="2400" b="1" i="0" u="none" strike="noStrike" cap="none" normalizeH="0" baseline="0" smtClean="0">
                        <a:ln>
                          <a:noFill/>
                        </a:ln>
                        <a:solidFill>
                          <a:srgbClr val="7030A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8064A2"/>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梳理和践行社会层面的核心价值观（如自由、平等、公正、法治）；参与到技术与社会的互动中，主动发声；保护社会公序良俗；保护创新源泉</a:t>
                      </a:r>
                      <a:endPar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8D3E0"/>
                    </a:solidFill>
                  </a:tcPr>
                </a:tc>
              </a:tr>
              <a:tr h="95408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smtClean="0">
                          <a:ln>
                            <a:noFill/>
                          </a:ln>
                          <a:solidFill>
                            <a:srgbClr val="FFFFFF"/>
                          </a:solidFill>
                          <a:effectLst/>
                          <a:latin typeface="黑体" panose="02010609060101010101" pitchFamily="49" charset="-122"/>
                          <a:ea typeface="黑体" panose="02010609060101010101" pitchFamily="49" charset="-122"/>
                          <a:cs typeface="Times New Roman" panose="02020603050405020304" pitchFamily="18" charset="0"/>
                        </a:rPr>
                        <a:t>政府</a:t>
                      </a:r>
                      <a:endParaRPr kumimoji="0" lang="zh-CN" altLang="en-US" sz="2400" b="1" i="0" u="none" strike="noStrike" cap="none" normalizeH="0" baseline="0" smtClean="0">
                        <a:ln>
                          <a:noFill/>
                        </a:ln>
                        <a:solidFill>
                          <a:srgbClr val="7030A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8064A2"/>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建设法治政府、责任政府、透明政府；凝聚人民信任，致力富强、民主、文明、和谐国家建设与发展；适时修订法律条文，明确大数据的应用底线，保护公众利益，维护社会价值</a:t>
                      </a:r>
                      <a:endParaRPr kumimoji="0" lang="zh-CN" altLang="en-US" sz="2000" b="0"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EAF0"/>
                    </a:solidFill>
                  </a:tcPr>
                </a:tc>
              </a:tr>
            </a:tbl>
          </a:graphicData>
        </a:graphic>
      </p:graphicFrame>
      <p:sp>
        <p:nvSpPr>
          <p:cNvPr id="61465" name="灯片编号占位符 2"/>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82A289ED-13CB-4BCF-B212-11EBB111EBCB}" type="slidenum">
              <a:rPr lang="zh-CN" altLang="en-US">
                <a:solidFill>
                  <a:srgbClr val="898989"/>
                </a:solidFill>
              </a:rPr>
            </a:fld>
            <a:endParaRPr lang="en-US" altLang="zh-CN">
              <a:solidFill>
                <a:srgbClr val="898989"/>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内容占位符 4"/>
          <p:cNvGraphicFramePr>
            <a:graphicFrameLocks noGrp="1"/>
          </p:cNvGraphicFramePr>
          <p:nvPr>
            <p:ph idx="1"/>
          </p:nvPr>
        </p:nvGraphicFramePr>
        <p:xfrm>
          <a:off x="609600" y="1622425"/>
          <a:ext cx="10972800" cy="4389120"/>
        </p:xfrm>
        <a:graphic>
          <a:graphicData uri="http://schemas.openxmlformats.org/drawingml/2006/table">
            <a:tbl>
              <a:tblPr firstRow="1" bandRow="1">
                <a:tableStyleId>{5C22544A-7EE6-4342-B048-85BDC9FD1C3A}</a:tableStyleId>
              </a:tblPr>
              <a:tblGrid>
                <a:gridCol w="866660"/>
                <a:gridCol w="1762699"/>
                <a:gridCol w="2313542"/>
                <a:gridCol w="4318612"/>
                <a:gridCol w="1711287"/>
              </a:tblGrid>
              <a:tr h="598870">
                <a:tc>
                  <a:txBody>
                    <a:bodyPr/>
                    <a:lstStyle/>
                    <a:p>
                      <a:pPr algn="ct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案例</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pPr algn="ct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免责声明</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pPr algn="ct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知识产权</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pPr algn="ct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个人隐私</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pPr algn="ct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权利声明</a:t>
                      </a:r>
                      <a:r>
                        <a:rPr lang="en-US" altLang="zh-CN"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侵权举报</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a:txBody>
                  <a:tcPr/>
                </a:tc>
              </a:tr>
              <a:tr h="1882163">
                <a:tc>
                  <a:txBody>
                    <a:bodyPr/>
                    <a:lstStyle/>
                    <a:p>
                      <a:pPr algn="ct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网站</a:t>
                      </a:r>
                      <a:r>
                        <a:rPr lang="en-US" altLang="zh-CN" dirty="0" smtClean="0">
                          <a:latin typeface="Times New Roman" panose="02020603050405020304" pitchFamily="18" charset="0"/>
                          <a:ea typeface="黑体" panose="02010609060101010101" pitchFamily="49" charset="-122"/>
                          <a:cs typeface="Times New Roman" panose="02020603050405020304" pitchFamily="18" charset="0"/>
                        </a:rPr>
                        <a:t>A</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有，</a:t>
                      </a:r>
                      <a:r>
                        <a:rPr lang="en-US" altLang="zh-CN" dirty="0" smtClean="0">
                          <a:latin typeface="Times New Roman" panose="02020603050405020304" pitchFamily="18" charset="0"/>
                          <a:ea typeface="黑体" panose="02010609060101010101" pitchFamily="49" charset="-122"/>
                          <a:cs typeface="Times New Roman" panose="02020603050405020304" pitchFamily="18" charset="0"/>
                        </a:rPr>
                        <a:t>7</a:t>
                      </a: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条，且为默认“使用前必读”跳转的首页</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拥有本网站内所有资料的版权</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用户提交的数据、访问日志、设备信息、</a:t>
                      </a:r>
                      <a:r>
                        <a:rPr lang="en-US" altLang="zh-CN" dirty="0" smtClean="0">
                          <a:latin typeface="Times New Roman" panose="02020603050405020304" pitchFamily="18" charset="0"/>
                          <a:ea typeface="黑体" panose="02010609060101010101" pitchFamily="49" charset="-122"/>
                          <a:cs typeface="Times New Roman" panose="02020603050405020304" pitchFamily="18" charset="0"/>
                        </a:rPr>
                        <a:t>cookie</a:t>
                      </a: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等涉及个人隐私，搜索关键字不是个人隐私</a:t>
                      </a:r>
                      <a:endParaRPr lang="en-US" altLang="zh-CN" dirty="0" smtClean="0">
                        <a:latin typeface="Times New Roman" panose="02020603050405020304" pitchFamily="18" charset="0"/>
                        <a:ea typeface="黑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如系黑客入侵造成隐私泄露，网站不承担责任</a:t>
                      </a:r>
                      <a:endParaRPr lang="en-US" altLang="zh-CN" dirty="0" smtClean="0">
                        <a:latin typeface="Times New Roman" panose="02020603050405020304" pitchFamily="18" charset="0"/>
                        <a:ea typeface="黑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可能向合作伙伴共享你的个人数据</a:t>
                      </a:r>
                      <a:endParaRPr lang="en-US" altLang="zh-CN" dirty="0" smtClean="0">
                        <a:latin typeface="Times New Roman" panose="02020603050405020304" pitchFamily="18" charset="0"/>
                        <a:ea typeface="黑体" panose="02010609060101010101" pitchFamily="49" charset="-122"/>
                        <a:cs typeface="Times New Roman" panose="02020603050405020304" pitchFamily="18" charset="0"/>
                      </a:endParaRPr>
                    </a:p>
                    <a:p>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可能将你的个人数据用于研究等</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pPr algn="ct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有</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a:txBody>
                  <a:tcPr/>
                </a:tc>
              </a:tr>
              <a:tr h="1625505">
                <a:tc>
                  <a:txBody>
                    <a:bodyPr/>
                    <a:lstStyle/>
                    <a:p>
                      <a:pPr algn="ct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网站</a:t>
                      </a:r>
                      <a:r>
                        <a:rPr lang="en-US" altLang="zh-CN" dirty="0" smtClean="0">
                          <a:latin typeface="Times New Roman" panose="02020603050405020304" pitchFamily="18" charset="0"/>
                          <a:ea typeface="黑体" panose="02010609060101010101" pitchFamily="49" charset="-122"/>
                          <a:cs typeface="Times New Roman" panose="02020603050405020304" pitchFamily="18" charset="0"/>
                        </a:rPr>
                        <a:t>B</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有，</a:t>
                      </a:r>
                      <a:r>
                        <a:rPr lang="en-US" altLang="zh-CN" dirty="0" smtClean="0">
                          <a:latin typeface="Times New Roman" panose="02020603050405020304" pitchFamily="18" charset="0"/>
                          <a:ea typeface="黑体" panose="02010609060101010101" pitchFamily="49" charset="-122"/>
                          <a:cs typeface="Times New Roman" panose="02020603050405020304" pitchFamily="18" charset="0"/>
                        </a:rPr>
                        <a:t>4</a:t>
                      </a: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条，放在倒数第二项</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用户在本网站上发表的全部原创内容（包括但不仅限于回答、文章和评论），著作权均归用户本人所有。</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尊重用户个人隐私信息的私有性是本网站的一贯原则。给出“个人设置”链接帮助用户设置“不希望被搜索引擎检索”的保护</a:t>
                      </a:r>
                      <a:endParaRPr lang="en-US" altLang="zh-CN" dirty="0" smtClean="0">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smtClean="0">
                        <a:latin typeface="Times New Roman" panose="02020603050405020304" pitchFamily="18" charset="0"/>
                        <a:ea typeface="黑体" panose="02010609060101010101" pitchFamily="49" charset="-122"/>
                        <a:cs typeface="Times New Roman" panose="02020603050405020304" pitchFamily="18" charset="0"/>
                      </a:endParaRPr>
                    </a:p>
                    <a:p>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a:txBody>
                  <a:tcPr/>
                </a:tc>
                <a:tc>
                  <a:txBody>
                    <a:bodyPr/>
                    <a:lstStyle/>
                    <a:p>
                      <a:pPr algn="ct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有</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a:txBody>
                  <a:tcPr/>
                </a:tc>
              </a:tr>
            </a:tbl>
          </a:graphicData>
        </a:graphic>
      </p:graphicFrame>
      <p:sp>
        <p:nvSpPr>
          <p:cNvPr id="62492" name="灯片编号占位符 3"/>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AE3FE6D3-A11C-4FBF-8A88-F00FD4F39AD3}" type="slidenum">
              <a:rPr lang="zh-CN" altLang="en-US">
                <a:solidFill>
                  <a:srgbClr val="898989"/>
                </a:solidFill>
              </a:rPr>
            </a:fld>
            <a:endParaRPr lang="en-US" altLang="zh-CN">
              <a:solidFill>
                <a:srgbClr val="898989"/>
              </a:solidFill>
            </a:endParaRPr>
          </a:p>
        </p:txBody>
      </p:sp>
      <p:sp>
        <p:nvSpPr>
          <p:cNvPr id="6" name="标题 1"/>
          <p:cNvSpPr txBox="1"/>
          <p:nvPr/>
        </p:nvSpPr>
        <p:spPr bwMode="auto">
          <a:xfrm>
            <a:off x="2666234" y="6018430"/>
            <a:ext cx="9038897" cy="388884"/>
          </a:xfrm>
          <a:prstGeom prst="rect">
            <a:avLst/>
          </a:prstGeom>
          <a:noFill/>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2800" dirty="0" smtClean="0">
                <a:solidFill>
                  <a:schemeClr val="tx1"/>
                </a:solidFill>
              </a:rPr>
              <a:t>来自学生的案例分析：对比两个国内网站的公开声明</a:t>
            </a:r>
            <a:endParaRPr lang="en-US" altLang="zh-CN" sz="2800" dirty="0">
              <a:solidFill>
                <a:schemeClr val="tx1"/>
              </a:solidFill>
            </a:endParaRPr>
          </a:p>
        </p:txBody>
      </p:sp>
      <p:sp>
        <p:nvSpPr>
          <p:cNvPr id="7" name="标题 1"/>
          <p:cNvSpPr txBox="1"/>
          <p:nvPr/>
        </p:nvSpPr>
        <p:spPr bwMode="auto">
          <a:xfrm>
            <a:off x="643245" y="0"/>
            <a:ext cx="10925361" cy="1275472"/>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buFont typeface="Arial" panose="020B0604020202020204" pitchFamily="34" charset="0"/>
              <a:buNone/>
              <a:defRPr/>
            </a:pPr>
            <a:r>
              <a:rPr lang="zh-CN" altLang="en-US" sz="4000" dirty="0" smtClean="0">
                <a:solidFill>
                  <a:schemeClr val="bg1"/>
                </a:solidFill>
              </a:rPr>
              <a:t>教学内容</a:t>
            </a:r>
            <a:r>
              <a:rPr lang="en-US" altLang="zh-CN" sz="4000" dirty="0" smtClean="0">
                <a:solidFill>
                  <a:schemeClr val="bg1"/>
                </a:solidFill>
              </a:rPr>
              <a:t>3</a:t>
            </a:r>
            <a:r>
              <a:rPr lang="zh-CN" altLang="en-US" sz="4000" dirty="0" smtClean="0">
                <a:solidFill>
                  <a:schemeClr val="bg1"/>
                </a:solidFill>
              </a:rPr>
              <a:t>：</a:t>
            </a:r>
            <a:r>
              <a:rPr lang="en-US" altLang="zh-CN" sz="4000" dirty="0" smtClean="0">
                <a:solidFill>
                  <a:schemeClr val="bg1"/>
                </a:solidFill>
              </a:rPr>
              <a:t>IT</a:t>
            </a:r>
            <a:r>
              <a:rPr lang="zh-CN" altLang="en-US" sz="4000" dirty="0" smtClean="0">
                <a:solidFill>
                  <a:schemeClr val="bg1"/>
                </a:solidFill>
              </a:rPr>
              <a:t>和</a:t>
            </a:r>
            <a:r>
              <a:rPr lang="en-US" altLang="zh-CN" sz="4000" dirty="0" smtClean="0">
                <a:solidFill>
                  <a:schemeClr val="bg1"/>
                </a:solidFill>
              </a:rPr>
              <a:t>BD</a:t>
            </a:r>
            <a:r>
              <a:rPr lang="zh-CN" altLang="en-US" sz="4000" dirty="0" smtClean="0">
                <a:solidFill>
                  <a:schemeClr val="bg1"/>
                </a:solidFill>
              </a:rPr>
              <a:t>人员伦理责任与行为规范</a:t>
            </a:r>
            <a:endParaRPr lang="en-US" altLang="zh-CN" sz="4000" dirty="0">
              <a:solidFill>
                <a:schemeClr val="bg1"/>
              </a:solidFill>
            </a:endParaRPr>
          </a:p>
        </p:txBody>
      </p:sp>
      <p:sp>
        <p:nvSpPr>
          <p:cNvPr id="2" name="圆角矩形 1"/>
          <p:cNvSpPr/>
          <p:nvPr/>
        </p:nvSpPr>
        <p:spPr>
          <a:xfrm>
            <a:off x="642938" y="5033963"/>
            <a:ext cx="2289175" cy="75723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sz="3200" dirty="0">
                <a:solidFill>
                  <a:srgbClr val="002060"/>
                </a:solidFill>
                <a:latin typeface="黑体" panose="02010609060101010101" pitchFamily="49" charset="-122"/>
                <a:ea typeface="黑体" panose="02010609060101010101" pitchFamily="49" charset="-122"/>
              </a:rPr>
              <a:t>彬彬有礼</a:t>
            </a:r>
            <a:endParaRPr lang="zh-CN" altLang="en-US" sz="3200" dirty="0">
              <a:solidFill>
                <a:srgbClr val="002060"/>
              </a:solidFill>
              <a:latin typeface="黑体" panose="02010609060101010101" pitchFamily="49" charset="-122"/>
              <a:ea typeface="黑体" panose="02010609060101010101" pitchFamily="49" charset="-122"/>
            </a:endParaRPr>
          </a:p>
        </p:txBody>
      </p:sp>
      <p:sp>
        <p:nvSpPr>
          <p:cNvPr id="8" name="圆角矩形 7"/>
          <p:cNvSpPr/>
          <p:nvPr/>
        </p:nvSpPr>
        <p:spPr>
          <a:xfrm>
            <a:off x="642938" y="3509963"/>
            <a:ext cx="2289175" cy="63658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altLang="en-US" sz="3200" dirty="0">
                <a:solidFill>
                  <a:srgbClr val="002060"/>
                </a:solidFill>
                <a:latin typeface="黑体" panose="02010609060101010101" pitchFamily="49" charset="-122"/>
                <a:ea typeface="黑体" panose="02010609060101010101" pitchFamily="49" charset="-122"/>
              </a:rPr>
              <a:t>傲慢无礼</a:t>
            </a:r>
            <a:endParaRPr lang="zh-CN" altLang="en-US" sz="3200" dirty="0">
              <a:solidFill>
                <a:srgbClr val="00206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bwMode="auto">
          <a:xfrm>
            <a:off x="633319" y="433910"/>
            <a:ext cx="10925361" cy="936104"/>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latin typeface="Times New Roman" panose="02020603050405020304" pitchFamily="18" charset="0"/>
                <a:cs typeface="Times New Roman" panose="02020603050405020304" pitchFamily="18" charset="0"/>
              </a:rPr>
              <a:t>案例</a:t>
            </a:r>
            <a:r>
              <a:rPr lang="en-US" altLang="zh-CN" sz="3600" dirty="0" smtClean="0">
                <a:solidFill>
                  <a:schemeClr val="bg1"/>
                </a:solidFill>
                <a:latin typeface="Times New Roman" panose="02020603050405020304" pitchFamily="18" charset="0"/>
                <a:cs typeface="Times New Roman" panose="02020603050405020304" pitchFamily="18" charset="0"/>
              </a:rPr>
              <a:t>2</a:t>
            </a:r>
            <a:r>
              <a:rPr lang="zh-CN" altLang="en-US" sz="3600" dirty="0" smtClean="0">
                <a:solidFill>
                  <a:schemeClr val="bg1"/>
                </a:solidFill>
                <a:latin typeface="Times New Roman" panose="02020603050405020304" pitchFamily="18" charset="0"/>
                <a:cs typeface="Times New Roman" panose="02020603050405020304" pitchFamily="18" charset="0"/>
              </a:rPr>
              <a:t>：</a:t>
            </a:r>
            <a:r>
              <a:rPr lang="en-US" altLang="zh-CN" sz="3600" dirty="0">
                <a:solidFill>
                  <a:schemeClr val="bg1"/>
                </a:solidFill>
                <a:latin typeface="Times New Roman" panose="02020603050405020304" pitchFamily="18" charset="0"/>
                <a:cs typeface="Times New Roman" panose="02020603050405020304" pitchFamily="18" charset="0"/>
              </a:rPr>
              <a:t>《</a:t>
            </a:r>
            <a:r>
              <a:rPr lang="zh-CN" altLang="en-US" sz="3600" dirty="0">
                <a:solidFill>
                  <a:schemeClr val="bg1"/>
                </a:solidFill>
                <a:latin typeface="Times New Roman" panose="02020603050405020304" pitchFamily="18" charset="0"/>
                <a:cs typeface="Times New Roman" panose="02020603050405020304" pitchFamily="18" charset="0"/>
              </a:rPr>
              <a:t>财富</a:t>
            </a:r>
            <a:r>
              <a:rPr lang="en-US" altLang="zh-CN" sz="3600" dirty="0">
                <a:solidFill>
                  <a:schemeClr val="bg1"/>
                </a:solidFill>
                <a:latin typeface="Times New Roman" panose="02020603050405020304" pitchFamily="18" charset="0"/>
                <a:cs typeface="Times New Roman" panose="02020603050405020304" pitchFamily="18" charset="0"/>
              </a:rPr>
              <a:t>》500</a:t>
            </a:r>
            <a:r>
              <a:rPr lang="zh-CN" altLang="en-US" sz="3600" dirty="0" smtClean="0">
                <a:solidFill>
                  <a:schemeClr val="bg1"/>
                </a:solidFill>
                <a:latin typeface="Times New Roman" panose="02020603050405020304" pitchFamily="18" charset="0"/>
                <a:cs typeface="Times New Roman" panose="02020603050405020304" pitchFamily="18" charset="0"/>
              </a:rPr>
              <a:t>强之</a:t>
            </a:r>
            <a:r>
              <a:rPr lang="en-US" altLang="zh-CN" sz="3600" dirty="0">
                <a:solidFill>
                  <a:schemeClr val="bg1"/>
                </a:solidFill>
                <a:latin typeface="Times New Roman" panose="02020603050405020304" pitchFamily="18" charset="0"/>
                <a:cs typeface="Times New Roman" panose="02020603050405020304" pitchFamily="18" charset="0"/>
              </a:rPr>
              <a:t>Top </a:t>
            </a:r>
            <a:r>
              <a:rPr lang="en-US" altLang="zh-CN" sz="3600" dirty="0" smtClean="0">
                <a:solidFill>
                  <a:schemeClr val="bg1"/>
                </a:solidFill>
                <a:latin typeface="Times New Roman" panose="02020603050405020304" pitchFamily="18" charset="0"/>
                <a:cs typeface="Times New Roman" panose="02020603050405020304" pitchFamily="18" charset="0"/>
              </a:rPr>
              <a:t>50</a:t>
            </a:r>
            <a:r>
              <a:rPr lang="zh-CN" altLang="en-US" sz="3600" dirty="0" smtClean="0">
                <a:solidFill>
                  <a:schemeClr val="bg1"/>
                </a:solidFill>
                <a:latin typeface="Times New Roman" panose="02020603050405020304" pitchFamily="18" charset="0"/>
                <a:cs typeface="Times New Roman" panose="02020603050405020304" pitchFamily="18" charset="0"/>
              </a:rPr>
              <a:t>网站公开文件分析</a:t>
            </a:r>
            <a:endParaRPr lang="en-US" altLang="zh-CN" sz="3600" dirty="0">
              <a:solidFill>
                <a:schemeClr val="bg1"/>
              </a:solidFill>
              <a:latin typeface="Times New Roman" panose="02020603050405020304" pitchFamily="18" charset="0"/>
              <a:cs typeface="Times New Roman" panose="02020603050405020304" pitchFamily="18" charset="0"/>
            </a:endParaRPr>
          </a:p>
        </p:txBody>
      </p:sp>
      <p:sp>
        <p:nvSpPr>
          <p:cNvPr id="7" name="矩形 6"/>
          <p:cNvSpPr/>
          <p:nvPr/>
        </p:nvSpPr>
        <p:spPr>
          <a:xfrm>
            <a:off x="936625" y="1622425"/>
            <a:ext cx="10077450" cy="3409950"/>
          </a:xfrm>
          <a:prstGeom prst="rect">
            <a:avLst/>
          </a:prstGeom>
          <a:ln>
            <a:solidFill>
              <a:schemeClr val="accent1">
                <a:shade val="50000"/>
              </a:schemeClr>
            </a:solidFill>
          </a:ln>
        </p:spPr>
        <p:txBody>
          <a:bodyPr>
            <a:spAutoFit/>
          </a:bodyPr>
          <a:lstStyle/>
          <a:p>
            <a:pPr fontAlgn="auto">
              <a:lnSpc>
                <a:spcPct val="110000"/>
              </a:lnSpc>
              <a:spcBef>
                <a:spcPts val="0"/>
              </a:spcBef>
              <a:spcAft>
                <a:spcPts val="0"/>
              </a:spcAft>
              <a:defRPr/>
            </a:pP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聚焦问题</a:t>
            </a:r>
            <a:endParaRPr lang="en-US" altLang="zh-CN" sz="2800" dirty="0">
              <a:latin typeface="Times New Roman" panose="02020603050405020304" pitchFamily="18" charset="0"/>
              <a:ea typeface="黑体" panose="02010609060101010101" pitchFamily="49" charset="-122"/>
              <a:cs typeface="Times New Roman" panose="02020603050405020304" pitchFamily="18" charset="0"/>
            </a:endParaRPr>
          </a:p>
          <a:p>
            <a:pPr marL="342900" indent="-342900" fontAlgn="auto">
              <a:lnSpc>
                <a:spcPct val="110000"/>
              </a:lnSpc>
              <a:spcBef>
                <a:spcPts val="0"/>
              </a:spcBef>
              <a:spcAft>
                <a:spcPts val="0"/>
              </a:spcAft>
              <a:buFont typeface="Arial" panose="020B0604020202020204" pitchFamily="34" charset="0"/>
              <a:buChar char="•"/>
              <a:defRPr/>
            </a:pP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个人数据未经个人同意，企业可出售吗？</a:t>
            </a:r>
            <a:endParaRPr lang="en-US" altLang="zh-CN" sz="2800" dirty="0">
              <a:latin typeface="Times New Roman" panose="02020603050405020304" pitchFamily="18" charset="0"/>
              <a:ea typeface="黑体" panose="02010609060101010101" pitchFamily="49" charset="-122"/>
              <a:cs typeface="Times New Roman" panose="02020603050405020304" pitchFamily="18" charset="0"/>
            </a:endParaRPr>
          </a:p>
          <a:p>
            <a:pPr marL="342900" indent="-342900" fontAlgn="auto">
              <a:lnSpc>
                <a:spcPct val="110000"/>
              </a:lnSpc>
              <a:spcBef>
                <a:spcPts val="0"/>
              </a:spcBef>
              <a:spcAft>
                <a:spcPts val="0"/>
              </a:spcAft>
              <a:buFont typeface="Arial" panose="020B0604020202020204" pitchFamily="34" charset="0"/>
              <a:buChar char="•"/>
              <a:defRPr/>
            </a:pP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企业是否有个性化推荐（</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target advertising</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）服务？</a:t>
            </a:r>
            <a:endParaRPr lang="en-US" altLang="zh-CN" sz="2800" dirty="0">
              <a:latin typeface="Times New Roman" panose="02020603050405020304" pitchFamily="18" charset="0"/>
              <a:ea typeface="黑体" panose="02010609060101010101" pitchFamily="49" charset="-122"/>
              <a:cs typeface="Times New Roman" panose="02020603050405020304" pitchFamily="18" charset="0"/>
            </a:endParaRPr>
          </a:p>
          <a:p>
            <a:pPr marL="342900" indent="-342900" fontAlgn="auto">
              <a:lnSpc>
                <a:spcPct val="110000"/>
              </a:lnSpc>
              <a:spcBef>
                <a:spcPts val="0"/>
              </a:spcBef>
              <a:spcAft>
                <a:spcPts val="0"/>
              </a:spcAft>
              <a:buFont typeface="Arial" panose="020B0604020202020204" pitchFamily="34" charset="0"/>
              <a:buChar char="•"/>
              <a:defRPr/>
            </a:pP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客户对个人数据的使用有多少控制权？</a:t>
            </a:r>
            <a:endParaRPr lang="en-US" altLang="zh-CN" sz="2800" dirty="0">
              <a:latin typeface="Times New Roman" panose="02020603050405020304" pitchFamily="18" charset="0"/>
              <a:ea typeface="黑体" panose="02010609060101010101" pitchFamily="49" charset="-122"/>
              <a:cs typeface="Times New Roman" panose="02020603050405020304" pitchFamily="18" charset="0"/>
            </a:endParaRPr>
          </a:p>
          <a:p>
            <a:pPr marL="342900" indent="-342900" fontAlgn="auto">
              <a:lnSpc>
                <a:spcPct val="110000"/>
              </a:lnSpc>
              <a:spcBef>
                <a:spcPts val="0"/>
              </a:spcBef>
              <a:spcAft>
                <a:spcPts val="0"/>
              </a:spcAft>
              <a:buFont typeface="Arial" panose="020B0604020202020204" pitchFamily="34" charset="0"/>
              <a:buChar char="•"/>
              <a:defRPr/>
            </a:pP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可以向其他机构购买数据吗？</a:t>
            </a:r>
            <a:endParaRPr lang="en-US" altLang="zh-CN" sz="2800" dirty="0">
              <a:latin typeface="Times New Roman" panose="02020603050405020304" pitchFamily="18" charset="0"/>
              <a:ea typeface="黑体" panose="02010609060101010101" pitchFamily="49" charset="-122"/>
              <a:cs typeface="Times New Roman" panose="02020603050405020304" pitchFamily="18" charset="0"/>
            </a:endParaRPr>
          </a:p>
          <a:p>
            <a:pPr marL="342900" indent="-342900" fontAlgn="auto">
              <a:lnSpc>
                <a:spcPct val="110000"/>
              </a:lnSpc>
              <a:spcBef>
                <a:spcPts val="0"/>
              </a:spcBef>
              <a:spcAft>
                <a:spcPts val="0"/>
              </a:spcAft>
              <a:buFont typeface="Arial" panose="020B0604020202020204" pitchFamily="34" charset="0"/>
              <a:buChar char="•"/>
              <a:defRPr/>
            </a:pP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拥有的数据是否有分享、聚合等应用？</a:t>
            </a:r>
            <a:endParaRPr lang="en-US" altLang="zh-CN" sz="2800" dirty="0">
              <a:latin typeface="Times New Roman" panose="02020603050405020304" pitchFamily="18" charset="0"/>
              <a:ea typeface="黑体" panose="02010609060101010101" pitchFamily="49" charset="-122"/>
              <a:cs typeface="Times New Roman" panose="02020603050405020304" pitchFamily="18" charset="0"/>
            </a:endParaRPr>
          </a:p>
          <a:p>
            <a:pPr marL="342900" indent="-342900" fontAlgn="auto">
              <a:lnSpc>
                <a:spcPct val="110000"/>
              </a:lnSpc>
              <a:spcBef>
                <a:spcPts val="0"/>
              </a:spcBef>
              <a:spcAft>
                <a:spcPts val="0"/>
              </a:spcAft>
              <a:buFont typeface="Arial" panose="020B0604020202020204" pitchFamily="34" charset="0"/>
              <a:buChar char="•"/>
              <a:defRPr/>
            </a:pP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企业制定相关政策背后的考虑</a:t>
            </a:r>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3494" name="灯片编号占位符 8"/>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C6092860-FA19-421A-A535-E628342457EE}" type="slidenum">
              <a:rPr lang="zh-CN" altLang="en-US">
                <a:solidFill>
                  <a:srgbClr val="898989"/>
                </a:solidFill>
              </a:rPr>
            </a:fld>
            <a:endParaRPr lang="en-US" altLang="zh-CN">
              <a:solidFill>
                <a:srgbClr val="898989"/>
              </a:solidFill>
            </a:endParaRPr>
          </a:p>
        </p:txBody>
      </p:sp>
      <p:sp>
        <p:nvSpPr>
          <p:cNvPr id="10" name="文本框 9"/>
          <p:cNvSpPr txBox="1"/>
          <p:nvPr/>
        </p:nvSpPr>
        <p:spPr>
          <a:xfrm>
            <a:off x="4392613" y="5365750"/>
            <a:ext cx="6823075" cy="708025"/>
          </a:xfrm>
          <a:prstGeom prst="rect">
            <a:avLst/>
          </a:prstGeom>
          <a:noFill/>
          <a:ln>
            <a:solidFill>
              <a:schemeClr val="accent1">
                <a:shade val="50000"/>
              </a:schemeClr>
            </a:solidFill>
          </a:ln>
        </p:spPr>
        <p:txBody>
          <a:bodyPr>
            <a:spAutoFit/>
          </a:bodyPr>
          <a:lstStyle/>
          <a:p>
            <a:pPr eaLnBrk="0" hangingPunct="0">
              <a:spcBef>
                <a:spcPct val="20000"/>
              </a:spcBef>
              <a:defRPr/>
            </a:pPr>
            <a:r>
              <a:rPr kumimoji="1" lang="zh-CN" altLang="en-US" sz="2000" dirty="0">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来自</a:t>
            </a:r>
            <a:r>
              <a:rPr kumimoji="1" lang="en-US" altLang="zh-CN" sz="2000" dirty="0">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K. Davis</a:t>
            </a:r>
            <a:r>
              <a:rPr kumimoji="1" lang="zh-CN" altLang="en-US" sz="2000" dirty="0">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与</a:t>
            </a:r>
            <a:r>
              <a:rPr kumimoji="1" lang="en-US" altLang="zh-CN" sz="2000" dirty="0" err="1">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D.Patterson</a:t>
            </a:r>
            <a:r>
              <a:rPr kumimoji="1" lang="zh-CN" altLang="en-US" sz="2000" dirty="0">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合著，</a:t>
            </a:r>
            <a:r>
              <a:rPr kumimoji="1" lang="en-US" altLang="zh-CN" sz="2000" dirty="0">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Ethics of Big Data, p29-41, </a:t>
            </a:r>
            <a:r>
              <a:rPr kumimoji="1" lang="en-US" altLang="zh-CN" sz="2000" dirty="0" err="1">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O’Reill</a:t>
            </a:r>
            <a:r>
              <a:rPr kumimoji="1" lang="en-US" altLang="zh-CN" sz="2000" dirty="0">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 2012.</a:t>
            </a:r>
            <a:endParaRPr kumimoji="1" lang="zh-CN" altLang="en-US" sz="2000" dirty="0">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内容占位符 2"/>
          <p:cNvSpPr>
            <a:spLocks noGrp="1"/>
          </p:cNvSpPr>
          <p:nvPr>
            <p:ph idx="1"/>
          </p:nvPr>
        </p:nvSpPr>
        <p:spPr>
          <a:xfrm>
            <a:off x="633413" y="1412875"/>
            <a:ext cx="10925175" cy="3729038"/>
          </a:xfrm>
          <a:ln>
            <a:solidFill>
              <a:schemeClr val="accent1"/>
            </a:solidFill>
          </a:ln>
        </p:spPr>
        <p:txBody>
          <a:bodyPr/>
          <a:lstStyle/>
          <a:p>
            <a:pPr eaLnBrk="1" hangingPunct="1">
              <a:lnSpc>
                <a:spcPct val="120000"/>
              </a:lnSpc>
            </a:pPr>
            <a:r>
              <a:rPr lang="zh-CN" altLang="en-US" sz="1800" smtClean="0">
                <a:ea typeface="黑体" panose="02010609060101010101" pitchFamily="49" charset="-122"/>
              </a:rPr>
              <a:t>在</a:t>
            </a:r>
            <a:r>
              <a:rPr lang="en-US" altLang="zh-CN" sz="1800" smtClean="0">
                <a:ea typeface="黑体" panose="02010609060101010101" pitchFamily="49" charset="-122"/>
              </a:rPr>
              <a:t>Facebook</a:t>
            </a:r>
            <a:r>
              <a:rPr lang="zh-CN" altLang="en-US" sz="1800" smtClean="0">
                <a:ea typeface="黑体" panose="02010609060101010101" pitchFamily="49" charset="-122"/>
              </a:rPr>
              <a:t>关于情绪感染（</a:t>
            </a:r>
            <a:r>
              <a:rPr lang="en-US" altLang="zh-CN" sz="1800" smtClean="0">
                <a:ea typeface="黑体" panose="02010609060101010101" pitchFamily="49" charset="-122"/>
              </a:rPr>
              <a:t>emotional contagion</a:t>
            </a:r>
            <a:r>
              <a:rPr lang="zh-CN" altLang="en-US" sz="1800" smtClean="0">
                <a:ea typeface="黑体" panose="02010609060101010101" pitchFamily="49" charset="-122"/>
              </a:rPr>
              <a:t>）的一项实验研究中，其首席数据科学家</a:t>
            </a:r>
            <a:r>
              <a:rPr lang="en-US" altLang="zh-CN" sz="1800" smtClean="0">
                <a:ea typeface="黑体" panose="02010609060101010101" pitchFamily="49" charset="-122"/>
              </a:rPr>
              <a:t>A.Kramer</a:t>
            </a:r>
            <a:r>
              <a:rPr lang="zh-CN" altLang="en-US" sz="1800" smtClean="0">
                <a:ea typeface="黑体" panose="02010609060101010101" pitchFamily="49" charset="-122"/>
              </a:rPr>
              <a:t>和康奈尔大学教授通过</a:t>
            </a:r>
            <a:r>
              <a:rPr lang="zh-CN" altLang="en-US" sz="1800" smtClean="0">
                <a:solidFill>
                  <a:srgbClr val="FF0000"/>
                </a:solidFill>
                <a:ea typeface="黑体" panose="02010609060101010101" pitchFamily="49" charset="-122"/>
              </a:rPr>
              <a:t>修改</a:t>
            </a:r>
            <a:r>
              <a:rPr lang="en-US" altLang="zh-CN" sz="1800" smtClean="0">
                <a:ea typeface="黑体" panose="02010609060101010101" pitchFamily="49" charset="-122"/>
              </a:rPr>
              <a:t>689003</a:t>
            </a:r>
            <a:r>
              <a:rPr lang="zh-CN" altLang="en-US" sz="1800" smtClean="0">
                <a:ea typeface="黑体" panose="02010609060101010101" pitchFamily="49" charset="-122"/>
              </a:rPr>
              <a:t>名</a:t>
            </a:r>
            <a:r>
              <a:rPr lang="en-US" altLang="zh-CN" sz="1800" smtClean="0">
                <a:ea typeface="黑体" panose="02010609060101010101" pitchFamily="49" charset="-122"/>
              </a:rPr>
              <a:t>Facebook</a:t>
            </a:r>
            <a:r>
              <a:rPr lang="zh-CN" altLang="en-US" sz="1800" smtClean="0">
                <a:ea typeface="黑体" panose="02010609060101010101" pitchFamily="49" charset="-122"/>
              </a:rPr>
              <a:t>用户可接触到的好友新鲜事情绪帖，研究情绪在社交媒体上的传播与扩散，结果发表在</a:t>
            </a:r>
            <a:r>
              <a:rPr lang="en-US" altLang="zh-CN" sz="1800" smtClean="0">
                <a:ea typeface="黑体" panose="02010609060101010101" pitchFamily="49" charset="-122"/>
              </a:rPr>
              <a:t>PNAS(2014.6)</a:t>
            </a:r>
            <a:r>
              <a:rPr lang="zh-CN" altLang="en-US" sz="1800" smtClean="0">
                <a:ea typeface="黑体" panose="02010609060101010101" pitchFamily="49" charset="-122"/>
              </a:rPr>
              <a:t>上</a:t>
            </a:r>
            <a:endParaRPr lang="en-US" altLang="zh-CN" sz="1800" smtClean="0">
              <a:ea typeface="黑体" panose="02010609060101010101" pitchFamily="49" charset="-122"/>
            </a:endParaRPr>
          </a:p>
          <a:p>
            <a:pPr eaLnBrk="1" hangingPunct="1">
              <a:lnSpc>
                <a:spcPct val="120000"/>
              </a:lnSpc>
            </a:pPr>
            <a:r>
              <a:rPr lang="zh-CN" altLang="en-US" sz="1800" smtClean="0">
                <a:ea typeface="黑体" panose="02010609060101010101" pitchFamily="49" charset="-122"/>
              </a:rPr>
              <a:t>为期一周的实验中（</a:t>
            </a:r>
            <a:r>
              <a:rPr lang="en-US" altLang="zh-CN" sz="1800" smtClean="0">
                <a:ea typeface="黑体" panose="02010609060101010101" pitchFamily="49" charset="-122"/>
              </a:rPr>
              <a:t>2012.1.11-2012.1.18</a:t>
            </a:r>
            <a:r>
              <a:rPr lang="zh-CN" altLang="en-US" sz="1800" smtClean="0">
                <a:ea typeface="黑体" panose="02010609060101010101" pitchFamily="49" charset="-122"/>
              </a:rPr>
              <a:t>），研究人员通过用户</a:t>
            </a:r>
            <a:r>
              <a:rPr lang="en-US" altLang="zh-CN" sz="1800" smtClean="0">
                <a:ea typeface="黑体" panose="02010609060101010101" pitchFamily="49" charset="-122"/>
              </a:rPr>
              <a:t>ID</a:t>
            </a:r>
            <a:r>
              <a:rPr lang="zh-CN" altLang="en-US" sz="1800" smtClean="0">
                <a:ea typeface="黑体" panose="02010609060101010101" pitchFamily="49" charset="-122"/>
              </a:rPr>
              <a:t>随机选取</a:t>
            </a:r>
            <a:r>
              <a:rPr lang="en-US" altLang="zh-CN" sz="1800" smtClean="0">
                <a:ea typeface="黑体" panose="02010609060101010101" pitchFamily="49" charset="-122"/>
              </a:rPr>
              <a:t>689003</a:t>
            </a:r>
            <a:r>
              <a:rPr lang="zh-CN" altLang="en-US" sz="1800" smtClean="0">
                <a:ea typeface="黑体" panose="02010609060101010101" pitchFamily="49" charset="-122"/>
              </a:rPr>
              <a:t>名</a:t>
            </a:r>
            <a:r>
              <a:rPr lang="en-US" altLang="zh-CN" sz="1800" smtClean="0">
                <a:ea typeface="黑体" panose="02010609060101010101" pitchFamily="49" charset="-122"/>
              </a:rPr>
              <a:t>Facebook</a:t>
            </a:r>
            <a:r>
              <a:rPr lang="zh-CN" altLang="en-US" sz="1800" smtClean="0">
                <a:ea typeface="黑体" panose="02010609060101010101" pitchFamily="49" charset="-122"/>
              </a:rPr>
              <a:t>英语用户，分两组：一组减少刷新好友新鲜事时显示的正面情绪帖占比，另一组则减少刷新时显示的负面情绪贴占比。发现：当好友正能量新鲜事被有意减少后，用户在发帖时会使用更多比例负面词汇和更少比例正面词汇。反之亦真。这项发现与此前认为“阅读朋友</a:t>
            </a:r>
            <a:r>
              <a:rPr lang="en-US" altLang="zh-CN" sz="1800" smtClean="0">
                <a:ea typeface="黑体" panose="02010609060101010101" pitchFamily="49" charset="-122"/>
              </a:rPr>
              <a:t>Facebook</a:t>
            </a:r>
            <a:r>
              <a:rPr lang="zh-CN" altLang="en-US" sz="1800" smtClean="0">
                <a:ea typeface="黑体" panose="02010609060101010101" pitchFamily="49" charset="-122"/>
              </a:rPr>
              <a:t>上正面情绪状态会带来负面影响”的观点相左，基于此发现，研究人员认为负面影响的产生原因是接触正面情绪不足所导致的。</a:t>
            </a:r>
            <a:endParaRPr lang="zh-CN" altLang="en-US" sz="1800" smtClean="0">
              <a:ea typeface="黑体" panose="02010609060101010101" pitchFamily="49" charset="-122"/>
            </a:endParaRPr>
          </a:p>
          <a:p>
            <a:pPr eaLnBrk="1" hangingPunct="1">
              <a:lnSpc>
                <a:spcPct val="120000"/>
              </a:lnSpc>
            </a:pPr>
            <a:r>
              <a:rPr lang="zh-CN" altLang="en-US" sz="1800" smtClean="0">
                <a:ea typeface="黑体" panose="02010609060101010101" pitchFamily="49" charset="-122"/>
              </a:rPr>
              <a:t>论文认为：情绪可以通过情绪传染（</a:t>
            </a:r>
            <a:r>
              <a:rPr lang="en-US" altLang="zh-CN" sz="1800" smtClean="0">
                <a:ea typeface="黑体" panose="02010609060101010101" pitchFamily="49" charset="-122"/>
              </a:rPr>
              <a:t>emotional contagion</a:t>
            </a:r>
            <a:r>
              <a:rPr lang="zh-CN" altLang="en-US" sz="1800" smtClean="0">
                <a:ea typeface="黑体" panose="02010609060101010101" pitchFamily="49" charset="-122"/>
              </a:rPr>
              <a:t>）的形式传递给他人，使他人在无意识中感受到同样的情绪；面对面的交流和非言语上的暗示并非情绪传染的必要条件，即情绪传染可以通过大规模社交媒体进行</a:t>
            </a:r>
            <a:endParaRPr lang="zh-CN" altLang="en-US" sz="1800" smtClean="0">
              <a:ea typeface="黑体" panose="02010609060101010101" pitchFamily="49" charset="-122"/>
            </a:endParaRPr>
          </a:p>
        </p:txBody>
      </p:sp>
      <p:sp>
        <p:nvSpPr>
          <p:cNvPr id="4" name="日期占位符 3"/>
          <p:cNvSpPr>
            <a:spLocks noGrp="1"/>
          </p:cNvSpPr>
          <p:nvPr>
            <p:ph type="dt" sz="quarter" idx="10"/>
          </p:nvPr>
        </p:nvSpPr>
        <p:spPr/>
        <p:txBody>
          <a:bodyPr/>
          <a:lstStyle/>
          <a:p>
            <a:pPr>
              <a:defRPr/>
            </a:pPr>
            <a:endParaRPr lang="zh-CN" altLang="en-US" dirty="0"/>
          </a:p>
        </p:txBody>
      </p:sp>
      <p:sp>
        <p:nvSpPr>
          <p:cNvPr id="6" name="灯片编号占位符 5"/>
          <p:cNvSpPr>
            <a:spLocks noGrp="1"/>
          </p:cNvSpPr>
          <p:nvPr>
            <p:ph type="sldNum" sz="quarter" idx="12"/>
          </p:nvPr>
        </p:nvSpPr>
        <p:spPr/>
        <p:txBody>
          <a:bodyPr/>
          <a:lstStyle/>
          <a:p>
            <a:pPr>
              <a:defRPr/>
            </a:pPr>
            <a:fld id="{7C852917-5BD2-406E-BD5A-ABAC3195F149}" type="slidenum">
              <a:rPr lang="zh-CN" altLang="en-US"/>
            </a:fld>
            <a:endParaRPr lang="zh-CN" altLang="en-US"/>
          </a:p>
        </p:txBody>
      </p:sp>
      <p:sp>
        <p:nvSpPr>
          <p:cNvPr id="7" name="标题 1"/>
          <p:cNvSpPr txBox="1"/>
          <p:nvPr/>
        </p:nvSpPr>
        <p:spPr bwMode="auto">
          <a:xfrm>
            <a:off x="633319" y="433910"/>
            <a:ext cx="10925361" cy="936104"/>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latin typeface="Times New Roman" panose="02020603050405020304" pitchFamily="18" charset="0"/>
                <a:cs typeface="Times New Roman" panose="02020603050405020304" pitchFamily="18" charset="0"/>
              </a:rPr>
              <a:t>案例</a:t>
            </a:r>
            <a:r>
              <a:rPr lang="en-US" altLang="zh-CN" sz="3600" dirty="0" smtClean="0">
                <a:solidFill>
                  <a:schemeClr val="bg1"/>
                </a:solidFill>
                <a:latin typeface="Times New Roman" panose="02020603050405020304" pitchFamily="18" charset="0"/>
                <a:cs typeface="Times New Roman" panose="02020603050405020304" pitchFamily="18" charset="0"/>
              </a:rPr>
              <a:t>3</a:t>
            </a:r>
            <a:r>
              <a:rPr lang="zh-CN" altLang="en-US" sz="3600" dirty="0" smtClean="0">
                <a:solidFill>
                  <a:schemeClr val="bg1"/>
                </a:solidFill>
                <a:latin typeface="Times New Roman" panose="02020603050405020304" pitchFamily="18" charset="0"/>
                <a:cs typeface="Times New Roman" panose="02020603050405020304" pitchFamily="18" charset="0"/>
              </a:rPr>
              <a:t>：</a:t>
            </a:r>
            <a:r>
              <a:rPr lang="zh-CN" altLang="en-US" sz="3600" dirty="0">
                <a:solidFill>
                  <a:schemeClr val="bg1"/>
                </a:solidFill>
                <a:latin typeface="Times New Roman" panose="02020603050405020304" pitchFamily="18" charset="0"/>
                <a:cs typeface="Times New Roman" panose="02020603050405020304" pitchFamily="18" charset="0"/>
              </a:rPr>
              <a:t>使用公开的</a:t>
            </a:r>
            <a:r>
              <a:rPr lang="zh-CN" altLang="en-US" sz="3600" dirty="0" smtClean="0">
                <a:solidFill>
                  <a:schemeClr val="bg1"/>
                </a:solidFill>
                <a:latin typeface="Times New Roman" panose="02020603050405020304" pitchFamily="18" charset="0"/>
                <a:cs typeface="Times New Roman" panose="02020603050405020304" pitchFamily="18" charset="0"/>
              </a:rPr>
              <a:t>社交媒体大数据进行研究</a:t>
            </a:r>
            <a:r>
              <a:rPr lang="zh-CN" altLang="en-US" sz="3600" dirty="0">
                <a:solidFill>
                  <a:schemeClr val="bg1"/>
                </a:solidFill>
                <a:latin typeface="Times New Roman" panose="02020603050405020304" pitchFamily="18" charset="0"/>
                <a:cs typeface="Times New Roman" panose="02020603050405020304" pitchFamily="18" charset="0"/>
              </a:rPr>
              <a:t>的伦理</a:t>
            </a:r>
            <a:endParaRPr lang="en-US" altLang="zh-CN" sz="3600" dirty="0">
              <a:solidFill>
                <a:schemeClr val="bg1"/>
              </a:solidFill>
              <a:latin typeface="Times New Roman" panose="02020603050405020304" pitchFamily="18" charset="0"/>
              <a:cs typeface="Times New Roman" panose="02020603050405020304" pitchFamily="18" charset="0"/>
            </a:endParaRPr>
          </a:p>
        </p:txBody>
      </p:sp>
      <p:sp>
        <p:nvSpPr>
          <p:cNvPr id="9" name="矩形 8"/>
          <p:cNvSpPr/>
          <p:nvPr/>
        </p:nvSpPr>
        <p:spPr>
          <a:xfrm>
            <a:off x="3360145" y="5141925"/>
            <a:ext cx="8198535" cy="1200329"/>
          </a:xfrm>
          <a:prstGeom prst="rect">
            <a:avLst/>
          </a:prstGeom>
          <a:blipFill>
            <a:blip r:embed="rId1" cstate="print">
              <a:alphaModFix amt="25000"/>
            </a:blip>
            <a:tile tx="0" ty="0" sx="50000" sy="50000" flip="x" algn="tl"/>
          </a:blipFill>
        </p:spPr>
        <p:txBody>
          <a:bodyPr>
            <a:spAutoFit/>
          </a:bodyPr>
          <a:lstStyle/>
          <a:p>
            <a:pPr marL="0" lvl="1" fontAlgn="auto">
              <a:lnSpc>
                <a:spcPct val="120000"/>
              </a:lnSpc>
              <a:spcBef>
                <a:spcPts val="1200"/>
              </a:spcBef>
              <a:spcAft>
                <a:spcPts val="0"/>
              </a:spcAft>
              <a:defRPr/>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但是，出现很多批评，如：被动接受负面信息的用户很有可能受到了负面情绪的不良影响，在其不知情的情况下体会到了情绪感染导致的焦虑（</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anxiety</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有违研究伦理</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solidFill>
              <a:schemeClr val="accent1"/>
            </a:solidFill>
          </a:ln>
        </p:spPr>
        <p:txBody>
          <a:bodyPr rtlCol="0">
            <a:normAutofit fontScale="77500" lnSpcReduction="20000"/>
          </a:bodyPr>
          <a:lstStyle/>
          <a:p>
            <a:pPr eaLnBrk="1" fontAlgn="auto" hangingPunct="1">
              <a:spcAft>
                <a:spcPts val="0"/>
              </a:spcAft>
              <a:buFont typeface="Arial" panose="020B0604020202020204" pitchFamily="34" charset="0"/>
              <a:buChar char="•"/>
              <a:defRPr/>
            </a:pPr>
            <a:r>
              <a:rPr lang="zh-CN" altLang="en-US" b="1" dirty="0" smtClean="0"/>
              <a:t>大</a:t>
            </a:r>
            <a:r>
              <a:rPr lang="zh-CN" altLang="zh-CN" b="1" dirty="0" smtClean="0"/>
              <a:t>数据</a:t>
            </a:r>
            <a:r>
              <a:rPr lang="zh-CN" altLang="zh-CN" b="1" dirty="0"/>
              <a:t>伦理责任</a:t>
            </a:r>
            <a:r>
              <a:rPr lang="zh-CN" altLang="zh-CN" b="1" dirty="0" smtClean="0"/>
              <a:t>特点</a:t>
            </a:r>
            <a:endParaRPr lang="en-US" altLang="zh-CN" b="1" dirty="0" smtClean="0"/>
          </a:p>
          <a:p>
            <a:pPr lvl="1" eaLnBrk="1" fontAlgn="auto" hangingPunct="1">
              <a:lnSpc>
                <a:spcPct val="120000"/>
              </a:lnSpc>
              <a:spcBef>
                <a:spcPts val="1200"/>
              </a:spcBef>
              <a:spcAft>
                <a:spcPts val="0"/>
              </a:spcAft>
              <a:buFont typeface="Arial" panose="020B0604020202020204" pitchFamily="34" charset="0"/>
              <a:buChar char="–"/>
              <a:defRPr/>
            </a:pPr>
            <a:r>
              <a:rPr lang="zh-CN" altLang="zh-CN" dirty="0"/>
              <a:t>数据伦理责任是具有普遍意义的伦理责任在大数据时代的具体化，因此，它具有</a:t>
            </a:r>
            <a:r>
              <a:rPr lang="zh-CN" altLang="zh-CN" dirty="0">
                <a:solidFill>
                  <a:srgbClr val="FF0000"/>
                </a:solidFill>
              </a:rPr>
              <a:t>伦理责任的一般特征</a:t>
            </a:r>
            <a:r>
              <a:rPr lang="zh-CN" altLang="zh-CN" dirty="0"/>
              <a:t>；同时，由于数据管理和网络社会自身的自由性、开放性和虚拟性等特点，数据伦理责任又有自己的特殊性，表现为：</a:t>
            </a:r>
            <a:r>
              <a:rPr lang="zh-CN" altLang="zh-CN" dirty="0">
                <a:solidFill>
                  <a:srgbClr val="FF0000"/>
                </a:solidFill>
              </a:rPr>
              <a:t>自律性、广泛性和</a:t>
            </a:r>
            <a:r>
              <a:rPr lang="zh-CN" altLang="zh-CN" dirty="0" smtClean="0">
                <a:solidFill>
                  <a:srgbClr val="FF0000"/>
                </a:solidFill>
              </a:rPr>
              <a:t>实践性</a:t>
            </a:r>
            <a:endParaRPr lang="zh-CN" altLang="zh-CN" b="1" dirty="0"/>
          </a:p>
          <a:p>
            <a:pPr marL="342900" lvl="1" indent="-342900" eaLnBrk="1" fontAlgn="auto" hangingPunct="1">
              <a:spcAft>
                <a:spcPts val="0"/>
              </a:spcAft>
              <a:buFont typeface="Arial" panose="020B0604020202020204" pitchFamily="34" charset="0"/>
              <a:buChar char="•"/>
              <a:defRPr/>
            </a:pPr>
            <a:r>
              <a:rPr lang="zh-CN" altLang="zh-CN" sz="3200" b="1" dirty="0"/>
              <a:t>大数据创新科技人员伦理责任意识</a:t>
            </a:r>
            <a:endParaRPr lang="en-US" altLang="zh-CN" sz="3200" b="1" dirty="0"/>
          </a:p>
          <a:p>
            <a:pPr lvl="1" eaLnBrk="1" fontAlgn="auto" hangingPunct="1">
              <a:lnSpc>
                <a:spcPct val="120000"/>
              </a:lnSpc>
              <a:spcBef>
                <a:spcPts val="1200"/>
              </a:spcBef>
              <a:spcAft>
                <a:spcPts val="0"/>
              </a:spcAft>
              <a:buFont typeface="Arial" panose="020B0604020202020204" pitchFamily="34" charset="0"/>
              <a:buChar char="–"/>
              <a:defRPr/>
            </a:pPr>
            <a:r>
              <a:rPr lang="zh-CN" altLang="zh-CN" dirty="0"/>
              <a:t>正确识别各类责任主体的利益关注点，理解他们的价值追求及行为动机，是大数据创新科技人员必须具备的伦理责任意识</a:t>
            </a:r>
            <a:endParaRPr lang="zh-CN" altLang="zh-CN" dirty="0"/>
          </a:p>
          <a:p>
            <a:pPr marL="342900" lvl="1" indent="-342900" eaLnBrk="1" fontAlgn="auto" hangingPunct="1">
              <a:spcAft>
                <a:spcPts val="0"/>
              </a:spcAft>
              <a:buFont typeface="Arial" panose="020B0604020202020204" pitchFamily="34" charset="0"/>
              <a:buChar char="•"/>
              <a:defRPr/>
            </a:pPr>
            <a:r>
              <a:rPr lang="zh-CN" altLang="zh-CN" sz="3200" b="1" dirty="0"/>
              <a:t>大数据创新科技人员伦理责任</a:t>
            </a:r>
            <a:endParaRPr lang="en-US" altLang="zh-CN" sz="3200" b="1" dirty="0"/>
          </a:p>
          <a:p>
            <a:pPr lvl="1" eaLnBrk="1" fontAlgn="auto" hangingPunct="1">
              <a:lnSpc>
                <a:spcPct val="120000"/>
              </a:lnSpc>
              <a:spcBef>
                <a:spcPts val="1200"/>
              </a:spcBef>
              <a:spcAft>
                <a:spcPts val="0"/>
              </a:spcAft>
              <a:buFont typeface="Arial" panose="020B0604020202020204" pitchFamily="34" charset="0"/>
              <a:buChar char="–"/>
              <a:defRPr/>
            </a:pPr>
            <a:r>
              <a:rPr lang="zh-CN" altLang="zh-CN" dirty="0"/>
              <a:t>尊重个人自由</a:t>
            </a:r>
            <a:r>
              <a:rPr lang="zh-CN" altLang="en-US" dirty="0"/>
              <a:t>；</a:t>
            </a:r>
            <a:r>
              <a:rPr lang="zh-CN" altLang="zh-CN" dirty="0"/>
              <a:t>强化技术保护</a:t>
            </a:r>
            <a:r>
              <a:rPr lang="zh-CN" altLang="en-US" dirty="0"/>
              <a:t>；</a:t>
            </a:r>
            <a:r>
              <a:rPr lang="zh-CN" altLang="zh-CN" dirty="0"/>
              <a:t>严格操作规程</a:t>
            </a:r>
            <a:r>
              <a:rPr lang="zh-CN" altLang="en-US" dirty="0"/>
              <a:t>；加强行业自律；</a:t>
            </a:r>
            <a:r>
              <a:rPr lang="zh-CN" altLang="zh-CN" dirty="0"/>
              <a:t>承担社会责任</a:t>
            </a:r>
            <a:endParaRPr lang="en-US" altLang="zh-CN" dirty="0"/>
          </a:p>
          <a:p>
            <a:pPr eaLnBrk="1" fontAlgn="auto" hangingPunct="1">
              <a:spcAft>
                <a:spcPts val="0"/>
              </a:spcAft>
              <a:buFont typeface="Arial" panose="020B0604020202020204" pitchFamily="34" charset="0"/>
              <a:buChar char="•"/>
              <a:defRPr/>
            </a:pPr>
            <a:r>
              <a:rPr lang="zh-CN" altLang="zh-CN" b="1" dirty="0"/>
              <a:t>大数据创新科技人员</a:t>
            </a:r>
            <a:r>
              <a:rPr lang="zh-CN" altLang="en-US" b="1" dirty="0"/>
              <a:t>行为</a:t>
            </a:r>
            <a:r>
              <a:rPr lang="zh-CN" altLang="en-US" b="1" dirty="0" smtClean="0"/>
              <a:t>规范</a:t>
            </a:r>
            <a:endParaRPr lang="en-US" altLang="zh-CN" b="1" dirty="0"/>
          </a:p>
          <a:p>
            <a:pPr lvl="1" eaLnBrk="1" fontAlgn="auto" hangingPunct="1">
              <a:spcAft>
                <a:spcPts val="0"/>
              </a:spcAft>
              <a:buFont typeface="Arial" panose="020B0604020202020204" pitchFamily="34" charset="0"/>
              <a:buChar char="–"/>
              <a:defRPr/>
            </a:pPr>
            <a:endParaRPr lang="zh-CN" altLang="zh-CN" dirty="0"/>
          </a:p>
          <a:p>
            <a:pPr lvl="1" eaLnBrk="1" fontAlgn="auto" hangingPunct="1">
              <a:spcAft>
                <a:spcPts val="0"/>
              </a:spcAft>
              <a:buFont typeface="Arial" panose="020B0604020202020204" pitchFamily="34" charset="0"/>
              <a:buChar char="–"/>
              <a:defRPr/>
            </a:pPr>
            <a:endParaRPr kumimoji="1" lang="en-US" altLang="zh-CN" dirty="0" smtClean="0"/>
          </a:p>
          <a:p>
            <a:pPr eaLnBrk="1" fontAlgn="auto" hangingPunct="1">
              <a:spcAft>
                <a:spcPts val="0"/>
              </a:spcAft>
              <a:buFont typeface="Arial" panose="020B0604020202020204" pitchFamily="34" charset="0"/>
              <a:buChar char="•"/>
              <a:defRPr/>
            </a:pPr>
            <a:endParaRPr kumimoji="1" lang="en-US" altLang="zh-CN" dirty="0" smtClean="0"/>
          </a:p>
        </p:txBody>
      </p:sp>
      <p:sp>
        <p:nvSpPr>
          <p:cNvPr id="8" name="标题 1"/>
          <p:cNvSpPr txBox="1">
            <a:spLocks noGrp="1"/>
          </p:cNvSpPr>
          <p:nvPr>
            <p:ph type="title" idx="4294967295"/>
          </p:nvPr>
        </p:nvSpPr>
        <p:spPr bwMode="auto">
          <a:xfrm>
            <a:off x="609600" y="274638"/>
            <a:ext cx="10972800" cy="1143000"/>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大数据科技创新人员怎么去做？</a:t>
            </a:r>
            <a:endParaRPr lang="en-US" altLang="zh-CN" sz="3600" dirty="0">
              <a:solidFill>
                <a:schemeClr val="bg1"/>
              </a:solidFill>
            </a:endParaRPr>
          </a:p>
        </p:txBody>
      </p:sp>
      <p:sp>
        <p:nvSpPr>
          <p:cNvPr id="65542" name="灯片编号占位符 6"/>
          <p:cNvSpPr>
            <a:spLocks noGrp="1"/>
          </p:cNvSpPr>
          <p:nvPr>
            <p:ph type="sldNum" sz="quarter" idx="12"/>
          </p:nvPr>
        </p:nvSpPr>
        <p:spPr bwMode="auto">
          <a:ln>
            <a:miter lim="800000"/>
          </a:ln>
        </p:spPr>
        <p:txBody>
          <a:bodyPr wrap="square" numCol="1" anchorCtr="0" compatLnSpc="1"/>
          <a:lstStyle/>
          <a:p>
            <a:pPr fontAlgn="base">
              <a:spcBef>
                <a:spcPct val="0"/>
              </a:spcBef>
              <a:spcAft>
                <a:spcPct val="0"/>
              </a:spcAft>
              <a:defRPr/>
            </a:pPr>
            <a:fld id="{42EE1162-269F-4EE1-A282-FE7EAE2F0956}" type="slidenum">
              <a:rPr lang="zh-CN" altLang="en-US">
                <a:solidFill>
                  <a:srgbClr val="898989"/>
                </a:solidFill>
              </a:rPr>
            </a:fld>
            <a:endParaRPr lang="en-US" altLang="zh-CN">
              <a:solidFill>
                <a:srgbClr val="898989"/>
              </a:solidFill>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r>
              <a:t>2015/3/1</a:t>
            </a:r>
            <a:endParaRPr lang="zh-CN" altLang="en-US"/>
          </a:p>
        </p:txBody>
      </p:sp>
      <p:sp>
        <p:nvSpPr>
          <p:cNvPr id="6" name="幻灯片编号占位符 5"/>
          <p:cNvSpPr>
            <a:spLocks noGrp="1"/>
          </p:cNvSpPr>
          <p:nvPr>
            <p:ph type="sldNum" sz="quarter" idx="12"/>
          </p:nvPr>
        </p:nvSpPr>
        <p:spPr/>
        <p:txBody>
          <a:bodyPr/>
          <a:lstStyle/>
          <a:p>
            <a:pPr>
              <a:defRPr/>
            </a:pPr>
            <a:fld id="{FEFD4051-B7B8-45FC-9B92-CB923C771132}" type="slidenum">
              <a:rPr lang="zh-CN" altLang="en-US"/>
            </a:fld>
            <a:endParaRPr lang="zh-CN" altLang="en-US"/>
          </a:p>
        </p:txBody>
      </p:sp>
      <p:graphicFrame>
        <p:nvGraphicFramePr>
          <p:cNvPr id="3" name="内容占位符 2"/>
          <p:cNvGraphicFramePr>
            <a:graphicFrameLocks noGrp="1"/>
          </p:cNvGraphicFramePr>
          <p:nvPr>
            <p:ph idx="1"/>
          </p:nvPr>
        </p:nvGraphicFramePr>
        <p:xfrm>
          <a:off x="903288" y="1454150"/>
          <a:ext cx="10874151" cy="3173753"/>
        </p:xfrm>
        <a:graphic>
          <a:graphicData uri="http://schemas.openxmlformats.org/drawingml/2006/table">
            <a:tbl>
              <a:tblPr firstRow="1" firstCol="1" bandRow="1">
                <a:tableStyleId>{00A15C55-8517-42AA-B614-E9B94910E393}</a:tableStyleId>
              </a:tblPr>
              <a:tblGrid>
                <a:gridCol w="1765997"/>
                <a:gridCol w="2712796"/>
                <a:gridCol w="2351685"/>
                <a:gridCol w="2351685"/>
                <a:gridCol w="1691988"/>
              </a:tblGrid>
              <a:tr h="496080">
                <a:tc>
                  <a:txBody>
                    <a:bodyPr/>
                    <a:lstStyle/>
                    <a:p>
                      <a:pPr algn="ctr">
                        <a:spcAft>
                          <a:spcPts val="0"/>
                        </a:spcAft>
                      </a:pPr>
                      <a:r>
                        <a:rPr lang="zh-CN" sz="2000" kern="100" dirty="0">
                          <a:effectLst/>
                          <a:latin typeface="Times New Roman" panose="02020603050405020304" pitchFamily="18" charset="0"/>
                          <a:ea typeface="黑体" panose="02010609060101010101" pitchFamily="49" charset="-122"/>
                          <a:cs typeface="Times New Roman" panose="02020603050405020304" pitchFamily="18" charset="0"/>
                        </a:rPr>
                        <a:t>操作阶段</a:t>
                      </a:r>
                      <a:endParaRPr lang="zh-CN" sz="20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spcAft>
                          <a:spcPts val="0"/>
                        </a:spcAft>
                      </a:pPr>
                      <a:r>
                        <a:rPr lang="zh-CN" sz="2000" kern="100">
                          <a:effectLst/>
                          <a:latin typeface="Times New Roman" panose="02020603050405020304" pitchFamily="18" charset="0"/>
                          <a:ea typeface="黑体" panose="02010609060101010101" pitchFamily="49" charset="-122"/>
                          <a:cs typeface="Times New Roman" panose="02020603050405020304" pitchFamily="18" charset="0"/>
                        </a:rPr>
                        <a:t>原则</a:t>
                      </a:r>
                      <a:r>
                        <a:rPr lang="en-US" sz="2000" kern="100">
                          <a:effectLst/>
                          <a:latin typeface="Times New Roman" panose="02020603050405020304" pitchFamily="18" charset="0"/>
                          <a:ea typeface="黑体" panose="02010609060101010101" pitchFamily="49" charset="-122"/>
                          <a:cs typeface="Times New Roman" panose="02020603050405020304" pitchFamily="18" charset="0"/>
                        </a:rPr>
                        <a:t>1</a:t>
                      </a:r>
                      <a:endParaRPr lang="zh-CN" sz="2000" kern="1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spcAft>
                          <a:spcPts val="0"/>
                        </a:spcAft>
                      </a:pPr>
                      <a:r>
                        <a:rPr lang="zh-CN" sz="2000" kern="100">
                          <a:effectLst/>
                          <a:latin typeface="Times New Roman" panose="02020603050405020304" pitchFamily="18" charset="0"/>
                          <a:ea typeface="黑体" panose="02010609060101010101" pitchFamily="49" charset="-122"/>
                          <a:cs typeface="Times New Roman" panose="02020603050405020304" pitchFamily="18" charset="0"/>
                        </a:rPr>
                        <a:t>原则</a:t>
                      </a:r>
                      <a:r>
                        <a:rPr lang="en-US" sz="2000" kern="100">
                          <a:effectLst/>
                          <a:latin typeface="Times New Roman" panose="02020603050405020304" pitchFamily="18" charset="0"/>
                          <a:ea typeface="黑体" panose="02010609060101010101" pitchFamily="49" charset="-122"/>
                          <a:cs typeface="Times New Roman" panose="02020603050405020304" pitchFamily="18" charset="0"/>
                        </a:rPr>
                        <a:t>2</a:t>
                      </a:r>
                      <a:endParaRPr lang="zh-CN" sz="2000" kern="1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spcAft>
                          <a:spcPts val="0"/>
                        </a:spcAft>
                      </a:pPr>
                      <a:r>
                        <a:rPr lang="zh-CN" sz="2000" kern="100">
                          <a:effectLst/>
                          <a:latin typeface="Times New Roman" panose="02020603050405020304" pitchFamily="18" charset="0"/>
                          <a:ea typeface="黑体" panose="02010609060101010101" pitchFamily="49" charset="-122"/>
                          <a:cs typeface="Times New Roman" panose="02020603050405020304" pitchFamily="18" charset="0"/>
                        </a:rPr>
                        <a:t>原则</a:t>
                      </a:r>
                      <a:r>
                        <a:rPr lang="en-US" sz="2000" kern="100">
                          <a:effectLst/>
                          <a:latin typeface="Times New Roman" panose="02020603050405020304" pitchFamily="18" charset="0"/>
                          <a:ea typeface="黑体" panose="02010609060101010101" pitchFamily="49" charset="-122"/>
                          <a:cs typeface="Times New Roman" panose="02020603050405020304" pitchFamily="18" charset="0"/>
                        </a:rPr>
                        <a:t>3</a:t>
                      </a:r>
                      <a:endParaRPr lang="zh-CN" sz="2000" kern="1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spcAft>
                          <a:spcPts val="0"/>
                        </a:spcAft>
                      </a:pPr>
                      <a:r>
                        <a:rPr lang="zh-CN" sz="2000" kern="100">
                          <a:effectLst/>
                          <a:latin typeface="Times New Roman" panose="02020603050405020304" pitchFamily="18" charset="0"/>
                          <a:ea typeface="黑体" panose="02010609060101010101" pitchFamily="49" charset="-122"/>
                          <a:cs typeface="Times New Roman" panose="02020603050405020304" pitchFamily="18" charset="0"/>
                        </a:rPr>
                        <a:t>原则</a:t>
                      </a:r>
                      <a:r>
                        <a:rPr lang="en-US" sz="2000" kern="100">
                          <a:effectLst/>
                          <a:latin typeface="Times New Roman" panose="02020603050405020304" pitchFamily="18" charset="0"/>
                          <a:ea typeface="黑体" panose="02010609060101010101" pitchFamily="49" charset="-122"/>
                          <a:cs typeface="Times New Roman" panose="02020603050405020304" pitchFamily="18" charset="0"/>
                        </a:rPr>
                        <a:t>4</a:t>
                      </a:r>
                      <a:endParaRPr lang="zh-CN" sz="2000" kern="1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r>
              <a:tr h="1035839">
                <a:tc>
                  <a:txBody>
                    <a:bodyPr/>
                    <a:lstStyle/>
                    <a:p>
                      <a:pPr algn="ctr">
                        <a:spcAft>
                          <a:spcPts val="0"/>
                        </a:spcAft>
                      </a:pPr>
                      <a:r>
                        <a:rPr lang="zh-CN" sz="2000" kern="100">
                          <a:effectLst/>
                          <a:latin typeface="Times New Roman" panose="02020603050405020304" pitchFamily="18" charset="0"/>
                          <a:ea typeface="黑体" panose="02010609060101010101" pitchFamily="49" charset="-122"/>
                          <a:cs typeface="Times New Roman" panose="02020603050405020304" pitchFamily="18" charset="0"/>
                        </a:rPr>
                        <a:t>大数据采集</a:t>
                      </a:r>
                      <a:endParaRPr lang="zh-CN" sz="2000" kern="1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2000" kern="100" dirty="0">
                          <a:effectLst/>
                          <a:latin typeface="Times New Roman" panose="02020603050405020304" pitchFamily="18" charset="0"/>
                          <a:ea typeface="黑体" panose="02010609060101010101" pitchFamily="49" charset="-122"/>
                          <a:cs typeface="Times New Roman" panose="02020603050405020304" pitchFamily="18" charset="0"/>
                        </a:rPr>
                        <a:t>知情同意原则</a:t>
                      </a:r>
                      <a:endParaRPr lang="zh-CN" sz="2000" kern="100" dirty="0">
                        <a:effectLst/>
                        <a:latin typeface="Times New Roman" panose="02020603050405020304" pitchFamily="18" charset="0"/>
                        <a:ea typeface="黑体" panose="02010609060101010101" pitchFamily="49" charset="-122"/>
                        <a:cs typeface="Times New Roman" panose="02020603050405020304" pitchFamily="18" charset="0"/>
                      </a:endParaRPr>
                    </a:p>
                    <a:p>
                      <a:pPr algn="ctr">
                        <a:spcAft>
                          <a:spcPts val="0"/>
                        </a:spcAft>
                      </a:pPr>
                      <a:r>
                        <a:rPr lang="zh-CN" sz="2000" kern="100" dirty="0">
                          <a:effectLst/>
                          <a:latin typeface="Times New Roman" panose="02020603050405020304" pitchFamily="18" charset="0"/>
                          <a:ea typeface="黑体" panose="02010609060101010101" pitchFamily="49" charset="-122"/>
                          <a:cs typeface="Times New Roman" panose="02020603050405020304" pitchFamily="18" charset="0"/>
                        </a:rPr>
                        <a:t>用户有权作出</a:t>
                      </a:r>
                      <a:r>
                        <a:rPr lang="en-US" sz="2000" kern="100" dirty="0">
                          <a:effectLst/>
                          <a:latin typeface="Times New Roman" panose="02020603050405020304" pitchFamily="18" charset="0"/>
                          <a:ea typeface="黑体" panose="02010609060101010101" pitchFamily="49" charset="-122"/>
                          <a:cs typeface="Times New Roman" panose="02020603050405020304" pitchFamily="18" charset="0"/>
                        </a:rPr>
                        <a:t>Y/N</a:t>
                      </a:r>
                      <a:r>
                        <a:rPr lang="zh-CN" sz="2000" kern="100" dirty="0">
                          <a:effectLst/>
                          <a:latin typeface="Times New Roman" panose="02020603050405020304" pitchFamily="18" charset="0"/>
                          <a:ea typeface="黑体" panose="02010609060101010101" pitchFamily="49" charset="-122"/>
                          <a:cs typeface="Times New Roman" panose="02020603050405020304" pitchFamily="18" charset="0"/>
                        </a:rPr>
                        <a:t>选择</a:t>
                      </a:r>
                      <a:endParaRPr lang="zh-CN" sz="20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spcAft>
                          <a:spcPts val="0"/>
                        </a:spcAft>
                      </a:pPr>
                      <a:r>
                        <a:rPr lang="zh-CN" sz="2000" kern="100" dirty="0">
                          <a:effectLst/>
                          <a:latin typeface="Times New Roman" panose="02020603050405020304" pitchFamily="18" charset="0"/>
                          <a:ea typeface="黑体" panose="02010609060101010101" pitchFamily="49" charset="-122"/>
                          <a:cs typeface="Times New Roman" panose="02020603050405020304" pitchFamily="18" charset="0"/>
                        </a:rPr>
                        <a:t>自由选择原则</a:t>
                      </a:r>
                      <a:endParaRPr lang="zh-CN" sz="2000" kern="100" dirty="0">
                        <a:effectLst/>
                        <a:latin typeface="Times New Roman" panose="02020603050405020304" pitchFamily="18" charset="0"/>
                        <a:ea typeface="黑体" panose="02010609060101010101" pitchFamily="49" charset="-122"/>
                        <a:cs typeface="Times New Roman" panose="02020603050405020304" pitchFamily="18" charset="0"/>
                      </a:endParaRPr>
                    </a:p>
                    <a:p>
                      <a:pPr algn="ctr">
                        <a:spcAft>
                          <a:spcPts val="0"/>
                        </a:spcAft>
                      </a:pPr>
                      <a:r>
                        <a:rPr lang="zh-CN" sz="2000" kern="100" dirty="0">
                          <a:effectLst/>
                          <a:latin typeface="Times New Roman" panose="02020603050405020304" pitchFamily="18" charset="0"/>
                          <a:ea typeface="黑体" panose="02010609060101010101" pitchFamily="49" charset="-122"/>
                          <a:cs typeface="Times New Roman" panose="02020603050405020304" pitchFamily="18" charset="0"/>
                        </a:rPr>
                        <a:t>用户可以决定数据被采集的范围</a:t>
                      </a:r>
                      <a:endParaRPr lang="zh-CN" sz="20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spcAft>
                          <a:spcPts val="0"/>
                        </a:spcAft>
                      </a:pPr>
                      <a:r>
                        <a:rPr lang="zh-CN" sz="2000" kern="100">
                          <a:effectLst/>
                          <a:latin typeface="Times New Roman" panose="02020603050405020304" pitchFamily="18" charset="0"/>
                          <a:ea typeface="黑体" panose="02010609060101010101" pitchFamily="49" charset="-122"/>
                          <a:cs typeface="Times New Roman" panose="02020603050405020304" pitchFamily="18" charset="0"/>
                        </a:rPr>
                        <a:t>随时可删原则</a:t>
                      </a:r>
                      <a:endParaRPr lang="zh-CN" sz="2000" kern="100">
                        <a:effectLst/>
                        <a:latin typeface="Times New Roman" panose="02020603050405020304" pitchFamily="18" charset="0"/>
                        <a:ea typeface="黑体" panose="02010609060101010101" pitchFamily="49" charset="-122"/>
                        <a:cs typeface="Times New Roman" panose="02020603050405020304" pitchFamily="18" charset="0"/>
                      </a:endParaRPr>
                    </a:p>
                    <a:p>
                      <a:pPr algn="ctr">
                        <a:spcAft>
                          <a:spcPts val="0"/>
                        </a:spcAft>
                      </a:pPr>
                      <a:r>
                        <a:rPr lang="zh-CN" sz="2000" kern="100">
                          <a:effectLst/>
                          <a:latin typeface="Times New Roman" panose="02020603050405020304" pitchFamily="18" charset="0"/>
                          <a:ea typeface="黑体" panose="02010609060101010101" pitchFamily="49" charset="-122"/>
                          <a:cs typeface="Times New Roman" panose="02020603050405020304" pitchFamily="18" charset="0"/>
                        </a:rPr>
                        <a:t>用户随时可以彻底删除数据</a:t>
                      </a:r>
                      <a:endParaRPr lang="zh-CN" sz="2000" kern="1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spcAft>
                          <a:spcPts val="0"/>
                        </a:spcAft>
                      </a:pPr>
                      <a:r>
                        <a:rPr lang="en-US" sz="2000" kern="100">
                          <a:effectLst/>
                          <a:latin typeface="Times New Roman" panose="02020603050405020304" pitchFamily="18" charset="0"/>
                          <a:ea typeface="黑体" panose="02010609060101010101" pitchFamily="49" charset="-122"/>
                          <a:cs typeface="Times New Roman" panose="02020603050405020304" pitchFamily="18" charset="0"/>
                        </a:rPr>
                        <a:t>—</a:t>
                      </a:r>
                      <a:endParaRPr lang="zh-CN" sz="2000" kern="1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r>
              <a:tr h="1145754">
                <a:tc>
                  <a:txBody>
                    <a:bodyPr/>
                    <a:lstStyle/>
                    <a:p>
                      <a:pPr algn="ctr">
                        <a:spcAft>
                          <a:spcPts val="0"/>
                        </a:spcAft>
                      </a:pPr>
                      <a:r>
                        <a:rPr lang="zh-CN" sz="2000" kern="100">
                          <a:effectLst/>
                          <a:latin typeface="Times New Roman" panose="02020603050405020304" pitchFamily="18" charset="0"/>
                          <a:ea typeface="黑体" panose="02010609060101010101" pitchFamily="49" charset="-122"/>
                          <a:cs typeface="Times New Roman" panose="02020603050405020304" pitchFamily="18" charset="0"/>
                        </a:rPr>
                        <a:t>大数据交易</a:t>
                      </a:r>
                      <a:endParaRPr lang="zh-CN" sz="2000" kern="1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tc>
                <a:tc>
                  <a:txBody>
                    <a:bodyPr/>
                    <a:lstStyle/>
                    <a:p>
                      <a:pPr algn="ctr">
                        <a:spcBef>
                          <a:spcPts val="600"/>
                        </a:spcBef>
                        <a:spcAft>
                          <a:spcPts val="0"/>
                        </a:spcAft>
                      </a:pPr>
                      <a:r>
                        <a:rPr lang="zh-CN" sz="2000" kern="100" dirty="0">
                          <a:effectLst/>
                          <a:latin typeface="Times New Roman" panose="02020603050405020304" pitchFamily="18" charset="0"/>
                          <a:ea typeface="黑体" panose="02010609060101010101" pitchFamily="49" charset="-122"/>
                          <a:cs typeface="Times New Roman" panose="02020603050405020304" pitchFamily="18" charset="0"/>
                        </a:rPr>
                        <a:t>明白交易原则</a:t>
                      </a:r>
                      <a:endParaRPr lang="zh-CN" sz="2000" kern="100" dirty="0">
                        <a:effectLst/>
                        <a:latin typeface="Times New Roman" panose="02020603050405020304" pitchFamily="18" charset="0"/>
                        <a:ea typeface="黑体" panose="02010609060101010101" pitchFamily="49" charset="-122"/>
                        <a:cs typeface="Times New Roman" panose="02020603050405020304" pitchFamily="18" charset="0"/>
                      </a:endParaRPr>
                    </a:p>
                    <a:p>
                      <a:pPr algn="ctr">
                        <a:spcAft>
                          <a:spcPts val="0"/>
                        </a:spcAft>
                      </a:pPr>
                      <a:r>
                        <a:rPr lang="zh-CN" sz="2000" kern="100" dirty="0">
                          <a:effectLst/>
                          <a:latin typeface="Times New Roman" panose="02020603050405020304" pitchFamily="18" charset="0"/>
                          <a:ea typeface="黑体" panose="02010609060101010101" pitchFamily="49" charset="-122"/>
                          <a:cs typeface="Times New Roman" panose="02020603050405020304" pitchFamily="18" charset="0"/>
                        </a:rPr>
                        <a:t>明确所交易的数据范围、使用规范、定价策略等</a:t>
                      </a:r>
                      <a:endParaRPr lang="zh-CN" sz="20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spcBef>
                          <a:spcPts val="600"/>
                        </a:spcBef>
                        <a:spcAft>
                          <a:spcPts val="0"/>
                        </a:spcAft>
                      </a:pPr>
                      <a:r>
                        <a:rPr lang="zh-CN" sz="2000" kern="100" dirty="0">
                          <a:effectLst/>
                          <a:latin typeface="Times New Roman" panose="02020603050405020304" pitchFamily="18" charset="0"/>
                          <a:ea typeface="黑体" panose="02010609060101010101" pitchFamily="49" charset="-122"/>
                          <a:cs typeface="Times New Roman" panose="02020603050405020304" pitchFamily="18" charset="0"/>
                        </a:rPr>
                        <a:t>保证用户数据安全</a:t>
                      </a:r>
                      <a:endParaRPr lang="zh-CN" sz="2000" kern="100" dirty="0">
                        <a:effectLst/>
                        <a:latin typeface="Times New Roman" panose="02020603050405020304" pitchFamily="18" charset="0"/>
                        <a:ea typeface="黑体" panose="02010609060101010101" pitchFamily="49" charset="-122"/>
                        <a:cs typeface="Times New Roman" panose="02020603050405020304" pitchFamily="18" charset="0"/>
                      </a:endParaRPr>
                    </a:p>
                    <a:p>
                      <a:pPr algn="ctr">
                        <a:spcAft>
                          <a:spcPts val="0"/>
                        </a:spcAft>
                      </a:pPr>
                      <a:r>
                        <a:rPr lang="zh-CN" sz="2000" kern="100" dirty="0">
                          <a:effectLst/>
                          <a:latin typeface="Times New Roman" panose="02020603050405020304" pitchFamily="18" charset="0"/>
                          <a:ea typeface="黑体" panose="02010609060101010101" pitchFamily="49" charset="-122"/>
                          <a:cs typeface="Times New Roman" panose="02020603050405020304" pitchFamily="18" charset="0"/>
                        </a:rPr>
                        <a:t>脱敏个人信息并安全存放、传输</a:t>
                      </a:r>
                      <a:endParaRPr lang="zh-CN" sz="20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spcBef>
                          <a:spcPts val="600"/>
                        </a:spcBef>
                        <a:spcAft>
                          <a:spcPts val="0"/>
                        </a:spcAft>
                      </a:pPr>
                      <a:r>
                        <a:rPr lang="zh-CN" sz="2000" kern="100" dirty="0">
                          <a:effectLst/>
                          <a:latin typeface="Times New Roman" panose="02020603050405020304" pitchFamily="18" charset="0"/>
                          <a:ea typeface="黑体" panose="02010609060101010101" pitchFamily="49" charset="-122"/>
                          <a:cs typeface="Times New Roman" panose="02020603050405020304" pitchFamily="18" charset="0"/>
                        </a:rPr>
                        <a:t>再交易通报原则</a:t>
                      </a:r>
                      <a:endParaRPr lang="zh-CN" sz="20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spcBef>
                          <a:spcPts val="600"/>
                        </a:spcBef>
                        <a:spcAft>
                          <a:spcPts val="0"/>
                        </a:spcAft>
                      </a:pPr>
                      <a:r>
                        <a:rPr lang="zh-CN" sz="2000" kern="100" dirty="0">
                          <a:effectLst/>
                          <a:latin typeface="Times New Roman" panose="02020603050405020304" pitchFamily="18" charset="0"/>
                          <a:ea typeface="黑体" panose="02010609060101010101" pitchFamily="49" charset="-122"/>
                          <a:cs typeface="Times New Roman" panose="02020603050405020304" pitchFamily="18" charset="0"/>
                        </a:rPr>
                        <a:t>使用可审计、权利可撤销原则</a:t>
                      </a:r>
                      <a:endParaRPr lang="zh-CN" sz="20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r>
              <a:tr h="496080">
                <a:tc>
                  <a:txBody>
                    <a:bodyPr/>
                    <a:lstStyle/>
                    <a:p>
                      <a:pPr algn="ctr">
                        <a:spcAft>
                          <a:spcPts val="0"/>
                        </a:spcAft>
                      </a:pPr>
                      <a:r>
                        <a:rPr lang="zh-CN" sz="2000" kern="100">
                          <a:effectLst/>
                          <a:latin typeface="Times New Roman" panose="02020603050405020304" pitchFamily="18" charset="0"/>
                          <a:ea typeface="黑体" panose="02010609060101010101" pitchFamily="49" charset="-122"/>
                          <a:cs typeface="Times New Roman" panose="02020603050405020304" pitchFamily="18" charset="0"/>
                        </a:rPr>
                        <a:t>大数据应用</a:t>
                      </a:r>
                      <a:endParaRPr lang="zh-CN" sz="2000" kern="1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tc>
                <a:tc>
                  <a:txBody>
                    <a:bodyPr/>
                    <a:lstStyle/>
                    <a:p>
                      <a:pPr algn="ctr">
                        <a:spcBef>
                          <a:spcPts val="600"/>
                        </a:spcBef>
                        <a:spcAft>
                          <a:spcPts val="0"/>
                        </a:spcAft>
                      </a:pPr>
                      <a:r>
                        <a:rPr lang="zh-CN" sz="2000" kern="100">
                          <a:effectLst/>
                          <a:latin typeface="Times New Roman" panose="02020603050405020304" pitchFamily="18" charset="0"/>
                          <a:ea typeface="黑体" panose="02010609060101010101" pitchFamily="49" charset="-122"/>
                          <a:cs typeface="Times New Roman" panose="02020603050405020304" pitchFamily="18" charset="0"/>
                        </a:rPr>
                        <a:t>隐私保护原则</a:t>
                      </a:r>
                      <a:endParaRPr lang="zh-CN" sz="2000" kern="1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spcBef>
                          <a:spcPts val="600"/>
                        </a:spcBef>
                        <a:spcAft>
                          <a:spcPts val="0"/>
                        </a:spcAft>
                      </a:pPr>
                      <a:r>
                        <a:rPr lang="zh-CN" sz="2000" kern="100" dirty="0">
                          <a:effectLst/>
                          <a:latin typeface="Times New Roman" panose="02020603050405020304" pitchFamily="18" charset="0"/>
                          <a:ea typeface="黑体" panose="02010609060101010101" pitchFamily="49" charset="-122"/>
                          <a:cs typeface="Times New Roman" panose="02020603050405020304" pitchFamily="18" charset="0"/>
                        </a:rPr>
                        <a:t>价值维护原则</a:t>
                      </a:r>
                      <a:endParaRPr lang="zh-CN" sz="20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spcAft>
                          <a:spcPts val="0"/>
                        </a:spcAft>
                      </a:pPr>
                      <a:r>
                        <a:rPr lang="en-US" sz="2000" kern="100">
                          <a:effectLst/>
                          <a:latin typeface="Times New Roman" panose="02020603050405020304" pitchFamily="18" charset="0"/>
                          <a:ea typeface="黑体" panose="02010609060101010101" pitchFamily="49" charset="-122"/>
                          <a:cs typeface="Times New Roman" panose="02020603050405020304" pitchFamily="18" charset="0"/>
                        </a:rPr>
                        <a:t>—</a:t>
                      </a:r>
                      <a:endParaRPr lang="zh-CN" sz="2000" kern="1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c>
                  <a:txBody>
                    <a:bodyPr/>
                    <a:lstStyle/>
                    <a:p>
                      <a:pPr algn="ctr">
                        <a:spcAft>
                          <a:spcPts val="0"/>
                        </a:spcAft>
                      </a:pPr>
                      <a:r>
                        <a:rPr lang="en-US" sz="2000" kern="100" dirty="0">
                          <a:effectLst/>
                          <a:latin typeface="Times New Roman" panose="02020603050405020304" pitchFamily="18" charset="0"/>
                          <a:ea typeface="黑体" panose="02010609060101010101" pitchFamily="49" charset="-122"/>
                          <a:cs typeface="Times New Roman" panose="02020603050405020304" pitchFamily="18" charset="0"/>
                        </a:rPr>
                        <a:t>—</a:t>
                      </a:r>
                      <a:endParaRPr lang="zh-CN" sz="20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tc>
              </a:tr>
            </a:tbl>
          </a:graphicData>
        </a:graphic>
      </p:graphicFrame>
      <p:sp>
        <p:nvSpPr>
          <p:cNvPr id="8" name="标题 1"/>
          <p:cNvSpPr txBox="1"/>
          <p:nvPr/>
        </p:nvSpPr>
        <p:spPr bwMode="auto">
          <a:xfrm>
            <a:off x="852566" y="219403"/>
            <a:ext cx="10925361" cy="936104"/>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提出建议：</a:t>
            </a:r>
            <a:r>
              <a:rPr lang="zh-CN" altLang="zh-CN" sz="3600" dirty="0" smtClean="0">
                <a:solidFill>
                  <a:schemeClr val="bg1"/>
                </a:solidFill>
              </a:rPr>
              <a:t>大</a:t>
            </a:r>
            <a:r>
              <a:rPr lang="zh-CN" altLang="zh-CN" sz="3600" dirty="0">
                <a:solidFill>
                  <a:schemeClr val="bg1"/>
                </a:solidFill>
              </a:rPr>
              <a:t>数据处理不同阶段的伦理行为</a:t>
            </a:r>
            <a:r>
              <a:rPr lang="zh-CN" altLang="zh-CN" sz="3600" dirty="0" smtClean="0">
                <a:solidFill>
                  <a:schemeClr val="bg1"/>
                </a:solidFill>
              </a:rPr>
              <a:t>规范</a:t>
            </a:r>
            <a:endParaRPr lang="en-US" altLang="zh-CN" sz="3600" dirty="0">
              <a:solidFill>
                <a:schemeClr val="bg1"/>
              </a:solidFill>
            </a:endParaRPr>
          </a:p>
        </p:txBody>
      </p:sp>
      <p:sp>
        <p:nvSpPr>
          <p:cNvPr id="2" name="矩形 1"/>
          <p:cNvSpPr/>
          <p:nvPr/>
        </p:nvSpPr>
        <p:spPr>
          <a:xfrm>
            <a:off x="6873875" y="4926013"/>
            <a:ext cx="4594225" cy="1200150"/>
          </a:xfrm>
          <a:prstGeom prst="rect">
            <a:avLst/>
          </a:prstGeom>
          <a:ln>
            <a:solidFill>
              <a:schemeClr val="accent1">
                <a:shade val="50000"/>
              </a:schemeClr>
            </a:solidFill>
          </a:ln>
        </p:spPr>
        <p:txBody>
          <a:bodyPr>
            <a:spAutoFit/>
          </a:bodyPr>
          <a:lstStyle/>
          <a:p>
            <a:pPr fontAlgn="auto">
              <a:spcBef>
                <a:spcPts val="0"/>
              </a:spcBef>
              <a:spcAft>
                <a:spcPts val="0"/>
              </a:spcAft>
              <a:defRPr/>
            </a:pPr>
            <a:r>
              <a:rPr lang="zh-CN" altLang="en-US" sz="24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参考</a:t>
            </a:r>
            <a:endParaRPr lang="en-US" altLang="zh-CN" sz="24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hlinkClick r:id="rId1"/>
            </a:endParaRPr>
          </a:p>
          <a:p>
            <a:pPr marL="285750" indent="-285750" fontAlgn="auto">
              <a:spcBef>
                <a:spcPts val="0"/>
              </a:spcBef>
              <a:spcAft>
                <a:spcPts val="0"/>
              </a:spcAft>
              <a:buFont typeface="Arial" panose="020B0604020202020204" pitchFamily="34" charset="0"/>
              <a:buChar char="•"/>
              <a:defRPr/>
            </a:pPr>
            <a:r>
              <a:rPr lang="zh-CN" altLang="en-US" sz="24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hlinkClick r:id="rId1"/>
              </a:rPr>
              <a:t>推特社交数据使用规范建议</a:t>
            </a:r>
            <a:endParaRPr lang="en-US" altLang="zh-CN" sz="24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endParaRPr>
          </a:p>
          <a:p>
            <a:pPr marL="285750" indent="-285750" fontAlgn="auto">
              <a:spcBef>
                <a:spcPts val="0"/>
              </a:spcBef>
              <a:spcAft>
                <a:spcPts val="0"/>
              </a:spcAft>
              <a:buFont typeface="Arial" panose="020B0604020202020204" pitchFamily="34" charset="0"/>
              <a:buChar char="•"/>
              <a:defRPr/>
            </a:pPr>
            <a:r>
              <a:rPr lang="en-US" altLang="zh-CN" sz="24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hlinkClick r:id="rId2"/>
              </a:rPr>
              <a:t>IEEE Code of Conduct</a:t>
            </a:r>
            <a:endParaRPr lang="zh-CN" altLang="en-US" sz="24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内容占位符 2"/>
          <p:cNvSpPr>
            <a:spLocks noGrp="1"/>
          </p:cNvSpPr>
          <p:nvPr>
            <p:ph idx="1"/>
          </p:nvPr>
        </p:nvSpPr>
        <p:spPr>
          <a:xfrm>
            <a:off x="852488" y="1260475"/>
            <a:ext cx="10925175" cy="4865688"/>
          </a:xfrm>
          <a:ln>
            <a:solidFill>
              <a:schemeClr val="accent1"/>
            </a:solidFill>
          </a:ln>
        </p:spPr>
        <p:txBody>
          <a:bodyPr/>
          <a:lstStyle/>
          <a:p>
            <a:pPr marL="0" indent="0" eaLnBrk="1" hangingPunct="1">
              <a:lnSpc>
                <a:spcPct val="120000"/>
              </a:lnSpc>
              <a:buFont typeface="Arial" panose="020B0604020202020204" pitchFamily="34" charset="0"/>
              <a:buNone/>
            </a:pPr>
            <a:r>
              <a:rPr lang="en-US" altLang="zh-CN" sz="2000" b="1" smtClean="0">
                <a:ea typeface="黑体" panose="02010609060101010101" pitchFamily="49" charset="-122"/>
              </a:rPr>
              <a:t>1</a:t>
            </a:r>
            <a:r>
              <a:rPr lang="zh-CN" altLang="en-US" sz="2000" b="1" smtClean="0">
                <a:ea typeface="黑体" panose="02010609060101010101" pitchFamily="49" charset="-122"/>
              </a:rPr>
              <a:t>、</a:t>
            </a:r>
            <a:r>
              <a:rPr lang="zh-CN" altLang="zh-CN" sz="2000" b="1" smtClean="0">
                <a:ea typeface="黑体" panose="02010609060101010101" pitchFamily="49" charset="-122"/>
              </a:rPr>
              <a:t>如何理解伦理学在信息科技与大数据创新中的作用</a:t>
            </a:r>
            <a:endParaRPr lang="en-US" altLang="zh-CN" sz="2000" b="1" smtClean="0">
              <a:ea typeface="黑体" panose="02010609060101010101" pitchFamily="49" charset="-122"/>
            </a:endParaRPr>
          </a:p>
          <a:p>
            <a:pPr marL="0" indent="0" eaLnBrk="1" hangingPunct="1">
              <a:lnSpc>
                <a:spcPct val="120000"/>
              </a:lnSpc>
              <a:buFont typeface="Arial" panose="020B0604020202020204" pitchFamily="34" charset="0"/>
              <a:buNone/>
            </a:pPr>
            <a:r>
              <a:rPr lang="en-US" altLang="zh-CN" sz="2000" smtClean="0">
                <a:ea typeface="黑体" panose="02010609060101010101" pitchFamily="49" charset="-122"/>
              </a:rPr>
              <a:t>      </a:t>
            </a:r>
            <a:r>
              <a:rPr lang="zh-CN" altLang="zh-CN" sz="2000" smtClean="0">
                <a:ea typeface="黑体" panose="02010609060101010101" pitchFamily="49" charset="-122"/>
              </a:rPr>
              <a:t>重点为信息科技及大数据创新催生的社会变迁各种表现。</a:t>
            </a:r>
            <a:endParaRPr lang="en-US" altLang="zh-CN" sz="2000" smtClean="0">
              <a:ea typeface="黑体" panose="02010609060101010101" pitchFamily="49" charset="-122"/>
            </a:endParaRPr>
          </a:p>
          <a:p>
            <a:pPr marL="0" indent="0" eaLnBrk="1" hangingPunct="1">
              <a:lnSpc>
                <a:spcPct val="120000"/>
              </a:lnSpc>
              <a:buFont typeface="Arial" panose="020B0604020202020204" pitchFamily="34" charset="0"/>
              <a:buNone/>
            </a:pPr>
            <a:r>
              <a:rPr lang="en-US" altLang="zh-CN" sz="2000" smtClean="0">
                <a:ea typeface="黑体" panose="02010609060101010101" pitchFamily="49" charset="-122"/>
              </a:rPr>
              <a:t>     </a:t>
            </a:r>
            <a:r>
              <a:rPr lang="zh-CN" altLang="zh-CN" sz="2000" smtClean="0">
                <a:ea typeface="黑体" panose="02010609060101010101" pitchFamily="49" charset="-122"/>
              </a:rPr>
              <a:t>难点为对信息科技应用的</a:t>
            </a:r>
            <a:r>
              <a:rPr lang="zh-CN" altLang="zh-CN" sz="2000" smtClean="0">
                <a:solidFill>
                  <a:srgbClr val="FF0000"/>
                </a:solidFill>
                <a:ea typeface="黑体" panose="02010609060101010101" pitchFamily="49" charset="-122"/>
              </a:rPr>
              <a:t>不完备性</a:t>
            </a:r>
            <a:r>
              <a:rPr lang="zh-CN" altLang="zh-CN" sz="2000" smtClean="0">
                <a:ea typeface="黑体" panose="02010609060101010101" pitchFamily="49" charset="-122"/>
              </a:rPr>
              <a:t>和</a:t>
            </a:r>
            <a:r>
              <a:rPr lang="zh-CN" altLang="zh-CN" sz="2000" smtClean="0">
                <a:solidFill>
                  <a:srgbClr val="FF0000"/>
                </a:solidFill>
                <a:ea typeface="黑体" panose="02010609060101010101" pitchFamily="49" charset="-122"/>
              </a:rPr>
              <a:t>发展性</a:t>
            </a:r>
            <a:r>
              <a:rPr lang="zh-CN" altLang="zh-CN" sz="2000" smtClean="0">
                <a:ea typeface="黑体" panose="02010609060101010101" pitchFamily="49" charset="-122"/>
              </a:rPr>
              <a:t>的理解，以及大数据创新向应用领域之外</a:t>
            </a:r>
            <a:r>
              <a:rPr lang="zh-CN" altLang="zh-CN" sz="2000" smtClean="0">
                <a:solidFill>
                  <a:srgbClr val="FF0000"/>
                </a:solidFill>
                <a:ea typeface="黑体" panose="02010609060101010101" pitchFamily="49" charset="-122"/>
              </a:rPr>
              <a:t>溢出</a:t>
            </a:r>
            <a:r>
              <a:rPr lang="zh-CN" altLang="zh-CN" sz="2000" smtClean="0">
                <a:ea typeface="黑体" panose="02010609060101010101" pitchFamily="49" charset="-122"/>
              </a:rPr>
              <a:t>效应的辨析。</a:t>
            </a:r>
            <a:endParaRPr lang="zh-CN" altLang="zh-CN" sz="2000" smtClean="0">
              <a:ea typeface="黑体" panose="02010609060101010101" pitchFamily="49" charset="-122"/>
            </a:endParaRPr>
          </a:p>
          <a:p>
            <a:pPr marL="0" indent="0" eaLnBrk="1" hangingPunct="1">
              <a:lnSpc>
                <a:spcPct val="120000"/>
              </a:lnSpc>
              <a:buFont typeface="Arial" panose="020B0604020202020204" pitchFamily="34" charset="0"/>
              <a:buNone/>
            </a:pPr>
            <a:r>
              <a:rPr lang="en-US" altLang="zh-CN" sz="2000" b="1" smtClean="0">
                <a:ea typeface="黑体" panose="02010609060101010101" pitchFamily="49" charset="-122"/>
              </a:rPr>
              <a:t>2</a:t>
            </a:r>
            <a:r>
              <a:rPr lang="zh-CN" altLang="zh-CN" sz="2000" b="1" smtClean="0">
                <a:ea typeface="黑体" panose="02010609060101010101" pitchFamily="49" charset="-122"/>
              </a:rPr>
              <a:t>．如何理解大数据科技创新生命周期中的多种伦理问题</a:t>
            </a:r>
            <a:endParaRPr lang="en-US" altLang="zh-CN" sz="2000" b="1" smtClean="0">
              <a:ea typeface="黑体" panose="02010609060101010101" pitchFamily="49" charset="-122"/>
            </a:endParaRPr>
          </a:p>
          <a:p>
            <a:pPr marL="0" indent="0" eaLnBrk="1" hangingPunct="1">
              <a:lnSpc>
                <a:spcPct val="120000"/>
              </a:lnSpc>
              <a:buFont typeface="Arial" panose="020B0604020202020204" pitchFamily="34" charset="0"/>
              <a:buNone/>
            </a:pPr>
            <a:r>
              <a:rPr lang="en-US" altLang="zh-CN" sz="2000" smtClean="0">
                <a:ea typeface="黑体" panose="02010609060101010101" pitchFamily="49" charset="-122"/>
              </a:rPr>
              <a:t>    </a:t>
            </a:r>
            <a:r>
              <a:rPr lang="zh-CN" altLang="zh-CN" sz="2000" smtClean="0">
                <a:ea typeface="黑体" panose="02010609060101010101" pitchFamily="49" charset="-122"/>
              </a:rPr>
              <a:t>重点为大数据应用带来的新型伦理问题辨析，以及相关伦理原则及道德推理实践。</a:t>
            </a:r>
            <a:endParaRPr lang="en-US" altLang="zh-CN" sz="2000" smtClean="0">
              <a:ea typeface="黑体" panose="02010609060101010101" pitchFamily="49" charset="-122"/>
            </a:endParaRPr>
          </a:p>
          <a:p>
            <a:pPr marL="0" indent="0" eaLnBrk="1" hangingPunct="1">
              <a:lnSpc>
                <a:spcPct val="120000"/>
              </a:lnSpc>
              <a:buFont typeface="Arial" panose="020B0604020202020204" pitchFamily="34" charset="0"/>
              <a:buNone/>
            </a:pPr>
            <a:r>
              <a:rPr lang="en-US" altLang="zh-CN" sz="2000" smtClean="0">
                <a:ea typeface="黑体" panose="02010609060101010101" pitchFamily="49" charset="-122"/>
              </a:rPr>
              <a:t>    </a:t>
            </a:r>
            <a:r>
              <a:rPr lang="zh-CN" altLang="zh-CN" sz="2000" smtClean="0">
                <a:ea typeface="黑体" panose="02010609060101010101" pitchFamily="49" charset="-122"/>
              </a:rPr>
              <a:t>难点为尚在发展中的关于</a:t>
            </a:r>
            <a:r>
              <a:rPr lang="zh-CN" altLang="zh-CN" sz="2000" smtClean="0">
                <a:solidFill>
                  <a:srgbClr val="FF0000"/>
                </a:solidFill>
                <a:ea typeface="黑体" panose="02010609060101010101" pitchFamily="49" charset="-122"/>
              </a:rPr>
              <a:t>数据权利、大数据创新收益</a:t>
            </a:r>
            <a:r>
              <a:rPr lang="zh-CN" altLang="zh-CN" sz="2000" smtClean="0">
                <a:ea typeface="黑体" panose="02010609060101010101" pitchFamily="49" charset="-122"/>
              </a:rPr>
              <a:t>的伦理决策。</a:t>
            </a:r>
            <a:endParaRPr lang="zh-CN" altLang="zh-CN" sz="2000" smtClean="0">
              <a:ea typeface="黑体" panose="02010609060101010101" pitchFamily="49" charset="-122"/>
            </a:endParaRPr>
          </a:p>
          <a:p>
            <a:pPr marL="0" indent="0" eaLnBrk="1" hangingPunct="1">
              <a:lnSpc>
                <a:spcPct val="120000"/>
              </a:lnSpc>
              <a:buFont typeface="Arial" panose="020B0604020202020204" pitchFamily="34" charset="0"/>
              <a:buNone/>
            </a:pPr>
            <a:r>
              <a:rPr lang="en-US" altLang="zh-CN" sz="2000" b="1" smtClean="0">
                <a:ea typeface="黑体" panose="02010609060101010101" pitchFamily="49" charset="-122"/>
              </a:rPr>
              <a:t>3. </a:t>
            </a:r>
            <a:r>
              <a:rPr lang="zh-CN" altLang="zh-CN" sz="2000" b="1" smtClean="0">
                <a:ea typeface="黑体" panose="02010609060101010101" pitchFamily="49" charset="-122"/>
              </a:rPr>
              <a:t>正确认识大数据科技创新人员的伦理责任和行为规范</a:t>
            </a:r>
            <a:endParaRPr lang="en-US" altLang="zh-CN" sz="2000" smtClean="0">
              <a:ea typeface="黑体" panose="02010609060101010101" pitchFamily="49" charset="-122"/>
            </a:endParaRPr>
          </a:p>
          <a:p>
            <a:pPr marL="0" indent="0" eaLnBrk="1" hangingPunct="1">
              <a:lnSpc>
                <a:spcPct val="120000"/>
              </a:lnSpc>
              <a:buFont typeface="Arial" panose="020B0604020202020204" pitchFamily="34" charset="0"/>
              <a:buNone/>
            </a:pPr>
            <a:r>
              <a:rPr lang="en-US" altLang="zh-CN" sz="2000" smtClean="0">
                <a:ea typeface="黑体" panose="02010609060101010101" pitchFamily="49" charset="-122"/>
              </a:rPr>
              <a:t>    </a:t>
            </a:r>
            <a:r>
              <a:rPr lang="zh-CN" altLang="zh-CN" sz="2000" smtClean="0">
                <a:ea typeface="黑体" panose="02010609060101010101" pitchFamily="49" charset="-122"/>
              </a:rPr>
              <a:t>重点为本领域职业规范的价值取向与行为规范发展历程的掌握。</a:t>
            </a:r>
            <a:endParaRPr lang="en-US" altLang="zh-CN" sz="2000" smtClean="0">
              <a:ea typeface="黑体" panose="02010609060101010101" pitchFamily="49" charset="-122"/>
            </a:endParaRPr>
          </a:p>
          <a:p>
            <a:pPr marL="0" indent="0" eaLnBrk="1" hangingPunct="1">
              <a:lnSpc>
                <a:spcPct val="120000"/>
              </a:lnSpc>
              <a:buFont typeface="Arial" panose="020B0604020202020204" pitchFamily="34" charset="0"/>
              <a:buNone/>
            </a:pPr>
            <a:r>
              <a:rPr lang="en-US" altLang="zh-CN" sz="2000" smtClean="0">
                <a:ea typeface="黑体" panose="02010609060101010101" pitchFamily="49" charset="-122"/>
              </a:rPr>
              <a:t>    </a:t>
            </a:r>
            <a:r>
              <a:rPr lang="zh-CN" altLang="zh-CN" sz="2000" smtClean="0">
                <a:ea typeface="黑体" panose="02010609060101010101" pitchFamily="49" charset="-122"/>
              </a:rPr>
              <a:t>难点为伴随大数据技术发展对职业行为规范的</a:t>
            </a:r>
            <a:r>
              <a:rPr lang="zh-CN" altLang="zh-CN" sz="2000" smtClean="0">
                <a:solidFill>
                  <a:srgbClr val="FF0000"/>
                </a:solidFill>
                <a:ea typeface="黑体" panose="02010609060101010101" pitchFamily="49" charset="-122"/>
              </a:rPr>
              <a:t>持续</a:t>
            </a:r>
            <a:r>
              <a:rPr lang="zh-CN" altLang="zh-CN" sz="2000" smtClean="0">
                <a:ea typeface="黑体" panose="02010609060101010101" pitchFamily="49" charset="-122"/>
              </a:rPr>
              <a:t>的理解与实践。</a:t>
            </a:r>
            <a:endParaRPr lang="zh-CN" altLang="zh-CN" sz="2000" smtClean="0">
              <a:ea typeface="黑体" panose="02010609060101010101" pitchFamily="49" charset="-122"/>
            </a:endParaRPr>
          </a:p>
          <a:p>
            <a:pPr marL="0" indent="0" eaLnBrk="1" hangingPunct="1">
              <a:lnSpc>
                <a:spcPct val="120000"/>
              </a:lnSpc>
              <a:buFont typeface="Arial" panose="020B0604020202020204" pitchFamily="34" charset="0"/>
              <a:buNone/>
            </a:pPr>
            <a:endParaRPr lang="zh-CN" altLang="zh-CN" sz="2000" smtClean="0">
              <a:ea typeface="黑体" panose="02010609060101010101" pitchFamily="49" charset="-122"/>
            </a:endParaRPr>
          </a:p>
        </p:txBody>
      </p:sp>
      <p:sp>
        <p:nvSpPr>
          <p:cNvPr id="5" name="灯片编号占位符 4"/>
          <p:cNvSpPr>
            <a:spLocks noGrp="1"/>
          </p:cNvSpPr>
          <p:nvPr>
            <p:ph type="sldNum" sz="quarter" idx="12"/>
          </p:nvPr>
        </p:nvSpPr>
        <p:spPr/>
        <p:txBody>
          <a:bodyPr/>
          <a:lstStyle/>
          <a:p>
            <a:pPr>
              <a:defRPr/>
            </a:pPr>
            <a:fld id="{F64B2B2E-5032-490A-9000-CF2E7A81181C}" type="slidenum">
              <a:rPr lang="zh-CN" altLang="en-US"/>
            </a:fld>
            <a:endParaRPr lang="zh-CN" altLang="en-US"/>
          </a:p>
        </p:txBody>
      </p:sp>
      <p:sp>
        <p:nvSpPr>
          <p:cNvPr id="7" name="标题 1"/>
          <p:cNvSpPr txBox="1"/>
          <p:nvPr/>
        </p:nvSpPr>
        <p:spPr bwMode="auto">
          <a:xfrm>
            <a:off x="852566" y="219403"/>
            <a:ext cx="10925361" cy="936104"/>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学习重点与难点</a:t>
            </a:r>
            <a:endParaRPr lang="en-US" altLang="zh-CN" sz="3600" dirty="0">
              <a:solidFill>
                <a:schemeClr val="bg1"/>
              </a:solidFill>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内容占位符 2"/>
          <p:cNvSpPr>
            <a:spLocks noGrp="1"/>
          </p:cNvSpPr>
          <p:nvPr>
            <p:ph idx="1"/>
          </p:nvPr>
        </p:nvSpPr>
        <p:spPr>
          <a:xfrm>
            <a:off x="854075" y="1243013"/>
            <a:ext cx="10925175" cy="4865687"/>
          </a:xfrm>
          <a:ln>
            <a:solidFill>
              <a:schemeClr val="accent1"/>
            </a:solidFill>
          </a:ln>
        </p:spPr>
        <p:txBody>
          <a:bodyPr/>
          <a:lstStyle/>
          <a:p>
            <a:pPr marL="0" indent="0" eaLnBrk="1" hangingPunct="1">
              <a:lnSpc>
                <a:spcPct val="120000"/>
              </a:lnSpc>
              <a:buFont typeface="Arial" panose="020B0604020202020204" pitchFamily="34" charset="0"/>
              <a:buNone/>
            </a:pPr>
            <a:r>
              <a:rPr lang="zh-CN" altLang="en-US" sz="2400" smtClean="0">
                <a:latin typeface="微软雅黑" panose="020B0503020204020204" pitchFamily="34" charset="-122"/>
                <a:ea typeface="微软雅黑" panose="020B0503020204020204" pitchFamily="34" charset="-122"/>
                <a:cs typeface="微软雅黑" panose="020B0503020204020204" pitchFamily="34" charset="-122"/>
              </a:rPr>
              <a:t>一、走出单向度技术思维的局限</a:t>
            </a:r>
            <a:endParaRPr lang="en-US" altLang="zh-CN" sz="2400" smtClean="0">
              <a:latin typeface="微软雅黑" panose="020B0503020204020204" pitchFamily="34" charset="-122"/>
              <a:ea typeface="微软雅黑" panose="020B0503020204020204" pitchFamily="34" charset="-122"/>
              <a:cs typeface="微软雅黑" panose="020B0503020204020204" pitchFamily="34" charset="-122"/>
            </a:endParaRPr>
          </a:p>
          <a:p>
            <a:pPr marL="0" indent="0" eaLnBrk="1" hangingPunct="1">
              <a:lnSpc>
                <a:spcPct val="120000"/>
              </a:lnSpc>
              <a:buFont typeface="Arial" panose="020B0604020202020204" pitchFamily="34" charset="0"/>
              <a:buNone/>
            </a:pPr>
            <a:r>
              <a:rPr lang="zh-CN" altLang="en-US" sz="2400" smtClean="0">
                <a:latin typeface="微软雅黑" panose="020B0503020204020204" pitchFamily="34" charset="-122"/>
                <a:ea typeface="微软雅黑" panose="020B0503020204020204" pitchFamily="34" charset="-122"/>
                <a:cs typeface="微软雅黑" panose="020B0503020204020204" pitchFamily="34" charset="-122"/>
              </a:rPr>
              <a:t>二、配齐信息大数据应用安全阀</a:t>
            </a:r>
            <a:endParaRPr lang="en-US" altLang="zh-CN" sz="2400" smtClean="0">
              <a:latin typeface="微软雅黑" panose="020B0503020204020204" pitchFamily="34" charset="-122"/>
              <a:ea typeface="微软雅黑" panose="020B0503020204020204" pitchFamily="34" charset="-122"/>
              <a:cs typeface="微软雅黑" panose="020B0503020204020204" pitchFamily="34" charset="-122"/>
            </a:endParaRPr>
          </a:p>
          <a:p>
            <a:pPr marL="0" indent="0" eaLnBrk="1" hangingPunct="1">
              <a:lnSpc>
                <a:spcPct val="120000"/>
              </a:lnSpc>
              <a:buFont typeface="Arial" panose="020B0604020202020204" pitchFamily="34" charset="0"/>
              <a:buNone/>
            </a:pPr>
            <a:r>
              <a:rPr lang="zh-CN" altLang="en-US" sz="2400" smtClean="0">
                <a:latin typeface="微软雅黑" panose="020B0503020204020204" pitchFamily="34" charset="-122"/>
                <a:ea typeface="微软雅黑" panose="020B0503020204020204" pitchFamily="34" charset="-122"/>
                <a:cs typeface="微软雅黑" panose="020B0503020204020204" pitchFamily="34" charset="-122"/>
              </a:rPr>
              <a:t>三、秉持正确的伦理价值观</a:t>
            </a:r>
            <a:endParaRPr lang="en-US" altLang="zh-CN" sz="2400" smtClean="0">
              <a:latin typeface="微软雅黑" panose="020B0503020204020204" pitchFamily="34" charset="-122"/>
              <a:ea typeface="微软雅黑" panose="020B0503020204020204" pitchFamily="34" charset="-122"/>
              <a:cs typeface="微软雅黑" panose="020B0503020204020204" pitchFamily="34" charset="-122"/>
            </a:endParaRPr>
          </a:p>
          <a:p>
            <a:pPr marL="0" indent="0" eaLnBrk="1" hangingPunct="1">
              <a:lnSpc>
                <a:spcPct val="120000"/>
              </a:lnSpc>
              <a:buFont typeface="Arial" panose="020B0604020202020204" pitchFamily="34" charset="0"/>
              <a:buNone/>
            </a:pPr>
            <a:r>
              <a:rPr lang="en-US" altLang="zh-CN" sz="2400" smtClean="0">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2400" smtClean="0">
                <a:latin typeface="微软雅黑" panose="020B0503020204020204" pitchFamily="34" charset="-122"/>
                <a:ea typeface="微软雅黑" panose="020B0503020204020204" pitchFamily="34" charset="-122"/>
                <a:cs typeface="微软雅黑" panose="020B0503020204020204" pitchFamily="34" charset="-122"/>
              </a:rPr>
              <a:t>马克思主义基本立场、观点和方法：</a:t>
            </a:r>
            <a:r>
              <a:rPr lang="zh-CN" altLang="en-US" sz="240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人民立场</a:t>
            </a:r>
            <a:r>
              <a:rPr lang="zh-CN" altLang="en-US" sz="240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经济基础与上层建筑相适应</a:t>
            </a:r>
            <a:r>
              <a:rPr lang="zh-CN" altLang="en-US" sz="240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矛盾运动、对立统一规律</a:t>
            </a:r>
            <a:endParaRPr lang="en-US" altLang="zh-CN" sz="240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eaLnBrk="1" hangingPunct="1">
              <a:lnSpc>
                <a:spcPct val="120000"/>
              </a:lnSpc>
              <a:buFont typeface="Arial" panose="020B0604020202020204" pitchFamily="34" charset="0"/>
              <a:buNone/>
            </a:pPr>
            <a:r>
              <a:rPr lang="en-US" altLang="zh-CN" sz="2400" smtClean="0">
                <a:latin typeface="微软雅黑" panose="020B0503020204020204" pitchFamily="34" charset="-122"/>
                <a:ea typeface="微软雅黑" panose="020B0503020204020204" pitchFamily="34" charset="-122"/>
                <a:cs typeface="微软雅黑" panose="020B0503020204020204" pitchFamily="34" charset="-122"/>
              </a:rPr>
              <a:t>2</a:t>
            </a:r>
            <a:r>
              <a:rPr lang="zh-CN" altLang="zh-CN" sz="240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smtClean="0">
                <a:latin typeface="微软雅黑" panose="020B0503020204020204" pitchFamily="34" charset="-122"/>
                <a:ea typeface="微软雅黑" panose="020B0503020204020204" pitchFamily="34" charset="-122"/>
                <a:cs typeface="微软雅黑" panose="020B0503020204020204" pitchFamily="34" charset="-122"/>
              </a:rPr>
              <a:t>中国优秀传统文化（</a:t>
            </a:r>
            <a:r>
              <a:rPr lang="en-US" altLang="zh-CN" sz="2400" smtClean="0">
                <a:latin typeface="微软雅黑" panose="020B0503020204020204" pitchFamily="34" charset="-122"/>
                <a:ea typeface="微软雅黑" panose="020B0503020204020204" pitchFamily="34" charset="-122"/>
                <a:cs typeface="微软雅黑" panose="020B0503020204020204" pitchFamily="34" charset="-122"/>
              </a:rPr>
              <a:t>vs</a:t>
            </a:r>
            <a:r>
              <a:rPr lang="zh-CN" altLang="en-US" sz="2400" smtClean="0">
                <a:latin typeface="微软雅黑" panose="020B0503020204020204" pitchFamily="34" charset="-122"/>
                <a:ea typeface="微软雅黑" panose="020B0503020204020204" pitchFamily="34" charset="-122"/>
                <a:cs typeface="微软雅黑" panose="020B0503020204020204" pitchFamily="34" charset="-122"/>
              </a:rPr>
              <a:t>西方文化）：</a:t>
            </a:r>
            <a:r>
              <a:rPr lang="zh-CN" altLang="en-US" sz="240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责任先于自由；义务先于权利；群体高于个人；和谐高于冲突</a:t>
            </a:r>
            <a:endParaRPr lang="en-US" altLang="zh-CN" sz="240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eaLnBrk="1" hangingPunct="1">
              <a:lnSpc>
                <a:spcPct val="120000"/>
              </a:lnSpc>
              <a:buFont typeface="Arial" panose="020B0604020202020204" pitchFamily="34" charset="0"/>
              <a:buNone/>
            </a:pPr>
            <a:r>
              <a:rPr lang="en-US" altLang="zh-CN" sz="2400" smtClean="0">
                <a:latin typeface="微软雅黑" panose="020B0503020204020204" pitchFamily="34" charset="-122"/>
                <a:ea typeface="微软雅黑" panose="020B0503020204020204" pitchFamily="34" charset="-122"/>
                <a:cs typeface="微软雅黑" panose="020B0503020204020204" pitchFamily="34" charset="-122"/>
              </a:rPr>
              <a:t>3. </a:t>
            </a:r>
            <a:r>
              <a:rPr lang="zh-CN" altLang="en-US" sz="2400" smtClean="0">
                <a:latin typeface="微软雅黑" panose="020B0503020204020204" pitchFamily="34" charset="-122"/>
                <a:ea typeface="微软雅黑" panose="020B0503020204020204" pitchFamily="34" charset="-122"/>
                <a:cs typeface="微软雅黑" panose="020B0503020204020204" pitchFamily="34" charset="-122"/>
              </a:rPr>
              <a:t>时代精神：</a:t>
            </a:r>
            <a:r>
              <a:rPr lang="zh-CN" altLang="en-US" sz="240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自由、平等、公正、法治</a:t>
            </a:r>
            <a:endParaRPr lang="zh-CN" altLang="zh-CN" sz="240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灯片编号占位符 4"/>
          <p:cNvSpPr>
            <a:spLocks noGrp="1"/>
          </p:cNvSpPr>
          <p:nvPr>
            <p:ph type="sldNum" sz="quarter" idx="12"/>
          </p:nvPr>
        </p:nvSpPr>
        <p:spPr/>
        <p:txBody>
          <a:bodyPr/>
          <a:lstStyle/>
          <a:p>
            <a:pPr>
              <a:defRPr/>
            </a:pPr>
            <a:fld id="{5C31FA95-BC0B-40CA-9C84-D71F2F46BD0F}" type="slidenum">
              <a:rPr lang="zh-CN" altLang="en-US"/>
            </a:fld>
            <a:endParaRPr lang="zh-CN" altLang="en-US"/>
          </a:p>
        </p:txBody>
      </p:sp>
      <p:sp>
        <p:nvSpPr>
          <p:cNvPr id="7" name="标题 1"/>
          <p:cNvSpPr txBox="1"/>
          <p:nvPr/>
        </p:nvSpPr>
        <p:spPr bwMode="auto">
          <a:xfrm>
            <a:off x="852566" y="219403"/>
            <a:ext cx="10925361" cy="936104"/>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课程核心</a:t>
            </a:r>
            <a:endParaRPr lang="en-US" altLang="zh-CN" sz="3600" dirty="0">
              <a:solidFill>
                <a:schemeClr val="bg1"/>
              </a:solidFill>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solidFill>
              <a:schemeClr val="accent1">
                <a:shade val="50000"/>
              </a:schemeClr>
            </a:solidFill>
          </a:ln>
        </p:spPr>
        <p:txBody>
          <a:bodyPr rtlCol="0">
            <a:normAutofit/>
          </a:bodyPr>
          <a:lstStyle/>
          <a:p>
            <a:pPr eaLnBrk="1" fontAlgn="auto" hangingPunct="1">
              <a:spcAft>
                <a:spcPts val="0"/>
              </a:spcAft>
              <a:buFont typeface="Arial" panose="020B0604020202020204" pitchFamily="34" charset="0"/>
              <a:buChar char="•"/>
              <a:defRPr/>
            </a:pPr>
            <a:r>
              <a:rPr lang="zh-CN" altLang="en-US" dirty="0"/>
              <a:t>课</a:t>
            </a:r>
            <a:r>
              <a:rPr lang="zh-CN" altLang="en-US" dirty="0" smtClean="0"/>
              <a:t>上下发印制资料，要求阅读</a:t>
            </a:r>
            <a:endParaRPr lang="en-US" altLang="zh-CN" dirty="0" smtClean="0"/>
          </a:p>
          <a:p>
            <a:pPr lvl="1" eaLnBrk="1" fontAlgn="auto" hangingPunct="1">
              <a:spcAft>
                <a:spcPts val="0"/>
              </a:spcAft>
              <a:buFont typeface="Arial" panose="020B0604020202020204" pitchFamily="34" charset="0"/>
              <a:buChar char="–"/>
              <a:defRPr/>
            </a:pPr>
            <a:r>
              <a:rPr lang="zh-CN" altLang="en-US" b="1" dirty="0"/>
              <a:t>参</a:t>
            </a:r>
            <a:r>
              <a:rPr lang="zh-CN" altLang="en-US" b="1" dirty="0" smtClean="0"/>
              <a:t>见：</a:t>
            </a:r>
            <a:endParaRPr lang="en-US" altLang="zh-CN" b="1" dirty="0" smtClean="0"/>
          </a:p>
          <a:p>
            <a:pPr marL="914400" lvl="2" indent="0" eaLnBrk="1" fontAlgn="auto" hangingPunct="1">
              <a:spcAft>
                <a:spcPts val="0"/>
              </a:spcAft>
              <a:buFont typeface="Arial" panose="020B0604020202020204" pitchFamily="34" charset="0"/>
              <a:buNone/>
              <a:defRPr/>
            </a:pPr>
            <a:r>
              <a:rPr lang="en-US" altLang="zh-CN" b="1" dirty="0" smtClean="0"/>
              <a:t>《</a:t>
            </a:r>
            <a:r>
              <a:rPr lang="zh-CN" altLang="en-US" b="1" dirty="0"/>
              <a:t>数据伦理</a:t>
            </a:r>
            <a:r>
              <a:rPr lang="en-US" altLang="zh-CN" b="1" dirty="0"/>
              <a:t>》</a:t>
            </a:r>
            <a:r>
              <a:rPr lang="zh-CN" altLang="en-US" b="1" dirty="0"/>
              <a:t>阅读资料（持续更新中）</a:t>
            </a:r>
            <a:r>
              <a:rPr lang="en-US" altLang="zh-CN" dirty="0">
                <a:hlinkClick r:id="rId1"/>
              </a:rPr>
              <a:t>http://</a:t>
            </a:r>
            <a:r>
              <a:rPr lang="en-US" altLang="zh-CN" dirty="0" smtClean="0">
                <a:hlinkClick r:id="rId1"/>
              </a:rPr>
              <a:t>blog.sina.com.cn/s/blog_4e1d88520102vhxr.html</a:t>
            </a:r>
            <a:endParaRPr lang="en-US" altLang="zh-CN" dirty="0" smtClean="0"/>
          </a:p>
          <a:p>
            <a:pPr marL="914400" lvl="2" indent="0" eaLnBrk="1" fontAlgn="auto" hangingPunct="1">
              <a:spcAft>
                <a:spcPts val="0"/>
              </a:spcAft>
              <a:buFont typeface="Arial" panose="020B0604020202020204" pitchFamily="34" charset="0"/>
              <a:buNone/>
              <a:defRPr/>
            </a:pPr>
            <a:r>
              <a:rPr lang="zh-CN" altLang="en-US" b="1" dirty="0" smtClean="0"/>
              <a:t>案例</a:t>
            </a:r>
            <a:r>
              <a:rPr lang="zh-CN" altLang="en-US" b="1" dirty="0"/>
              <a:t>汇集（持续更新中） </a:t>
            </a:r>
            <a:r>
              <a:rPr lang="en-US" altLang="zh-CN" dirty="0">
                <a:hlinkClick r:id="rId2"/>
              </a:rPr>
              <a:t>http://blog.sina.com.cn/s/blog_4e1d88520102vicz.html</a:t>
            </a:r>
            <a:endParaRPr lang="en-US" altLang="zh-CN" dirty="0"/>
          </a:p>
          <a:p>
            <a:pPr eaLnBrk="1" fontAlgn="auto" hangingPunct="1">
              <a:spcAft>
                <a:spcPts val="0"/>
              </a:spcAft>
              <a:buFont typeface="Arial" panose="020B0604020202020204" pitchFamily="34" charset="0"/>
              <a:buChar char="•"/>
              <a:defRPr/>
            </a:pPr>
            <a:r>
              <a:rPr lang="zh-CN" altLang="en-US" dirty="0" smtClean="0"/>
              <a:t>作业以案例为主，提供评分标准，个人小案例和分组案例均给予两轮修改、完善机会</a:t>
            </a:r>
            <a:endParaRPr lang="en-US" altLang="zh-CN" dirty="0"/>
          </a:p>
          <a:p>
            <a:pPr lvl="1" eaLnBrk="1" fontAlgn="auto" hangingPunct="1">
              <a:spcAft>
                <a:spcPts val="0"/>
              </a:spcAft>
              <a:buFont typeface="Arial" panose="020B0604020202020204" pitchFamily="34" charset="0"/>
              <a:buChar char="–"/>
              <a:defRPr/>
            </a:pPr>
            <a:endParaRPr lang="zh-CN" altLang="en-US" dirty="0"/>
          </a:p>
        </p:txBody>
      </p:sp>
      <p:sp>
        <p:nvSpPr>
          <p:cNvPr id="5" name="灯片编号占位符 4"/>
          <p:cNvSpPr>
            <a:spLocks noGrp="1"/>
          </p:cNvSpPr>
          <p:nvPr>
            <p:ph type="sldNum" sz="quarter" idx="12"/>
          </p:nvPr>
        </p:nvSpPr>
        <p:spPr/>
        <p:txBody>
          <a:bodyPr/>
          <a:lstStyle/>
          <a:p>
            <a:pPr>
              <a:defRPr/>
            </a:pPr>
            <a:fld id="{90CE14F1-D9E7-4162-9365-99CACCEE5169}" type="slidenum">
              <a:rPr lang="zh-CN" altLang="en-US"/>
            </a:fld>
            <a:endParaRPr lang="zh-CN" altLang="en-US"/>
          </a:p>
        </p:txBody>
      </p:sp>
      <p:sp>
        <p:nvSpPr>
          <p:cNvPr id="6" name="标题 1"/>
          <p:cNvSpPr txBox="1">
            <a:spLocks noGrp="1"/>
          </p:cNvSpPr>
          <p:nvPr>
            <p:ph type="title"/>
          </p:nvPr>
        </p:nvSpPr>
        <p:spPr bwMode="auto">
          <a:xfrm>
            <a:off x="609599" y="274638"/>
            <a:ext cx="10909739" cy="1143000"/>
          </a:xfr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阅读资料及作业情况</a:t>
            </a:r>
            <a:endParaRPr lang="en-US" altLang="zh-CN" sz="3600" dirty="0">
              <a:solidFill>
                <a:schemeClr val="bg1"/>
              </a:solidFill>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solidFill>
              <a:schemeClr val="accent1">
                <a:shade val="50000"/>
              </a:schemeClr>
            </a:solidFill>
          </a:ln>
        </p:spPr>
        <p:txBody>
          <a:bodyPr rtlCol="0">
            <a:normAutofit/>
          </a:bodyPr>
          <a:lstStyle/>
          <a:p>
            <a:pPr eaLnBrk="1" fontAlgn="auto" hangingPunct="1">
              <a:spcAft>
                <a:spcPts val="0"/>
              </a:spcAft>
              <a:buFont typeface="Arial" panose="020B0604020202020204" pitchFamily="34" charset="0"/>
              <a:buChar char="•"/>
              <a:defRPr/>
            </a:pPr>
            <a:r>
              <a:rPr lang="zh-CN" altLang="en-US" dirty="0" smtClean="0"/>
              <a:t>尚未进行系统评估</a:t>
            </a:r>
            <a:endParaRPr lang="en-US" altLang="zh-CN" dirty="0" smtClean="0"/>
          </a:p>
          <a:p>
            <a:pPr eaLnBrk="1" fontAlgn="auto" hangingPunct="1">
              <a:spcAft>
                <a:spcPts val="0"/>
              </a:spcAft>
              <a:buFont typeface="Arial" panose="020B0604020202020204" pitchFamily="34" charset="0"/>
              <a:buChar char="•"/>
              <a:defRPr/>
            </a:pPr>
            <a:r>
              <a:rPr lang="zh-CN" altLang="en-US" dirty="0" smtClean="0"/>
              <a:t>周围的学生有成效例证</a:t>
            </a:r>
            <a:endParaRPr lang="en-US" altLang="zh-CN" dirty="0" smtClean="0"/>
          </a:p>
          <a:p>
            <a:pPr lvl="1" eaLnBrk="1" fontAlgn="auto" hangingPunct="1">
              <a:spcAft>
                <a:spcPts val="0"/>
              </a:spcAft>
              <a:buFont typeface="Arial" panose="020B0604020202020204" pitchFamily="34" charset="0"/>
              <a:buChar char="–"/>
              <a:defRPr/>
            </a:pPr>
            <a:r>
              <a:rPr lang="zh-CN" altLang="en-US" dirty="0" smtClean="0"/>
              <a:t>创业中的技术选择</a:t>
            </a:r>
            <a:endParaRPr lang="en-US" altLang="zh-CN" dirty="0" smtClean="0"/>
          </a:p>
          <a:p>
            <a:pPr lvl="1" eaLnBrk="1" fontAlgn="auto" hangingPunct="1">
              <a:spcAft>
                <a:spcPts val="0"/>
              </a:spcAft>
              <a:buFont typeface="Arial" panose="020B0604020202020204" pitchFamily="34" charset="0"/>
              <a:buChar char="–"/>
              <a:defRPr/>
            </a:pPr>
            <a:r>
              <a:rPr lang="zh-CN" altLang="en-US" dirty="0" smtClean="0"/>
              <a:t>基于大数据研究工作的思考和规范</a:t>
            </a:r>
            <a:endParaRPr lang="en-US" altLang="zh-CN" dirty="0" smtClean="0"/>
          </a:p>
          <a:p>
            <a:pPr lvl="1" eaLnBrk="1" fontAlgn="auto" hangingPunct="1">
              <a:spcAft>
                <a:spcPts val="0"/>
              </a:spcAft>
              <a:buFont typeface="Arial" panose="020B0604020202020204" pitchFamily="34" charset="0"/>
              <a:buChar char="–"/>
              <a:defRPr/>
            </a:pPr>
            <a:r>
              <a:rPr lang="en-US" altLang="zh-CN" dirty="0" smtClean="0"/>
              <a:t>……</a:t>
            </a:r>
            <a:endParaRPr lang="en-US" altLang="zh-CN" dirty="0"/>
          </a:p>
          <a:p>
            <a:pPr lvl="1" eaLnBrk="1" fontAlgn="auto" hangingPunct="1">
              <a:spcAft>
                <a:spcPts val="0"/>
              </a:spcAft>
              <a:buFont typeface="Arial" panose="020B0604020202020204" pitchFamily="34" charset="0"/>
              <a:buChar char="–"/>
              <a:defRPr/>
            </a:pPr>
            <a:endParaRPr lang="zh-CN" altLang="en-US" dirty="0"/>
          </a:p>
        </p:txBody>
      </p:sp>
      <p:sp>
        <p:nvSpPr>
          <p:cNvPr id="5" name="灯片编号占位符 4"/>
          <p:cNvSpPr>
            <a:spLocks noGrp="1"/>
          </p:cNvSpPr>
          <p:nvPr>
            <p:ph type="sldNum" sz="quarter" idx="12"/>
          </p:nvPr>
        </p:nvSpPr>
        <p:spPr/>
        <p:txBody>
          <a:bodyPr/>
          <a:lstStyle/>
          <a:p>
            <a:pPr>
              <a:defRPr/>
            </a:pPr>
            <a:fld id="{D9E6F482-9441-4594-9F6C-5B0462CA99DC}" type="slidenum">
              <a:rPr lang="zh-CN" altLang="en-US"/>
            </a:fld>
            <a:endParaRPr lang="zh-CN" altLang="en-US"/>
          </a:p>
        </p:txBody>
      </p:sp>
      <p:sp>
        <p:nvSpPr>
          <p:cNvPr id="6" name="标题 1"/>
          <p:cNvSpPr txBox="1">
            <a:spLocks noGrp="1"/>
          </p:cNvSpPr>
          <p:nvPr>
            <p:ph type="title"/>
          </p:nvPr>
        </p:nvSpPr>
        <p:spPr bwMode="auto">
          <a:xfrm>
            <a:off x="609599" y="274638"/>
            <a:ext cx="10909739" cy="1143000"/>
          </a:xfr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3600" dirty="0" smtClean="0">
                <a:solidFill>
                  <a:schemeClr val="bg1"/>
                </a:solidFill>
              </a:rPr>
              <a:t>学生学习成效</a:t>
            </a:r>
            <a:endParaRPr lang="en-US" altLang="zh-CN" sz="3600" dirty="0">
              <a:solidFill>
                <a:schemeClr val="bg1"/>
              </a:solidFill>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bwMode="auto">
          <a:xfrm>
            <a:off x="425355" y="1916927"/>
            <a:ext cx="11341288" cy="1275472"/>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4800" dirty="0" smtClean="0">
                <a:solidFill>
                  <a:schemeClr val="bg1"/>
                </a:solidFill>
              </a:rPr>
              <a:t>第三部分 交流讨论</a:t>
            </a:r>
            <a:endParaRPr lang="en-US" altLang="zh-CN" sz="4800" dirty="0">
              <a:solidFill>
                <a:schemeClr val="bg1"/>
              </a:solidFill>
            </a:endParaRPr>
          </a:p>
        </p:txBody>
      </p:sp>
      <p:pic>
        <p:nvPicPr>
          <p:cNvPr id="72708" name="Picture 2" descr="http://ec4.images-amazon.com/images/I/61MlKxvoNaL._SY300_.png"/>
          <p:cNvPicPr>
            <a:picLocks noChangeAspect="1" noChangeArrowheads="1"/>
          </p:cNvPicPr>
          <p:nvPr/>
        </p:nvPicPr>
        <p:blipFill>
          <a:blip r:embed="rId1" cstate="print"/>
          <a:srcRect/>
          <a:stretch>
            <a:fillRect/>
          </a:stretch>
        </p:blipFill>
        <p:spPr bwMode="auto">
          <a:xfrm>
            <a:off x="7227888" y="3508375"/>
            <a:ext cx="2857500" cy="28575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bwMode="auto">
          <a:xfrm>
            <a:off x="425355" y="1916927"/>
            <a:ext cx="11341288" cy="1275472"/>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rgbClr val="0226BE"/>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b="1" kern="1200">
                <a:solidFill>
                  <a:schemeClr val="tx1"/>
                </a:solidFill>
                <a:latin typeface="楷体" panose="02010609060101010101" pitchFamily="49" charset="-122"/>
                <a:ea typeface="楷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rgbClr val="365CC8"/>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rgbClr val="6600CC"/>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lt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lgn="ctr">
              <a:buFont typeface="Arial" panose="020B0604020202020204" pitchFamily="34" charset="0"/>
              <a:buNone/>
              <a:defRPr/>
            </a:pPr>
            <a:r>
              <a:rPr lang="zh-CN" altLang="en-US" sz="4800" dirty="0" smtClean="0">
                <a:solidFill>
                  <a:schemeClr val="bg1"/>
                </a:solidFill>
              </a:rPr>
              <a:t>电影</a:t>
            </a:r>
            <a:r>
              <a:rPr lang="en-US" altLang="zh-CN" sz="4800" dirty="0" smtClean="0">
                <a:solidFill>
                  <a:schemeClr val="bg1"/>
                </a:solidFill>
              </a:rPr>
              <a:t>“</a:t>
            </a:r>
            <a:r>
              <a:rPr lang="zh-CN" altLang="en-US" sz="4800" dirty="0" smtClean="0">
                <a:solidFill>
                  <a:schemeClr val="bg1"/>
                </a:solidFill>
              </a:rPr>
              <a:t>搜索</a:t>
            </a:r>
            <a:r>
              <a:rPr lang="en-US" altLang="zh-CN" sz="4800" dirty="0" smtClean="0">
                <a:solidFill>
                  <a:schemeClr val="bg1"/>
                </a:solidFill>
              </a:rPr>
              <a:t>”</a:t>
            </a:r>
            <a:endParaRPr lang="en-US" altLang="zh-CN" sz="4800" dirty="0">
              <a:solidFill>
                <a:schemeClr val="bg1"/>
              </a:solidFill>
            </a:endParaRPr>
          </a:p>
        </p:txBody>
      </p:sp>
      <p:pic>
        <p:nvPicPr>
          <p:cNvPr id="72708" name="Picture 2" descr="http://ec4.images-amazon.com/images/I/61MlKxvoNaL._SY300_.png"/>
          <p:cNvPicPr>
            <a:picLocks noChangeAspect="1" noChangeArrowheads="1"/>
          </p:cNvPicPr>
          <p:nvPr/>
        </p:nvPicPr>
        <p:blipFill>
          <a:blip r:embed="rId1" cstate="print"/>
          <a:srcRect/>
          <a:stretch>
            <a:fillRect/>
          </a:stretch>
        </p:blipFill>
        <p:spPr bwMode="auto">
          <a:xfrm>
            <a:off x="7227888" y="3508375"/>
            <a:ext cx="2857500" cy="28575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标题 1"/>
          <p:cNvSpPr txBox="1"/>
          <p:nvPr/>
        </p:nvSpPr>
        <p:spPr bwMode="auto">
          <a:xfrm>
            <a:off x="484629" y="1014245"/>
            <a:ext cx="10925361" cy="2701159"/>
          </a:xfrm>
          <a:prstGeom prst="rect">
            <a:avLst/>
          </a:prstGeom>
        </p:spPr>
        <p:style>
          <a:lnRef idx="0">
            <a:schemeClr val="accent4"/>
          </a:lnRef>
          <a:fillRef idx="3">
            <a:schemeClr val="accent4"/>
          </a:fillRef>
          <a:effectRef idx="3">
            <a:schemeClr val="accent4"/>
          </a:effectRef>
          <a:fontRef idx="minor">
            <a:schemeClr val="lt1"/>
          </a:fontRef>
        </p:style>
        <p:txBody>
          <a:bodyPr anchor="ctr"/>
          <a:lstStyle/>
          <a:p>
            <a:pPr algn="ctr" eaLnBrk="0" hangingPunct="0">
              <a:spcBef>
                <a:spcPct val="20000"/>
              </a:spcBef>
              <a:buFont typeface="Arial" panose="020B0604020202020204" pitchFamily="34" charset="0"/>
              <a:buNone/>
              <a:defRPr/>
            </a:pPr>
            <a:r>
              <a:rPr kumimoji="1" lang="zh-CN" altLang="en-US" sz="4800">
                <a:solidFill>
                  <a:schemeClr val="bg1"/>
                </a:solidFill>
                <a:latin typeface="黑体" panose="02010609060101010101" pitchFamily="49" charset="-122"/>
                <a:ea typeface="黑体" panose="02010609060101010101" pitchFamily="49" charset="-122"/>
              </a:rPr>
              <a:t>认识有限，实践无限</a:t>
            </a:r>
            <a:endParaRPr kumimoji="1" lang="en-US" altLang="zh-CN" sz="4800">
              <a:solidFill>
                <a:schemeClr val="bg1"/>
              </a:solidFill>
              <a:latin typeface="黑体" panose="02010609060101010101" pitchFamily="49" charset="-122"/>
              <a:ea typeface="黑体" panose="02010609060101010101" pitchFamily="49" charset="-122"/>
            </a:endParaRPr>
          </a:p>
        </p:txBody>
      </p:sp>
      <p:pic>
        <p:nvPicPr>
          <p:cNvPr id="74757" name="Picture 7" descr="http://i03.pic.sogou.com/36b943993140b615">
            <a:hlinkClick r:id="rId1"/>
          </p:cNvPr>
          <p:cNvPicPr>
            <a:picLocks noChangeAspect="1" noChangeArrowheads="1"/>
          </p:cNvPicPr>
          <p:nvPr/>
        </p:nvPicPr>
        <p:blipFill>
          <a:blip r:embed="rId2" cstate="print"/>
          <a:srcRect/>
          <a:stretch>
            <a:fillRect/>
          </a:stretch>
        </p:blipFill>
        <p:spPr bwMode="auto">
          <a:xfrm>
            <a:off x="8658225" y="4024313"/>
            <a:ext cx="3533775" cy="28336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3021,&quot;width&quot;:2604}"/>
</p:tagLst>
</file>

<file path=ppt/tags/tag2.xml><?xml version="1.0" encoding="utf-8"?>
<p:tagLst xmlns:p="http://schemas.openxmlformats.org/presentationml/2006/main">
  <p:tag name="KSO_WM_UNIT_PLACING_PICTURE_USER_VIEWPORT" val="{&quot;height&quot;:6888,&quot;width&quot;:900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TM04033925[[fn=水滴]]</Template>
  <TotalTime>0</TotalTime>
  <Words>10933</Words>
  <Application>WPS 演示</Application>
  <PresentationFormat>自定义</PresentationFormat>
  <Paragraphs>804</Paragraphs>
  <Slides>51</Slides>
  <Notes>10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51</vt:i4>
      </vt:variant>
    </vt:vector>
  </HeadingPairs>
  <TitlesOfParts>
    <vt:vector size="63" baseType="lpstr">
      <vt:lpstr>Arial</vt:lpstr>
      <vt:lpstr>宋体</vt:lpstr>
      <vt:lpstr>Wingdings</vt:lpstr>
      <vt:lpstr>华文彩云</vt:lpstr>
      <vt:lpstr>Calibri</vt:lpstr>
      <vt:lpstr>Times New Roman</vt:lpstr>
      <vt:lpstr>黑体</vt:lpstr>
      <vt:lpstr>楷体</vt:lpstr>
      <vt:lpstr>微软雅黑</vt:lpstr>
      <vt:lpstr>Arial Unicode MS</vt:lpstr>
      <vt:lpstr>Times New Roman</vt:lpstr>
      <vt:lpstr>Office 主题</vt:lpstr>
      <vt:lpstr>PowerPoint 演示文稿</vt:lpstr>
      <vt:lpstr>PowerPoint 演示文稿</vt:lpstr>
      <vt:lpstr>PowerPoint 演示文稿</vt:lpstr>
      <vt:lpstr>提纲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新问题1：新型数据安全风险</vt:lpstr>
      <vt:lpstr>数字身份之困</vt:lpstr>
      <vt:lpstr>PowerPoint 演示文稿</vt:lpstr>
      <vt:lpstr>PowerPoint 演示文稿</vt:lpstr>
      <vt:lpstr>大数据时代再无隐私——大数据怎么获取？</vt:lpstr>
      <vt:lpstr>隐私之变</vt:lpstr>
      <vt:lpstr>隐私之辩</vt:lpstr>
      <vt:lpstr>新问题4：数据权利——大数据是资产吗？</vt:lpstr>
      <vt:lpstr>PowerPoint 演示文稿</vt:lpstr>
      <vt:lpstr>PowerPoint 演示文稿</vt:lpstr>
      <vt:lpstr>推动科学研究数据开放共享</vt:lpstr>
      <vt:lpstr>PowerPoint 演示文稿</vt:lpstr>
      <vt:lpstr>PowerPoint 演示文稿</vt:lpstr>
      <vt:lpstr>PowerPoint 演示文稿</vt:lpstr>
      <vt:lpstr>PowerPoint 演示文稿</vt:lpstr>
      <vt:lpstr>PowerPoint 演示文稿</vt:lpstr>
      <vt:lpstr>大数据时代中国公共治理的伦理价值应为何？</vt:lpstr>
      <vt:lpstr>PowerPoint 演示文稿</vt:lpstr>
      <vt:lpstr>PowerPoint 演示文稿</vt:lpstr>
      <vt:lpstr>PowerPoint 演示文稿</vt:lpstr>
      <vt:lpstr>PowerPoint 演示文稿</vt:lpstr>
      <vt:lpstr>大数据科技创新人员怎么去做？</vt:lpstr>
      <vt:lpstr>PowerPoint 演示文稿</vt:lpstr>
      <vt:lpstr>PowerPoint 演示文稿</vt:lpstr>
      <vt:lpstr>PowerPoint 演示文稿</vt:lpstr>
      <vt:lpstr>阅读资料及作业情况</vt:lpstr>
      <vt:lpstr>学生学习成效</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研究领域</dc:title>
  <dc:creator>lin hou</dc:creator>
  <cp:lastModifiedBy>Ywf</cp:lastModifiedBy>
  <cp:revision>155</cp:revision>
  <dcterms:created xsi:type="dcterms:W3CDTF">2015-12-01T04:08:00Z</dcterms:created>
  <dcterms:modified xsi:type="dcterms:W3CDTF">2020-12-14T04:52:47Z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