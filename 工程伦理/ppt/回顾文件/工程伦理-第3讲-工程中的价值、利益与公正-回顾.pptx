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2" r:id="rId4"/>
  </p:sldMasterIdLst>
  <p:notesMasterIdLst>
    <p:notesMasterId r:id="rId6"/>
  </p:notesMasterIdLst>
  <p:sldIdLst>
    <p:sldId id="537" r:id="rId5"/>
    <p:sldId id="532" r:id="rId7"/>
    <p:sldId id="533" r:id="rId8"/>
    <p:sldId id="534" r:id="rId9"/>
    <p:sldId id="535" r:id="rId10"/>
    <p:sldId id="387" r:id="rId11"/>
    <p:sldId id="388" r:id="rId12"/>
    <p:sldId id="423" r:id="rId13"/>
    <p:sldId id="390" r:id="rId14"/>
    <p:sldId id="514" r:id="rId15"/>
  </p:sldIdLst>
  <p:sldSz cx="9144000" cy="6858000" type="screen4x3"/>
  <p:notesSz cx="6858000" cy="9144000"/>
  <p:custDataLst>
    <p:tags r:id="rId19"/>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93"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1A3F6C"/>
    <a:srgbClr val="0B1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017"/>
    <p:restoredTop sz="94682"/>
  </p:normalViewPr>
  <p:slideViewPr>
    <p:cSldViewPr snapToGrid="0" showGuides="1">
      <p:cViewPr>
        <p:scale>
          <a:sx n="66" d="100"/>
          <a:sy n="66" d="100"/>
        </p:scale>
        <p:origin x="-1386" y="-282"/>
      </p:cViewPr>
      <p:guideLst>
        <p:guide orient="horz" pos="2193"/>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buFontTx/>
              <a:buNone/>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buFontTx/>
              <a:buNone/>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spcBef>
                <a:spcPts val="0"/>
              </a:spcBef>
              <a:spcAft>
                <a:spcPts val="0"/>
              </a:spcAft>
              <a:buFontTx/>
              <a:buNone/>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a:ln>
            <a:solidFill>
              <a:srgbClr val="000000">
                <a:alpha val="100000"/>
              </a:srgbClr>
            </a:solidFill>
            <a:miter lim="800000"/>
          </a:ln>
        </p:spPr>
      </p:sp>
      <p:sp>
        <p:nvSpPr>
          <p:cNvPr id="65539" name="备注占位符 2"/>
          <p:cNvSpPr>
            <a:spLocks noGrp="1"/>
          </p:cNvSpPr>
          <p:nvPr>
            <p:ph type="body"/>
          </p:nvPr>
        </p:nvSpPr>
        <p:spPr>
          <a:noFill/>
          <a:ln>
            <a:noFill/>
          </a:ln>
        </p:spPr>
        <p:txBody>
          <a:bodyPr wrap="square" lIns="91440" tIns="45720" rIns="91440" bIns="45720" anchor="t"/>
          <a:p>
            <a:pPr lvl="0" eaLnBrk="1" hangingPunct="1"/>
            <a:endParaRPr lang="zh-CN" altLang="en-US" dirty="0"/>
          </a:p>
        </p:txBody>
      </p:sp>
      <p:sp>
        <p:nvSpPr>
          <p:cNvPr id="89092" name="日期占位符 3"/>
          <p:cNvSpPr txBox="1">
            <a:spLocks noGrp="1" noChangeArrowheads="1"/>
          </p:cNvSpPr>
          <p:nvPr>
            <p:ph type="dt" sz="half"/>
          </p:nvPr>
        </p:nvSpPr>
        <p:spPr bwMode="auto">
          <a:noFill/>
          <a:ln>
            <a:noFill/>
            <a:miter lim="800000"/>
          </a:ln>
        </p:spPr>
        <p:txBody>
          <a:bodyPr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EB2D162-3EE8-4C8B-915F-38EA17660548}" type="datetime1">
              <a:rPr kumimoji="0" lang="en-US" altLang="en-US" sz="1200" b="0" i="0" u="none" strike="noStrike" kern="1200" cap="none" spc="0" normalizeH="0" baseline="0" noProof="0" smtClean="0">
                <a:ln>
                  <a:noFill/>
                </a:ln>
                <a:solidFill>
                  <a:schemeClr val="tx1"/>
                </a:solidFill>
                <a:effectLst/>
                <a:uLnTx/>
                <a:uFillTx/>
                <a:latin typeface="+mn-lt"/>
                <a:ea typeface="等线" panose="02010600030101010101" pitchFamily="2" charset="-122"/>
                <a:cs typeface="+mn-cs"/>
              </a:rPr>
            </a:fld>
            <a:endParaRPr kumimoji="0" lang="en-US" altLang="en-US" sz="1200" b="0" i="0" u="none" strike="noStrike" kern="1200" cap="none" spc="0" normalizeH="0" baseline="0" noProof="0" smtClean="0">
              <a:ln>
                <a:noFill/>
              </a:ln>
              <a:solidFill>
                <a:schemeClr val="tx1"/>
              </a:solidFill>
              <a:effectLst/>
              <a:uLnTx/>
              <a:uFillTx/>
              <a:latin typeface="+mn-lt"/>
              <a:ea typeface="等线" panose="02010600030101010101" pitchFamily="2" charset="-122"/>
              <a:cs typeface="+mn-cs"/>
            </a:endParaRPr>
          </a:p>
        </p:txBody>
      </p:sp>
      <p:sp>
        <p:nvSpPr>
          <p:cNvPr id="65541" name="灯片编号占位符 4"/>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Rectangle 2"/>
          <p:cNvSpPr>
            <a:spLocks noGrp="1" noRot="1" noChangeAspect="1" noTextEdit="1"/>
          </p:cNvSpPr>
          <p:nvPr>
            <p:ph type="sldImg"/>
          </p:nvPr>
        </p:nvSpPr>
        <p:spPr>
          <a:xfrm>
            <a:off x="742950" y="754063"/>
            <a:ext cx="5187950" cy="3294062"/>
          </a:xfrm>
          <a:ln w="1"/>
        </p:spPr>
      </p:sp>
      <p:sp>
        <p:nvSpPr>
          <p:cNvPr id="14339" name="Rectangle 3"/>
          <p:cNvSpPr>
            <a:spLocks noGrp="1"/>
          </p:cNvSpPr>
          <p:nvPr>
            <p:ph type="body" idx="1"/>
          </p:nvPr>
        </p:nvSpPr>
        <p:spPr>
          <a:xfrm>
            <a:off x="538163" y="4387850"/>
            <a:ext cx="5780087" cy="3952875"/>
          </a:xfrm>
          <a:ln w="1"/>
        </p:spPr>
        <p:txBody>
          <a:bodyPr wrap="square" lIns="91440" tIns="45720" rIns="91440" bIns="45720" anchor="t"/>
          <a:lstStyle/>
          <a:p>
            <a:pPr lvl="0" eaLnBrk="1" hangingPunct="1"/>
            <a:r>
              <a:rPr lang="zh-CN" altLang="en-US" dirty="0"/>
              <a:t>过渡页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Rectangle 2"/>
          <p:cNvSpPr>
            <a:spLocks noGrp="1" noRot="1" noChangeAspect="1" noTextEdit="1"/>
          </p:cNvSpPr>
          <p:nvPr>
            <p:ph type="sldImg"/>
          </p:nvPr>
        </p:nvSpPr>
        <p:spPr>
          <a:xfrm>
            <a:off x="742950" y="754063"/>
            <a:ext cx="5187950" cy="3294062"/>
          </a:xfrm>
          <a:ln w="1"/>
        </p:spPr>
      </p:sp>
      <p:sp>
        <p:nvSpPr>
          <p:cNvPr id="14339" name="Rectangle 3"/>
          <p:cNvSpPr>
            <a:spLocks noGrp="1"/>
          </p:cNvSpPr>
          <p:nvPr>
            <p:ph type="body" idx="1"/>
          </p:nvPr>
        </p:nvSpPr>
        <p:spPr>
          <a:xfrm>
            <a:off x="538163" y="4387850"/>
            <a:ext cx="5780087" cy="3952875"/>
          </a:xfrm>
          <a:ln w="1"/>
        </p:spPr>
        <p:txBody>
          <a:bodyPr wrap="square" lIns="91440" tIns="45720" rIns="91440" bIns="45720" anchor="t"/>
          <a:lstStyle/>
          <a:p>
            <a:pPr lvl="0" eaLnBrk="1" hangingPunct="1"/>
            <a:r>
              <a:rPr lang="zh-CN" altLang="en-US" dirty="0"/>
              <a:t>过渡页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Rectangle 2"/>
          <p:cNvSpPr>
            <a:spLocks noGrp="1" noRot="1" noChangeAspect="1" noTextEdit="1"/>
          </p:cNvSpPr>
          <p:nvPr>
            <p:ph type="sldImg"/>
          </p:nvPr>
        </p:nvSpPr>
        <p:spPr>
          <a:xfrm>
            <a:off x="742950" y="754063"/>
            <a:ext cx="5187950" cy="3294062"/>
          </a:xfrm>
          <a:ln w="1"/>
        </p:spPr>
      </p:sp>
      <p:sp>
        <p:nvSpPr>
          <p:cNvPr id="14339" name="Rectangle 3"/>
          <p:cNvSpPr>
            <a:spLocks noGrp="1"/>
          </p:cNvSpPr>
          <p:nvPr>
            <p:ph type="body" idx="1"/>
          </p:nvPr>
        </p:nvSpPr>
        <p:spPr>
          <a:xfrm>
            <a:off x="538163" y="4387850"/>
            <a:ext cx="5780087" cy="3952875"/>
          </a:xfrm>
          <a:ln w="1"/>
        </p:spPr>
        <p:txBody>
          <a:bodyPr wrap="square" lIns="91440" tIns="45720" rIns="91440" bIns="45720" anchor="t"/>
          <a:lstStyle/>
          <a:p>
            <a:pPr lvl="0" eaLnBrk="1" hangingPunct="1"/>
            <a:r>
              <a:rPr lang="zh-CN" altLang="en-US" dirty="0"/>
              <a:t>过渡页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Rectangle 2"/>
          <p:cNvSpPr>
            <a:spLocks noGrp="1" noRot="1" noChangeAspect="1" noTextEdit="1"/>
          </p:cNvSpPr>
          <p:nvPr>
            <p:ph type="sldImg"/>
          </p:nvPr>
        </p:nvSpPr>
        <p:spPr>
          <a:xfrm>
            <a:off x="742950" y="754063"/>
            <a:ext cx="5187950" cy="3294062"/>
          </a:xfrm>
          <a:ln w="1"/>
        </p:spPr>
      </p:sp>
      <p:sp>
        <p:nvSpPr>
          <p:cNvPr id="14339" name="Rectangle 3"/>
          <p:cNvSpPr>
            <a:spLocks noGrp="1"/>
          </p:cNvSpPr>
          <p:nvPr>
            <p:ph type="body" idx="1"/>
          </p:nvPr>
        </p:nvSpPr>
        <p:spPr>
          <a:xfrm>
            <a:off x="538163" y="4387850"/>
            <a:ext cx="5780087" cy="3952875"/>
          </a:xfrm>
          <a:ln w="1"/>
        </p:spPr>
        <p:txBody>
          <a:bodyPr wrap="square" lIns="91440" tIns="45720" rIns="91440" bIns="45720" anchor="t"/>
          <a:lstStyle/>
          <a:p>
            <a:pPr lvl="0" eaLnBrk="1" hangingPunct="1"/>
            <a:r>
              <a:rPr lang="zh-CN" altLang="en-US" dirty="0"/>
              <a:t>过渡页</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幻灯片图像占位符 1"/>
          <p:cNvSpPr>
            <a:spLocks noGrp="1" noRot="1" noChangeAspect="1" noTextEdit="1"/>
          </p:cNvSpPr>
          <p:nvPr>
            <p:ph type="sldImg"/>
          </p:nvPr>
        </p:nvSpPr>
        <p:spPr>
          <a:ln>
            <a:solidFill>
              <a:srgbClr val="000000">
                <a:alpha val="100000"/>
              </a:srgbClr>
            </a:solidFill>
            <a:miter lim="800000"/>
          </a:ln>
        </p:spPr>
      </p:sp>
      <p:sp>
        <p:nvSpPr>
          <p:cNvPr id="55299" name="备注占位符 2"/>
          <p:cNvSpPr>
            <a:spLocks noGrp="1"/>
          </p:cNvSpPr>
          <p:nvPr>
            <p:ph type="body"/>
          </p:nvPr>
        </p:nvSpPr>
        <p:spPr>
          <a:noFill/>
          <a:ln>
            <a:noFill/>
          </a:ln>
        </p:spPr>
        <p:txBody>
          <a:bodyPr wrap="square" lIns="91440" tIns="45720" rIns="91440" bIns="45720" anchor="t"/>
          <a:p>
            <a:pPr lvl="0" eaLnBrk="1" hangingPunct="1"/>
            <a:endParaRPr lang="zh-CN" altLang="en-US" dirty="0"/>
          </a:p>
        </p:txBody>
      </p:sp>
      <p:sp>
        <p:nvSpPr>
          <p:cNvPr id="5530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a:ln>
            <a:solidFill>
              <a:srgbClr val="000000">
                <a:alpha val="100000"/>
              </a:srgbClr>
            </a:solidFill>
            <a:miter lim="800000"/>
          </a:ln>
        </p:spPr>
      </p:sp>
      <p:sp>
        <p:nvSpPr>
          <p:cNvPr id="56323" name="备注占位符 2"/>
          <p:cNvSpPr>
            <a:spLocks noGrp="1"/>
          </p:cNvSpPr>
          <p:nvPr>
            <p:ph type="body"/>
          </p:nvPr>
        </p:nvSpPr>
        <p:spPr>
          <a:noFill/>
          <a:ln>
            <a:noFill/>
          </a:ln>
        </p:spPr>
        <p:txBody>
          <a:bodyPr wrap="square" lIns="91440" tIns="45720" rIns="91440" bIns="45720" anchor="t"/>
          <a:p>
            <a:pPr lvl="0" eaLnBrk="1" hangingPunct="1"/>
            <a:endParaRPr lang="zh-CN" altLang="en-US" dirty="0"/>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a:ln>
            <a:solidFill>
              <a:srgbClr val="000000">
                <a:alpha val="100000"/>
              </a:srgbClr>
            </a:solidFill>
            <a:miter lim="800000"/>
          </a:ln>
        </p:spPr>
      </p:sp>
      <p:sp>
        <p:nvSpPr>
          <p:cNvPr id="65539" name="备注占位符 2"/>
          <p:cNvSpPr>
            <a:spLocks noGrp="1"/>
          </p:cNvSpPr>
          <p:nvPr>
            <p:ph type="body"/>
          </p:nvPr>
        </p:nvSpPr>
        <p:spPr>
          <a:noFill/>
          <a:ln>
            <a:noFill/>
          </a:ln>
        </p:spPr>
        <p:txBody>
          <a:bodyPr wrap="square" lIns="91440" tIns="45720" rIns="91440" bIns="45720" anchor="t"/>
          <a:p>
            <a:pPr lvl="0" eaLnBrk="1" hangingPunct="1"/>
            <a:endParaRPr lang="zh-CN" altLang="en-US" dirty="0"/>
          </a:p>
        </p:txBody>
      </p:sp>
      <p:sp>
        <p:nvSpPr>
          <p:cNvPr id="89092" name="日期占位符 3"/>
          <p:cNvSpPr txBox="1">
            <a:spLocks noGrp="1" noChangeArrowheads="1"/>
          </p:cNvSpPr>
          <p:nvPr>
            <p:ph type="dt" sz="half"/>
          </p:nvPr>
        </p:nvSpPr>
        <p:spPr bwMode="auto">
          <a:noFill/>
          <a:ln>
            <a:noFill/>
            <a:miter lim="800000"/>
          </a:ln>
        </p:spPr>
        <p:txBody>
          <a:bodyPr wrap="square" lIns="91440" tIns="45720" rIns="91440" bIns="45720" numCol="1" rtlCol="0" anchor="t"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EB2D162-3EE8-4C8B-915F-38EA17660548}" type="datetime1">
              <a:rPr kumimoji="0" lang="en-US" altLang="en-US" sz="1200" b="0" i="0" u="none" strike="noStrike" kern="1200" cap="none" spc="0" normalizeH="0" baseline="0" noProof="0" smtClean="0">
                <a:ln>
                  <a:noFill/>
                </a:ln>
                <a:solidFill>
                  <a:schemeClr val="tx1"/>
                </a:solidFill>
                <a:effectLst/>
                <a:uLnTx/>
                <a:uFillTx/>
                <a:latin typeface="+mn-lt"/>
                <a:ea typeface="等线" panose="02010600030101010101" pitchFamily="2" charset="-122"/>
                <a:cs typeface="+mn-cs"/>
              </a:rPr>
            </a:fld>
            <a:endParaRPr kumimoji="0" lang="en-US" altLang="en-US" sz="1200" b="0" i="0" u="none" strike="noStrike" kern="1200" cap="none" spc="0" normalizeH="0" baseline="0" noProof="0" smtClean="0">
              <a:ln>
                <a:noFill/>
              </a:ln>
              <a:solidFill>
                <a:schemeClr val="tx1"/>
              </a:solidFill>
              <a:effectLst/>
              <a:uLnTx/>
              <a:uFillTx/>
              <a:latin typeface="+mn-lt"/>
              <a:ea typeface="等线" panose="02010600030101010101" pitchFamily="2" charset="-122"/>
              <a:cs typeface="+mn-cs"/>
            </a:endParaRPr>
          </a:p>
        </p:txBody>
      </p:sp>
      <p:sp>
        <p:nvSpPr>
          <p:cNvPr id="65541" name="灯片编号占位符 4"/>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Grp="1" noRot="1" noChangeAspect="1" noTextEdit="1"/>
          </p:cNvSpPr>
          <p:nvPr>
            <p:ph type="sldImg"/>
          </p:nvPr>
        </p:nvSpPr>
        <p:spPr>
          <a:ln>
            <a:solidFill>
              <a:srgbClr val="000000">
                <a:alpha val="100000"/>
              </a:srgbClr>
            </a:solidFill>
            <a:miter lim="800000"/>
          </a:ln>
        </p:spPr>
      </p:sp>
      <p:sp>
        <p:nvSpPr>
          <p:cNvPr id="81923" name="备注占位符 2"/>
          <p:cNvSpPr>
            <a:spLocks noGrp="1"/>
          </p:cNvSpPr>
          <p:nvPr>
            <p:ph type="body"/>
          </p:nvPr>
        </p:nvSpPr>
        <p:spPr>
          <a:noFill/>
          <a:ln>
            <a:noFill/>
          </a:ln>
        </p:spPr>
        <p:txBody>
          <a:bodyPr wrap="square" lIns="91440" tIns="45720" rIns="91440" bIns="45720" anchor="t"/>
          <a:p>
            <a:pPr lvl="0" eaLnBrk="1" hangingPunct="1"/>
            <a:endParaRPr lang="zh-CN" altLang="en-US" dirty="0"/>
          </a:p>
        </p:txBody>
      </p:sp>
      <p:sp>
        <p:nvSpPr>
          <p:cNvPr id="81924"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a:ln>
            <a:solidFill>
              <a:srgbClr val="000000">
                <a:alpha val="100000"/>
              </a:srgbClr>
            </a:solidFill>
            <a:miter lim="800000"/>
          </a:ln>
        </p:spPr>
      </p:sp>
      <p:sp>
        <p:nvSpPr>
          <p:cNvPr id="82947" name="备注占位符 2"/>
          <p:cNvSpPr>
            <a:spLocks noGrp="1"/>
          </p:cNvSpPr>
          <p:nvPr>
            <p:ph type="body"/>
          </p:nvPr>
        </p:nvSpPr>
        <p:spPr>
          <a:noFill/>
          <a:ln>
            <a:noFill/>
          </a:ln>
        </p:spPr>
        <p:txBody>
          <a:bodyPr wrap="square" lIns="91440" tIns="45720" rIns="91440" bIns="45720" anchor="t"/>
          <a:p>
            <a:pPr lvl="0" eaLnBrk="1" hangingPunct="1"/>
            <a:endParaRPr lang="zh-CN" altLang="en-US" dirty="0"/>
          </a:p>
        </p:txBody>
      </p:sp>
      <p:sp>
        <p:nvSpPr>
          <p:cNvPr id="8294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457200" y="6356350"/>
            <a:ext cx="2133600" cy="366713"/>
          </a:xfrm>
          <a:prstGeom prst="rect">
            <a:avLst/>
          </a:prstGeom>
        </p:spPr>
        <p:txBody>
          <a:bodyPr vert="horz" lIns="91440" tIns="45720" rIns="91440" bIns="45720" rtlCol="0" anchor="ctr"/>
          <a:lstStyle>
            <a:lvl1pPr>
              <a:spcBef>
                <a:spcPct val="0"/>
              </a:spcBef>
              <a:spcAft>
                <a:spcPct val="0"/>
              </a:spcAft>
              <a:defRPr sz="1600" noProof="1"/>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124200" y="6356350"/>
            <a:ext cx="2895600" cy="366713"/>
          </a:xfrm>
          <a:prstGeom prst="rect">
            <a:avLst/>
          </a:prstGeom>
        </p:spPr>
        <p:txBody>
          <a:bodyPr vert="horz" lIns="91440" tIns="45720" rIns="91440" bIns="45720" rtlCol="0" anchor="ctr"/>
          <a:lstStyle>
            <a:lvl1pPr>
              <a:spcBef>
                <a:spcPct val="0"/>
              </a:spcBef>
              <a:spcAft>
                <a:spcPct val="0"/>
              </a:spcAft>
              <a:defRPr sz="1600" noProof="1">
                <a:latin typeface="Calibri" panose="020F0502020204030204" pitchFamily="34" charset="0"/>
                <a:ea typeface="宋体" panose="02010600030101010101" pitchFamily="2" charset="-122"/>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356350"/>
            <a:ext cx="2133600" cy="366713"/>
          </a:xfrm>
          <a:prstGeom prst="rect">
            <a:avLst/>
          </a:prstGeom>
        </p:spPr>
        <p:txBody>
          <a:bodyPr vert="horz" wrap="square" lIns="91440" tIns="45720" rIns="91440" bIns="45720" numCol="1" anchor="ctr" anchorCtr="0" compatLnSpc="1"/>
          <a:p>
            <a:pPr algn="r"/>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7" name="日期占位符 3"/>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fld id="{9A0DB2DC-4C9A-4742-B13C-FB6460FD3503}" type="slidenum">
              <a:rPr lang="zh-CN" altLang="en-US" dirty="0"/>
            </a:fld>
            <a:endParaRPr lang="zh-CN" altLang="en-US" dirty="0"/>
          </a:p>
        </p:txBody>
      </p:sp>
    </p:spTree>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457200" y="6356350"/>
            <a:ext cx="2133600" cy="366713"/>
          </a:xfrm>
          <a:prstGeom prst="rect">
            <a:avLst/>
          </a:prstGeom>
        </p:spPr>
        <p:txBody>
          <a:bodyPr vert="horz" lIns="91440" tIns="45720" rIns="91440" bIns="45720" rtlCol="0" anchor="ctr"/>
          <a:lstStyle>
            <a:lvl1pPr>
              <a:spcBef>
                <a:spcPct val="0"/>
              </a:spcBef>
              <a:spcAft>
                <a:spcPct val="0"/>
              </a:spcAft>
              <a:defRPr sz="1600" noProof="1"/>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4"/>
          <p:cNvSpPr>
            <a:spLocks noGrp="1"/>
          </p:cNvSpPr>
          <p:nvPr>
            <p:ph type="ftr" sz="quarter" idx="3"/>
          </p:nvPr>
        </p:nvSpPr>
        <p:spPr>
          <a:xfrm>
            <a:off x="3124200" y="6356350"/>
            <a:ext cx="2895600" cy="366713"/>
          </a:xfrm>
          <a:prstGeom prst="rect">
            <a:avLst/>
          </a:prstGeom>
        </p:spPr>
        <p:txBody>
          <a:bodyPr vert="horz" lIns="91440" tIns="45720" rIns="91440" bIns="45720" rtlCol="0" anchor="ctr"/>
          <a:lstStyle>
            <a:lvl1pPr>
              <a:spcBef>
                <a:spcPct val="0"/>
              </a:spcBef>
              <a:spcAft>
                <a:spcPct val="0"/>
              </a:spcAft>
              <a:defRPr sz="1600" noProof="1">
                <a:latin typeface="Calibri" panose="020F0502020204030204" pitchFamily="34" charset="0"/>
                <a:ea typeface="宋体" panose="02010600030101010101" pitchFamily="2" charset="-122"/>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9" name="灯片编号占位符 5"/>
          <p:cNvSpPr>
            <a:spLocks noGrp="1"/>
          </p:cNvSpPr>
          <p:nvPr>
            <p:ph type="sldNum" sz="quarter" idx="4"/>
          </p:nvPr>
        </p:nvSpPr>
        <p:spPr>
          <a:xfrm>
            <a:off x="6553200" y="6356350"/>
            <a:ext cx="2133600" cy="366713"/>
          </a:xfrm>
          <a:prstGeom prst="rect">
            <a:avLst/>
          </a:prstGeom>
        </p:spPr>
        <p:txBody>
          <a:bodyPr vert="horz" wrap="square" lIns="91440" tIns="45720" rIns="91440" bIns="45720" numCol="1" anchor="ctr" anchorCtr="0" compatLnSpc="1"/>
          <a:p>
            <a:pPr algn="r"/>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1" Type="http://schemas.openxmlformats.org/officeDocument/2006/relationships/theme" Target="../theme/theme2.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628650" y="365125"/>
            <a:ext cx="7886700" cy="1325563"/>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buFontTx/>
              <a:buNone/>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buFontTx/>
              <a:buNone/>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fld id="{9A0DB2DC-4C9A-4742-B13C-FB6460FD3503}" type="slidenum">
              <a:rPr lang="zh-CN" altLang="en-US" dirty="0">
                <a:latin typeface="等线" panose="02010600030101010101" pitchFamily="2" charset="-122"/>
              </a:rPr>
            </a:fld>
            <a:endParaRPr lang="zh-CN" altLang="en-US" dirty="0">
              <a:latin typeface="等线"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占位符 1"/>
          <p:cNvSpPr>
            <a:spLocks noGrp="1"/>
          </p:cNvSpPr>
          <p:nvPr>
            <p:ph type="title"/>
          </p:nvPr>
        </p:nvSpPr>
        <p:spPr>
          <a:xfrm>
            <a:off x="628650" y="365125"/>
            <a:ext cx="7886700" cy="1325563"/>
          </a:xfrm>
          <a:prstGeom prst="rect">
            <a:avLst/>
          </a:prstGeom>
          <a:noFill/>
          <a:ln w="9525">
            <a:noFill/>
          </a:ln>
        </p:spPr>
        <p:txBody>
          <a:bodyPr anchor="ctr"/>
          <a:p>
            <a:pPr lvl="0"/>
            <a:r>
              <a:rPr lang="zh-CN" altLang="en-US" dirty="0"/>
              <a:t>单击此处编辑母版标题样式</a:t>
            </a:r>
            <a:endParaRPr lang="zh-CN" altLang="en-US" dirty="0"/>
          </a:p>
        </p:txBody>
      </p:sp>
      <p:sp>
        <p:nvSpPr>
          <p:cNvPr id="2051" name="文本占位符 2"/>
          <p:cNvSpPr>
            <a:spLocks noGrp="1"/>
          </p:cNvSpPr>
          <p:nvPr>
            <p:ph type="body"/>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buFontTx/>
              <a:buNone/>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buFontTx/>
              <a:buNone/>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fld id="{9A0DB2DC-4C9A-4742-B13C-FB6460FD3503}" type="slidenum">
              <a:rPr lang="zh-CN" altLang="en-US" dirty="0">
                <a:latin typeface="等线" panose="02010600030101010101" pitchFamily="2" charset="-122"/>
              </a:rPr>
            </a:fld>
            <a:endParaRPr lang="zh-CN" altLang="en-US" dirty="0">
              <a:latin typeface="等线"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628650" y="365125"/>
            <a:ext cx="7886700" cy="1325563"/>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buFontTx/>
              <a:buNone/>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buFontTx/>
              <a:buNone/>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fld id="{9A0DB2DC-4C9A-4742-B13C-FB6460FD3503}" type="slidenum">
              <a:rPr lang="zh-CN" altLang="en-US" dirty="0">
                <a:latin typeface="等线" panose="02010600030101010101" pitchFamily="2" charset="-122"/>
              </a:rPr>
            </a:fld>
            <a:endParaRPr lang="zh-CN" altLang="en-US" dirty="0">
              <a:latin typeface="等线"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33" name="直接连接符 32"/>
          <p:cNvCxnSpPr/>
          <p:nvPr/>
        </p:nvCxnSpPr>
        <p:spPr>
          <a:xfrm flipV="1">
            <a:off x="23813" y="874713"/>
            <a:ext cx="9099550" cy="1746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230188" y="514350"/>
            <a:ext cx="207963" cy="204788"/>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100" name="文本框 99"/>
          <p:cNvSpPr txBox="1"/>
          <p:nvPr/>
        </p:nvSpPr>
        <p:spPr>
          <a:xfrm>
            <a:off x="1228090" y="1845945"/>
            <a:ext cx="7185660" cy="2799715"/>
          </a:xfrm>
          <a:prstGeom prst="rect">
            <a:avLst/>
          </a:prstGeom>
          <a:noFill/>
          <a:ln w="9525">
            <a:noFill/>
          </a:ln>
        </p:spPr>
        <p:txBody>
          <a:bodyPr wrap="square">
            <a:spAutoFit/>
          </a:bodyPr>
          <a:p>
            <a:r>
              <a:rPr sz="2000">
                <a:latin typeface="Calibri" panose="020F0502020204030204" pitchFamily="34" charset="0"/>
                <a:ea typeface="宋体" panose="02010600030101010101" pitchFamily="2" charset="-122"/>
              </a:rPr>
              <a:t>把企业家分成三类：</a:t>
            </a:r>
            <a:endParaRPr sz="2000">
              <a:latin typeface="Calibri" panose="020F0502020204030204" pitchFamily="34" charset="0"/>
              <a:ea typeface="宋体" panose="02010600030101010101" pitchFamily="2" charset="-122"/>
            </a:endParaRPr>
          </a:p>
          <a:p>
            <a:r>
              <a:rPr sz="2000">
                <a:latin typeface="Calibri" panose="020F0502020204030204" pitchFamily="34" charset="0"/>
                <a:ea typeface="宋体" panose="02010600030101010101" pitchFamily="2" charset="-122"/>
              </a:rPr>
              <a:t>第一类是交易型企业家，特点是发现和捕捉市场机会，尤其当市场中出现新的需求时，会想方设法满足这些需求，在实现自身价值</a:t>
            </a:r>
            <a:r>
              <a:rPr lang="zh-CN" sz="2000">
                <a:latin typeface="Calibri" panose="020F0502020204030204" pitchFamily="34" charset="0"/>
                <a:ea typeface="宋体" panose="02010600030101010101" pitchFamily="2" charset="-122"/>
              </a:rPr>
              <a:t>的</a:t>
            </a:r>
            <a:r>
              <a:rPr sz="2000">
                <a:latin typeface="Calibri" panose="020F0502020204030204" pitchFamily="34" charset="0"/>
                <a:ea typeface="宋体" panose="02010600030101010101" pitchFamily="2" charset="-122"/>
              </a:rPr>
              <a:t>同时，也为社会创造了价值。</a:t>
            </a:r>
            <a:endParaRPr sz="2000">
              <a:latin typeface="Calibri" panose="020F0502020204030204" pitchFamily="34" charset="0"/>
              <a:ea typeface="宋体" panose="02010600030101010101" pitchFamily="2" charset="-122"/>
            </a:endParaRPr>
          </a:p>
          <a:p>
            <a:r>
              <a:rPr sz="2000">
                <a:latin typeface="Calibri" panose="020F0502020204030204" pitchFamily="34" charset="0"/>
                <a:ea typeface="宋体" panose="02010600030101010101" pitchFamily="2" charset="-122"/>
              </a:rPr>
              <a:t> 第二类是管理型企业家，中欧国际工商学院主要培养这类企业家，他们不是一般的职业经理人，不是循规蹈矩、执行命令的管理者，而是要在管理的过程中创新。</a:t>
            </a:r>
            <a:endParaRPr lang="zh-CN" sz="1050">
              <a:latin typeface="Calibri" panose="020F0502020204030204" pitchFamily="34" charset="0"/>
              <a:ea typeface="宋体" panose="02010600030101010101" pitchFamily="2" charset="-122"/>
              <a:cs typeface="Times New Roman" panose="02020603050405020304" charset="0"/>
            </a:endParaRPr>
          </a:p>
          <a:p>
            <a:r>
              <a:rPr lang="zh-CN" altLang="en-US"/>
              <a:t>第三类叫做创新型企业家，例如比尔·盖茨、扎克伯格等。创新型企业家如果没有管理型企业家一起合作的话，他的创新往往会失败。</a:t>
            </a:r>
            <a:endParaRPr lang="zh-CN" altLang="en-U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7" descr="image9"/>
          <p:cNvPicPr>
            <a:picLocks noChangeAspect="1"/>
          </p:cNvPicPr>
          <p:nvPr/>
        </p:nvPicPr>
        <p:blipFill>
          <a:blip r:embed="rId1" cstate="print"/>
          <a:stretch>
            <a:fillRect/>
          </a:stretch>
        </p:blipFill>
        <p:spPr>
          <a:xfrm>
            <a:off x="3155782" y="1970046"/>
            <a:ext cx="3108476" cy="64508"/>
          </a:xfrm>
          <a:prstGeom prst="rect">
            <a:avLst/>
          </a:prstGeom>
          <a:noFill/>
          <a:ln w="9525">
            <a:noFill/>
          </a:ln>
        </p:spPr>
      </p:pic>
      <p:sp>
        <p:nvSpPr>
          <p:cNvPr id="20481" name="Rectangle 1"/>
          <p:cNvSpPr>
            <a:spLocks noChangeArrowheads="1"/>
          </p:cNvSpPr>
          <p:nvPr/>
        </p:nvSpPr>
        <p:spPr bwMode="auto">
          <a:xfrm>
            <a:off x="670614" y="747982"/>
            <a:ext cx="7558935" cy="596900"/>
          </a:xfrm>
          <a:prstGeom prst="rect">
            <a:avLst/>
          </a:prstGeom>
          <a:noFill/>
          <a:ln w="9525">
            <a:noFill/>
            <a:miter lim="800000"/>
          </a:ln>
          <a:effectLst/>
        </p:spPr>
        <p:txBody>
          <a:bodyPr vert="horz" wrap="square" lIns="77409" tIns="38704" rIns="77409" bIns="38704" numCol="1" anchor="ctr" anchorCtr="0" compatLnSpc="1">
            <a:spAutoFit/>
          </a:bodyPr>
          <a:lstStyle/>
          <a:p>
            <a:pPr lvl="0" indent="304800"/>
            <a:r>
              <a:rPr kumimoji="0" lang="zh-CN" altLang="en-US" sz="3385"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四、</a:t>
            </a:r>
            <a:r>
              <a:rPr lang="zh-CN" altLang="zh-CN" sz="3385" dirty="0" smtClean="0">
                <a:solidFill>
                  <a:srgbClr val="FF0000"/>
                </a:solidFill>
                <a:cs typeface="Arial" panose="020B0604020202020204" pitchFamily="34" charset="0"/>
              </a:rPr>
              <a:t>风险投资对创新作用机理的分析</a:t>
            </a:r>
            <a:endParaRPr lang="zh-CN" altLang="en-US" sz="3385" dirty="0" smtClean="0">
              <a:solidFill>
                <a:srgbClr val="FF0000"/>
              </a:solidFill>
              <a:cs typeface="Arial" panose="020B0604020202020204" pitchFamily="34" charset="0"/>
            </a:endParaRPr>
          </a:p>
        </p:txBody>
      </p:sp>
      <p:sp>
        <p:nvSpPr>
          <p:cNvPr id="75777" name="Rectangle 1"/>
          <p:cNvSpPr>
            <a:spLocks noChangeArrowheads="1"/>
          </p:cNvSpPr>
          <p:nvPr/>
        </p:nvSpPr>
        <p:spPr bwMode="auto">
          <a:xfrm>
            <a:off x="426778" y="1691118"/>
            <a:ext cx="8412363" cy="3823335"/>
          </a:xfrm>
          <a:prstGeom prst="rect">
            <a:avLst/>
          </a:prstGeom>
          <a:noFill/>
          <a:ln w="9525">
            <a:noFill/>
            <a:miter lim="800000"/>
          </a:ln>
          <a:effectLst/>
        </p:spPr>
        <p:txBody>
          <a:bodyPr vert="horz" wrap="square" lIns="77409" tIns="38704" rIns="77409" bIns="38704" numCol="1" anchor="ctr" anchorCtr="0" compatLnSpc="1">
            <a:spAutoFit/>
          </a:bodyPr>
          <a:lstStyle/>
          <a:p>
            <a:pPr marL="0" marR="0" lvl="0" indent="304800" algn="l" defTabSz="914400" rtl="0" eaLnBrk="1" fontAlgn="base" latinLnBrk="0" hangingPunct="1">
              <a:lnSpc>
                <a:spcPct val="100000"/>
              </a:lnSpc>
              <a:spcBef>
                <a:spcPct val="0"/>
              </a:spcBef>
              <a:spcAft>
                <a:spcPct val="0"/>
              </a:spcAft>
              <a:buClrTx/>
              <a:buSzTx/>
              <a:buFontTx/>
              <a:buNone/>
            </a:pPr>
            <a:r>
              <a:rPr kumimoji="0" lang="zh-CN"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问题导入</a:t>
            </a:r>
            <a:endParaRPr kumimoji="0" lang="en-US" altLang="zh-CN"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endParaRPr>
          </a:p>
          <a:p>
            <a:pPr marL="0" marR="0" lvl="0" indent="304800" algn="l" defTabSz="914400" rtl="0" eaLnBrk="1" fontAlgn="base" latinLnBrk="0" hangingPunct="1">
              <a:lnSpc>
                <a:spcPct val="100000"/>
              </a:lnSpc>
              <a:spcBef>
                <a:spcPct val="0"/>
              </a:spcBef>
              <a:spcAft>
                <a:spcPct val="0"/>
              </a:spcAft>
              <a:buClrTx/>
              <a:buSzTx/>
              <a:buFontTx/>
              <a:buNone/>
            </a:pPr>
            <a:endParaRPr kumimoji="0" lang="zh-CN"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为激发大众创业和万众创新，我国政府近年来出台了一系列政策鼓励和发展风险投资。风险投资</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不仅</a:t>
            </a: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对创新</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有</a:t>
            </a: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“增值服务”角度，同时也有</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攫取行为所产生的消极作用</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203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从三个问题进行探讨：</a:t>
            </a:r>
            <a:endParaRPr kumimoji="0" lang="zh-CN" altLang="en-US" sz="203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1.</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风险投资的“攫取行为”与“增值服务”如何交互作用于中国中小企业创新？</a:t>
            </a:r>
            <a:endParaRPr kumimoji="0" lang="zh-CN" altLang="en-US" sz="203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2.</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这种作用机理如何因风险投资在</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声誉资本</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以及</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联合投资</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程度方面的不同而不同？</a:t>
            </a:r>
            <a:endParaRPr kumimoji="0" lang="zh-CN" altLang="en-US" sz="203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3.</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风险投资对中国中小企业的创新能力究竟产生了何种程度的影响效果？</a:t>
            </a:r>
            <a:endParaRPr kumimoji="0" lang="zh-CN" altLang="en-US" sz="203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7" descr="image9"/>
          <p:cNvPicPr>
            <a:picLocks noChangeAspect="1"/>
          </p:cNvPicPr>
          <p:nvPr/>
        </p:nvPicPr>
        <p:blipFill>
          <a:blip r:embed="rId1" cstate="print"/>
          <a:stretch>
            <a:fillRect/>
          </a:stretch>
        </p:blipFill>
        <p:spPr>
          <a:xfrm>
            <a:off x="3155782" y="1970046"/>
            <a:ext cx="3108476" cy="64508"/>
          </a:xfrm>
          <a:prstGeom prst="rect">
            <a:avLst/>
          </a:prstGeom>
          <a:noFill/>
          <a:ln w="9525">
            <a:noFill/>
          </a:ln>
        </p:spPr>
      </p:pic>
      <p:sp>
        <p:nvSpPr>
          <p:cNvPr id="20481" name="Rectangle 1"/>
          <p:cNvSpPr>
            <a:spLocks noChangeArrowheads="1"/>
          </p:cNvSpPr>
          <p:nvPr/>
        </p:nvSpPr>
        <p:spPr bwMode="auto">
          <a:xfrm>
            <a:off x="670614" y="747982"/>
            <a:ext cx="7558935" cy="596900"/>
          </a:xfrm>
          <a:prstGeom prst="rect">
            <a:avLst/>
          </a:prstGeom>
          <a:noFill/>
          <a:ln w="9525">
            <a:noFill/>
            <a:miter lim="800000"/>
          </a:ln>
          <a:effectLst/>
        </p:spPr>
        <p:txBody>
          <a:bodyPr vert="horz" wrap="square" lIns="77409" tIns="38704" rIns="77409" bIns="38704" numCol="1" anchor="ctr" anchorCtr="0" compatLnSpc="1">
            <a:spAutoFit/>
          </a:bodyPr>
          <a:lstStyle/>
          <a:p>
            <a:pPr lvl="0" indent="304800"/>
            <a:r>
              <a:rPr kumimoji="0" lang="zh-CN" altLang="en-US" sz="3385"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四、</a:t>
            </a:r>
            <a:r>
              <a:rPr lang="zh-CN" altLang="zh-CN" sz="3385" dirty="0" smtClean="0">
                <a:solidFill>
                  <a:srgbClr val="FF0000"/>
                </a:solidFill>
                <a:cs typeface="Arial" panose="020B0604020202020204" pitchFamily="34" charset="0"/>
              </a:rPr>
              <a:t>风险投资对创新作用机理的分析</a:t>
            </a:r>
            <a:endParaRPr lang="zh-CN" altLang="en-US" sz="3385" dirty="0" smtClean="0">
              <a:solidFill>
                <a:srgbClr val="FF0000"/>
              </a:solidFill>
              <a:cs typeface="Arial" panose="020B0604020202020204" pitchFamily="34" charset="0"/>
            </a:endParaRPr>
          </a:p>
        </p:txBody>
      </p:sp>
      <p:sp>
        <p:nvSpPr>
          <p:cNvPr id="65537" name="Rectangle 1"/>
          <p:cNvSpPr>
            <a:spLocks noChangeArrowheads="1"/>
          </p:cNvSpPr>
          <p:nvPr/>
        </p:nvSpPr>
        <p:spPr bwMode="auto">
          <a:xfrm>
            <a:off x="1402124" y="2212281"/>
            <a:ext cx="6766466" cy="2261870"/>
          </a:xfrm>
          <a:prstGeom prst="rect">
            <a:avLst/>
          </a:prstGeom>
          <a:noFill/>
          <a:ln w="9525">
            <a:noFill/>
            <a:miter lim="800000"/>
          </a:ln>
          <a:effectLst/>
        </p:spPr>
        <p:txBody>
          <a:bodyPr vert="horz" wrap="square" lIns="77409" tIns="38704" rIns="77409" bIns="38704" numCol="1" anchor="ctr" anchorCtr="0" compatLnSpc="1">
            <a:spAutoFit/>
          </a:bodyPr>
          <a:lstStyle/>
          <a:p>
            <a:pPr marL="0" marR="0" lvl="0" indent="304800" algn="l" defTabSz="914400" rtl="0" eaLnBrk="1" fontAlgn="base" latinLnBrk="0" hangingPunct="1">
              <a:lnSpc>
                <a:spcPct val="100000"/>
              </a:lnSpc>
              <a:spcBef>
                <a:spcPct val="0"/>
              </a:spcBef>
              <a:spcAft>
                <a:spcPct val="0"/>
              </a:spcAft>
              <a:buClrTx/>
              <a:buSzTx/>
              <a:buFontTx/>
              <a:buNone/>
            </a:pPr>
            <a:r>
              <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 </a:t>
            </a: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风险投资能够显著提升新能源企业的创新能力，且这一激励效应主要通过</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资金增加效应</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创新倾向提高效应</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”和“</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股东积极主义效应</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”机制实现。</a:t>
            </a:r>
            <a:endPar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endParaRPr>
          </a:p>
          <a:p>
            <a:pPr marL="0" marR="0" lvl="0" indent="304800" algn="l" defTabSz="914400" rtl="0" eaLnBrk="1" fontAlgn="base" latinLnBrk="0" hangingPunct="1">
              <a:lnSpc>
                <a:spcPct val="100000"/>
              </a:lnSpc>
              <a:spcBef>
                <a:spcPct val="0"/>
              </a:spcBef>
              <a:spcAft>
                <a:spcPct val="0"/>
              </a:spcAft>
              <a:buClrTx/>
              <a:buSzTx/>
              <a:buFontTx/>
              <a:buNone/>
            </a:pP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进一步地，对接受了风险投资的上市公司研究发现，被联合投资的公司比被单独投资的公司表现出更强的创新能力；且联合投资机构数目越多，风险投资的持股时间越长，风险投资的联合投资对对企业创新的正影响越强。</a:t>
            </a:r>
            <a:endParaRPr kumimoji="0" lang="zh-CN" altLang="en-US" sz="203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7" descr="image9"/>
          <p:cNvPicPr>
            <a:picLocks noChangeAspect="1"/>
          </p:cNvPicPr>
          <p:nvPr/>
        </p:nvPicPr>
        <p:blipFill>
          <a:blip r:embed="rId1" cstate="print"/>
          <a:stretch>
            <a:fillRect/>
          </a:stretch>
        </p:blipFill>
        <p:spPr>
          <a:xfrm>
            <a:off x="3155782" y="1970046"/>
            <a:ext cx="3108476" cy="64508"/>
          </a:xfrm>
          <a:prstGeom prst="rect">
            <a:avLst/>
          </a:prstGeom>
          <a:noFill/>
          <a:ln w="9525">
            <a:noFill/>
          </a:ln>
        </p:spPr>
      </p:pic>
      <p:sp>
        <p:nvSpPr>
          <p:cNvPr id="4" name="矩形 3"/>
          <p:cNvSpPr/>
          <p:nvPr/>
        </p:nvSpPr>
        <p:spPr>
          <a:xfrm>
            <a:off x="1463083" y="2331735"/>
            <a:ext cx="6278793" cy="2640330"/>
          </a:xfrm>
          <a:prstGeom prst="rect">
            <a:avLst/>
          </a:prstGeom>
        </p:spPr>
        <p:txBody>
          <a:bodyPr wrap="square">
            <a:spAutoFit/>
          </a:bodyPr>
          <a:lstStyle/>
          <a:p>
            <a:r>
              <a:rPr lang="en-US" altLang="zh-CN" sz="2370" b="0" dirty="0" smtClean="0"/>
              <a:t>      </a:t>
            </a:r>
            <a:r>
              <a:rPr lang="zh-CN" altLang="zh-CN" sz="2370" b="0" dirty="0" smtClean="0"/>
              <a:t>一方面，已有研究表明，与其他投资者相比，风险投资在提供监督治理、管理咨询和资源连结等</a:t>
            </a:r>
            <a:r>
              <a:rPr lang="zh-CN" altLang="zh-CN" sz="2370" b="0" dirty="0" smtClean="0">
                <a:solidFill>
                  <a:srgbClr val="FF0000"/>
                </a:solidFill>
              </a:rPr>
              <a:t>增值服务</a:t>
            </a:r>
            <a:r>
              <a:rPr lang="zh-CN" altLang="zh-CN" sz="2370" b="0" dirty="0" smtClean="0"/>
              <a:t>方面具有明显的比较优势。另一方面，风险投资有动机和能力通过</a:t>
            </a:r>
            <a:r>
              <a:rPr lang="en-US" altLang="zh-CN" sz="2370" b="0" dirty="0" smtClean="0"/>
              <a:t>“</a:t>
            </a:r>
            <a:r>
              <a:rPr lang="zh-CN" altLang="zh-CN" sz="2370" b="0" dirty="0" smtClean="0"/>
              <a:t>所有权替代效应</a:t>
            </a:r>
            <a:r>
              <a:rPr lang="en-US" altLang="zh-CN" sz="2370" b="0" dirty="0" smtClean="0"/>
              <a:t>”</a:t>
            </a:r>
            <a:r>
              <a:rPr lang="zh-CN" altLang="zh-CN" sz="2370" b="0" dirty="0" smtClean="0"/>
              <a:t>、</a:t>
            </a:r>
            <a:r>
              <a:rPr lang="en-US" altLang="zh-CN" sz="2370" b="0" dirty="0" smtClean="0"/>
              <a:t>“</a:t>
            </a:r>
            <a:r>
              <a:rPr lang="zh-CN" altLang="zh-CN" sz="2370" b="0" dirty="0" smtClean="0"/>
              <a:t>金融隧道效应</a:t>
            </a:r>
            <a:r>
              <a:rPr lang="en-US" altLang="zh-CN" sz="2370" b="0" dirty="0" smtClean="0"/>
              <a:t>”</a:t>
            </a:r>
            <a:r>
              <a:rPr lang="zh-CN" altLang="zh-CN" sz="2370" b="0" dirty="0" smtClean="0"/>
              <a:t>和</a:t>
            </a:r>
            <a:r>
              <a:rPr lang="en-US" altLang="zh-CN" sz="2370" b="0" dirty="0" smtClean="0"/>
              <a:t>“</a:t>
            </a:r>
            <a:r>
              <a:rPr lang="zh-CN" altLang="zh-CN" sz="2370" b="0" dirty="0" smtClean="0"/>
              <a:t>经营隧道效应</a:t>
            </a:r>
            <a:r>
              <a:rPr lang="en-US" altLang="zh-CN" sz="2370" b="0" dirty="0" smtClean="0"/>
              <a:t>”</a:t>
            </a:r>
            <a:r>
              <a:rPr lang="zh-CN" altLang="zh-CN" sz="2370" b="0" dirty="0" smtClean="0"/>
              <a:t>等途径对初创企业进行</a:t>
            </a:r>
            <a:r>
              <a:rPr lang="zh-CN" altLang="zh-CN" sz="2370" b="0" dirty="0" smtClean="0">
                <a:solidFill>
                  <a:srgbClr val="FF0000"/>
                </a:solidFill>
              </a:rPr>
              <a:t>攫取</a:t>
            </a:r>
            <a:r>
              <a:rPr lang="zh-CN" altLang="zh-CN" sz="2370" b="0" dirty="0" smtClean="0"/>
              <a:t>，进而损害创新。</a:t>
            </a:r>
            <a:endParaRPr lang="zh-CN" altLang="en-US" sz="2370" b="0" dirty="0"/>
          </a:p>
        </p:txBody>
      </p:sp>
      <p:sp>
        <p:nvSpPr>
          <p:cNvPr id="5" name="Rectangle 1"/>
          <p:cNvSpPr>
            <a:spLocks noChangeArrowheads="1"/>
          </p:cNvSpPr>
          <p:nvPr/>
        </p:nvSpPr>
        <p:spPr bwMode="auto">
          <a:xfrm>
            <a:off x="670614" y="747982"/>
            <a:ext cx="7558935" cy="596900"/>
          </a:xfrm>
          <a:prstGeom prst="rect">
            <a:avLst/>
          </a:prstGeom>
          <a:noFill/>
          <a:ln w="9525">
            <a:noFill/>
            <a:miter lim="800000"/>
          </a:ln>
          <a:effectLst/>
        </p:spPr>
        <p:txBody>
          <a:bodyPr vert="horz" wrap="square" lIns="77409" tIns="38704" rIns="77409" bIns="38704" numCol="1" anchor="ctr" anchorCtr="0" compatLnSpc="1">
            <a:spAutoFit/>
          </a:bodyPr>
          <a:lstStyle/>
          <a:p>
            <a:pPr lvl="0" indent="304800"/>
            <a:r>
              <a:rPr kumimoji="0" lang="zh-CN" altLang="en-US" sz="3385"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四、</a:t>
            </a:r>
            <a:r>
              <a:rPr lang="zh-CN" altLang="zh-CN" sz="3385" dirty="0" smtClean="0">
                <a:solidFill>
                  <a:srgbClr val="FF0000"/>
                </a:solidFill>
                <a:cs typeface="Arial" panose="020B0604020202020204" pitchFamily="34" charset="0"/>
              </a:rPr>
              <a:t>风险投资对创新作用机理的分析</a:t>
            </a:r>
            <a:endParaRPr lang="zh-CN" altLang="en-US" sz="3385" dirty="0" smtClean="0">
              <a:solidFill>
                <a:srgbClr val="FF0000"/>
              </a:solidFill>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7" descr="image9"/>
          <p:cNvPicPr>
            <a:picLocks noChangeAspect="1"/>
          </p:cNvPicPr>
          <p:nvPr/>
        </p:nvPicPr>
        <p:blipFill>
          <a:blip r:embed="rId1" cstate="print"/>
          <a:stretch>
            <a:fillRect/>
          </a:stretch>
        </p:blipFill>
        <p:spPr>
          <a:xfrm>
            <a:off x="3155782" y="1970046"/>
            <a:ext cx="3108476" cy="64508"/>
          </a:xfrm>
          <a:prstGeom prst="rect">
            <a:avLst/>
          </a:prstGeom>
          <a:noFill/>
          <a:ln w="9525">
            <a:noFill/>
          </a:ln>
        </p:spPr>
      </p:pic>
      <p:sp>
        <p:nvSpPr>
          <p:cNvPr id="69633" name="Rectangle 1"/>
          <p:cNvSpPr>
            <a:spLocks noChangeArrowheads="1"/>
          </p:cNvSpPr>
          <p:nvPr/>
        </p:nvSpPr>
        <p:spPr bwMode="auto">
          <a:xfrm>
            <a:off x="731573" y="1724099"/>
            <a:ext cx="7924690" cy="3302635"/>
          </a:xfrm>
          <a:prstGeom prst="rect">
            <a:avLst/>
          </a:prstGeom>
          <a:noFill/>
          <a:ln w="9525">
            <a:noFill/>
            <a:miter lim="800000"/>
          </a:ln>
          <a:effectLst/>
        </p:spPr>
        <p:txBody>
          <a:bodyPr vert="horz" wrap="square" lIns="77409" tIns="38704" rIns="77409" bIns="38704" numCol="1" anchor="ctr" anchorCtr="0" compatLnSpc="1">
            <a:spAutoFit/>
          </a:bodyPr>
          <a:lstStyle/>
          <a:p>
            <a:pPr marL="0" marR="0" lvl="0" indent="304800" algn="l" defTabSz="914400" rtl="0" eaLnBrk="1" fontAlgn="base" latinLnBrk="0" hangingPunct="1">
              <a:lnSpc>
                <a:spcPct val="100000"/>
              </a:lnSpc>
              <a:spcBef>
                <a:spcPct val="0"/>
              </a:spcBef>
              <a:spcAft>
                <a:spcPct val="0"/>
              </a:spcAft>
              <a:buClrTx/>
              <a:buSzTx/>
              <a:buFontTx/>
              <a:buNone/>
            </a:pPr>
            <a:r>
              <a:rPr kumimoji="0" lang="zh-CN" sz="237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主要结论</a:t>
            </a:r>
            <a:endParaRPr kumimoji="0" lang="en-US" altLang="zh-CN" sz="237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endParaRPr>
          </a:p>
          <a:p>
            <a:pPr marL="0" marR="0" lvl="0" indent="304800" algn="l" defTabSz="914400" rtl="0" eaLnBrk="1" fontAlgn="base" latinLnBrk="0" hangingPunct="1">
              <a:lnSpc>
                <a:spcPct val="100000"/>
              </a:lnSpc>
              <a:spcBef>
                <a:spcPct val="0"/>
              </a:spcBef>
              <a:spcAft>
                <a:spcPct val="0"/>
              </a:spcAft>
              <a:buClrTx/>
              <a:buSzTx/>
              <a:buFontTx/>
              <a:buNone/>
            </a:pPr>
            <a:endParaRPr kumimoji="0" lang="zh-CN" sz="237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第一，中国风险投资整体上显著</a:t>
            </a:r>
            <a:r>
              <a:rPr kumimoji="0" lang="zh-CN"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降低</a:t>
            </a: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了企业的创新水平，增值服务对创新的增量作用不足以抵消攫取效应的消极影响。</a:t>
            </a:r>
            <a:endPar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第二，风险投资对创新的影响呈现先递减而后递增的</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a:t>
            </a:r>
            <a:r>
              <a:rPr kumimoji="0" lang="en-US" altLang="zh-CN"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U</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型</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”曲线关系，其消极影响的峰值基本出现在持股企业</a:t>
            </a:r>
            <a:r>
              <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IPO</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当年或前一年。</a:t>
            </a:r>
            <a:endParaRPr kumimoji="0" lang="en-US" altLang="zh-CN"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endParaRPr>
          </a:p>
          <a:p>
            <a:pPr marL="0" marR="0" lvl="0" indent="304800" algn="l" defTabSz="914400" rtl="0" eaLnBrk="0" fontAlgn="base" latinLnBrk="0" hangingPunct="0">
              <a:lnSpc>
                <a:spcPct val="100000"/>
              </a:lnSpc>
              <a:spcBef>
                <a:spcPct val="0"/>
              </a:spcBef>
              <a:spcAft>
                <a:spcPct val="0"/>
              </a:spcAft>
              <a:buClrTx/>
              <a:buSzTx/>
              <a:buFontTx/>
              <a:buNone/>
            </a:pP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第三，</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高声誉风投</a:t>
            </a:r>
            <a:r>
              <a:rPr kumimoji="0" lang="zh-CN" altLang="en-US" sz="2030" b="0" i="0" u="none" strike="noStrike" cap="none" normalizeH="0" baseline="0" dirty="0" smtClean="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较低声誉风投对企业专利申请的不利影响更小，对创新效率的提升作用更大；是否联合投资与声誉资本异质性有相同的调节作用；</a:t>
            </a:r>
            <a:r>
              <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高声誉资本牵头组建的联合风投对企业创新不存在消极影响，它的参与还显著提升了企业创新水平。</a:t>
            </a:r>
            <a:endParaRPr kumimoji="0" lang="zh-CN" altLang="en-US" sz="203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p:txBody>
      </p:sp>
      <p:sp>
        <p:nvSpPr>
          <p:cNvPr id="5" name="Rectangle 1"/>
          <p:cNvSpPr>
            <a:spLocks noChangeArrowheads="1"/>
          </p:cNvSpPr>
          <p:nvPr/>
        </p:nvSpPr>
        <p:spPr bwMode="auto">
          <a:xfrm>
            <a:off x="670614" y="747982"/>
            <a:ext cx="7558935" cy="596900"/>
          </a:xfrm>
          <a:prstGeom prst="rect">
            <a:avLst/>
          </a:prstGeom>
          <a:noFill/>
          <a:ln w="9525">
            <a:noFill/>
            <a:miter lim="800000"/>
          </a:ln>
          <a:effectLst/>
        </p:spPr>
        <p:txBody>
          <a:bodyPr vert="horz" wrap="square" lIns="77409" tIns="38704" rIns="77409" bIns="38704" numCol="1" anchor="ctr" anchorCtr="0" compatLnSpc="1">
            <a:spAutoFit/>
          </a:bodyPr>
          <a:lstStyle/>
          <a:p>
            <a:pPr lvl="0" indent="304800"/>
            <a:r>
              <a:rPr kumimoji="0" lang="zh-CN" altLang="en-US" sz="3385"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四、</a:t>
            </a:r>
            <a:r>
              <a:rPr lang="zh-CN" altLang="zh-CN" sz="3385" dirty="0" smtClean="0">
                <a:solidFill>
                  <a:srgbClr val="FF0000"/>
                </a:solidFill>
                <a:cs typeface="Arial" panose="020B0604020202020204" pitchFamily="34" charset="0"/>
              </a:rPr>
              <a:t>风险投资对创新作用机理的分析</a:t>
            </a:r>
            <a:endParaRPr lang="zh-CN" altLang="en-US" sz="3385" dirty="0" smtClean="0">
              <a:solidFill>
                <a:srgbClr val="FF0000"/>
              </a:solidFill>
              <a:cs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04800" y="1266825"/>
            <a:ext cx="8634413" cy="12573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6147" name="TextBox 1"/>
          <p:cNvSpPr txBox="1"/>
          <p:nvPr/>
        </p:nvSpPr>
        <p:spPr>
          <a:xfrm>
            <a:off x="114300" y="2794000"/>
            <a:ext cx="8915400" cy="528638"/>
          </a:xfrm>
          <a:prstGeom prst="rect">
            <a:avLst/>
          </a:prstGeom>
          <a:noFill/>
          <a:ln w="9525">
            <a:noFill/>
          </a:ln>
        </p:spPr>
        <p:txBody>
          <a:bodyPr wrap="none">
            <a:spAutoFit/>
          </a:bodyPr>
          <a:lstStyle/>
          <a:p>
            <a:pPr marR="0" defTabSz="914400">
              <a:buClrTx/>
              <a:buSzTx/>
              <a:buFont typeface="Arial" panose="020B0604020202020204" pitchFamily="34" charset="0"/>
              <a:buNone/>
              <a:defRPr/>
            </a:pP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引导案例：南水北调工程</a:t>
            </a:r>
            <a:r>
              <a:rPr kumimoji="0" lang="en-US" altLang="zh-CN" sz="2850" b="1" kern="1200" cap="none" spc="0" normalizeH="0" baseline="0" noProof="1">
                <a:latin typeface="宋体" panose="02010600030101010101" pitchFamily="2" charset="-122"/>
                <a:ea typeface="宋体" panose="02010600030101010101" pitchFamily="2" charset="-122"/>
                <a:cs typeface="+mn-cs"/>
                <a:sym typeface="+mn-ea"/>
              </a:rPr>
              <a:t>——</a:t>
            </a: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跨流域调水中的利益协调</a:t>
            </a:r>
            <a:endParaRPr kumimoji="0" lang="zh-CN" altLang="en-US" sz="2850" b="1" kern="1200" cap="none" spc="0" normalizeH="0" baseline="0" noProof="1">
              <a:latin typeface="宋体" panose="02010600030101010101" pitchFamily="2" charset="-122"/>
              <a:ea typeface="宋体" panose="02010600030101010101" pitchFamily="2" charset="-122"/>
              <a:cs typeface="+mn-cs"/>
              <a:sym typeface="+mn-ea"/>
            </a:endParaRPr>
          </a:p>
        </p:txBody>
      </p:sp>
      <p:sp>
        <p:nvSpPr>
          <p:cNvPr id="6148" name="TextBox 2"/>
          <p:cNvSpPr txBox="1"/>
          <p:nvPr/>
        </p:nvSpPr>
        <p:spPr>
          <a:xfrm>
            <a:off x="530225" y="1584325"/>
            <a:ext cx="8181975" cy="622300"/>
          </a:xfrm>
          <a:prstGeom prst="rect">
            <a:avLst/>
          </a:prstGeom>
          <a:noFill/>
          <a:ln w="9525">
            <a:noFill/>
          </a:ln>
        </p:spPr>
        <p:txBody>
          <a:bodyPr lIns="0" tIns="0" rIns="0" bIns="0">
            <a:spAutoFit/>
          </a:bodyPr>
          <a:lstStyle/>
          <a:p>
            <a:pPr marR="0" defTabSz="914400">
              <a:buClrTx/>
              <a:buSzTx/>
              <a:buFont typeface="Arial" panose="020B0604020202020204" pitchFamily="34" charset="0"/>
              <a:buNone/>
              <a:defRPr/>
            </a:pPr>
            <a:r>
              <a:rPr kumimoji="0" lang="zh-CN" altLang="en-US" sz="4050" b="1" kern="1200" cap="none" spc="0" normalizeH="0" baseline="0" noProof="1">
                <a:solidFill>
                  <a:schemeClr val="bg1"/>
                </a:solidFill>
                <a:latin typeface="宋体" panose="02010600030101010101" pitchFamily="2" charset="-122"/>
                <a:ea typeface="宋体" panose="02010600030101010101" pitchFamily="2" charset="-122"/>
                <a:cs typeface="+mn-cs"/>
                <a:sym typeface="+mn-ea"/>
              </a:rPr>
              <a:t>第三章 工程中的价值、利益与公正</a:t>
            </a:r>
            <a:endParaRPr kumimoji="0" lang="zh-CN" altLang="en-US" sz="4050" b="1" kern="1200" cap="none" spc="0" normalizeH="0" baseline="0" noProof="1">
              <a:solidFill>
                <a:schemeClr val="bg1"/>
              </a:solidFill>
              <a:latin typeface="宋体" panose="02010600030101010101" pitchFamily="2" charset="-122"/>
              <a:ea typeface="宋体" panose="02010600030101010101" pitchFamily="2" charset="-122"/>
              <a:cs typeface="+mn-cs"/>
              <a:sym typeface="+mn-ea"/>
            </a:endParaRPr>
          </a:p>
        </p:txBody>
      </p:sp>
      <p:sp>
        <p:nvSpPr>
          <p:cNvPr id="6149" name="TextBox 1"/>
          <p:cNvSpPr txBox="1"/>
          <p:nvPr/>
        </p:nvSpPr>
        <p:spPr>
          <a:xfrm>
            <a:off x="1109663" y="3392488"/>
            <a:ext cx="4189413" cy="530225"/>
          </a:xfrm>
          <a:prstGeom prst="rect">
            <a:avLst/>
          </a:prstGeom>
          <a:noFill/>
          <a:ln w="9525">
            <a:noFill/>
          </a:ln>
        </p:spPr>
        <p:txBody>
          <a:bodyPr wrap="none">
            <a:spAutoFit/>
          </a:bodyPr>
          <a:lstStyle/>
          <a:p>
            <a:pPr marR="0" defTabSz="914400">
              <a:buClrTx/>
              <a:buSzTx/>
              <a:buFont typeface="Arial" panose="020B0604020202020204" pitchFamily="34" charset="0"/>
              <a:buNone/>
              <a:defRPr/>
            </a:pPr>
            <a:r>
              <a:rPr kumimoji="0" lang="en-US" altLang="zh-CN" sz="2850" b="1" kern="1200" cap="none" spc="0" normalizeH="0" baseline="0" noProof="1">
                <a:latin typeface="宋体" panose="02010600030101010101" pitchFamily="2" charset="-122"/>
                <a:ea typeface="宋体" panose="02010600030101010101" pitchFamily="2" charset="-122"/>
                <a:cs typeface="+mn-cs"/>
                <a:sym typeface="+mn-ea"/>
              </a:rPr>
              <a:t>3.1 </a:t>
            </a: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工程的价值及其特点</a:t>
            </a:r>
            <a:endParaRPr kumimoji="0" lang="zh-CN" altLang="en-US" sz="2850" b="1" kern="1200" cap="none" spc="0" normalizeH="0" baseline="0" noProof="1">
              <a:latin typeface="宋体" panose="02010600030101010101" pitchFamily="2" charset="-122"/>
              <a:ea typeface="宋体" panose="02010600030101010101" pitchFamily="2" charset="-122"/>
              <a:cs typeface="+mn-cs"/>
              <a:sym typeface="+mn-ea"/>
            </a:endParaRPr>
          </a:p>
        </p:txBody>
      </p:sp>
      <p:sp>
        <p:nvSpPr>
          <p:cNvPr id="6150" name="TextBox 1"/>
          <p:cNvSpPr txBox="1"/>
          <p:nvPr/>
        </p:nvSpPr>
        <p:spPr>
          <a:xfrm>
            <a:off x="1117600" y="3844925"/>
            <a:ext cx="5280025" cy="530225"/>
          </a:xfrm>
          <a:prstGeom prst="rect">
            <a:avLst/>
          </a:prstGeom>
          <a:noFill/>
          <a:ln w="9525">
            <a:noFill/>
          </a:ln>
        </p:spPr>
        <p:txBody>
          <a:bodyPr wrap="none">
            <a:spAutoFit/>
          </a:bodyPr>
          <a:lstStyle/>
          <a:p>
            <a:pPr marR="0" defTabSz="914400">
              <a:buClrTx/>
              <a:buSzTx/>
              <a:buFont typeface="Arial" panose="020B0604020202020204" pitchFamily="34" charset="0"/>
              <a:buNone/>
              <a:defRPr/>
            </a:pPr>
            <a:r>
              <a:rPr kumimoji="0" lang="en-US" altLang="zh-CN" sz="2850" b="1" kern="1200" cap="none" spc="0" normalizeH="0" baseline="0" noProof="1">
                <a:latin typeface="宋体" panose="02010600030101010101" pitchFamily="2" charset="-122"/>
                <a:ea typeface="宋体" panose="02010600030101010101" pitchFamily="2" charset="-122"/>
                <a:cs typeface="+mn-cs"/>
                <a:sym typeface="+mn-ea"/>
              </a:rPr>
              <a:t>3.2 </a:t>
            </a: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工程所服务的对象与可及性</a:t>
            </a:r>
            <a:endParaRPr kumimoji="0" lang="zh-CN" altLang="en-US" sz="2850" b="1" kern="1200" cap="none" spc="0" normalizeH="0" baseline="0" noProof="1">
              <a:latin typeface="宋体" panose="02010600030101010101" pitchFamily="2" charset="-122"/>
              <a:ea typeface="宋体" panose="02010600030101010101" pitchFamily="2" charset="-122"/>
              <a:cs typeface="+mn-cs"/>
              <a:sym typeface="+mn-ea"/>
            </a:endParaRPr>
          </a:p>
        </p:txBody>
      </p:sp>
      <p:sp>
        <p:nvSpPr>
          <p:cNvPr id="6151" name="TextBox 1"/>
          <p:cNvSpPr txBox="1"/>
          <p:nvPr/>
        </p:nvSpPr>
        <p:spPr>
          <a:xfrm>
            <a:off x="1117600" y="4276725"/>
            <a:ext cx="6735763" cy="530225"/>
          </a:xfrm>
          <a:prstGeom prst="rect">
            <a:avLst/>
          </a:prstGeom>
          <a:noFill/>
          <a:ln w="9525">
            <a:noFill/>
          </a:ln>
        </p:spPr>
        <p:txBody>
          <a:bodyPr wrap="none">
            <a:spAutoFit/>
          </a:bodyPr>
          <a:lstStyle/>
          <a:p>
            <a:pPr marR="0" defTabSz="914400">
              <a:buClrTx/>
              <a:buSzTx/>
              <a:buFont typeface="Arial" panose="020B0604020202020204" pitchFamily="34" charset="0"/>
              <a:buNone/>
              <a:defRPr/>
            </a:pPr>
            <a:r>
              <a:rPr kumimoji="0" lang="en-US" altLang="zh-CN" sz="2850" b="1" kern="1200" cap="none" spc="0" normalizeH="0" baseline="0" noProof="1">
                <a:latin typeface="宋体" panose="02010600030101010101" pitchFamily="2" charset="-122"/>
                <a:ea typeface="宋体" panose="02010600030101010101" pitchFamily="2" charset="-122"/>
                <a:cs typeface="+mn-cs"/>
                <a:sym typeface="+mn-ea"/>
              </a:rPr>
              <a:t>3.3 </a:t>
            </a: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工程实践中的攸关方与社会成本承担</a:t>
            </a:r>
            <a:endParaRPr kumimoji="0" lang="zh-CN" altLang="en-US" sz="2850" b="1" kern="1200" cap="none" spc="0" normalizeH="0" baseline="0" noProof="1">
              <a:latin typeface="宋体" panose="02010600030101010101" pitchFamily="2" charset="-122"/>
              <a:ea typeface="宋体" panose="02010600030101010101" pitchFamily="2" charset="-122"/>
              <a:cs typeface="+mn-cs"/>
              <a:sym typeface="+mn-ea"/>
            </a:endParaRPr>
          </a:p>
        </p:txBody>
      </p:sp>
      <p:sp>
        <p:nvSpPr>
          <p:cNvPr id="6152" name="TextBox 1"/>
          <p:cNvSpPr txBox="1"/>
          <p:nvPr/>
        </p:nvSpPr>
        <p:spPr>
          <a:xfrm>
            <a:off x="1087438" y="5326063"/>
            <a:ext cx="1638300" cy="530225"/>
          </a:xfrm>
          <a:prstGeom prst="rect">
            <a:avLst/>
          </a:prstGeom>
          <a:noFill/>
          <a:ln w="9525">
            <a:noFill/>
          </a:ln>
        </p:spPr>
        <p:txBody>
          <a:bodyPr wrap="none">
            <a:spAutoFit/>
          </a:bodyPr>
          <a:lstStyle/>
          <a:p>
            <a:pPr marR="0" defTabSz="914400">
              <a:buClrTx/>
              <a:buSzTx/>
              <a:buFont typeface="Arial" panose="020B0604020202020204" pitchFamily="34" charset="0"/>
              <a:buNone/>
              <a:defRPr/>
            </a:pP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本章概要</a:t>
            </a:r>
            <a:endParaRPr kumimoji="0" lang="zh-CN" altLang="en-US" sz="2850" b="1" kern="1200" cap="none" spc="0" normalizeH="0" baseline="0" noProof="1">
              <a:latin typeface="宋体" panose="02010600030101010101" pitchFamily="2" charset="-122"/>
              <a:ea typeface="宋体" panose="02010600030101010101" pitchFamily="2" charset="-122"/>
              <a:cs typeface="+mn-cs"/>
              <a:sym typeface="+mn-ea"/>
            </a:endParaRPr>
          </a:p>
        </p:txBody>
      </p:sp>
      <p:sp>
        <p:nvSpPr>
          <p:cNvPr id="2" name="TextBox 1"/>
          <p:cNvSpPr txBox="1"/>
          <p:nvPr/>
        </p:nvSpPr>
        <p:spPr>
          <a:xfrm>
            <a:off x="1117600" y="4735513"/>
            <a:ext cx="4552950" cy="530225"/>
          </a:xfrm>
          <a:prstGeom prst="rect">
            <a:avLst/>
          </a:prstGeom>
          <a:noFill/>
          <a:ln w="9525">
            <a:noFill/>
          </a:ln>
        </p:spPr>
        <p:txBody>
          <a:bodyPr wrap="none">
            <a:spAutoFit/>
          </a:bodyPr>
          <a:lstStyle/>
          <a:p>
            <a:pPr marR="0" defTabSz="914400">
              <a:buClrTx/>
              <a:buSzTx/>
              <a:buFont typeface="Arial" panose="020B0604020202020204" pitchFamily="34" charset="0"/>
              <a:buNone/>
              <a:defRPr/>
            </a:pPr>
            <a:r>
              <a:rPr kumimoji="0" lang="en-US" altLang="zh-CN" sz="2850" b="1" kern="1200" cap="none" spc="0" normalizeH="0" baseline="0" noProof="1">
                <a:latin typeface="宋体" panose="02010600030101010101" pitchFamily="2" charset="-122"/>
                <a:ea typeface="宋体" panose="02010600030101010101" pitchFamily="2" charset="-122"/>
                <a:cs typeface="+mn-cs"/>
                <a:sym typeface="+mn-ea"/>
              </a:rPr>
              <a:t>3.4 </a:t>
            </a:r>
            <a:r>
              <a:rPr kumimoji="0" lang="zh-CN" altLang="en-US" sz="2850" b="1" kern="1200" cap="none" spc="0" normalizeH="0" baseline="0" noProof="1">
                <a:latin typeface="宋体" panose="02010600030101010101" pitchFamily="2" charset="-122"/>
                <a:ea typeface="宋体" panose="02010600030101010101" pitchFamily="2" charset="-122"/>
                <a:cs typeface="+mn-cs"/>
                <a:sym typeface="+mn-ea"/>
              </a:rPr>
              <a:t>公正原则在工程的实现</a:t>
            </a:r>
            <a:endParaRPr kumimoji="0" lang="zh-CN" altLang="en-US" sz="2850" b="1" kern="1200" cap="none" spc="0" normalizeH="0" baseline="0" noProof="1">
              <a:latin typeface="宋体" panose="02010600030101010101" pitchFamily="2" charset="-122"/>
              <a:ea typeface="宋体" panose="02010600030101010101" pitchFamily="2" charset="-122"/>
              <a:cs typeface="+mn-cs"/>
              <a:sym typeface="+mn-ea"/>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0" y="0"/>
            <a:ext cx="1768475" cy="68580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26627" name="TextBox 1"/>
          <p:cNvSpPr txBox="1"/>
          <p:nvPr/>
        </p:nvSpPr>
        <p:spPr>
          <a:xfrm>
            <a:off x="1935163" y="484188"/>
            <a:ext cx="6975475" cy="522287"/>
          </a:xfrm>
          <a:prstGeom prst="rect">
            <a:avLst/>
          </a:prstGeom>
          <a:noFill/>
          <a:ln w="9525">
            <a:noFill/>
          </a:ln>
        </p:spPr>
        <p:txBody>
          <a:bodyPr wrap="none">
            <a:spAutoFit/>
          </a:bodyPr>
          <a:p>
            <a:r>
              <a:rPr lang="zh-CN" altLang="en-US" sz="2800" b="1" dirty="0">
                <a:latin typeface="宋体" panose="02010600030101010101" pitchFamily="2" charset="-122"/>
                <a:ea typeface="宋体" panose="02010600030101010101" pitchFamily="2" charset="-122"/>
                <a:sym typeface="等线" panose="02010600030101010101" pitchFamily="2" charset="-122"/>
              </a:rPr>
              <a:t>南水北调工程</a:t>
            </a:r>
            <a:r>
              <a:rPr lang="en-US" altLang="zh-CN" sz="2800" b="1" dirty="0">
                <a:latin typeface="宋体" panose="02010600030101010101" pitchFamily="2" charset="-122"/>
                <a:ea typeface="宋体" panose="02010600030101010101" pitchFamily="2" charset="-122"/>
                <a:sym typeface="等线" panose="02010600030101010101" pitchFamily="2" charset="-122"/>
              </a:rPr>
              <a:t>——</a:t>
            </a:r>
            <a:r>
              <a:rPr lang="zh-CN" altLang="en-US" sz="2800" b="1" dirty="0">
                <a:latin typeface="宋体" panose="02010600030101010101" pitchFamily="2" charset="-122"/>
                <a:ea typeface="宋体" panose="02010600030101010101" pitchFamily="2" charset="-122"/>
                <a:sym typeface="等线" panose="02010600030101010101" pitchFamily="2" charset="-122"/>
              </a:rPr>
              <a:t>跨流域调水中的利益协调</a:t>
            </a:r>
            <a:endParaRPr lang="zh-CN" altLang="en-US" sz="2800" b="1" dirty="0">
              <a:latin typeface="宋体" panose="02010600030101010101" pitchFamily="2" charset="-122"/>
              <a:ea typeface="宋体" panose="02010600030101010101" pitchFamily="2" charset="-122"/>
            </a:endParaRPr>
          </a:p>
        </p:txBody>
      </p:sp>
      <p:sp>
        <p:nvSpPr>
          <p:cNvPr id="26628" name="TextBox 2"/>
          <p:cNvSpPr txBox="1"/>
          <p:nvPr/>
        </p:nvSpPr>
        <p:spPr>
          <a:xfrm>
            <a:off x="122238" y="3673475"/>
            <a:ext cx="1571625" cy="461963"/>
          </a:xfrm>
          <a:prstGeom prst="rect">
            <a:avLst/>
          </a:prstGeom>
          <a:noFill/>
          <a:ln w="9525">
            <a:noFill/>
          </a:ln>
        </p:spPr>
        <p:txBody>
          <a:bodyPr lIns="0" tIns="0" rIns="0" bIns="0">
            <a:spAutoFit/>
          </a:bodyPr>
          <a:p>
            <a:r>
              <a:rPr lang="zh-CN" altLang="en-US" sz="3000" b="1" dirty="0">
                <a:solidFill>
                  <a:schemeClr val="bg1"/>
                </a:solidFill>
                <a:latin typeface="宋体" panose="02010600030101010101" pitchFamily="2" charset="-122"/>
                <a:ea typeface="宋体" panose="02010600030101010101" pitchFamily="2" charset="-122"/>
              </a:rPr>
              <a:t>引导案例</a:t>
            </a:r>
            <a:endParaRPr lang="zh-CN" altLang="en-US" sz="3000" b="1" dirty="0">
              <a:solidFill>
                <a:schemeClr val="bg1"/>
              </a:solidFill>
              <a:latin typeface="宋体" panose="02010600030101010101" pitchFamily="2" charset="-122"/>
              <a:ea typeface="宋体" panose="02010600030101010101" pitchFamily="2" charset="-122"/>
            </a:endParaRPr>
          </a:p>
        </p:txBody>
      </p:sp>
      <p:grpSp>
        <p:nvGrpSpPr>
          <p:cNvPr id="26629" name="组合 5"/>
          <p:cNvGrpSpPr/>
          <p:nvPr/>
        </p:nvGrpSpPr>
        <p:grpSpPr>
          <a:xfrm>
            <a:off x="357188" y="2584450"/>
            <a:ext cx="976312" cy="976313"/>
            <a:chOff x="2262782" y="1446400"/>
            <a:chExt cx="1301106" cy="1301106"/>
          </a:xfrm>
        </p:grpSpPr>
        <p:sp>
          <p:nvSpPr>
            <p:cNvPr id="7" name="椭圆 6"/>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ea"/>
                <a:ea typeface="+mn-ea"/>
                <a:cs typeface="+mn-cs"/>
              </a:endParaRPr>
            </a:p>
          </p:txBody>
        </p:sp>
        <p:sp>
          <p:nvSpPr>
            <p:cNvPr id="16" name="KSO_Shape"/>
            <p:cNvSpPr/>
            <p:nvPr/>
          </p:nvSpPr>
          <p:spPr bwMode="auto">
            <a:xfrm>
              <a:off x="2569546" y="1835674"/>
              <a:ext cx="687577" cy="586027"/>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mn-ea"/>
                <a:ea typeface="+mn-ea"/>
                <a:cs typeface="+mn-cs"/>
              </a:endParaRPr>
            </a:p>
          </p:txBody>
        </p:sp>
      </p:grpSp>
      <p:pic>
        <p:nvPicPr>
          <p:cNvPr id="26630" name="Picture 7"/>
          <p:cNvPicPr>
            <a:picLocks noChangeAspect="1"/>
          </p:cNvPicPr>
          <p:nvPr/>
        </p:nvPicPr>
        <p:blipFill>
          <a:blip r:embed="rId1"/>
          <a:stretch>
            <a:fillRect/>
          </a:stretch>
        </p:blipFill>
        <p:spPr>
          <a:xfrm>
            <a:off x="2344738" y="1150938"/>
            <a:ext cx="6353175" cy="4556125"/>
          </a:xfrm>
          <a:prstGeom prst="rect">
            <a:avLst/>
          </a:prstGeom>
          <a:noFill/>
          <a:ln w="9525">
            <a:noFill/>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Box 41"/>
          <p:cNvSpPr/>
          <p:nvPr/>
        </p:nvSpPr>
        <p:spPr>
          <a:xfrm>
            <a:off x="569913" y="1450975"/>
            <a:ext cx="8007350" cy="4046538"/>
          </a:xfrm>
          <a:prstGeom prst="rect">
            <a:avLst/>
          </a:prstGeom>
          <a:noFill/>
          <a:ln w="9525">
            <a:noFill/>
          </a:ln>
        </p:spPr>
        <p:txBody>
          <a:bodyPr lIns="0" tIns="0" rIns="0" bIns="0">
            <a:spAutoFit/>
          </a:bodyPr>
          <a:p>
            <a:pPr algn="just"/>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   </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因建设项目选址而引发的社会群体事件：</a:t>
            </a:r>
            <a:endPar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endParaRPr>
          </a:p>
          <a:p>
            <a:pPr algn="just">
              <a:spcBef>
                <a:spcPts val="600"/>
              </a:spcBef>
            </a:pP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   </a:t>
            </a:r>
            <a:r>
              <a:rPr lang="en-US" altLang="zh-CN" sz="2200" dirty="0">
                <a:solidFill>
                  <a:srgbClr val="262626"/>
                </a:solidFill>
                <a:latin typeface="黑体" panose="02010609060101010101" pitchFamily="2" charset="-122"/>
                <a:ea typeface="黑体" panose="02010609060101010101" pitchFamily="2" charset="-122"/>
                <a:sym typeface="微软雅黑" panose="020B0503020204020204" pitchFamily="34" charset="-122"/>
              </a:rPr>
              <a:t>2009</a:t>
            </a:r>
            <a:r>
              <a:rPr lang="zh-CN" altLang="en-US" sz="2200" dirty="0">
                <a:solidFill>
                  <a:srgbClr val="262626"/>
                </a:solidFill>
                <a:latin typeface="黑体" panose="02010609060101010101" pitchFamily="2" charset="-122"/>
                <a:ea typeface="黑体" panose="02010609060101010101" pitchFamily="2" charset="-122"/>
                <a:sym typeface="微软雅黑" panose="020B0503020204020204" pitchFamily="34" charset="-122"/>
              </a:rPr>
              <a:t>年政府公布广州番禺区生活垃圾焚烧厂的选址地点定在番禺区大石街会江村附近，遭到周边市民的强烈反对而搁浅；</a:t>
            </a:r>
            <a:endParaRPr lang="zh-CN" altLang="en-US" sz="2200" dirty="0">
              <a:solidFill>
                <a:srgbClr val="262626"/>
              </a:solidFill>
              <a:latin typeface="黑体" panose="02010609060101010101" pitchFamily="2" charset="-122"/>
              <a:ea typeface="黑体" panose="02010609060101010101" pitchFamily="2" charset="-122"/>
              <a:sym typeface="微软雅黑" panose="020B0503020204020204" pitchFamily="34" charset="-122"/>
            </a:endParaRPr>
          </a:p>
          <a:p>
            <a:pPr algn="just"/>
            <a:r>
              <a:rPr lang="zh-CN" altLang="en-US" sz="2200" dirty="0">
                <a:solidFill>
                  <a:srgbClr val="262626"/>
                </a:solidFill>
                <a:latin typeface="黑体" panose="02010609060101010101" pitchFamily="2" charset="-122"/>
                <a:ea typeface="黑体" panose="02010609060101010101" pitchFamily="2" charset="-122"/>
                <a:sym typeface="微软雅黑" panose="020B0503020204020204" pitchFamily="34" charset="-122"/>
              </a:rPr>
              <a:t>    </a:t>
            </a:r>
            <a:r>
              <a:rPr lang="en-US" altLang="zh-CN" sz="2200" dirty="0">
                <a:solidFill>
                  <a:srgbClr val="262626"/>
                </a:solidFill>
                <a:latin typeface="黑体" panose="02010609060101010101" pitchFamily="2" charset="-122"/>
                <a:ea typeface="黑体" panose="02010609060101010101" pitchFamily="2" charset="-122"/>
                <a:sym typeface="微软雅黑" panose="020B0503020204020204" pitchFamily="34" charset="-122"/>
              </a:rPr>
              <a:t>2011</a:t>
            </a:r>
            <a:r>
              <a:rPr lang="zh-CN" altLang="en-US" sz="2200" dirty="0">
                <a:solidFill>
                  <a:srgbClr val="262626"/>
                </a:solidFill>
                <a:latin typeface="黑体" panose="02010609060101010101" pitchFamily="2" charset="-122"/>
                <a:ea typeface="黑体" panose="02010609060101010101" pitchFamily="2" charset="-122"/>
                <a:sym typeface="微软雅黑" panose="020B0503020204020204" pitchFamily="34" charset="-122"/>
              </a:rPr>
              <a:t>年北京海淀西二旗餐厨垃圾相对集中资源化处理站项目公示后，附近两三百居民举着反对垃圾处理场条幅聚会抗议。</a:t>
            </a:r>
            <a:endParaRPr lang="zh-CN" altLang="en-US" sz="2200" dirty="0">
              <a:solidFill>
                <a:srgbClr val="262626"/>
              </a:solidFill>
              <a:latin typeface="黑体" panose="02010609060101010101" pitchFamily="2" charset="-122"/>
              <a:ea typeface="黑体" panose="02010609060101010101" pitchFamily="2" charset="-122"/>
              <a:sym typeface="微软雅黑" panose="020B0503020204020204" pitchFamily="34" charset="-122"/>
            </a:endParaRPr>
          </a:p>
          <a:p>
            <a:pPr algn="just"/>
            <a:endPar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endParaRPr>
          </a:p>
          <a:p>
            <a:pPr algn="just"/>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    国外一般把这类事件称为</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C00000"/>
                </a:solidFill>
                <a:latin typeface="黑体" panose="02010609060101010101" pitchFamily="2" charset="-122"/>
                <a:ea typeface="黑体" panose="02010609060101010101" pitchFamily="2" charset="-122"/>
                <a:sym typeface="微软雅黑" panose="020B0503020204020204" pitchFamily="34" charset="-122"/>
              </a:rPr>
              <a:t>邻避行为</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。这类冲突起源于</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邻避设施</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的兴建。</a:t>
            </a:r>
            <a:endPar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endParaRPr>
          </a:p>
          <a:p>
            <a:pPr algn="just"/>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   </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C00000"/>
                </a:solidFill>
                <a:latin typeface="黑体" panose="02010609060101010101" pitchFamily="2" charset="-122"/>
                <a:ea typeface="黑体" panose="02010609060101010101" pitchFamily="2" charset="-122"/>
                <a:sym typeface="微软雅黑" panose="020B0503020204020204" pitchFamily="34" charset="-122"/>
              </a:rPr>
              <a:t>邻避设施</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指能使大多数人获益，但对邻近居民的生活环境与生命财产以及资产价值带来负面影响的</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危险设施</a:t>
            </a:r>
            <a:r>
              <a:rPr lang="en-US" altLang="zh-CN"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r>
              <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rPr>
              <a:t>。</a:t>
            </a:r>
            <a:endParaRPr lang="zh-CN" altLang="en-US" sz="2400" dirty="0">
              <a:solidFill>
                <a:srgbClr val="262626"/>
              </a:solidFill>
              <a:latin typeface="黑体" panose="02010609060101010101" pitchFamily="2" charset="-122"/>
              <a:ea typeface="黑体" panose="02010609060101010101" pitchFamily="2" charset="-122"/>
              <a:sym typeface="微软雅黑" panose="020B0503020204020204" pitchFamily="34" charset="-122"/>
            </a:endParaRPr>
          </a:p>
        </p:txBody>
      </p:sp>
      <p:cxnSp>
        <p:nvCxnSpPr>
          <p:cNvPr id="33" name="直接连接符 32"/>
          <p:cNvCxnSpPr/>
          <p:nvPr/>
        </p:nvCxnSpPr>
        <p:spPr>
          <a:xfrm flipV="1">
            <a:off x="23813" y="874713"/>
            <a:ext cx="9099550" cy="1746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230188" y="514350"/>
            <a:ext cx="207963" cy="204788"/>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35" name="TextBox 34"/>
          <p:cNvSpPr txBox="1"/>
          <p:nvPr/>
        </p:nvSpPr>
        <p:spPr>
          <a:xfrm>
            <a:off x="479425" y="347663"/>
            <a:ext cx="2690813" cy="522288"/>
          </a:xfrm>
          <a:prstGeom prst="rect">
            <a:avLst/>
          </a:prstGeom>
          <a:noFill/>
        </p:spPr>
        <p:txBody>
          <a:bodyPr wrap="none">
            <a:spAutoFit/>
          </a:bodyPr>
          <a:lstStyle/>
          <a:p>
            <a:pPr marR="0" defTabSz="914400" fontAlgn="auto">
              <a:spcBef>
                <a:spcPts val="0"/>
              </a:spcBef>
              <a:spcAft>
                <a:spcPts val="0"/>
              </a:spcAft>
              <a:buClrTx/>
              <a:buSzTx/>
              <a:buFontTx/>
              <a:buNone/>
              <a:defRPr/>
            </a:pPr>
            <a:r>
              <a:rPr kumimoji="0" lang="en-US" altLang="zh-CN" sz="2800" b="1" kern="1200" cap="none" spc="0" normalizeH="0" baseline="0" noProof="1">
                <a:latin typeface="等线" panose="02010600030101010101" pitchFamily="2" charset="-122"/>
                <a:ea typeface="等线" panose="02010600030101010101" pitchFamily="2" charset="-122"/>
                <a:cs typeface="+mn-cs"/>
                <a:sym typeface="+mn-ea"/>
              </a:rPr>
              <a:t>3.3.1 </a:t>
            </a:r>
            <a:r>
              <a:rPr kumimoji="0" lang="zh-CN" altLang="en-US" sz="2800" b="1" kern="1200" cap="none" spc="0" normalizeH="0" baseline="0" noProof="1">
                <a:latin typeface="等线" panose="02010600030101010101" pitchFamily="2" charset="-122"/>
                <a:ea typeface="等线" panose="02010600030101010101" pitchFamily="2" charset="-122"/>
                <a:cs typeface="+mn-cs"/>
                <a:sym typeface="+mn-ea"/>
              </a:rPr>
              <a:t>邻避效应</a:t>
            </a:r>
            <a:endParaRPr kumimoji="0" lang="zh-CN" altLang="en-US" sz="2800" b="1" kern="1200" cap="none" spc="300" normalizeH="0" baseline="0" noProof="1">
              <a:latin typeface="宋体" panose="02010600030101010101" pitchFamily="2" charset="-122"/>
              <a:ea typeface="宋体" panose="02010600030101010101" pitchFamily="2" charset="-122"/>
              <a:cs typeface="+mn-cs"/>
              <a:sym typeface="+mn-ea"/>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0" y="0"/>
            <a:ext cx="1768475" cy="68580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52227" name="TextBox 2"/>
          <p:cNvSpPr txBox="1"/>
          <p:nvPr/>
        </p:nvSpPr>
        <p:spPr>
          <a:xfrm>
            <a:off x="96838" y="3101975"/>
            <a:ext cx="1571625" cy="461963"/>
          </a:xfrm>
          <a:prstGeom prst="rect">
            <a:avLst/>
          </a:prstGeom>
          <a:noFill/>
          <a:ln w="9525">
            <a:noFill/>
          </a:ln>
        </p:spPr>
        <p:txBody>
          <a:bodyPr lIns="0" tIns="0" rIns="0" bIns="0">
            <a:spAutoFit/>
          </a:bodyPr>
          <a:p>
            <a:pPr algn="ctr"/>
            <a:r>
              <a:rPr lang="zh-CN" altLang="en-US" sz="3000" b="1" dirty="0">
                <a:solidFill>
                  <a:schemeClr val="bg1"/>
                </a:solidFill>
                <a:latin typeface="宋体" panose="02010600030101010101" pitchFamily="2" charset="-122"/>
                <a:ea typeface="宋体" panose="02010600030101010101" pitchFamily="2" charset="-122"/>
              </a:rPr>
              <a:t>本章概要</a:t>
            </a:r>
            <a:endParaRPr lang="zh-CN" altLang="en-US" sz="3000" b="1" dirty="0">
              <a:solidFill>
                <a:schemeClr val="bg1"/>
              </a:solidFill>
              <a:latin typeface="宋体" panose="02010600030101010101" pitchFamily="2" charset="-122"/>
              <a:ea typeface="宋体" panose="02010600030101010101" pitchFamily="2" charset="-122"/>
            </a:endParaRPr>
          </a:p>
        </p:txBody>
      </p:sp>
      <p:grpSp>
        <p:nvGrpSpPr>
          <p:cNvPr id="52228" name="组合 5"/>
          <p:cNvGrpSpPr/>
          <p:nvPr/>
        </p:nvGrpSpPr>
        <p:grpSpPr>
          <a:xfrm>
            <a:off x="357188" y="1936750"/>
            <a:ext cx="976312" cy="976313"/>
            <a:chOff x="2262782" y="1446400"/>
            <a:chExt cx="1301106" cy="1301106"/>
          </a:xfrm>
        </p:grpSpPr>
        <p:sp>
          <p:nvSpPr>
            <p:cNvPr id="7" name="椭圆 6"/>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ea"/>
                <a:ea typeface="+mn-ea"/>
                <a:cs typeface="+mn-cs"/>
              </a:endParaRPr>
            </a:p>
          </p:txBody>
        </p:sp>
        <p:sp>
          <p:nvSpPr>
            <p:cNvPr id="16" name="KSO_Shape"/>
            <p:cNvSpPr/>
            <p:nvPr/>
          </p:nvSpPr>
          <p:spPr bwMode="auto">
            <a:xfrm>
              <a:off x="2569546" y="1835674"/>
              <a:ext cx="687577" cy="586027"/>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rgbClr val="FFFFFF"/>
                </a:solidFill>
                <a:effectLst/>
                <a:uLnTx/>
                <a:uFillTx/>
                <a:latin typeface="+mn-ea"/>
                <a:ea typeface="+mn-ea"/>
                <a:cs typeface="+mn-cs"/>
              </a:endParaRPr>
            </a:p>
          </p:txBody>
        </p:sp>
      </p:grpSp>
      <p:sp>
        <p:nvSpPr>
          <p:cNvPr id="52229" name="文本框 1"/>
          <p:cNvSpPr txBox="1"/>
          <p:nvPr/>
        </p:nvSpPr>
        <p:spPr>
          <a:xfrm>
            <a:off x="2084388" y="723900"/>
            <a:ext cx="6804025" cy="4564063"/>
          </a:xfrm>
          <a:prstGeom prst="rect">
            <a:avLst/>
          </a:prstGeom>
          <a:noFill/>
          <a:ln w="9525">
            <a:noFill/>
          </a:ln>
        </p:spPr>
        <p:txBody>
          <a:bodyPr>
            <a:spAutoFit/>
          </a:bodyPr>
          <a:p>
            <a:pPr algn="just" eaLnBrk="0" hangingPunct="0"/>
            <a:r>
              <a:rPr lang="zh-CN" altLang="en-US" sz="2400" b="1" dirty="0">
                <a:latin typeface="宋体" panose="02010600030101010101" pitchFamily="2" charset="-122"/>
                <a:ea typeface="宋体" panose="02010600030101010101" pitchFamily="2" charset="-122"/>
              </a:rPr>
              <a:t>本章概要：</a:t>
            </a:r>
            <a:endParaRPr lang="zh-CN" altLang="en-US" sz="2400" b="1" dirty="0">
              <a:latin typeface="宋体" panose="02010600030101010101" pitchFamily="2" charset="-122"/>
              <a:ea typeface="宋体" panose="02010600030101010101" pitchFamily="2" charset="-122"/>
            </a:endParaRPr>
          </a:p>
          <a:p>
            <a:pPr algn="just" eaLnBrk="0" hangingPunct="0"/>
            <a:endParaRPr lang="zh-CN" altLang="en-US" sz="2400" b="1" dirty="0">
              <a:latin typeface="宋体" panose="02010600030101010101" pitchFamily="2" charset="-122"/>
              <a:ea typeface="宋体" panose="02010600030101010101" pitchFamily="2" charset="-122"/>
            </a:endParaRPr>
          </a:p>
          <a:p>
            <a:pPr algn="just" eaLnBrk="0" hangingPunct="0">
              <a:lnSpc>
                <a:spcPts val="2240"/>
              </a:lnSpc>
            </a:pPr>
            <a:r>
              <a:rPr lang="zh-CN" altLang="en-US" sz="2400" b="1" dirty="0">
                <a:latin typeface="宋体" panose="02010600030101010101" pitchFamily="2" charset="-122"/>
                <a:ea typeface="宋体" panose="02010600030101010101" pitchFamily="2" charset="-122"/>
              </a:rPr>
              <a:t>    工程实践是人类社会存在和发展的基础。工程活动是价值导向很强的一种实践活动，可以应用于经济、政治、文化、科学、生态等诸多领域，发挥相应的价值。</a:t>
            </a:r>
            <a:endParaRPr lang="zh-CN" altLang="en-US" sz="2400" b="1" dirty="0">
              <a:latin typeface="宋体" panose="02010600030101010101" pitchFamily="2" charset="-122"/>
              <a:ea typeface="宋体" panose="02010600030101010101" pitchFamily="2" charset="-122"/>
            </a:endParaRPr>
          </a:p>
          <a:p>
            <a:pPr algn="just" eaLnBrk="0" hangingPunct="0">
              <a:lnSpc>
                <a:spcPts val="2240"/>
              </a:lnSpc>
            </a:pPr>
            <a:endParaRPr lang="zh-CN" altLang="en-US" sz="2400" b="1" dirty="0">
              <a:latin typeface="宋体" panose="02010600030101010101" pitchFamily="2" charset="-122"/>
              <a:ea typeface="宋体" panose="02010600030101010101" pitchFamily="2" charset="-122"/>
            </a:endParaRPr>
          </a:p>
          <a:p>
            <a:pPr algn="just" eaLnBrk="0" hangingPunct="0">
              <a:lnSpc>
                <a:spcPts val="2240"/>
              </a:lnSpc>
            </a:pPr>
            <a:r>
              <a:rPr lang="zh-CN" altLang="en-US" sz="2400" b="1" dirty="0">
                <a:latin typeface="宋体" panose="02010600030101010101" pitchFamily="2" charset="-122"/>
                <a:ea typeface="宋体" panose="02010600030101010101" pitchFamily="2" charset="-122"/>
              </a:rPr>
              <a:t>    就工程项目而言，发起方都期望项目实现自己的利益，这是工程发展的动力。但有收益就有付出和代价。</a:t>
            </a:r>
            <a:endParaRPr lang="zh-CN" altLang="en-US" sz="2400" b="1" dirty="0">
              <a:latin typeface="宋体" panose="02010600030101010101" pitchFamily="2" charset="-122"/>
              <a:ea typeface="宋体" panose="02010600030101010101" pitchFamily="2" charset="-122"/>
            </a:endParaRPr>
          </a:p>
          <a:p>
            <a:pPr algn="just" eaLnBrk="0" hangingPunct="0">
              <a:lnSpc>
                <a:spcPts val="2240"/>
              </a:lnSpc>
            </a:pPr>
            <a:endParaRPr lang="zh-CN" altLang="en-US" sz="2400" b="1" dirty="0">
              <a:latin typeface="宋体" panose="02010600030101010101" pitchFamily="2" charset="-122"/>
              <a:ea typeface="宋体" panose="02010600030101010101" pitchFamily="2" charset="-122"/>
            </a:endParaRPr>
          </a:p>
          <a:p>
            <a:pPr algn="just" eaLnBrk="0" hangingPunct="0">
              <a:lnSpc>
                <a:spcPts val="2240"/>
              </a:lnSpc>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应全面考虑工程的收益和成本，建立补偿机制，对利益受损方给予补偿，以实现分配公正。面向未来，应建立公众参与工程决策的机制，以保证工程为和谐社会建设作出贡献。</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0" y="0"/>
            <a:ext cx="1768475" cy="68580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2" name="文本框 1"/>
          <p:cNvSpPr txBox="1"/>
          <p:nvPr/>
        </p:nvSpPr>
        <p:spPr>
          <a:xfrm>
            <a:off x="2221230" y="1633855"/>
            <a:ext cx="6040120" cy="1240155"/>
          </a:xfrm>
          <a:prstGeom prst="rect">
            <a:avLst/>
          </a:prstGeom>
          <a:noFill/>
        </p:spPr>
        <p:txBody>
          <a:bodyPr wrap="square" rtlCol="0" anchor="t">
            <a:spAutoFit/>
          </a:bodyPr>
          <a:p>
            <a:pPr algn="just" eaLnBrk="0" hangingPunct="0">
              <a:lnSpc>
                <a:spcPts val="2240"/>
              </a:lnSpc>
            </a:pPr>
            <a:r>
              <a:rPr lang="en-US" altLang="zh-CN" sz="2400" b="1" dirty="0">
                <a:latin typeface="宋体" panose="02010600030101010101" pitchFamily="2" charset="-122"/>
                <a:ea typeface="宋体" panose="02010600030101010101" pitchFamily="2" charset="-122"/>
                <a:sym typeface="+mn-ea"/>
              </a:rPr>
              <a:t>3</a:t>
            </a:r>
            <a:r>
              <a:rPr lang="zh-CN" altLang="en-US" sz="2400" b="1" dirty="0">
                <a:latin typeface="宋体" panose="02010600030101010101" pitchFamily="2" charset="-122"/>
                <a:ea typeface="宋体" panose="02010600030101010101" pitchFamily="2" charset="-122"/>
                <a:sym typeface="+mn-ea"/>
              </a:rPr>
              <a:t>、有些利益相关者（如子孙后代、动植物）的权利在当下没法被充分代表，在这样的情况下，如何确保他（它）们的</a:t>
            </a:r>
            <a:r>
              <a:rPr lang="en-US" altLang="zh-CN" sz="2400" b="1" dirty="0">
                <a:latin typeface="宋体" panose="02010600030101010101" pitchFamily="2" charset="-122"/>
                <a:ea typeface="宋体" panose="02010600030101010101" pitchFamily="2" charset="-122"/>
                <a:sym typeface="+mn-ea"/>
              </a:rPr>
              <a:t>“</a:t>
            </a:r>
            <a:r>
              <a:rPr lang="zh-CN" altLang="en-US" sz="2400" b="1" dirty="0">
                <a:latin typeface="宋体" panose="02010600030101010101" pitchFamily="2" charset="-122"/>
                <a:ea typeface="宋体" panose="02010600030101010101" pitchFamily="2" charset="-122"/>
                <a:sym typeface="+mn-ea"/>
              </a:rPr>
              <a:t>权益</a:t>
            </a:r>
            <a:r>
              <a:rPr lang="en-US" altLang="zh-CN" sz="2400" b="1" dirty="0">
                <a:latin typeface="宋体" panose="02010600030101010101" pitchFamily="2" charset="-122"/>
                <a:ea typeface="宋体" panose="02010600030101010101" pitchFamily="2" charset="-122"/>
                <a:sym typeface="+mn-ea"/>
              </a:rPr>
              <a:t>”</a:t>
            </a:r>
            <a:r>
              <a:rPr lang="zh-CN" altLang="en-US" sz="2400" b="1" dirty="0">
                <a:latin typeface="宋体" panose="02010600030101010101" pitchFamily="2" charset="-122"/>
                <a:ea typeface="宋体" panose="02010600030101010101" pitchFamily="2" charset="-122"/>
                <a:sym typeface="+mn-ea"/>
              </a:rPr>
              <a:t>、实现公正？</a:t>
            </a:r>
            <a:endParaRPr lang="zh-CN" altLang="en-US" sz="2400" b="1" dirty="0">
              <a:latin typeface="宋体" panose="02010600030101010101" pitchFamily="2" charset="-122"/>
              <a:ea typeface="宋体" panose="02010600030101010101" pitchFamily="2" charset="-122"/>
              <a:sym typeface="+mn-ea"/>
            </a:endParaRPr>
          </a:p>
        </p:txBody>
      </p:sp>
    </p:spTree>
  </p:cSld>
  <p:clrMapOvr>
    <a:masterClrMapping/>
  </p:clrMapOvr>
  <p:transition spd="slow"/>
</p:sld>
</file>

<file path=ppt/tags/tag1.xml><?xml version="1.0" encoding="utf-8"?>
<p:tagLst xmlns:p="http://schemas.openxmlformats.org/presentationml/2006/main">
  <p:tag name="commondata" val="eyJoZGlkIjoiY2U0YTUyYjczNzllNGM1NGQyMGFkYjlmZGFkOTVhMD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1635</Words>
  <Application>WPS 演示</Application>
  <PresentationFormat/>
  <Paragraphs>71</Paragraphs>
  <Slides>10</Slides>
  <Notes>28</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10</vt:i4>
      </vt:variant>
    </vt:vector>
  </HeadingPairs>
  <TitlesOfParts>
    <vt:vector size="23" baseType="lpstr">
      <vt:lpstr>Arial</vt:lpstr>
      <vt:lpstr>宋体</vt:lpstr>
      <vt:lpstr>Wingdings</vt:lpstr>
      <vt:lpstr>等线</vt:lpstr>
      <vt:lpstr>等线 Light</vt:lpstr>
      <vt:lpstr>Calibri</vt:lpstr>
      <vt:lpstr>Times New Roman</vt:lpstr>
      <vt:lpstr>黑体</vt:lpstr>
      <vt:lpstr>微软雅黑</vt:lpstr>
      <vt:lpstr>Arial Unicode MS</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工程伦理</dc:title>
  <dc:creator>Administrator</dc:creator>
  <cp:lastModifiedBy>Ywf</cp:lastModifiedBy>
  <cp:revision>70</cp:revision>
  <dcterms:created xsi:type="dcterms:W3CDTF">2018-06-06T13:57:00Z</dcterms:created>
  <dcterms:modified xsi:type="dcterms:W3CDTF">2024-11-26T15:04:54Z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2052-12.1.0.18345</vt:lpwstr>
  </property>
  <property fmtid="{D5CDD505-2E9C-101B-9397-08002B2CF9AE}" pid="3" name="ICV">
    <vt:lpwstr>7068F12F6C424404B6AABD26E52E3FF6_12</vt:lpwstr>
  </property>
</Properties>
</file>