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336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30" r:id="rId44"/>
    <p:sldId id="303" r:id="rId45"/>
    <p:sldId id="304" r:id="rId46"/>
    <p:sldId id="331" r:id="rId47"/>
    <p:sldId id="305" r:id="rId48"/>
    <p:sldId id="306" r:id="rId49"/>
    <p:sldId id="307" r:id="rId50"/>
    <p:sldId id="308" r:id="rId51"/>
    <p:sldId id="309" r:id="rId52"/>
    <p:sldId id="332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37" r:id="rId69"/>
    <p:sldId id="329" r:id="rId70"/>
    <p:sldId id="335" r:id="rId71"/>
    <p:sldId id="272" r:id="rId72"/>
    <p:sldId id="273" r:id="rId73"/>
    <p:sldId id="290" r:id="rId74"/>
    <p:sldId id="291" r:id="rId75"/>
    <p:sldId id="310" r:id="rId76"/>
    <p:sldId id="333" r:id="rId77"/>
    <p:sldId id="311" r:id="rId78"/>
    <p:sldId id="327" r:id="rId79"/>
    <p:sldId id="328" r:id="rId80"/>
  </p:sldIdLst>
  <p:sldSz cx="12192000" cy="6858000"/>
  <p:notesSz cx="7010400" cy="9296400"/>
  <p:embeddedFontLst>
    <p:embeddedFont>
      <p:font typeface="Berlin Sans FB" panose="020E0602020502020306" pitchFamily="34" charset="77"/>
      <p:regular r:id="rId82"/>
      <p:bold r:id="rId83"/>
    </p:embeddedFont>
    <p:embeddedFont>
      <p:font typeface="Berlin Sans FB Demi" panose="020E0802020502020306" pitchFamily="34" charset="77"/>
      <p:regular r:id="rId84"/>
      <p:bold r:id="rId85"/>
    </p:embeddedFont>
    <p:embeddedFont>
      <p:font typeface="Calibri" panose="020F0502020204030204" pitchFamily="34" charset="0"/>
      <p:regular r:id="rId86"/>
      <p:bold r:id="rId87"/>
      <p:italic r:id="rId88"/>
      <p:boldItalic r:id="rId89"/>
    </p:embeddedFont>
    <p:embeddedFont>
      <p:font typeface="Noto Sans Symbols" pitchFamily="2" charset="0"/>
      <p:regular r:id="rId90"/>
      <p:bold r:id="rId91"/>
    </p:embeddedFont>
    <p:embeddedFont>
      <p:font typeface="Old Standard TT" pitchFamily="2" charset="77"/>
      <p:regular r:id="rId92"/>
      <p:bold r:id="rId93"/>
      <p:italic r:id="rId94"/>
    </p:embeddedFont>
    <p:embeddedFont>
      <p:font typeface="Overlock" panose="02000506030000020004" pitchFamily="2" charset="77"/>
      <p:regular r:id="rId95"/>
      <p:bold r:id="rId96"/>
      <p:italic r:id="rId97"/>
      <p:boldItalic r:id="rId98"/>
    </p:embeddedFont>
    <p:embeddedFont>
      <p:font typeface="Tahoma" panose="020B0604030504040204" pitchFamily="34" charset="0"/>
      <p:regular r:id="rId99"/>
      <p:bold r:id="rId10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1" roundtripDataSignature="AMtx7mhk/wzN9expJCKgGNT20+3ZN9WT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27BE71-7C3F-4F0C-9FA5-CC4B3A8C3888}">
  <a:tblStyle styleId="{8327BE71-7C3F-4F0C-9FA5-CC4B3A8C38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1922" autoAdjust="0"/>
  </p:normalViewPr>
  <p:slideViewPr>
    <p:cSldViewPr snapToGrid="0">
      <p:cViewPr varScale="1">
        <p:scale>
          <a:sx n="76" d="100"/>
          <a:sy n="76" d="100"/>
        </p:scale>
        <p:origin x="186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3.fntdata"/><Relationship Id="rId89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font" Target="fonts/font9.fntdata"/><Relationship Id="rId95" Type="http://schemas.openxmlformats.org/officeDocument/2006/relationships/font" Target="fonts/font14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4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2.fntdata"/><Relationship Id="rId88" Type="http://schemas.openxmlformats.org/officeDocument/2006/relationships/font" Target="fonts/font7.fntdata"/><Relationship Id="rId91" Type="http://schemas.openxmlformats.org/officeDocument/2006/relationships/font" Target="fonts/font10.fntdata"/><Relationship Id="rId96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font" Target="fonts/font5.fntdata"/><Relationship Id="rId94" Type="http://schemas.openxmlformats.org/officeDocument/2006/relationships/font" Target="fonts/font13.fntdata"/><Relationship Id="rId99" Type="http://schemas.openxmlformats.org/officeDocument/2006/relationships/font" Target="fonts/font18.fntdata"/><Relationship Id="rId10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6.fntdata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6.fntdata"/><Relationship Id="rId61" Type="http://schemas.openxmlformats.org/officeDocument/2006/relationships/slide" Target="slides/slide60.xml"/><Relationship Id="rId82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9.fntdata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12.fntdata"/><Relationship Id="rId98" Type="http://schemas.openxmlformats.org/officeDocument/2006/relationships/font" Target="fonts/font17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9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f41d105d5c_0_0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g1f41d105d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g1f41d105d5c_0_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10a48f0dd5_0_0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g210a48f0dd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210a48f0dd5_0_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10a48f0dd5_0_46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g210a48f0dd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210a48f0dd5_0_4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10a48f0dd5_0_21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g210a48f0dd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g210a48f0dd5_0_2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10a48f0dd5_0_33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g210a48f0dd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g210a48f0dd5_0_3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f41d105d5c_0_8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g1f41d105d5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g1f41d105d5c_0_8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10a48f0dd5_0_64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g210a48f0dd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g210a48f0dd5_0_64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10f67de5e7_0_16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g210f67de5e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g210f67de5e7_0_1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f41d105d5c_0_16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1f41d105d5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1f41d105d5c_0_1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10f67de5e7_0_31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g210f67de5e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g210f67de5e7_0_3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10f67de5e7_0_40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g210f67de5e7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210f67de5e7_0_4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10f67de5e7_0_62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g210f67de5e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g210f67de5e7_0_6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10f67de5e7_0_72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g210f67de5e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g210f67de5e7_0_7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f41d105d5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g1f41d105d5c_0_24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/>
        </p:nvSpPr>
        <p:spPr>
          <a:xfrm>
            <a:off x="3971925" y="8774113"/>
            <a:ext cx="303847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26209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10a48f0c3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10a48f0c31_0_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210a48f0c31_0_2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10a48f0c3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10a48f0c31_0_1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210a48f0c31_0_15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10a48f0c3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10a48f0c31_0_3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10a48f0c31_0_35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10a48f0c31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10a48f0c31_0_2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210a48f0c31_0_29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10a48f0c3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10a48f0c31_0_5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210a48f0c31_0_59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10a48f0c3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10a48f0c31_0_44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10a48f0c31_0_44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10a48f0c31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10a48f0c31_0_5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210a48f0c31_0_53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10a48f0c31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10a48f0c31_0_8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10a48f0c31_0_85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10a48f0c3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10a48f0c31_0_7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210a48f0c31_0_77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0a48f0c31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10a48f0c31_0_7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10a48f0c31_0_71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10a48f0c31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10a48f0c31_0_12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10a48f0c31_0_123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10a48f0c31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10a48f0c31_0_9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210a48f0c31_0_92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10a48f0c3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10a48f0c31_0_9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10a48f0c31_0_99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10a48f0c31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10a48f0c31_0_10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210a48f0c31_0_105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10a48f0c31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10a48f0c31_0_13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10a48f0c31_0_136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10a48f0c31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10a48f0c31_0_15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210a48f0c31_0_151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112a491e93_0_133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g2112a491e9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g2112a491e93_0_13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112a491e93_0_0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g2112a491e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2112a491e93_0_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112a491e9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g2112a491e93_0_8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112a491e9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2112a491e93_0_1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112a491e9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g2112a491e93_0_18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112a491e9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g2112a491e93_0_2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112a491e93_0_28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g2112a491e9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g2112a491e93_0_28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112a491e9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2112a491e93_0_3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112a491e93_0_41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g2112a491e9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2112a491e93_0_4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112a491e93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g2112a491e93_0_4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112a491e93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g2112a491e93_0_4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1152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112a491e93_0_60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g2112a491e9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g2112a491e93_0_6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112a491e93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g2112a491e93_0_68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112a491e93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g2112a491e93_0_68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93977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112a491e93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g2112a491e93_0_7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112a491e93_0_78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g2112a491e9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g2112a491e93_0_78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112a491e93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g2112a491e93_0_8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112a491e93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g2112a491e93_0_9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112a491e93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112a491e93_0_9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2112a491e93_0_97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112a491e93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112a491e93_0_9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g2112a491e93_0_97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6583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f41d105d5c_4_0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g1f41d105d5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g1f41d105d5c_4_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f41d105d5c_4_25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g1f41d105d5c_4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g1f41d105d5c_4_2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10a490ff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g210a490ff7b_0_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10a490ff7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g210a490ff7b_0_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f41d105d5c_4_33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g1f41d105d5c_4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g1f41d105d5c_4_3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10a490ff7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g210a490ff7b_0_14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0a490ff7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210a490ff7b_0_1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f41d105d5c_4_41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g1f41d105d5c_4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g1f41d105d5c_4_4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10a490ff7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g210a490ff7b_0_2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10a490ff7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g210a490ff7b_0_3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10a490ff7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g210a490ff7b_0_36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f41d105d5c_4_49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g1f41d105d5c_4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g1f41d105d5c_4_4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10a490ff7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g210a490ff7b_0_41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1137837ab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0" name="Google Shape;520;g21137837abb_1_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1f41d105d5c_4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g1f41d105d5c_4_15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f41d105d5c_4_0:notes"/>
          <p:cNvSpPr txBox="1"/>
          <p:nvPr/>
        </p:nvSpPr>
        <p:spPr>
          <a:xfrm>
            <a:off x="3971925" y="8774113"/>
            <a:ext cx="30384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g1f41d105d5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g1f41d105d5c_4_0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776518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10a490ff7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g210a490ff7b_0_4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10a490ff7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g210a490ff7b_0_4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36803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0f67de5e7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g210f67de5e7_0_8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859105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0f67de5e7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g210f67de5e7_0_8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60053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10a48f0c31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10a48f0c31_0_14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210a48f0c31_0_142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281233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10a48f0c31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10a48f0c31_0_142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210a48f0c31_0_142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430967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112a491e93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112a491e93_0_10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2112a491e93_0_103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173361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112a491e93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112a491e93_0_103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2112a491e93_0_103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627399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112a491e93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112a491e93_0_109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112a491e93_0_109:notes"/>
          <p:cNvSpPr txBox="1">
            <a:spLocks noGrp="1"/>
          </p:cNvSpPr>
          <p:nvPr>
            <p:ph type="sldNum" idx="12"/>
          </p:nvPr>
        </p:nvSpPr>
        <p:spPr>
          <a:xfrm>
            <a:off x="3970938" y="8829969"/>
            <a:ext cx="3037800" cy="4665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223504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1137837ab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g21137837abb_0_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954607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1137837ab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g21137837abb_0_7:notes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554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8" cy="53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  <a:defRPr sz="2800"/>
            </a:lvl1pPr>
            <a:lvl2pPr marL="914400" lvl="1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  <a:defRPr sz="2800"/>
            </a:lvl2pPr>
            <a:lvl3pPr marL="1371600" lvl="2" indent="-3708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  <a:defRPr sz="2800"/>
            </a:lvl3pPr>
            <a:lvl4pPr marL="1828800" lvl="3" indent="-3708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  <a:defRPr sz="2800"/>
            </a:lvl4pPr>
            <a:lvl5pPr marL="2286000" lvl="4" indent="-3708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  <a:defRPr sz="2800"/>
            </a:lvl5pPr>
            <a:lvl6pPr marL="2743200" lvl="5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406400" y="1371600"/>
            <a:ext cx="553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  <a:defRPr sz="2800"/>
            </a:lvl1pPr>
            <a:lvl2pPr marL="914400" lvl="1" indent="-3505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❑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❑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❑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❑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 sz="1800"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 sz="1800"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2"/>
          </p:nvPr>
        </p:nvSpPr>
        <p:spPr>
          <a:xfrm>
            <a:off x="6146800" y="1371600"/>
            <a:ext cx="553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  <a:defRPr sz="2800"/>
            </a:lvl1pPr>
            <a:lvl2pPr marL="914400" lvl="1" indent="-3505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❑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❑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❑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❑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 sz="1800"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 sz="1800"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Overlock"/>
              <a:buNone/>
              <a:defRPr sz="6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095871" y="3529775"/>
            <a:ext cx="10058400" cy="78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2400" b="1" cap="non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pic>
        <p:nvPicPr>
          <p:cNvPr id="25" name="Google Shape;25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18" y="0"/>
            <a:ext cx="12244106" cy="2281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8" y="4463419"/>
            <a:ext cx="12192000" cy="23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  <a:defRPr sz="4400" b="0" i="0" u="none" strike="noStrike" cap="non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ts val="192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ts val="192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ts val="192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05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92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05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92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500"/>
              <a:buFont typeface="Calibri"/>
              <a:buChar char="◦"/>
              <a:defRPr sz="15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13"/>
          <p:cNvCxnSpPr/>
          <p:nvPr/>
        </p:nvCxnSpPr>
        <p:spPr>
          <a:xfrm>
            <a:off x="591131" y="1100537"/>
            <a:ext cx="109728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3"/>
          <p:cNvSpPr txBox="1"/>
          <p:nvPr/>
        </p:nvSpPr>
        <p:spPr>
          <a:xfrm>
            <a:off x="0" y="6565686"/>
            <a:ext cx="1066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Chapter 12. Data Mining Trends and Research Frontiers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39" name="Google Shape;39;p2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650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Mining Rich Data Types </a:t>
            </a:r>
            <a:endParaRPr dirty="0"/>
          </a:p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Data Mining Applications </a:t>
            </a:r>
            <a:endParaRPr dirty="0"/>
          </a:p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Data Mining Methodologies and Systems </a:t>
            </a:r>
            <a:endParaRPr dirty="0"/>
          </a:p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Data Mining, People and Society </a:t>
            </a:r>
            <a:endParaRPr dirty="0"/>
          </a:p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Summary</a:t>
            </a:r>
            <a:endParaRPr dirty="0">
              <a:sym typeface="Old Standard TT"/>
            </a:endParaRPr>
          </a:p>
        </p:txBody>
      </p:sp>
      <p:sp>
        <p:nvSpPr>
          <p:cNvPr id="40" name="Google Shape;40;p2"/>
          <p:cNvSpPr/>
          <p:nvPr/>
        </p:nvSpPr>
        <p:spPr>
          <a:xfrm rot="9803971">
            <a:off x="4875762" y="1412344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f41d105d5c_0_0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Rich Data Types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48" name="Google Shape;48;g1f41d105d5c_0_0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Mining Text Data </a:t>
            </a:r>
            <a:endParaRPr dirty="0"/>
          </a:p>
          <a:p>
            <a:pPr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Mining Spatial-Temporal Data </a:t>
            </a:r>
            <a:endParaRPr dirty="0"/>
          </a:p>
          <a:p>
            <a:pPr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Mining Graph and Networks </a:t>
            </a:r>
            <a:endParaRPr dirty="0"/>
          </a:p>
        </p:txBody>
      </p:sp>
      <p:sp>
        <p:nvSpPr>
          <p:cNvPr id="49" name="Google Shape;49;g1f41d105d5c_0_0"/>
          <p:cNvSpPr/>
          <p:nvPr/>
        </p:nvSpPr>
        <p:spPr>
          <a:xfrm rot="9803971">
            <a:off x="3773551" y="1437070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10a48f0dd5_0_0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Text Data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57" name="Google Shape;57;g210a48f0dd5_0_0"/>
          <p:cNvSpPr txBox="1"/>
          <p:nvPr/>
        </p:nvSpPr>
        <p:spPr>
          <a:xfrm>
            <a:off x="255425" y="1240376"/>
            <a:ext cx="11757500" cy="543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68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20"/>
              <a:buFont typeface="Noto Sans Symbols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80% of the data is in an unstructured format, e.g., news, image, audio.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0840" defTabSz="914354">
              <a:lnSpc>
                <a:spcPct val="150000"/>
              </a:lnSpc>
              <a:spcBef>
                <a:spcPts val="600"/>
              </a:spcBef>
              <a:buClr>
                <a:srgbClr val="0000CC"/>
              </a:buClr>
              <a:buSzPts val="2240"/>
              <a:buFont typeface="Noto Sans Symbols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 deriving high-quality information, such as structures, patterns, and summaries, from 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unstructured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data.</a:t>
            </a:r>
            <a:endParaRPr sz="28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Process: mining structures from text ⇒ deriving patterns within the structured data ⇒ evaluating and interpreting output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challenge: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represent text primitives (e.g., words, sentences, and documents) and how to learn effective representation from unstructured text?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0a48f0dd5_0_46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Text Data: Major Tasks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64" name="Google Shape;64;g210a48f0dd5_0_46"/>
          <p:cNvSpPr txBox="1"/>
          <p:nvPr/>
        </p:nvSpPr>
        <p:spPr>
          <a:xfrm>
            <a:off x="16125" y="975696"/>
            <a:ext cx="11847427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extraction (IE): automatically extracting structured information from unstructured and semi-structured documents.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Taxonomy construction: constructing different multi-faceted taxonomies based on different corpora or applications.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clustering: grouping unlabeled texts with similar contextual patterns.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classification: analyzing open-ended texts (e.g., webpages) and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assigning them a set of predefined topics or categories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summarization: creating a subset of text that represents the most important information from a single or multiple pieces of text.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10a48f0dd5_0_21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Text Data: Techniques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71" name="Google Shape;71;g210a48f0dd5_0_21"/>
          <p:cNvSpPr txBox="1"/>
          <p:nvPr/>
        </p:nvSpPr>
        <p:spPr>
          <a:xfrm>
            <a:off x="179925" y="1035424"/>
            <a:ext cx="11392950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95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20"/>
              <a:buFont typeface="Noto Sans Symbols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Symbol-based representation: using one-hot vectors for words and bag-of-words model for documents.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Issues: high-dimensionality and data sparsity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representation:  low-dimensional real-valued dense vectors with large amount of unlabeled data using deep neural network.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 embedding: words similar in meaning are expected to be closer in the embedded space.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Pre-trained language model: using large-scale data and more computing resources to generate contextualized embeddings.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10a48f0dd5_0_33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Text Data: Techniques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78" name="Google Shape;78;g210a48f0dd5_0_33"/>
          <p:cNvSpPr txBox="1"/>
          <p:nvPr/>
        </p:nvSpPr>
        <p:spPr>
          <a:xfrm>
            <a:off x="124900" y="977375"/>
            <a:ext cx="11628294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95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20"/>
              <a:buFont typeface="Noto Sans Symbols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Word2vec: words that share common contexts are embedded in close proximity, e.g., “Sweden" can be embedded close to Norway, Finland.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CBOW: predicts the current word from surrounding context words.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Skip-gram: uses the current word to predict the surrounding words.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alibri"/>
              <a:buChar char="❑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GloVe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combining global matrix factorization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local context window methods.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alibri"/>
              <a:buChar char="❑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JoSE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learning word embeddings in hyperbolic </a:t>
            </a:r>
          </a:p>
          <a:p>
            <a:pPr marL="762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space to model hierarchical structures.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Pre-trained language model: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ELMo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BERT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g210a48f0dd5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2627" y="3802337"/>
            <a:ext cx="4326232" cy="207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f41d105d5c_0_8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Rich Data Types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86" name="Google Shape;86;g1f41d105d5c_0_8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4" lvl="0" indent="-34130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sz="2800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Mining Text Data</a:t>
            </a: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4" lvl="0" indent="-341304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</a:pP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Mining </a:t>
            </a:r>
            <a:r>
              <a:rPr lang="en-US" sz="2800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Spatial-Temporal Data</a:t>
            </a: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4" lvl="0" indent="-341304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</a:pP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Mining </a:t>
            </a:r>
            <a:r>
              <a:rPr lang="en-US" sz="2800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Graph and Networks</a:t>
            </a: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Google Shape;87;g1f41d105d5c_0_8"/>
          <p:cNvSpPr/>
          <p:nvPr/>
        </p:nvSpPr>
        <p:spPr>
          <a:xfrm rot="9803971">
            <a:off x="5829274" y="1941881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1f41d105d5c_0_8"/>
          <p:cNvSpPr txBox="1"/>
          <p:nvPr/>
        </p:nvSpPr>
        <p:spPr>
          <a:xfrm rot="-997166">
            <a:off x="3878306" y="1284791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10a48f0dd5_0_64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Spatial-Temporal Data: Properties and Types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95" name="Google Shape;95;g210a48f0dd5_0_64"/>
          <p:cNvSpPr txBox="1"/>
          <p:nvPr/>
        </p:nvSpPr>
        <p:spPr>
          <a:xfrm>
            <a:off x="-62790" y="929974"/>
            <a:ext cx="12076027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Properties in Spatial and Temporal Data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Auto-correlation: dependencies and correlations in proximate locations and time, e.g., similar traffic status for adjacent intersections.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Heterogeneity: heterogeneous and non-stationary in distribution.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Spatial and Temporal Data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g210a48f0dd5_0_64"/>
          <p:cNvGraphicFramePr/>
          <p:nvPr>
            <p:extLst>
              <p:ext uri="{D42A27DB-BD31-4B8C-83A1-F6EECF244321}">
                <p14:modId xmlns:p14="http://schemas.microsoft.com/office/powerpoint/2010/main" val="2589266408"/>
              </p:ext>
            </p:extLst>
          </p:nvPr>
        </p:nvGraphicFramePr>
        <p:xfrm>
          <a:off x="392450" y="4174005"/>
          <a:ext cx="11483450" cy="2560170"/>
        </p:xfrm>
        <a:graphic>
          <a:graphicData uri="http://schemas.openxmlformats.org/drawingml/2006/table">
            <a:tbl>
              <a:tblPr>
                <a:noFill/>
                <a:tableStyleId>{8327BE71-7C3F-4F0C-9FA5-CC4B3A8C3888}</a:tableStyleId>
              </a:tblPr>
              <a:tblGrid>
                <a:gridCol w="121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type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 a spatial location and a time point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intersections and similarity/difference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intersection of forest fire and a rainfall returns the overlapping area and time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Trajectory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path of an object over space and time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 relationships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between two trajectories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transportation (e.g., tracing vehicle), epidemiology, ecology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Point reference data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collected using discrete reference points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reconstructing fields and modeling non-stationary random process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mobile sensors to collect temperature data in a certain region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Raster data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recording observation data at fixed locations and fixed time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converting a raster to a finer or coarser resolution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 traffic volume using data from nearby sensors/cameras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0f67de5e7_0_16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Spatial-Temporal Data: Data Models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103" name="Google Shape;103;g210f67de5e7_0_16"/>
          <p:cNvSpPr txBox="1"/>
          <p:nvPr/>
        </p:nvSpPr>
        <p:spPr>
          <a:xfrm>
            <a:off x="1" y="969349"/>
            <a:ext cx="12029872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Models for Spatial Data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model: points, lines, polygons  (e.g., point ⇒ vehicle, line ⇒ road)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Field model: spatial information as a function (e.g., temperature in an area)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Spatial network model: graphs for relationship (e.g., road network)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Models for Temporal Data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Temporal snapshot model: multiple spatial layers associated with time. </a:t>
            </a: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Temporal change model: a spatial theme using a start time and the incremental changes (e.g., moving of a vehicle with initial location, speed)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Event/process model: multiple events and processes over time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f41d105d5c_0_16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Rich Data Types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110" name="Google Shape;110;g1f41d105d5c_0_16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4" lvl="0" indent="-34130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sz="2800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Mining Text Data</a:t>
            </a: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4" lvl="0" indent="-341304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</a:pP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Mining </a:t>
            </a:r>
            <a:r>
              <a:rPr lang="en-US" sz="2800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Spatial-Temporal Data</a:t>
            </a: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4" lvl="0" indent="-341304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240"/>
              <a:buChar char="❑"/>
            </a:pP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Mining </a:t>
            </a:r>
            <a:r>
              <a:rPr lang="en-US" sz="2800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Graph and Networks</a:t>
            </a:r>
            <a:r>
              <a:rPr lang="en-US" b="0" i="0" u="none" strike="noStrike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Google Shape;111;g1f41d105d5c_0_16"/>
          <p:cNvSpPr/>
          <p:nvPr/>
        </p:nvSpPr>
        <p:spPr>
          <a:xfrm rot="9803971">
            <a:off x="5458474" y="2635581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f41d105d5c_0_16"/>
          <p:cNvSpPr txBox="1"/>
          <p:nvPr/>
        </p:nvSpPr>
        <p:spPr>
          <a:xfrm rot="-997166">
            <a:off x="3878306" y="1284791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10f67de5e7_0_31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Graph and Networks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119" name="Google Shape;119;g210f67de5e7_0_31"/>
          <p:cNvSpPr txBox="1"/>
          <p:nvPr/>
        </p:nvSpPr>
        <p:spPr>
          <a:xfrm>
            <a:off x="-12544" y="921381"/>
            <a:ext cx="12084627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Graph/Networks: consist of (1) a set of nodes and (2) a collection of edges, to model complex systems, e.g., online social platform </a:t>
            </a: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Categorization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attributed vs. plain graphs: 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node/edge attributes exist or not.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 vs. static graphs: 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topology/attribute change or not.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homogeneous vs. heterogeneous graphs: </a:t>
            </a:r>
          </a:p>
          <a:p>
            <a:pPr marL="533402" lvl="1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nodes/edges are of the same type or not.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g210f67de5e7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2238238"/>
            <a:ext cx="6086647" cy="1982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210f67de5e7_0_31"/>
          <p:cNvSpPr txBox="1"/>
          <p:nvPr/>
        </p:nvSpPr>
        <p:spPr>
          <a:xfrm>
            <a:off x="6500817" y="4220452"/>
            <a:ext cx="5277011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Homogeneous vs. heterogeneous networks 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0f67de5e7_0_40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Graph and Networks: Problems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128" name="Google Shape;128;g210f67de5e7_0_40"/>
          <p:cNvSpPr txBox="1"/>
          <p:nvPr/>
        </p:nvSpPr>
        <p:spPr>
          <a:xfrm>
            <a:off x="0" y="940836"/>
            <a:ext cx="12365990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Modeling: to study and simulate the generation mechanisms.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Motivation: (1) understanding how graphs are created and formed, (2) helping protect user privacy by anonymizing social networks.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models: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200"/>
              <a:buFont typeface="Calibri"/>
              <a:buChar char="❑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Erdős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Rényi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model: assumes certain probability distributions.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realistic graph generators: mimic one or more properties of real-world graphs, e.g., preferential attachment based (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Barabási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–Albert model).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generative models: mimic the real graphs with neural networks.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Challenge: heterogeneous networks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10f67de5e7_0_62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Graph and Networks: Problems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135" name="Google Shape;135;g210f67de5e7_0_62"/>
          <p:cNvSpPr txBox="1"/>
          <p:nvPr/>
        </p:nvSpPr>
        <p:spPr>
          <a:xfrm>
            <a:off x="0" y="940836"/>
            <a:ext cx="12032400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Heterogeneous Network Mining: capturing rich semantics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2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concept: </a:t>
            </a:r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meta-path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represents a sequence of relations, e.g., author-paper-author ⇒ co-authorship relation.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 of meta-path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Similarity search: improving ranking accuracy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classification: similarity matrices can be used to infer node labels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Clustering: representing different semantics 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heterogeneous network embedding: constructing neighborhood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Challenge: automatically inferring structure and semantics from input data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0f67de5e7_0_72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Mining Graph and Networks: Problems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142" name="Google Shape;142;g210f67de5e7_0_72"/>
          <p:cNvSpPr txBox="1"/>
          <p:nvPr/>
        </p:nvSpPr>
        <p:spPr>
          <a:xfrm>
            <a:off x="-34568" y="921380"/>
            <a:ext cx="12226568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Graph Mining 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graph (KG): a directed heterogeneous graph to link concepts and entities through human-interpretable semantics, e.g.,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DBPedia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Google KG.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KG construction methods: labor intensive, relying on pre-specified ontology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Extractive construction: information extraction, e.g., semantic labeling.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 model-based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8080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Representation learning-based: link prediction, entity resolution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Challenges: (1) automatic knowledge graph construction and dynamic update, (2) medical AI, conversational AI, and academic search engine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f41d105d5c_0_24"/>
          <p:cNvSpPr txBox="1">
            <a:spLocks noGrp="1"/>
          </p:cNvSpPr>
          <p:nvPr>
            <p:ph type="title"/>
          </p:nvPr>
        </p:nvSpPr>
        <p:spPr>
          <a:xfrm>
            <a:off x="1752600" y="381000"/>
            <a:ext cx="8458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Summary: Mining Rich Data Types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148" name="Google Shape;148;g1f41d105d5c_0_24"/>
          <p:cNvSpPr txBox="1"/>
          <p:nvPr/>
        </p:nvSpPr>
        <p:spPr>
          <a:xfrm>
            <a:off x="61499" y="914400"/>
            <a:ext cx="12130501" cy="60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Mining Text Data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 tasks: information extraction, taxonomy construction, text clustering/classification/summarization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Techniques: symbol-based and distributed representation (e.g., word2vec)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Mining Spatial-Temporal Data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Types: event, trajectory, point reference data, raster data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Models: object/field/spatial network and snapshot/change/event-process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Mining Graph and Networks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09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❑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Problems:  graph modeling, heterogeneous graph mining, knowledge graph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29950" cy="97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Chapter 12. Data Mining Trends and Research Frontiers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39" name="Google Shape;39;p2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650" cy="534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Mining Rich Data Types </a:t>
            </a:r>
            <a:endParaRPr dirty="0"/>
          </a:p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Data Mining Applications </a:t>
            </a:r>
            <a:endParaRPr dirty="0"/>
          </a:p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Data Mining Methodologies and Systems </a:t>
            </a:r>
            <a:endParaRPr dirty="0"/>
          </a:p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Data Mining, People and Society </a:t>
            </a:r>
            <a:endParaRPr dirty="0"/>
          </a:p>
          <a:p>
            <a:pPr lvl="0" defTabSz="914354">
              <a:lnSpc>
                <a:spcPct val="150000"/>
              </a:lnSpc>
            </a:pPr>
            <a:r>
              <a:rPr lang="en-US" dirty="0">
                <a:sym typeface="Old Standard TT"/>
              </a:rPr>
              <a:t>Summary</a:t>
            </a:r>
            <a:endParaRPr dirty="0">
              <a:sym typeface="Old Standard TT"/>
            </a:endParaRPr>
          </a:p>
        </p:txBody>
      </p:sp>
      <p:sp>
        <p:nvSpPr>
          <p:cNvPr id="40" name="Google Shape;40;p2"/>
          <p:cNvSpPr/>
          <p:nvPr/>
        </p:nvSpPr>
        <p:spPr>
          <a:xfrm rot="9803971">
            <a:off x="4933819" y="2036458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9972109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10a48f0c31_0_2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Applications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161" name="Google Shape;161;g210a48f0c31_0_2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Data Mining for Sentiment and Opinion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Truth Discovery and Misinformation Identification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Information and Disease Propagation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Productivity and Team Science  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solidFill>
                <a:srgbClr val="0000C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2" name="Google Shape;162;g210a48f0c31_0_2"/>
          <p:cNvSpPr/>
          <p:nvPr/>
        </p:nvSpPr>
        <p:spPr>
          <a:xfrm rot="9803971">
            <a:off x="6849418" y="1213119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10a48f0c31_0_15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Sentiment and Opinion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169" name="Google Shape;169;g210a48f0c31_0_15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b="1" dirty="0"/>
              <a:t>Sentiment</a:t>
            </a:r>
            <a:r>
              <a:rPr lang="en-US" dirty="0"/>
              <a:t>: a view of attitude/emotion toward a situation or event.</a:t>
            </a:r>
            <a:endParaRPr dirty="0"/>
          </a:p>
          <a:p>
            <a:pPr marL="457200" lvl="0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b="1" dirty="0"/>
              <a:t>Opinion</a:t>
            </a:r>
            <a:r>
              <a:rPr lang="en-US" dirty="0"/>
              <a:t>: a view or judgement formed about something.</a:t>
            </a:r>
            <a:endParaRPr dirty="0"/>
          </a:p>
          <a:p>
            <a:pPr marL="457200" lvl="0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dirty="0"/>
              <a:t>Sentiment and opinion are heavily correlated.</a:t>
            </a:r>
            <a:endParaRPr dirty="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40"/>
              <a:buChar char="❑"/>
            </a:pPr>
            <a:r>
              <a:rPr lang="en-US" dirty="0"/>
              <a:t>Note: many opinions may express sentiment, but some do not. (e.g., “I think she will move to Canada after graduation.”)</a:t>
            </a:r>
            <a:endParaRPr dirty="0"/>
          </a:p>
          <a:p>
            <a:pPr marL="457200" lvl="0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dirty="0"/>
              <a:t>Subtle difference between sentiment and opinion:</a:t>
            </a:r>
            <a:endParaRPr dirty="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40"/>
              <a:buChar char="❑"/>
            </a:pPr>
            <a:r>
              <a:rPr lang="en-US" dirty="0"/>
              <a:t>Sentiment sentence example: “I find data mining highly interesting.”</a:t>
            </a:r>
            <a:endParaRPr dirty="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40"/>
              <a:buChar char="❑"/>
            </a:pPr>
            <a:r>
              <a:rPr lang="en-US" dirty="0"/>
              <a:t>Opinion sentence example: “I believe data mining is promising and useful.”</a:t>
            </a:r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40"/>
              <a:buChar char="❑"/>
            </a:pPr>
            <a:r>
              <a:rPr lang="en-US" dirty="0"/>
              <a:t>The subtle difference is that one may share the same sentiment expressed in the example of sentiment sentence and agree or disagree with the opinion in the second sentence.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10a48f0c31_0_35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Sentiment Analysis and Opinion Mining Techniques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176" name="Google Shape;176;g210a48f0c31_0_35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746424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understand sentiment expressed in text.</a:t>
            </a:r>
            <a:endParaRPr dirty="0"/>
          </a:p>
          <a:p>
            <a:pPr marL="457200" lvl="0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dirty="0"/>
              <a:t>Techniques being used: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❑"/>
            </a:pPr>
            <a:r>
              <a:rPr lang="en-US" dirty="0"/>
              <a:t>Natural language processing methods.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❑"/>
            </a:pPr>
            <a:r>
              <a:rPr lang="en-US" dirty="0"/>
              <a:t>Machine learning and data mining methods.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❑"/>
            </a:pPr>
            <a:r>
              <a:rPr lang="en-US" dirty="0"/>
              <a:t>Psychology and social sciences.</a:t>
            </a:r>
            <a:endParaRPr dirty="0"/>
          </a:p>
          <a:p>
            <a:pPr marL="457200" lvl="0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dirty="0"/>
              <a:t>Technical directions being explored: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❑"/>
            </a:pPr>
            <a:r>
              <a:rPr lang="en-US" dirty="0"/>
              <a:t>Analysis at different levels: Document-level, sentence-level, aspect-level.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❑"/>
            </a:pPr>
            <a:r>
              <a:rPr lang="en-US" dirty="0"/>
              <a:t>Sentiment classification based on lexicons.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❑"/>
            </a:pPr>
            <a:r>
              <a:rPr lang="en-US" dirty="0"/>
              <a:t>Two types of text content: </a:t>
            </a:r>
            <a:r>
              <a:rPr lang="en-US" i="1" dirty="0"/>
              <a:t>stand-alone</a:t>
            </a:r>
            <a:r>
              <a:rPr lang="en-US" dirty="0"/>
              <a:t> and </a:t>
            </a:r>
            <a:r>
              <a:rPr lang="en-US" i="1" dirty="0"/>
              <a:t>online conversations</a:t>
            </a:r>
            <a:r>
              <a:rPr lang="en-US" dirty="0"/>
              <a:t>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❑"/>
            </a:pPr>
            <a:r>
              <a:rPr lang="en-US" dirty="0"/>
              <a:t>Mining intent: intent may imply sentiments and express opinions.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❑"/>
            </a:pPr>
            <a:r>
              <a:rPr lang="en-US" dirty="0"/>
              <a:t>Opinions spam detection: acquire data for social goodness.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10a48f0c31_0_29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Sentiment Analysis and Opinion Mining Applications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183" name="Google Shape;183;g210a48f0c31_0_29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Understand advantages/disadvantages of targets: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Sentiment analysis/opinion mining over product reviews.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Help customer make decisions; Help platform optimize supply chain; Help producers and manufacturers improve products, etc.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Outcome can be consumed by other AI agents: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Example: sentiment from news         trading signals for stock markets.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Challenges: highly efficient/accurate/robust system.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Monitoring and government administration: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Fight against cyber-violence, terrorism and racism.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Challenges: fairness and privacy issues.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g210a48f0c31_0_29"/>
          <p:cNvSpPr/>
          <p:nvPr/>
        </p:nvSpPr>
        <p:spPr>
          <a:xfrm>
            <a:off x="5956621" y="3550828"/>
            <a:ext cx="432600" cy="18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10a48f0c31_0_59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Applications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191" name="Google Shape;191;g210a48f0c31_0_59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Data Mining for Sentiment and Opinion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Truth Discovery and Misinformation Identification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Information and Disease Propagation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Productivity and Team Science  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solidFill>
                <a:srgbClr val="0000C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92" name="Google Shape;192;g210a48f0c31_0_59"/>
          <p:cNvSpPr/>
          <p:nvPr/>
        </p:nvSpPr>
        <p:spPr>
          <a:xfrm rot="9803971">
            <a:off x="8525618" y="1861969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10a48f0c31_0_44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Truth Discovery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199" name="Google Shape;199;g210a48f0c31_0_44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assess and choose the actual true value for a data item when different sources provide conflicting information on it. 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Single-truth discovery: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Only one true value is allowed for data item.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Multi-truth discovery: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Multiple true values are allowed for data items.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Challenges: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Source trustworthiness and claim reliability.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Limited amount of labeled data source: semi-supervised/unsupervised.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Detect copy behaviors of false values.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Evaluation: based on data distribution and treat those deviated substantially from norm as wrong answers.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00" name="Google Shape;200;g210a48f0c31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9090" y="2070538"/>
            <a:ext cx="3972910" cy="2124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10a48f0c31_0_53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Identification of Misinformation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07" name="Google Shape;207;g210a48f0c31_0_53"/>
          <p:cNvSpPr txBox="1">
            <a:spLocks noGrp="1"/>
          </p:cNvSpPr>
          <p:nvPr>
            <p:ph type="body" idx="1"/>
          </p:nvPr>
        </p:nvSpPr>
        <p:spPr>
          <a:xfrm>
            <a:off x="350975" y="1219200"/>
            <a:ext cx="119862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detect false, inaccurate, or misleading information from data source.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Potential solutions: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Explore mutual enhancement between source trustworthiness and claim credibility (similar idea from truth discovery). 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Methods should distinguish misinformation with additional measures: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Building up information literacy and media literacy through education.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Using commonsense knowledge and open-mindedness. 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Developing critical thinking.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Determine misinformation in the final stage based on: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Individual’s mental model and worldview beliefs.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Consideration of repetition of misinformation.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Time-lag/relative coherency between misinformation and corrective information. 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10a48f0c31_0_85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Applications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14" name="Google Shape;214;g210a48f0c31_0_85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Data Mining for Sentiment and Opinion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Truth Discovery and Misinformation Identification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Information and Disease Propagation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Productivity and Team Science  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solidFill>
                <a:srgbClr val="0000CC"/>
              </a:solidFill>
              <a:latin typeface="Calibri" panose="020F0502020204030204" pitchFamily="34" charset="0"/>
              <a:ea typeface="Noto Sans Symbols"/>
              <a:cs typeface="Calibri" panose="020F0502020204030204" pitchFamily="34" charset="0"/>
              <a:sym typeface="Noto Sans Symbols"/>
            </a:endParaRPr>
          </a:p>
        </p:txBody>
      </p:sp>
      <p:sp>
        <p:nvSpPr>
          <p:cNvPr id="215" name="Google Shape;215;g210a48f0c31_0_85"/>
          <p:cNvSpPr/>
          <p:nvPr/>
        </p:nvSpPr>
        <p:spPr>
          <a:xfrm rot="9803971">
            <a:off x="6579068" y="2492794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10a48f0c31_0_77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Information and Disease Propagation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22" name="Google Shape;222;g210a48f0c31_0_77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Data mining research problems: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Prediction problems of propagation.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Optimization problems of propagation.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Applications: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Social media: predict which piece of information is likely to go viral; detect the rumor source who started a misinformation campaign; neutralize the propagation of misinformation.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Computational epidemiology: determine critical network condition (e.g., epidemic threshold) under which an epidemic is likely to happen.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10a48f0c31_0_71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Information and Disease Propagation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29" name="Google Shape;229;g210a48f0c31_0_71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Prediction problems of propagation: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Classification and regression: whether information being popular/popular scores.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Prediction around publication: before/after information is published.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Prediction at different granularities: individual/groups of information.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Optimization problems of propagation (in a social network perspective):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Influence maximization: choose a set of initial nodes to maximize the number of infected nodes.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Source localization: identify source of a cascade over network with partial observations.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Activity shaping: steer user’s activity.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Graph connectivity optimization: manipulate the graph topology to affect the information propagation results.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10a48f0c31_0_123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Information and Disease Propagation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36" name="Google Shape;236;g210a48f0c31_0_123"/>
          <p:cNvSpPr txBox="1">
            <a:spLocks noGrp="1"/>
          </p:cNvSpPr>
          <p:nvPr>
            <p:ph type="body" idx="1"/>
          </p:nvPr>
        </p:nvSpPr>
        <p:spPr>
          <a:xfrm>
            <a:off x="350974" y="1219200"/>
            <a:ext cx="11841025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Models for information diffusion problems: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Feature based model: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Idea: utilize supervised models for information diffusion prediction.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Features used: temporal, local and global structure, user and item, etc.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Generative model: 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Idea: take information diffusion as event sequences in the continuous temporal domain, and formulate as statistical generative approaches.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Methods: Poisson Process, Survival Analysis, Hawkes Process, Epidemic Model.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Deep learning based model: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Idea: no assumptions on the information diffusion process.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Methods: multi-modal data with various neural modules.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Computational epidemiology models: SIS, SIR and SEIR and their variants.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10a48f0c31_0_92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Applications 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43" name="Google Shape;243;g210a48f0c31_0_92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Data Mining for Sentiment and Opinion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Truth Discovery and Misinformation Identification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Information and Disease Propagation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341303" lvl="0" indent="-34130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40"/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  <a:t>Productivity and Team Science  </a:t>
            </a:r>
            <a:endParaRPr dirty="0">
              <a:latin typeface="Calibri" panose="020F0502020204030204" pitchFamily="34" charset="0"/>
              <a:ea typeface="Old Standard TT"/>
              <a:cs typeface="Calibri" panose="020F0502020204030204" pitchFamily="34" charset="0"/>
              <a:sym typeface="Old Standard T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solidFill>
                <a:srgbClr val="0000CC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4" name="Google Shape;244;g210a48f0c31_0_92"/>
          <p:cNvSpPr/>
          <p:nvPr/>
        </p:nvSpPr>
        <p:spPr>
          <a:xfrm rot="9803971">
            <a:off x="5695093" y="3140844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10a48f0c31_0_99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Productivity and Team Science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51" name="Google Shape;251;g210a48f0c31_0_99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756934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Team components: (1) team leader and members, (2) the environment in which team members collaborate, (3) the task on which the team works. 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Data mining research questions: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Team performance characterization: how to reveal key characteristic patterns that differentiate a high-performing team from a struggling one?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Team performance prediction: how to forecast the performance of the team before or soon after the start of the task?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Team performance optimization: how to further enhance the team performance by adjusting the team composition?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Team performance explanation: how to interpret the team performance prediction and optimization results intuitively?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10a48f0c31_0_105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Productivity and Team Science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58" name="Google Shape;258;g210a48f0c31_0_105"/>
          <p:cNvSpPr txBox="1">
            <a:spLocks noGrp="1"/>
          </p:cNvSpPr>
          <p:nvPr>
            <p:ph type="body" idx="1"/>
          </p:nvPr>
        </p:nvSpPr>
        <p:spPr>
          <a:xfrm>
            <a:off x="350974" y="1219200"/>
            <a:ext cx="11841025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Team performance characterization: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Challenges: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Team members possess different type of skills and social connectivity.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The nature of tasks varies depends on the application scenarios.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Environments are large, noisy, incomplete and volatile to dynamics.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Treat as outcome of collective intelligence from both virtual teams and teams with face-to-face interactions.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Team performance prediction: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Challenges :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Identify crucial features.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Model the correlation between features and the team performance.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Encode the dynamics of team evolution.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Predict the impact of contents that team produces at a finer granularity.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10a48f0c31_0_136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Productivity and Team Science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65" name="Google Shape;265;g210a48f0c31_0_136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Team performance optimization: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Optimize the team composition to maximize the performance.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Aspects considered by the replacement algorithms: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Skills of the team members.</a:t>
            </a:r>
            <a:endParaRPr dirty="0"/>
          </a:p>
          <a:p>
            <a:pPr marL="1371600" lvl="2" indent="-38099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Network connectivity (the environment).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Generalizations: team shrinkage, team expansion, team conflict resolution, real-time team optimization, etc.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Team performance explanation: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Limited literature exists for intuitive explanations of team performance/algorithms.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Use influence function to identify key elements in teams for interpretation.</a:t>
            </a:r>
            <a:endParaRPr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Interpret from multiple levels.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10a48f0c31_0_151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Summary: Data Mining Applications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72" name="Google Shape;272;g210a48f0c31_0_151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Data Mining for Sentiment and Opinion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detect sentiment in texts with techniques from NLP, ML/DM, psychology and social science.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Truth Discovery and Misinformation Identification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determine true values for data items.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determine false/inaccurate and misleading values for data items.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Information and Disease Propagation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prediction problem and optimization problem.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Productivity and Team Science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team performance characterization, prediction, </a:t>
            </a:r>
            <a:r>
              <a:rPr lang="en-US" dirty="0" err="1"/>
              <a:t>optimizaion</a:t>
            </a:r>
            <a:r>
              <a:rPr lang="en-US" dirty="0"/>
              <a:t> and explanation.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112a491e93_0_133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Chapter 12. Data Mining Trends and Research Frontiers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86" name="Google Shape;286;g2112a491e93_0_133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Mining Rich Data Types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Applications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Methodologies and Systems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Mining, People and Society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Summary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287" name="Google Shape;287;g2112a491e93_0_133"/>
          <p:cNvSpPr/>
          <p:nvPr/>
        </p:nvSpPr>
        <p:spPr>
          <a:xfrm rot="9803971">
            <a:off x="7682943" y="2686069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2112a491e93_0_133"/>
          <p:cNvSpPr txBox="1"/>
          <p:nvPr/>
        </p:nvSpPr>
        <p:spPr>
          <a:xfrm rot="-997166">
            <a:off x="7764031" y="2801791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12a491e93_0_0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Methodologies and Systems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95" name="Google Shape;295;g2112a491e93_0_0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Structuring Unstructured Data for Knowledge Mining: A Data-Driven Approach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Augmentation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From Correlation to Causality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 Network as a Context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Auto-ML: Methods and Systems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296" name="Google Shape;296;g2112a491e93_0_0"/>
          <p:cNvSpPr/>
          <p:nvPr/>
        </p:nvSpPr>
        <p:spPr>
          <a:xfrm rot="9803971">
            <a:off x="4909499" y="1792506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112a491e93_0_0"/>
          <p:cNvSpPr txBox="1"/>
          <p:nvPr/>
        </p:nvSpPr>
        <p:spPr>
          <a:xfrm rot="-997166">
            <a:off x="4820581" y="1950766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112a491e93_0_8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Taxonomy construction and refinement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03" name="Google Shape;303;g2112a491e93_0_8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0670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Taxonomy </a:t>
            </a:r>
            <a:endParaRPr dirty="0"/>
          </a:p>
          <a:p>
            <a:pPr marL="738169" lvl="1" indent="-548308" algn="l" rtl="0">
              <a:spcBef>
                <a:spcPts val="120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Organizing important concepts into semantically rich structures</a:t>
            </a:r>
            <a:endParaRPr dirty="0"/>
          </a:p>
          <a:p>
            <a:pPr marL="738169" lvl="1" indent="-548308" algn="l" rtl="0">
              <a:spcBef>
                <a:spcPts val="120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Playing an essential role at organizing massive unstructured text data into relatively organized structures</a:t>
            </a:r>
            <a:endParaRPr dirty="0"/>
          </a:p>
          <a:p>
            <a:pPr marL="461951" lvl="0" indent="-461951" algn="l" rtl="0"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Suitable taxonomy properties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multi-faceted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corpus- and application-dependent</a:t>
            </a:r>
            <a:endParaRPr dirty="0"/>
          </a:p>
          <a:p>
            <a:pPr marL="461951" lvl="0" indent="-472111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Taxonomy generation and expansion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Weakly or distantly supervised methods</a:t>
            </a:r>
            <a:endParaRPr dirty="0"/>
          </a:p>
          <a:p>
            <a:pPr marL="858817" lvl="2" indent="-484811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Set expansion</a:t>
            </a:r>
            <a:endParaRPr dirty="0"/>
          </a:p>
          <a:p>
            <a:pPr marL="858817" lvl="2" indent="-484811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Embedding-based hierarchical clustering</a:t>
            </a:r>
            <a:endParaRPr dirty="0"/>
          </a:p>
          <a:p>
            <a:pPr marL="858817" lvl="2" indent="-484811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Adding new emerging terms or deleting old, obsolete ones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112a491e93_0_13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Weakly supervised text classification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09" name="Google Shape;309;g2112a491e93_0_13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0670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Text: massive, diverse and in multiple granularities</a:t>
            </a:r>
            <a:endParaRPr dirty="0"/>
          </a:p>
          <a:p>
            <a:pPr marL="461951" lvl="0" indent="-461951" algn="l" rtl="0"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Weakly supervised text classification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Idea #1:</a:t>
            </a:r>
            <a:endParaRPr dirty="0"/>
          </a:p>
          <a:p>
            <a:pPr marL="858817" lvl="2" indent="-484811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Generate pseudo documents by Embedding methods</a:t>
            </a:r>
            <a:endParaRPr dirty="0"/>
          </a:p>
          <a:p>
            <a:pPr marL="858817" lvl="2" indent="-484811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Train neural networks based on the pseudo documents and unlabeled text data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Idea #2:</a:t>
            </a:r>
            <a:endParaRPr dirty="0"/>
          </a:p>
          <a:p>
            <a:pPr marL="858817" lvl="2" indent="-484811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Generate class-distinctive keywords or phrases by category-guided embedding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Idea #3:</a:t>
            </a:r>
            <a:endParaRPr dirty="0"/>
          </a:p>
          <a:p>
            <a:pPr marL="858817" lvl="2" indent="-484811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Pre-trained language model to generate class-distinctive keywords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112a491e93_0_18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Fine-grained information extraction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15" name="Google Shape;315;g2112a491e93_0_18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0670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Fine-grained entity recognition</a:t>
            </a:r>
            <a:endParaRPr dirty="0"/>
          </a:p>
          <a:p>
            <a:pPr marL="738169" lvl="1" indent="-51782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Extract the concrete role that an entity plays in a particular context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Identification of the context of an entity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Generate entity mention candidates and relation phrases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Find the most appropriate fine-grained types for the entities to be examined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Methods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Distant supervision based methods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Embedding based methods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Taxonomy-guided supervision and pre-trained language model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112a491e93_0_23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Knowledge graph/information network construction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21" name="Google Shape;321;g2112a491e93_0_23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0670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Knowledge graphs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 set of entities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 set of (possibly labeled) edges linking among entities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Construction of knowledge graph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Use distant or weak supervision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Taxonomy-guided text classification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Problems of building knowledge graph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An entity can be associated with different attributes/value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Easy to cause confusion if different associations are merged into a single knowledge graph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Solutions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Construct local knowledge graphs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Use such local knowledge graphs under similar conditions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112a491e93_0_28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Methodologies and Systems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28" name="Google Shape;328;g2112a491e93_0_28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Structuring Unstructured Data for Knowledge Mining: A Data-Driven Approach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Augmentation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From Correlation to Causality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 Network as a Context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Auto-ML: Methods and Systems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329" name="Google Shape;329;g2112a491e93_0_28"/>
          <p:cNvSpPr/>
          <p:nvPr/>
        </p:nvSpPr>
        <p:spPr>
          <a:xfrm rot="9803971">
            <a:off x="4909499" y="2478306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112a491e93_0_28"/>
          <p:cNvSpPr txBox="1"/>
          <p:nvPr/>
        </p:nvSpPr>
        <p:spPr>
          <a:xfrm rot="-997166">
            <a:off x="4820581" y="1950766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12a491e93_0_36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Augmentation Details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36" name="Google Shape;336;g2112a491e93_0_36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1570426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Why do we need data augmentation?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 high-performing data mining model often requires a great amount of labelled data samples for training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However, for many domains, we might be only provided by a limited number of labelled data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Training a data mining model with scarce training data, which could lead to the overfitting issue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How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Basic Methods: Flipping, rotation, equalization and so on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Augmentation Policy Learning: Combine multiple basic augmentations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GANs-Based Methods: Training a GAN model to generate new data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Adversarial Training: Mixing the trickily-perturbed samples into the training samples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112a491e93_0_41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Methodologies and Systems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43" name="Google Shape;343;g2112a491e93_0_41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Structuring Unstructured Data for Knowledge Mining: A Data-Driven Approach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Augmentation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From Correlation to Causality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 Network as a Context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Auto-ML: Methods and Systems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344" name="Google Shape;344;g2112a491e93_0_41"/>
          <p:cNvSpPr/>
          <p:nvPr/>
        </p:nvSpPr>
        <p:spPr>
          <a:xfrm rot="9803971">
            <a:off x="6281099" y="3316506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2112a491e93_0_41"/>
          <p:cNvSpPr txBox="1"/>
          <p:nvPr/>
        </p:nvSpPr>
        <p:spPr>
          <a:xfrm rot="-997166">
            <a:off x="4820581" y="1950766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112a491e93_0_49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From Correlation to Causality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51" name="Google Shape;351;g2112a491e93_0_49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16205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Correlation analysis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Study the statistical associations between different observed variables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Causal analysis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Causality relation between observed variables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Causality analysis tasks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Causality discovery</a:t>
            </a:r>
            <a:endParaRPr dirty="0"/>
          </a:p>
          <a:p>
            <a:pPr marL="1144559" lvl="3" indent="-53243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constraint-based algorithms, score-based algorithms and functional causal models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Causality inference</a:t>
            </a:r>
            <a:endParaRPr dirty="0"/>
          </a:p>
          <a:p>
            <a:pPr marL="1144559" lvl="3" indent="-53243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Regression adjustment, propensity score methods and covariate balancing methods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112a491e93_0_49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From Correlation to Causality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51" name="Google Shape;351;g2112a491e93_0_49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16205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72111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Causality analysis benefits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Enhance the interpretability of black box deep learning models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Help avoid unfair results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Improve the robustness of models</a:t>
            </a:r>
          </a:p>
          <a:p>
            <a:pPr marL="280969" indent="-548308">
              <a:spcBef>
                <a:spcPts val="0"/>
              </a:spcBef>
              <a:buSzPts val="2400"/>
            </a:pPr>
            <a:r>
              <a:rPr lang="en-US" sz="2800" dirty="0"/>
              <a:t>The taxonomy of causality analysis</a:t>
            </a:r>
          </a:p>
        </p:txBody>
      </p:sp>
      <p:pic>
        <p:nvPicPr>
          <p:cNvPr id="2" name="Google Shape;358;g2112a491e93_0_54">
            <a:extLst>
              <a:ext uri="{FF2B5EF4-FFF2-40B4-BE49-F238E27FC236}">
                <a16:creationId xmlns:a16="http://schemas.microsoft.com/office/drawing/2014/main" id="{E1E3ACBB-9508-87DF-E584-2B03A91C8A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970" y="3742553"/>
            <a:ext cx="7104574" cy="2592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2759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112a491e93_0_60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Methodologies and Systems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65" name="Google Shape;365;g2112a491e93_0_60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Structuring Unstructured Data for Knowledge Mining: A Data-Driven Approach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Augmentation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From Correlation to Causality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 Network as a Context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Auto-ML: Methods and Systems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366" name="Google Shape;366;g2112a491e93_0_60"/>
          <p:cNvSpPr/>
          <p:nvPr/>
        </p:nvSpPr>
        <p:spPr>
          <a:xfrm rot="9803971">
            <a:off x="6281099" y="4002306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2112a491e93_0_60"/>
          <p:cNvSpPr txBox="1"/>
          <p:nvPr/>
        </p:nvSpPr>
        <p:spPr>
          <a:xfrm rot="-997166">
            <a:off x="4820581" y="1950766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112a491e93_0_68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Network as a Context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73" name="Google Shape;373;g2112a491e93_0_68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15443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Network of X</a:t>
            </a:r>
          </a:p>
          <a:p>
            <a:pPr marL="919151" lvl="1" indent="-461951">
              <a:spcBef>
                <a:spcPts val="0"/>
              </a:spcBef>
              <a:buSzPts val="1920"/>
            </a:pPr>
            <a:r>
              <a:rPr lang="en-US" dirty="0"/>
              <a:t>Each node represents an entity, a data set or a data mining model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Examples: Network of time series</a:t>
            </a:r>
          </a:p>
          <a:p>
            <a:pPr marL="919151" lvl="1" indent="-472111">
              <a:spcBef>
                <a:spcPts val="0"/>
              </a:spcBef>
              <a:buSzPts val="2400"/>
            </a:pPr>
            <a:r>
              <a:rPr lang="en-US" dirty="0"/>
              <a:t>The key idea for mining network of time series data</a:t>
            </a:r>
            <a:endParaRPr dirty="0"/>
          </a:p>
          <a:p>
            <a:pPr marL="1144559" lvl="3" indent="-53243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Model each time series by either traditional signal processing approaches or deep neural networks</a:t>
            </a:r>
            <a:endParaRPr dirty="0"/>
          </a:p>
          <a:p>
            <a:pPr marL="1144559" lvl="3" indent="-53243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Leverage the contextual network to regularize different time series models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112a491e93_0_68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Network as a Context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73" name="Google Shape;373;g2112a491e93_0_68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15443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Network of X</a:t>
            </a:r>
          </a:p>
          <a:p>
            <a:pPr marL="919151" lvl="1" indent="-461951">
              <a:spcBef>
                <a:spcPts val="0"/>
              </a:spcBef>
              <a:buSzPts val="1920"/>
            </a:pPr>
            <a:r>
              <a:rPr lang="en-US" dirty="0"/>
              <a:t>Each node represents an entity, a data set or a data mining model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Examples: Network of networks</a:t>
            </a:r>
          </a:p>
          <a:p>
            <a:pPr marL="919151" lvl="1" indent="-472111">
              <a:spcBef>
                <a:spcPts val="0"/>
              </a:spcBef>
              <a:buSzPts val="2400"/>
            </a:pPr>
            <a:r>
              <a:rPr lang="en-US" dirty="0"/>
              <a:t>Each X (i.e., node) itself of the contextual network represents another domain-specific network</a:t>
            </a:r>
          </a:p>
          <a:p>
            <a:pPr marL="919151" lvl="1" indent="-472111">
              <a:spcBef>
                <a:spcPts val="0"/>
              </a:spcBef>
              <a:buSzPts val="2400"/>
            </a:pPr>
            <a:r>
              <a:rPr lang="en-US" dirty="0"/>
              <a:t>The main advantages of the network of networks model</a:t>
            </a:r>
            <a:endParaRPr dirty="0"/>
          </a:p>
          <a:p>
            <a:pPr marL="1144559" lvl="3" indent="-532436">
              <a:spcBef>
                <a:spcPts val="0"/>
              </a:spcBef>
              <a:buSzPts val="2400"/>
            </a:pPr>
            <a:r>
              <a:rPr lang="en-US" dirty="0"/>
              <a:t>Explicitly encodes the hierarchical structure</a:t>
            </a:r>
            <a:endParaRPr dirty="0"/>
          </a:p>
          <a:p>
            <a:pPr marL="1144559" lvl="3" indent="-532436">
              <a:spcBef>
                <a:spcPts val="0"/>
              </a:spcBef>
              <a:buSzPts val="2400"/>
            </a:pPr>
            <a:r>
              <a:rPr lang="en-US" dirty="0"/>
              <a:t>The contextual network provides additional regularization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0973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112a491e93_0_73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Network as a Context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79" name="Google Shape;379;g2112a491e93_0_73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16205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Network of X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Each node represents an entity, a data set or a data mining model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Examples: Network of data mining models</a:t>
            </a:r>
          </a:p>
          <a:p>
            <a:pPr marL="919151" lvl="1" indent="-472111">
              <a:spcBef>
                <a:spcPts val="0"/>
              </a:spcBef>
              <a:buSzPts val="2400"/>
            </a:pPr>
            <a:r>
              <a:rPr lang="en-US" dirty="0"/>
              <a:t>Each X itself is a data mining model</a:t>
            </a:r>
          </a:p>
          <a:p>
            <a:pPr marL="919151" lvl="1" indent="-472111">
              <a:spcBef>
                <a:spcPts val="0"/>
              </a:spcBef>
              <a:buSzPts val="2400"/>
            </a:pPr>
            <a:r>
              <a:rPr lang="en-US" dirty="0"/>
              <a:t>Different performance prediction models ‘borrow’ data from each other</a:t>
            </a:r>
          </a:p>
          <a:p>
            <a:pPr marL="919151" lvl="1" indent="-472111">
              <a:spcBef>
                <a:spcPts val="0"/>
              </a:spcBef>
              <a:buSzPts val="2400"/>
            </a:pPr>
            <a:r>
              <a:rPr lang="en-US" dirty="0"/>
              <a:t>Mutually boost each other’s prediction performance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Future directions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The contextual network construction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Can be applied to more applications, e.g., knowledge graphs, heterogeneous networks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Integrate other data mining problems, e.g., adversarial learning, fairness, explainable learning.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112a491e93_0_78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Methodologies and Systems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86" name="Google Shape;386;g2112a491e93_0_78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Structuring Unstructured Data for Knowledge Mining: A Data-Driven Approach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Augmentation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From Correlation to Causality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 Network as a Context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Auto-ML: Methods and Systems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387" name="Google Shape;387;g2112a491e93_0_78"/>
          <p:cNvSpPr/>
          <p:nvPr/>
        </p:nvSpPr>
        <p:spPr>
          <a:xfrm rot="9803971">
            <a:off x="5810309" y="4484905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2112a491e93_0_78"/>
          <p:cNvSpPr txBox="1"/>
          <p:nvPr/>
        </p:nvSpPr>
        <p:spPr>
          <a:xfrm rot="-997166">
            <a:off x="4820581" y="1950766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112a491e93_0_86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Auto-ML: Methods and Systems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394" name="Google Shape;394;g2112a491e93_0_86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16205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Why do we need Auto-ML</a:t>
            </a:r>
            <a:endParaRPr dirty="0"/>
          </a:p>
          <a:p>
            <a:pPr marL="738169" lvl="1" indent="-54830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Different data mining and machine learning models have been widely used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Different task has different settings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Building and training appropriates mining models for each task could be time consuming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Domain experts might not be familiar with the mining models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Auto-ML classification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Automated Feature Engineering (Auto-FE)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Automatically detects the most representative and informative features</a:t>
            </a:r>
            <a:endParaRPr dirty="0"/>
          </a:p>
          <a:p>
            <a:pPr marL="738169" lvl="1" indent="-548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Automated Model and Hyperparameter Tuning (Auto-MHT)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Automatically builds machine learning models and tunes the hyper-parameters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112a491e93_0_91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Auto-ML: Methods and Systems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00" name="Google Shape;400;g2112a491e93_0_91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0670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Key challenges for Auto-ML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The lack of authoritative benchmarks for Auto-FE and Auto-MHT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The efficiency of Auto-ML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How to incorporate human knowledge or experiences into the </a:t>
            </a:r>
            <a:r>
              <a:rPr lang="en-US" dirty="0" err="1"/>
              <a:t>AutoML</a:t>
            </a:r>
            <a:r>
              <a:rPr lang="en-US" dirty="0"/>
              <a:t> to find suitable sub-space of the entire search space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The interpretability of Auto-ML</a:t>
            </a:r>
            <a:endParaRPr dirty="0"/>
          </a:p>
          <a:p>
            <a:pPr marL="858817" lvl="2" indent="-4848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The scope of applications</a:t>
            </a:r>
            <a:endParaRPr dirty="0"/>
          </a:p>
          <a:p>
            <a:pPr marL="461951" lvl="0" indent="-47211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Taxonomy of Auto-ML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01" name="Google Shape;401;g2112a491e93_0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4443124"/>
            <a:ext cx="3497100" cy="21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112a491e93_0_97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Summary: Data Mining Methodologies and Systems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08" name="Google Shape;408;g2112a491e93_0_97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Structuring Unstructured Data for Knowledge Mining: A Data-Driven Approach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Transform unstructured text-rich data into organized, relatively structured data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Data Augmentation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We might be only provided by a limited number of labelled data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Data augmentation can prevent overfitting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From Correlation to Causality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Focus on the causality relation between observed variables</a:t>
            </a:r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112a491e93_0_97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Summary: Data Mining Methodologies and Systems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08" name="Google Shape;408;g2112a491e93_0_97"/>
          <p:cNvSpPr txBox="1">
            <a:spLocks noGrp="1"/>
          </p:cNvSpPr>
          <p:nvPr>
            <p:ph type="body" idx="1"/>
          </p:nvPr>
        </p:nvSpPr>
        <p:spPr>
          <a:xfrm>
            <a:off x="350983" y="1219200"/>
            <a:ext cx="114069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Network as a Context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Provided a powerful context that links different types of data from different sources with different data mining algorithms </a:t>
            </a:r>
            <a:endParaRPr dirty="0"/>
          </a:p>
          <a:p>
            <a:pPr marL="738169" lvl="1" indent="-54830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Char char="❑"/>
            </a:pPr>
            <a:r>
              <a:rPr lang="en-US" dirty="0"/>
              <a:t>Auto-ML: Methods and Systems</a:t>
            </a:r>
            <a:endParaRPr dirty="0"/>
          </a:p>
          <a:p>
            <a:pPr marL="858817" lvl="2" indent="-48481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Allow non-experts to make use of machine learning models and techniques without requiring them to become experts in machine learning.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7119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f41d105d5c_4_0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Chapter 12. Data Mining Trends and Research Frontiers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29" name="Google Shape;429;g1f41d105d5c_4_0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Mining Rich Data Types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Applications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Methodologies and Systems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Mining, People and Society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Summary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430" name="Google Shape;430;g1f41d105d5c_4_0"/>
          <p:cNvSpPr/>
          <p:nvPr/>
        </p:nvSpPr>
        <p:spPr>
          <a:xfrm rot="9803971">
            <a:off x="6050818" y="3359894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1f41d105d5c_4_0"/>
          <p:cNvSpPr txBox="1"/>
          <p:nvPr/>
        </p:nvSpPr>
        <p:spPr>
          <a:xfrm rot="-997166">
            <a:off x="6131906" y="3475616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f41d105d5c_4_25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Mining, People and Society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38" name="Google Shape;438;g1f41d105d5c_4_25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Privacy-Preserving Data Mining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Human-Algorithm Interaction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Mining beyond Maximizing Accuracy: Fairness, Interpretability, and Robustness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for Social Good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Summary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439" name="Google Shape;439;g1f41d105d5c_4_25"/>
          <p:cNvSpPr/>
          <p:nvPr/>
        </p:nvSpPr>
        <p:spPr>
          <a:xfrm rot="9803971">
            <a:off x="6151038" y="1276234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1f41d105d5c_4_25"/>
          <p:cNvSpPr txBox="1"/>
          <p:nvPr/>
        </p:nvSpPr>
        <p:spPr>
          <a:xfrm rot="-997166">
            <a:off x="4810114" y="2022399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10a490ff7b_0_0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Privacy-Preserving Data Mining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46" name="Google Shape;446;g210a490ff7b_0_0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09848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1951" lvl="0" indent="-461951" algn="l" rtl="0"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Privacy leakage between users and data owners</a:t>
            </a:r>
            <a:endParaRPr dirty="0"/>
          </a:p>
          <a:p>
            <a:pPr marL="738168" lvl="1" indent="-548307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Example: re-identify users based on anonymous reviews on products.</a:t>
            </a:r>
            <a:endParaRPr dirty="0"/>
          </a:p>
          <a:p>
            <a:pPr marL="457200" lvl="0" indent="-350520" algn="l" rtl="0">
              <a:spcBef>
                <a:spcPts val="0"/>
              </a:spcBef>
              <a:spcAft>
                <a:spcPts val="0"/>
              </a:spcAft>
              <a:buSzPts val="1920"/>
              <a:buChar char="❑"/>
            </a:pPr>
            <a:r>
              <a:rPr lang="en-US" dirty="0"/>
              <a:t>Anonymize data for privacy protection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❑"/>
            </a:pPr>
            <a:r>
              <a:rPr lang="en-US" dirty="0"/>
              <a:t>k-anonymity (P. </a:t>
            </a:r>
            <a:r>
              <a:rPr lang="en-US" dirty="0" err="1"/>
              <a:t>Samarat</a:t>
            </a:r>
            <a:r>
              <a:rPr lang="en-US" dirty="0"/>
              <a:t> et al., 1998): generalize the data so that it is identical to at least k-1 other records on the identifying attribute.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Differential privacy (A. </a:t>
            </a:r>
            <a:r>
              <a:rPr lang="en-US" dirty="0" err="1"/>
              <a:t>Machanavajjhala</a:t>
            </a:r>
            <a:r>
              <a:rPr lang="en-US" dirty="0"/>
              <a:t> et al. 2006)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Describe patterns of groups without sharing individual information.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Global sensitivity: for a function </a:t>
            </a:r>
            <a:r>
              <a:rPr lang="en-US" i="1" dirty="0"/>
              <a:t>f</a:t>
            </a:r>
            <a:r>
              <a:rPr lang="en-US" dirty="0"/>
              <a:t> and a pair of neighboring datasets </a:t>
            </a:r>
            <a:r>
              <a:rPr lang="en-US" i="1" dirty="0"/>
              <a:t>D</a:t>
            </a:r>
            <a:r>
              <a:rPr lang="en-US" i="1" baseline="-25000" dirty="0"/>
              <a:t>1</a:t>
            </a:r>
            <a:r>
              <a:rPr lang="en-US" dirty="0"/>
              <a:t> and </a:t>
            </a:r>
            <a:r>
              <a:rPr lang="en-US" i="1" dirty="0"/>
              <a:t>D</a:t>
            </a:r>
            <a:r>
              <a:rPr lang="en-US" i="1" baseline="-25000" dirty="0"/>
              <a:t>2</a:t>
            </a:r>
            <a:r>
              <a:rPr lang="en-US" dirty="0"/>
              <a:t>, </a:t>
            </a:r>
            <a:r>
              <a:rPr lang="en-US" i="1" dirty="0" err="1"/>
              <a:t>GS</a:t>
            </a:r>
            <a:r>
              <a:rPr lang="en-US" i="1" baseline="-25000" dirty="0" err="1"/>
              <a:t>f</a:t>
            </a:r>
            <a:r>
              <a:rPr lang="en-US" dirty="0"/>
              <a:t>  is the maximum difference between function value </a:t>
            </a:r>
            <a:r>
              <a:rPr lang="en-US" i="1" dirty="0"/>
              <a:t>f(D</a:t>
            </a:r>
            <a:r>
              <a:rPr lang="en-US" i="1" baseline="-25000" dirty="0"/>
              <a:t>1</a:t>
            </a:r>
            <a:r>
              <a:rPr lang="en-US" i="1" dirty="0"/>
              <a:t>)</a:t>
            </a:r>
            <a:r>
              <a:rPr lang="en-US" dirty="0"/>
              <a:t> and </a:t>
            </a:r>
            <a:r>
              <a:rPr lang="en-US" i="1" dirty="0"/>
              <a:t>f(D</a:t>
            </a:r>
            <a:r>
              <a:rPr lang="en-US" i="1" baseline="-25000" dirty="0"/>
              <a:t>2</a:t>
            </a:r>
            <a:r>
              <a:rPr lang="en-US" i="1" dirty="0"/>
              <a:t>)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10a490ff7b_0_5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Privacy-Preserving Data Mining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52" name="Google Shape;452;g210a490ff7b_0_5"/>
          <p:cNvSpPr txBox="1">
            <a:spLocks noGrp="1"/>
          </p:cNvSpPr>
          <p:nvPr>
            <p:ph type="body" idx="1"/>
          </p:nvPr>
        </p:nvSpPr>
        <p:spPr>
          <a:xfrm>
            <a:off x="571500" y="1143000"/>
            <a:ext cx="112449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Privacy leakage between data owners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Example: multiple companies collaboratively conduct data mining but refuse to share user information.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Solution: federated learning and analytics.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Federated learning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Run local computation over each data owners’ devices and aggregate results without leaking detailed data from individual data owners.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Example: federated K-Means.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Horizontal and vertical federated learning</a:t>
            </a:r>
            <a:endParaRPr dirty="0"/>
          </a:p>
          <a:p>
            <a:pPr marL="1371600" lvl="2" indent="-38099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Horizontal: data owned by each data owners follows the same schema.</a:t>
            </a:r>
            <a:endParaRPr dirty="0"/>
          </a:p>
          <a:p>
            <a:pPr marL="1371600" lvl="2" indent="-380998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Vertical: different data owners have the data on only some attributes/objects.</a:t>
            </a:r>
            <a:endParaRPr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f41d105d5c_4_33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Mining, People and Society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59" name="Google Shape;459;g1f41d105d5c_4_33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Privacy-Preserving Data Mining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Human-Algorithm Interaction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Mining beyond Maximizing Accuracy: Fairness, Interpretability, and Robustness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for Social Good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460" name="Google Shape;460;g1f41d105d5c_4_33"/>
          <p:cNvSpPr/>
          <p:nvPr/>
        </p:nvSpPr>
        <p:spPr>
          <a:xfrm rot="9803971">
            <a:off x="5687513" y="1906609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1f41d105d5c_4_33"/>
          <p:cNvSpPr txBox="1"/>
          <p:nvPr/>
        </p:nvSpPr>
        <p:spPr>
          <a:xfrm rot="-997166">
            <a:off x="4810114" y="2022399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10a490ff7b_0_14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Human-Algorithm Interaction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67" name="Google Shape;467;g210a490ff7b_0_14"/>
          <p:cNvSpPr txBox="1">
            <a:spLocks noGrp="1"/>
          </p:cNvSpPr>
          <p:nvPr>
            <p:ph type="body" idx="1"/>
          </p:nvPr>
        </p:nvSpPr>
        <p:spPr>
          <a:xfrm>
            <a:off x="618975" y="1143000"/>
            <a:ext cx="1110201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Human-algorithm interaction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optimize the collaboration between human intelligence and algorithm, and consequently enhance the system performance and user experience.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Crowdsourcing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harness the human intelligence to resolve difficult problems.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Applications: label generation, model evaluation, evaluating prediction interpretability, debug AI systems, etc.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Human-in-the-loop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leveraging human intervention for improving algorithms.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Applications: high-quality label generation for supervised learning, enhancing model </a:t>
            </a:r>
            <a:r>
              <a:rPr lang="en-US" dirty="0" err="1"/>
              <a:t>explainability</a:t>
            </a:r>
            <a:r>
              <a:rPr lang="en-US" dirty="0"/>
              <a:t> with background knowledge, model evaluation, etc.</a:t>
            </a: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10a490ff7b_0_19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Human-Algorithm Interaction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73" name="Google Shape;473;g210a490ff7b_0_19"/>
          <p:cNvSpPr txBox="1">
            <a:spLocks noGrp="1"/>
          </p:cNvSpPr>
          <p:nvPr>
            <p:ph type="body" idx="1"/>
          </p:nvPr>
        </p:nvSpPr>
        <p:spPr>
          <a:xfrm>
            <a:off x="618975" y="1143000"/>
            <a:ext cx="110418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Machine-in-the-loop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improving humans’ query strategy by algorithms.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Applications: creative writing and drawing, achieving comparable model performance which reducing the demand for labelled data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Human-machine-teaming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fostering the effective teamwork between humans and algorithms.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Applications:</a:t>
            </a:r>
            <a:endParaRPr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74" name="Google Shape;474;g210a490ff7b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350" y="4000500"/>
            <a:ext cx="6430076" cy="25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f41d105d5c_4_41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Mining, People and Society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81" name="Google Shape;481;g1f41d105d5c_4_41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Privacy-Preserving Data Mining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Human-Algorithm Interaction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Mining beyond Maximizing Accuracy: Fairness, Interpretability, and Robustness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lvl="0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for Social Good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482" name="Google Shape;482;g1f41d105d5c_4_41"/>
          <p:cNvSpPr/>
          <p:nvPr/>
        </p:nvSpPr>
        <p:spPr>
          <a:xfrm rot="9803971">
            <a:off x="3538463" y="3265559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1f41d105d5c_4_41"/>
          <p:cNvSpPr txBox="1"/>
          <p:nvPr/>
        </p:nvSpPr>
        <p:spPr>
          <a:xfrm rot="-997166">
            <a:off x="4810114" y="2022399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10a490ff7b_0_25"/>
          <p:cNvSpPr txBox="1">
            <a:spLocks noGrp="1"/>
          </p:cNvSpPr>
          <p:nvPr>
            <p:ph type="title"/>
          </p:nvPr>
        </p:nvSpPr>
        <p:spPr>
          <a:xfrm>
            <a:off x="350985" y="32012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Mining beyond Maximizing Accuracy: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Fairness, Interpretability, and Robustness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89" name="Google Shape;489;g210a490ff7b_0_25"/>
          <p:cNvSpPr txBox="1">
            <a:spLocks noGrp="1"/>
          </p:cNvSpPr>
          <p:nvPr>
            <p:ph type="body" idx="1"/>
          </p:nvPr>
        </p:nvSpPr>
        <p:spPr>
          <a:xfrm>
            <a:off x="228600" y="1143000"/>
            <a:ext cx="11963399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Algorithm fairness: definitions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Group fairness</a:t>
            </a:r>
            <a:endParaRPr dirty="0"/>
          </a:p>
          <a:p>
            <a:pPr marL="1371600" lvl="2" indent="-3809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Demographic parity: predictions are</a:t>
            </a:r>
            <a:r>
              <a:rPr lang="zh-CN" altLang="en-US" dirty="0"/>
              <a:t> </a:t>
            </a:r>
            <a:r>
              <a:rPr lang="en-US" dirty="0"/>
              <a:t>independent of sensitive attributes</a:t>
            </a:r>
            <a:endParaRPr dirty="0"/>
          </a:p>
          <a:p>
            <a:pPr marL="1371600" lvl="2" indent="-3809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Equalized odds: conditional probability of the same prediction results given the label should be equal for different sensitive attributes.</a:t>
            </a:r>
            <a:endParaRPr dirty="0"/>
          </a:p>
          <a:p>
            <a:pPr marL="1371600" lvl="2" indent="-3809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Predictive rate parity: conditional probability of label given the prediction results should be equal for different sensitive attributes.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Individual fairness: preserve individual similarities, i.e., similar individuals should be treated similarly.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Counterfactual fairness: correct predictions of a label variable that are unfairly altered by an individual’s sensitive attribute.</a:t>
            </a:r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10a490ff7b_0_31"/>
          <p:cNvSpPr txBox="1">
            <a:spLocks noGrp="1"/>
          </p:cNvSpPr>
          <p:nvPr>
            <p:ph type="title"/>
          </p:nvPr>
        </p:nvSpPr>
        <p:spPr>
          <a:xfrm>
            <a:off x="350985" y="32012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Mining beyond Maximizing Accuracy: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Fairness, Interpretability, and Robustness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95" name="Google Shape;495;g210a490ff7b_0_31"/>
          <p:cNvSpPr txBox="1">
            <a:spLocks noGrp="1"/>
          </p:cNvSpPr>
          <p:nvPr>
            <p:ph type="body" idx="1"/>
          </p:nvPr>
        </p:nvSpPr>
        <p:spPr>
          <a:xfrm>
            <a:off x="487725" y="1143000"/>
            <a:ext cx="113289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Algorithm fairness: strategies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Pre-processing</a:t>
            </a:r>
            <a:endParaRPr dirty="0"/>
          </a:p>
          <a:p>
            <a:pPr marL="1371600" lvl="2" indent="-3809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Learn representations that removes the impact of sensitive attributes.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Optimization at training</a:t>
            </a:r>
            <a:endParaRPr dirty="0"/>
          </a:p>
          <a:p>
            <a:pPr marL="1371600" lvl="2" indent="-3809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Use </a:t>
            </a:r>
            <a:r>
              <a:rPr lang="en-US" dirty="0" err="1"/>
              <a:t>regularizers</a:t>
            </a:r>
            <a:r>
              <a:rPr lang="en-US" dirty="0"/>
              <a:t> or constraints to achieve trade-off between mitigating the bias and retaining the original mining accuracy.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Post-processing</a:t>
            </a:r>
            <a:endParaRPr dirty="0"/>
          </a:p>
          <a:p>
            <a:pPr marL="1371600" lvl="2" indent="-38099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Find a proper threshold for each group to achieve certain types of fairness</a:t>
            </a:r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10a490ff7b_0_36"/>
          <p:cNvSpPr txBox="1">
            <a:spLocks noGrp="1"/>
          </p:cNvSpPr>
          <p:nvPr>
            <p:ph type="title"/>
          </p:nvPr>
        </p:nvSpPr>
        <p:spPr>
          <a:xfrm>
            <a:off x="350985" y="32012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Mining beyond Maximizing Accuracy: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Fairness, Interpretability, and Robustness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501" name="Google Shape;501;g210a490ff7b_0_36"/>
          <p:cNvSpPr txBox="1">
            <a:spLocks noGrp="1"/>
          </p:cNvSpPr>
          <p:nvPr>
            <p:ph type="body" idx="1"/>
          </p:nvPr>
        </p:nvSpPr>
        <p:spPr>
          <a:xfrm>
            <a:off x="487724" y="1143000"/>
            <a:ext cx="11501075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Interpretability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explain results given by ‘black boxes’.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Visualize summary statistics for each feature as interpretation.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Explore self-interpretable components of the models (e.g., weights in the linear model, structure of decision trees)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Identifying key data points for interpretation.</a:t>
            </a:r>
            <a:endParaRPr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Robustness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Goal: ensuring consistency between test results and training results with unintentionally added noises or intentional adversarial attacks.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Reactive methods: detect adversarial examples after the model is built.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Proactive methods: make mining models more robust to attacks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f41d105d5c_4_49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Mining, People and Society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508" name="Google Shape;508;g1f41d105d5c_4_49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Privacy-Preserving Data Mining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Human-Algorithm Interaction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Mining beyond Maximizing Accuracy: Fairness, Interpretability, and Robustness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for Social Good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509" name="Google Shape;509;g1f41d105d5c_4_49"/>
          <p:cNvSpPr/>
          <p:nvPr/>
        </p:nvSpPr>
        <p:spPr>
          <a:xfrm rot="9803971">
            <a:off x="5455738" y="3950309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1f41d105d5c_4_49"/>
          <p:cNvSpPr txBox="1"/>
          <p:nvPr/>
        </p:nvSpPr>
        <p:spPr>
          <a:xfrm rot="-997166">
            <a:off x="4810114" y="2022399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10a490ff7b_0_41"/>
          <p:cNvSpPr txBox="1">
            <a:spLocks noGrp="1"/>
          </p:cNvSpPr>
          <p:nvPr>
            <p:ph type="title"/>
          </p:nvPr>
        </p:nvSpPr>
        <p:spPr>
          <a:xfrm>
            <a:off x="350985" y="32012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Data Mining for Social Good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516" name="Google Shape;516;g210a490ff7b_0_41"/>
          <p:cNvSpPr txBox="1">
            <a:spLocks noGrp="1"/>
          </p:cNvSpPr>
          <p:nvPr>
            <p:ph type="body" idx="1"/>
          </p:nvPr>
        </p:nvSpPr>
        <p:spPr>
          <a:xfrm>
            <a:off x="487724" y="1143000"/>
            <a:ext cx="11501075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Data mining applications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endParaRPr lang="en-US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Challenges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Data scarcity: lack of large-scale data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Evaluation: standard evaluation metrics may be insufficient in real-world scenarios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Human-in-the-loop: insufficient use of domain knowledge from experts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Sustainable deployment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17" name="Google Shape;517;g210a490ff7b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0550" y="1612899"/>
            <a:ext cx="4490900" cy="280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1137837abb_1_0"/>
          <p:cNvSpPr txBox="1">
            <a:spLocks noGrp="1"/>
          </p:cNvSpPr>
          <p:nvPr>
            <p:ph type="title"/>
          </p:nvPr>
        </p:nvSpPr>
        <p:spPr>
          <a:xfrm>
            <a:off x="350985" y="32012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Summary: Data Mining, People and Society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523" name="Google Shape;523;g21137837abb_1_0"/>
          <p:cNvSpPr txBox="1">
            <a:spLocks noGrp="1"/>
          </p:cNvSpPr>
          <p:nvPr>
            <p:ph type="body" idx="1"/>
          </p:nvPr>
        </p:nvSpPr>
        <p:spPr>
          <a:xfrm>
            <a:off x="487724" y="1143000"/>
            <a:ext cx="11704275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Privacy-Preserving Data Mining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Privacy between user and data owner: differential privacy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Privacy between data owners: federated learning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Human-Algorithm Interaction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Crowdsourcing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Human-in-the-Loop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Machine-in-the-Loop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Human-Machine-teaming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Beyond Accuracy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Fairness: group fairness, individual fairness, and counterfactual fairness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Interpretability</a:t>
            </a:r>
            <a:endParaRPr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Robustness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Data Mining for Social Good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f41d105d5c_4_15"/>
          <p:cNvSpPr txBox="1">
            <a:spLocks noGrp="1"/>
          </p:cNvSpPr>
          <p:nvPr>
            <p:ph type="title"/>
          </p:nvPr>
        </p:nvSpPr>
        <p:spPr>
          <a:xfrm>
            <a:off x="2057401" y="304800"/>
            <a:ext cx="8018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References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529" name="Google Shape;529;g1f41d105d5c_4_15"/>
          <p:cNvSpPr txBox="1">
            <a:spLocks noGrp="1"/>
          </p:cNvSpPr>
          <p:nvPr>
            <p:ph type="body" idx="1"/>
          </p:nvPr>
        </p:nvSpPr>
        <p:spPr>
          <a:xfrm>
            <a:off x="571499" y="1133475"/>
            <a:ext cx="10848900" cy="55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❑"/>
            </a:pPr>
            <a:r>
              <a:rPr lang="en-US" dirty="0" err="1"/>
              <a:t>Pierangela</a:t>
            </a:r>
            <a:r>
              <a:rPr lang="en-US" dirty="0"/>
              <a:t> </a:t>
            </a:r>
            <a:r>
              <a:rPr lang="en-US" dirty="0" err="1"/>
              <a:t>Samarati</a:t>
            </a:r>
            <a:r>
              <a:rPr lang="en-US" dirty="0"/>
              <a:t> and Latanya Sweeney. </a:t>
            </a:r>
            <a:r>
              <a:rPr lang="en-US" b="1" dirty="0"/>
              <a:t>Protecting Privacy when Disclosing Information: k-Anonymity and its Enforcement through Generalization and Suppression.</a:t>
            </a:r>
            <a:r>
              <a:rPr lang="en-US" dirty="0"/>
              <a:t> Technical report, SRI International, 1998.</a:t>
            </a:r>
            <a:endParaRPr dirty="0"/>
          </a:p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❑"/>
            </a:pPr>
            <a:r>
              <a:rPr lang="en-US" dirty="0"/>
              <a:t>A. </a:t>
            </a:r>
            <a:r>
              <a:rPr lang="en-US" dirty="0" err="1"/>
              <a:t>Machanavajjhala</a:t>
            </a:r>
            <a:r>
              <a:rPr lang="en-US" dirty="0"/>
              <a:t>, J. </a:t>
            </a:r>
            <a:r>
              <a:rPr lang="en-US" dirty="0" err="1"/>
              <a:t>Gehrke</a:t>
            </a:r>
            <a:r>
              <a:rPr lang="en-US" dirty="0"/>
              <a:t>, D. </a:t>
            </a:r>
            <a:r>
              <a:rPr lang="en-US" dirty="0" err="1"/>
              <a:t>Kifer</a:t>
            </a:r>
            <a:r>
              <a:rPr lang="en-US" dirty="0"/>
              <a:t>, and M. </a:t>
            </a:r>
            <a:r>
              <a:rPr lang="en-US" dirty="0" err="1"/>
              <a:t>Venkitasubramaniam</a:t>
            </a:r>
            <a:r>
              <a:rPr lang="en-US" dirty="0"/>
              <a:t>. </a:t>
            </a:r>
            <a:r>
              <a:rPr lang="en-US" b="1" dirty="0"/>
              <a:t>L-diversity: privacy beyond k-anonymity.</a:t>
            </a:r>
            <a:r>
              <a:rPr lang="en-US" dirty="0"/>
              <a:t> In Proc. 2006 Int. Conf. Data Engineering (ICDE’06), pages 24–24, Atlanta, GA, USA, Apr. 2006.</a:t>
            </a:r>
            <a:endParaRPr dirty="0"/>
          </a:p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❑"/>
            </a:pPr>
            <a:r>
              <a:rPr lang="en-US" dirty="0"/>
              <a:t>Vikas C. </a:t>
            </a:r>
            <a:r>
              <a:rPr lang="en-US" dirty="0" err="1"/>
              <a:t>Raykar</a:t>
            </a:r>
            <a:r>
              <a:rPr lang="en-US" dirty="0"/>
              <a:t>, </a:t>
            </a:r>
            <a:r>
              <a:rPr lang="en-US" dirty="0" err="1"/>
              <a:t>Shipeng</a:t>
            </a:r>
            <a:r>
              <a:rPr lang="en-US" dirty="0"/>
              <a:t> Yu, Linda H. Zhao, Gerardo Hermosillo Valadez, Charles Florin, Luca </a:t>
            </a:r>
            <a:r>
              <a:rPr lang="en-US" dirty="0" err="1"/>
              <a:t>Bogoni</a:t>
            </a:r>
            <a:r>
              <a:rPr lang="en-US" dirty="0"/>
              <a:t>, and Linda Moy. </a:t>
            </a:r>
            <a:r>
              <a:rPr lang="en-US" b="1" dirty="0"/>
              <a:t>Learning from crowds. Journal of Machine Learning Research</a:t>
            </a:r>
            <a:r>
              <a:rPr lang="en-US" dirty="0"/>
              <a:t>, 11(43):1297– 1322, 2010.</a:t>
            </a:r>
            <a:endParaRPr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f41d105d5c_4_0"/>
          <p:cNvSpPr txBox="1">
            <a:spLocks noGrp="1"/>
          </p:cNvSpPr>
          <p:nvPr>
            <p:ph type="title"/>
          </p:nvPr>
        </p:nvSpPr>
        <p:spPr>
          <a:xfrm>
            <a:off x="619125" y="123825"/>
            <a:ext cx="110301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Chapter 12. Data Mining Trends and Research Frontiers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29" name="Google Shape;429;g1f41d105d5c_4_0"/>
          <p:cNvSpPr txBox="1">
            <a:spLocks noGrp="1"/>
          </p:cNvSpPr>
          <p:nvPr>
            <p:ph type="body" idx="1"/>
          </p:nvPr>
        </p:nvSpPr>
        <p:spPr>
          <a:xfrm>
            <a:off x="619125" y="1209675"/>
            <a:ext cx="10915800" cy="5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Mining Rich Data Types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Applications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 Methodologies and Systems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Data Mining, People and Society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1303" indent="-341303">
              <a:lnSpc>
                <a:spcPct val="150000"/>
              </a:lnSpc>
              <a:spcBef>
                <a:spcPts val="0"/>
              </a:spcBef>
              <a:buFont typeface="Old Standard TT"/>
              <a:buChar char="❑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sym typeface="Old Standard TT"/>
              </a:rPr>
              <a:t>Summary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Old Standard TT"/>
            </a:endParaRPr>
          </a:p>
        </p:txBody>
      </p:sp>
      <p:sp>
        <p:nvSpPr>
          <p:cNvPr id="430" name="Google Shape;430;g1f41d105d5c_4_0"/>
          <p:cNvSpPr/>
          <p:nvPr/>
        </p:nvSpPr>
        <p:spPr>
          <a:xfrm rot="9803971">
            <a:off x="2770591" y="3911437"/>
            <a:ext cx="533433" cy="463004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00B0F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1f41d105d5c_4_0"/>
          <p:cNvSpPr txBox="1"/>
          <p:nvPr/>
        </p:nvSpPr>
        <p:spPr>
          <a:xfrm rot="15215900">
            <a:off x="2851679" y="4027159"/>
            <a:ext cx="371311" cy="23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961881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10a490ff7b_0_47"/>
          <p:cNvSpPr txBox="1">
            <a:spLocks noGrp="1"/>
          </p:cNvSpPr>
          <p:nvPr>
            <p:ph type="title"/>
          </p:nvPr>
        </p:nvSpPr>
        <p:spPr>
          <a:xfrm>
            <a:off x="350985" y="32012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Summary: Data Mining Trends and Research Frontiers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541" name="Google Shape;541;g210a490ff7b_0_47"/>
          <p:cNvSpPr txBox="1">
            <a:spLocks noGrp="1"/>
          </p:cNvSpPr>
          <p:nvPr>
            <p:ph type="body" idx="1"/>
          </p:nvPr>
        </p:nvSpPr>
        <p:spPr>
          <a:xfrm>
            <a:off x="480199" y="1185600"/>
            <a:ext cx="9741487" cy="17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Mining Rich Data Types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Text data 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Spatial-Temporal data</a:t>
            </a:r>
            <a:endParaRPr dirty="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Graph and Networks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 Methodologies and Systems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 Unstructured Data for Knowledge Mining</a:t>
            </a:r>
          </a:p>
          <a:p>
            <a:pPr lvl="1" indent="-3810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/>
              <a:t>Data Augmentation</a:t>
            </a:r>
          </a:p>
          <a:p>
            <a:pPr lvl="1" indent="-3810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/>
              <a:t>From Correlation to Causality </a:t>
            </a:r>
          </a:p>
          <a:p>
            <a:pPr lvl="1" indent="-3810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/>
              <a:t>Network as a Context</a:t>
            </a:r>
          </a:p>
          <a:p>
            <a:pPr lvl="1" indent="-381000">
              <a:lnSpc>
                <a:spcPct val="115000"/>
              </a:lnSpc>
              <a:spcBef>
                <a:spcPts val="0"/>
              </a:spcBef>
              <a:buSzPts val="2400"/>
            </a:pPr>
            <a:r>
              <a:rPr lang="en-US" dirty="0"/>
              <a:t>Auto-ML</a:t>
            </a:r>
          </a:p>
          <a:p>
            <a:pPr indent="-381000">
              <a:lnSpc>
                <a:spcPct val="115000"/>
              </a:lnSpc>
              <a:spcBef>
                <a:spcPts val="0"/>
              </a:spcBef>
              <a:buSzPts val="2400"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10a490ff7b_0_47"/>
          <p:cNvSpPr txBox="1">
            <a:spLocks noGrp="1"/>
          </p:cNvSpPr>
          <p:nvPr>
            <p:ph type="title"/>
          </p:nvPr>
        </p:nvSpPr>
        <p:spPr>
          <a:xfrm>
            <a:off x="350985" y="320126"/>
            <a:ext cx="1137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Summary: Data Mining Trends and Research Frontiers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541" name="Google Shape;541;g210a490ff7b_0_47"/>
          <p:cNvSpPr txBox="1">
            <a:spLocks noGrp="1"/>
          </p:cNvSpPr>
          <p:nvPr>
            <p:ph type="body" idx="1"/>
          </p:nvPr>
        </p:nvSpPr>
        <p:spPr>
          <a:xfrm>
            <a:off x="480199" y="1185599"/>
            <a:ext cx="11370000" cy="58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 Applications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 for Sentiment and Opinion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Truth Discovery and Misinformation Identification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and Disease Propagation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Productivity and Team Science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❏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Mining, People and Society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❏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Privacy-Preserving Data Mining 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❏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Human-Algorithm Interaction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❏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Mining beyond Maximizing Accuracy: Fairness, Interpretability, and Robustness</a:t>
            </a:r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❏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Mining for Social Good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56564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10f67de5e7_0_82"/>
          <p:cNvSpPr txBox="1">
            <a:spLocks noGrp="1"/>
          </p:cNvSpPr>
          <p:nvPr>
            <p:ph type="title"/>
          </p:nvPr>
        </p:nvSpPr>
        <p:spPr>
          <a:xfrm>
            <a:off x="2057401" y="304800"/>
            <a:ext cx="8018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References (Mining Rich Data Types)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154" name="Google Shape;154;g210f67de5e7_0_82"/>
          <p:cNvSpPr txBox="1">
            <a:spLocks noGrp="1"/>
          </p:cNvSpPr>
          <p:nvPr>
            <p:ph type="body" idx="1"/>
          </p:nvPr>
        </p:nvSpPr>
        <p:spPr>
          <a:xfrm>
            <a:off x="294601" y="1197604"/>
            <a:ext cx="11544000" cy="55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T. </a:t>
            </a:r>
            <a:r>
              <a:rPr lang="en-US" dirty="0" err="1"/>
              <a:t>Mikolov</a:t>
            </a:r>
            <a:r>
              <a:rPr lang="en-US" dirty="0"/>
              <a:t>, I. </a:t>
            </a:r>
            <a:r>
              <a:rPr lang="en-US" dirty="0" err="1"/>
              <a:t>Sutskever</a:t>
            </a:r>
            <a:r>
              <a:rPr lang="en-US" dirty="0"/>
              <a:t>, K. Chen, G. S. </a:t>
            </a:r>
            <a:r>
              <a:rPr lang="en-US" dirty="0" err="1"/>
              <a:t>Corrado</a:t>
            </a:r>
            <a:r>
              <a:rPr lang="en-US" dirty="0"/>
              <a:t>, and J. Dean. </a:t>
            </a:r>
            <a:r>
              <a:rPr lang="en-US" b="1" dirty="0"/>
              <a:t>Distributed representations of words and phrases and their compositionality</a:t>
            </a:r>
            <a:r>
              <a:rPr lang="en-US" dirty="0"/>
              <a:t>. NIPS'13</a:t>
            </a:r>
            <a:endParaRPr dirty="0"/>
          </a:p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J. Pennington, R. </a:t>
            </a:r>
            <a:r>
              <a:rPr lang="en-US" dirty="0" err="1"/>
              <a:t>Socher</a:t>
            </a:r>
            <a:r>
              <a:rPr lang="en-US" dirty="0"/>
              <a:t>, and C. D. Manning. </a:t>
            </a:r>
            <a:r>
              <a:rPr lang="en-US" b="1" dirty="0" err="1"/>
              <a:t>GloVe</a:t>
            </a:r>
            <a:r>
              <a:rPr lang="en-US" b="1" dirty="0"/>
              <a:t>: Global vectors for word representation. </a:t>
            </a:r>
            <a:r>
              <a:rPr lang="en-US" dirty="0"/>
              <a:t>EMNLP'14</a:t>
            </a:r>
            <a:endParaRPr dirty="0"/>
          </a:p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Y. Meng, J. Huang, G. Wang, C. Zhang, H. Zhuang, L. M. Kaplan, and J. Han. </a:t>
            </a:r>
            <a:r>
              <a:rPr lang="en-US" b="1" dirty="0"/>
              <a:t>Spherical text embedding.</a:t>
            </a:r>
            <a:r>
              <a:rPr lang="en-US" dirty="0"/>
              <a:t> NeurIPS'19</a:t>
            </a:r>
            <a:endParaRPr dirty="0"/>
          </a:p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M. Nickel and D. </a:t>
            </a:r>
            <a:r>
              <a:rPr lang="en-US" dirty="0" err="1"/>
              <a:t>Kiela</a:t>
            </a:r>
            <a:r>
              <a:rPr lang="en-US" dirty="0"/>
              <a:t>. </a:t>
            </a:r>
            <a:r>
              <a:rPr lang="en-US" b="1" dirty="0" err="1"/>
              <a:t>Poincaré</a:t>
            </a:r>
            <a:r>
              <a:rPr lang="en-US" b="1" dirty="0"/>
              <a:t> embeddings for learning hierarchical representations. </a:t>
            </a:r>
            <a:r>
              <a:rPr lang="en-US" dirty="0"/>
              <a:t>NIPS’17</a:t>
            </a:r>
            <a:endParaRPr dirty="0"/>
          </a:p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J. Devlin, M.-W. Chang, K. Lee, and K. Toutanova. </a:t>
            </a:r>
            <a:r>
              <a:rPr lang="en-US" b="1" dirty="0"/>
              <a:t>BERT: Pre-training of deep bidirectional transformers for language understanding. </a:t>
            </a:r>
            <a:r>
              <a:rPr lang="en-US" dirty="0"/>
              <a:t>NAACL-HLT'19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15055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10f67de5e7_0_82"/>
          <p:cNvSpPr txBox="1">
            <a:spLocks noGrp="1"/>
          </p:cNvSpPr>
          <p:nvPr>
            <p:ph type="title"/>
          </p:nvPr>
        </p:nvSpPr>
        <p:spPr>
          <a:xfrm>
            <a:off x="2057401" y="304800"/>
            <a:ext cx="8018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References </a:t>
            </a: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" panose="020E0602020502020306" pitchFamily="34" charset="0"/>
                <a:ea typeface="+mj-ea"/>
                <a:cs typeface="+mj-cs"/>
              </a:rPr>
              <a:t>(Mining Rich Data Types)</a:t>
            </a:r>
            <a:endParaRPr sz="3600" kern="1200" spc="-5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" panose="020E0602020502020306" pitchFamily="34" charset="0"/>
              <a:ea typeface="+mj-ea"/>
              <a:cs typeface="+mj-cs"/>
            </a:endParaRPr>
          </a:p>
        </p:txBody>
      </p:sp>
      <p:sp>
        <p:nvSpPr>
          <p:cNvPr id="154" name="Google Shape;154;g210f67de5e7_0_82"/>
          <p:cNvSpPr txBox="1">
            <a:spLocks noGrp="1"/>
          </p:cNvSpPr>
          <p:nvPr>
            <p:ph type="body" idx="1"/>
          </p:nvPr>
        </p:nvSpPr>
        <p:spPr>
          <a:xfrm>
            <a:off x="370675" y="1243000"/>
            <a:ext cx="11544000" cy="55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G. </a:t>
            </a:r>
            <a:r>
              <a:rPr lang="en-US" dirty="0" err="1"/>
              <a:t>Atluri</a:t>
            </a:r>
            <a:r>
              <a:rPr lang="en-US" dirty="0"/>
              <a:t>, A. </a:t>
            </a:r>
            <a:r>
              <a:rPr lang="en-US" dirty="0" err="1"/>
              <a:t>Karpatne</a:t>
            </a:r>
            <a:r>
              <a:rPr lang="en-US" dirty="0"/>
              <a:t>, and V. Kumar. </a:t>
            </a:r>
            <a:r>
              <a:rPr lang="en-US" b="1" dirty="0"/>
              <a:t>Spatiotemporal data mining: A survey of problems and methods.</a:t>
            </a:r>
            <a:r>
              <a:rPr lang="en-US" dirty="0"/>
              <a:t> ACM </a:t>
            </a:r>
            <a:r>
              <a:rPr lang="en-US" dirty="0" err="1"/>
              <a:t>Comput</a:t>
            </a:r>
            <a:r>
              <a:rPr lang="en-US" dirty="0"/>
              <a:t>. </a:t>
            </a:r>
            <a:r>
              <a:rPr lang="en-US" dirty="0" err="1"/>
              <a:t>Surv</a:t>
            </a:r>
            <a:r>
              <a:rPr lang="en-US" dirty="0"/>
              <a:t>., August 2018</a:t>
            </a:r>
            <a:endParaRPr dirty="0"/>
          </a:p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S. Shekhar, R. </a:t>
            </a:r>
            <a:r>
              <a:rPr lang="en-US" dirty="0" err="1"/>
              <a:t>Vatsavai</a:t>
            </a:r>
            <a:r>
              <a:rPr lang="en-US" dirty="0"/>
              <a:t>, and M. </a:t>
            </a:r>
            <a:r>
              <a:rPr lang="en-US" dirty="0" err="1"/>
              <a:t>Celik</a:t>
            </a:r>
            <a:r>
              <a:rPr lang="en-US" dirty="0"/>
              <a:t>. </a:t>
            </a:r>
            <a:r>
              <a:rPr lang="en-US" b="1" dirty="0"/>
              <a:t>Spatial and spatiotemporal data mining: Recent advances.</a:t>
            </a:r>
            <a:r>
              <a:rPr lang="en-US" dirty="0"/>
              <a:t> Next Generation of Data Mining, 2008.</a:t>
            </a:r>
            <a:endParaRPr dirty="0"/>
          </a:p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P. W. Holland, K. B. Laskey, and S. </a:t>
            </a:r>
            <a:r>
              <a:rPr lang="en-US" dirty="0" err="1"/>
              <a:t>Leinhardt</a:t>
            </a:r>
            <a:r>
              <a:rPr lang="en-US" dirty="0"/>
              <a:t>. </a:t>
            </a:r>
            <a:r>
              <a:rPr lang="en-US" b="1" dirty="0"/>
              <a:t>Stochastic </a:t>
            </a:r>
            <a:r>
              <a:rPr lang="en-US" b="1" dirty="0" err="1"/>
              <a:t>blockmodels</a:t>
            </a:r>
            <a:r>
              <a:rPr lang="en-US" b="1" dirty="0"/>
              <a:t>: First steps.</a:t>
            </a:r>
            <a:r>
              <a:rPr lang="en-US" dirty="0"/>
              <a:t> Social networks, 5, 1983.</a:t>
            </a:r>
            <a:endParaRPr dirty="0"/>
          </a:p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J. </a:t>
            </a:r>
            <a:r>
              <a:rPr lang="en-US" dirty="0" err="1"/>
              <a:t>Leskovec</a:t>
            </a:r>
            <a:r>
              <a:rPr lang="en-US" dirty="0"/>
              <a:t>, D. Chakrabarti, J. Kleinberg, C. </a:t>
            </a:r>
            <a:r>
              <a:rPr lang="en-US" dirty="0" err="1"/>
              <a:t>Faloutsos</a:t>
            </a:r>
            <a:r>
              <a:rPr lang="en-US" dirty="0"/>
              <a:t>, and Z. </a:t>
            </a:r>
            <a:r>
              <a:rPr lang="en-US" dirty="0" err="1"/>
              <a:t>Ghahramani</a:t>
            </a:r>
            <a:r>
              <a:rPr lang="en-US" dirty="0"/>
              <a:t>. </a:t>
            </a:r>
            <a:r>
              <a:rPr lang="en-US" b="1" dirty="0"/>
              <a:t>Kronecker graphs: an approach to modeling networks.</a:t>
            </a:r>
            <a:r>
              <a:rPr lang="en-US" dirty="0"/>
              <a:t> JMLR, 11, 2010.</a:t>
            </a:r>
            <a:endParaRPr dirty="0"/>
          </a:p>
          <a:p>
            <a:pPr marL="533400" lvl="0" indent="-548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dirty="0"/>
              <a:t>Y. Dong, N. V. Chawla, and A. Swami. </a:t>
            </a:r>
            <a:r>
              <a:rPr lang="en-US" b="1" dirty="0"/>
              <a:t>metapath2vec: Scalable representation learning for heterogeneous networks. </a:t>
            </a:r>
            <a:r>
              <a:rPr lang="en-US" dirty="0"/>
              <a:t>KDD’17</a:t>
            </a:r>
            <a:endParaRPr dirty="0"/>
          </a:p>
          <a:p>
            <a:pPr marL="53340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72682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10a48f0c31_0_142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References (Data Mining Methodologies and Systems)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79" name="Google Shape;279;g210a48f0c31_0_142"/>
          <p:cNvSpPr txBox="1">
            <a:spLocks noGrp="1"/>
          </p:cNvSpPr>
          <p:nvPr>
            <p:ph type="body" idx="1"/>
          </p:nvPr>
        </p:nvSpPr>
        <p:spPr>
          <a:xfrm>
            <a:off x="350975" y="1219200"/>
            <a:ext cx="116958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J. G. Shanahan, Y. Qu, and J. Wiebe, editors. </a:t>
            </a:r>
            <a:r>
              <a:rPr lang="en-US" b="1" dirty="0"/>
              <a:t>Computing Attitude and Affect in Text: Theory and Applications</a:t>
            </a:r>
            <a:r>
              <a:rPr lang="en-US" dirty="0"/>
              <a:t>. Springer, 2006. 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B. Liu. </a:t>
            </a:r>
            <a:r>
              <a:rPr lang="en-US" b="1" dirty="0"/>
              <a:t>Sentiment Analysis: Mining Opinions, Sentiments, and Emotions</a:t>
            </a:r>
            <a:r>
              <a:rPr lang="en-US" dirty="0"/>
              <a:t>. Cambridge University Press, 2020.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Y. Li, J. Gao, </a:t>
            </a:r>
            <a:r>
              <a:rPr lang="en-US" dirty="0" err="1"/>
              <a:t>C.i</a:t>
            </a:r>
            <a:r>
              <a:rPr lang="en-US" dirty="0"/>
              <a:t> Meng, Q. Li, L. </a:t>
            </a:r>
            <a:r>
              <a:rPr lang="en-US" dirty="0" err="1"/>
              <a:t>Su</a:t>
            </a:r>
            <a:r>
              <a:rPr lang="en-US" dirty="0"/>
              <a:t>, B. Zhao, W. Fan, and J. Han. </a:t>
            </a:r>
            <a:r>
              <a:rPr lang="en-US" b="1" dirty="0"/>
              <a:t>A survey on truth discovery</a:t>
            </a:r>
            <a:r>
              <a:rPr lang="en-US" dirty="0"/>
              <a:t>. SIGKDD, 2015. 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L. Wu, F. </a:t>
            </a:r>
            <a:r>
              <a:rPr lang="en-US" dirty="0" err="1"/>
              <a:t>Morstatter</a:t>
            </a:r>
            <a:r>
              <a:rPr lang="en-US" dirty="0"/>
              <a:t>, K. M. Carley, and H. Liu. </a:t>
            </a:r>
            <a:r>
              <a:rPr lang="en-US" b="1" dirty="0"/>
              <a:t>Misinformation in social media: Definition, manipulation, and detection</a:t>
            </a:r>
            <a:r>
              <a:rPr lang="en-US" dirty="0"/>
              <a:t>. SIGKDD’19. 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Z. Chen, H. Tong, and L. Ying. </a:t>
            </a:r>
            <a:r>
              <a:rPr lang="en-US" b="1" dirty="0"/>
              <a:t>Inferring full diffusion history from partial timestamps</a:t>
            </a:r>
            <a:r>
              <a:rPr lang="en-US" dirty="0"/>
              <a:t>. TKDE’19.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78481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10a48f0c31_0_142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69579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References References (Data Mining Methodologies and Systems)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279" name="Google Shape;279;g210a48f0c31_0_142"/>
          <p:cNvSpPr txBox="1">
            <a:spLocks noGrp="1"/>
          </p:cNvSpPr>
          <p:nvPr>
            <p:ph type="body" idx="1"/>
          </p:nvPr>
        </p:nvSpPr>
        <p:spPr>
          <a:xfrm>
            <a:off x="350975" y="1219200"/>
            <a:ext cx="116958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Y. Yang and J. Pei. </a:t>
            </a:r>
            <a:r>
              <a:rPr lang="en-US" b="1" dirty="0"/>
              <a:t>Influence analysis in evolving networks: A survey</a:t>
            </a:r>
            <a:r>
              <a:rPr lang="en-US" dirty="0"/>
              <a:t>. TKDE’19.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S. F </a:t>
            </a:r>
            <a:r>
              <a:rPr lang="en-US" dirty="0" err="1"/>
              <a:t>Ardabili</a:t>
            </a:r>
            <a:r>
              <a:rPr lang="en-US" dirty="0"/>
              <a:t>, A. </a:t>
            </a:r>
            <a:r>
              <a:rPr lang="en-US" dirty="0" err="1"/>
              <a:t>Mosavi</a:t>
            </a:r>
            <a:r>
              <a:rPr lang="en-US" dirty="0"/>
              <a:t>, P. </a:t>
            </a:r>
            <a:r>
              <a:rPr lang="en-US" dirty="0" err="1"/>
              <a:t>Ghamisi</a:t>
            </a:r>
            <a:r>
              <a:rPr lang="en-US" dirty="0"/>
              <a:t>, F. Ferdinand, A. R </a:t>
            </a:r>
            <a:r>
              <a:rPr lang="en-US" dirty="0" err="1"/>
              <a:t>Varkonyi-Koczy</a:t>
            </a:r>
            <a:r>
              <a:rPr lang="en-US" dirty="0"/>
              <a:t>, U. Reuter, T. </a:t>
            </a:r>
            <a:r>
              <a:rPr lang="en-US" dirty="0" err="1"/>
              <a:t>Rabczuk</a:t>
            </a:r>
            <a:r>
              <a:rPr lang="en-US" dirty="0"/>
              <a:t>, and P. M Atkinson. </a:t>
            </a:r>
            <a:r>
              <a:rPr lang="en-US" b="1" dirty="0"/>
              <a:t>Covid-19 outbreak prediction with machine learning</a:t>
            </a:r>
            <a:r>
              <a:rPr lang="en-US" dirty="0"/>
              <a:t>. Algorithms, 2020. 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J. Hackman and N. Katz. </a:t>
            </a:r>
            <a:r>
              <a:rPr lang="en-US" b="1" dirty="0"/>
              <a:t>Group Behavior and Performance,</a:t>
            </a:r>
            <a:r>
              <a:rPr lang="en-US" dirty="0"/>
              <a:t> 2010. 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L. Li and H. Tong. </a:t>
            </a:r>
            <a:r>
              <a:rPr lang="en-US" b="1" dirty="0"/>
              <a:t>Computational Approaches to the Network Science of Teams</a:t>
            </a:r>
            <a:r>
              <a:rPr lang="en-US" dirty="0"/>
              <a:t>. Cambridge University Press, 2020.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27107613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112a491e93_0_103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References (Data Mining Applications)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15" name="Google Shape;415;g2112a491e93_0_103"/>
          <p:cNvSpPr txBox="1">
            <a:spLocks noGrp="1"/>
          </p:cNvSpPr>
          <p:nvPr>
            <p:ph type="body" idx="1"/>
          </p:nvPr>
        </p:nvSpPr>
        <p:spPr>
          <a:xfrm>
            <a:off x="350975" y="1219200"/>
            <a:ext cx="116958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 err="1"/>
              <a:t>Jingbo</a:t>
            </a:r>
            <a:r>
              <a:rPr lang="en-US" dirty="0"/>
              <a:t> Shang, </a:t>
            </a:r>
            <a:r>
              <a:rPr lang="en-US" dirty="0" err="1"/>
              <a:t>Jialu</a:t>
            </a:r>
            <a:r>
              <a:rPr lang="en-US" dirty="0"/>
              <a:t> Liu, Meng Jiang, X. Ren, Clare R. Voss, and Jiawei Han. </a:t>
            </a:r>
            <a:r>
              <a:rPr lang="en-US" b="1" dirty="0"/>
              <a:t>Automated phrase mining from massive text corpora</a:t>
            </a:r>
            <a:r>
              <a:rPr lang="en-US" dirty="0"/>
              <a:t>. IEEE Transactions on Knowledge and Data Engineering, 2018.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Chi Wang and Jiawei Han. </a:t>
            </a:r>
            <a:r>
              <a:rPr lang="en-US" b="1" dirty="0"/>
              <a:t>Mining Latent Entity Structures</a:t>
            </a:r>
            <a:r>
              <a:rPr lang="en-US" dirty="0"/>
              <a:t>. Morgan &amp; Claypool, 2015.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Xiang Ren, Ahmed El-</a:t>
            </a:r>
            <a:r>
              <a:rPr lang="en-US" dirty="0" err="1"/>
              <a:t>Kishky</a:t>
            </a:r>
            <a:r>
              <a:rPr lang="en-US" dirty="0"/>
              <a:t>, Chi Wang, </a:t>
            </a:r>
            <a:r>
              <a:rPr lang="en-US" dirty="0" err="1"/>
              <a:t>Fangbo</a:t>
            </a:r>
            <a:r>
              <a:rPr lang="en-US" dirty="0"/>
              <a:t> Tao, Clare R. Voss, Heng Ji, and Jiawei Han. </a:t>
            </a:r>
            <a:r>
              <a:rPr lang="en-US" b="1" dirty="0" err="1"/>
              <a:t>ClusType</a:t>
            </a:r>
            <a:r>
              <a:rPr lang="en-US" b="1" dirty="0"/>
              <a:t>: Effective entity recognition and typing by relation phrase-based clustering</a:t>
            </a:r>
            <a:r>
              <a:rPr lang="en-US" dirty="0"/>
              <a:t>. KDD, 2015.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 err="1"/>
              <a:t>Jiaxin</a:t>
            </a:r>
            <a:r>
              <a:rPr lang="en-US" dirty="0"/>
              <a:t> Huang, </a:t>
            </a:r>
            <a:r>
              <a:rPr lang="en-US" dirty="0" err="1"/>
              <a:t>Yiqing</a:t>
            </a:r>
            <a:r>
              <a:rPr lang="en-US" dirty="0"/>
              <a:t> Xie, Yu Meng, Jiaming Shen, </a:t>
            </a:r>
            <a:r>
              <a:rPr lang="en-US" dirty="0" err="1"/>
              <a:t>Yunyi</a:t>
            </a:r>
            <a:r>
              <a:rPr lang="en-US" dirty="0"/>
              <a:t> Zhang, and Jiawei Han. </a:t>
            </a:r>
            <a:r>
              <a:rPr lang="en-US" b="1" dirty="0"/>
              <a:t>Guiding corpus-based set expansion by auxiliary sets generation and co-expansion</a:t>
            </a:r>
            <a:r>
              <a:rPr lang="en-US" dirty="0"/>
              <a:t>. The Web Conf. (WWW’20), 2020.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17657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112a491e93_0_103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References (Data Mining Applications)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15" name="Google Shape;415;g2112a491e93_0_103"/>
          <p:cNvSpPr txBox="1">
            <a:spLocks noGrp="1"/>
          </p:cNvSpPr>
          <p:nvPr>
            <p:ph type="body" idx="1"/>
          </p:nvPr>
        </p:nvSpPr>
        <p:spPr>
          <a:xfrm>
            <a:off x="350975" y="1219200"/>
            <a:ext cx="116958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 err="1"/>
              <a:t>Ekin</a:t>
            </a:r>
            <a:r>
              <a:rPr lang="en-US" dirty="0"/>
              <a:t> </a:t>
            </a:r>
            <a:r>
              <a:rPr lang="en-US" dirty="0" err="1"/>
              <a:t>Dogus</a:t>
            </a:r>
            <a:r>
              <a:rPr lang="en-US" dirty="0"/>
              <a:t> </a:t>
            </a:r>
            <a:r>
              <a:rPr lang="en-US" dirty="0" err="1"/>
              <a:t>Cubuk</a:t>
            </a:r>
            <a:r>
              <a:rPr lang="en-US" dirty="0"/>
              <a:t>, Barret </a:t>
            </a:r>
            <a:r>
              <a:rPr lang="en-US" dirty="0" err="1"/>
              <a:t>Zoph</a:t>
            </a:r>
            <a:r>
              <a:rPr lang="en-US" dirty="0"/>
              <a:t>, Dandelion </a:t>
            </a:r>
            <a:r>
              <a:rPr lang="en-US" dirty="0" err="1"/>
              <a:t>Man´e</a:t>
            </a:r>
            <a:r>
              <a:rPr lang="en-US" dirty="0"/>
              <a:t>, Vijay Vasudevan, and Quoc V. Le. </a:t>
            </a:r>
            <a:r>
              <a:rPr lang="en-US" b="1" dirty="0" err="1"/>
              <a:t>Autoaugment</a:t>
            </a:r>
            <a:r>
              <a:rPr lang="en-US" b="1" dirty="0"/>
              <a:t>: Learning augmentation policies from data</a:t>
            </a:r>
            <a:r>
              <a:rPr lang="en-US" dirty="0"/>
              <a:t>. </a:t>
            </a:r>
            <a:r>
              <a:rPr lang="en-US" dirty="0" err="1"/>
              <a:t>CoRR</a:t>
            </a:r>
            <a:r>
              <a:rPr lang="en-US" dirty="0"/>
              <a:t>, 2018.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 err="1"/>
              <a:t>Siyu</a:t>
            </a:r>
            <a:r>
              <a:rPr lang="en-US" dirty="0"/>
              <a:t> Shao, Pu Wang, and </a:t>
            </a:r>
            <a:r>
              <a:rPr lang="en-US" dirty="0" err="1"/>
              <a:t>Ruqiang</a:t>
            </a:r>
            <a:r>
              <a:rPr lang="en-US" dirty="0"/>
              <a:t> Yan. </a:t>
            </a:r>
            <a:r>
              <a:rPr lang="en-US" b="1" dirty="0"/>
              <a:t>Generative adversarial networks for data augmentation in machine fault diagnosis</a:t>
            </a:r>
            <a:r>
              <a:rPr lang="en-US" dirty="0"/>
              <a:t>. </a:t>
            </a:r>
            <a:r>
              <a:rPr lang="en-US" dirty="0" err="1"/>
              <a:t>Comput</a:t>
            </a:r>
            <a:r>
              <a:rPr lang="en-US" dirty="0"/>
              <a:t>, 2019.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 err="1"/>
              <a:t>Antreas</a:t>
            </a:r>
            <a:r>
              <a:rPr lang="en-US" dirty="0"/>
              <a:t> Antoniou, Amos J. </a:t>
            </a:r>
            <a:r>
              <a:rPr lang="en-US" dirty="0" err="1"/>
              <a:t>Storkey</a:t>
            </a:r>
            <a:r>
              <a:rPr lang="en-US" dirty="0"/>
              <a:t>, and Harrison Edwards. </a:t>
            </a:r>
            <a:r>
              <a:rPr lang="en-US" b="1" dirty="0"/>
              <a:t>Data augmentation generative adversarial networks</a:t>
            </a:r>
            <a:r>
              <a:rPr lang="en-US" dirty="0"/>
              <a:t>. </a:t>
            </a:r>
            <a:r>
              <a:rPr lang="en-US" dirty="0" err="1"/>
              <a:t>CoRR</a:t>
            </a:r>
            <a:r>
              <a:rPr lang="en-US" dirty="0"/>
              <a:t>, 2017. 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Peter </a:t>
            </a:r>
            <a:r>
              <a:rPr lang="en-US" dirty="0" err="1"/>
              <a:t>Spirtes</a:t>
            </a:r>
            <a:r>
              <a:rPr lang="en-US" dirty="0"/>
              <a:t>, Clark N </a:t>
            </a:r>
            <a:r>
              <a:rPr lang="en-US" dirty="0" err="1"/>
              <a:t>Glymour</a:t>
            </a:r>
            <a:r>
              <a:rPr lang="en-US" dirty="0"/>
              <a:t>, Richard </a:t>
            </a:r>
            <a:r>
              <a:rPr lang="en-US" dirty="0" err="1"/>
              <a:t>Scheines</a:t>
            </a:r>
            <a:r>
              <a:rPr lang="en-US" dirty="0"/>
              <a:t>, and David Heckerman. </a:t>
            </a:r>
            <a:r>
              <a:rPr lang="en-US" b="1" dirty="0"/>
              <a:t>Causation, prediction, and search</a:t>
            </a:r>
            <a:r>
              <a:rPr lang="en-US" dirty="0"/>
              <a:t>. MIT press, 2000. </a:t>
            </a:r>
          </a:p>
          <a:p>
            <a:pPr indent="-381000">
              <a:spcBef>
                <a:spcPts val="0"/>
              </a:spcBef>
              <a:buSzPts val="2400"/>
            </a:pPr>
            <a:r>
              <a:rPr lang="en-US" dirty="0"/>
              <a:t>David Maxwell Chickering. </a:t>
            </a:r>
            <a:r>
              <a:rPr lang="en-US" b="1" dirty="0"/>
              <a:t>Optimal structure identification with greedy search</a:t>
            </a:r>
            <a:r>
              <a:rPr lang="en-US" dirty="0"/>
              <a:t>. Journal of machine learning research, 2002.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06080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112a491e93_0_109"/>
          <p:cNvSpPr txBox="1">
            <a:spLocks noGrp="1"/>
          </p:cNvSpPr>
          <p:nvPr>
            <p:ph type="title"/>
          </p:nvPr>
        </p:nvSpPr>
        <p:spPr>
          <a:xfrm>
            <a:off x="350985" y="221676"/>
            <a:ext cx="11370000" cy="73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References (Data Mining Applications)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422" name="Google Shape;422;g2112a491e93_0_109"/>
          <p:cNvSpPr txBox="1">
            <a:spLocks noGrp="1"/>
          </p:cNvSpPr>
          <p:nvPr>
            <p:ph type="body" idx="1"/>
          </p:nvPr>
        </p:nvSpPr>
        <p:spPr>
          <a:xfrm>
            <a:off x="350975" y="1219200"/>
            <a:ext cx="11695800" cy="538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Keisuke Hirano, Guido W </a:t>
            </a:r>
            <a:r>
              <a:rPr lang="en-US" dirty="0" err="1"/>
              <a:t>Imbens</a:t>
            </a:r>
            <a:r>
              <a:rPr lang="en-US" dirty="0"/>
              <a:t>, and Geert Ridder. </a:t>
            </a:r>
            <a:r>
              <a:rPr lang="en-US" b="1" dirty="0"/>
              <a:t>Efficient estimation of average treatment effects using the estimated propensity score</a:t>
            </a:r>
            <a:r>
              <a:rPr lang="en-US" dirty="0"/>
              <a:t>. </a:t>
            </a:r>
            <a:r>
              <a:rPr lang="en-US" dirty="0" err="1"/>
              <a:t>Econometrica</a:t>
            </a:r>
            <a:r>
              <a:rPr lang="en-US" dirty="0"/>
              <a:t>, 2003.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/>
              <a:t>Christos </a:t>
            </a:r>
            <a:r>
              <a:rPr lang="en-US" dirty="0" err="1"/>
              <a:t>Louizos</a:t>
            </a:r>
            <a:r>
              <a:rPr lang="en-US" dirty="0"/>
              <a:t>, Uri Shalit, Joris </a:t>
            </a:r>
            <a:r>
              <a:rPr lang="en-US" dirty="0" err="1"/>
              <a:t>Mooij</a:t>
            </a:r>
            <a:r>
              <a:rPr lang="en-US" dirty="0"/>
              <a:t>, David Sontag, Richard </a:t>
            </a:r>
            <a:r>
              <a:rPr lang="en-US" dirty="0" err="1"/>
              <a:t>Zemel</a:t>
            </a:r>
            <a:r>
              <a:rPr lang="en-US" dirty="0"/>
              <a:t>, and Max Welling. </a:t>
            </a:r>
            <a:r>
              <a:rPr lang="en-US" b="1" dirty="0"/>
              <a:t>Causal effect inference with deep latent variable models</a:t>
            </a:r>
            <a:r>
              <a:rPr lang="en-US" dirty="0"/>
              <a:t>. </a:t>
            </a:r>
            <a:r>
              <a:rPr lang="en-US" dirty="0" err="1"/>
              <a:t>arXiv</a:t>
            </a:r>
            <a:r>
              <a:rPr lang="en-US" dirty="0"/>
              <a:t>, 2017.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 err="1"/>
              <a:t>Yongjie</a:t>
            </a:r>
            <a:r>
              <a:rPr lang="en-US" dirty="0"/>
              <a:t> Cai, Hanghang Tong, Wei Fan, and Ping Ji.</a:t>
            </a:r>
            <a:r>
              <a:rPr lang="en-US" b="1" dirty="0"/>
              <a:t> Fast mining of a network of coevolving time series</a:t>
            </a:r>
            <a:r>
              <a:rPr lang="en-US" dirty="0"/>
              <a:t>. In Proc. 2015 SIAM Int. Conf. Data Mining (SDM’15), 2015.</a:t>
            </a:r>
            <a:endParaRPr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❑"/>
            </a:pPr>
            <a:r>
              <a:rPr lang="en-US" dirty="0" err="1"/>
              <a:t>Yongjie</a:t>
            </a:r>
            <a:r>
              <a:rPr lang="en-US" dirty="0"/>
              <a:t> Cai, Hanghang Tong, Wei Fan, Ping Ji, and Qing He. </a:t>
            </a:r>
            <a:r>
              <a:rPr lang="en-US" b="1" dirty="0"/>
              <a:t>Facets: Fast comprehensive mining of coevolving high-order time series</a:t>
            </a:r>
            <a:r>
              <a:rPr lang="en-US" dirty="0"/>
              <a:t>. KDD, 2015.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8226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1137837abb_0_7"/>
          <p:cNvSpPr txBox="1">
            <a:spLocks noGrp="1"/>
          </p:cNvSpPr>
          <p:nvPr>
            <p:ph type="title"/>
          </p:nvPr>
        </p:nvSpPr>
        <p:spPr>
          <a:xfrm>
            <a:off x="1045030" y="304800"/>
            <a:ext cx="1014548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References (Data Mining, People and Society)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535" name="Google Shape;535;g21137837abb_0_7"/>
          <p:cNvSpPr txBox="1">
            <a:spLocks noGrp="1"/>
          </p:cNvSpPr>
          <p:nvPr>
            <p:ph type="body" idx="1"/>
          </p:nvPr>
        </p:nvSpPr>
        <p:spPr>
          <a:xfrm>
            <a:off x="571499" y="1133475"/>
            <a:ext cx="10848900" cy="55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❑"/>
            </a:pPr>
            <a:r>
              <a:rPr lang="en-US" dirty="0"/>
              <a:t>Hannes </a:t>
            </a:r>
            <a:r>
              <a:rPr lang="en-US" dirty="0" err="1"/>
              <a:t>Heikinheimo</a:t>
            </a:r>
            <a:r>
              <a:rPr lang="en-US" dirty="0"/>
              <a:t> and Antti </a:t>
            </a:r>
            <a:r>
              <a:rPr lang="en-US" dirty="0" err="1"/>
              <a:t>Ukkonen</a:t>
            </a:r>
            <a:r>
              <a:rPr lang="en-US" dirty="0"/>
              <a:t>. </a:t>
            </a:r>
            <a:r>
              <a:rPr lang="en-US" b="1" dirty="0"/>
              <a:t>The crowd-median algorithm.</a:t>
            </a:r>
            <a:r>
              <a:rPr lang="en-US" dirty="0"/>
              <a:t> In Proc. 2013 Conf. Human Computation and Crowdsourcing (HCOMP’13), Palm Springs, CA, USA, Nov. 2013.	</a:t>
            </a:r>
          </a:p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❑"/>
            </a:pPr>
            <a:r>
              <a:rPr lang="en-US" dirty="0"/>
              <a:t>Flavio P </a:t>
            </a:r>
            <a:r>
              <a:rPr lang="en-US" dirty="0" err="1"/>
              <a:t>Calmon</a:t>
            </a:r>
            <a:r>
              <a:rPr lang="en-US" dirty="0"/>
              <a:t>, Dennis Wei, </a:t>
            </a:r>
            <a:r>
              <a:rPr lang="en-US" dirty="0" err="1"/>
              <a:t>Bhanukiran</a:t>
            </a:r>
            <a:r>
              <a:rPr lang="en-US" dirty="0"/>
              <a:t> </a:t>
            </a:r>
            <a:r>
              <a:rPr lang="en-US" dirty="0" err="1"/>
              <a:t>Vinzamuri</a:t>
            </a:r>
            <a:r>
              <a:rPr lang="en-US" dirty="0"/>
              <a:t>, Karthikeyan Natesan Ramamurthy, and Kush R Varshney. </a:t>
            </a:r>
            <a:r>
              <a:rPr lang="en-US" b="1" dirty="0"/>
              <a:t>Optimized pre-processing for discrimination prevention.</a:t>
            </a:r>
            <a:r>
              <a:rPr lang="en-US" dirty="0"/>
              <a:t> In Proc. 2017 Conf. Neural Information Processing Systems (NIP’17), pages 3995–4004, Long Beach, CA, USA, Dec. 2017.	</a:t>
            </a:r>
          </a:p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❑"/>
            </a:pPr>
            <a:r>
              <a:rPr lang="en-US" dirty="0" err="1"/>
              <a:t>Kui</a:t>
            </a:r>
            <a:r>
              <a:rPr lang="en-US" dirty="0"/>
              <a:t> Ren, </a:t>
            </a:r>
            <a:r>
              <a:rPr lang="en-US" dirty="0" err="1"/>
              <a:t>Tianhang</a:t>
            </a:r>
            <a:r>
              <a:rPr lang="en-US" dirty="0"/>
              <a:t> Zheng, Zhan Qin, and </a:t>
            </a:r>
            <a:r>
              <a:rPr lang="en-US" dirty="0" err="1"/>
              <a:t>Xue</a:t>
            </a:r>
            <a:r>
              <a:rPr lang="en-US" dirty="0"/>
              <a:t> Liu. </a:t>
            </a:r>
            <a:r>
              <a:rPr lang="en-US" b="1" dirty="0"/>
              <a:t>Adversarial attacks and defenses in deep learning. Engineering</a:t>
            </a:r>
            <a:r>
              <a:rPr lang="en-US" dirty="0"/>
              <a:t>, 6(3):346–360, 2020.</a:t>
            </a:r>
          </a:p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❑"/>
            </a:pPr>
            <a:r>
              <a:rPr lang="en-US" dirty="0"/>
              <a:t>Christoph Molnar. </a:t>
            </a:r>
            <a:r>
              <a:rPr lang="en-US" b="1" dirty="0"/>
              <a:t>Interpretable machine learning.</a:t>
            </a:r>
            <a:r>
              <a:rPr lang="en-US" dirty="0"/>
              <a:t> Lulu. com, 2020.</a:t>
            </a:r>
          </a:p>
        </p:txBody>
      </p:sp>
    </p:spTree>
    <p:extLst>
      <p:ext uri="{BB962C8B-B14F-4D97-AF65-F5344CB8AC3E}">
        <p14:creationId xmlns:p14="http://schemas.microsoft.com/office/powerpoint/2010/main" val="31220985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1137837abb_0_7"/>
          <p:cNvSpPr txBox="1">
            <a:spLocks noGrp="1"/>
          </p:cNvSpPr>
          <p:nvPr>
            <p:ph type="title"/>
          </p:nvPr>
        </p:nvSpPr>
        <p:spPr>
          <a:xfrm>
            <a:off x="682171" y="304800"/>
            <a:ext cx="1073822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defTabSz="914354">
              <a:spcBef>
                <a:spcPct val="0"/>
              </a:spcBef>
              <a:buSzPct val="100000"/>
            </a:pPr>
            <a:r>
              <a:rPr lang="en-US" sz="3600" kern="1200" spc="-5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rPr>
              <a:t>References (Data Mining, People and Society)</a:t>
            </a:r>
            <a:endParaRPr sz="3600" kern="1200" spc="-51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  <a:ea typeface="+mj-ea"/>
              <a:cs typeface="+mj-cs"/>
            </a:endParaRPr>
          </a:p>
        </p:txBody>
      </p:sp>
      <p:sp>
        <p:nvSpPr>
          <p:cNvPr id="535" name="Google Shape;535;g21137837abb_0_7"/>
          <p:cNvSpPr txBox="1">
            <a:spLocks noGrp="1"/>
          </p:cNvSpPr>
          <p:nvPr>
            <p:ph type="body" idx="1"/>
          </p:nvPr>
        </p:nvSpPr>
        <p:spPr>
          <a:xfrm>
            <a:off x="571499" y="1133475"/>
            <a:ext cx="10848900" cy="55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❑"/>
            </a:pPr>
            <a:r>
              <a:rPr lang="en-US" dirty="0"/>
              <a:t>Wojciech </a:t>
            </a:r>
            <a:r>
              <a:rPr lang="en-US" dirty="0" err="1"/>
              <a:t>Samek</a:t>
            </a:r>
            <a:r>
              <a:rPr lang="en-US" dirty="0"/>
              <a:t>, Thomas Wiegand, and Klaus-Robert Mu ̈</a:t>
            </a:r>
            <a:r>
              <a:rPr lang="en-US" dirty="0" err="1"/>
              <a:t>ller</a:t>
            </a:r>
            <a:r>
              <a:rPr lang="en-US" dirty="0"/>
              <a:t>. </a:t>
            </a:r>
            <a:r>
              <a:rPr lang="en-US" b="1" dirty="0"/>
              <a:t>Explainable artificial intelligence: Understanding, visualizing and interpreting deep learning models.</a:t>
            </a:r>
            <a:r>
              <a:rPr lang="en-US" dirty="0"/>
              <a:t> </a:t>
            </a:r>
            <a:r>
              <a:rPr lang="en-US" dirty="0" err="1"/>
              <a:t>arXiv</a:t>
            </a:r>
            <a:r>
              <a:rPr lang="en-US" dirty="0"/>
              <a:t> preprint arXiv:1708.08296, 2017.</a:t>
            </a:r>
          </a:p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❑"/>
            </a:pPr>
            <a:r>
              <a:rPr lang="en-US" dirty="0"/>
              <a:t>Jacob Abernethy, Alex </a:t>
            </a:r>
            <a:r>
              <a:rPr lang="en-US" dirty="0" err="1"/>
              <a:t>Chojnacki</a:t>
            </a:r>
            <a:r>
              <a:rPr lang="en-US" dirty="0"/>
              <a:t>, Arya </a:t>
            </a:r>
            <a:r>
              <a:rPr lang="en-US" dirty="0" err="1"/>
              <a:t>Farahi</a:t>
            </a:r>
            <a:r>
              <a:rPr lang="en-US" dirty="0"/>
              <a:t>, Eric Schwartz, and Jared Webb. </a:t>
            </a:r>
            <a:r>
              <a:rPr lang="en-US" b="1" dirty="0" err="1"/>
              <a:t>Activeremediation</a:t>
            </a:r>
            <a:r>
              <a:rPr lang="en-US" b="1" dirty="0"/>
              <a:t>: The search for lead pipes in flint, </a:t>
            </a:r>
            <a:r>
              <a:rPr lang="en-US" b="1" dirty="0" err="1"/>
              <a:t>michigan</a:t>
            </a:r>
            <a:r>
              <a:rPr lang="en-US" b="1" dirty="0"/>
              <a:t>.</a:t>
            </a:r>
            <a:r>
              <a:rPr lang="en-US" dirty="0"/>
              <a:t> In Proc. 2018 ACM SIGKDD Int. Conf. Knowledge Discovery and Data Mining (KDD’18), pages 5–14, London, UK, Aug. 2018.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 marL="533400" lvl="0" indent="-561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❑"/>
            </a:pPr>
            <a:r>
              <a:rPr lang="en-US" dirty="0" err="1"/>
              <a:t>Kaixiang</a:t>
            </a:r>
            <a:r>
              <a:rPr lang="en-US" dirty="0"/>
              <a:t> Lin, </a:t>
            </a:r>
            <a:r>
              <a:rPr lang="en-US" dirty="0" err="1"/>
              <a:t>Renyu</a:t>
            </a:r>
            <a:r>
              <a:rPr lang="en-US" dirty="0"/>
              <a:t> Zhao, </a:t>
            </a:r>
            <a:r>
              <a:rPr lang="en-US" dirty="0" err="1"/>
              <a:t>Zhe</a:t>
            </a:r>
            <a:r>
              <a:rPr lang="en-US" dirty="0"/>
              <a:t> Xu, and </a:t>
            </a:r>
            <a:r>
              <a:rPr lang="en-US" dirty="0" err="1"/>
              <a:t>Jiayu</a:t>
            </a:r>
            <a:r>
              <a:rPr lang="en-US" dirty="0"/>
              <a:t> Zhou. </a:t>
            </a:r>
            <a:r>
              <a:rPr lang="en-US" b="1" dirty="0"/>
              <a:t>Efficient large-scale fleet management via multi-agent deep reinforcement learning.</a:t>
            </a:r>
            <a:r>
              <a:rPr lang="en-US" dirty="0"/>
              <a:t> In Proc. 2018 ACM SIGKDD Int. Conf. Knowledge Discovery and Data Mining (KDD’18), pages 1774–1783, London, UK, Aug. 2018.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439999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5922</Words>
  <Application>Microsoft Macintosh PowerPoint</Application>
  <PresentationFormat>Widescreen</PresentationFormat>
  <Paragraphs>688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9" baseType="lpstr">
      <vt:lpstr>Noto Sans Symbols</vt:lpstr>
      <vt:lpstr>Tahoma</vt:lpstr>
      <vt:lpstr>Overlock</vt:lpstr>
      <vt:lpstr>Old Standard TT</vt:lpstr>
      <vt:lpstr>Berlin Sans FB Demi</vt:lpstr>
      <vt:lpstr>Times New Roman</vt:lpstr>
      <vt:lpstr>Berlin Sans FB</vt:lpstr>
      <vt:lpstr>Calibri</vt:lpstr>
      <vt:lpstr>Arial</vt:lpstr>
      <vt:lpstr>Retrospect</vt:lpstr>
      <vt:lpstr>Chapter 12. Data Mining Trends and Research Frontiers</vt:lpstr>
      <vt:lpstr>Mining Rich Data Types </vt:lpstr>
      <vt:lpstr>Mining Text Data </vt:lpstr>
      <vt:lpstr>Mining Text Data: Major Tasks </vt:lpstr>
      <vt:lpstr>Mining Text Data: Techniques </vt:lpstr>
      <vt:lpstr>Mining Text Data: Techniques </vt:lpstr>
      <vt:lpstr>Mining Rich Data Types </vt:lpstr>
      <vt:lpstr>Mining Spatial-Temporal Data: Properties and Types </vt:lpstr>
      <vt:lpstr>Mining Spatial-Temporal Data: Data Models </vt:lpstr>
      <vt:lpstr>Mining Rich Data Types </vt:lpstr>
      <vt:lpstr>Mining Graph and Networks </vt:lpstr>
      <vt:lpstr>Mining Graph and Networks: Problems </vt:lpstr>
      <vt:lpstr>Mining Graph and Networks: Problems </vt:lpstr>
      <vt:lpstr>Mining Graph and Networks: Problems </vt:lpstr>
      <vt:lpstr>Summary: Mining Rich Data Types </vt:lpstr>
      <vt:lpstr>Chapter 12. Data Mining Trends and Research Frontiers</vt:lpstr>
      <vt:lpstr>Data Mining Applications </vt:lpstr>
      <vt:lpstr>Sentiment and Opinion</vt:lpstr>
      <vt:lpstr>Sentiment Analysis and Opinion Mining Techniques</vt:lpstr>
      <vt:lpstr>Sentiment Analysis and Opinion Mining Applications</vt:lpstr>
      <vt:lpstr>Data Mining Applications </vt:lpstr>
      <vt:lpstr>Truth Discovery</vt:lpstr>
      <vt:lpstr>Identification of Misinformation</vt:lpstr>
      <vt:lpstr>Data Mining Applications </vt:lpstr>
      <vt:lpstr>Information and Disease Propagation</vt:lpstr>
      <vt:lpstr>Information and Disease Propagation</vt:lpstr>
      <vt:lpstr>Information and Disease Propagation</vt:lpstr>
      <vt:lpstr>Data Mining Applications </vt:lpstr>
      <vt:lpstr>Productivity and Team Science</vt:lpstr>
      <vt:lpstr>Productivity and Team Science</vt:lpstr>
      <vt:lpstr>Productivity and Team Science</vt:lpstr>
      <vt:lpstr>Summary: Data Mining Applications</vt:lpstr>
      <vt:lpstr>Chapter 12. Data Mining Trends and Research Frontiers</vt:lpstr>
      <vt:lpstr>Data Mining Methodologies and Systems</vt:lpstr>
      <vt:lpstr>Taxonomy construction and refinement</vt:lpstr>
      <vt:lpstr>Weakly supervised text classification</vt:lpstr>
      <vt:lpstr>Fine-grained information extraction</vt:lpstr>
      <vt:lpstr>Knowledge graph/information network construction</vt:lpstr>
      <vt:lpstr>Data Mining Methodologies and Systems</vt:lpstr>
      <vt:lpstr>Data Augmentation Details</vt:lpstr>
      <vt:lpstr>Data Mining Methodologies and Systems</vt:lpstr>
      <vt:lpstr>From Correlation to Causality</vt:lpstr>
      <vt:lpstr>From Correlation to Causality</vt:lpstr>
      <vt:lpstr>Data Mining Methodologies and Systems</vt:lpstr>
      <vt:lpstr>Network as a Context</vt:lpstr>
      <vt:lpstr>Network as a Context</vt:lpstr>
      <vt:lpstr>Network as a Context</vt:lpstr>
      <vt:lpstr>Data Mining Methodologies and Systems</vt:lpstr>
      <vt:lpstr>Auto-ML: Methods and Systems</vt:lpstr>
      <vt:lpstr>Auto-ML: Methods and Systems</vt:lpstr>
      <vt:lpstr>Summary: Data Mining Methodologies and Systems</vt:lpstr>
      <vt:lpstr>Summary: Data Mining Methodologies and Systems</vt:lpstr>
      <vt:lpstr>Chapter 12. Data Mining Trends and Research Frontiers</vt:lpstr>
      <vt:lpstr>Data Mining, People and Society</vt:lpstr>
      <vt:lpstr>Privacy-Preserving Data Mining</vt:lpstr>
      <vt:lpstr>Privacy-Preserving Data Mining</vt:lpstr>
      <vt:lpstr>Data Mining, People and Society</vt:lpstr>
      <vt:lpstr>Human-Algorithm Interaction</vt:lpstr>
      <vt:lpstr>Human-Algorithm Interaction</vt:lpstr>
      <vt:lpstr>Data Mining, People and Society</vt:lpstr>
      <vt:lpstr>Mining beyond Maximizing Accuracy: Fairness, Interpretability, and Robustness</vt:lpstr>
      <vt:lpstr>Mining beyond Maximizing Accuracy: Fairness, Interpretability, and Robustness</vt:lpstr>
      <vt:lpstr>Mining beyond Maximizing Accuracy: Fairness, Interpretability, and Robustness</vt:lpstr>
      <vt:lpstr>Data Mining, People and Society</vt:lpstr>
      <vt:lpstr>Data Mining for Social Good</vt:lpstr>
      <vt:lpstr>Summary: Data Mining, People and Society</vt:lpstr>
      <vt:lpstr>References</vt:lpstr>
      <vt:lpstr>Chapter 12. Data Mining Trends and Research Frontiers</vt:lpstr>
      <vt:lpstr>Summary: Data Mining Trends and Research Frontiers</vt:lpstr>
      <vt:lpstr>Summary: Data Mining Trends and Research Frontiers</vt:lpstr>
      <vt:lpstr>References (Mining Rich Data Types)</vt:lpstr>
      <vt:lpstr>References (Mining Rich Data Types)</vt:lpstr>
      <vt:lpstr>References (Data Mining Methodologies and Systems)</vt:lpstr>
      <vt:lpstr>References References (Data Mining Methodologies and Systems)</vt:lpstr>
      <vt:lpstr>References (Data Mining Applications)</vt:lpstr>
      <vt:lpstr>References (Data Mining Applications)</vt:lpstr>
      <vt:lpstr>References (Data Mining Applications)</vt:lpstr>
      <vt:lpstr>References (Data Mining, People and Society)</vt:lpstr>
      <vt:lpstr>References (Data Mining, People and Society)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</dc:title>
  <dc:creator>Jiawei Han</dc:creator>
  <cp:lastModifiedBy>Jian Pei</cp:lastModifiedBy>
  <cp:revision>60</cp:revision>
  <dcterms:created xsi:type="dcterms:W3CDTF">2014-06-02T15:06:14Z</dcterms:created>
  <dcterms:modified xsi:type="dcterms:W3CDTF">2023-03-04T22:44:07Z</dcterms:modified>
</cp:coreProperties>
</file>