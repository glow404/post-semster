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1409" r:id="rId2"/>
    <p:sldId id="1642" r:id="rId3"/>
    <p:sldId id="1567" r:id="rId4"/>
    <p:sldId id="1568" r:id="rId5"/>
    <p:sldId id="1574" r:id="rId6"/>
    <p:sldId id="1575" r:id="rId7"/>
    <p:sldId id="1576" r:id="rId8"/>
    <p:sldId id="1577" r:id="rId9"/>
    <p:sldId id="1578" r:id="rId10"/>
    <p:sldId id="1959" r:id="rId11"/>
    <p:sldId id="1644" r:id="rId12"/>
    <p:sldId id="1645" r:id="rId13"/>
    <p:sldId id="1648" r:id="rId14"/>
    <p:sldId id="1960" r:id="rId15"/>
    <p:sldId id="1646" r:id="rId16"/>
    <p:sldId id="1647" r:id="rId17"/>
    <p:sldId id="1955" r:id="rId18"/>
    <p:sldId id="1914" r:id="rId19"/>
    <p:sldId id="1915" r:id="rId20"/>
    <p:sldId id="1916" r:id="rId21"/>
    <p:sldId id="1962" r:id="rId22"/>
    <p:sldId id="1917" r:id="rId23"/>
    <p:sldId id="1918" r:id="rId24"/>
    <p:sldId id="356" r:id="rId25"/>
    <p:sldId id="1944" r:id="rId26"/>
    <p:sldId id="1945" r:id="rId27"/>
    <p:sldId id="1943" r:id="rId28"/>
    <p:sldId id="1946" r:id="rId29"/>
    <p:sldId id="1963" r:id="rId30"/>
    <p:sldId id="1966" r:id="rId31"/>
    <p:sldId id="1964" r:id="rId32"/>
    <p:sldId id="1967" r:id="rId33"/>
    <p:sldId id="1968" r:id="rId34"/>
    <p:sldId id="1969" r:id="rId35"/>
    <p:sldId id="1420" r:id="rId36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DBC"/>
    <a:srgbClr val="008080"/>
    <a:srgbClr val="0033CC"/>
    <a:srgbClr val="0000CC"/>
    <a:srgbClr val="BD582C"/>
    <a:srgbClr val="E48312"/>
    <a:srgbClr val="7F7F7F"/>
    <a:srgbClr val="94A088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6" autoAdjust="0"/>
    <p:restoredTop sz="93157" autoAdjust="0"/>
  </p:normalViewPr>
  <p:slideViewPr>
    <p:cSldViewPr snapToGrid="0">
      <p:cViewPr varScale="1">
        <p:scale>
          <a:sx n="53" d="100"/>
          <a:sy n="53" d="100"/>
        </p:scale>
        <p:origin x="42" y="10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5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784570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>
                <a:solidFill>
                  <a:prstClr val="black"/>
                </a:solidFill>
              </a:rPr>
              <a:pPr eaLnBrk="1" hangingPunct="1"/>
              <a:t>2</a:t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4035844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3EDE211A-A128-42B9-97E1-1A6A09CA262A}" type="slidenum">
              <a:rPr lang="en-US" altLang="en-US" sz="1200">
                <a:latin typeface="Times New Roman" panose="02020603050405020304" pitchFamily="18" charset="0"/>
              </a:rPr>
              <a:pPr algn="r"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dirty="0"/>
              <a:t>JH: put SVD at clustering high-D reduction.</a:t>
            </a:r>
          </a:p>
        </p:txBody>
      </p:sp>
    </p:spTree>
    <p:extLst>
      <p:ext uri="{BB962C8B-B14F-4D97-AF65-F5344CB8AC3E}">
        <p14:creationId xmlns:p14="http://schemas.microsoft.com/office/powerpoint/2010/main" val="637999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3EDE211A-A128-42B9-97E1-1A6A09CA262A}" type="slidenum">
              <a:rPr lang="en-US" altLang="en-US" sz="1200">
                <a:latin typeface="Times New Roman" panose="02020603050405020304" pitchFamily="18" charset="0"/>
              </a:rPr>
              <a:pPr algn="r"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/>
              <a:t>JH: put SVD at clustering high-D reduction.</a:t>
            </a:r>
          </a:p>
        </p:txBody>
      </p:sp>
    </p:spTree>
    <p:extLst>
      <p:ext uri="{BB962C8B-B14F-4D97-AF65-F5344CB8AC3E}">
        <p14:creationId xmlns:p14="http://schemas.microsoft.com/office/powerpoint/2010/main" val="240830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7D61654-4A93-4D79-B9F4-A9ADF36C014E}" type="slidenum">
              <a:rPr lang="en-US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197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90C16A1-ECF4-43AB-93EE-C812D0FE0C28}" type="slidenum">
              <a:rPr lang="en-US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638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620224F-3801-4DDC-954F-82C755A5A92E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0490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2F609C4-178D-4C1E-91DE-6CE5DF2FFD3C}" type="slidenum">
              <a:rPr lang="en-US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196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DCCC807E-A950-4409-BEFB-19DEF03F3280}" type="slidenum">
              <a:rPr lang="en-US" altLang="en-US" sz="1200">
                <a:latin typeface="Times New Roman" panose="02020603050405020304" pitchFamily="18" charset="0"/>
              </a:rPr>
              <a:pPr algn="r"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7188" y="704850"/>
            <a:ext cx="6172200" cy="3471863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416425"/>
            <a:ext cx="5048250" cy="4179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895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BC9BA-4FC9-1722-628D-811FF6ED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AF994874-75F7-8659-E67A-0A11581A860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DCCC807E-A950-4409-BEFB-19DEF03F3280}" type="slidenum">
              <a:rPr lang="en-US" altLang="en-US" sz="1200">
                <a:latin typeface="Times New Roman" panose="02020603050405020304" pitchFamily="18" charset="0"/>
              </a:rPr>
              <a:pPr algn="r"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7C84BC09-05FB-C8C0-4309-6109B8E58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7188" y="704850"/>
            <a:ext cx="6172200" cy="3471863"/>
          </a:xfrm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507B3A2-3E35-F252-AEBA-01E4A85BB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6425"/>
            <a:ext cx="5048250" cy="4179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907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53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00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65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4F30-C221-A18C-B79B-A4C397E3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860E5-9957-0AA1-A1DC-36DFA7588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D8336-4C22-1FB8-06E2-2BDC6EB8F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56602-061A-DAC6-0ECF-0189E32CA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74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6ED6E-2707-4405-B04E-17ED5B4372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273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78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4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78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6E0D-1F80-7781-3282-51670DEE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C4197-88DB-BF70-920B-B12F3FB5C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37D64-E9B7-3C9B-550D-1BC18F031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8A95B-1A70-94C2-4537-7C3038427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47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07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789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A2EF0-CD5D-4ACF-8813-367C8668AE8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7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22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60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901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571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D5ACD-F16D-E7DA-B7D2-0EB4124D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EC71D-4C0D-D6E4-267E-94F7A1275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D49B1-A040-D649-8FB0-F5F3676B6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D906A-C1F6-4B71-4C9F-BC79403F7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107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3564-009C-84F3-714F-932EEC1A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C627D-2432-D393-DFD5-C6645CF18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95E99-2791-BD15-49C0-12AB0034D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1152B-EBFC-553D-9ACF-050429BFF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90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B64A-1540-6F31-ED2C-0A9B5F003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5178D-D465-CDA2-2216-0EE74528F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6E253-8780-8F42-8B5A-D622047C3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C4DB3-6A8F-0E7C-160A-DF58D6716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94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EB1C2-00C2-B38B-9B6B-402BCBC0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CC1A7-99E3-5DEE-0E1D-F66011272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38799-E142-A1A0-6B7E-9A640A91B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F48B4-96F7-2262-AE00-15E5AD94D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971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F346-C13E-6593-AA6A-90F02686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F7780-F114-C3DE-1865-22B9240AF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EA592-DFD1-E374-B457-BD0BBC7DB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94EFA-F024-5F33-696B-DE4BB2078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12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83B75-2183-4C0E-3EC5-F465E42E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6862A-4D4A-68D0-F38D-481241F54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761CF-FF42-9D17-53A0-E8947A4C4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989B7-1932-240F-58F5-B92B6BC9B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210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AE2494-E246-464F-AA19-05B4B0487F8D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07863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A7B93CD-F32F-43F2-AB5D-12DAF2074D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75198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pPr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6" r:id="rId3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33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552260" y="0"/>
            <a:ext cx="10976351" cy="1066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Chapter 2. Data, Measurements, and Data Preprocessing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502875"/>
            <a:ext cx="10865223" cy="469875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Types 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Statics of Data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Similarity and Distance Measures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Quality, Data Cleaning and Data Integration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Transformation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>
                <a:solidFill>
                  <a:srgbClr val="FF0000"/>
                </a:solidFill>
              </a:rPr>
              <a:t>Dimensionality Reduction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40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81481"/>
            <a:ext cx="11106150" cy="887240"/>
          </a:xfrm>
        </p:spPr>
        <p:txBody>
          <a:bodyPr>
            <a:normAutofit/>
          </a:bodyPr>
          <a:lstStyle/>
          <a:p>
            <a:r>
              <a:rPr lang="en-US" altLang="en-US" dirty="0"/>
              <a:t>Dimensionality Reduction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09235"/>
            <a:ext cx="10865223" cy="5257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dirty="0"/>
              <a:t>What Is Dimensionality Reduction?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Dimensionality Reduction Methods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Principal Component Analysis 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Attribute Subset Selection 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Nonlinear Dimensionality Reduction Methods </a:t>
            </a:r>
          </a:p>
        </p:txBody>
      </p:sp>
    </p:spTree>
    <p:extLst>
      <p:ext uri="{BB962C8B-B14F-4D97-AF65-F5344CB8AC3E}">
        <p14:creationId xmlns:p14="http://schemas.microsoft.com/office/powerpoint/2010/main" val="683507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1109" y="304800"/>
            <a:ext cx="11869781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What Is Dimensionality Reduction?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8640" y="1144089"/>
            <a:ext cx="10976610" cy="5514702"/>
          </a:xfrm>
        </p:spPr>
        <p:txBody>
          <a:bodyPr/>
          <a:lstStyle/>
          <a:p>
            <a:pPr eaLnBrk="1" hangingPunct="1"/>
            <a:r>
              <a:rPr lang="en-US" altLang="en-US" b="1" dirty="0"/>
              <a:t>Curse of dimensionality</a:t>
            </a:r>
          </a:p>
          <a:p>
            <a:pPr lvl="1" eaLnBrk="1" hangingPunct="1"/>
            <a:r>
              <a:rPr lang="en-US" altLang="en-US" dirty="0"/>
              <a:t>When dimensionality increases, data becomes increasingly sparse</a:t>
            </a:r>
          </a:p>
          <a:p>
            <a:pPr lvl="1" eaLnBrk="1" hangingPunct="1"/>
            <a:r>
              <a:rPr lang="en-US" altLang="en-US" dirty="0"/>
              <a:t>Density and distance between points, which is critical to clustering, outlier analysis, becomes less meaningful</a:t>
            </a:r>
          </a:p>
          <a:p>
            <a:pPr lvl="1" eaLnBrk="1" hangingPunct="1"/>
            <a:r>
              <a:rPr lang="en-US" altLang="en-US" dirty="0"/>
              <a:t>The possible combinations of subspaces will grow exponentially</a:t>
            </a:r>
          </a:p>
          <a:p>
            <a:r>
              <a:rPr lang="en-US" altLang="en-US" b="1" dirty="0"/>
              <a:t>Dimensionality reduction</a:t>
            </a:r>
          </a:p>
          <a:p>
            <a:pPr lvl="1"/>
            <a:r>
              <a:rPr lang="en-US" altLang="zh-CN" dirty="0"/>
              <a:t>Reducing the number of random variables under consideration, via obtaining a set of </a:t>
            </a:r>
            <a:r>
              <a:rPr lang="en-US" altLang="zh-CN" b="1" dirty="0"/>
              <a:t>principal variables</a:t>
            </a:r>
          </a:p>
          <a:p>
            <a:r>
              <a:rPr lang="en-US" altLang="en-US" b="1" dirty="0"/>
              <a:t>Advantages of dimensionality reduction</a:t>
            </a:r>
            <a:endParaRPr lang="en-US" altLang="zh-CN" dirty="0"/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Avoid the curse of dimensionality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Help eliminate irrelevant features and reduce noise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Reduce time and space required in data mining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Allow easier visualization</a:t>
            </a:r>
          </a:p>
          <a:p>
            <a:pPr lvl="1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8105544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00025" y="285749"/>
            <a:ext cx="12525375" cy="714375"/>
          </a:xfrm>
        </p:spPr>
        <p:txBody>
          <a:bodyPr>
            <a:noAutofit/>
          </a:bodyPr>
          <a:lstStyle/>
          <a:p>
            <a:r>
              <a:rPr lang="en-US" altLang="en-US" dirty="0"/>
              <a:t>Dimensionality Reduction Methods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5450" y="1182189"/>
            <a:ext cx="10894423" cy="551470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dirty="0"/>
              <a:t>Dimensionality reduction methodologies</a:t>
            </a:r>
          </a:p>
          <a:p>
            <a:pPr lvl="1">
              <a:spcAft>
                <a:spcPts val="600"/>
              </a:spcAft>
            </a:pPr>
            <a:r>
              <a:rPr lang="en-US" b="1" dirty="0"/>
              <a:t>Feature selection</a:t>
            </a:r>
            <a:r>
              <a:rPr lang="en-US" dirty="0"/>
              <a:t>: Find a subset of the original variables (or features, attributes)</a:t>
            </a:r>
          </a:p>
          <a:p>
            <a:pPr lvl="1">
              <a:spcAft>
                <a:spcPts val="600"/>
              </a:spcAft>
            </a:pPr>
            <a:r>
              <a:rPr lang="en-US" b="1" dirty="0"/>
              <a:t>Feature extraction</a:t>
            </a:r>
            <a:r>
              <a:rPr lang="en-US" dirty="0"/>
              <a:t>: Transform the data in the high-dimensional space to a space of fewer dimensions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Some typical dimensionality reduction methods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Principal Component Analysis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Attribute Subset Selection 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Nonlinear Dimensionality Reduction</a:t>
            </a:r>
            <a:endParaRPr lang="en-US" dirty="0"/>
          </a:p>
          <a:p>
            <a:pPr lvl="2">
              <a:spcAft>
                <a:spcPts val="600"/>
              </a:spcAft>
            </a:pPr>
            <a:endParaRPr lang="en-US" altLang="en-US" dirty="0"/>
          </a:p>
          <a:p>
            <a:pPr marL="0" indent="0">
              <a:spcAft>
                <a:spcPts val="600"/>
              </a:spcAft>
              <a:buNone/>
            </a:pPr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421584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ntitle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736" y="1231936"/>
            <a:ext cx="4433412" cy="421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5844" name="Rectangle 40"/>
          <p:cNvSpPr>
            <a:spLocks noGrp="1" noChangeArrowheads="1"/>
          </p:cNvSpPr>
          <p:nvPr>
            <p:ph type="title"/>
          </p:nvPr>
        </p:nvSpPr>
        <p:spPr>
          <a:xfrm>
            <a:off x="609599" y="152400"/>
            <a:ext cx="10920549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Principal Component Analysis (PCA)</a:t>
            </a:r>
          </a:p>
        </p:txBody>
      </p:sp>
      <p:sp>
        <p:nvSpPr>
          <p:cNvPr id="35845" name="Rectangle 41"/>
          <p:cNvSpPr>
            <a:spLocks noGrp="1" noChangeArrowheads="1"/>
          </p:cNvSpPr>
          <p:nvPr>
            <p:ph type="body" idx="1"/>
          </p:nvPr>
        </p:nvSpPr>
        <p:spPr>
          <a:xfrm>
            <a:off x="609599" y="1260611"/>
            <a:ext cx="6838951" cy="4810124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 dirty="0"/>
              <a:t>PCA:  A statistical procedure that uses an </a:t>
            </a:r>
            <a:r>
              <a:rPr lang="en-US" sz="2400" b="1" dirty="0"/>
              <a:t>orthogonal </a:t>
            </a:r>
            <a:r>
              <a:rPr lang="en-US" sz="2400" b="1" dirty="0" err="1"/>
              <a:t>transformation</a:t>
            </a:r>
            <a:r>
              <a:rPr lang="en-US" sz="2400" dirty="0" err="1"/>
              <a:t>to</a:t>
            </a:r>
            <a:r>
              <a:rPr lang="en-US" sz="2400" dirty="0"/>
              <a:t> convert a set of observations of possibly correlated variables into a set of values of linearly uncorrelated variables called </a:t>
            </a:r>
            <a:r>
              <a:rPr lang="en-US" sz="2400" b="1" i="1" dirty="0"/>
              <a:t>principal components</a:t>
            </a:r>
            <a:endParaRPr lang="en-US" sz="2400" dirty="0"/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The original data are projected onto a much smaller space, resulting in dimensionality reduction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Method:  Find the eigenvectors of the covariance matrix, and these eigenvectors define the new space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107FAA98-2261-D017-1435-5DA2FF5CC19D}"/>
              </a:ext>
            </a:extLst>
          </p:cNvPr>
          <p:cNvSpPr txBox="1"/>
          <p:nvPr/>
        </p:nvSpPr>
        <p:spPr>
          <a:xfrm>
            <a:off x="7448550" y="5613452"/>
            <a:ext cx="4019550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Ball travels in a straight line. Data from </a:t>
            </a:r>
            <a:r>
              <a:rPr lang="en-US" altLang="en-US" sz="1800" dirty="0"/>
              <a:t>three cameras contain much redundancy</a:t>
            </a:r>
          </a:p>
        </p:txBody>
      </p:sp>
    </p:spTree>
    <p:extLst>
      <p:ext uri="{BB962C8B-B14F-4D97-AF65-F5344CB8AC3E}">
        <p14:creationId xmlns:p14="http://schemas.microsoft.com/office/powerpoint/2010/main" val="184970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upload.wikimedia.org/wikipedia/commons/thumb/f/f5/GaussianScatterPCA.svg/720px-GaussianScatterPCA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327" y="1361734"/>
            <a:ext cx="3063673" cy="306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1758" y="1143000"/>
            <a:ext cx="8987518" cy="5623288"/>
          </a:xfrm>
        </p:spPr>
        <p:txBody>
          <a:bodyPr/>
          <a:lstStyle/>
          <a:p>
            <a:pPr eaLnBrk="1" hangingPunct="1">
              <a:spcAft>
                <a:spcPts val="200"/>
              </a:spcAft>
            </a:pPr>
            <a:r>
              <a:rPr lang="en-US" altLang="en-US" sz="2400" dirty="0"/>
              <a:t>Given </a:t>
            </a:r>
            <a:r>
              <a:rPr lang="en-US" altLang="en-US" sz="2400" i="1" dirty="0"/>
              <a:t>N</a:t>
            </a:r>
            <a:r>
              <a:rPr lang="en-US" altLang="en-US" sz="2400" dirty="0"/>
              <a:t> data vectors from </a:t>
            </a:r>
            <a:r>
              <a:rPr lang="en-US" altLang="en-US" sz="2400" i="1" dirty="0"/>
              <a:t>n</a:t>
            </a:r>
            <a:r>
              <a:rPr lang="en-US" altLang="en-US" sz="2400" dirty="0"/>
              <a:t>-dimensions, find </a:t>
            </a:r>
            <a:r>
              <a:rPr lang="en-US" altLang="en-US" sz="2400" i="1" dirty="0"/>
              <a:t>k</a:t>
            </a:r>
            <a:r>
              <a:rPr lang="en-US" altLang="en-US" sz="2400" dirty="0"/>
              <a:t> ≤ </a:t>
            </a:r>
            <a:r>
              <a:rPr lang="en-US" altLang="en-US" sz="2400" i="1" dirty="0"/>
              <a:t>n </a:t>
            </a:r>
            <a:r>
              <a:rPr lang="en-US" altLang="en-US" sz="2400" dirty="0"/>
              <a:t>orthogonal vectors (</a:t>
            </a:r>
            <a:r>
              <a:rPr lang="en-US" altLang="en-US" sz="2400" i="1" dirty="0"/>
              <a:t>principal components</a:t>
            </a:r>
            <a:r>
              <a:rPr lang="en-US" altLang="en-US" sz="2400" dirty="0"/>
              <a:t>) best used to represent data </a:t>
            </a:r>
          </a:p>
          <a:p>
            <a:pPr lvl="1" eaLnBrk="1" hangingPunct="1">
              <a:spcAft>
                <a:spcPts val="200"/>
              </a:spcAft>
            </a:pPr>
            <a:r>
              <a:rPr lang="en-US" altLang="en-US" sz="2400" dirty="0"/>
              <a:t>Normalize input data: Each attribute falls within the same range</a:t>
            </a:r>
          </a:p>
          <a:p>
            <a:pPr lvl="1" eaLnBrk="1" hangingPunct="1">
              <a:spcAft>
                <a:spcPts val="200"/>
              </a:spcAft>
            </a:pPr>
            <a:r>
              <a:rPr lang="en-US" altLang="en-US" sz="2400" dirty="0"/>
              <a:t>Compute </a:t>
            </a:r>
            <a:r>
              <a:rPr lang="en-US" altLang="en-US" sz="2400" i="1" dirty="0"/>
              <a:t>k</a:t>
            </a:r>
            <a:r>
              <a:rPr lang="en-US" altLang="en-US" sz="2400" dirty="0"/>
              <a:t> orthonormal (unit) vectors, i.e., </a:t>
            </a:r>
            <a:r>
              <a:rPr lang="en-US" altLang="en-US" sz="2400" i="1" dirty="0"/>
              <a:t>principal components</a:t>
            </a:r>
            <a:endParaRPr lang="en-US" altLang="en-US" sz="2400" dirty="0"/>
          </a:p>
          <a:p>
            <a:pPr lvl="1" eaLnBrk="1" hangingPunct="1">
              <a:spcAft>
                <a:spcPts val="200"/>
              </a:spcAft>
            </a:pPr>
            <a:r>
              <a:rPr lang="en-US" altLang="en-US" sz="2400" dirty="0"/>
              <a:t>Each input data (vector) is a linear combination of the </a:t>
            </a:r>
            <a:r>
              <a:rPr lang="en-US" altLang="en-US" sz="2400" i="1" dirty="0"/>
              <a:t>k</a:t>
            </a:r>
            <a:r>
              <a:rPr lang="en-US" altLang="en-US" sz="2400" dirty="0"/>
              <a:t> principal component vectors</a:t>
            </a:r>
          </a:p>
          <a:p>
            <a:pPr lvl="1">
              <a:spcAft>
                <a:spcPts val="200"/>
              </a:spcAft>
            </a:pPr>
            <a:r>
              <a:rPr lang="en-US" altLang="en-US" sz="2400" dirty="0">
                <a:sym typeface="Symbol" panose="05050102010706020507" pitchFamily="18" charset="2"/>
              </a:rPr>
              <a:t>The principal components are sorted in order of decreasing </a:t>
            </a:r>
            <a:r>
              <a:rPr lang="en-US" altLang="en-US" sz="2400" b="1" dirty="0">
                <a:sym typeface="Symbol" panose="05050102010706020507" pitchFamily="18" charset="2"/>
              </a:rPr>
              <a:t>“significance” or strength</a:t>
            </a:r>
          </a:p>
          <a:p>
            <a:pPr lvl="1">
              <a:spcAft>
                <a:spcPts val="200"/>
              </a:spcAft>
            </a:pPr>
            <a:r>
              <a:rPr lang="en-US" altLang="en-US" sz="2400" dirty="0">
                <a:sym typeface="Symbol" panose="05050102010706020507" pitchFamily="18" charset="2"/>
              </a:rPr>
              <a:t>Since the components are sorted, the size of the data can be reduced by eliminating the </a:t>
            </a:r>
            <a:r>
              <a:rPr lang="en-US" altLang="en-US" sz="2400" i="1" dirty="0">
                <a:sym typeface="Symbol" panose="05050102010706020507" pitchFamily="18" charset="2"/>
              </a:rPr>
              <a:t>weak components</a:t>
            </a:r>
            <a:r>
              <a:rPr lang="en-US" altLang="en-US" sz="2400" dirty="0">
                <a:sym typeface="Symbol" panose="05050102010706020507" pitchFamily="18" charset="2"/>
              </a:rPr>
              <a:t>, i.e., those with low variance (i.e., using the strongest principal components, to reconstruct a good approximation of the original data)</a:t>
            </a:r>
          </a:p>
          <a:p>
            <a:pPr eaLnBrk="1" hangingPunct="1">
              <a:spcAft>
                <a:spcPts val="200"/>
              </a:spcAft>
            </a:pPr>
            <a:r>
              <a:rPr lang="en-US" altLang="en-US" sz="2400" dirty="0"/>
              <a:t>Works for numeric data only</a:t>
            </a:r>
          </a:p>
        </p:txBody>
      </p:sp>
      <p:sp>
        <p:nvSpPr>
          <p:cNvPr id="36868" name="Text Box 3"/>
          <p:cNvSpPr>
            <a:spLocks noGrp="1" noChangeArrowheads="1"/>
          </p:cNvSpPr>
          <p:nvPr>
            <p:ph type="title"/>
          </p:nvPr>
        </p:nvSpPr>
        <p:spPr>
          <a:xfrm>
            <a:off x="627017" y="152400"/>
            <a:ext cx="11042469" cy="990600"/>
          </a:xfrm>
          <a:noFill/>
        </p:spPr>
        <p:txBody>
          <a:bodyPr anchor="ctr">
            <a:noAutofit/>
          </a:bodyPr>
          <a:lstStyle/>
          <a:p>
            <a:r>
              <a:rPr lang="en-US" altLang="en-US" dirty="0"/>
              <a:t>Principal Component Analysis (Method)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15475" y="4425408"/>
            <a:ext cx="2314575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Ack.  Wikipedia: </a:t>
            </a:r>
            <a:r>
              <a:rPr lang="en-US" altLang="en-US" sz="1600" dirty="0"/>
              <a:t>Principal Component Analysis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1631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Attribute Subset Selection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9583" y="1219200"/>
            <a:ext cx="6811817" cy="53721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Another way to reduce dimensionality of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Redundant attributes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Duplicate much or all of the information contained in one or more other attributes</a:t>
            </a:r>
          </a:p>
          <a:p>
            <a:pPr lvl="2">
              <a:lnSpc>
                <a:spcPct val="110000"/>
              </a:lnSpc>
            </a:pPr>
            <a:r>
              <a:rPr lang="en-US" altLang="en-US" sz="2400" dirty="0"/>
              <a:t>E.g., purchase price of a product and the amount of sales tax paid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Irrelevant attributes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Contain no information that is useful for the data mining task at hand</a:t>
            </a:r>
          </a:p>
          <a:p>
            <a:pPr lvl="2">
              <a:lnSpc>
                <a:spcPct val="110000"/>
              </a:lnSpc>
            </a:pPr>
            <a:r>
              <a:rPr lang="en-US" altLang="en-US" sz="2400" dirty="0"/>
              <a:t>Ex. A student’s ID is often irrelevant to the task of predicting his/her GPA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3241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pic>
        <p:nvPicPr>
          <p:cNvPr id="49156" name="Picture 4" descr="Image result for feature selec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924" y="1257300"/>
            <a:ext cx="4675958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243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Heuristic Search in Attribute Selection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3473" y="1295400"/>
            <a:ext cx="10807337" cy="51816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There are </a:t>
            </a:r>
            <a:r>
              <a:rPr lang="en-US" altLang="en-US" sz="2400" i="1" dirty="0"/>
              <a:t>2</a:t>
            </a:r>
            <a:r>
              <a:rPr lang="en-US" altLang="en-US" sz="2400" i="1" baseline="30000" dirty="0"/>
              <a:t>d</a:t>
            </a:r>
            <a:r>
              <a:rPr lang="en-US" altLang="en-US" sz="2400" dirty="0"/>
              <a:t> possible attribute combinations of </a:t>
            </a:r>
            <a:r>
              <a:rPr lang="en-US" altLang="en-US" sz="2400" i="1" dirty="0"/>
              <a:t>d</a:t>
            </a:r>
            <a:r>
              <a:rPr lang="en-US" altLang="en-US" sz="2400" dirty="0"/>
              <a:t>  attributes</a:t>
            </a:r>
          </a:p>
          <a:p>
            <a:pPr eaLnBrk="1" hangingPunct="1"/>
            <a:r>
              <a:rPr lang="en-US" altLang="en-US" sz="2400" dirty="0"/>
              <a:t>Typical heuristic attribute selection methods:</a:t>
            </a:r>
          </a:p>
          <a:p>
            <a:pPr lvl="1"/>
            <a:r>
              <a:rPr lang="en-US" altLang="en-US" sz="2400" dirty="0"/>
              <a:t>Best single attribute under the attribute independence assumption: choose by significance tests</a:t>
            </a:r>
          </a:p>
          <a:p>
            <a:pPr lvl="1"/>
            <a:r>
              <a:rPr lang="en-US" altLang="en-US" sz="2400" dirty="0"/>
              <a:t>Best step-wise feature selection:</a:t>
            </a:r>
          </a:p>
          <a:p>
            <a:pPr lvl="2"/>
            <a:r>
              <a:rPr lang="en-US" altLang="en-US" sz="2400" dirty="0"/>
              <a:t>The best single-attribute is picked first</a:t>
            </a:r>
          </a:p>
          <a:p>
            <a:pPr lvl="2"/>
            <a:r>
              <a:rPr lang="en-US" altLang="en-US" sz="2400" dirty="0"/>
              <a:t>Then next best attribute condition to the first, ...</a:t>
            </a:r>
          </a:p>
          <a:p>
            <a:pPr lvl="1"/>
            <a:r>
              <a:rPr lang="en-US" altLang="en-US" sz="2400" dirty="0"/>
              <a:t>Step-wise attribute elimination:</a:t>
            </a:r>
          </a:p>
          <a:p>
            <a:pPr lvl="2"/>
            <a:r>
              <a:rPr lang="en-US" altLang="en-US" sz="2400" dirty="0"/>
              <a:t>Repeatedly eliminate the worst attribute</a:t>
            </a:r>
          </a:p>
          <a:p>
            <a:pPr lvl="1"/>
            <a:r>
              <a:rPr lang="en-US" altLang="en-US" sz="2400" dirty="0"/>
              <a:t>Best combined attribute selection and elimination</a:t>
            </a:r>
          </a:p>
          <a:p>
            <a:pPr lvl="1"/>
            <a:r>
              <a:rPr lang="en-US" altLang="en-US" sz="2400" dirty="0"/>
              <a:t>Optimal branch and bound:</a:t>
            </a:r>
          </a:p>
          <a:p>
            <a:pPr lvl="2"/>
            <a:r>
              <a:rPr lang="en-US" altLang="en-US" sz="2400" dirty="0">
                <a:sym typeface="Symbol" panose="05050102010706020507" pitchFamily="18" charset="2"/>
              </a:rPr>
              <a:t>Use attribute elimination and backtracking</a:t>
            </a:r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7352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Heuristic Search(</a:t>
            </a:r>
            <a:r>
              <a:rPr lang="zh-CN" altLang="en-US" dirty="0"/>
              <a:t>启发式搜索</a:t>
            </a:r>
            <a:r>
              <a:rPr lang="en-US" altLang="en-US" dirty="0"/>
              <a:t>) in Attribute Selection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3F47C2-787E-D0A7-450E-BEFA0FC09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874" y="1322434"/>
            <a:ext cx="9419610" cy="502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5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17C38-0756-E612-ED47-A86ACD36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9E4AECE5-37B5-6A46-D9CE-F28A2CC88B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Attribute Creation (Feature Generation)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0E1D9119-A9DF-943E-2680-FA77661101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0891" y="1219203"/>
            <a:ext cx="10824755" cy="5209309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Create new attributes (features) that can capture the important information in a data set more effectively than the original ones</a:t>
            </a: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Three general methodologies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Attribute extraction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Domain-specific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Mapping data to new space (see data reduction)</a:t>
            </a:r>
          </a:p>
          <a:p>
            <a:pPr lvl="2"/>
            <a:r>
              <a:rPr lang="en-US" altLang="en-US" dirty="0">
                <a:latin typeface="Calibri" panose="020F0502020204030204" pitchFamily="34" charset="0"/>
              </a:rPr>
              <a:t>E.g., Fourier transformation, wavelet transformation, manifold approaches (not covered)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r>
              <a:rPr lang="en-US" altLang="en-US" dirty="0">
                <a:latin typeface="Calibri" panose="020F0502020204030204" pitchFamily="34" charset="0"/>
              </a:rPr>
              <a:t>Attribute construction</a:t>
            </a:r>
          </a:p>
          <a:p>
            <a:pPr lvl="2"/>
            <a:r>
              <a:rPr lang="en-US" altLang="en-US" dirty="0">
                <a:latin typeface="Calibri" panose="020F0502020204030204" pitchFamily="34" charset="0"/>
              </a:rPr>
              <a:t>Combining features (see discriminative frequent patterns in Chapter on “Advanced Classification”)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r>
              <a:rPr lang="en-US" altLang="en-US" dirty="0">
                <a:latin typeface="Calibri" panose="020F0502020204030204" pitchFamily="34" charset="0"/>
              </a:rPr>
              <a:t>Data discretization</a:t>
            </a:r>
          </a:p>
        </p:txBody>
      </p:sp>
    </p:spTree>
    <p:extLst>
      <p:ext uri="{BB962C8B-B14F-4D97-AF65-F5344CB8AC3E}">
        <p14:creationId xmlns:p14="http://schemas.microsoft.com/office/powerpoint/2010/main" val="3307905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2E58-EC45-CDC4-1FD7-E0AA81290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Nonlinear Dimensionality Reduction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9165-D667-190F-A6B2-EAE7DF37F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b="0" i="0" u="none" strike="noStrike" baseline="0" dirty="0"/>
              <a:t>PCA is a linear method for dimensionality reduction</a:t>
            </a:r>
          </a:p>
          <a:p>
            <a:pPr lvl="1"/>
            <a:r>
              <a:rPr lang="en-US" sz="2400" b="0" i="0" u="none" strike="noStrike" baseline="0" dirty="0"/>
              <a:t>Each principal component is a linear combination of the original input attributes</a:t>
            </a:r>
          </a:p>
          <a:p>
            <a:pPr lvl="1"/>
            <a:r>
              <a:rPr lang="en-US" sz="2400" b="0" i="0" u="none" strike="noStrike" baseline="0" dirty="0"/>
              <a:t>It works well if the input data approximately follows a Gaussian distribution or forms a few linearly separable clusters</a:t>
            </a:r>
          </a:p>
          <a:p>
            <a:r>
              <a:rPr lang="en-US" sz="2400" b="0" i="0" u="none" strike="noStrike" baseline="0" dirty="0"/>
              <a:t>When the input data is linearly inseparable, we need to construct a proximity matrix (P) and learn a new matrix with </a:t>
            </a:r>
            <a:r>
              <a:rPr lang="en-US" sz="2400" b="0" i="1" u="none" strike="noStrike" baseline="0" dirty="0"/>
              <a:t>k</a:t>
            </a:r>
            <a:r>
              <a:rPr lang="en-US" sz="2400" b="0" i="0" u="none" strike="noStrike" baseline="0" dirty="0"/>
              <a:t> features (</a:t>
            </a:r>
            <a:r>
              <a:rPr lang="en-US" sz="2400" b="0" i="1" u="none" strike="noStrike" baseline="0" dirty="0"/>
              <a:t>k</a:t>
            </a:r>
            <a:r>
              <a:rPr lang="en-US" sz="2400" b="0" i="0" u="none" strike="noStrike" baseline="0" dirty="0"/>
              <a:t> &lt;&lt; </a:t>
            </a:r>
            <a:r>
              <a:rPr lang="en-US" sz="2400" b="0" i="1" u="none" strike="noStrike" baseline="0" dirty="0"/>
              <a:t>d</a:t>
            </a:r>
            <a:r>
              <a:rPr lang="en-US" sz="2400" b="0" i="0" u="none" strike="noStrike" baseline="0" dirty="0"/>
              <a:t>) that preserves the proximity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C83F05-97C8-45BE-A344-1C95409A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875" y="3911600"/>
            <a:ext cx="9837827" cy="267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34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D28553-C17C-69E8-2516-2BE9F9D4D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610" y="3410773"/>
            <a:ext cx="3180522" cy="781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B82E58-EC45-CDC4-1FD7-E0AA8129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676"/>
            <a:ext cx="12191999" cy="738909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Nonlinear Dimensionality Reduction (I): </a:t>
            </a:r>
            <a:r>
              <a:rPr lang="en-US" sz="3600" b="0" i="0" u="none" strike="noStrike" baseline="0" dirty="0"/>
              <a:t>Kernel PCA (</a:t>
            </a:r>
            <a:r>
              <a:rPr lang="en-US" altLang="en-US" sz="3600" dirty="0"/>
              <a:t>KPCA)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9165-D667-190F-A6B2-EAE7DF37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040" y="1219200"/>
            <a:ext cx="11500732" cy="5384800"/>
          </a:xfrm>
        </p:spPr>
        <p:txBody>
          <a:bodyPr/>
          <a:lstStyle/>
          <a:p>
            <a:r>
              <a:rPr lang="en-US" sz="2400" b="0" i="0" u="none" strike="noStrike" baseline="0" dirty="0"/>
              <a:t>Use a kernel function </a:t>
            </a:r>
            <a:r>
              <a:rPr lang="en-US" sz="2400" b="0" i="1" u="none" strike="noStrike" baseline="0" dirty="0"/>
              <a:t>κ</a:t>
            </a:r>
            <a:r>
              <a:rPr lang="en-US" sz="2400" b="0" i="0" u="none" strike="noStrike" baseline="0" dirty="0"/>
              <a:t>(·) to construct the kernel matrix: P(</a:t>
            </a:r>
            <a:r>
              <a:rPr lang="en-US" sz="2400" b="0" i="1" u="none" strike="noStrike" baseline="0" dirty="0" err="1"/>
              <a:t>i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j</a:t>
            </a:r>
            <a:r>
              <a:rPr lang="en-US" sz="2400" b="0" i="0" u="none" strike="noStrike" baseline="0" dirty="0"/>
              <a:t>) = </a:t>
            </a:r>
            <a:r>
              <a:rPr lang="en-US" sz="2400" b="0" i="1" u="none" strike="noStrike" baseline="0" dirty="0"/>
              <a:t>κ</a:t>
            </a:r>
            <a:r>
              <a:rPr lang="en-US" sz="2400" b="0" i="0" u="none" strike="noStrike" baseline="0" dirty="0"/>
              <a:t>(x</a:t>
            </a:r>
            <a:r>
              <a:rPr lang="en-US" sz="2400" b="0" i="0" u="none" strike="noStrike" baseline="-25000" dirty="0"/>
              <a:t>i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x</a:t>
            </a:r>
            <a:r>
              <a:rPr lang="en-US" sz="2400" b="0" i="0" u="none" strike="noStrike" baseline="-25000" dirty="0" err="1"/>
              <a:t>j</a:t>
            </a:r>
            <a:r>
              <a:rPr lang="en-US" sz="2400" b="0" i="0" u="none" strike="noStrike" baseline="0" dirty="0"/>
              <a:t>), and learn the best low-dimensional representations so that the estimated proximity matrix Pˆ is as close as possible to the kernel matrix P</a:t>
            </a:r>
          </a:p>
          <a:p>
            <a:r>
              <a:rPr lang="en-US" sz="2400" b="0" i="0" u="none" strike="noStrike" baseline="0" dirty="0"/>
              <a:t>This can be obtained by using top-</a:t>
            </a:r>
            <a:r>
              <a:rPr lang="en-US" sz="2400" b="0" i="1" u="none" strike="noStrike" baseline="0" dirty="0"/>
              <a:t>k </a:t>
            </a:r>
            <a:r>
              <a:rPr lang="en-US" sz="2400" b="0" i="0" u="none" strike="noStrike" baseline="0" dirty="0"/>
              <a:t>eigenvectors and eigenvalues of the kernel matrix P</a:t>
            </a:r>
          </a:p>
          <a:p>
            <a:r>
              <a:rPr lang="en-US" sz="2400" b="0" i="0" u="none" strike="noStrike" baseline="0" dirty="0"/>
              <a:t>Typical kernel functions: </a:t>
            </a:r>
          </a:p>
          <a:p>
            <a:pPr lvl="1"/>
            <a:r>
              <a:rPr lang="en-US" sz="2400" b="0" i="0" u="none" strike="noStrike" baseline="0" dirty="0"/>
              <a:t>(1) polynomial kernel:   </a:t>
            </a:r>
          </a:p>
          <a:p>
            <a:pPr lvl="1"/>
            <a:r>
              <a:rPr lang="en-US" sz="2400" b="0" i="0" u="none" strike="noStrike" baseline="0" dirty="0"/>
              <a:t>(2) radial basis function (RBF):</a:t>
            </a:r>
          </a:p>
          <a:p>
            <a:pPr lvl="1"/>
            <a:r>
              <a:rPr lang="en-US" sz="2400" b="0" i="0" u="none" strike="noStrike" baseline="0" dirty="0"/>
              <a:t>If we choose a linear kernel: </a:t>
            </a:r>
            <a:r>
              <a:rPr lang="el-GR" sz="2400" b="0" i="0" u="none" strike="noStrike" baseline="0" dirty="0"/>
              <a:t>κ(</a:t>
            </a:r>
            <a:r>
              <a:rPr lang="en-US" sz="2400" b="0" i="0" u="none" strike="noStrike" baseline="0" dirty="0"/>
              <a:t>x</a:t>
            </a:r>
            <a:r>
              <a:rPr lang="en-US" sz="2400" b="0" i="0" u="none" strike="noStrike" baseline="-25000" dirty="0"/>
              <a:t>i 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x</a:t>
            </a:r>
            <a:r>
              <a:rPr lang="en-US" sz="2400" b="0" i="0" u="none" strike="noStrike" baseline="-25000" dirty="0" err="1"/>
              <a:t>j</a:t>
            </a:r>
            <a:r>
              <a:rPr lang="en-US" sz="2400" b="0" i="0" u="none" strike="noStrike" baseline="0" dirty="0"/>
              <a:t>) = </a:t>
            </a:r>
            <a:r>
              <a:rPr lang="en-US" sz="2400" b="0" i="0" u="none" strike="noStrike" baseline="0" dirty="0" err="1"/>
              <a:t>x</a:t>
            </a:r>
            <a:r>
              <a:rPr lang="en-US" sz="2400" b="0" i="0" u="none" strike="noStrike" baseline="-25000" dirty="0" err="1"/>
              <a:t>i</a:t>
            </a:r>
            <a:r>
              <a:rPr lang="en-US" sz="2400" b="0" i="0" u="none" strike="noStrike" baseline="0" dirty="0" err="1"/>
              <a:t>・x</a:t>
            </a:r>
            <a:r>
              <a:rPr lang="en-US" sz="2400" b="0" i="0" u="none" strike="noStrike" baseline="-25000" dirty="0" err="1"/>
              <a:t>j</a:t>
            </a:r>
            <a:r>
              <a:rPr lang="en-US" sz="2400" b="0" i="0" u="none" strike="noStrike" baseline="0" dirty="0"/>
              <a:t>, KPCA degenerates to the standard PCA</a:t>
            </a:r>
          </a:p>
          <a:p>
            <a:r>
              <a:rPr lang="en-US" sz="2400" b="0" i="0" u="none" strike="noStrike" baseline="0" dirty="0"/>
              <a:t>Major formulas of Kernel PCA </a:t>
            </a:r>
            <a:r>
              <a:rPr lang="en-US" sz="2400" dirty="0"/>
              <a:t>vs. </a:t>
            </a:r>
            <a:r>
              <a:rPr lang="en-US" sz="2400" b="0" i="0" u="none" strike="noStrike" baseline="0" dirty="0"/>
              <a:t>SNE (Stochastic neighborhood embedding)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143C0-4BDB-A018-0981-C66D374C2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629" y="5189633"/>
            <a:ext cx="9714368" cy="1668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00D81-5971-A9AA-E936-A2B203211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694" y="3258975"/>
            <a:ext cx="3032544" cy="41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69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2E58-EC45-CDC4-1FD7-E0AA8129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676"/>
            <a:ext cx="12191999" cy="738909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Nonlinear Dimensionality Reduction (II): </a:t>
            </a:r>
            <a:r>
              <a:rPr lang="en-US" sz="4000" b="0" i="0" u="none" strike="noStrike" baseline="0" dirty="0"/>
              <a:t>SNE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DF9165-D667-190F-A6B2-EAE7DF37F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040" y="1219200"/>
                <a:ext cx="11500732" cy="5384800"/>
              </a:xfrm>
            </p:spPr>
            <p:txBody>
              <a:bodyPr/>
              <a:lstStyle/>
              <a:p>
                <a:r>
                  <a:rPr lang="en-US" sz="2400" b="0" i="0" u="none" strike="noStrike" baseline="0" dirty="0"/>
                  <a:t>SNE (Stochastic neighborhood embedding) </a:t>
                </a:r>
              </a:p>
              <a:p>
                <a:pPr lvl="1"/>
                <a:r>
                  <a:rPr lang="en-US" sz="2400" b="0" i="0" u="none" strike="noStrike" baseline="0" dirty="0"/>
                  <a:t>Construct a proximity matrix </a:t>
                </a:r>
                <a:r>
                  <a:rPr lang="en-US" sz="2400" dirty="0"/>
                  <a:t>P </a:t>
                </a:r>
                <a:r>
                  <a:rPr lang="en-US" sz="2400" b="0" i="0" u="none" strike="noStrike" baseline="0" dirty="0"/>
                  <a:t>using the formula:</a:t>
                </a:r>
              </a:p>
              <a:p>
                <a:pPr lvl="2"/>
                <a:r>
                  <a:rPr lang="en-US" sz="2400" b="0" i="0" u="none" strike="noStrike" baseline="0" dirty="0"/>
                  <a:t> rep. the probability that </a:t>
                </a:r>
                <a:r>
                  <a:rPr lang="en-US" sz="2400" b="0" i="1" u="none" strike="noStrike" baseline="0" dirty="0" err="1"/>
                  <a:t>x</a:t>
                </a:r>
                <a:r>
                  <a:rPr lang="en-US" sz="2400" b="0" i="1" u="none" strike="noStrike" baseline="-25000" dirty="0" err="1"/>
                  <a:t>j</a:t>
                </a:r>
                <a:r>
                  <a:rPr lang="en-US" sz="2400" b="0" i="0" u="none" strike="noStrike" baseline="0" dirty="0"/>
                  <a:t> is the neighbor of </a:t>
                </a:r>
                <a:r>
                  <a:rPr lang="en-US" sz="2400" b="0" i="1" u="none" strike="noStrike" baseline="0" dirty="0"/>
                  <a:t>x</a:t>
                </a:r>
                <a:r>
                  <a:rPr lang="en-US" sz="2400" b="0" i="1" u="none" strike="noStrike" baseline="-25000" dirty="0"/>
                  <a:t>i</a:t>
                </a:r>
                <a:r>
                  <a:rPr lang="en-US" sz="2400" b="0" i="0" u="none" strike="noStrike" baseline="0" dirty="0"/>
                  <a:t> </a:t>
                </a:r>
              </a:p>
              <a:p>
                <a:pPr lvl="1"/>
                <a:r>
                  <a:rPr lang="en-US" sz="2400" b="0" i="0" u="none" strike="noStrike" baseline="0" dirty="0"/>
                  <a:t>Suppose we have learned the low-dimensional representations x</a:t>
                </a:r>
                <a:r>
                  <a:rPr lang="en-US" sz="2400" b="0" i="0" u="none" strike="noStrike" baseline="-25000" dirty="0"/>
                  <a:t>i</a:t>
                </a:r>
                <a:r>
                  <a:rPr lang="en-US" sz="2400" b="0" i="0" u="none" strike="noStrike" baseline="0" dirty="0"/>
                  <a:t>ˆ, we can compute another estimated proximity matrix in the similar way: </a:t>
                </a:r>
                <a:endParaRPr lang="en-US" sz="2400" b="0" i="1" u="none" strike="noStrike" baseline="0" dirty="0"/>
              </a:p>
              <a:p>
                <a:pPr marL="200021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=1,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400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We want to make the estimated proximity matrix P^ to be as close as possible to P</a:t>
                </a:r>
              </a:p>
              <a:p>
                <a:pPr lvl="1"/>
                <a:r>
                  <a:rPr lang="en-US" altLang="zh-CN" sz="2400" dirty="0"/>
                  <a:t>That is, we want to minimize the overall K-L divergence, that is, </a:t>
                </a:r>
              </a:p>
              <a:p>
                <a:pPr lvl="1"/>
                <a:endParaRPr lang="zh-CN" altLang="en-US" sz="2400" dirty="0"/>
              </a:p>
              <a:p>
                <a:pPr lvl="1"/>
                <a:endParaRPr lang="en-US" sz="2400" b="0" u="none" strike="noStrike" baseline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DF9165-D667-190F-A6B2-EAE7DF37F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040" y="1219200"/>
                <a:ext cx="11500732" cy="5384800"/>
              </a:xfrm>
              <a:blipFill>
                <a:blip r:embed="rId3"/>
                <a:stretch>
                  <a:fillRect l="-424" t="-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AE7DB66-CD02-1F8A-1A67-921FAEA24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360" y="1525625"/>
            <a:ext cx="4472412" cy="793483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FFDD1FEE-7EB6-2231-C9DF-85CCE7057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999" y="5532868"/>
            <a:ext cx="6096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44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200CF-A88A-CCEF-04C4-7419F1E3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A5DC-8577-B025-ED05-C26D40AB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676"/>
            <a:ext cx="12191999" cy="738909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Nonlinear Dimensionality Reduction (II): </a:t>
            </a:r>
            <a:r>
              <a:rPr lang="en-US" sz="4000" b="0" i="0" u="none" strike="noStrike" baseline="0" dirty="0"/>
              <a:t>SNE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02FA2-CFE7-D36A-4479-D632DED69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040" y="1219200"/>
            <a:ext cx="11500732" cy="5384800"/>
          </a:xfrm>
        </p:spPr>
        <p:txBody>
          <a:bodyPr/>
          <a:lstStyle/>
          <a:p>
            <a:r>
              <a:rPr lang="en-US" sz="2400" b="0" i="0" u="none" strike="noStrike" baseline="0" dirty="0"/>
              <a:t>SNE (Stochastic neighborhood embedding) </a:t>
            </a:r>
          </a:p>
          <a:p>
            <a:pPr lvl="1"/>
            <a:r>
              <a:rPr lang="en-US" sz="2400" b="0" i="0" u="none" strike="noStrike" baseline="0" dirty="0"/>
              <a:t>Construct a proximity matrix </a:t>
            </a:r>
            <a:r>
              <a:rPr lang="en-US" sz="2400" dirty="0"/>
              <a:t>P </a:t>
            </a:r>
            <a:r>
              <a:rPr lang="en-US" sz="2400" b="0" i="0" u="none" strike="noStrike" baseline="0" dirty="0"/>
              <a:t>using the formula:</a:t>
            </a:r>
          </a:p>
          <a:p>
            <a:pPr lvl="2"/>
            <a:r>
              <a:rPr lang="en-US" sz="2400" b="0" i="0" u="none" strike="noStrike" baseline="0" dirty="0"/>
              <a:t> rep. the probability that </a:t>
            </a:r>
            <a:r>
              <a:rPr lang="en-US" sz="2400" b="0" i="1" u="none" strike="noStrike" baseline="0" dirty="0" err="1"/>
              <a:t>x</a:t>
            </a:r>
            <a:r>
              <a:rPr lang="en-US" sz="2400" b="0" i="1" u="none" strike="noStrike" baseline="-25000" dirty="0" err="1"/>
              <a:t>j</a:t>
            </a:r>
            <a:r>
              <a:rPr lang="en-US" sz="2400" b="0" i="0" u="none" strike="noStrike" baseline="0" dirty="0"/>
              <a:t> is the neighbor of </a:t>
            </a:r>
            <a:r>
              <a:rPr lang="en-US" sz="2400" b="0" i="1" u="none" strike="noStrike" baseline="0" dirty="0"/>
              <a:t>x</a:t>
            </a:r>
            <a:r>
              <a:rPr lang="en-US" sz="2400" b="0" i="1" u="none" strike="noStrike" baseline="-25000" dirty="0"/>
              <a:t>i</a:t>
            </a:r>
            <a:r>
              <a:rPr lang="en-US" sz="2400" b="0" i="0" u="none" strike="noStrike" baseline="0" dirty="0"/>
              <a:t> </a:t>
            </a:r>
          </a:p>
          <a:p>
            <a:pPr lvl="1"/>
            <a:r>
              <a:rPr lang="en-US" sz="2400" b="0" i="0" u="none" strike="noStrike" baseline="0" dirty="0"/>
              <a:t>Suppose we have learned the low-dimensional representations x</a:t>
            </a:r>
            <a:r>
              <a:rPr lang="en-US" sz="2400" b="0" i="0" u="none" strike="noStrike" baseline="-25000" dirty="0"/>
              <a:t>i</a:t>
            </a:r>
            <a:r>
              <a:rPr lang="en-US" sz="2400" b="0" i="0" u="none" strike="noStrike" baseline="0" dirty="0"/>
              <a:t>ˆ, we can compute another estimated proximity matrix in the similar way: </a:t>
            </a:r>
            <a:r>
              <a:rPr lang="en-US" sz="2400" b="0" i="1" u="none" strike="noStrike" baseline="0" dirty="0"/>
              <a:t>Pˆ (</a:t>
            </a:r>
            <a:r>
              <a:rPr lang="en-US" sz="2400" b="0" i="1" u="none" strike="noStrike" baseline="0" dirty="0" err="1"/>
              <a:t>i</a:t>
            </a:r>
            <a:r>
              <a:rPr lang="en-US" sz="2400" b="0" i="1" u="none" strike="noStrike" baseline="0" dirty="0"/>
              <a:t>, j) </a:t>
            </a:r>
          </a:p>
          <a:p>
            <a:pPr lvl="1"/>
            <a:r>
              <a:rPr lang="en-US" sz="2400" b="0" u="none" strike="noStrike" baseline="0" dirty="0"/>
              <a:t>We want to make the estimated </a:t>
            </a:r>
            <a:r>
              <a:rPr lang="en-US" sz="2400" b="0" i="0" u="none" strike="noStrike" baseline="0" dirty="0"/>
              <a:t>proximity matrix P^ to be as close as possible to P</a:t>
            </a:r>
          </a:p>
          <a:p>
            <a:pPr lvl="1"/>
            <a:r>
              <a:rPr lang="en-US" sz="2400" b="0" u="none" strike="noStrike" baseline="0" dirty="0"/>
              <a:t>That is, we want to minimize the overall K-L divergence, that is, </a:t>
            </a:r>
          </a:p>
          <a:p>
            <a:pPr lvl="1"/>
            <a:endParaRPr lang="en-US" sz="2400" b="0" u="none" strike="noStrike" baseline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6D106-110D-B867-E8F9-9A4BEE294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53" y="4935633"/>
            <a:ext cx="9714368" cy="1668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370137-9203-D4E8-5E3F-77409FC42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360" y="1525625"/>
            <a:ext cx="4472412" cy="793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571C77-A512-55B6-1D09-61B1828D8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4206" y="4234093"/>
            <a:ext cx="6096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44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2E58-EC45-CDC4-1FD7-E0AA8129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2" y="0"/>
            <a:ext cx="11369963" cy="1177227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Example:  Comparison on Nonlinear Data Points: Linear vs. Nonlinear Dimensional Reduction Methods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9165-D667-190F-A6B2-EAE7DF37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02" y="1473201"/>
            <a:ext cx="6152648" cy="4719370"/>
          </a:xfrm>
        </p:spPr>
        <p:txBody>
          <a:bodyPr/>
          <a:lstStyle/>
          <a:p>
            <a:r>
              <a:rPr lang="en-US" sz="2400" b="0" i="0" u="none" strike="noStrike" baseline="0" dirty="0"/>
              <a:t>Visualization: An example of linear vs. nonlinear dimensionality reduction methods</a:t>
            </a:r>
          </a:p>
          <a:p>
            <a:pPr lvl="1"/>
            <a:r>
              <a:rPr lang="en-US" sz="2400" b="0" i="0" u="none" strike="noStrike" baseline="0" dirty="0"/>
              <a:t>Given a collection of input data in 2-D space (Fig. (a)): Red and blue data points are not linearly separable</a:t>
            </a:r>
          </a:p>
          <a:p>
            <a:pPr lvl="1"/>
            <a:r>
              <a:rPr lang="en-US" sz="2400" b="0" i="0" u="none" strike="noStrike" baseline="0" dirty="0"/>
              <a:t>PCA transformation can not make it linearly separable</a:t>
            </a:r>
            <a:endParaRPr lang="en-US" sz="2400" dirty="0"/>
          </a:p>
          <a:p>
            <a:pPr lvl="1"/>
            <a:r>
              <a:rPr lang="en-US" sz="2400" b="0" i="0" u="none" strike="noStrike" baseline="0" dirty="0"/>
              <a:t>KPCA can make </a:t>
            </a:r>
            <a:r>
              <a:rPr lang="en-US" sz="2400" dirty="0"/>
              <a:t>the points linearly separable</a:t>
            </a:r>
          </a:p>
          <a:p>
            <a:pPr lvl="1"/>
            <a:r>
              <a:rPr lang="en-US" sz="2400" b="0" i="0" u="none" strike="noStrike" baseline="0" dirty="0"/>
              <a:t>t-SNE (t-distributional NSE) can make them linearly separable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D1B10F-D452-35CC-4E96-98517F48F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150" y="1339912"/>
            <a:ext cx="5678410" cy="551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51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2E58-EC45-CDC4-1FD7-E0AA8129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83125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Heatmap of the Proximity Matrices:</a:t>
            </a:r>
            <a:br>
              <a:rPr lang="en-US" altLang="en-US" sz="3600" dirty="0"/>
            </a:br>
            <a:r>
              <a:rPr lang="en-US" altLang="en-US" sz="3600" dirty="0"/>
              <a:t>Linear vs. Nonlinear Dimensional Reduction Methods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9165-D667-190F-A6B2-EAE7DF37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46" y="4757485"/>
            <a:ext cx="11406908" cy="1570887"/>
          </a:xfrm>
        </p:spPr>
        <p:txBody>
          <a:bodyPr/>
          <a:lstStyle/>
          <a:p>
            <a:pPr lvl="1"/>
            <a:r>
              <a:rPr lang="en-US" altLang="zh-CN" sz="2200" dirty="0"/>
              <a:t>The two diagonal blocks indicate the proximity within the two clusters respectively</a:t>
            </a:r>
          </a:p>
          <a:p>
            <a:pPr lvl="1"/>
            <a:r>
              <a:rPr lang="en-US" altLang="zh-CN" sz="2200" dirty="0"/>
              <a:t>The two off-diagonal blocks indicate the proximity between the data from the two clusters</a:t>
            </a:r>
          </a:p>
          <a:p>
            <a:pPr lvl="1"/>
            <a:r>
              <a:rPr lang="en-US" altLang="zh-CN" sz="2200" dirty="0"/>
              <a:t>With nonlinear methods (KPCA and t-SNE), the proximity between data tuples from the same cluster is much higher than the proximity between data tuples from different clusters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6497E6-A721-F8B4-E5FB-9C045D273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452" y="1284960"/>
            <a:ext cx="8285093" cy="29896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AD491A-F8B2-EDE7-6D3D-7D4DF93B29C1}"/>
              </a:ext>
            </a:extLst>
          </p:cNvPr>
          <p:cNvSpPr txBox="1"/>
          <p:nvPr/>
        </p:nvSpPr>
        <p:spPr>
          <a:xfrm>
            <a:off x="2112475" y="4274565"/>
            <a:ext cx="796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baseline="0" dirty="0"/>
              <a:t>The heatmaps of the proximity matrices in PCA (a), KPCA (b), and t-SNE(c) </a:t>
            </a:r>
          </a:p>
        </p:txBody>
      </p:sp>
    </p:spTree>
    <p:extLst>
      <p:ext uri="{BB962C8B-B14F-4D97-AF65-F5344CB8AC3E}">
        <p14:creationId xmlns:p14="http://schemas.microsoft.com/office/powerpoint/2010/main" val="1176882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12192000" cy="1133475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Chapter 7. Classification: Advanced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8175" y="1050432"/>
            <a:ext cx="10915650" cy="497149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b="1" dirty="0">
                <a:solidFill>
                  <a:srgbClr val="FF0000"/>
                </a:solidFill>
              </a:rPr>
              <a:t>Feature Selection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Bayesian Belief Networks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CMR10"/>
              </a:rPr>
              <a:t> 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Support Vector Machines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Rule-Based and Pattern-Based Classification </a:t>
            </a:r>
            <a:endParaRPr lang="en-US" altLang="en-US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Weakly Supervised Learning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Classification with Rich Data Type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0" i="0" u="none" strike="noStrike" baseline="0" dirty="0">
                <a:latin typeface="CMR10"/>
              </a:rPr>
              <a:t>Other Related Techniques </a:t>
            </a:r>
          </a:p>
        </p:txBody>
      </p:sp>
    </p:spTree>
    <p:extLst>
      <p:ext uri="{BB962C8B-B14F-4D97-AF65-F5344CB8AC3E}">
        <p14:creationId xmlns:p14="http://schemas.microsoft.com/office/powerpoint/2010/main" val="428304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0ABC13-C235-D04B-B75B-A3A0A9304353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r>
              <a:rPr lang="en-US" altLang="en-US" dirty="0"/>
              <a:t>Feature Selection &amp;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40FAA6-731F-614B-A63B-6090B7C2E84C}"/>
              </a:ext>
            </a:extLst>
          </p:cNvPr>
          <p:cNvSpPr txBox="1">
            <a:spLocks noChangeArrowheads="1"/>
          </p:cNvSpPr>
          <p:nvPr/>
        </p:nvSpPr>
        <p:spPr>
          <a:xfrm>
            <a:off x="667707" y="1239252"/>
            <a:ext cx="10447968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Feature Selection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Given a set of </a:t>
            </a:r>
            <a:r>
              <a:rPr lang="en-US" altLang="en-US" i="1" dirty="0">
                <a:latin typeface="Calibri" panose="020F0502020204030204" pitchFamily="34" charset="0"/>
              </a:rPr>
              <a:t>p</a:t>
            </a:r>
            <a:r>
              <a:rPr lang="en-US" altLang="en-US" dirty="0">
                <a:latin typeface="Calibri" panose="020F0502020204030204" pitchFamily="34" charset="0"/>
              </a:rPr>
              <a:t> initial features, how to select a few most effective ones?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Why?</a:t>
            </a:r>
          </a:p>
          <a:p>
            <a:pPr lvl="2"/>
            <a:r>
              <a:rPr lang="en-US" altLang="en-US" dirty="0">
                <a:latin typeface="Calibri" panose="020F0502020204030204" pitchFamily="34" charset="0"/>
              </a:rPr>
              <a:t>Irrelevant features (student ID for predicting GPA)</a:t>
            </a:r>
          </a:p>
          <a:p>
            <a:pPr lvl="2"/>
            <a:r>
              <a:rPr lang="en-US" altLang="en-US" dirty="0">
                <a:latin typeface="Calibri" panose="020F0502020204030204" pitchFamily="34" charset="0"/>
              </a:rPr>
              <a:t>Redundant features (monthly income vs. yearly income)</a:t>
            </a:r>
          </a:p>
          <a:p>
            <a:r>
              <a:rPr lang="en-US" altLang="en-US" b="1" dirty="0">
                <a:latin typeface="Calibri" panose="020F0502020204030204" pitchFamily="34" charset="0"/>
              </a:rPr>
              <a:t>Feature Engineering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sym typeface="Symbol" panose="05050102010706020507" pitchFamily="18" charset="2"/>
              </a:rPr>
              <a:t>Given the initial features, how to construct more effective ones?</a:t>
            </a:r>
          </a:p>
          <a:p>
            <a:pPr lvl="2"/>
            <a:r>
              <a:rPr lang="en-US" altLang="en-US" dirty="0">
                <a:latin typeface="Calibri" panose="020F0502020204030204" pitchFamily="34" charset="0"/>
                <a:sym typeface="Symbol" panose="05050102010706020507" pitchFamily="18" charset="2"/>
              </a:rPr>
              <a:t># of daily positive cases, # of daily tests, # of daily hospitalization </a:t>
            </a:r>
            <a:r>
              <a:rPr lang="en-US" altLang="en-US" dirty="0">
                <a:latin typeface="Calibri" panose="020F0502020204030204" pitchFamily="34" charset="0"/>
                <a:sym typeface="Wingdings" pitchFamily="2" charset="2"/>
              </a:rPr>
              <a:t> weekly positive rate</a:t>
            </a:r>
            <a:endParaRPr lang="en-US" altLang="en-US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sym typeface="Symbol" panose="05050102010706020507" pitchFamily="18" charset="2"/>
              </a:rPr>
              <a:t>(traditionally) domain knowledge is the key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sym typeface="Symbol" panose="05050102010706020507" pitchFamily="18" charset="2"/>
              </a:rPr>
              <a:t>Deep learning provides an automatic way</a:t>
            </a:r>
          </a:p>
        </p:txBody>
      </p:sp>
    </p:spTree>
    <p:extLst>
      <p:ext uri="{BB962C8B-B14F-4D97-AF65-F5344CB8AC3E}">
        <p14:creationId xmlns:p14="http://schemas.microsoft.com/office/powerpoint/2010/main" val="1003772518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r>
              <a:rPr lang="en-US" altLang="en-US" dirty="0"/>
              <a:t>Feature Selection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Filter methods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Select features based on some goodness measure 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</a:rPr>
              <a:t>Independent of the specific classification model</a:t>
            </a:r>
          </a:p>
          <a:p>
            <a:r>
              <a:rPr lang="en-US" altLang="en-US" b="1" dirty="0">
                <a:latin typeface="Calibri" panose="020F0502020204030204" pitchFamily="34" charset="0"/>
              </a:rPr>
              <a:t>Wrapper methods </a:t>
            </a:r>
          </a:p>
          <a:p>
            <a:pPr lvl="1"/>
            <a:r>
              <a:rPr lang="en-US" dirty="0"/>
              <a:t>Combine the feature selection and classifier model construction steps together, </a:t>
            </a:r>
          </a:p>
          <a:p>
            <a:pPr lvl="1"/>
            <a:r>
              <a:rPr lang="en-US" dirty="0"/>
              <a:t>Iteratively </a:t>
            </a:r>
          </a:p>
          <a:p>
            <a:pPr lvl="2"/>
            <a:r>
              <a:rPr lang="en-US" dirty="0"/>
              <a:t>Use the currently selected feature subset to construct a classification model</a:t>
            </a:r>
          </a:p>
          <a:p>
            <a:pPr lvl="2"/>
            <a:r>
              <a:rPr lang="en-US" dirty="0"/>
              <a:t>Use the current classification model to update the selected feature subset. </a:t>
            </a:r>
            <a:endParaRPr lang="en-US" altLang="en-US" dirty="0">
              <a:latin typeface="Calibri" panose="020F0502020204030204" pitchFamily="34" charset="0"/>
            </a:endParaRPr>
          </a:p>
          <a:p>
            <a:r>
              <a:rPr lang="en-US" altLang="en-US" b="1" dirty="0">
                <a:latin typeface="Calibri" panose="020F0502020204030204" pitchFamily="34" charset="0"/>
              </a:rPr>
              <a:t>Embedded methods </a:t>
            </a:r>
          </a:p>
          <a:p>
            <a:pPr lvl="1"/>
            <a:r>
              <a:rPr lang="en-US" dirty="0"/>
              <a:t>Simultaneously constructs the classification model and selects the relevant features</a:t>
            </a:r>
          </a:p>
          <a:p>
            <a:pPr lvl="1"/>
            <a:r>
              <a:rPr lang="en-US" dirty="0"/>
              <a:t>Embed the feature selection step during the classification model construction step </a:t>
            </a:r>
          </a:p>
        </p:txBody>
      </p:sp>
    </p:spTree>
    <p:extLst>
      <p:ext uri="{BB962C8B-B14F-4D97-AF65-F5344CB8AC3E}">
        <p14:creationId xmlns:p14="http://schemas.microsoft.com/office/powerpoint/2010/main" val="3888112821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Filter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9D05B0-8D7F-8D45-B878-807AAA8D776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7706" y="1239252"/>
                <a:ext cx="11329221" cy="5295900"/>
              </a:xfrm>
              <a:prstGeom prst="rect">
                <a:avLst/>
              </a:prstGeom>
            </p:spPr>
            <p:txBody>
              <a:bodyPr vert="horz" lIns="91436" tIns="45718" rIns="91436" bIns="45718" rtlCol="0">
                <a:noAutofit/>
              </a:bodyPr>
              <a:lstStyle>
                <a:lvl1pPr marL="341305" indent="-341305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3074" indent="-373053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BD582C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4179" indent="-300023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808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2791" indent="-290506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2971" indent="-274632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7030A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994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29993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499925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69991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en-US" sz="2000" b="1" dirty="0">
                    <a:latin typeface="Calibri" panose="020F0502020204030204" pitchFamily="34" charset="0"/>
                  </a:rPr>
                  <a:t>General Procedure</a:t>
                </a:r>
              </a:p>
              <a:p>
                <a:pPr lvl="1"/>
                <a:r>
                  <a:rPr lang="en-US" altLang="en-US" sz="2000" dirty="0">
                    <a:latin typeface="Calibri" panose="020F0502020204030204" pitchFamily="34" charset="0"/>
                  </a:rPr>
                  <a:t>Selects features based on some goodness measure </a:t>
                </a:r>
              </a:p>
              <a:p>
                <a:pPr lvl="1"/>
                <a:r>
                  <a:rPr lang="en-US" altLang="en-US" sz="2000" dirty="0">
                    <a:latin typeface="Calibri" panose="020F0502020204030204" pitchFamily="34" charset="0"/>
                  </a:rPr>
                  <a:t>Independent of the specific classification model</a:t>
                </a:r>
              </a:p>
              <a:p>
                <a:r>
                  <a:rPr lang="en-US" altLang="en-US" sz="2000" b="1" dirty="0">
                    <a:latin typeface="Calibri" panose="020F0502020204030204" pitchFamily="34" charset="0"/>
                  </a:rPr>
                  <a:t>Fisher Scores</a:t>
                </a:r>
              </a:p>
              <a:p>
                <a:pPr lvl="1"/>
                <a:r>
                  <a:rPr lang="en-US" sz="2000" b="1" dirty="0"/>
                  <a:t>Intuitions</a:t>
                </a:r>
                <a:r>
                  <a:rPr lang="en-US" sz="2000" dirty="0"/>
                  <a:t>: the feature x (e.g., income) is strongly correlated with the class label y (buy computer) if</a:t>
                </a:r>
              </a:p>
              <a:p>
                <a:pPr lvl="2"/>
                <a:r>
                  <a:rPr lang="en-US" sz="2000" dirty="0"/>
                  <a:t>the average income of all customers who buy a computer is significantly different from the average income of all customers who do not buy a computer, </a:t>
                </a:r>
              </a:p>
              <a:p>
                <a:pPr lvl="2"/>
                <a:r>
                  <a:rPr lang="en-US" sz="2000" dirty="0"/>
                  <a:t>all customers who buy a computer share similar income, and </a:t>
                </a:r>
              </a:p>
              <a:p>
                <a:pPr lvl="2"/>
                <a:r>
                  <a:rPr lang="en-US" sz="2000" dirty="0"/>
                  <a:t>all customers who do not buy a computer share similar income.</a:t>
                </a:r>
              </a:p>
              <a:p>
                <a:pPr lvl="1"/>
                <a:r>
                  <a:rPr lang="en-US" sz="2000" b="1" dirty="0"/>
                  <a:t>Details</a:t>
                </a:r>
                <a:endParaRPr lang="en-US" altLang="zh-CN" sz="2000" dirty="0"/>
              </a:p>
              <a:p>
                <a:r>
                  <a:rPr lang="en-US" altLang="en-US" sz="2000" b="1" dirty="0">
                    <a:latin typeface="Calibri" panose="020F0502020204030204" pitchFamily="34" charset="0"/>
                  </a:rPr>
                  <a:t>Other goodness measures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test (for categorical feature); information gain, mutual information.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9D05B0-8D7F-8D45-B878-807AAA8D7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6" y="1239252"/>
                <a:ext cx="11329221" cy="5295900"/>
              </a:xfrm>
              <a:prstGeom prst="rect">
                <a:avLst/>
              </a:prstGeom>
              <a:blipFill>
                <a:blip r:embed="rId3"/>
                <a:stretch>
                  <a:fillRect l="-215" t="-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E926F13-9406-E040-960F-CFC109856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002" y="0"/>
            <a:ext cx="8199998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842E53-1503-174C-9F89-0019E14DF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114" y="4310931"/>
            <a:ext cx="2964766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29150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BC91-320C-661C-E08A-35CB2B3E9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F69602-FCD5-38AD-B418-E9A7DF005CB1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Filter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67480-09FC-FB5F-6646-7476C51CB314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23F0F0-A6F4-5F88-ACE7-439DDCB4C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7" y="1374071"/>
            <a:ext cx="11872686" cy="457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11512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40089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Wrapper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General Procedure </a:t>
            </a:r>
          </a:p>
          <a:p>
            <a:pPr lvl="1"/>
            <a:r>
              <a:rPr lang="en-US" dirty="0"/>
              <a:t>Combines the feature selection and classifier model construction steps together, </a:t>
            </a:r>
          </a:p>
          <a:p>
            <a:pPr lvl="1"/>
            <a:r>
              <a:rPr lang="en-US" dirty="0"/>
              <a:t>Iteratively </a:t>
            </a:r>
          </a:p>
          <a:p>
            <a:pPr lvl="2"/>
            <a:r>
              <a:rPr lang="en-US" dirty="0"/>
              <a:t>Use the currently selected feature subset to construct a classification model</a:t>
            </a:r>
          </a:p>
          <a:p>
            <a:pPr lvl="2"/>
            <a:r>
              <a:rPr lang="en-US" dirty="0"/>
              <a:t>Use the current classification model to update the selected feature subset. </a:t>
            </a:r>
            <a:endParaRPr lang="en-US" altLang="en-US" dirty="0">
              <a:latin typeface="Calibri" panose="020F0502020204030204" pitchFamily="34" charset="0"/>
            </a:endParaRPr>
          </a:p>
          <a:p>
            <a:r>
              <a:rPr lang="en-US" altLang="en-US" b="1" dirty="0">
                <a:latin typeface="Calibri" panose="020F0502020204030204" pitchFamily="34" charset="0"/>
              </a:rPr>
              <a:t>Key: how to search for the best feature subset</a:t>
            </a:r>
          </a:p>
          <a:p>
            <a:pPr lvl="1"/>
            <a:r>
              <a:rPr lang="en-US" dirty="0"/>
              <a:t>Exhaustive search: </a:t>
            </a:r>
            <a:r>
              <a:rPr lang="en-US" i="1" dirty="0"/>
              <a:t>2</a:t>
            </a:r>
            <a:r>
              <a:rPr lang="en-US" i="1" baseline="30000" dirty="0"/>
              <a:t>p</a:t>
            </a:r>
            <a:r>
              <a:rPr lang="en-US" i="1" dirty="0"/>
              <a:t>-1 </a:t>
            </a:r>
            <a:r>
              <a:rPr lang="en-US" dirty="0"/>
              <a:t>(exponential)</a:t>
            </a:r>
          </a:p>
          <a:p>
            <a:pPr lvl="1"/>
            <a:r>
              <a:rPr lang="en-US" dirty="0"/>
              <a:t>Stepwise forward selection: </a:t>
            </a:r>
          </a:p>
          <a:p>
            <a:pPr lvl="2"/>
            <a:r>
              <a:rPr lang="en-US" dirty="0"/>
              <a:t>Start with an empty feature subset. </a:t>
            </a:r>
          </a:p>
          <a:p>
            <a:pPr lvl="2"/>
            <a:r>
              <a:rPr lang="en-US" dirty="0"/>
              <a:t>At each iteration, select an additional feature to improve performance most</a:t>
            </a:r>
          </a:p>
          <a:p>
            <a:pPr lvl="1"/>
            <a:r>
              <a:rPr lang="en-US" dirty="0"/>
              <a:t>Stepwise backward elimination: start with the full set, eliminate one feature at a time</a:t>
            </a:r>
          </a:p>
          <a:p>
            <a:pPr lvl="1"/>
            <a:r>
              <a:rPr lang="en-US" dirty="0"/>
              <a:t>Hybrid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6D0EE-11D1-764D-984D-F08343046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719" y="120876"/>
            <a:ext cx="7443569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8536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385532-5FE1-9740-B5A4-393CD03BC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674" y="3161636"/>
            <a:ext cx="8278837" cy="10058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Embedded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General Procedure </a:t>
            </a:r>
          </a:p>
          <a:p>
            <a:pPr lvl="1"/>
            <a:r>
              <a:rPr lang="en-US" dirty="0"/>
              <a:t>Simultaneously constructs the classification model and selects the relevant features</a:t>
            </a:r>
          </a:p>
          <a:p>
            <a:pPr lvl="1"/>
            <a:r>
              <a:rPr lang="en-US" dirty="0"/>
              <a:t>Embed the feature selection step during the classification model construction step</a:t>
            </a:r>
          </a:p>
          <a:p>
            <a:r>
              <a:rPr lang="en-US" b="1" dirty="0"/>
              <a:t>LASSO</a:t>
            </a:r>
            <a:r>
              <a:rPr lang="en-US" dirty="0"/>
              <a:t>: Least Absolute Shrinkage and Selection Operator </a:t>
            </a:r>
          </a:p>
          <a:p>
            <a:pPr lvl="1"/>
            <a:r>
              <a:rPr lang="en-US" dirty="0"/>
              <a:t>Model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Training: Coordinate descent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92E46-74A7-2643-A7F0-3344B911F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26" y="0"/>
            <a:ext cx="5615489" cy="1645920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FE9A3C0B-AB31-D247-98D8-041890E63CC2}"/>
              </a:ext>
            </a:extLst>
          </p:cNvPr>
          <p:cNvSpPr/>
          <p:nvPr/>
        </p:nvSpPr>
        <p:spPr>
          <a:xfrm rot="5400000">
            <a:off x="7759135" y="3428791"/>
            <a:ext cx="416034" cy="176934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83AEE-623F-414D-83D2-929CEFA25CE2}"/>
              </a:ext>
            </a:extLst>
          </p:cNvPr>
          <p:cNvSpPr txBox="1"/>
          <p:nvPr/>
        </p:nvSpPr>
        <p:spPr>
          <a:xfrm>
            <a:off x="6723863" y="4672569"/>
            <a:ext cx="248657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Goodness of prediction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63BBC68-F5AE-664C-810D-8A792FFFB1AE}"/>
              </a:ext>
            </a:extLst>
          </p:cNvPr>
          <p:cNvSpPr/>
          <p:nvPr/>
        </p:nvSpPr>
        <p:spPr>
          <a:xfrm rot="5400000">
            <a:off x="9932678" y="3791185"/>
            <a:ext cx="244274" cy="84841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8BD20-BD13-9D48-BE98-765ED7711809}"/>
              </a:ext>
            </a:extLst>
          </p:cNvPr>
          <p:cNvSpPr txBox="1"/>
          <p:nvPr/>
        </p:nvSpPr>
        <p:spPr>
          <a:xfrm>
            <a:off x="9210441" y="4521482"/>
            <a:ext cx="256929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(convex) approximation </a:t>
            </a:r>
          </a:p>
          <a:p>
            <a:r>
              <a:rPr lang="en-US" dirty="0">
                <a:solidFill>
                  <a:srgbClr val="FF0000"/>
                </a:solidFill>
              </a:rPr>
              <a:t>of # of selected features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A2EB37-8698-9649-88E3-BF02AC93A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803" y="4721636"/>
            <a:ext cx="2898541" cy="1898543"/>
          </a:xfrm>
          <a:prstGeom prst="rect">
            <a:avLst/>
          </a:prstGeom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62B9590A-B639-BC69-16CD-C783CA78E526}"/>
              </a:ext>
            </a:extLst>
          </p:cNvPr>
          <p:cNvSpPr/>
          <p:nvPr/>
        </p:nvSpPr>
        <p:spPr>
          <a:xfrm>
            <a:off x="8505894" y="2559286"/>
            <a:ext cx="3491033" cy="629124"/>
          </a:xfrm>
          <a:prstGeom prst="wedgeEllipseCallout">
            <a:avLst>
              <a:gd name="adj1" fmla="val -20361"/>
              <a:gd name="adj2" fmla="val 6315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2F8A53-B9C9-B39D-4384-5359ED5D7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4722" y="2678198"/>
            <a:ext cx="2373375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761996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endParaRPr lang="en-US" altLang="en-US" dirty="0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 dirty="0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 dirty="0">
              <a:solidFill>
                <a:srgbClr val="000000"/>
              </a:solidFill>
              <a:latin typeface="Arial"/>
            </a:endParaRPr>
          </a:p>
          <a:p>
            <a:pPr defTabSz="914400"/>
            <a:endParaRPr lang="en-US" alt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Descent: Minimize </a:t>
            </a:r>
            <a:r>
              <a:rPr lang="en-US" i="1" dirty="0"/>
              <a:t>f(x)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i="1" dirty="0"/>
              <a:t>f(x)</a:t>
            </a:r>
            <a:r>
              <a:rPr lang="en-US" dirty="0"/>
              <a:t> is convex and smooth </a:t>
            </a:r>
            <a:r>
              <a:rPr lang="en-US" dirty="0">
                <a:sym typeface="Wingdings" pitchFamily="2" charset="2"/>
              </a:rPr>
              <a:t> global minima</a:t>
            </a:r>
          </a:p>
          <a:p>
            <a:r>
              <a:rPr lang="en-US" dirty="0">
                <a:sym typeface="Wingdings" pitchFamily="2" charset="2"/>
              </a:rPr>
              <a:t>If </a:t>
            </a:r>
            <a:r>
              <a:rPr lang="en-US" i="1" dirty="0">
                <a:sym typeface="Wingdings" pitchFamily="2" charset="2"/>
              </a:rPr>
              <a:t>f(x)</a:t>
            </a:r>
            <a:r>
              <a:rPr lang="en-US" dirty="0">
                <a:sym typeface="Wingdings" pitchFamily="2" charset="2"/>
              </a:rPr>
              <a:t> is convex but not differential  no guarantee on optimality</a:t>
            </a:r>
          </a:p>
          <a:p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If 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f(x)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is convex but not differential, but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separable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 global minima</a:t>
            </a:r>
          </a:p>
          <a:p>
            <a:pPr lvl="1"/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g(x): convex and smooth</a:t>
            </a:r>
          </a:p>
          <a:p>
            <a:pPr lvl="1"/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Each 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h</a:t>
            </a:r>
            <a:r>
              <a:rPr lang="en-US" i="1" baseline="-25000" dirty="0">
                <a:solidFill>
                  <a:srgbClr val="FF0000"/>
                </a:solidFill>
                <a:sym typeface="Wingdings" pitchFamily="2" charset="2"/>
              </a:rPr>
              <a:t>i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(x)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: convex (but maybe non-smooth)</a:t>
            </a:r>
          </a:p>
          <a:p>
            <a:endParaRPr lang="en-US" dirty="0"/>
          </a:p>
        </p:txBody>
      </p:sp>
      <p:pic>
        <p:nvPicPr>
          <p:cNvPr id="5959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091" y="3112838"/>
            <a:ext cx="4114800" cy="324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08295A-862E-BC48-89CE-4C3035622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337" y="4075774"/>
            <a:ext cx="35052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37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385532-5FE1-9740-B5A4-393CD03BC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447" y="1671186"/>
            <a:ext cx="8278837" cy="10058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Coordinate Descent for Lasso</a:t>
            </a: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67706" y="1239252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LASSO</a:t>
            </a:r>
            <a:r>
              <a:rPr lang="en-US" dirty="0"/>
              <a:t>: Least Absolute Shrinkage and Selection Operator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Training: at each iteration, update one coefficient (</a:t>
            </a:r>
            <a:r>
              <a:rPr lang="en-US" i="1" dirty="0" err="1"/>
              <a:t>w</a:t>
            </a:r>
            <a:r>
              <a:rPr lang="en-US" i="1" baseline="-25000" dirty="0" err="1"/>
              <a:t>t</a:t>
            </a:r>
            <a:r>
              <a:rPr lang="en-US" dirty="0"/>
              <a:t>) while fixing others</a:t>
            </a:r>
          </a:p>
          <a:p>
            <a:pPr lvl="2"/>
            <a:r>
              <a:rPr lang="en-US" dirty="0"/>
              <a:t>Solve a least square regression problem, single dimension input (</a:t>
            </a:r>
            <a:r>
              <a:rPr lang="en-US" dirty="0" err="1"/>
              <a:t>x</a:t>
            </a:r>
            <a:r>
              <a:rPr lang="en-US" baseline="-25000" dirty="0" err="1"/>
              <a:t>i,t</a:t>
            </a:r>
            <a:r>
              <a:rPr lang="en-US" dirty="0"/>
              <a:t>) and output r</a:t>
            </a:r>
            <a:endParaRPr lang="en-US" baseline="-25000" dirty="0"/>
          </a:p>
          <a:p>
            <a:pPr lvl="2"/>
            <a:endParaRPr lang="en-US" baseline="-25000" dirty="0"/>
          </a:p>
          <a:p>
            <a:pPr lvl="2"/>
            <a:endParaRPr lang="en-US" baseline="-25000" dirty="0"/>
          </a:p>
          <a:p>
            <a:pPr lvl="2"/>
            <a:endParaRPr lang="en-US" baseline="-25000" dirty="0"/>
          </a:p>
          <a:p>
            <a:pPr lvl="2"/>
            <a:endParaRPr lang="en-US" baseline="-25000" dirty="0"/>
          </a:p>
          <a:p>
            <a:pPr lvl="2"/>
            <a:endParaRPr lang="en-US" baseline="-25000" dirty="0"/>
          </a:p>
          <a:p>
            <a:pPr lvl="2"/>
            <a:r>
              <a:rPr lang="en-US" dirty="0"/>
              <a:t>Solve the following optimization problem (quadratic, single variable)</a:t>
            </a:r>
          </a:p>
          <a:p>
            <a:pPr lvl="2"/>
            <a:endParaRPr lang="en-US" baseline="-25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AD0B71-D95E-DD4F-9BA0-A80356252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855" y="3499852"/>
            <a:ext cx="5059180" cy="822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6044FF-5833-EC4A-9AE6-1BE26D2CF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285" y="4322812"/>
            <a:ext cx="4846320" cy="695684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C295D3C-3A65-7541-96C8-B4EB06E365F3}"/>
              </a:ext>
            </a:extLst>
          </p:cNvPr>
          <p:cNvSpPr/>
          <p:nvPr/>
        </p:nvSpPr>
        <p:spPr>
          <a:xfrm>
            <a:off x="4644190" y="4172952"/>
            <a:ext cx="360947" cy="3368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3F1A02-DCA9-114B-B546-9A794A5BADBB}"/>
              </a:ext>
            </a:extLst>
          </p:cNvPr>
          <p:cNvSpPr/>
          <p:nvPr/>
        </p:nvSpPr>
        <p:spPr>
          <a:xfrm>
            <a:off x="6621724" y="4086725"/>
            <a:ext cx="360947" cy="3368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2F86BE-EF4D-074C-A1D4-B9218D304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308" y="5624628"/>
            <a:ext cx="3860800" cy="67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D72CD5-9F3A-8C28-1029-2D5FB40C7D43}"/>
              </a:ext>
            </a:extLst>
          </p:cNvPr>
          <p:cNvSpPr txBox="1"/>
          <p:nvPr/>
        </p:nvSpPr>
        <p:spPr>
          <a:xfrm>
            <a:off x="1849420" y="6367790"/>
            <a:ext cx="374076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each feature is normalized: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1BF2CD-1BF6-B4B4-B52B-5AF5B3A6B1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671" y="6269598"/>
            <a:ext cx="3219899" cy="58110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0A4458-6BD6-38F4-A1A2-6BF356795435}"/>
              </a:ext>
            </a:extLst>
          </p:cNvPr>
          <p:cNvSpPr/>
          <p:nvPr/>
        </p:nvSpPr>
        <p:spPr>
          <a:xfrm>
            <a:off x="1794933" y="6421120"/>
            <a:ext cx="6893637" cy="331391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150575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Coordinate Descent for Lasso</a:t>
            </a: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dirty="0"/>
              <a:t>Solve the following optimization problem (quadratic, single variable)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Solution: soft-thresholding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Intuition: push the magnitude of         toward 0</a:t>
            </a:r>
          </a:p>
          <a:p>
            <a:pPr lvl="2"/>
            <a:endParaRPr lang="en-US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295D3C-3A65-7541-96C8-B4EB06E365F3}"/>
              </a:ext>
            </a:extLst>
          </p:cNvPr>
          <p:cNvSpPr/>
          <p:nvPr/>
        </p:nvSpPr>
        <p:spPr>
          <a:xfrm>
            <a:off x="4644190" y="4172952"/>
            <a:ext cx="360947" cy="3368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3F1A02-DCA9-114B-B546-9A794A5BADBB}"/>
              </a:ext>
            </a:extLst>
          </p:cNvPr>
          <p:cNvSpPr/>
          <p:nvPr/>
        </p:nvSpPr>
        <p:spPr>
          <a:xfrm>
            <a:off x="6621724" y="4086725"/>
            <a:ext cx="360947" cy="3368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2F86BE-EF4D-074C-A1D4-B9218D304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166" y="1850555"/>
            <a:ext cx="3860800" cy="67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5C7392-19BB-E844-ACC2-C1101E999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021" y="5692339"/>
            <a:ext cx="431800" cy="43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B755C7-F836-5148-9CF7-E95374660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437" y="3336938"/>
            <a:ext cx="4754880" cy="1836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DD78BA-2409-2F42-B6DE-795695F3C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7399" y="2878493"/>
            <a:ext cx="4846320" cy="25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0639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AD8E553-7888-B542-B4CB-2E08C80EE80E}"/>
              </a:ext>
            </a:extLst>
          </p:cNvPr>
          <p:cNvGrpSpPr/>
          <p:nvPr/>
        </p:nvGrpSpPr>
        <p:grpSpPr>
          <a:xfrm>
            <a:off x="1139261" y="2533273"/>
            <a:ext cx="5144929" cy="3534518"/>
            <a:chOff x="288761" y="1808059"/>
            <a:chExt cx="5144929" cy="353451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716B88F-8620-FB42-8C73-7A2514046AC7}"/>
                </a:ext>
              </a:extLst>
            </p:cNvPr>
            <p:cNvSpPr/>
            <p:nvPr/>
          </p:nvSpPr>
          <p:spPr>
            <a:xfrm>
              <a:off x="1347540" y="1987729"/>
              <a:ext cx="2767263" cy="2122392"/>
            </a:xfrm>
            <a:custGeom>
              <a:avLst/>
              <a:gdLst>
                <a:gd name="connsiteX0" fmla="*/ 0 w 2767263"/>
                <a:gd name="connsiteY0" fmla="*/ 0 h 2122392"/>
                <a:gd name="connsiteX1" fmla="*/ 914400 w 2767263"/>
                <a:gd name="connsiteY1" fmla="*/ 1780674 h 2122392"/>
                <a:gd name="connsiteX2" fmla="*/ 1491916 w 2767263"/>
                <a:gd name="connsiteY2" fmla="*/ 1973179 h 2122392"/>
                <a:gd name="connsiteX3" fmla="*/ 2767263 w 2767263"/>
                <a:gd name="connsiteY3" fmla="*/ 96253 h 21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7263" h="2122392">
                  <a:moveTo>
                    <a:pt x="0" y="0"/>
                  </a:moveTo>
                  <a:cubicBezTo>
                    <a:pt x="332873" y="725905"/>
                    <a:pt x="665747" y="1451811"/>
                    <a:pt x="914400" y="1780674"/>
                  </a:cubicBezTo>
                  <a:cubicBezTo>
                    <a:pt x="1163053" y="2109537"/>
                    <a:pt x="1183106" y="2253916"/>
                    <a:pt x="1491916" y="1973179"/>
                  </a:cubicBezTo>
                  <a:cubicBezTo>
                    <a:pt x="1800727" y="1692442"/>
                    <a:pt x="2283995" y="894347"/>
                    <a:pt x="2767263" y="96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BB8E3AE-F429-DA41-841F-F5EAC14E27F5}"/>
                </a:ext>
              </a:extLst>
            </p:cNvPr>
            <p:cNvCxnSpPr/>
            <p:nvPr/>
          </p:nvCxnSpPr>
          <p:spPr>
            <a:xfrm>
              <a:off x="288761" y="4764505"/>
              <a:ext cx="382604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748CC15-2BD7-374D-83A7-7681989B7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9937" y="1808059"/>
              <a:ext cx="0" cy="34731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46B5940-3B49-1C4A-89A4-CA813B4D8E56}"/>
                </a:ext>
              </a:extLst>
            </p:cNvPr>
            <p:cNvSpPr/>
            <p:nvPr/>
          </p:nvSpPr>
          <p:spPr>
            <a:xfrm>
              <a:off x="1917031" y="4656221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A70491-8743-B24D-9417-C399D39C8FE6}"/>
                </a:ext>
              </a:extLst>
            </p:cNvPr>
            <p:cNvSpPr/>
            <p:nvPr/>
          </p:nvSpPr>
          <p:spPr>
            <a:xfrm>
              <a:off x="901212" y="4656221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4BEDE05-4912-074F-994B-47222E453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0621" y="4872790"/>
              <a:ext cx="289206" cy="36576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77FD9F5-0A30-FD40-994D-56575513B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983" y="4884321"/>
              <a:ext cx="475488" cy="36576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618884F-3D2C-3E45-B630-6B35A76A7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1277" y="4164263"/>
              <a:ext cx="331736" cy="3657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DF6DC9E-CB34-3046-8051-83AF0E994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7470" y="4122731"/>
              <a:ext cx="884629" cy="36576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6E3A97E-D67B-AB41-8402-0A4B2F4B9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5834" y="4164263"/>
              <a:ext cx="781722" cy="365760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73EF034-16CD-5845-9F3F-75C43FAFFEFD}"/>
                </a:ext>
              </a:extLst>
            </p:cNvPr>
            <p:cNvCxnSpPr>
              <a:cxnSpLocks/>
            </p:cNvCxnSpPr>
            <p:nvPr/>
          </p:nvCxnSpPr>
          <p:spPr>
            <a:xfrm>
              <a:off x="2557145" y="4132731"/>
              <a:ext cx="7315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EA65D45-C412-504B-BAAC-8C9ADEB9C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9342" y="4129641"/>
              <a:ext cx="7315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7982436-E7E3-B740-9EF4-C735684955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0626" t="11082" r="28130" b="7129"/>
            <a:stretch/>
          </p:blipFill>
          <p:spPr>
            <a:xfrm>
              <a:off x="3841373" y="2644908"/>
              <a:ext cx="1592317" cy="55051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5230DB3-EDDF-6644-B87E-AD0F26678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52853" y="4809177"/>
              <a:ext cx="723900" cy="533400"/>
            </a:xfrm>
            <a:prstGeom prst="rect">
              <a:avLst/>
            </a:prstGeom>
          </p:spPr>
        </p:pic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325D94CB-AE78-7240-B882-AF0E49284B62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Soft Thresholding</a:t>
            </a:r>
            <a:endParaRPr lang="en-US" alt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AA84D89-0C50-B84E-8026-8AA754B1B3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7399" y="3304165"/>
            <a:ext cx="4846320" cy="25889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F035DD0-2DE1-244E-9D58-1998C3B9A6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9913" y="1583693"/>
            <a:ext cx="3860800" cy="673100"/>
          </a:xfrm>
          <a:prstGeom prst="rect">
            <a:avLst/>
          </a:prstGeom>
        </p:spPr>
      </p:pic>
      <p:sp>
        <p:nvSpPr>
          <p:cNvPr id="28" name="Rectangle 3">
            <a:extLst>
              <a:ext uri="{FF2B5EF4-FFF2-40B4-BE49-F238E27FC236}">
                <a16:creationId xmlns:a16="http://schemas.microsoft.com/office/drawing/2014/main" id="{1E8DE2CC-D6B2-A642-93F3-A38008C0F3CF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802929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dirty="0"/>
              <a:t>Solve the following optimization problem (quadratic, single variable)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844D9232-A47C-6447-B7F5-9ACE987B96CB}"/>
              </a:ext>
            </a:extLst>
          </p:cNvPr>
          <p:cNvSpPr/>
          <p:nvPr/>
        </p:nvSpPr>
        <p:spPr>
          <a:xfrm>
            <a:off x="5720713" y="4414345"/>
            <a:ext cx="869273" cy="42099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24062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FE1CE4-254E-FD4F-95CF-4EF93989DDC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Beyond Lasso: Sparse Learning</a:t>
            </a: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D05B0-8D7F-8D45-B878-807AAA8D7760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dirty="0"/>
              <a:t>Elastic net: L1+L2 regularization (i.e., ridge + lasso)</a:t>
            </a:r>
          </a:p>
          <a:p>
            <a:pPr lvl="1"/>
            <a:endParaRPr lang="en-US" sz="700" dirty="0"/>
          </a:p>
          <a:p>
            <a:pPr lvl="1"/>
            <a:endParaRPr lang="en-US" dirty="0"/>
          </a:p>
          <a:p>
            <a:pPr lvl="1"/>
            <a:r>
              <a:rPr lang="en-US" dirty="0"/>
              <a:t>Group Lasso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Encourage a group of features to be unselected simultaneously</a:t>
            </a:r>
          </a:p>
          <a:p>
            <a:pPr lvl="2"/>
            <a:r>
              <a:rPr lang="en-US" dirty="0"/>
              <a:t> </a:t>
            </a:r>
            <a:r>
              <a:rPr lang="en-US" i="1" dirty="0" err="1"/>
              <a:t>w</a:t>
            </a:r>
            <a:r>
              <a:rPr lang="en-US" i="1" baseline="-25000" dirty="0" err="1"/>
              <a:t>j</a:t>
            </a:r>
            <a:r>
              <a:rPr lang="en-US" dirty="0"/>
              <a:t> : coefficient vector for a group of features (group </a:t>
            </a:r>
            <a:r>
              <a:rPr lang="en-US" i="1" dirty="0"/>
              <a:t>j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 norm within each group; L</a:t>
            </a:r>
            <a:r>
              <a:rPr lang="en-US" baseline="-25000" dirty="0"/>
              <a:t>1</a:t>
            </a:r>
            <a:r>
              <a:rPr lang="en-US" dirty="0"/>
              <a:t> norm across groups</a:t>
            </a:r>
          </a:p>
          <a:p>
            <a:pPr lvl="1"/>
            <a:r>
              <a:rPr lang="en-US" dirty="0"/>
              <a:t>Fused Lasso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Encourage co-select (or co-un-select) adjacent features</a:t>
            </a:r>
          </a:p>
          <a:p>
            <a:pPr lvl="1"/>
            <a:r>
              <a:rPr lang="en-US" dirty="0"/>
              <a:t>Many more: e.g., graph-guided lasso, graphical lasso, matrix completion</a:t>
            </a:r>
          </a:p>
          <a:p>
            <a:pPr lvl="2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3E9CAC-2B79-5A46-B0DC-B054A7F30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090" y="1671141"/>
            <a:ext cx="51562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A4D647-AF1D-224C-AC18-FD61154F5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14" y="2339920"/>
            <a:ext cx="5003800" cy="787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434313-305D-5F4F-B675-0664DD8C1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340" y="4590747"/>
            <a:ext cx="67437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45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68C6-59D9-A975-979B-3D2DCC68F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68AE9F-F4C7-B211-69A1-9557448CA85A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Dimensionality reduction</a:t>
            </a:r>
            <a:r>
              <a:rPr lang="en-US" altLang="zh-CN" b="1" dirty="0">
                <a:effectLst/>
              </a:rPr>
              <a:t> : </a:t>
            </a:r>
            <a:r>
              <a:rPr lang="en-US" altLang="zh-CN" b="1" dirty="0" err="1">
                <a:effectLst/>
              </a:rPr>
              <a:t>AutoEncoder</a:t>
            </a:r>
            <a:r>
              <a:rPr lang="en-US" altLang="zh-CN" b="1" dirty="0">
                <a:effectLst/>
              </a:rPr>
              <a:t>, AE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3BCAC2-75FB-ED94-B6C9-A44AF72382D0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156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4E313DB-2B1C-50DD-3C5B-1118AAF8DE05}"/>
              </a:ext>
            </a:extLst>
          </p:cNvPr>
          <p:cNvSpPr txBox="1">
            <a:spLocks noChangeArrowheads="1"/>
          </p:cNvSpPr>
          <p:nvPr/>
        </p:nvSpPr>
        <p:spPr>
          <a:xfrm>
            <a:off x="371355" y="869373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altLang="zh-CN" dirty="0"/>
              <a:t>Encoder,</a:t>
            </a:r>
            <a:r>
              <a:rPr lang="zh-CN" altLang="en-US" dirty="0"/>
              <a:t> </a:t>
            </a:r>
            <a:r>
              <a:rPr lang="en-US" altLang="zh-CN" dirty="0"/>
              <a:t>Decoder</a:t>
            </a:r>
          </a:p>
          <a:p>
            <a:pPr lvl="1"/>
            <a:r>
              <a:rPr lang="en-US" altLang="zh-CN" dirty="0"/>
              <a:t>Lossy encoding</a:t>
            </a:r>
          </a:p>
          <a:p>
            <a:pPr lvl="1"/>
            <a:r>
              <a:rPr lang="en-US" altLang="zh-CN" dirty="0" err="1"/>
              <a:t>AutoEncoder</a:t>
            </a:r>
            <a:endParaRPr lang="en-US" altLang="zh-CN" dirty="0"/>
          </a:p>
        </p:txBody>
      </p:sp>
      <p:pic>
        <p:nvPicPr>
          <p:cNvPr id="1028" name="Picture 4" descr="在这里插入图片描述">
            <a:extLst>
              <a:ext uri="{FF2B5EF4-FFF2-40B4-BE49-F238E27FC236}">
                <a16:creationId xmlns:a16="http://schemas.microsoft.com/office/drawing/2014/main" id="{B46D1AC7-3075-7C92-8E5D-ACE421A3E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521" y="1218911"/>
            <a:ext cx="9380479" cy="512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064050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05DC-AE12-C385-AC28-466028BF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277728-45E1-7209-F914-EC530D8848CB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Dimensionality reduction</a:t>
            </a:r>
            <a:r>
              <a:rPr lang="en-US" altLang="zh-CN" b="1" dirty="0">
                <a:effectLst/>
              </a:rPr>
              <a:t> : PCA vs AE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2951F-2D79-67CC-AD29-244E284559B0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156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6F6D66-E3D5-8127-4747-8347E23552D3}"/>
              </a:ext>
            </a:extLst>
          </p:cNvPr>
          <p:cNvSpPr txBox="1">
            <a:spLocks noChangeArrowheads="1"/>
          </p:cNvSpPr>
          <p:nvPr/>
        </p:nvSpPr>
        <p:spPr>
          <a:xfrm>
            <a:off x="371355" y="869373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endParaRPr lang="en-US" dirty="0"/>
          </a:p>
        </p:txBody>
      </p:sp>
      <p:pic>
        <p:nvPicPr>
          <p:cNvPr id="2052" name="Picture 4" descr="在这里插入图片描述">
            <a:extLst>
              <a:ext uri="{FF2B5EF4-FFF2-40B4-BE49-F238E27FC236}">
                <a16:creationId xmlns:a16="http://schemas.microsoft.com/office/drawing/2014/main" id="{753362D3-AEAD-6A2C-5C2B-33EE0BA74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62" y="1275493"/>
            <a:ext cx="11134005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463330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64E97-23B1-50A9-40DF-01E4F7685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8A27D6-2143-1108-6B56-76CF2BFF43C7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zh-CN" b="1" dirty="0">
                <a:effectLst/>
              </a:rPr>
              <a:t>Variational </a:t>
            </a:r>
            <a:r>
              <a:rPr lang="en-US" altLang="zh-CN" b="1" dirty="0" err="1">
                <a:effectLst/>
              </a:rPr>
              <a:t>AutoEncoder</a:t>
            </a:r>
            <a:r>
              <a:rPr lang="en-US" altLang="zh-CN" b="1" dirty="0">
                <a:effectLst/>
              </a:rPr>
              <a:t>, VAE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7B0A7-B246-BFF6-B59F-59D50C199B35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156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7FAFD70-0E4A-63AB-1CDA-3EA2569B5CA8}"/>
              </a:ext>
            </a:extLst>
          </p:cNvPr>
          <p:cNvSpPr txBox="1">
            <a:spLocks noChangeArrowheads="1"/>
          </p:cNvSpPr>
          <p:nvPr/>
        </p:nvSpPr>
        <p:spPr>
          <a:xfrm>
            <a:off x="371355" y="869373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1" lvl="1" indent="0">
              <a:buNone/>
            </a:pPr>
            <a:endParaRPr lang="zh-CN" altLang="en-US" dirty="0"/>
          </a:p>
          <a:p>
            <a:pPr lvl="1"/>
            <a:endParaRPr lang="en-US" sz="7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3FF2E66-0945-8F96-CBC5-3EE8B1AAC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50" y="1543352"/>
            <a:ext cx="10159411" cy="507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282175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D810E-46BD-2C7D-DB04-4F7F241C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8A9419-654D-D7E1-1E8F-ACBE24C9F5CB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zh-CN" b="1" dirty="0">
                <a:effectLst/>
              </a:rPr>
              <a:t>Variational </a:t>
            </a:r>
            <a:r>
              <a:rPr lang="en-US" altLang="zh-CN" b="1" dirty="0" err="1">
                <a:effectLst/>
              </a:rPr>
              <a:t>AutoEncoder</a:t>
            </a:r>
            <a:r>
              <a:rPr lang="en-US" altLang="zh-CN" b="1" dirty="0">
                <a:effectLst/>
              </a:rPr>
              <a:t>, VAE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23EF3-FA62-A828-D8E8-44F07C4BD8BA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156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300007-E378-6650-8835-BE1C3C9BD3A7}"/>
              </a:ext>
            </a:extLst>
          </p:cNvPr>
          <p:cNvSpPr txBox="1">
            <a:spLocks noChangeArrowheads="1"/>
          </p:cNvSpPr>
          <p:nvPr/>
        </p:nvSpPr>
        <p:spPr>
          <a:xfrm>
            <a:off x="371355" y="869373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A9F5F34-6FE0-00C8-CB24-D27F2D342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85" y="2428549"/>
            <a:ext cx="9040787" cy="4142844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45ADC6B-DA68-CE63-CA3F-9F35626A570B}"/>
              </a:ext>
            </a:extLst>
          </p:cNvPr>
          <p:cNvSpPr txBox="1">
            <a:spLocks noChangeArrowheads="1"/>
          </p:cNvSpPr>
          <p:nvPr/>
        </p:nvSpPr>
        <p:spPr>
          <a:xfrm>
            <a:off x="491424" y="1249251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altLang="zh-CN" dirty="0"/>
              <a:t>VAE as generative model</a:t>
            </a:r>
          </a:p>
        </p:txBody>
      </p:sp>
    </p:spTree>
    <p:extLst>
      <p:ext uri="{BB962C8B-B14F-4D97-AF65-F5344CB8AC3E}">
        <p14:creationId xmlns:p14="http://schemas.microsoft.com/office/powerpoint/2010/main" val="4166463492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E40F5-EF9B-2083-5647-6ACC0D0F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FFCDDD-26EC-EAA5-76DE-1769C4EC4B2D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zh-CN" b="1" dirty="0">
                <a:effectLst/>
              </a:rPr>
              <a:t>Generative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AD594-A7C9-8ED7-57BD-9ED71DFC6FAF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156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19E46C1-F597-BEE9-E6DE-351E0FFE2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510" y="1344811"/>
            <a:ext cx="7606452" cy="526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022260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56C9-F6AC-FD20-E4E9-A74DEEFB8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FCFEC8-F2E6-347E-6558-6FAA282312F0}"/>
              </a:ext>
            </a:extLst>
          </p:cNvPr>
          <p:cNvSpPr txBox="1">
            <a:spLocks noChangeArrowheads="1"/>
          </p:cNvSpPr>
          <p:nvPr/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zh-CN" b="1" dirty="0">
                <a:effectLst/>
              </a:rPr>
              <a:t>Generative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4A4028-E4F7-1039-A351-59FD5937B16A}"/>
              </a:ext>
            </a:extLst>
          </p:cNvPr>
          <p:cNvSpPr txBox="1">
            <a:spLocks noChangeArrowheads="1"/>
          </p:cNvSpPr>
          <p:nvPr/>
        </p:nvSpPr>
        <p:spPr>
          <a:xfrm>
            <a:off x="619580" y="960586"/>
            <a:ext cx="11329221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156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4075994-B5E1-33ED-A3F0-B186ADFC0915}"/>
              </a:ext>
            </a:extLst>
          </p:cNvPr>
          <p:cNvSpPr txBox="1">
            <a:spLocks noChangeArrowheads="1"/>
          </p:cNvSpPr>
          <p:nvPr/>
        </p:nvSpPr>
        <p:spPr>
          <a:xfrm>
            <a:off x="6284190" y="2424729"/>
            <a:ext cx="3117015" cy="529590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baseline="-25000" dirty="0"/>
          </a:p>
          <a:p>
            <a:pPr lvl="1"/>
            <a:r>
              <a:rPr lang="en-US" altLang="zh-CN" dirty="0"/>
              <a:t>Auto Regressive</a:t>
            </a:r>
          </a:p>
          <a:p>
            <a:pPr lvl="1"/>
            <a:r>
              <a:rPr lang="en-US" altLang="zh-CN" b="1" dirty="0"/>
              <a:t>Flow Matching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87C718A-3D81-FF4B-4D12-515896DE8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69" y="4340201"/>
            <a:ext cx="10857116" cy="235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DD0BEEB-3B9D-DC81-4122-AABA558AD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80" y="1392222"/>
            <a:ext cx="5583247" cy="261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34230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404814"/>
            <a:ext cx="7010400" cy="52863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Summary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8394" y="1196789"/>
            <a:ext cx="10995212" cy="559331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en-US" sz="2200" dirty="0"/>
              <a:t>Dimensionality reduction methodologies</a:t>
            </a:r>
          </a:p>
          <a:p>
            <a:pPr lvl="1">
              <a:spcAft>
                <a:spcPts val="600"/>
              </a:spcAft>
            </a:pPr>
            <a:r>
              <a:rPr lang="en-US" altLang="en-US" sz="2200" dirty="0"/>
              <a:t>Principal Component Analysis (PCA), attribute subset selection, and nonlinear dimensionality reduction</a:t>
            </a:r>
          </a:p>
          <a:p>
            <a:pPr lvl="1">
              <a:spcAft>
                <a:spcPts val="600"/>
              </a:spcAft>
            </a:pPr>
            <a:endParaRPr lang="en-US" altLang="en-US" sz="22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400" dirty="0"/>
              <a:t>Feature Selection: Filter methods, wrapper methods and embedded methods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en-US" sz="2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 err="1"/>
              <a:t>AutoEncoder</a:t>
            </a:r>
            <a:r>
              <a:rPr lang="en-US" altLang="zh-CN" sz="2400" dirty="0"/>
              <a:t>, Variational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en-US" sz="2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400" dirty="0"/>
              <a:t>Generative Models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400" dirty="0"/>
          </a:p>
          <a:p>
            <a:pPr>
              <a:spcAft>
                <a:spcPts val="600"/>
              </a:spcAft>
            </a:pPr>
            <a:endParaRPr lang="en-US" altLang="en-US" sz="2400" dirty="0"/>
          </a:p>
          <a:p>
            <a:pPr>
              <a:spcAft>
                <a:spcPts val="600"/>
              </a:spcAft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961465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22066</TotalTime>
  <Words>2054</Words>
  <Application>Microsoft Office PowerPoint</Application>
  <PresentationFormat>宽屏</PresentationFormat>
  <Paragraphs>298</Paragraphs>
  <Slides>35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CMR10</vt:lpstr>
      <vt:lpstr>Arial</vt:lpstr>
      <vt:lpstr>Berlin Sans FB Demi</vt:lpstr>
      <vt:lpstr>Calibri</vt:lpstr>
      <vt:lpstr>Cambria Math</vt:lpstr>
      <vt:lpstr>Symbol</vt:lpstr>
      <vt:lpstr>Times New Roman</vt:lpstr>
      <vt:lpstr>Wingdings</vt:lpstr>
      <vt:lpstr>Retrospect</vt:lpstr>
      <vt:lpstr>Chapter 2. Data, Measurements, and Data Preprocessing</vt:lpstr>
      <vt:lpstr>Dimensionality Reduction</vt:lpstr>
      <vt:lpstr>What Is Dimensionality Reduction?</vt:lpstr>
      <vt:lpstr>Dimensionality Reduction Methods</vt:lpstr>
      <vt:lpstr>Principal Component Analysis (PCA)</vt:lpstr>
      <vt:lpstr>Principal Component Analysis (Method)</vt:lpstr>
      <vt:lpstr>Attribute Subset Selection</vt:lpstr>
      <vt:lpstr>Heuristic Search in Attribute Selection</vt:lpstr>
      <vt:lpstr>Heuristic Search(启发式搜索) in Attribute Selection</vt:lpstr>
      <vt:lpstr>Attribute Creation (Feature Generation)</vt:lpstr>
      <vt:lpstr>Nonlinear Dimensionality Reduction Methods</vt:lpstr>
      <vt:lpstr>Nonlinear Dimensionality Reduction (I): Kernel PCA (KPCA)</vt:lpstr>
      <vt:lpstr>Nonlinear Dimensionality Reduction (II): SNE</vt:lpstr>
      <vt:lpstr>Nonlinear Dimensionality Reduction (II): SNE</vt:lpstr>
      <vt:lpstr>Example:  Comparison on Nonlinear Data Points: Linear vs. Nonlinear Dimensional Reduction Methods</vt:lpstr>
      <vt:lpstr>Heatmap of the Proximity Matrices: Linear vs. Nonlinear Dimensional Reduction Methods</vt:lpstr>
      <vt:lpstr>Chapter 7. Classification: Advanced Methods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Coordinate Descent: Minimize f(x)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137 L</cp:lastModifiedBy>
  <cp:revision>968</cp:revision>
  <cp:lastPrinted>2016-08-23T14:41:30Z</cp:lastPrinted>
  <dcterms:created xsi:type="dcterms:W3CDTF">2014-06-02T15:06:14Z</dcterms:created>
  <dcterms:modified xsi:type="dcterms:W3CDTF">2026-04-06T11:55:16Z</dcterms:modified>
</cp:coreProperties>
</file>