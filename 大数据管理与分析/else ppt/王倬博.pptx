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1.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95" r:id="rId7"/>
    <p:sldId id="258" r:id="rId8"/>
    <p:sldId id="259" r:id="rId9"/>
    <p:sldId id="260" r:id="rId10"/>
    <p:sldId id="261" r:id="rId11"/>
    <p:sldId id="262" r:id="rId12"/>
    <p:sldId id="263" r:id="rId13"/>
    <p:sldId id="275" r:id="rId14"/>
    <p:sldId id="264" r:id="rId15"/>
    <p:sldId id="265" r:id="rId16"/>
    <p:sldId id="266" r:id="rId17"/>
    <p:sldId id="267" r:id="rId18"/>
    <p:sldId id="268" r:id="rId19"/>
    <p:sldId id="269" r:id="rId20"/>
    <p:sldId id="270" r:id="rId21"/>
    <p:sldId id="271" r:id="rId22"/>
    <p:sldId id="272" r:id="rId23"/>
    <p:sldId id="273" r:id="rId24"/>
    <p:sldId id="274" r:id="rId25"/>
    <p:sldId id="276" r:id="rId26"/>
    <p:sldId id="277" r:id="rId27"/>
    <p:sldId id="279" r:id="rId28"/>
    <p:sldId id="280" r:id="rId29"/>
    <p:sldId id="281" r:id="rId30"/>
    <p:sldId id="282" r:id="rId31"/>
    <p:sldId id="283" r:id="rId32"/>
    <p:sldId id="284" r:id="rId33"/>
    <p:sldId id="285" r:id="rId34"/>
    <p:sldId id="286" r:id="rId35"/>
    <p:sldId id="296" r:id="rId36"/>
    <p:sldId id="287" r:id="rId37"/>
    <p:sldId id="288" r:id="rId38"/>
    <p:sldId id="289" r:id="rId39"/>
    <p:sldId id="290" r:id="rId40"/>
    <p:sldId id="291" r:id="rId41"/>
    <p:sldId id="292" r:id="rId42"/>
    <p:sldId id="293" r:id="rId43"/>
    <p:sldId id="294"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5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56"/>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带来一份关于决策树算法演进与核心技术的深度解析报告。本次报告将重点回顾从早期的CLS算法到经典的ID3和C4.5算法的发展历程，并深入探讨其中的关键概念与优化策略。希望通过这次分享，能帮助大家对决策树这一经典机器学习算法有一个更全面、更深入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报告将分为四个部分展开。首先，我们会从决策树的基础概念讲起，并梳理其从CLS到C4.5的演进历程。接着，将深入剖析ID3和C4.5这两个核心算法的原理，特别是信息增益和增益率的计算与应用。然后，我们会重点讨论决策树中至关重要的属性选择方法和树剪枝策略。最后，对本次报告的内容进行总结，并探讨决策树算法的实际应用价值与未来发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现在，让我们进入第一部分，了解决策树的基本概念以及它是如何一步步发展到今天的。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明确一下什么是决策树。简单来说，决策树就像一个流程图，它通过一系列的问题（内部节点）来对数据进行分类或预测（叶节点）。整个过程从根节点开始，根据特征的不同取值沿着分支向下，最终到达叶节点得到结果。这种结构非常直观，也易于解释，其核心思想就是“分而治之”，把一个复杂的决策问题分解成一个个小问题来解决。决策树可以理解为一连串的问题，一路问到底，最后给出结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决策树的发展并非一蹴而就。最早可以追溯到1966年的CLS算法，它提出了决策树的基本框架，但如何选择最优属性进行划分还是一个难题。</a:t>
            </a:r>
            <a:endParaRPr lang="en-US" sz="1400" b="0" i="0" u="none" strike="noStrike">
              <a:solidFill>
                <a:srgbClr val="000000"/>
              </a:solidFill>
            </a:endParaRPr>
          </a:p>
          <a:p>
            <a:pPr indent="0" algn="l">
              <a:lnSpc>
                <a:spcPct val="100000"/>
              </a:lnSpc>
            </a:pPr>
            <a:r>
              <a:rPr lang="en-US" sz="1400" b="0" i="0" u="none" strike="noStrike">
                <a:solidFill>
                  <a:srgbClr val="000000"/>
                </a:solidFill>
              </a:rPr>
              <a:t>到了1986年，Quinlan提出的ID3算法是一个里程碑，它引入了信息增益，使得决策树的构建有了坚实的理论依据。</a:t>
            </a:r>
            <a:endParaRPr lang="en-US" sz="1400" b="0" i="0" u="none" strike="noStrike">
              <a:solidFill>
                <a:srgbClr val="000000"/>
              </a:solidFill>
            </a:endParaRPr>
          </a:p>
          <a:p>
            <a:pPr indent="0" algn="l">
              <a:lnSpc>
                <a:spcPct val="100000"/>
              </a:lnSpc>
            </a:pPr>
            <a:r>
              <a:rPr lang="en-US" sz="1400" b="0" i="0" u="none" strike="noStrike">
                <a:solidFill>
                  <a:srgbClr val="000000"/>
                </a:solidFill>
              </a:rPr>
              <a:t>而1993年的C4.5算法，则针对ID3的缺陷进行了全面改进，使用增益率解决了偏向问题，并支持连续值和缺失值处理，使其成为一个更加成熟和实用的算法。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接下来，我们将深入探讨ID3和C4.5这两个核心算法，看看它们是如何基于信息论的思想来构建决策树的，重点理解信息增益和增益率这两个关键概念。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在深入理解信息增益之前，我们首先要搞清楚它的基础——信息熵。这个公式看起来可能有点复杂，但它的含义非常直观。简单来说，信息熵就是衡量一个数据集有多“乱”。</a:t>
            </a:r>
            <a:endParaRPr lang="en-US" sz="1400" b="0" i="0" u="none" strike="noStrike">
              <a:solidFill>
                <a:srgbClr val="000000"/>
              </a:solidFill>
            </a:endParaRPr>
          </a:p>
          <a:p>
            <a:pPr indent="0" algn="l">
              <a:lnSpc>
                <a:spcPct val="100000"/>
              </a:lnSpc>
            </a:pPr>
            <a:r>
              <a:rPr lang="en-US" sz="1400" b="0" i="0" u="none" strike="noStrike">
                <a:solidFill>
                  <a:srgbClr val="000000"/>
                </a:solidFill>
              </a:rPr>
              <a:t>公式中的S代表我们分析的数据集，m是类别数，p_i是各类别的占比。熵的值越小，数据就越“纯”，反之则越“乱”。</a:t>
            </a:r>
            <a:endParaRPr lang="en-US" sz="1400" b="0" i="0" u="none" strike="noStrike">
              <a:solidFill>
                <a:srgbClr val="000000"/>
              </a:solidFill>
            </a:endParaRPr>
          </a:p>
          <a:p>
            <a:pPr indent="0" algn="l">
              <a:lnSpc>
                <a:spcPct val="100000"/>
              </a:lnSpc>
            </a:pPr>
            <a:r>
              <a:rPr lang="en-US" sz="1400" b="0" i="0" u="none" strike="noStrike">
                <a:solidFill>
                  <a:srgbClr val="000000"/>
                </a:solidFill>
              </a:rPr>
              <a:t>这个公式之所以准确，是因为它严格量化不确定性，是信息论的标准度量，能客观衡量数据集纯度。它基于严格的信息论原理，能够科学地量化我们对数据分类结果的不确定程度。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解了信息熵，信息增益就很容易理解了。信息增益的公式，其实就是用划分前的总混乱度（Entropy(S)），减去划分后的平均混乱度（加权平均熵）。这个差值，就是我们通过这个属性划分所获得的“信息增益”。</a:t>
            </a:r>
            <a:endParaRPr lang="en-US" sz="1400" b="0" i="0" u="none" strike="noStrike">
              <a:solidFill>
                <a:srgbClr val="000000"/>
              </a:solidFill>
            </a:endParaRPr>
          </a:p>
          <a:p>
            <a:pPr indent="0" algn="l">
              <a:lnSpc>
                <a:spcPct val="100000"/>
              </a:lnSpc>
            </a:pPr>
            <a:r>
              <a:rPr lang="en-US" sz="1400" b="0" i="0" u="none" strike="noStrike">
                <a:solidFill>
                  <a:srgbClr val="000000"/>
                </a:solidFill>
              </a:rPr>
              <a:t>增益越大，说明这个属性划分数据的效果越好，能让我们的决策树更快地找到正确答案。这个公式的准确性在于，它直接衡量了“这个属性让数据变纯了多少”，数学上无偏、稳定、可解释，完全符合我们构建决策树的目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为了更直观地理解信息增益，我们通过一个具体的小例子来手动计算一遍。这里有一个判断西瓜好坏的数据集，包含色泽、根蒂、敲声三个特征。</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首先，我们计算整个数据集的信息熵，也就是它的混乱程度，结果是1，说明数据非常混乱。</a:t>
            </a:r>
            <a:endParaRPr lang="en-US" sz="1400" b="0" i="0" u="none" strike="noStrike">
              <a:solidFill>
                <a:srgbClr val="000000"/>
              </a:solidFill>
            </a:endParaRPr>
          </a:p>
          <a:p>
            <a:pPr indent="0" algn="l">
              <a:lnSpc>
                <a:spcPct val="100000"/>
              </a:lnSpc>
            </a:pPr>
            <a:r>
              <a:rPr lang="en-US" sz="1400" b="0" i="0" u="none" strike="noStrike">
                <a:solidFill>
                  <a:srgbClr val="000000"/>
                </a:solidFill>
              </a:rPr>
              <a:t>接着，我们分别尝试用“色泽”、“根蒂”和“敲声”这三个属性来划分数据，并计算划分后的平均混乱度，也就是条件熵。</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最后，用原始熵减去条件熵，得到的就是信息增益。计算结果显示，“敲声”属性的信息增益最大，为0.474，所以我们选择“敲声”作为第一个分裂节点。这个过程清晰地展示了ID3算法是如何工作的。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信息增益偏爱多值属性的问题，C4.5算法引入了增益率。它的核心是在信息增益的基础上，除以一个叫做“分裂信息”的项。这个分裂信息会随着属性取值的增多而变大，从而对那些取值多的属性进行惩罚。这样一来，即使某个属性取值很多，它的增益率也不会因此变得特别高，从而保证了属性选择的公平性。这个改进让决策树的属性选择更加合理和准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信息增益和增益率，基尼指数是另一种常用的属性选择度量。它的公式看起来更简单，计算的是从数据集中随机挑两个样本，它们类别不同的概率。概率越小，说明数据越纯。基尼指数和信息熵本质上是相通的，都能衡量数据的纯度，只是计算方式不同。它的优点在于计算速度快，没有对数运算，因此在处理大数据时非常高效，这也是为什么它被广泛应用在CART等现代决策树算法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ID3算法的核心在于信息增益。它的思路很直观：我们希望每次划分都能让数据变得更“纯”，也就是减少数据的不确定性。</a:t>
            </a:r>
            <a:endParaRPr lang="en-US" sz="1400" b="0" i="0" u="none" strike="noStrike">
              <a:solidFill>
                <a:srgbClr val="000000"/>
              </a:solidFill>
            </a:endParaRPr>
          </a:p>
          <a:p>
            <a:pPr indent="0" algn="l">
              <a:lnSpc>
                <a:spcPct val="100000"/>
              </a:lnSpc>
            </a:pPr>
            <a:r>
              <a:rPr lang="en-US" sz="1400" b="0" i="0" u="none" strike="noStrike">
                <a:solidFill>
                  <a:srgbClr val="000000"/>
                </a:solidFill>
              </a:rPr>
              <a:t>信息熵正是衡量这种不确定性的指标，公式中我们可以看到，它是基于各类样本占比计算的，熵越小，数据越纯净。</a:t>
            </a:r>
            <a:endParaRPr lang="en-US" sz="1400" b="0" i="0" u="none" strike="noStrike">
              <a:solidFill>
                <a:srgbClr val="000000"/>
              </a:solidFill>
            </a:endParaRPr>
          </a:p>
          <a:p>
            <a:pPr indent="0" algn="l">
              <a:lnSpc>
                <a:spcPct val="100000"/>
              </a:lnSpc>
            </a:pPr>
            <a:r>
              <a:rPr lang="en-US" sz="1400" b="0" i="0" u="none" strike="noStrike">
                <a:solidFill>
                  <a:srgbClr val="000000"/>
                </a:solidFill>
              </a:rPr>
              <a:t>而信息增益则是衡量划分前后熵的减少量。公式中，我们用原数据集S的熵减去划分后各子集熵的加权平均值。</a:t>
            </a:r>
            <a:endParaRPr lang="en-US" sz="1400" b="0" i="0" u="none" strike="noStrike">
              <a:solidFill>
                <a:srgbClr val="000000"/>
              </a:solidFill>
            </a:endParaRPr>
          </a:p>
          <a:p>
            <a:pPr indent="0" algn="l">
              <a:lnSpc>
                <a:spcPct val="100000"/>
              </a:lnSpc>
            </a:pPr>
            <a:r>
              <a:rPr lang="en-US" sz="1400" b="0" i="0" u="none" strike="noStrike">
                <a:solidFill>
                  <a:srgbClr val="000000"/>
                </a:solidFill>
              </a:rPr>
              <a:t>ID3算法会计算每个属性的信息增益，然后选择增益最大的那个属性来进行划分，这样可以最快地降低数据的混乱程度。</a:t>
            </a:r>
            <a:endParaRPr lang="en-US" sz="1400" b="0" i="0" u="none" strike="noStrike">
              <a:solidFill>
                <a:srgbClr val="000000"/>
              </a:solidFill>
            </a:endParaRPr>
          </a:p>
          <a:p>
            <a:pPr indent="0" algn="l">
              <a:lnSpc>
                <a:spcPct val="100000"/>
              </a:lnSpc>
            </a:pPr>
            <a:r>
              <a:rPr lang="en-US" sz="1400" b="0" i="0" u="none" strike="noStrike">
                <a:solidFill>
                  <a:srgbClr val="000000"/>
                </a:solidFill>
              </a:rPr>
              <a:t>右侧的示意图展示了熵与信息增益之间的集合关系，帮助大家更直观地理解这两个概念的联系。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虽然ID3算法奠定了现代决策树的基础，但它也存在一些明显的缺点。它的优点在于理论清晰、实现简单，并且生成的决策树非常直观。然而，它最大的问题是偏爱取值多的属性，比如用身份证号去划分数据，这显然是不合理的。此外，它无法处理连续值和缺失值，并且容易生成过于复杂的树，导致过拟合。这些缺点都在后续的C4.5算法中得到了改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ID3算法偏爱多值属性的问题，C4.5算法引入了增益率。增益率在信息增益的基础上，除以了一个叫做“固有值”的项。这个固有值会随着属性取值数目的增加而增大，从而对那些取值多的属性进行惩罚。这样一来，C4.5就能更公平地选择属性，避免了ID3的偏向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4.5的改进远不止增益率。它还首次解决了ID3无法处理连续值和缺失值的问题，这使得它能应用于更广泛的数据集。更重要的是，C4.5引入了剪枝策略，这是防止决策树过拟合的关键技术。通过这些改进，C4.5成为了一个功能强大且非常实用的经典算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了解了核心算法后，我们来深入探讨两个关键技术：如何选择最优的属性进行划分，以及如何通过剪枝来优化决策树的性能，这对于构建高效、稳健的决策树模型至关重要。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信息增益和增益率，基尼指数也是一种常用的属性选择度量，主要用于CART算法。这三种方法各有特点：信息增益直观但有偏向；增益率更公平但计算复杂；基尼指数计算效率高。在实际应用中，我们需要根据具体的数据特点和算法需求来选择合适的度量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决策树如果不加限制地生长，很容易变得非常复杂，从而记住训练数据中的噪声，也就是过拟合。剪枝就是用来简化树结构、提高泛化能力的技术。主要有两种方式：预剪枝和后剪枝。</a:t>
            </a:r>
            <a:endParaRPr lang="en-US" sz="1400" b="0" i="0" u="none" strike="noStrike">
              <a:solidFill>
                <a:srgbClr val="000000"/>
              </a:solidFill>
            </a:endParaRPr>
          </a:p>
          <a:p>
            <a:pPr indent="0" algn="l">
              <a:lnSpc>
                <a:spcPct val="100000"/>
              </a:lnSpc>
            </a:pPr>
            <a:r>
              <a:rPr lang="en-US" sz="1400" b="0" i="0" u="none" strike="noStrike">
                <a:solidFill>
                  <a:srgbClr val="000000"/>
                </a:solidFill>
              </a:rPr>
              <a:t>预剪枝是在种树的时候就限制它的生长，比如规定树的最大深度；而后剪枝则是等树完全长好后，再去修剪那些多余的枝叶。</a:t>
            </a:r>
            <a:endParaRPr lang="en-US" sz="1400" b="0" i="0" u="none" strike="noStrike">
              <a:solidFill>
                <a:srgbClr val="000000"/>
              </a:solidFill>
            </a:endParaRPr>
          </a:p>
          <a:p>
            <a:pPr indent="0" algn="l">
              <a:lnSpc>
                <a:spcPct val="100000"/>
              </a:lnSpc>
            </a:pPr>
            <a:r>
              <a:rPr lang="en-US" sz="1400" b="0" i="0" u="none" strike="noStrike">
                <a:solidFill>
                  <a:srgbClr val="000000"/>
                </a:solidFill>
              </a:rPr>
              <a:t>两种方法各有优劣，后剪枝通常效果更好，但计算量也更大。值得一提的是，经典的C4.5算法采用了悲观剪枝（PEP）策略，这种方法不需要额外的验证集，直接通过统计方法评估误差，既保证了效果又兼顾了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深入探讨决策树算法之前，我们先来看看它为何如此重要。分类任务是机器学习中最基础也最广泛的应用之一，从医疗诊断到金融风控，再到我们日常接触的垃圾邮件过滤，都离不开分类技术。而决策树，凭借其独特的优势，在众多分类算法中占据了重要地位。它最大的优点就是可解释性强，就像一个清晰的流程图，每一步决策都有据可依，这在金融、医疗等对模型透明度要求极高的领域尤为关键。同时，它对数据的要求不高，训练和预测速度也很快，是解决实际问题的一把利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决策树也并非完美无缺，它存在一些固有缺陷。首先，它非常容易过拟合，就像一个学生死记硬背课本上的例题，却无法解决新的问题。其次，决策树对数据的变化非常敏感，数据的微小波动都可能导致树的结构完全不同，这让模型的稳定性大打折扣。最后，像ID3这样的早期算法，还存在一个“多值属性偏向”的问题，它会偏爱那些取值多的属性，比如身份证号，这显然是不合理的。这些缺陷也正是后续算法不断改进的动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C4.5算法在ID3的基础上做了许多重要改进，使其更具实用性。其中最关键的两点就是对连续属性和缺失值的处理。</a:t>
            </a:r>
            <a:endParaRPr lang="en-US" sz="1400" b="0" i="0" u="none" strike="noStrike">
              <a:solidFill>
                <a:srgbClr val="000000"/>
              </a:solidFill>
            </a:endParaRPr>
          </a:p>
          <a:p>
            <a:pPr indent="0" algn="l">
              <a:lnSpc>
                <a:spcPct val="100000"/>
              </a:lnSpc>
            </a:pPr>
            <a:r>
              <a:rPr lang="en-US" sz="1400" b="0" i="0" u="none" strike="noStrike">
                <a:solidFill>
                  <a:srgbClr val="000000"/>
                </a:solidFill>
              </a:rPr>
              <a:t>对于年龄、收入这样的连续数据，C4.5通过寻找最佳阈值，将其转化为“大于阈值”和“小于阈值”的二分类问题，这被称为离散化。</a:t>
            </a:r>
            <a:endParaRPr lang="en-US" sz="1400" b="0" i="0" u="none" strike="noStrike">
              <a:solidFill>
                <a:srgbClr val="000000"/>
              </a:solidFill>
            </a:endParaRPr>
          </a:p>
          <a:p>
            <a:pPr indent="0" algn="l">
              <a:lnSpc>
                <a:spcPct val="100000"/>
              </a:lnSpc>
            </a:pPr>
            <a:r>
              <a:rPr lang="en-US" sz="1400" b="0" i="0" u="none" strike="noStrike">
                <a:solidFill>
                  <a:srgbClr val="000000"/>
                </a:solidFill>
              </a:rPr>
              <a:t>而对于数据中不可避免的缺失值，C4.5没有简单地丢弃，而是采用了一种巧妙的概率加权方法。在选择属性时，只使用完整的数据计算增益；在划分数据时，将缺失值样本按比例分配到各个分支中。这样既保留了信息，又保证了算法的正确性。</a:t>
            </a:r>
            <a:endParaRPr lang="en-US" sz="1400" b="0" i="0" u="none" strike="noStrike">
              <a:solidFill>
                <a:srgbClr val="000000"/>
              </a:solidFill>
            </a:endParaRPr>
          </a:p>
          <a:p>
            <a:pPr indent="0" algn="l">
              <a:lnSpc>
                <a:spcPct val="100000"/>
              </a:lnSpc>
            </a:pPr>
            <a:r>
              <a:rPr lang="en-US" sz="1400" b="0" i="0" u="none" strike="noStrike">
                <a:solidFill>
                  <a:srgbClr val="000000"/>
                </a:solidFill>
              </a:rPr>
              <a:t>这些改进让C4.5能够处理更复杂、更贴近真实世界的数据。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为了解解决策树过拟合的问题，剪枝策略应运而生。主要分为预剪枝和后剪枝两种。</a:t>
            </a:r>
            <a:endParaRPr lang="en-US" sz="1400" b="0" i="0" u="none" strike="noStrike">
              <a:solidFill>
                <a:srgbClr val="000000"/>
              </a:solidFill>
            </a:endParaRPr>
          </a:p>
          <a:p>
            <a:pPr indent="0" algn="l">
              <a:lnSpc>
                <a:spcPct val="100000"/>
              </a:lnSpc>
            </a:pPr>
            <a:r>
              <a:rPr lang="en-US" sz="1400" b="0" i="0" u="none" strike="noStrike">
                <a:solidFill>
                  <a:srgbClr val="000000"/>
                </a:solidFill>
              </a:rPr>
              <a:t>预剪枝就像是在树还小的时候就限制它的生长，比如规定它最多长多高，或者叶子里最少要有多少样本。这种方法简单直接，训练速度快，但可能会限制树的潜力，存在欠拟合风险。</a:t>
            </a:r>
            <a:endParaRPr lang="en-US" sz="1400" b="0" i="0" u="none" strike="noStrike">
              <a:solidFill>
                <a:srgbClr val="000000"/>
              </a:solidFill>
            </a:endParaRPr>
          </a:p>
          <a:p>
            <a:pPr indent="0" algn="l">
              <a:lnSpc>
                <a:spcPct val="100000"/>
              </a:lnSpc>
            </a:pPr>
            <a:r>
              <a:rPr lang="en-US" sz="1400" b="0" i="0" u="none" strike="noStrike">
                <a:solidFill>
                  <a:srgbClr val="000000"/>
                </a:solidFill>
              </a:rPr>
              <a:t>而后剪枝则是先让树自由生长，长成一棵非常复杂的大树，然后从底部开始，一层层地剪掉那些看起来“多余”的分支。C4.5算法采用的悲观剪枝就是一种非常经典的后剪枝方法，它通过统计学方法来估计剪枝前后的误差，从而决定是否剪枝。</a:t>
            </a:r>
            <a:endParaRPr lang="en-US" sz="1400" b="0" i="0" u="none" strike="noStrike">
              <a:solidFill>
                <a:srgbClr val="000000"/>
              </a:solidFill>
            </a:endParaRPr>
          </a:p>
          <a:p>
            <a:pPr indent="0" algn="l">
              <a:lnSpc>
                <a:spcPct val="100000"/>
              </a:lnSpc>
            </a:pPr>
            <a:r>
              <a:rPr lang="en-US" sz="1400" b="0" i="0" u="none" strike="noStrike">
                <a:solidFill>
                  <a:srgbClr val="000000"/>
                </a:solidFill>
              </a:rPr>
              <a:t>实践证明，后剪枝通常能获得更好的模型性能，但代价是需要更长的训练时间。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我们来看第一项最新研究成果：可微分决策树。这篇发表在NeurIPS 2025上的论文，提出了一个非常巧妙的方法，叫做“ReLU+Argmin”。</a:t>
            </a:r>
            <a:endParaRPr lang="en-US" sz="1400" b="0" i="0" u="none" strike="noStrike">
              <a:solidFill>
                <a:srgbClr val="000000"/>
              </a:solidFill>
            </a:endParaRPr>
          </a:p>
          <a:p>
            <a:pPr indent="0" algn="l">
              <a:lnSpc>
                <a:spcPct val="100000"/>
              </a:lnSpc>
            </a:pPr>
            <a:r>
              <a:rPr lang="en-US" sz="1400" b="0" i="0" u="none" strike="noStrike">
                <a:solidFill>
                  <a:srgbClr val="000000"/>
                </a:solidFill>
              </a:rPr>
              <a:t>它的核心思想是把传统的、不可微的决策树，变成一个可以用梯度下降来训练的神经网络模块。这样一来，我们就可以像训练神经网络一样，对决策树进行端到端的优化。</a:t>
            </a:r>
            <a:endParaRPr lang="en-US" sz="1400" b="0" i="0" u="none" strike="noStrike">
              <a:solidFill>
                <a:srgbClr val="000000"/>
              </a:solidFill>
            </a:endParaRPr>
          </a:p>
          <a:p>
            <a:pPr indent="0" algn="l">
              <a:lnSpc>
                <a:spcPct val="100000"/>
              </a:lnSpc>
            </a:pPr>
            <a:r>
              <a:rPr lang="en-US" sz="1400" b="0" i="0" u="none" strike="noStrike">
                <a:solidFill>
                  <a:srgbClr val="000000"/>
                </a:solidFill>
              </a:rPr>
              <a:t>实验结果非常令人振奋，这种可微分的决策树在保持了原有可解释性优势的同时，性能上已经能和随机森林这样的集成模型相媲美，这无疑是可解释人工智能领域的一大突破。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首先来看为什么需要可微分决策树。传统的决策树，它的决策过程是离散的，就像一个开关，要么开要么关。这种离散性导致它在数学上是“不可微”的，简单来说，就是我们无法计算梯度，也就无法使用像梯度下降这样强大的优化工具来训练它。</a:t>
            </a:r>
            <a:endParaRPr lang="en-US" sz="1400" b="0" i="0" u="none" strike="noStrike">
              <a:solidFill>
                <a:srgbClr val="000000"/>
              </a:solidFill>
            </a:endParaRPr>
          </a:p>
          <a:p>
            <a:pPr indent="0" algn="l">
              <a:lnSpc>
                <a:spcPct val="100000"/>
              </a:lnSpc>
            </a:pPr>
            <a:r>
              <a:rPr lang="en-US" sz="1400" b="0" i="0" u="none" strike="noStrike">
                <a:solidFill>
                  <a:srgbClr val="000000"/>
                </a:solidFill>
              </a:rPr>
              <a:t>这篇论文的核心思想就是解决这个问题。它提出了一个非常聪明的办法：用平滑的、连续的函数去近似那些离散的决策。通过这种方式，整个决策树就变成了一个可以用梯度下降来优化的神经网络模块。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深入了解算法的核心原理。首先看路径权重的计算公式。对于一条路径，它的权重是路径上所有决策判断的乘积。这里的关键是，论文用一个平滑的ReLU函数来代替传统的阶跃判断。大家可以看右边的图，左边是传统的、不可微的阶跃函数，右边是平滑的、可微的ReLU函数。通过这种替换，我们就能计算出每条路径的权重。</a:t>
            </a:r>
            <a:endParaRPr lang="en-US" sz="1400" b="0" i="0" u="none" strike="noStrike">
              <a:solidFill>
                <a:srgbClr val="000000"/>
              </a:solidFill>
            </a:endParaRPr>
          </a:p>
          <a:p>
            <a:pPr indent="0" algn="l">
              <a:lnSpc>
                <a:spcPct val="100000"/>
              </a:lnSpc>
            </a:pPr>
            <a:r>
              <a:rPr lang="en-US" sz="1400" b="0" i="0" u="none" strike="noStrike">
                <a:solidFill>
                  <a:srgbClr val="000000"/>
                </a:solidFill>
              </a:rPr>
              <a:t>然后，在最终预测时，论文用了一个类似softmax的操作，将这些权重转化为概率，并用这个概率去加权所有叶子节点的输出。这样，整个过程就都是可微的了，从而能够利用梯度下降等深度学习优化方法进行端到端的训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这一页我们来可视化整个模型架构。大家可以把它想象成一个神经网络。输入是原始数据，中间的隐藏层就是我们的决策树结构，只不过每个决策节点都被替换成了可微的ReLU函数。</a:t>
            </a:r>
            <a:endParaRPr lang="en-US" sz="1400" b="0" i="0" u="none" strike="noStrike">
              <a:solidFill>
                <a:srgbClr val="000000"/>
              </a:solidFill>
            </a:endParaRPr>
          </a:p>
          <a:p>
            <a:pPr indent="0" algn="l">
              <a:lnSpc>
                <a:spcPct val="100000"/>
              </a:lnSpc>
            </a:pPr>
            <a:r>
              <a:rPr lang="en-US" sz="1400" b="0" i="0" u="none" strike="noStrike">
                <a:solidFill>
                  <a:srgbClr val="000000"/>
                </a:solidFill>
              </a:rPr>
              <a:t>当一个样本进来后，它会沿着不同的路径前进，每条路径都会得到一个权重。最后，在输出层，我们把所有叶子节点的预测值，按照它们路径的权重进行加权求和，就得到了最终的预测结果。</a:t>
            </a:r>
            <a:endParaRPr lang="en-US" sz="1400" b="0" i="0" u="none" strike="noStrike">
              <a:solidFill>
                <a:srgbClr val="000000"/>
              </a:solidFill>
            </a:endParaRPr>
          </a:p>
          <a:p>
            <a:pPr indent="0" algn="l">
              <a:lnSpc>
                <a:spcPct val="100000"/>
              </a:lnSpc>
            </a:pPr>
            <a:r>
              <a:rPr lang="en-US" sz="1400" b="0" i="0" u="none" strike="noStrike">
                <a:solidFill>
                  <a:srgbClr val="000000"/>
                </a:solidFill>
              </a:rPr>
              <a:t>右边的图直观地展示了这个过程，从样本输入，到路径权重计算，再到最后的加权输出，整个流程都是连续和可微的。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最后，我们来看一下实验成果。这篇论文的实验非常有说服力。首先，它证明了我们确实可以用梯度下降来端到端地训练一个决策树。</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其次，从性能上看，如表所示，这种可微分决策树在多个经典数据集上的表现，已经非常接近甚至超过了像随机森林这样的传统强者。</a:t>
            </a:r>
            <a:endParaRPr lang="en-US" sz="1400" b="0" i="0" u="none" strike="noStrike">
              <a:solidFill>
                <a:srgbClr val="000000"/>
              </a:solidFill>
            </a:endParaRPr>
          </a:p>
          <a:p>
            <a:pPr indent="0" algn="l">
              <a:lnSpc>
                <a:spcPct val="100000"/>
              </a:lnSpc>
            </a:pPr>
            <a:r>
              <a:rPr lang="en-US" sz="1400" b="0" i="0" u="none" strike="noStrike">
                <a:solidFill>
                  <a:srgbClr val="000000"/>
                </a:solidFill>
              </a:rPr>
              <a:t>最关键的是，它在获得高性能的同时，还保留了决策树的可解释性。这意味着我们不仅得到了一个准确的模型，还能清楚地知道它为什么做出这样的决策。这在很多对模型透明度要求高的领域，比如医疗和金融，具有非常重要的现实意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sz="1400" b="0" i="0" u="none" strike="noStrike">
                <a:solidFill>
                  <a:srgbClr val="000000"/>
                </a:solidFill>
              </a:rPr>
              <a:t>接下来我们看第二项最新研究成果，一篇关于在线</a:t>
            </a:r>
            <a:r>
              <a:rPr lang="en-US" altLang="zh-CN" sz="1400" b="0" i="0" u="none" strike="noStrike">
                <a:solidFill>
                  <a:srgbClr val="000000"/>
                </a:solidFill>
              </a:rPr>
              <a:t>GBDT</a:t>
            </a:r>
            <a:r>
              <a:rPr lang="zh-CN" altLang="en-US" sz="1400" b="0" i="0" u="none" strike="noStrike">
                <a:solidFill>
                  <a:srgbClr val="000000"/>
                </a:solidFill>
              </a:rPr>
              <a:t>的论文。传统的</a:t>
            </a:r>
            <a:r>
              <a:rPr lang="en-US" altLang="zh-CN" sz="1400" b="0" i="0" u="none" strike="noStrike">
                <a:solidFill>
                  <a:srgbClr val="000000"/>
                </a:solidFill>
              </a:rPr>
              <a:t>GBDT</a:t>
            </a:r>
            <a:r>
              <a:rPr lang="zh-CN" altLang="en-US" sz="1400" b="0" i="0" u="none" strike="noStrike">
                <a:solidFill>
                  <a:srgbClr val="000000"/>
                </a:solidFill>
              </a:rPr>
              <a:t>模型有一个很大的问题，就是它是静态的，一旦训练好就无法改变。当新数据到来或者需要删除旧数据时，我们只能重新训练整个模型，这非常慢。它从原始数据开始训练第一个弱分类器</a:t>
            </a:r>
            <a:r>
              <a:rPr lang="en-US" altLang="zh-CN" sz="1400" b="0" i="0" u="none" strike="noStrike">
                <a:solidFill>
                  <a:srgbClr val="000000"/>
                </a:solidFill>
              </a:rPr>
              <a:t>(</a:t>
            </a:r>
            <a:r>
              <a:rPr lang="zh-CN" altLang="en-US" sz="1400" b="0" i="0" u="none" strike="noStrike">
                <a:solidFill>
                  <a:srgbClr val="000000"/>
                </a:solidFill>
              </a:rPr>
              <a:t>如决策树</a:t>
            </a:r>
            <a:r>
              <a:rPr lang="en-US" altLang="zh-CN" sz="1400" b="0" i="0" u="none" strike="noStrike">
                <a:solidFill>
                  <a:srgbClr val="000000"/>
                </a:solidFill>
              </a:rPr>
              <a:t>)</a:t>
            </a:r>
            <a:r>
              <a:rPr lang="zh-CN" altLang="en-US" sz="1400" b="0" i="0" u="none" strike="noStrike">
                <a:solidFill>
                  <a:srgbClr val="000000"/>
                </a:solidFill>
              </a:rPr>
              <a:t>，然后根据该模型的预测残差对数据进行加权，再用这些加权后的数据训练下一个弱分类器；这个过程不断迭代，每个新的模型都试图纠正前一轮模型的错误，最终将所有弱分类器的预测结果集成为一个强大的整体模型，实现更准确的预测。</a:t>
            </a:r>
            <a:endParaRPr lang="en-US" altLang="zh-CN" sz="1400" b="0" i="0" u="none" strike="noStrike">
              <a:solidFill>
                <a:srgbClr val="000000"/>
              </a:solidFill>
            </a:endParaRPr>
          </a:p>
          <a:p>
            <a:pPr indent="0" algn="l">
              <a:lnSpc>
                <a:spcPct val="100000"/>
              </a:lnSpc>
            </a:pPr>
            <a:r>
              <a:rPr lang="zh-CN" altLang="zh-CN" sz="1400" b="0" i="0" u="none" strike="noStrike">
                <a:solidFill>
                  <a:srgbClr val="000000"/>
                </a:solidFill>
              </a:rPr>
              <a:t>这篇论文的目标就是解决这个问题，它希望构建一个可以在线更新的</a:t>
            </a:r>
            <a:r>
              <a:rPr lang="en-US" altLang="zh-CN" sz="1400" b="0" i="0" u="none" strike="noStrike">
                <a:solidFill>
                  <a:srgbClr val="000000"/>
                </a:solidFill>
              </a:rPr>
              <a:t>GBDT</a:t>
            </a:r>
            <a:r>
              <a:rPr lang="zh-CN" altLang="en-US" sz="1400" b="0" i="0" u="none" strike="noStrike">
                <a:solidFill>
                  <a:srgbClr val="000000"/>
                </a:solidFill>
              </a:rPr>
              <a:t>框架，能够快速地处理数据的增加和删除，同时保证模型效果，并且不需要从头训练。</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篇论文的核心成果主要有四点。首先，它首次实现了一个既能加数据又能删数据的GBDT框架。其次，也是最关键的创新，是提出了“局部更新”机制，就像房子坏了只修坏掉的部分，而不是推倒重建。第三，它提出了“鲁棒分裂”策略，意思是如果数据变化不大，就维持原状。最后，还引入了“容忍机制”，允许模型在最优选择上有一定的灵活性，只要性能不差太多，就不更新。这些创新共同保证了模型的高效和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篇论文算法的核心思想非常直观，就是“局部更新”。具体来说，当数据发生变化时，算法会遍历每一棵树的每一个节点。对于每个节点，它会用新的数据重新计算分裂收益。如果发现最优的分裂方式没有改变，那就什么都不用做。只有当最优分裂确实发生了变化，它才会重建这个节点以及它下面的子树。通过这种方式，模型只在必要时进行最小化的更新，从而实现了高效的在线学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具体来看增量和减量学习的流程。增量学习，也就是加数据，过程很简单：新数据进来，走一遍树，更新沿途节点的统计信息，然后检查分裂是否需要改变。</a:t>
            </a:r>
            <a:endParaRPr lang="en-US" sz="1400" b="0" i="0" u="none" strike="noStrike">
              <a:solidFill>
                <a:srgbClr val="000000"/>
              </a:solidFill>
            </a:endParaRPr>
          </a:p>
          <a:p>
            <a:pPr indent="0" algn="l">
              <a:lnSpc>
                <a:spcPct val="100000"/>
              </a:lnSpc>
            </a:pPr>
            <a:r>
              <a:rPr lang="en-US" sz="1400" b="0" i="0" u="none" strike="noStrike">
                <a:solidFill>
                  <a:srgbClr val="000000"/>
                </a:solidFill>
              </a:rPr>
              <a:t>而减量学习，也就是删数据，过程类似但方向相反：找到要删除的数据曾经走过的路径，把它们的影响从节点统计信息中减去，然后同样检查分裂是否需要改变。</a:t>
            </a:r>
            <a:endParaRPr lang="en-US" sz="1400" b="0" i="0" u="none" strike="noStrike">
              <a:solidFill>
                <a:srgbClr val="000000"/>
              </a:solidFill>
            </a:endParaRPr>
          </a:p>
          <a:p>
            <a:pPr indent="0" algn="l">
              <a:lnSpc>
                <a:spcPct val="100000"/>
              </a:lnSpc>
            </a:pPr>
            <a:r>
              <a:rPr lang="en-US" sz="1400" b="0" i="0" u="none" strike="noStrike">
                <a:solidFill>
                  <a:srgbClr val="000000"/>
                </a:solidFill>
              </a:rPr>
              <a:t>这两种操作都遵循了我们前面提到的“局部更新”原则，避免了对整个模型的重新训练，从而在保证效果的同时，极大地提升了在线学习的效率。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那么，算法是如何判断一个节点是否需要更新的呢？关键在于“分裂收益”这个指标，它衡量一个分裂的好坏。这篇论文提出了两个重要机制。</a:t>
            </a:r>
            <a:endParaRPr lang="en-US" sz="1400" b="0" i="0" u="none" strike="noStrike">
              <a:solidFill>
                <a:srgbClr val="000000"/>
              </a:solidFill>
            </a:endParaRPr>
          </a:p>
          <a:p>
            <a:pPr indent="0" algn="l">
              <a:lnSpc>
                <a:spcPct val="100000"/>
              </a:lnSpc>
            </a:pPr>
            <a:r>
              <a:rPr lang="en-US" sz="1400" b="0" i="0" u="none" strike="noStrike">
                <a:solidFill>
                  <a:srgbClr val="000000"/>
                </a:solidFill>
              </a:rPr>
              <a:t>第一是“鲁棒分裂”，它从理论上证明了，如果数据变化不大，那么原来的分裂很可能依然是最好的，这就减少了很多不必要的更新。</a:t>
            </a:r>
            <a:endParaRPr lang="en-US" sz="1400" b="0" i="0" u="none" strike="noStrike">
              <a:solidFill>
                <a:srgbClr val="000000"/>
              </a:solidFill>
            </a:endParaRPr>
          </a:p>
          <a:p>
            <a:pPr indent="0" algn="l">
              <a:lnSpc>
                <a:spcPct val="100000"/>
              </a:lnSpc>
            </a:pPr>
            <a:r>
              <a:rPr lang="en-US" sz="1400" b="0" i="0" u="none" strike="noStrike">
                <a:solidFill>
                  <a:srgbClr val="000000"/>
                </a:solidFill>
              </a:rPr>
              <a:t>第二是“容忍机制”，它更加灵活，允许模型在最优选择上有一定的“容忍度”，只要原来的分裂还不算太差，就不更新。</a:t>
            </a:r>
            <a:endParaRPr lang="en-US" sz="1400" b="0" i="0" u="none" strike="noStrike">
              <a:solidFill>
                <a:srgbClr val="000000"/>
              </a:solidFill>
            </a:endParaRPr>
          </a:p>
          <a:p>
            <a:pPr indent="0" algn="l">
              <a:lnSpc>
                <a:spcPct val="100000"/>
              </a:lnSpc>
            </a:pPr>
            <a:r>
              <a:rPr lang="en-US" sz="1400" b="0" i="0" u="none" strike="noStrike">
                <a:solidFill>
                  <a:srgbClr val="000000"/>
                </a:solidFill>
              </a:rPr>
              <a:t>这两个机制共同作用，使得模型更新既准确又高效。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看实验结果，非常令人振奋。首先，速度上，相比传统方法，在线更新的速度提升了数百甚至上千倍。其次，在准确率方面，在线更新的模型和从头训练的模型几乎没有差别。第三，内存占用也更低。最有趣的是，它还支持“机器遗忘”，可以有效地删除特定数据的影响，这在隐私保护日益重要的今天具有非常重要的现实意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这篇关于在线GBDT的论文。它的核心思想就是通过局部更新来实现高效的在线学习。主要有三大创新：一是同时支持加减数据，二是提出了鲁棒分裂策略，三是引入了容忍机制。这项研究在实时机器学习、隐私保护和大规模数据更新等领域都具有重要的实际意义，为GBDT算法的工程应用提供了强大的新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最后，我们对CLS、ID3、C4.5和CART这四种经典的决策树算法进行一个全面的对比。从属性选择、树结构、对连续值和缺失值的处理能力，到剪枝策略，我们可以清晰地看到算法演进的脉络。</a:t>
            </a:r>
            <a:endParaRPr lang="en-US" sz="1400" b="0" i="0" u="none" strike="noStrike">
              <a:solidFill>
                <a:srgbClr val="000000"/>
              </a:solidFill>
            </a:endParaRPr>
          </a:p>
          <a:p>
            <a:pPr indent="0" algn="l">
              <a:lnSpc>
                <a:spcPct val="100000"/>
              </a:lnSpc>
            </a:pPr>
            <a:r>
              <a:rPr lang="en-US" sz="1400" b="0" i="0" u="none" strike="noStrike">
                <a:solidFill>
                  <a:srgbClr val="000000"/>
                </a:solidFill>
              </a:rPr>
              <a:t>CLS是最初的雏形，ID3首次引入了信息论，而C4.5则进行了全面的工业级优化，成为了应用最广泛的版本。CART算法则另辟蹊径，采用二叉树结构和基尼指数，在分类和回归任务中都表现出色。</a:t>
            </a:r>
            <a:endParaRPr lang="en-US" sz="1400" b="0" i="0" u="none" strike="noStrike">
              <a:solidFill>
                <a:srgbClr val="000000"/>
              </a:solidFill>
            </a:endParaRPr>
          </a:p>
          <a:p>
            <a:pPr indent="0" algn="l">
              <a:lnSpc>
                <a:spcPct val="100000"/>
              </a:lnSpc>
            </a:pPr>
            <a:r>
              <a:rPr lang="en-US" sz="1400" b="0" i="0" u="none" strike="noStrike">
                <a:solidFill>
                  <a:srgbClr val="000000"/>
                </a:solidFill>
              </a:rPr>
              <a:t>通过这个对比表，我们可以根据具体的任务需求，选择最合适的决策树算法。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最后，我们对本次报告的内容进行一个总结，并对决策树的实际应用价值和未来发展方向做一个简单的展望。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我们回顾了决策树从CLS的雏形，到ID3引入信息增益，再到C4.5使用增益率并支持剪枝的演进过程，重点理解了信息增益、增益率等属性选择度量，以及剪枝策略。这些技术的发展，使得决策树从一个简单的概念模型，演变成了一个功能强大、应用广泛的机器学习工具，是随机森林、GBDT等集成学习算法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我的报告到此结束，感谢大家的聆听。接下来是问答环节，欢迎大家提问交流。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image" Target="../media/image5.svg"/><Relationship Id="rId6" Type="http://schemas.openxmlformats.org/officeDocument/2006/relationships/image" Target="../media/image4.png"/><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5.xml"/><Relationship Id="rId18" Type="http://schemas.openxmlformats.org/officeDocument/2006/relationships/slideLayout" Target="../slideLayouts/slideLayout12.xml"/><Relationship Id="rId17" Type="http://schemas.openxmlformats.org/officeDocument/2006/relationships/image" Target="../media/image6.jpeg"/><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0" Type="http://schemas.openxmlformats.org/officeDocument/2006/relationships/notesSlide" Target="../notesSlides/notesSlide7.xml"/><Relationship Id="rId1" Type="http://schemas.openxmlformats.org/officeDocument/2006/relationships/tags" Target="../tags/tag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image" Target="../media/image8.png"/><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4" Type="http://schemas.openxmlformats.org/officeDocument/2006/relationships/notesSlide" Target="../notesSlides/notesSlide11.xml"/><Relationship Id="rId13" Type="http://schemas.openxmlformats.org/officeDocument/2006/relationships/slideLayout" Target="../slideLayouts/slideLayout12.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1" Type="http://schemas.openxmlformats.org/officeDocument/2006/relationships/notesSlide" Target="../notesSlides/notesSlide15.xml"/><Relationship Id="rId10" Type="http://schemas.openxmlformats.org/officeDocument/2006/relationships/slideLayout" Target="../slideLayouts/slideLayout12.xml"/><Relationship Id="rId1" Type="http://schemas.openxmlformats.org/officeDocument/2006/relationships/tags" Target="../tags/tag3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image" Target="../media/image14.svg"/><Relationship Id="rId4" Type="http://schemas.openxmlformats.org/officeDocument/2006/relationships/image" Target="../media/image13.png"/><Relationship Id="rId36" Type="http://schemas.openxmlformats.org/officeDocument/2006/relationships/notesSlide" Target="../notesSlides/notesSlide17.xml"/><Relationship Id="rId35" Type="http://schemas.openxmlformats.org/officeDocument/2006/relationships/slideLayout" Target="../slideLayouts/slideLayout12.xml"/><Relationship Id="rId34" Type="http://schemas.openxmlformats.org/officeDocument/2006/relationships/image" Target="../media/image21.svg"/><Relationship Id="rId33" Type="http://schemas.openxmlformats.org/officeDocument/2006/relationships/image" Target="../media/image20.png"/><Relationship Id="rId32" Type="http://schemas.openxmlformats.org/officeDocument/2006/relationships/tags" Target="../tags/tag72.xml"/><Relationship Id="rId31" Type="http://schemas.openxmlformats.org/officeDocument/2006/relationships/tags" Target="../tags/tag71.xml"/><Relationship Id="rId30" Type="http://schemas.openxmlformats.org/officeDocument/2006/relationships/image" Target="../media/image19.png"/><Relationship Id="rId3" Type="http://schemas.openxmlformats.org/officeDocument/2006/relationships/tags" Target="../tags/tag50.xml"/><Relationship Id="rId29" Type="http://schemas.openxmlformats.org/officeDocument/2006/relationships/tags" Target="../tags/tag70.xml"/><Relationship Id="rId28" Type="http://schemas.openxmlformats.org/officeDocument/2006/relationships/tags" Target="../tags/tag69.xml"/><Relationship Id="rId27" Type="http://schemas.openxmlformats.org/officeDocument/2006/relationships/tags" Target="../tags/tag68.xml"/><Relationship Id="rId26" Type="http://schemas.openxmlformats.org/officeDocument/2006/relationships/tags" Target="../tags/tag67.xml"/><Relationship Id="rId25" Type="http://schemas.openxmlformats.org/officeDocument/2006/relationships/image" Target="../media/image18.svg"/><Relationship Id="rId24" Type="http://schemas.openxmlformats.org/officeDocument/2006/relationships/image" Target="../media/image17.png"/><Relationship Id="rId23" Type="http://schemas.openxmlformats.org/officeDocument/2006/relationships/tags" Target="../tags/tag66.xml"/><Relationship Id="rId22" Type="http://schemas.openxmlformats.org/officeDocument/2006/relationships/tags" Target="../tags/tag65.xml"/><Relationship Id="rId21" Type="http://schemas.openxmlformats.org/officeDocument/2006/relationships/tags" Target="../tags/tag64.xml"/><Relationship Id="rId20" Type="http://schemas.openxmlformats.org/officeDocument/2006/relationships/tags" Target="../tags/tag63.xml"/><Relationship Id="rId2" Type="http://schemas.openxmlformats.org/officeDocument/2006/relationships/tags" Target="../tags/tag49.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image" Target="../media/image16.svg"/><Relationship Id="rId14" Type="http://schemas.openxmlformats.org/officeDocument/2006/relationships/image" Target="../media/image15.png"/><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tags" Target="../tags/tag4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4" Type="http://schemas.openxmlformats.org/officeDocument/2006/relationships/notesSlide" Target="../notesSlides/notesSlide20.xml"/><Relationship Id="rId13" Type="http://schemas.openxmlformats.org/officeDocument/2006/relationships/slideLayout" Target="../slideLayouts/slideLayout12.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21.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6" Type="http://schemas.openxmlformats.org/officeDocument/2006/relationships/notesSlide" Target="../notesSlides/notesSlide21.xml"/><Relationship Id="rId15" Type="http://schemas.openxmlformats.org/officeDocument/2006/relationships/slideLayout" Target="../slideLayouts/slideLayout12.xml"/><Relationship Id="rId14" Type="http://schemas.openxmlformats.org/officeDocument/2006/relationships/tags" Target="../tags/tag98.xml"/><Relationship Id="rId13" Type="http://schemas.openxmlformats.org/officeDocument/2006/relationships/tags" Target="../tags/tag97.xml"/><Relationship Id="rId12" Type="http://schemas.openxmlformats.org/officeDocument/2006/relationships/tags" Target="../tags/tag96.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tags" Target="../tags/tag85.xml"/></Relationships>
</file>

<file path=ppt/slides/_rels/slide22.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4" Type="http://schemas.openxmlformats.org/officeDocument/2006/relationships/notesSlide" Target="../notesSlides/notesSlide22.xml"/><Relationship Id="rId13" Type="http://schemas.openxmlformats.org/officeDocument/2006/relationships/slideLayout" Target="../slideLayouts/slideLayout12.xml"/><Relationship Id="rId12" Type="http://schemas.openxmlformats.org/officeDocument/2006/relationships/tags" Target="../tags/tag110.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tags" Target="../tags/tag9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4" Type="http://schemas.openxmlformats.org/officeDocument/2006/relationships/notesSlide" Target="../notesSlides/notesSlide29.xml"/><Relationship Id="rId13" Type="http://schemas.openxmlformats.org/officeDocument/2006/relationships/slideLayout" Target="../slideLayouts/slideLayout12.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tags" Target="../tags/tag111.xml"/></Relationships>
</file>

<file path=ppt/slides/_rels/slide30.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1" Type="http://schemas.openxmlformats.org/officeDocument/2006/relationships/notesSlide" Target="../notesSlides/notesSlide30.xml"/><Relationship Id="rId10" Type="http://schemas.openxmlformats.org/officeDocument/2006/relationships/slideLayout" Target="../slideLayouts/slideLayout12.xml"/><Relationship Id="rId1" Type="http://schemas.openxmlformats.org/officeDocument/2006/relationships/tags" Target="../tags/tag12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6" Type="http://schemas.openxmlformats.org/officeDocument/2006/relationships/notesSlide" Target="../notesSlides/notesSlide34.xml"/><Relationship Id="rId15" Type="http://schemas.openxmlformats.org/officeDocument/2006/relationships/slideLayout" Target="../slideLayouts/slideLayout12.xml"/><Relationship Id="rId14" Type="http://schemas.openxmlformats.org/officeDocument/2006/relationships/image" Target="../media/image28.png"/><Relationship Id="rId13" Type="http://schemas.openxmlformats.org/officeDocument/2006/relationships/tags" Target="../tags/tag144.xml"/><Relationship Id="rId12" Type="http://schemas.openxmlformats.org/officeDocument/2006/relationships/tags" Target="../tags/tag143.xml"/><Relationship Id="rId11" Type="http://schemas.openxmlformats.org/officeDocument/2006/relationships/tags" Target="../tags/tag142.xml"/><Relationship Id="rId10" Type="http://schemas.openxmlformats.org/officeDocument/2006/relationships/tags" Target="../tags/tag141.xml"/><Relationship Id="rId1" Type="http://schemas.openxmlformats.org/officeDocument/2006/relationships/tags" Target="../tags/tag13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2.xml"/><Relationship Id="rId2" Type="http://schemas.openxmlformats.org/officeDocument/2006/relationships/image" Target="../media/image36.svg"/><Relationship Id="rId1"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AutoShape 4"/>
          <p:cNvSpPr/>
          <p:nvPr/>
        </p:nvSpPr>
        <p:spPr>
          <a:xfrm>
            <a:off x="635000" y="1778000"/>
            <a:ext cx="1092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决策树演进与核心算法解析报告</a:t>
            </a:r>
            <a:endParaRPr lang="en-US" sz="1100"/>
          </a:p>
        </p:txBody>
      </p:sp>
      <p:sp>
        <p:nvSpPr>
          <p:cNvPr id="5" name="AutoShape 5"/>
          <p:cNvSpPr/>
          <p:nvPr/>
        </p:nvSpPr>
        <p:spPr>
          <a:xfrm>
            <a:off x="1016000" y="25400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从CLS到ID3、C4.5的深度剖析</a:t>
            </a:r>
            <a:endParaRPr lang="en-US" sz="1100"/>
          </a:p>
        </p:txBody>
      </p:sp>
      <p:cxnSp>
        <p:nvCxnSpPr>
          <p:cNvPr id="6" name="Connector 6"/>
          <p:cNvCxnSpPr/>
          <p:nvPr/>
        </p:nvCxnSpPr>
        <p:spPr>
          <a:xfrm rot="-34376">
            <a:off x="5461032" y="3168650"/>
            <a:ext cx="1270000" cy="12700"/>
          </a:xfrm>
          <a:prstGeom prst="line">
            <a:avLst/>
          </a:prstGeom>
          <a:solidFill>
            <a:srgbClr val="DEE0E3">
              <a:alpha val="100000"/>
            </a:srgbClr>
          </a:solidFill>
          <a:ln w="38100" cap="flat" cmpd="sng">
            <a:solidFill>
              <a:srgbClr val="4A90E2">
                <a:alpha val="100000"/>
              </a:srgbClr>
            </a:solidFill>
            <a:prstDash val="solid"/>
            <a:round/>
            <a:headEnd type="none" w="lg" len="lg"/>
            <a:tailEnd type="none" w="lg" len="lg"/>
          </a:ln>
        </p:spPr>
      </p:cxnSp>
      <p:sp>
        <p:nvSpPr>
          <p:cNvPr id="7" name="AutoShape 7"/>
          <p:cNvSpPr/>
          <p:nvPr/>
        </p:nvSpPr>
        <p:spPr>
          <a:xfrm>
            <a:off x="3556000" y="4064000"/>
            <a:ext cx="508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报告人：</a:t>
            </a:r>
            <a:r>
              <a:rPr lang="zh-CN" alt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王倬博</a:t>
            </a:r>
            <a:endParaRPr lang="zh-CN" alt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556000" y="4445000"/>
            <a:ext cx="508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日期：202604</a:t>
            </a:r>
            <a:endParaRPr lang="en-US" sz="1100"/>
          </a:p>
        </p:txBody>
      </p:sp>
      <p:sp>
        <p:nvSpPr>
          <p:cNvPr id="9" name="AutoShape 9"/>
          <p:cNvSpPr/>
          <p:nvPr/>
        </p:nvSpPr>
        <p:spPr>
          <a:xfrm>
            <a:off x="0" y="6756400"/>
            <a:ext cx="12192000" cy="1016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 name="图片 1"/>
          <p:cNvPicPr>
            <a:picLocks noChangeAspect="1"/>
          </p:cNvPicPr>
          <p:nvPr/>
        </p:nvPicPr>
        <p:blipFill>
          <a:blip r:embed="rId2"/>
          <a:stretch>
            <a:fillRect/>
          </a:stretch>
        </p:blipFill>
        <p:spPr>
          <a:xfrm>
            <a:off x="0" y="0"/>
            <a:ext cx="3206115" cy="11563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 CONTENTS</a:t>
            </a:r>
            <a:endParaRPr lang="en-US" sz="1100"/>
          </a:p>
        </p:txBody>
      </p:sp>
      <p:sp>
        <p:nvSpPr>
          <p:cNvPr id="3" name="AutoShape 3"/>
          <p:cNvSpPr/>
          <p:nvPr/>
        </p:nvSpPr>
        <p:spPr>
          <a:xfrm>
            <a:off x="762000" y="1524000"/>
            <a:ext cx="10668000" cy="381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01. 决策树基础概念与演进</a:t>
            </a:r>
            <a:endParaRPr lang="en-US" sz="1100"/>
          </a:p>
          <a:p>
            <a:pPr indent="0" algn="l">
              <a:lnSpc>
                <a:spcPct val="125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从基本定义到算法发展脉络，梳理从CLS到C4.5的演进历程。</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核心算法：ID3与C4.5深度解析</a:t>
            </a:r>
            <a:endPar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深入剖析信息增益与增益率的原理，掌握核心算法的计算与应用。</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03. 属性选择与树剪枝策略详解</a:t>
            </a:r>
            <a:r>
              <a:rPr lang="zh-CN" alt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以及最新研究成果</a:t>
            </a:r>
            <a:endPar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探讨决策树优化的关键技术，包括属性选择方法与剪枝策略。</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04. 总结与展望</a:t>
            </a:r>
            <a:endPar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回顾核心要点，探讨决策树算法在实际场景中的应用价值与未来方向。</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1270000"/>
            <a:ext cx="10922000" cy="4318000"/>
          </a:xfrm>
          <a:prstGeom prst="roundRect">
            <a:avLst>
              <a:gd name="adj" fmla="val 2941"/>
            </a:avLst>
          </a:prstGeom>
          <a:solidFill>
            <a:srgbClr val="FFFFFF">
              <a:alpha val="100000"/>
            </a:srgbClr>
          </a:solidFill>
          <a:ln w="25400" cap="flat" cmpd="sng">
            <a:noFill/>
            <a:prstDash val="solid"/>
            <a:round/>
          </a:ln>
          <a:effectLst>
            <a:outerShdw blurRad="254000" dist="127000" dir="5400000" algn="tl" rotWithShape="0">
              <a:srgbClr val="003366">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635000" y="1651000"/>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spc="40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CHAPTER 01</a:t>
            </a:r>
            <a:endParaRPr lang="en-US" sz="1100"/>
          </a:p>
        </p:txBody>
      </p:sp>
      <p:sp>
        <p:nvSpPr>
          <p:cNvPr id="6" name="AutoShape 6"/>
          <p:cNvSpPr/>
          <p:nvPr/>
        </p:nvSpPr>
        <p:spPr>
          <a:xfrm>
            <a:off x="2324100" y="2334260"/>
            <a:ext cx="7543800" cy="96139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决策树基础概念与演进</a:t>
            </a:r>
            <a:endParaRPr lang="en-US" sz="1100"/>
          </a:p>
        </p:txBody>
      </p:sp>
      <p:cxnSp>
        <p:nvCxnSpPr>
          <p:cNvPr id="7" name="Connector 7"/>
          <p:cNvCxnSpPr/>
          <p:nvPr/>
        </p:nvCxnSpPr>
        <p:spPr>
          <a:xfrm rot="-34376">
            <a:off x="5441982" y="3422650"/>
            <a:ext cx="1270000" cy="12700"/>
          </a:xfrm>
          <a:prstGeom prst="line">
            <a:avLst/>
          </a:prstGeom>
          <a:solidFill>
            <a:srgbClr val="DEE0E3">
              <a:alpha val="100000"/>
            </a:srgbClr>
          </a:solidFill>
          <a:ln w="25400" cap="flat" cmpd="sng">
            <a:solidFill>
              <a:srgbClr val="003366">
                <a:alpha val="100000"/>
              </a:srgbClr>
            </a:solidFill>
            <a:prstDash val="solid"/>
            <a:round/>
            <a:headEnd type="none" w="lg" len="lg"/>
            <a:tailEnd type="none" w="lg" len="lg"/>
          </a:ln>
        </p:spPr>
      </p:cxnSp>
      <p:sp>
        <p:nvSpPr>
          <p:cNvPr id="8" name="AutoShape 8"/>
          <p:cNvSpPr/>
          <p:nvPr/>
        </p:nvSpPr>
        <p:spPr>
          <a:xfrm>
            <a:off x="1016000" y="356235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从基本定义到算法发展脉络</a:t>
            </a:r>
            <a:endParaRPr lang="en-US" sz="1100"/>
          </a:p>
        </p:txBody>
      </p:sp>
      <p:sp>
        <p:nvSpPr>
          <p:cNvPr id="9" name="AutoShape 9"/>
          <p:cNvSpPr/>
          <p:nvPr/>
        </p:nvSpPr>
        <p:spPr>
          <a:xfrm>
            <a:off x="0" y="6807200"/>
            <a:ext cx="12192000" cy="508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什么是决策树？</a:t>
            </a:r>
            <a:endParaRPr lang="en-US" sz="1100"/>
          </a:p>
        </p:txBody>
      </p:sp>
      <p:sp>
        <p:nvSpPr>
          <p:cNvPr id="3" name="AutoShape 3"/>
          <p:cNvSpPr/>
          <p:nvPr/>
        </p:nvSpPr>
        <p:spPr>
          <a:xfrm>
            <a:off x="762000" y="12192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334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6" name="AutoShape 6"/>
          <p:cNvSpPr/>
          <p:nvPr/>
        </p:nvSpPr>
        <p:spPr>
          <a:xfrm>
            <a:off x="1066800" y="1651000"/>
            <a:ext cx="48387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核心概念</a:t>
            </a:r>
            <a:endParaRPr lang="en-US" sz="1100"/>
          </a:p>
          <a:p>
            <a:pPr indent="0" algn="l">
              <a:lnSpc>
                <a:spcPct val="108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一种监督学习算法，广泛应用于分类和回归任务。通过递归划分特征空间，构建树状决策模型。</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2857500"/>
            <a:ext cx="5334000" cy="889000"/>
          </a:xfrm>
          <a:prstGeom prst="roundRect">
            <a:avLst>
              <a:gd name="adj" fmla="val 14285"/>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1066800" y="2984500"/>
            <a:ext cx="48387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核心思想：分而治之 (Divide and Conquer)</a:t>
            </a:r>
            <a:endParaRPr lang="en-US" sz="1100"/>
          </a:p>
          <a:p>
            <a:pPr indent="0" algn="l">
              <a:lnSpc>
                <a:spcPct val="108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将复杂的决策问题递归分解为一系列简单的判断。</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3937000"/>
            <a:ext cx="5334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2" name="AutoShape 12"/>
          <p:cNvSpPr/>
          <p:nvPr/>
        </p:nvSpPr>
        <p:spPr>
          <a:xfrm>
            <a:off x="1067435" y="4064000"/>
            <a:ext cx="4838065"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基本结构</a:t>
            </a:r>
            <a:endParaRPr lang="en-US" sz="1100"/>
          </a:p>
          <a:p>
            <a:pPr marL="177800" indent="-177800" algn="l">
              <a:lnSpc>
                <a:spcPct val="108000"/>
              </a:lnSpc>
              <a:buClr>
                <a:srgbClr val="666666"/>
              </a:buClr>
              <a:buChar cha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根节点 (Root Node)：</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决策起点，包含所有训练样本。</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08000"/>
              </a:lnSpc>
              <a:buClr>
                <a:srgbClr val="666666"/>
              </a:buClr>
              <a:buChar cha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内部节点 = 提问题：</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特征测试（例如“年龄&gt;30？”），分支对应答案（是/否）。</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08000"/>
              </a:lnSpc>
              <a:buClr>
                <a:srgbClr val="666666"/>
              </a:buClr>
              <a:buChar cha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叶节点 = 最终分类结果：</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代表最终的分类或回归结果。</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477000" y="1524000"/>
            <a:ext cx="4953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1"/>
          <a:srcRect l="99" r="99"/>
          <a:stretch>
            <a:fillRect/>
          </a:stretch>
        </p:blipFill>
        <p:spPr>
          <a:xfrm>
            <a:off x="7378700" y="1714500"/>
            <a:ext cx="3149600" cy="2324100"/>
          </a:xfrm>
          <a:prstGeom prst="rect">
            <a:avLst/>
          </a:prstGeom>
          <a:noFill/>
          <a:ln w="25400" cap="flat" cmpd="sng">
            <a:noFill/>
            <a:prstDash val="solid"/>
            <a:round/>
          </a:ln>
        </p:spPr>
      </p:pic>
      <p:sp>
        <p:nvSpPr>
          <p:cNvPr id="15" name="AutoShape 15"/>
          <p:cNvSpPr/>
          <p:nvPr/>
        </p:nvSpPr>
        <p:spPr>
          <a:xfrm>
            <a:off x="6477000" y="4445000"/>
            <a:ext cx="495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图：决策树结构示意图（圆形为节点，方形为叶）</a:t>
            </a:r>
            <a:endParaRPr lang="en-US" sz="1100"/>
          </a:p>
        </p:txBody>
      </p:sp>
      <p:sp>
        <p:nvSpPr>
          <p:cNvPr id="16" name="AutoShape 16"/>
          <p:cNvSpPr/>
          <p:nvPr/>
        </p:nvSpPr>
        <p:spPr>
          <a:xfrm>
            <a:off x="6477000" y="4953000"/>
            <a:ext cx="4953000" cy="889000"/>
          </a:xfrm>
          <a:prstGeom prst="roundRect">
            <a:avLst>
              <a:gd name="adj" fmla="val 14285"/>
            </a:avLst>
          </a:prstGeom>
          <a:solidFill>
            <a:srgbClr val="4A90E2">
              <a:alpha val="10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688455" y="5080000"/>
            <a:ext cx="4551045"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关键特征</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结构直观、易于解释，无需数据归一化，擅长处理非线性关系。</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决策树的演进历程</a:t>
            </a:r>
            <a:endParaRPr lang="en-US" sz="1100"/>
          </a:p>
        </p:txBody>
      </p:sp>
      <p:sp>
        <p:nvSpPr>
          <p:cNvPr id="3" name="AutoShape 3"/>
          <p:cNvSpPr/>
          <p:nvPr>
            <p:custDataLst>
              <p:tags r:id="rId1"/>
            </p:custDataLst>
          </p:nvPr>
        </p:nvSpPr>
        <p:spPr>
          <a:xfrm>
            <a:off x="762000" y="1524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524000"/>
            <a:ext cx="3302000" cy="762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952500" y="1778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1966 CLS算法</a:t>
            </a:r>
            <a:endParaRPr lang="en-US" sz="1100"/>
          </a:p>
        </p:txBody>
      </p:sp>
      <p:sp>
        <p:nvSpPr>
          <p:cNvPr id="6" name="AutoShape 6"/>
          <p:cNvSpPr/>
          <p:nvPr>
            <p:custDataLst>
              <p:tags r:id="rId4"/>
            </p:custDataLst>
          </p:nvPr>
        </p:nvSpPr>
        <p:spPr>
          <a:xfrm>
            <a:off x="952500" y="22860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由Hunt等人提出，是决策树的雏形。确立了“属性测试-分支划分”的基本范式，但缺乏系统性的属性选择方法。</a:t>
            </a:r>
            <a:endParaRPr lang="en-US" sz="1100"/>
          </a:p>
        </p:txBody>
      </p:sp>
      <p:pic>
        <p:nvPicPr>
          <p:cNvPr id="7" name="Picture 7"/>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68500" y="3810000"/>
            <a:ext cx="889000" cy="889000"/>
          </a:xfrm>
          <a:prstGeom prst="rect">
            <a:avLst/>
          </a:prstGeom>
        </p:spPr>
      </p:pic>
      <p:sp>
        <p:nvSpPr>
          <p:cNvPr id="8" name="AutoShape 8"/>
          <p:cNvSpPr/>
          <p:nvPr>
            <p:custDataLst>
              <p:tags r:id="rId8"/>
            </p:custDataLst>
          </p:nvPr>
        </p:nvSpPr>
        <p:spPr>
          <a:xfrm>
            <a:off x="4445000" y="1524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custDataLst>
              <p:tags r:id="rId9"/>
            </p:custDataLst>
          </p:nvPr>
        </p:nvSpPr>
        <p:spPr>
          <a:xfrm>
            <a:off x="4445000" y="1524000"/>
            <a:ext cx="3302000" cy="762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10"/>
            </p:custDataLst>
          </p:nvPr>
        </p:nvSpPr>
        <p:spPr>
          <a:xfrm>
            <a:off x="4635500" y="1778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1986 ID3算法</a:t>
            </a:r>
            <a:endParaRPr lang="en-US" sz="1100"/>
          </a:p>
        </p:txBody>
      </p:sp>
      <p:sp>
        <p:nvSpPr>
          <p:cNvPr id="11" name="AutoShape 11"/>
          <p:cNvSpPr/>
          <p:nvPr>
            <p:custDataLst>
              <p:tags r:id="rId11"/>
            </p:custDataLst>
          </p:nvPr>
        </p:nvSpPr>
        <p:spPr>
          <a:xfrm>
            <a:off x="4635500" y="2286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Ross Quinlan提出，首次引入</a:t>
            </a: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作为属性选择标准，奠定了现代决策树的理论基础。</a:t>
            </a:r>
            <a:endParaRPr lang="en-US" sz="1100"/>
          </a:p>
        </p:txBody>
      </p:sp>
      <p:sp>
        <p:nvSpPr>
          <p:cNvPr id="13" name="AutoShape 13"/>
          <p:cNvSpPr/>
          <p:nvPr>
            <p:custDataLst>
              <p:tags r:id="rId12"/>
            </p:custDataLst>
          </p:nvPr>
        </p:nvSpPr>
        <p:spPr>
          <a:xfrm>
            <a:off x="8128000" y="1524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custDataLst>
              <p:tags r:id="rId13"/>
            </p:custDataLst>
          </p:nvPr>
        </p:nvSpPr>
        <p:spPr>
          <a:xfrm>
            <a:off x="8128000" y="1524000"/>
            <a:ext cx="3302000" cy="76200"/>
          </a:xfrm>
          <a:prstGeom prst="roundRect">
            <a:avLst>
              <a:gd name="adj" fmla="val 0"/>
            </a:avLst>
          </a:prstGeom>
          <a:solidFill>
            <a:srgbClr val="6666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4"/>
            </p:custDataLst>
          </p:nvPr>
        </p:nvSpPr>
        <p:spPr>
          <a:xfrm>
            <a:off x="8318500" y="1778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1993 C4.5算法</a:t>
            </a:r>
            <a:endParaRPr lang="en-US" sz="1100"/>
          </a:p>
        </p:txBody>
      </p:sp>
      <p:sp>
        <p:nvSpPr>
          <p:cNvPr id="16" name="AutoShape 16"/>
          <p:cNvSpPr/>
          <p:nvPr>
            <p:custDataLst>
              <p:tags r:id="rId15"/>
            </p:custDataLst>
          </p:nvPr>
        </p:nvSpPr>
        <p:spPr>
          <a:xfrm>
            <a:off x="8318500" y="2286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ID3的重大改进，使用</a:t>
            </a: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解决偏向问题，支持连续值、缺失值处理和剪枝，成为经典算法。</a:t>
            </a:r>
            <a:endParaRPr lang="en-US" sz="1100"/>
          </a:p>
        </p:txBody>
      </p:sp>
      <p:pic>
        <p:nvPicPr>
          <p:cNvPr id="17" name="Picture 17"/>
          <p:cNvPicPr>
            <a:picLocks noChangeAspect="1"/>
          </p:cNvPicPr>
          <p:nvPr>
            <p:custDataLst>
              <p:tags r:id="rId16"/>
            </p:custDataLst>
          </p:nvPr>
        </p:nvPicPr>
        <p:blipFill>
          <a:blip r:embed="rId17"/>
          <a:srcRect l="6367" t="23791" r="13922"/>
          <a:stretch>
            <a:fillRect/>
          </a:stretch>
        </p:blipFill>
        <p:spPr>
          <a:xfrm>
            <a:off x="8261985" y="3343275"/>
            <a:ext cx="3034030" cy="2176145"/>
          </a:xfrm>
          <a:prstGeom prst="roundRect">
            <a:avLst>
              <a:gd name="adj" fmla="val 2941"/>
            </a:avLst>
          </a:prstGeom>
          <a:noFill/>
          <a:ln w="25400" cap="flat" cmpd="sng">
            <a:noFill/>
            <a:prstDash val="solid"/>
            <a:round/>
          </a:ln>
        </p:spPr>
      </p:pic>
      <p:sp>
        <p:nvSpPr>
          <p:cNvPr id="18" name="AutoShape 18"/>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 CLS 的框架雏形，到 ID3 的理论奠基，再到 C4.5 的成熟完善，决策树算法逐步走向实用化与标准化。</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181100" y="1651000"/>
            <a:ext cx="9829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核心算法：ID3与C4.5解析</a:t>
            </a:r>
            <a:endParaRPr lang="en-US" sz="1100"/>
          </a:p>
        </p:txBody>
      </p:sp>
      <p:sp>
        <p:nvSpPr>
          <p:cNvPr id="4" name="AutoShape 4"/>
          <p:cNvSpPr/>
          <p:nvPr/>
        </p:nvSpPr>
        <p:spPr>
          <a:xfrm>
            <a:off x="5715000" y="2413000"/>
            <a:ext cx="762000" cy="508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667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信息增益与增益率的原理与应用</a:t>
            </a:r>
            <a:endParaRPr lang="en-US" sz="1100"/>
          </a:p>
        </p:txBody>
      </p:sp>
      <p:sp>
        <p:nvSpPr>
          <p:cNvPr id="6" name="AutoShape 6"/>
          <p:cNvSpPr/>
          <p:nvPr>
            <p:custDataLst>
              <p:tags r:id="rId1"/>
            </p:custDataLst>
          </p:nvPr>
        </p:nvSpPr>
        <p:spPr>
          <a:xfrm>
            <a:off x="2835275" y="3701415"/>
            <a:ext cx="2006600" cy="772795"/>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8" name="AutoShape 8"/>
          <p:cNvSpPr/>
          <p:nvPr>
            <p:custDataLst>
              <p:tags r:id="rId2"/>
            </p:custDataLst>
          </p:nvPr>
        </p:nvSpPr>
        <p:spPr>
          <a:xfrm>
            <a:off x="2835275" y="3847147"/>
            <a:ext cx="2006600" cy="376237"/>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a:t>
            </a:r>
            <a:endParaRPr lang="en-US" sz="1100"/>
          </a:p>
        </p:txBody>
      </p:sp>
      <p:sp>
        <p:nvSpPr>
          <p:cNvPr id="9" name="AutoShape 9"/>
          <p:cNvSpPr/>
          <p:nvPr>
            <p:custDataLst>
              <p:tags r:id="rId3"/>
            </p:custDataLst>
          </p:nvPr>
        </p:nvSpPr>
        <p:spPr>
          <a:xfrm>
            <a:off x="5092700" y="3701415"/>
            <a:ext cx="2006600" cy="772795"/>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1" name="AutoShape 11"/>
          <p:cNvSpPr/>
          <p:nvPr>
            <p:custDataLst>
              <p:tags r:id="rId4"/>
            </p:custDataLst>
          </p:nvPr>
        </p:nvSpPr>
        <p:spPr>
          <a:xfrm>
            <a:off x="5092700" y="3847147"/>
            <a:ext cx="2006600" cy="376237"/>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a:t>
            </a:r>
            <a:endParaRPr lang="en-US" sz="1100"/>
          </a:p>
        </p:txBody>
      </p:sp>
      <p:sp>
        <p:nvSpPr>
          <p:cNvPr id="12" name="AutoShape 12"/>
          <p:cNvSpPr/>
          <p:nvPr>
            <p:custDataLst>
              <p:tags r:id="rId5"/>
            </p:custDataLst>
          </p:nvPr>
        </p:nvSpPr>
        <p:spPr>
          <a:xfrm>
            <a:off x="7350125" y="3701415"/>
            <a:ext cx="2006600" cy="772795"/>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4" name="AutoShape 14"/>
          <p:cNvSpPr/>
          <p:nvPr>
            <p:custDataLst>
              <p:tags r:id="rId6"/>
            </p:custDataLst>
          </p:nvPr>
        </p:nvSpPr>
        <p:spPr>
          <a:xfrm>
            <a:off x="7350125" y="3847147"/>
            <a:ext cx="2006600" cy="376237"/>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决策树构建</a:t>
            </a:r>
            <a:endParaRPr lang="en-US" sz="1100"/>
          </a:p>
        </p:txBody>
      </p:sp>
      <p:sp>
        <p:nvSpPr>
          <p:cNvPr id="15" name="AutoShape 15"/>
          <p:cNvSpPr/>
          <p:nvPr/>
        </p:nvSpPr>
        <p:spPr>
          <a:xfrm>
            <a:off x="0" y="6705600"/>
            <a:ext cx="12192000" cy="152400"/>
          </a:xfrm>
          <a:prstGeom prst="roundRect">
            <a:avLst>
              <a:gd name="adj" fmla="val 0"/>
            </a:avLst>
          </a:prstGeom>
          <a:solidFill>
            <a:srgbClr val="66666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信息熵公式详解</a:t>
            </a:r>
            <a:endParaRPr lang="en-US" sz="1100"/>
          </a:p>
        </p:txBody>
      </p:sp>
      <p:sp>
        <p:nvSpPr>
          <p:cNvPr id="3" name="AutoShape 3"/>
          <p:cNvSpPr/>
          <p:nvPr/>
        </p:nvSpPr>
        <p:spPr>
          <a:xfrm>
            <a:off x="762000" y="1397000"/>
            <a:ext cx="3556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889000" y="15875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数学表达式</a:t>
            </a:r>
            <a:endParaRPr lang="en-US" sz="1100"/>
          </a:p>
        </p:txBody>
      </p:sp>
      <p:sp>
        <p:nvSpPr>
          <p:cNvPr id="5" name="AutoShape 5"/>
          <p:cNvSpPr/>
          <p:nvPr/>
        </p:nvSpPr>
        <p:spPr>
          <a:xfrm>
            <a:off x="889000" y="2032000"/>
            <a:ext cx="330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i="1" u="none" strike="noStrike">
                <a:solidFill>
                  <a:srgbClr val="003366"/>
                </a:solidFill>
                <a:latin typeface="Times New Roman" panose="02020603050405020304"/>
                <a:ea typeface="Times New Roman" panose="02020603050405020304"/>
                <a:cs typeface="Times New Roman" panose="02020603050405020304"/>
                <a:sym typeface="Times New Roman" panose="02020603050405020304"/>
              </a:rPr>
              <a:t>Entropy(S) = -∑ pᵢ log₂(pᵢ)</a:t>
            </a:r>
            <a:endParaRPr lang="en-US" sz="1100" i="1"/>
          </a:p>
        </p:txBody>
      </p:sp>
      <p:sp>
        <p:nvSpPr>
          <p:cNvPr id="6" name="AutoShape 6"/>
          <p:cNvSpPr/>
          <p:nvPr/>
        </p:nvSpPr>
        <p:spPr>
          <a:xfrm>
            <a:off x="889000" y="3048000"/>
            <a:ext cx="3302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用于量化随机变量的平均信息量</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即数据集的“纯度”或“不确定性”</a:t>
            </a:r>
            <a:endParaRPr lang="en-US" sz="1100"/>
          </a:p>
        </p:txBody>
      </p:sp>
      <p:sp>
        <p:nvSpPr>
          <p:cNvPr id="7" name="AutoShape 7"/>
          <p:cNvSpPr/>
          <p:nvPr/>
        </p:nvSpPr>
        <p:spPr>
          <a:xfrm>
            <a:off x="762000" y="4445000"/>
            <a:ext cx="3556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8000"/>
              </a:srgbClr>
            </a:outerShdw>
          </a:effectLst>
        </p:spPr>
        <p:txBody>
          <a:bodyPr vert="horz" wrap="square" lIns="63500" tIns="63500" rIns="63500" bIns="63500" rtlCol="0" anchor="ctr"/>
          <a:lstStyle/>
          <a:p>
            <a:pPr algn="ctr">
              <a:defRPr/>
            </a:pPr>
          </a:p>
        </p:txBody>
      </p:sp>
      <p:sp>
        <p:nvSpPr>
          <p:cNvPr id="8" name="AutoShape 8"/>
          <p:cNvSpPr/>
          <p:nvPr/>
        </p:nvSpPr>
        <p:spPr>
          <a:xfrm>
            <a:off x="889000" y="4572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计算结果的意义</a:t>
            </a:r>
            <a:endParaRPr lang="en-US" sz="1100"/>
          </a:p>
        </p:txBody>
      </p:sp>
      <p:sp>
        <p:nvSpPr>
          <p:cNvPr id="9" name="AutoShape 9"/>
          <p:cNvSpPr/>
          <p:nvPr/>
        </p:nvSpPr>
        <p:spPr>
          <a:xfrm>
            <a:off x="889000" y="49530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Ent(D) 越小：</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纯度越高，样本越集中</a:t>
            </a:r>
            <a:endParaRPr lang="en-US" sz="1100"/>
          </a:p>
          <a:p>
            <a:pPr indent="0" algn="l">
              <a:lnSpc>
                <a:spcPct val="100000"/>
              </a:lnSpc>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Ent(D) 越大：</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混乱度越高，分布越均匀</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826000" y="1397000"/>
            <a:ext cx="660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参数深度解析</a:t>
            </a:r>
            <a:endParaRPr lang="en-US" sz="1100"/>
          </a:p>
        </p:txBody>
      </p:sp>
      <p:sp>
        <p:nvSpPr>
          <p:cNvPr id="11" name="AutoShape 11"/>
          <p:cNvSpPr/>
          <p:nvPr>
            <p:custDataLst>
              <p:tags r:id="rId1"/>
            </p:custDataLst>
          </p:nvPr>
        </p:nvSpPr>
        <p:spPr>
          <a:xfrm>
            <a:off x="4826000" y="1905000"/>
            <a:ext cx="3175000" cy="1016000"/>
          </a:xfrm>
          <a:prstGeom prst="roundRect">
            <a:avLst>
              <a:gd name="adj" fmla="val 12500"/>
            </a:avLst>
          </a:prstGeom>
          <a:solidFill>
            <a:srgbClr val="FFFFFF">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2"/>
            </p:custDataLst>
          </p:nvPr>
        </p:nvSpPr>
        <p:spPr>
          <a:xfrm>
            <a:off x="5017135" y="2032000"/>
            <a:ext cx="2856865"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样本数据集 (S)</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当前分析的样本数据集。</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3"/>
            </p:custDataLst>
          </p:nvPr>
        </p:nvSpPr>
        <p:spPr>
          <a:xfrm>
            <a:off x="8255000" y="1905000"/>
            <a:ext cx="3175000" cy="1016000"/>
          </a:xfrm>
          <a:prstGeom prst="roundRect">
            <a:avLst>
              <a:gd name="adj" fmla="val 12500"/>
            </a:avLst>
          </a:prstGeom>
          <a:solidFill>
            <a:srgbClr val="FFFFFF">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16" name="AutoShape 16"/>
          <p:cNvSpPr/>
          <p:nvPr>
            <p:custDataLst>
              <p:tags r:id="rId4"/>
            </p:custDataLst>
          </p:nvPr>
        </p:nvSpPr>
        <p:spPr>
          <a:xfrm>
            <a:off x="8445500" y="2032000"/>
            <a:ext cx="2857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类别数量 (m)</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数据集中不同类别的数量。</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5"/>
            </p:custDataLst>
          </p:nvPr>
        </p:nvSpPr>
        <p:spPr>
          <a:xfrm>
            <a:off x="4826000" y="3048000"/>
            <a:ext cx="3175000" cy="1016000"/>
          </a:xfrm>
          <a:prstGeom prst="roundRect">
            <a:avLst>
              <a:gd name="adj" fmla="val 12500"/>
            </a:avLst>
          </a:prstGeom>
          <a:solidFill>
            <a:srgbClr val="FFFFFF">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19" name="AutoShape 19"/>
          <p:cNvSpPr/>
          <p:nvPr>
            <p:custDataLst>
              <p:tags r:id="rId6"/>
            </p:custDataLst>
          </p:nvPr>
        </p:nvSpPr>
        <p:spPr>
          <a:xfrm>
            <a:off x="5017135" y="3175000"/>
            <a:ext cx="2856865"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类别占比 (pₖ)</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第k类样本在数据集中的占比。</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7"/>
            </p:custDataLst>
          </p:nvPr>
        </p:nvSpPr>
        <p:spPr>
          <a:xfrm>
            <a:off x="8255000" y="3048000"/>
            <a:ext cx="3175000" cy="1016000"/>
          </a:xfrm>
          <a:prstGeom prst="roundRect">
            <a:avLst>
              <a:gd name="adj" fmla="val 12500"/>
            </a:avLst>
          </a:prstGeom>
          <a:solidFill>
            <a:srgbClr val="FFFFFF">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22" name="AutoShape 22"/>
          <p:cNvSpPr/>
          <p:nvPr>
            <p:custDataLst>
              <p:tags r:id="rId8"/>
            </p:custDataLst>
          </p:nvPr>
        </p:nvSpPr>
        <p:spPr>
          <a:xfrm>
            <a:off x="8445500" y="3175000"/>
            <a:ext cx="2857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对数函数 (log₂)</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以2为底的对数，用于计算信息量。</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4826000" y="4318000"/>
            <a:ext cx="6604000" cy="1524000"/>
          </a:xfrm>
          <a:prstGeom prst="roundRect">
            <a:avLst>
              <a:gd name="adj" fmla="val 8333"/>
            </a:avLst>
          </a:prstGeom>
          <a:solidFill>
            <a:srgbClr val="4A90E2">
              <a:alpha val="10000"/>
            </a:srgbClr>
          </a:solidFill>
          <a:ln w="12700" cap="flat" cmpd="sng">
            <a:solidFill>
              <a:srgbClr val="4A90E2">
                <a:alpha val="100000"/>
              </a:srgbClr>
            </a:solidFill>
            <a:prstDash val="dash"/>
            <a:round/>
          </a:ln>
        </p:spPr>
        <p:txBody>
          <a:bodyPr vert="horz" wrap="square" lIns="63500" tIns="63500" rIns="63500" bIns="63500" rtlCol="0" anchor="ctr"/>
          <a:lstStyle/>
          <a:p>
            <a:pPr algn="ctr">
              <a:defRPr/>
            </a:pPr>
          </a:p>
        </p:txBody>
      </p:sp>
      <p:sp>
        <p:nvSpPr>
          <p:cNvPr id="24" name="AutoShape 24"/>
          <p:cNvSpPr/>
          <p:nvPr/>
        </p:nvSpPr>
        <p:spPr>
          <a:xfrm>
            <a:off x="5016500" y="4445000"/>
            <a:ext cx="622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为什么这个公式准确？</a:t>
            </a:r>
            <a:endParaRPr lang="en-US" sz="1100"/>
          </a:p>
        </p:txBody>
      </p:sp>
      <p:sp>
        <p:nvSpPr>
          <p:cNvPr id="25" name="AutoShape 25"/>
          <p:cNvSpPr/>
          <p:nvPr/>
        </p:nvSpPr>
        <p:spPr>
          <a:xfrm>
            <a:off x="5016500" y="4826000"/>
            <a:ext cx="6223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熵是信息论的核心概念，它通过概率分布精准量化了数据集的“纯度”。因为它严格量化不确定性，是信息论的标准度量，能客观衡量数据集纯度。在决策树算法中，它为选择“最优划分属性”提供了科学、客观的数学依据，确保了分类过程的高效与准确。</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信息增益公式详解</a:t>
            </a:r>
            <a:endParaRPr lang="en-US" sz="1100"/>
          </a:p>
        </p:txBody>
      </p:sp>
      <p:sp>
        <p:nvSpPr>
          <p:cNvPr id="3" name="AutoShape 3"/>
          <p:cNvSpPr/>
          <p:nvPr/>
        </p:nvSpPr>
        <p:spPr>
          <a:xfrm>
            <a:off x="762000" y="1270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1460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▍公式定义 Formula</a:t>
            </a:r>
            <a:endParaRPr lang="en-US" sz="1100"/>
          </a:p>
        </p:txBody>
      </p:sp>
      <p:sp>
        <p:nvSpPr>
          <p:cNvPr id="5" name="AutoShape 5"/>
          <p:cNvSpPr/>
          <p:nvPr/>
        </p:nvSpPr>
        <p:spPr>
          <a:xfrm>
            <a:off x="1016000" y="1841500"/>
            <a:ext cx="4572000" cy="762000"/>
          </a:xfrm>
          <a:prstGeom prst="roundRect">
            <a:avLst>
              <a:gd name="adj" fmla="val 8333"/>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143000" y="1968500"/>
            <a:ext cx="431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3366"/>
                </a:solidFill>
                <a:latin typeface="Times New Roman" panose="02020603050405020304"/>
                <a:ea typeface="Times New Roman" panose="02020603050405020304"/>
                <a:cs typeface="Times New Roman" panose="02020603050405020304"/>
                <a:sym typeface="Times New Roman" panose="02020603050405020304"/>
              </a:rPr>
              <a:t>Gain(S,A) = Entropy(S) - ∑(|Sᵥ|/|S|)Entropy(Sᵥ)</a:t>
            </a:r>
            <a:endParaRPr lang="en-US" sz="1100"/>
          </a:p>
        </p:txBody>
      </p:sp>
      <p:sp>
        <p:nvSpPr>
          <p:cNvPr id="7" name="AutoShape 7"/>
          <p:cNvSpPr/>
          <p:nvPr/>
        </p:nvSpPr>
        <p:spPr>
          <a:xfrm>
            <a:off x="1016000" y="2794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▍计算步骤 Steps</a:t>
            </a:r>
            <a:endParaRPr lang="en-US" sz="1100"/>
          </a:p>
        </p:txBody>
      </p:sp>
      <p:sp>
        <p:nvSpPr>
          <p:cNvPr id="9" name="AutoShape 9"/>
          <p:cNvSpPr/>
          <p:nvPr/>
        </p:nvSpPr>
        <p:spPr>
          <a:xfrm>
            <a:off x="1143000" y="31496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计算原始熵：</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计算整个数据集S的信息熵 Ent(S)</a:t>
            </a:r>
            <a:endParaRPr lang="en-US" sz="1100"/>
          </a:p>
        </p:txBody>
      </p:sp>
      <p:sp>
        <p:nvSpPr>
          <p:cNvPr id="11" name="AutoShape 11"/>
          <p:cNvSpPr/>
          <p:nvPr/>
        </p:nvSpPr>
        <p:spPr>
          <a:xfrm>
            <a:off x="1143000" y="35306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计算条件熵：</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按属性 a 划分，计算各子集的加权平均熵</a:t>
            </a:r>
            <a:endParaRPr lang="en-US" sz="1100"/>
          </a:p>
        </p:txBody>
      </p:sp>
      <p:sp>
        <p:nvSpPr>
          <p:cNvPr id="13" name="AutoShape 13"/>
          <p:cNvSpPr/>
          <p:nvPr/>
        </p:nvSpPr>
        <p:spPr>
          <a:xfrm>
            <a:off x="1143000" y="39116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计算增益：</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原始熵减去加权平均熵，得到信息增益</a:t>
            </a:r>
            <a:endParaRPr lang="en-US" sz="1100"/>
          </a:p>
        </p:txBody>
      </p:sp>
      <p:sp>
        <p:nvSpPr>
          <p:cNvPr id="14" name="AutoShape 14"/>
          <p:cNvSpPr/>
          <p:nvPr/>
        </p:nvSpPr>
        <p:spPr>
          <a:xfrm>
            <a:off x="6096000" y="1270000"/>
            <a:ext cx="5334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6350000" y="14605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▍参数详解 Parameters</a:t>
            </a:r>
            <a:endParaRPr lang="en-US" sz="1100"/>
          </a:p>
        </p:txBody>
      </p:sp>
      <p:sp>
        <p:nvSpPr>
          <p:cNvPr id="16" name="AutoShape 16"/>
          <p:cNvSpPr/>
          <p:nvPr/>
        </p:nvSpPr>
        <p:spPr>
          <a:xfrm>
            <a:off x="6350000" y="18415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003366"/>
                </a:solidFill>
                <a:latin typeface="Times New Roman" panose="02020603050405020304"/>
                <a:ea typeface="Times New Roman" panose="02020603050405020304"/>
                <a:cs typeface="Times New Roman" panose="02020603050405020304"/>
                <a:sym typeface="Times New Roman" panose="02020603050405020304"/>
              </a:rPr>
              <a:t>S :</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原始样本数据集</a:t>
            </a:r>
            <a:endParaRPr lang="en-US" sz="1100"/>
          </a:p>
          <a:p>
            <a:pPr indent="0" algn="l">
              <a:lnSpc>
                <a:spcPct val="108000"/>
              </a:lnSpc>
            </a:pPr>
            <a:r>
              <a:rPr lang="en-US" sz="1400" b="1" i="0" u="none" strike="noStrike">
                <a:solidFill>
                  <a:srgbClr val="003366"/>
                </a:solidFill>
                <a:latin typeface="Times New Roman" panose="02020603050405020304"/>
                <a:ea typeface="Times New Roman" panose="02020603050405020304"/>
                <a:cs typeface="Times New Roman" panose="02020603050405020304"/>
                <a:sym typeface="Times New Roman" panose="02020603050405020304"/>
              </a:rPr>
              <a:t>A :</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用于划分数据的某个属性</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400" b="1" i="0" u="none" strike="noStrike">
                <a:solidFill>
                  <a:srgbClr val="003366"/>
                </a:solidFill>
                <a:latin typeface="Times New Roman" panose="02020603050405020304"/>
                <a:ea typeface="Times New Roman" panose="02020603050405020304"/>
                <a:cs typeface="Times New Roman" panose="02020603050405020304"/>
                <a:sym typeface="Times New Roman" panose="02020603050405020304"/>
              </a:rPr>
              <a:t>v :</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属性 A 的不同取值</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400" b="1" i="0" u="none" strike="noStrike">
                <a:solidFill>
                  <a:srgbClr val="003366"/>
                </a:solidFill>
                <a:latin typeface="Times New Roman" panose="02020603050405020304"/>
                <a:ea typeface="Times New Roman" panose="02020603050405020304"/>
                <a:cs typeface="Times New Roman" panose="02020603050405020304"/>
                <a:sym typeface="Times New Roman" panose="02020603050405020304"/>
              </a:rPr>
              <a:t>Sᵥ :</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属性 A 取值为 v 的样本子集</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400" b="1" i="0" u="none" strike="noStrike">
                <a:solidFill>
                  <a:srgbClr val="003366"/>
                </a:solidFill>
                <a:latin typeface="Times New Roman" panose="02020603050405020304"/>
                <a:ea typeface="Times New Roman" panose="02020603050405020304"/>
                <a:cs typeface="Times New Roman" panose="02020603050405020304"/>
                <a:sym typeface="Times New Roman" panose="02020603050405020304"/>
              </a:rPr>
              <a:t>|S| / |Sᵥ| :</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数据集总样本数 / 子集样本数</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350000" y="3302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▍结果意义 Significance</a:t>
            </a:r>
            <a:endParaRPr lang="en-US" sz="1100"/>
          </a:p>
        </p:txBody>
      </p:sp>
      <p:sp>
        <p:nvSpPr>
          <p:cNvPr id="18" name="AutoShape 18"/>
          <p:cNvSpPr/>
          <p:nvPr/>
        </p:nvSpPr>
        <p:spPr>
          <a:xfrm>
            <a:off x="6350000" y="36830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Gain(S, a) 越大，说明属性 a 的分类能力越强。因为它直接衡量“这个属性让数据变纯了多少”，数学上无偏、稳定、可解释。</a:t>
            </a:r>
            <a:endParaRPr lang="en-US" sz="1100"/>
          </a:p>
        </p:txBody>
      </p:sp>
      <p:sp>
        <p:nvSpPr>
          <p:cNvPr id="19" name="AutoShape 19"/>
          <p:cNvSpPr/>
          <p:nvPr/>
        </p:nvSpPr>
        <p:spPr>
          <a:xfrm>
            <a:off x="762000" y="4826000"/>
            <a:ext cx="10668000" cy="1270000"/>
          </a:xfrm>
          <a:prstGeom prst="roundRect">
            <a:avLst>
              <a:gd name="adj" fmla="val 10000"/>
            </a:avLst>
          </a:prstGeom>
          <a:solidFill>
            <a:srgbClr val="003366">
              <a:alpha val="100000"/>
            </a:srgbClr>
          </a:solidFill>
          <a:ln w="25400" cap="flat" cmpd="sng">
            <a:noFill/>
            <a:prstDash val="solid"/>
            <a:round/>
          </a:ln>
          <a:effectLst>
            <a:outerShdw blurRad="127000" dist="50800" dir="5400000" algn="tl" rotWithShape="0">
              <a:srgbClr val="003366">
                <a:alpha val="15000"/>
              </a:srgbClr>
            </a:outerShdw>
          </a:effectLst>
        </p:spPr>
        <p:txBody>
          <a:bodyPr vert="horz" wrap="square" lIns="63500" tIns="63500" rIns="63500" bIns="63500" rtlCol="0" anchor="ctr"/>
          <a:lstStyle/>
          <a:p>
            <a:pPr algn="ctr">
              <a:defRPr/>
            </a:pPr>
          </a:p>
        </p:txBody>
      </p:sp>
      <p:sp>
        <p:nvSpPr>
          <p:cNvPr id="21" name="AutoShape 21"/>
          <p:cNvSpPr/>
          <p:nvPr/>
        </p:nvSpPr>
        <p:spPr>
          <a:xfrm>
            <a:off x="1143635" y="4953000"/>
            <a:ext cx="10032365"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核心思想：量化纯度提升</a:t>
            </a:r>
            <a:endParaRPr lang="en-US" sz="1100"/>
          </a:p>
        </p:txBody>
      </p:sp>
      <p:sp>
        <p:nvSpPr>
          <p:cNvPr id="22" name="AutoShape 22"/>
          <p:cNvSpPr/>
          <p:nvPr/>
        </p:nvSpPr>
        <p:spPr>
          <a:xfrm>
            <a:off x="1143635" y="5334000"/>
            <a:ext cx="10032365" cy="609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信息增益直接衡量了通过某个属性划分前后，数据集“纯度”的提升幅度。它契合决策树“分而治之”的核心思想，即每次选择能最大程度降低数据混乱度的属性，是一种直观且有效的属性选择准则。</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信息增益手算案例</a:t>
            </a:r>
            <a:endParaRPr lang="en-US" sz="1100"/>
          </a:p>
        </p:txBody>
      </p:sp>
      <p:sp>
        <p:nvSpPr>
          <p:cNvPr id="3" name="AutoShape 3"/>
          <p:cNvSpPr/>
          <p:nvPr/>
        </p:nvSpPr>
        <p:spPr>
          <a:xfrm>
            <a:off x="762000" y="1270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952500" y="1397000"/>
            <a:ext cx="292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数据集：判断西瓜好坏</a:t>
            </a:r>
            <a:endParaRPr lang="en-US" sz="1100"/>
          </a:p>
        </p:txBody>
      </p:sp>
      <p:graphicFrame>
        <p:nvGraphicFramePr>
          <p:cNvPr id="5" name="Table 5"/>
          <p:cNvGraphicFramePr>
            <a:graphicFrameLocks noGrp="1"/>
          </p:cNvGraphicFramePr>
          <p:nvPr/>
        </p:nvGraphicFramePr>
        <p:xfrm>
          <a:off x="952500" y="1778000"/>
          <a:ext cx="2921000" cy="1905000"/>
        </p:xfrm>
        <a:graphic>
          <a:graphicData uri="http://schemas.openxmlformats.org/drawingml/2006/table">
            <a:tbl>
              <a:tblPr>
                <a:effectLst/>
              </a:tblPr>
              <a:tblGrid>
                <a:gridCol w="762000"/>
                <a:gridCol w="762000"/>
                <a:gridCol w="762000"/>
                <a:gridCol w="635000"/>
              </a:tblGrid>
              <a:tr h="381000">
                <a:tc>
                  <a:txBody>
                    <a:bodyPr rtlCol="0"/>
                    <a:lstStyle/>
                    <a:p>
                      <a:pPr indent="0" algn="ctr">
                        <a:lnSpc>
                          <a:spcPct val="100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色泽</a:t>
                      </a:r>
                      <a:endParaRPr lang="en-US" sz="1100"/>
                    </a:p>
                  </a:txBody>
                  <a:tcPr marL="101600" marR="101600" marT="101600" marB="101600" anchor="t" anchorCtr="0">
                    <a:lnL>
                      <a:noFill/>
                    </a:lnL>
                    <a:lnR>
                      <a:noFill/>
                    </a:lnR>
                    <a:lnT>
                      <a:noFill/>
                    </a:lnT>
                    <a:lnB>
                      <a:noFill/>
                    </a:lnB>
                    <a:solidFill>
                      <a:srgbClr val="EBF0F5">
                        <a:alpha val="100000"/>
                      </a:srgbClr>
                    </a:solidFill>
                  </a:tcPr>
                </a:tc>
                <a:tc>
                  <a:txBody>
                    <a:bodyPr rtlCol="0"/>
                    <a:lstStyle/>
                    <a:p>
                      <a:pPr indent="0" algn="ctr">
                        <a:lnSpc>
                          <a:spcPct val="100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根蒂</a:t>
                      </a:r>
                      <a:endParaRPr lang="en-US" sz="1100"/>
                    </a:p>
                  </a:txBody>
                  <a:tcPr marL="101600" marR="101600" marT="101600" marB="101600" anchor="t" anchorCtr="0">
                    <a:lnL>
                      <a:noFill/>
                    </a:lnL>
                    <a:lnR>
                      <a:noFill/>
                    </a:lnR>
                    <a:lnT>
                      <a:noFill/>
                    </a:lnT>
                    <a:lnB>
                      <a:noFill/>
                    </a:lnB>
                    <a:solidFill>
                      <a:srgbClr val="EBF0F5">
                        <a:alpha val="100000"/>
                      </a:srgbClr>
                    </a:solidFill>
                  </a:tcPr>
                </a:tc>
                <a:tc>
                  <a:txBody>
                    <a:bodyPr rtlCol="0"/>
                    <a:lstStyle/>
                    <a:p>
                      <a:pPr indent="0" algn="ctr">
                        <a:lnSpc>
                          <a:spcPct val="100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敲声</a:t>
                      </a:r>
                      <a:endParaRPr lang="en-US" sz="1100"/>
                    </a:p>
                  </a:txBody>
                  <a:tcPr marL="101600" marR="101600" marT="101600" marB="101600" anchor="t" anchorCtr="0">
                    <a:lnL>
                      <a:noFill/>
                    </a:lnL>
                    <a:lnR>
                      <a:noFill/>
                    </a:lnR>
                    <a:lnT>
                      <a:noFill/>
                    </a:lnT>
                    <a:lnB>
                      <a:noFill/>
                    </a:lnB>
                    <a:solidFill>
                      <a:srgbClr val="EBF0F5">
                        <a:alpha val="100000"/>
                      </a:srgbClr>
                    </a:solidFill>
                  </a:tcPr>
                </a:tc>
                <a:tc>
                  <a:txBody>
                    <a:bodyPr rtlCol="0"/>
                    <a:lstStyle/>
                    <a:p>
                      <a:pPr indent="0" algn="ctr">
                        <a:lnSpc>
                          <a:spcPct val="100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好瓜</a:t>
                      </a:r>
                      <a:endParaRPr lang="en-US" sz="1100"/>
                    </a:p>
                  </a:txBody>
                  <a:tcPr marL="101600" marR="101600" marT="101600" marB="101600" anchor="t" anchorCtr="0">
                    <a:lnL>
                      <a:noFill/>
                    </a:lnL>
                    <a:lnR>
                      <a:noFill/>
                    </a:lnR>
                    <a:lnT>
                      <a:noFill/>
                    </a:lnT>
                    <a:lnB>
                      <a:noFill/>
                    </a:lnB>
                    <a:solidFill>
                      <a:srgbClr val="EBF0F5">
                        <a:alpha val="100000"/>
                      </a:srgbClr>
                    </a:solidFill>
                  </a:tcPr>
                </a:tc>
              </a:tr>
              <a:tr h="381000">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青绿</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蜷缩</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浊响</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是</a:t>
                      </a:r>
                      <a:endParaRPr lang="en-US" sz="1100"/>
                    </a:p>
                  </a:txBody>
                  <a:tcPr marL="101600" marR="101600" marT="101600" marB="101600" anchor="t" anchorCtr="0">
                    <a:lnL>
                      <a:noFill/>
                    </a:lnL>
                    <a:lnR>
                      <a:noFill/>
                    </a:lnR>
                    <a:lnT>
                      <a:noFill/>
                    </a:lnT>
                    <a:lnB>
                      <a:noFill/>
                    </a:lnB>
                    <a:noFill/>
                  </a:tcPr>
                </a:tc>
              </a:tr>
              <a:tr h="381000">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乌黑</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蜷缩</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浊响</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是</a:t>
                      </a:r>
                      <a:endParaRPr lang="en-US" sz="1100"/>
                    </a:p>
                  </a:txBody>
                  <a:tcPr marL="101600" marR="101600" marT="101600" marB="101600" anchor="t" anchorCtr="0">
                    <a:lnL>
                      <a:noFill/>
                    </a:lnL>
                    <a:lnR>
                      <a:noFill/>
                    </a:lnR>
                    <a:lnT>
                      <a:noFill/>
                    </a:lnT>
                    <a:lnB>
                      <a:noFill/>
                    </a:lnB>
                    <a:noFill/>
                  </a:tcPr>
                </a:tc>
              </a:tr>
              <a:tr h="381000">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青绿</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硬挺</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清脆</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否</a:t>
                      </a:r>
                      <a:endParaRPr lang="en-US" sz="1100"/>
                    </a:p>
                  </a:txBody>
                  <a:tcPr marL="101600" marR="101600" marT="101600" marB="101600" anchor="t" anchorCtr="0">
                    <a:lnL>
                      <a:noFill/>
                    </a:lnL>
                    <a:lnR>
                      <a:noFill/>
                    </a:lnR>
                    <a:lnT>
                      <a:noFill/>
                    </a:lnT>
                    <a:lnB>
                      <a:noFill/>
                    </a:lnB>
                    <a:noFill/>
                  </a:tcPr>
                </a:tc>
              </a:tr>
              <a:tr h="381000">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乌黑</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稍蜷</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沉闷</a:t>
                      </a:r>
                      <a:endParaRPr lang="en-US" sz="1100"/>
                    </a:p>
                  </a:txBody>
                  <a:tcPr marL="101600" marR="101600" marT="101600" marB="101600" anchor="t" anchorCtr="0">
                    <a:lnL>
                      <a:noFill/>
                    </a:lnL>
                    <a:lnR>
                      <a:noFill/>
                    </a:lnR>
                    <a:lnT>
                      <a:noFill/>
                    </a:lnT>
                    <a:lnB>
                      <a:noFill/>
                    </a:lnB>
                    <a:no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否</a:t>
                      </a:r>
                      <a:endParaRPr lang="en-US" sz="1100"/>
                    </a:p>
                  </a:txBody>
                  <a:tcPr marL="101600" marR="101600" marT="101600" marB="101600" anchor="t" anchorCtr="0">
                    <a:lnL>
                      <a:noFill/>
                    </a:lnL>
                    <a:lnR>
                      <a:noFill/>
                    </a:lnR>
                    <a:lnT>
                      <a:noFill/>
                    </a:lnT>
                    <a:lnB>
                      <a:noFill/>
                    </a:lnB>
                    <a:noFill/>
                  </a:tcPr>
                </a:tc>
              </a:tr>
            </a:tbl>
          </a:graphicData>
        </a:graphic>
      </p:graphicFrame>
      <p:sp>
        <p:nvSpPr>
          <p:cNvPr id="6" name="AutoShape 6"/>
          <p:cNvSpPr/>
          <p:nvPr/>
        </p:nvSpPr>
        <p:spPr>
          <a:xfrm>
            <a:off x="762000" y="4064000"/>
            <a:ext cx="3302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8" name="AutoShape 8"/>
          <p:cNvSpPr/>
          <p:nvPr/>
        </p:nvSpPr>
        <p:spPr>
          <a:xfrm>
            <a:off x="952500" y="4191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结论：最优分裂属性</a:t>
            </a:r>
            <a:endParaRPr lang="en-US" sz="1100"/>
          </a:p>
        </p:txBody>
      </p:sp>
      <p:sp>
        <p:nvSpPr>
          <p:cNvPr id="9" name="AutoShape 9"/>
          <p:cNvSpPr/>
          <p:nvPr/>
        </p:nvSpPr>
        <p:spPr>
          <a:xfrm>
            <a:off x="952500" y="46355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“敲声”信息增益最大 (0.474)，选择其作为根节点。</a:t>
            </a:r>
            <a:endParaRPr lang="en-US" sz="1100"/>
          </a:p>
        </p:txBody>
      </p:sp>
      <p:sp>
        <p:nvSpPr>
          <p:cNvPr id="10" name="AutoShape 10"/>
          <p:cNvSpPr/>
          <p:nvPr/>
        </p:nvSpPr>
        <p:spPr>
          <a:xfrm>
            <a:off x="4318000" y="1270000"/>
            <a:ext cx="7112000" cy="4064000"/>
          </a:xfrm>
          <a:prstGeom prst="roundRect">
            <a:avLst>
              <a:gd name="adj" fmla="val 312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2" name="AutoShape 12"/>
          <p:cNvSpPr/>
          <p:nvPr/>
        </p:nvSpPr>
        <p:spPr>
          <a:xfrm>
            <a:off x="4953000" y="1422400"/>
            <a:ext cx="635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1: 计算原始数据集熵 Ent(S)</a:t>
            </a:r>
            <a:endParaRPr lang="en-US" sz="1100"/>
          </a:p>
        </p:txBody>
      </p:sp>
      <p:sp>
        <p:nvSpPr>
          <p:cNvPr id="13" name="AutoShape 13"/>
          <p:cNvSpPr/>
          <p:nvPr/>
        </p:nvSpPr>
        <p:spPr>
          <a:xfrm>
            <a:off x="4953000" y="1778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好瓜/坏瓜各2个，占比0.5。</a:t>
            </a:r>
            <a:endParaRPr lang="en-US" sz="1100"/>
          </a:p>
          <a:p>
            <a:pPr indent="0" algn="l">
              <a:lnSpc>
                <a:spcPct val="125000"/>
              </a:lnSpc>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Ent(S) = - (0.5 log₂0.5 + 0.5 log₂0.5) = 1.0</a:t>
            </a:r>
            <a:endPar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953000" y="2374900"/>
            <a:ext cx="635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2: 按属性划分，计算条件熵 (以“色泽”为例)</a:t>
            </a:r>
            <a:endParaRPr lang="en-US" sz="1100"/>
          </a:p>
        </p:txBody>
      </p:sp>
      <p:sp>
        <p:nvSpPr>
          <p:cNvPr id="16" name="AutoShape 16"/>
          <p:cNvSpPr/>
          <p:nvPr/>
        </p:nvSpPr>
        <p:spPr>
          <a:xfrm>
            <a:off x="4953000" y="27305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色泽=青绿(1好1坏, Ent=1.0)；色泽=乌黑(1好1坏, Ent=1.0)</a:t>
            </a:r>
            <a:endParaRPr lang="en-US" sz="1100"/>
          </a:p>
          <a:p>
            <a:pPr indent="0" algn="l">
              <a:lnSpc>
                <a:spcPct val="125000"/>
              </a:lnSpc>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条件熵 = (2/4)*1.0 + (2/4)*1.0 = 1.0</a:t>
            </a:r>
            <a:endPar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4953000" y="3327400"/>
            <a:ext cx="635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3: 计算信息增益 Gain(S, A)</a:t>
            </a:r>
            <a:endParaRPr lang="en-US" sz="1100"/>
          </a:p>
        </p:txBody>
      </p:sp>
      <p:sp>
        <p:nvSpPr>
          <p:cNvPr id="19" name="AutoShape 19"/>
          <p:cNvSpPr/>
          <p:nvPr/>
        </p:nvSpPr>
        <p:spPr>
          <a:xfrm>
            <a:off x="4953000" y="3683000"/>
            <a:ext cx="635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Gain(S, 色泽) = 1.0 - 1.0 = 0</a:t>
            </a:r>
            <a:endParaRPr lang="en-US" sz="1100"/>
          </a:p>
        </p:txBody>
      </p:sp>
      <p:sp>
        <p:nvSpPr>
          <p:cNvPr id="21" name="AutoShape 21"/>
          <p:cNvSpPr/>
          <p:nvPr/>
        </p:nvSpPr>
        <p:spPr>
          <a:xfrm>
            <a:off x="4953000" y="4089400"/>
            <a:ext cx="635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4: 对比所有属性增益</a:t>
            </a:r>
            <a:endParaRPr lang="en-US" sz="1100"/>
          </a:p>
        </p:txBody>
      </p:sp>
      <p:sp>
        <p:nvSpPr>
          <p:cNvPr id="22" name="AutoShape 22"/>
          <p:cNvSpPr/>
          <p:nvPr/>
        </p:nvSpPr>
        <p:spPr>
          <a:xfrm>
            <a:off x="4953000" y="4445000"/>
            <a:ext cx="635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色泽: 0.000 | 根蒂: 0.311 |</a:t>
            </a:r>
            <a:r>
              <a:rPr lang="en-US" sz="1400" b="1" i="0" u="none" strike="noStrike">
                <a:solidFill>
                  <a:srgbClr val="E65100"/>
                </a:solidFill>
                <a:latin typeface="Noto Sans SC" panose="020B0200000000000000" charset="-122"/>
                <a:ea typeface="Noto Sans SC" panose="020B0200000000000000" charset="-122"/>
                <a:cs typeface="Noto Sans SC" panose="020B0200000000000000" charset="-122"/>
                <a:sym typeface="Noto Sans SC" panose="020B0200000000000000" charset="-122"/>
              </a:rPr>
              <a:t>敲声: 0.474 (Max)</a:t>
            </a:r>
            <a:endParaRPr lang="en-US" sz="1100"/>
          </a:p>
        </p:txBody>
      </p:sp>
      <p:sp>
        <p:nvSpPr>
          <p:cNvPr id="23" name="AutoShape 23"/>
          <p:cNvSpPr/>
          <p:nvPr/>
        </p:nvSpPr>
        <p:spPr>
          <a:xfrm>
            <a:off x="0" y="6604000"/>
            <a:ext cx="12192000" cy="254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61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分裂信息与增益率公式详解</a:t>
            </a:r>
            <a:endParaRPr lang="en-US" sz="1100"/>
          </a:p>
        </p:txBody>
      </p:sp>
      <p:cxnSp>
        <p:nvCxnSpPr>
          <p:cNvPr id="3" name="Connector 3"/>
          <p:cNvCxnSpPr/>
          <p:nvPr/>
        </p:nvCxnSpPr>
        <p:spPr>
          <a:xfrm rot="-4092">
            <a:off x="762004" y="1136650"/>
            <a:ext cx="10668000" cy="12700"/>
          </a:xfrm>
          <a:prstGeom prst="straightConnector1">
            <a:avLst/>
          </a:prstGeom>
          <a:solidFill>
            <a:srgbClr val="DEE0E3">
              <a:alpha val="100000"/>
            </a:srgbClr>
          </a:solidFill>
          <a:ln w="25400" cap="flat" cmpd="sng">
            <a:solidFill>
              <a:srgbClr val="003366">
                <a:alpha val="100000"/>
              </a:srgbClr>
            </a:solidFill>
            <a:prstDash val="solid"/>
            <a:round/>
            <a:headEnd type="none" w="lg" len="lg"/>
            <a:tailEnd type="none" w="lg" len="lg"/>
          </a:ln>
        </p:spPr>
      </p:cxnSp>
      <p:sp>
        <p:nvSpPr>
          <p:cNvPr id="4" name="AutoShape 4"/>
          <p:cNvSpPr/>
          <p:nvPr/>
        </p:nvSpPr>
        <p:spPr>
          <a:xfrm>
            <a:off x="762000" y="1397000"/>
            <a:ext cx="4826000" cy="3556000"/>
          </a:xfrm>
          <a:prstGeom prst="roundRect">
            <a:avLst>
              <a:gd name="adj" fmla="val 3571"/>
            </a:avLst>
          </a:prstGeom>
          <a:solidFill>
            <a:srgbClr val="FFFFFF">
              <a:alpha val="100000"/>
            </a:srgbClr>
          </a:solidFill>
          <a:ln cap="flat" cmpd="sng">
            <a:solidFill>
              <a:srgbClr val="E6CFCF">
                <a:alpha val="100000"/>
              </a:srgbClr>
            </a:solidFill>
            <a:prstDash val="solid"/>
            <a:round/>
          </a:ln>
          <a:effectLst>
            <a:outerShdw blurRad="127000" dist="50800" dir="2700000" algn="tl" rotWithShape="0">
              <a:srgbClr val="003366">
                <a:alpha val="10000"/>
              </a:srgbClr>
            </a:outerShdw>
          </a:effectLst>
        </p:spPr>
        <p:txBody>
          <a:bodyPr vert="horz" wrap="square" lIns="0" tIns="0" rIns="0" bIns="0" rtlCol="0" anchor="ctr" anchorCtr="0"/>
          <a:lstStyle/>
          <a:p>
            <a:pPr algn="ctr">
              <a:defRPr/>
            </a:pPr>
          </a:p>
        </p:txBody>
      </p:sp>
      <p:sp>
        <p:nvSpPr>
          <p:cNvPr id="5" name="AutoShape 5"/>
          <p:cNvSpPr/>
          <p:nvPr/>
        </p:nvSpPr>
        <p:spPr>
          <a:xfrm>
            <a:off x="1016000" y="1651000"/>
            <a:ext cx="4318000" cy="1524000"/>
          </a:xfrm>
          <a:prstGeom prst="roundRect">
            <a:avLst>
              <a:gd name="adj" fmla="val 4166"/>
            </a:avLst>
          </a:prstGeom>
          <a:solidFill>
            <a:srgbClr val="4A90E2">
              <a:alpha val="10000"/>
            </a:srgbClr>
          </a:solidFill>
          <a:ln cap="flat" cmpd="sng">
            <a:solidFill>
              <a:srgbClr val="2E75C9">
                <a:alpha val="10000"/>
              </a:srgbClr>
            </a:solidFill>
            <a:prstDash val="solid"/>
            <a:round/>
          </a:ln>
        </p:spPr>
        <p:txBody>
          <a:bodyPr vert="horz" wrap="square" lIns="0" tIns="0" rIns="0" bIns="0" rtlCol="0" anchor="ctr" anchorCtr="0"/>
          <a:lstStyle/>
          <a:p>
            <a:pPr algn="ctr">
              <a:defRPr/>
            </a:pPr>
          </a:p>
        </p:txBody>
      </p:sp>
      <p:sp>
        <p:nvSpPr>
          <p:cNvPr id="6" name="AutoShape 6"/>
          <p:cNvSpPr/>
          <p:nvPr/>
        </p:nvSpPr>
        <p:spPr>
          <a:xfrm>
            <a:off x="1143000" y="1778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分裂信息 (SplitInfo) 公式</a:t>
            </a:r>
            <a:endParaRPr lang="en-US" sz="1100"/>
          </a:p>
        </p:txBody>
      </p:sp>
      <p:sp>
        <p:nvSpPr>
          <p:cNvPr id="7" name="AutoShape 7"/>
          <p:cNvSpPr/>
          <p:nvPr/>
        </p:nvSpPr>
        <p:spPr>
          <a:xfrm>
            <a:off x="1143000" y="2159000"/>
            <a:ext cx="406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1" u="none" strike="noStrike">
                <a:solidFill>
                  <a:srgbClr val="333333"/>
                </a:solidFill>
                <a:latin typeface="Times New Roman" panose="02020603050405020304"/>
                <a:ea typeface="Times New Roman" panose="02020603050405020304"/>
                <a:cs typeface="Times New Roman" panose="02020603050405020304"/>
                <a:sym typeface="Times New Roman" panose="02020603050405020304"/>
              </a:rPr>
              <a:t>SplitInfo_A(S) = -∑(|Sᵥ|/|S|)·log₂(|Sᵥ|/|S|)</a:t>
            </a:r>
            <a:endParaRPr lang="en-US" sz="1100"/>
          </a:p>
        </p:txBody>
      </p:sp>
      <p:sp>
        <p:nvSpPr>
          <p:cNvPr id="8" name="AutoShape 8"/>
          <p:cNvSpPr/>
          <p:nvPr/>
        </p:nvSpPr>
        <p:spPr>
          <a:xfrm>
            <a:off x="1143000" y="2667000"/>
            <a:ext cx="406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分裂信息（SplitInfo）用于惩罚取值数目较多的属性，是C4.5算法改进ID3的核心。</a:t>
            </a:r>
            <a:endParaRPr lang="en-US" sz="1100"/>
          </a:p>
        </p:txBody>
      </p:sp>
      <p:sp>
        <p:nvSpPr>
          <p:cNvPr id="9" name="AutoShape 9"/>
          <p:cNvSpPr/>
          <p:nvPr/>
        </p:nvSpPr>
        <p:spPr>
          <a:xfrm>
            <a:off x="1016000" y="3429000"/>
            <a:ext cx="4318000" cy="889000"/>
          </a:xfrm>
          <a:prstGeom prst="roundRect">
            <a:avLst>
              <a:gd name="adj" fmla="val 7142"/>
            </a:avLst>
          </a:prstGeom>
          <a:solidFill>
            <a:srgbClr val="4A90E2">
              <a:alpha val="10000"/>
            </a:srgbClr>
          </a:solidFill>
          <a:ln cap="flat" cmpd="sng">
            <a:solidFill>
              <a:srgbClr val="2E75C9">
                <a:alpha val="10000"/>
              </a:srgbClr>
            </a:solidFill>
            <a:prstDash val="solid"/>
            <a:round/>
          </a:ln>
        </p:spPr>
        <p:txBody>
          <a:bodyPr vert="horz" wrap="square" lIns="0" tIns="0" rIns="0" bIns="0" rtlCol="0" anchor="ctr" anchorCtr="0"/>
          <a:lstStyle/>
          <a:p>
            <a:pPr algn="ctr">
              <a:defRPr/>
            </a:pPr>
          </a:p>
        </p:txBody>
      </p:sp>
      <p:sp>
        <p:nvSpPr>
          <p:cNvPr id="10" name="AutoShape 10"/>
          <p:cNvSpPr/>
          <p:nvPr/>
        </p:nvSpPr>
        <p:spPr>
          <a:xfrm>
            <a:off x="1143000" y="3556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 (GainRatio) 公式</a:t>
            </a:r>
            <a:endParaRPr lang="en-US" sz="1100"/>
          </a:p>
        </p:txBody>
      </p:sp>
      <p:sp>
        <p:nvSpPr>
          <p:cNvPr id="11" name="AutoShape 11"/>
          <p:cNvSpPr/>
          <p:nvPr/>
        </p:nvSpPr>
        <p:spPr>
          <a:xfrm>
            <a:off x="1143000" y="39370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1" u="none" strike="noStrike">
                <a:solidFill>
                  <a:srgbClr val="333333"/>
                </a:solidFill>
                <a:latin typeface="Times New Roman" panose="02020603050405020304"/>
                <a:ea typeface="Times New Roman" panose="02020603050405020304"/>
                <a:cs typeface="Times New Roman" panose="02020603050405020304"/>
                <a:sym typeface="Times New Roman" panose="02020603050405020304"/>
              </a:rPr>
              <a:t>GainRatio(S,A) = Gain(S,A) / SplitInfo_A(S)</a:t>
            </a:r>
            <a:endParaRPr lang="en-US" sz="1100"/>
          </a:p>
        </p:txBody>
      </p:sp>
      <p:sp>
        <p:nvSpPr>
          <p:cNvPr id="12" name="AutoShape 12"/>
          <p:cNvSpPr/>
          <p:nvPr/>
        </p:nvSpPr>
        <p:spPr>
          <a:xfrm>
            <a:off x="762000" y="4826000"/>
            <a:ext cx="4826000" cy="1524000"/>
          </a:xfrm>
          <a:prstGeom prst="roundRect">
            <a:avLst>
              <a:gd name="adj" fmla="val 8333"/>
            </a:avLst>
          </a:prstGeom>
          <a:solidFill>
            <a:srgbClr val="FFFFFF">
              <a:alpha val="100000"/>
            </a:srgbClr>
          </a:solidFill>
          <a:ln cap="flat" cmpd="sng">
            <a:solidFill>
              <a:srgbClr val="E6CFCF">
                <a:alpha val="100000"/>
              </a:srgbClr>
            </a:solidFill>
            <a:prstDash val="solid"/>
            <a:round/>
          </a:ln>
          <a:effectLst>
            <a:outerShdw blurRad="127000" dist="50800" dir="2700000" algn="tl" rotWithShape="0">
              <a:srgbClr val="003366">
                <a:alpha val="10000"/>
              </a:srgbClr>
            </a:outerShdw>
          </a:effectLst>
        </p:spPr>
        <p:txBody>
          <a:bodyPr vert="horz" wrap="square" lIns="0" tIns="0" rIns="0" bIns="0" rtlCol="0" anchor="ctr" anchorCtr="0"/>
          <a:lstStyle/>
          <a:p>
            <a:pPr algn="ctr">
              <a:defRPr/>
            </a:pPr>
          </a:p>
        </p:txBody>
      </p:sp>
      <p:sp>
        <p:nvSpPr>
          <p:cNvPr id="14" name="AutoShape 14"/>
          <p:cNvSpPr/>
          <p:nvPr/>
        </p:nvSpPr>
        <p:spPr>
          <a:xfrm>
            <a:off x="1016000" y="50419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为什么这个公式准确？</a:t>
            </a:r>
            <a:endParaRPr lang="en-US" sz="1100"/>
          </a:p>
        </p:txBody>
      </p:sp>
      <p:sp>
        <p:nvSpPr>
          <p:cNvPr id="15" name="AutoShape 15"/>
          <p:cNvSpPr/>
          <p:nvPr/>
        </p:nvSpPr>
        <p:spPr>
          <a:xfrm>
            <a:off x="1016000" y="5461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通过引入固有值作为惩罚因子，增益率巧妙地平衡了属性取值数量对划分效果的影响，既保留了信息增益的核心思想，又修正了其固有缺陷，因此是一种更稳健、更准确的属性选择度量。</a:t>
            </a:r>
            <a:endParaRPr lang="en-US" sz="1100"/>
          </a:p>
        </p:txBody>
      </p:sp>
      <p:sp>
        <p:nvSpPr>
          <p:cNvPr id="16" name="AutoShape 16"/>
          <p:cNvSpPr/>
          <p:nvPr/>
        </p:nvSpPr>
        <p:spPr>
          <a:xfrm>
            <a:off x="5842000" y="1397000"/>
            <a:ext cx="5588000" cy="1905000"/>
          </a:xfrm>
          <a:prstGeom prst="roundRect">
            <a:avLst>
              <a:gd name="adj" fmla="val 6666"/>
            </a:avLst>
          </a:prstGeom>
          <a:solidFill>
            <a:srgbClr val="FFFFFF">
              <a:alpha val="100000"/>
            </a:srgbClr>
          </a:solidFill>
          <a:ln cap="flat" cmpd="sng">
            <a:solidFill>
              <a:srgbClr val="E6CFCF">
                <a:alpha val="100000"/>
              </a:srgbClr>
            </a:solid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8" name="AutoShape 18"/>
          <p:cNvSpPr/>
          <p:nvPr/>
        </p:nvSpPr>
        <p:spPr>
          <a:xfrm>
            <a:off x="6096635" y="1549400"/>
            <a:ext cx="5079365"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计算步骤与参数含义</a:t>
            </a:r>
            <a:endParaRPr lang="en-US" sz="1100"/>
          </a:p>
        </p:txBody>
      </p:sp>
      <p:sp>
        <p:nvSpPr>
          <p:cNvPr id="19" name="AutoShape 19"/>
          <p:cNvSpPr/>
          <p:nvPr/>
        </p:nvSpPr>
        <p:spPr>
          <a:xfrm>
            <a:off x="6096000" y="1968500"/>
            <a:ext cx="5080000" cy="1143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000"/>
              </a:lnSpc>
              <a:buClr>
                <a:srgbClr val="333333"/>
              </a:buClr>
              <a:buFont typeface="+mj-lt"/>
              <a:buAutoNum type="arabicPeriod"/>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计算信息增益：</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计算属性 a 的 Gain(S, a)。</a:t>
            </a:r>
            <a:endParaRPr lang="en-US" sz="1100"/>
          </a:p>
          <a:p>
            <a:pPr marL="177800" indent="-177800" algn="l">
              <a:lnSpc>
                <a:spcPct val="108000"/>
              </a:lnSpc>
              <a:buClr>
                <a:srgbClr val="333333"/>
              </a:buClr>
              <a:buFont typeface="+mj-lt"/>
              <a:buAutoNum type="arabicPeriod"/>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计算分裂信息：</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 SplitInfo_A(S)，惩罚取值数目较多的属性。</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08000"/>
              </a:lnSpc>
              <a:buClr>
                <a:srgbClr val="333333"/>
              </a:buClr>
              <a:buFont typeface="+mj-lt"/>
              <a:buAutoNum type="arabicPeriod"/>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计算增益率：</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用信息增益除以分裂信息，得到最终增益率。</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5842000" y="3556000"/>
            <a:ext cx="5588000" cy="2794000"/>
          </a:xfrm>
          <a:prstGeom prst="roundRect">
            <a:avLst>
              <a:gd name="adj" fmla="val 4545"/>
            </a:avLst>
          </a:prstGeom>
          <a:solidFill>
            <a:srgbClr val="FFFFFF">
              <a:alpha val="100000"/>
            </a:srgbClr>
          </a:solidFill>
          <a:ln cap="flat" cmpd="sng">
            <a:solidFill>
              <a:srgbClr val="E6CFCF">
                <a:alpha val="100000"/>
              </a:srgbClr>
            </a:solidFill>
            <a:prstDash val="solid"/>
            <a:round/>
          </a:ln>
          <a:effectLst>
            <a:outerShdw blurRad="127000" dist="50800" dir="2700000" algn="tl" rotWithShape="0">
              <a:srgbClr val="003366">
                <a:alpha val="10000"/>
              </a:srgbClr>
            </a:outerShdw>
          </a:effectLst>
        </p:spPr>
        <p:txBody>
          <a:bodyPr vert="horz" wrap="square" lIns="0" tIns="0" rIns="0" bIns="0" rtlCol="0" anchor="ctr" anchorCtr="0"/>
          <a:lstStyle/>
          <a:p>
            <a:pPr algn="ctr">
              <a:defRPr/>
            </a:pPr>
          </a:p>
        </p:txBody>
      </p:sp>
      <p:sp>
        <p:nvSpPr>
          <p:cNvPr id="22" name="AutoShape 22"/>
          <p:cNvSpPr/>
          <p:nvPr/>
        </p:nvSpPr>
        <p:spPr>
          <a:xfrm>
            <a:off x="6096635" y="3771900"/>
            <a:ext cx="5079365"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改进意义与作用机制</a:t>
            </a:r>
            <a:endParaRPr lang="en-US" sz="1100"/>
          </a:p>
        </p:txBody>
      </p:sp>
      <p:sp>
        <p:nvSpPr>
          <p:cNvPr id="23" name="AutoShape 23"/>
          <p:cNvSpPr/>
          <p:nvPr/>
        </p:nvSpPr>
        <p:spPr>
          <a:xfrm>
            <a:off x="6096000" y="4191000"/>
            <a:ext cx="5080000" cy="203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000"/>
              </a:lnSpc>
              <a:buClr>
                <a:srgbClr val="333333"/>
              </a:buClr>
              <a:buFont typeface="Wingdings" panose="05000000000000000000"/>
              <a:buChar char="v"/>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固有值的“惩罚”作用：</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属性 a 的取值数目越多，IV(a) 越大。这起到了惩罚多值属性的作用。比如“身份证号”这种属性，SplitInfo会变得极大，从而将其增益率压得很小，避免了ID3的偏向问题。</a:t>
            </a:r>
            <a:endParaRPr lang="en-US" sz="1100"/>
          </a:p>
          <a:p>
            <a:pPr marL="177800" indent="-177800" algn="l">
              <a:lnSpc>
                <a:spcPct val="108000"/>
              </a:lnSpc>
              <a:buClr>
                <a:srgbClr val="333333"/>
              </a:buClr>
              <a:buFont typeface="Wingdings" panose="05000000000000000000"/>
              <a:buChar char="v"/>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解决偏向问题：</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通过除以 IV(a)，降低了算法对取值数目较多属性的偏好，使得属性选择更加公平合理。</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0" y="6731000"/>
            <a:ext cx="12192000" cy="1270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基尼指数公式详解</a:t>
            </a:r>
            <a:endParaRPr lang="en-US" sz="1100"/>
          </a:p>
        </p:txBody>
      </p:sp>
      <p:sp>
        <p:nvSpPr>
          <p:cNvPr id="3" name="AutoShape 3"/>
          <p:cNvSpPr/>
          <p:nvPr/>
        </p:nvSpPr>
        <p:spPr>
          <a:xfrm>
            <a:off x="762000" y="12192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4318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5" name="AutoShape 5"/>
          <p:cNvSpPr/>
          <p:nvPr/>
        </p:nvSpPr>
        <p:spPr>
          <a:xfrm>
            <a:off x="1016000" y="1841500"/>
            <a:ext cx="381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Gini Index Formula</a:t>
            </a:r>
            <a:endParaRPr lang="en-US" sz="1100"/>
          </a:p>
        </p:txBody>
      </p:sp>
      <mc:AlternateContent xmlns:mc="http://schemas.openxmlformats.org/markup-compatibility/2006">
        <mc:Choice xmlns:a14="http://schemas.microsoft.com/office/drawing/2010/main" Requires="a14">
          <p:sp>
            <p:nvSpPr>
              <p:cNvPr id="6" name="AutoShape 6"/>
              <p:cNvSpPr/>
              <p:nvPr/>
            </p:nvSpPr>
            <p:spPr>
              <a:xfrm>
                <a:off x="1016000" y="2185035"/>
                <a:ext cx="3810000" cy="96647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14:m>
                  <m:oMathPara xmlns:m="http://schemas.openxmlformats.org/officeDocument/2006/math">
                    <m:oMathParaPr>
                      <m:jc m:val="centerGroup"/>
                    </m:oMathParaPr>
                    <m:oMath xmlns:m="http://schemas.openxmlformats.org/officeDocument/2006/math">
                      <m:r>
                        <a:rPr lang="en-US" sz="1600" i="1">
                          <a:latin typeface="Cambria Math" panose="02040503050406030204" charset="0"/>
                          <a:cs typeface="Cambria Math" panose="02040503050406030204" charset="0"/>
                        </a:rPr>
                        <m:t>𝐺𝑖𝑛𝑖</m:t>
                      </m:r>
                      <m:r>
                        <a:rPr lang="en-US" sz="1600" i="1">
                          <a:latin typeface="Cambria Math" panose="02040503050406030204" charset="0"/>
                          <a:cs typeface="Cambria Math" panose="02040503050406030204" charset="0"/>
                        </a:rPr>
                        <m:t>(</m:t>
                      </m:r>
                      <m:r>
                        <a:rPr lang="en-US" sz="1600" i="1">
                          <a:latin typeface="Cambria Math" panose="02040503050406030204" charset="0"/>
                          <a:cs typeface="Cambria Math" panose="02040503050406030204" charset="0"/>
                        </a:rPr>
                        <m:t>𝑆</m:t>
                      </m:r>
                      <m:r>
                        <a:rPr lang="en-US" sz="1600" i="1">
                          <a:latin typeface="Cambria Math" panose="02040503050406030204" charset="0"/>
                          <a:cs typeface="Cambria Math" panose="02040503050406030204" charset="0"/>
                        </a:rPr>
                        <m:t>)</m:t>
                      </m:r>
                      <m:r>
                        <a:rPr lang="en-US" sz="1600" i="1">
                          <a:latin typeface="Cambria Math" panose="02040503050406030204" charset="0"/>
                          <a:cs typeface="Cambria Math" panose="02040503050406030204" charset="0"/>
                        </a:rPr>
                        <m:t> = </m:t>
                      </m:r>
                      <m:r>
                        <a:rPr lang="en-US" sz="1600" i="1">
                          <a:latin typeface="Cambria Math" panose="02040503050406030204" charset="0"/>
                          <a:cs typeface="Cambria Math" panose="02040503050406030204" charset="0"/>
                        </a:rPr>
                        <m:t>1</m:t>
                      </m:r>
                      <m:r>
                        <a:rPr lang="en-US" sz="1600" i="1">
                          <a:latin typeface="Cambria Math" panose="02040503050406030204" charset="0"/>
                          <a:cs typeface="Cambria Math" panose="02040503050406030204" charset="0"/>
                        </a:rPr>
                        <m:t> </m:t>
                      </m:r>
                      <m:r>
                        <a:rPr lang="en-US" sz="1600" i="1">
                          <a:latin typeface="Cambria Math" panose="02040503050406030204" charset="0"/>
                          <a:cs typeface="Cambria Math" panose="02040503050406030204" charset="0"/>
                        </a:rPr>
                        <m:t>−</m:t>
                      </m:r>
                      <m:r>
                        <a:rPr lang="en-US" sz="1600" i="1">
                          <a:latin typeface="Cambria Math" panose="02040503050406030204" charset="0"/>
                          <a:cs typeface="Cambria Math" panose="02040503050406030204" charset="0"/>
                        </a:rPr>
                        <m:t> </m:t>
                      </m:r>
                      <m:nary>
                        <m:naryPr>
                          <m:chr m:val="∑"/>
                          <m:limLoc m:val="undOvr"/>
                          <m:ctrlPr>
                            <a:rPr lang="en-US" sz="1600" i="1">
                              <a:latin typeface="Cambria Math" panose="02040503050406030204" charset="0"/>
                              <a:cs typeface="Cambria Math" panose="02040503050406030204" charset="0"/>
                            </a:rPr>
                          </m:ctrlPr>
                        </m:naryPr>
                        <m:sub>
                          <m:r>
                            <a:rPr lang="en-US" sz="1600" i="1">
                              <a:latin typeface="Cambria Math" panose="02040503050406030204" charset="0"/>
                              <a:cs typeface="Cambria Math" panose="02040503050406030204" charset="0"/>
                            </a:rPr>
                            <m:t>𝑖</m:t>
                          </m:r>
                          <m:r>
                            <a:rPr lang="en-US" sz="1600" i="1">
                              <a:latin typeface="Cambria Math" panose="02040503050406030204" charset="0"/>
                              <a:cs typeface="Cambria Math" panose="02040503050406030204" charset="0"/>
                            </a:rPr>
                            <m:t>=</m:t>
                          </m:r>
                          <m:r>
                            <a:rPr lang="en-US" sz="1600" i="1">
                              <a:latin typeface="Cambria Math" panose="02040503050406030204" charset="0"/>
                              <a:cs typeface="Cambria Math" panose="02040503050406030204" charset="0"/>
                            </a:rPr>
                            <m:t>1</m:t>
                          </m:r>
                        </m:sub>
                        <m:sup>
                          <m:r>
                            <a:rPr lang="en-US" sz="1600" i="1">
                              <a:latin typeface="Cambria Math" panose="02040503050406030204" charset="0"/>
                              <a:cs typeface="Cambria Math" panose="02040503050406030204" charset="0"/>
                            </a:rPr>
                            <m:t>𝑚</m:t>
                          </m:r>
                        </m:sup>
                        <m:e>
                          <m:sSubSup>
                            <m:sSubSupPr>
                              <m:ctrlPr>
                                <a:rPr lang="en-US" sz="1600" i="1">
                                  <a:latin typeface="Cambria Math" panose="02040503050406030204" charset="0"/>
                                  <a:cs typeface="Cambria Math" panose="02040503050406030204" charset="0"/>
                                </a:rPr>
                              </m:ctrlPr>
                            </m:sSubSupPr>
                            <m:e>
                              <m:r>
                                <a:rPr lang="en-US" sz="1600" i="1">
                                  <a:latin typeface="Cambria Math" panose="02040503050406030204" charset="0"/>
                                  <a:cs typeface="Cambria Math" panose="02040503050406030204" charset="0"/>
                                </a:rPr>
                                <m:t>𝑃</m:t>
                              </m:r>
                            </m:e>
                            <m:sub>
                              <m:r>
                                <a:rPr lang="en-US" sz="1600" i="1">
                                  <a:latin typeface="Cambria Math" panose="02040503050406030204" charset="0"/>
                                  <a:cs typeface="Cambria Math" panose="02040503050406030204" charset="0"/>
                                </a:rPr>
                                <m:t>𝑖</m:t>
                              </m:r>
                            </m:sub>
                            <m:sup>
                              <m:r>
                                <a:rPr lang="en-US" sz="1600" i="1">
                                  <a:latin typeface="Cambria Math" panose="02040503050406030204" charset="0"/>
                                  <a:cs typeface="Cambria Math" panose="02040503050406030204" charset="0"/>
                                </a:rPr>
                                <m:t>2</m:t>
                              </m:r>
                            </m:sup>
                          </m:sSubSup>
                        </m:e>
                      </m:nary>
                    </m:oMath>
                  </m:oMathPara>
                </a14:m>
                <a:endParaRPr lang="en-US" sz="1600" i="1">
                  <a:latin typeface="Cambria Math" panose="02040503050406030204" charset="0"/>
                  <a:cs typeface="Cambria Math" panose="02040503050406030204" charset="0"/>
                </a:endParaRPr>
              </a:p>
            </p:txBody>
          </p:sp>
        </mc:Choice>
        <mc:Fallback>
          <p:sp>
            <p:nvSpPr>
              <p:cNvPr id="6" name="AutoShape 6"/>
              <p:cNvSpPr>
                <a:spLocks noRot="1" noChangeAspect="1" noMove="1" noResize="1" noEditPoints="1" noAdjustHandles="1" noChangeArrowheads="1" noChangeShapeType="1" noTextEdit="1"/>
              </p:cNvSpPr>
              <p:nvPr/>
            </p:nvSpPr>
            <p:spPr>
              <a:xfrm>
                <a:off x="1016000" y="2185035"/>
                <a:ext cx="3810000" cy="966470"/>
              </a:xfrm>
              <a:prstGeom prst="rect">
                <a:avLst/>
              </a:prstGeom>
              <a:blipFill rotWithShape="1">
                <a:blip r:embed="rId1"/>
                <a:stretch>
                  <a:fillRect/>
                </a:stretch>
              </a:blipFill>
              <a:ln w="12700" cap="flat" cmpd="sng">
                <a:noFill/>
                <a:prstDash val="solid"/>
                <a:round/>
              </a:ln>
            </p:spPr>
            <p:txBody>
              <a:bodyPr/>
              <a:lstStyle/>
              <a:p>
                <a:r>
                  <a:rPr lang="zh-CN" altLang="en-US">
                    <a:noFill/>
                  </a:rPr>
                  <a:t> </a:t>
                </a:r>
              </a:p>
            </p:txBody>
          </p:sp>
        </mc:Fallback>
      </mc:AlternateContent>
      <p:sp>
        <p:nvSpPr>
          <p:cNvPr id="7" name="AutoShape 7"/>
          <p:cNvSpPr/>
          <p:nvPr/>
        </p:nvSpPr>
        <p:spPr>
          <a:xfrm>
            <a:off x="1016000" y="3048000"/>
            <a:ext cx="3810000" cy="889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从数据集S中随机抽取两个样本</a:t>
            </a:r>
            <a:b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它们类别不一致的概率</a:t>
            </a:r>
            <a:endParaRPr lang="en-US" sz="1100"/>
          </a:p>
        </p:txBody>
      </p:sp>
      <p:sp>
        <p:nvSpPr>
          <p:cNvPr id="8" name="AutoShape 8"/>
          <p:cNvSpPr/>
          <p:nvPr/>
        </p:nvSpPr>
        <p:spPr>
          <a:xfrm>
            <a:off x="762000" y="4445000"/>
            <a:ext cx="4318000" cy="1397000"/>
          </a:xfrm>
          <a:prstGeom prst="roundRect">
            <a:avLst>
              <a:gd name="adj" fmla="val 9090"/>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4597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计算优势与应用</a:t>
            </a:r>
            <a:endParaRPr lang="en-US" sz="1100"/>
          </a:p>
        </p:txBody>
      </p:sp>
      <p:sp>
        <p:nvSpPr>
          <p:cNvPr id="11" name="AutoShape 11"/>
          <p:cNvSpPr/>
          <p:nvPr/>
        </p:nvSpPr>
        <p:spPr>
          <a:xfrm>
            <a:off x="1016000" y="50165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无需对数运算，计算效率更高。是处理大规模数据集的首选标准，广泛应用于</a:t>
            </a: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CART决策树算法</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中。</a:t>
            </a:r>
            <a:endParaRPr lang="en-US" sz="1100"/>
          </a:p>
        </p:txBody>
      </p:sp>
      <p:sp>
        <p:nvSpPr>
          <p:cNvPr id="12" name="AutoShape 12"/>
          <p:cNvSpPr/>
          <p:nvPr>
            <p:custDataLst>
              <p:tags r:id="rId2"/>
            </p:custDataLst>
          </p:nvPr>
        </p:nvSpPr>
        <p:spPr>
          <a:xfrm>
            <a:off x="5334000" y="1651000"/>
            <a:ext cx="6096000" cy="1270000"/>
          </a:xfrm>
          <a:prstGeom prst="roundRect">
            <a:avLst>
              <a:gd name="adj" fmla="val 10000"/>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p>
        </p:txBody>
      </p:sp>
      <p:sp>
        <p:nvSpPr>
          <p:cNvPr id="14" name="AutoShape 14"/>
          <p:cNvSpPr/>
          <p:nvPr>
            <p:custDataLst>
              <p:tags r:id="rId3"/>
            </p:custDataLst>
          </p:nvPr>
        </p:nvSpPr>
        <p:spPr>
          <a:xfrm>
            <a:off x="5589905" y="1803400"/>
            <a:ext cx="558609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参数定义详解</a:t>
            </a:r>
            <a:endParaRPr lang="en-US" sz="1100"/>
          </a:p>
        </p:txBody>
      </p:sp>
      <mc:AlternateContent xmlns:mc="http://schemas.openxmlformats.org/markup-compatibility/2006">
        <mc:Choice xmlns:a14="http://schemas.microsoft.com/office/drawing/2010/main" Requires="a14">
          <p:sp>
            <p:nvSpPr>
              <p:cNvPr id="15" name="AutoShape 15"/>
              <p:cNvSpPr/>
              <p:nvPr>
                <p:custDataLst>
                  <p:tags r:id="rId4"/>
                </p:custDataLst>
              </p:nvPr>
            </p:nvSpPr>
            <p:spPr>
              <a:xfrm>
                <a:off x="5588000" y="2222500"/>
                <a:ext cx="558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S：</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样本数据集整体</a:t>
                </a: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m：</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数据集中的类别数量</a:t>
                </a:r>
                <a:endParaRPr lang="en-US" sz="1100"/>
              </a:p>
              <a:p>
                <a:pPr indent="0" algn="l">
                  <a:lnSpc>
                    <a:spcPct val="100000"/>
                  </a:lnSpc>
                </a:pPr>
                <a14:m>
                  <m:oMath xmlns:m="http://schemas.openxmlformats.org/officeDocument/2006/math">
                    <m:sSub>
                      <m:sSubPr>
                        <m:ctrlPr>
                          <a:rPr lang="en-US" sz="1400" b="1" i="1" u="none" strike="noStrike">
                            <a:solidFill>
                              <a:srgbClr val="003366"/>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sz="1400" b="1" i="1" u="none" strike="noStrike">
                            <a:solidFill>
                              <a:srgbClr val="003366"/>
                            </a:solidFill>
                            <a:latin typeface="Cambria Math" panose="02040503050406030204" charset="0"/>
                            <a:ea typeface="Noto Sans SC" panose="020B0200000000000000" charset="-122"/>
                            <a:cs typeface="Cambria Math" panose="02040503050406030204" charset="0"/>
                            <a:sym typeface="Noto Sans SC" panose="020B0200000000000000" charset="-122"/>
                          </a:rPr>
                          <m:t>𝑷</m:t>
                        </m:r>
                      </m:e>
                      <m:sub>
                        <m:r>
                          <a:rPr lang="en-US" sz="1400" b="1" i="1" u="none" strike="noStrike">
                            <a:solidFill>
                              <a:srgbClr val="003366"/>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oMath>
                </a14:m>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第i类样本在数据集S中所占的比例 (频率)</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15" name="AutoShape 15"/>
              <p:cNvSpPr>
                <a:spLocks noRot="1" noChangeAspect="1" noMove="1" noResize="1" noEditPoints="1" noAdjustHandles="1" noChangeArrowheads="1" noChangeShapeType="1" noTextEdit="1"/>
              </p:cNvSpPr>
              <p:nvPr>
                <p:custDataLst>
                  <p:tags r:id="rId5"/>
                </p:custDataLst>
              </p:nvPr>
            </p:nvSpPr>
            <p:spPr>
              <a:xfrm>
                <a:off x="5588000" y="2222500"/>
                <a:ext cx="5588000" cy="635000"/>
              </a:xfrm>
              <a:prstGeom prst="rect">
                <a:avLst/>
              </a:prstGeom>
              <a:blipFill rotWithShape="1">
                <a:blip r:embed="rId6"/>
                <a:stretch>
                  <a:fillRect/>
                </a:stretch>
              </a:blipFill>
              <a:ln w="12700" cap="flat" cmpd="sng">
                <a:noFill/>
                <a:prstDash val="solid"/>
                <a:round/>
              </a:ln>
            </p:spPr>
            <p:txBody>
              <a:bodyPr/>
              <a:lstStyle/>
              <a:p>
                <a:r>
                  <a:rPr lang="zh-CN" altLang="en-US">
                    <a:noFill/>
                  </a:rPr>
                  <a:t> </a:t>
                </a:r>
              </a:p>
            </p:txBody>
          </p:sp>
        </mc:Fallback>
      </mc:AlternateContent>
      <p:sp>
        <p:nvSpPr>
          <p:cNvPr id="16" name="AutoShape 16"/>
          <p:cNvSpPr/>
          <p:nvPr>
            <p:custDataLst>
              <p:tags r:id="rId7"/>
            </p:custDataLst>
          </p:nvPr>
        </p:nvSpPr>
        <p:spPr>
          <a:xfrm>
            <a:off x="5334000" y="3111500"/>
            <a:ext cx="6096000" cy="1270000"/>
          </a:xfrm>
          <a:prstGeom prst="roundRect">
            <a:avLst>
              <a:gd name="adj" fmla="val 10000"/>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p>
        </p:txBody>
      </p:sp>
      <p:sp>
        <p:nvSpPr>
          <p:cNvPr id="18" name="AutoShape 18"/>
          <p:cNvSpPr/>
          <p:nvPr>
            <p:custDataLst>
              <p:tags r:id="rId8"/>
            </p:custDataLst>
          </p:nvPr>
        </p:nvSpPr>
        <p:spPr>
          <a:xfrm>
            <a:off x="5589270" y="3263900"/>
            <a:ext cx="558673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数值意义与纯度</a:t>
            </a:r>
            <a:endParaRPr lang="en-US" sz="1100"/>
          </a:p>
        </p:txBody>
      </p:sp>
      <p:sp>
        <p:nvSpPr>
          <p:cNvPr id="19" name="AutoShape 19"/>
          <p:cNvSpPr/>
          <p:nvPr>
            <p:custDataLst>
              <p:tags r:id="rId9"/>
            </p:custDataLst>
          </p:nvPr>
        </p:nvSpPr>
        <p:spPr>
          <a:xfrm>
            <a:off x="5588000" y="3683000"/>
            <a:ext cx="558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Gini(S) 越小 ➔ 随机抽取的两个样本越可能属于同一类别 ➔ 数据集纯度越高。</a:t>
            </a:r>
            <a:endParaRPr lang="en-US" sz="1100"/>
          </a:p>
          <a:p>
            <a:pPr indent="0" algn="l">
              <a:lnSpc>
                <a:spcPct val="108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Gini(S) 越大 ➔ 数据越混乱，不纯度越高。</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0"/>
            </p:custDataLst>
          </p:nvPr>
        </p:nvSpPr>
        <p:spPr>
          <a:xfrm>
            <a:off x="5334000" y="4572000"/>
            <a:ext cx="6096000" cy="1270000"/>
          </a:xfrm>
          <a:prstGeom prst="roundRect">
            <a:avLst>
              <a:gd name="adj" fmla="val 10000"/>
            </a:avLst>
          </a:prstGeom>
          <a:solidFill>
            <a:srgbClr val="FFFFFF">
              <a:alpha val="100000"/>
            </a:srgbClr>
          </a:solidFill>
          <a:ln w="25400" cap="flat" cmpd="sng">
            <a:noFill/>
            <a:prstDash val="solid"/>
            <a:round/>
          </a:ln>
          <a:effectLst>
            <a:outerShdw blurRad="76200" dist="25400" dir="5400000" algn="tl" rotWithShape="0">
              <a:srgbClr val="003366">
                <a:alpha val="5000"/>
              </a:srgbClr>
            </a:outerShdw>
          </a:effectLst>
        </p:spPr>
        <p:txBody>
          <a:bodyPr vert="horz" wrap="square" lIns="63500" tIns="63500" rIns="63500" bIns="63500" rtlCol="0" anchor="ctr"/>
          <a:lstStyle/>
          <a:p>
            <a:pPr algn="ctr">
              <a:defRPr/>
            </a:pPr>
          </a:p>
        </p:txBody>
      </p:sp>
      <p:sp>
        <p:nvSpPr>
          <p:cNvPr id="22" name="AutoShape 22"/>
          <p:cNvSpPr/>
          <p:nvPr>
            <p:custDataLst>
              <p:tags r:id="rId11"/>
            </p:custDataLst>
          </p:nvPr>
        </p:nvSpPr>
        <p:spPr>
          <a:xfrm>
            <a:off x="5588635" y="4724400"/>
            <a:ext cx="558736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与信息熵的关联</a:t>
            </a:r>
            <a:endParaRPr lang="en-US" sz="1100"/>
          </a:p>
        </p:txBody>
      </p:sp>
      <p:sp>
        <p:nvSpPr>
          <p:cNvPr id="23" name="AutoShape 23"/>
          <p:cNvSpPr/>
          <p:nvPr>
            <p:custDataLst>
              <p:tags r:id="rId12"/>
            </p:custDataLst>
          </p:nvPr>
        </p:nvSpPr>
        <p:spPr>
          <a:xfrm>
            <a:off x="5588000" y="5143500"/>
            <a:ext cx="558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两者都是衡量数据集纯度的指标，变化趋势完全一致。</a:t>
            </a:r>
            <a:endParaRPr lang="en-US" sz="1100"/>
          </a:p>
          <a:p>
            <a:pPr indent="0" algn="l">
              <a:lnSpc>
                <a:spcPct val="108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在数学上，基尼指数可看作信息熵的一种近似，样本量大时几乎等价。</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ID3算法详解：信息增益</a:t>
            </a:r>
            <a:endParaRPr lang="en-US" sz="1100"/>
          </a:p>
        </p:txBody>
      </p:sp>
      <p:sp>
        <p:nvSpPr>
          <p:cNvPr id="3" name="AutoShape 3"/>
          <p:cNvSpPr/>
          <p:nvPr/>
        </p:nvSpPr>
        <p:spPr>
          <a:xfrm>
            <a:off x="762000" y="12192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588000"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6" name="AutoShape 6"/>
          <p:cNvSpPr/>
          <p:nvPr/>
        </p:nvSpPr>
        <p:spPr>
          <a:xfrm>
            <a:off x="1106805" y="1651000"/>
            <a:ext cx="5116195"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核心概念：不确定性的减少</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ID3算法通过计算“信息增益”来选择最优划分属性，增益越大表示划分后数据的纯度提升越明显。</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2667000"/>
            <a:ext cx="558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1106805" y="2794000"/>
            <a:ext cx="5116195"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信息熵 (Entropy) - 混乱度衡量</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公式：</a:t>
            </a:r>
            <a:r>
              <a:rPr lang="en-US" sz="1300" i="1">
                <a:solidFill>
                  <a:srgbClr val="003366"/>
                </a:solidFill>
                <a:latin typeface="Times New Roman" panose="02020603050405020304"/>
                <a:ea typeface="Times New Roman" panose="02020603050405020304"/>
                <a:cs typeface="Times New Roman" panose="02020603050405020304"/>
                <a:sym typeface="Times New Roman" panose="02020603050405020304"/>
              </a:rPr>
              <a:t>Entropy(S) = -∑ pᵢ log₂(pᵢ)</a:t>
            </a:r>
            <a:endPar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其中 pk 是第k类样本占比。熵越小，数据越纯净。</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064000"/>
            <a:ext cx="558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2" name="AutoShape 12"/>
          <p:cNvSpPr/>
          <p:nvPr/>
        </p:nvSpPr>
        <p:spPr>
          <a:xfrm>
            <a:off x="1106805" y="4191000"/>
            <a:ext cx="5116195"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 (Gain) - 纯度提升</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公式：</a:t>
            </a: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Gain(S, a) = Ent(S) - ∑ (|Sv|/|S|)·Ent(Sv)</a:t>
            </a:r>
            <a:endPar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Sv 是属性a取值为v的样本子集。增益越大，纯度提升越显著。</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588000"/>
            <a:ext cx="5588000" cy="762000"/>
          </a:xfrm>
          <a:prstGeom prst="roundRect">
            <a:avLst>
              <a:gd name="adj" fmla="val 16666"/>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1397000" y="5715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核心策略：选择信息增益最大的属性进行划分。</a:t>
            </a:r>
            <a:endParaRPr lang="en-US" sz="1100"/>
          </a:p>
        </p:txBody>
      </p:sp>
      <p:sp>
        <p:nvSpPr>
          <p:cNvPr id="19" name="AutoShape 19"/>
          <p:cNvSpPr/>
          <p:nvPr/>
        </p:nvSpPr>
        <p:spPr>
          <a:xfrm>
            <a:off x="6731000" y="1524000"/>
            <a:ext cx="4699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20" name="AutoShape 20"/>
          <p:cNvSpPr/>
          <p:nvPr/>
        </p:nvSpPr>
        <p:spPr>
          <a:xfrm>
            <a:off x="6985000" y="1727200"/>
            <a:ext cx="4191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直观理解</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信息增益可以看作是“排除不确定性所获得的信息量”。就像拼图一样，每一次选择正确的属性（高增益），都能让我们更快地看清完整的图案（纯净的数据）。</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3810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ID3算法的优缺点</a:t>
            </a:r>
            <a:endParaRPr lang="en-US" sz="1100"/>
          </a:p>
        </p:txBody>
      </p:sp>
      <p:sp>
        <p:nvSpPr>
          <p:cNvPr id="4" name="AutoShape 4"/>
          <p:cNvSpPr/>
          <p:nvPr/>
        </p:nvSpPr>
        <p:spPr>
          <a:xfrm>
            <a:off x="762000" y="1270000"/>
            <a:ext cx="5080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460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 (Advantages)</a:t>
            </a:r>
            <a:endParaRPr lang="en-US" sz="1100"/>
          </a:p>
        </p:txBody>
      </p:sp>
      <p:cxnSp>
        <p:nvCxnSpPr>
          <p:cNvPr id="6" name="Connector 6"/>
          <p:cNvCxnSpPr/>
          <p:nvPr/>
        </p:nvCxnSpPr>
        <p:spPr>
          <a:xfrm rot="-9549">
            <a:off x="1016009" y="1835150"/>
            <a:ext cx="4572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95500"/>
            <a:ext cx="304800" cy="304800"/>
          </a:xfrm>
          <a:prstGeom prst="rect">
            <a:avLst/>
          </a:prstGeom>
        </p:spPr>
      </p:pic>
      <p:sp>
        <p:nvSpPr>
          <p:cNvPr id="8" name="AutoShape 8"/>
          <p:cNvSpPr/>
          <p:nvPr/>
        </p:nvSpPr>
        <p:spPr>
          <a:xfrm>
            <a:off x="1397000" y="2032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理论清晰直观</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基于信息论中的熵与信息增益原理，逻辑推导过程严谨且易于理解。</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857500"/>
            <a:ext cx="304800" cy="304800"/>
          </a:xfrm>
          <a:prstGeom prst="rect">
            <a:avLst/>
          </a:prstGeom>
        </p:spPr>
      </p:pic>
      <p:sp>
        <p:nvSpPr>
          <p:cNvPr id="10" name="AutoShape 10"/>
          <p:cNvSpPr/>
          <p:nvPr/>
        </p:nvSpPr>
        <p:spPr>
          <a:xfrm>
            <a:off x="1397000" y="2794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算法实现简单</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递归划分的逻辑结构清晰，代码编写门槛低，适合初学者快速上手。</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619500"/>
            <a:ext cx="304800" cy="304800"/>
          </a:xfrm>
          <a:prstGeom prst="rect">
            <a:avLst/>
          </a:prstGeom>
        </p:spPr>
      </p:pic>
      <p:sp>
        <p:nvSpPr>
          <p:cNvPr id="12" name="AutoShape 12"/>
          <p:cNvSpPr/>
          <p:nvPr/>
        </p:nvSpPr>
        <p:spPr>
          <a:xfrm>
            <a:off x="1397000" y="3556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可解释性极强</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生成的决策树呈树状结构，每一步决策依据透明，便于业务人员解读。</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350000" y="1270000"/>
            <a:ext cx="5080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6604000" y="1460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主要局限性 (Disadvantages)</a:t>
            </a:r>
            <a:endParaRPr lang="en-US" sz="1100"/>
          </a:p>
        </p:txBody>
      </p:sp>
      <p:cxnSp>
        <p:nvCxnSpPr>
          <p:cNvPr id="15" name="Connector 15"/>
          <p:cNvCxnSpPr/>
          <p:nvPr/>
        </p:nvCxnSpPr>
        <p:spPr>
          <a:xfrm rot="-9549">
            <a:off x="6604009" y="1835150"/>
            <a:ext cx="4572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095500"/>
            <a:ext cx="304800" cy="304800"/>
          </a:xfrm>
          <a:prstGeom prst="rect">
            <a:avLst/>
          </a:prstGeom>
        </p:spPr>
      </p:pic>
      <p:sp>
        <p:nvSpPr>
          <p:cNvPr id="17" name="AutoShape 17"/>
          <p:cNvSpPr/>
          <p:nvPr/>
        </p:nvSpPr>
        <p:spPr>
          <a:xfrm>
            <a:off x="6985000" y="20320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偏向多值属性</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倾向于选择取值数目较多的特征，易导致划分过细。</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667000"/>
            <a:ext cx="304800" cy="304800"/>
          </a:xfrm>
          <a:prstGeom prst="rect">
            <a:avLst/>
          </a:prstGeom>
        </p:spPr>
      </p:pic>
      <p:sp>
        <p:nvSpPr>
          <p:cNvPr id="19" name="AutoShape 19"/>
          <p:cNvSpPr/>
          <p:nvPr/>
        </p:nvSpPr>
        <p:spPr>
          <a:xfrm>
            <a:off x="6985000" y="2603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无法处理连续值</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仅支持离散型属性，连续数据需额外进行离散化预处理。</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3238500"/>
            <a:ext cx="304800" cy="304800"/>
          </a:xfrm>
          <a:prstGeom prst="rect">
            <a:avLst/>
          </a:prstGeom>
        </p:spPr>
      </p:pic>
      <p:sp>
        <p:nvSpPr>
          <p:cNvPr id="21" name="AutoShape 21"/>
          <p:cNvSpPr/>
          <p:nvPr/>
        </p:nvSpPr>
        <p:spPr>
          <a:xfrm>
            <a:off x="6985000" y="31750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缺失值处理困难</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原生算法未提供缺失值处理机制，数据缺失会直接影响计算。</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Picture 2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3810000"/>
            <a:ext cx="304800" cy="304800"/>
          </a:xfrm>
          <a:prstGeom prst="rect">
            <a:avLst/>
          </a:prstGeom>
        </p:spPr>
      </p:pic>
      <p:sp>
        <p:nvSpPr>
          <p:cNvPr id="23" name="AutoShape 23"/>
          <p:cNvSpPr/>
          <p:nvPr/>
        </p:nvSpPr>
        <p:spPr>
          <a:xfrm>
            <a:off x="6985000" y="3746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容易产生过拟合</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生成的树可能过于复杂，对训练数据的噪声过度敏感。</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762000" y="5588000"/>
            <a:ext cx="10668000" cy="635000"/>
          </a:xfrm>
          <a:prstGeom prst="roundRect">
            <a:avLst>
              <a:gd name="adj" fmla="val 20000"/>
            </a:avLst>
          </a:prstGeom>
          <a:solidFill>
            <a:srgbClr val="4A90E2">
              <a:alpha val="10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1016000" y="5689600"/>
            <a:ext cx="10160000" cy="43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r>
              <a:rPr lang="en-US" sz="1400" b="0"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ID3是决策树的经典算法，虽有局限性，但为后续C4.5、CART等改进算法奠定了重要的理论基础。</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C4.5算法详解：增益率</a:t>
            </a:r>
            <a:endParaRPr lang="en-US" sz="1100"/>
          </a:p>
        </p:txBody>
      </p:sp>
      <p:sp>
        <p:nvSpPr>
          <p:cNvPr id="3" name="AutoShape 3"/>
          <p:cNvSpPr/>
          <p:nvPr/>
        </p:nvSpPr>
        <p:spPr>
          <a:xfrm>
            <a:off x="762000" y="1397000"/>
            <a:ext cx="5080000" cy="1079500"/>
          </a:xfrm>
          <a:prstGeom prst="roundRect">
            <a:avLst>
              <a:gd name="adj" fmla="val 11764"/>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126490" y="1549400"/>
            <a:ext cx="452501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核心改进：引入增益率</a:t>
            </a:r>
            <a:endParaRPr lang="en-US" sz="1100"/>
          </a:p>
        </p:txBody>
      </p:sp>
      <p:sp>
        <p:nvSpPr>
          <p:cNvPr id="6" name="AutoShape 6"/>
          <p:cNvSpPr/>
          <p:nvPr/>
        </p:nvSpPr>
        <p:spPr>
          <a:xfrm>
            <a:off x="1126490" y="1930400"/>
            <a:ext cx="452501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针对ID3偏向多值属性的问题，使用</a:t>
            </a: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 (Gain Ratio)</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选择属性。</a:t>
            </a:r>
            <a:endParaRPr lang="en-US" sz="1100"/>
          </a:p>
        </p:txBody>
      </p:sp>
      <p:sp>
        <p:nvSpPr>
          <p:cNvPr id="7" name="AutoShape 7"/>
          <p:cNvSpPr/>
          <p:nvPr/>
        </p:nvSpPr>
        <p:spPr>
          <a:xfrm>
            <a:off x="762000" y="2667000"/>
            <a:ext cx="5080000" cy="952500"/>
          </a:xfrm>
          <a:prstGeom prst="roundRect">
            <a:avLst>
              <a:gd name="adj" fmla="val 13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1086485" y="2794000"/>
            <a:ext cx="456501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增益率公式</a:t>
            </a:r>
            <a:endParaRPr lang="en-US" sz="1100"/>
          </a:p>
        </p:txBody>
      </p:sp>
      <p:sp>
        <p:nvSpPr>
          <p:cNvPr id="10" name="AutoShape 10"/>
          <p:cNvSpPr/>
          <p:nvPr/>
        </p:nvSpPr>
        <p:spPr>
          <a:xfrm>
            <a:off x="1126490" y="3143250"/>
            <a:ext cx="452501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GainRatio(S, a) = Gain(S, a) / IV(a)</a:t>
            </a:r>
            <a:endParaRPr lang="en-US" sz="1100"/>
          </a:p>
        </p:txBody>
      </p:sp>
      <p:sp>
        <p:nvSpPr>
          <p:cNvPr id="11" name="AutoShape 11"/>
          <p:cNvSpPr/>
          <p:nvPr/>
        </p:nvSpPr>
        <p:spPr>
          <a:xfrm>
            <a:off x="762000" y="3810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3" name="AutoShape 13"/>
          <p:cNvSpPr/>
          <p:nvPr/>
        </p:nvSpPr>
        <p:spPr>
          <a:xfrm>
            <a:off x="1086485" y="3962400"/>
            <a:ext cx="456501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固有值 (Intrinsic Value) 惩罚机制</a:t>
            </a:r>
            <a:endParaRPr lang="en-US" sz="1100"/>
          </a:p>
        </p:txBody>
      </p:sp>
      <p:sp>
        <p:nvSpPr>
          <p:cNvPr id="14" name="AutoShape 14"/>
          <p:cNvSpPr/>
          <p:nvPr/>
        </p:nvSpPr>
        <p:spPr>
          <a:xfrm>
            <a:off x="1086485" y="4318000"/>
            <a:ext cx="4565015"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属性取值越多，IV(a)越大，增益率越低。以此避免算法过度偏好取值数目多的属性。</a:t>
            </a:r>
            <a:endParaRPr lang="en-US" sz="1100"/>
          </a:p>
        </p:txBody>
      </p:sp>
      <p:sp>
        <p:nvSpPr>
          <p:cNvPr id="15" name="AutoShape 15"/>
          <p:cNvSpPr/>
          <p:nvPr/>
        </p:nvSpPr>
        <p:spPr>
          <a:xfrm>
            <a:off x="762000" y="5270500"/>
            <a:ext cx="5080000" cy="762000"/>
          </a:xfrm>
          <a:prstGeom prst="roundRect">
            <a:avLst>
              <a:gd name="adj" fmla="val 1666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1126490" y="5397500"/>
            <a:ext cx="452501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核心思想：选择</a:t>
            </a:r>
            <a:r>
              <a:rPr lang="en-US" sz="15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增益率最大</a:t>
            </a:r>
            <a:r>
              <a:rPr lang="en-US" sz="15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的属性作为当前节点的划分属性。</a:t>
            </a:r>
            <a:endParaRPr lang="en-US" sz="1100"/>
          </a:p>
        </p:txBody>
      </p:sp>
      <p:sp>
        <p:nvSpPr>
          <p:cNvPr id="21" name="AutoShape 21"/>
          <p:cNvSpPr/>
          <p:nvPr/>
        </p:nvSpPr>
        <p:spPr>
          <a:xfrm>
            <a:off x="6303645" y="1397000"/>
            <a:ext cx="5080000" cy="1333500"/>
          </a:xfrm>
          <a:prstGeom prst="roundRect">
            <a:avLst>
              <a:gd name="adj" fmla="val 9523"/>
            </a:avLst>
          </a:prstGeom>
          <a:solidFill>
            <a:srgbClr val="4A90E2">
              <a:alpha val="10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557645" y="1549400"/>
            <a:ext cx="4572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关键点总结</a:t>
            </a:r>
            <a:endParaRPr lang="en-US" sz="1100"/>
          </a:p>
          <a:p>
            <a:pPr indent="0" algn="l">
              <a:lnSpc>
                <a:spcPct val="125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 = 信息增益 / 固有值(IV)</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IV值随属性取值数量增加而增大，起到自动“惩罚”作用。</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C4.5算法的其他改进</a:t>
            </a:r>
            <a:endParaRPr lang="en-US" sz="1100"/>
          </a:p>
        </p:txBody>
      </p:sp>
      <p:sp>
        <p:nvSpPr>
          <p:cNvPr id="3" name="AutoShape 3"/>
          <p:cNvSpPr/>
          <p:nvPr>
            <p:custDataLst>
              <p:tags r:id="rId1"/>
            </p:custDataLst>
          </p:nvPr>
        </p:nvSpPr>
        <p:spPr>
          <a:xfrm>
            <a:off x="762000" y="1397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889000" y="2222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处理连续值</a:t>
            </a:r>
            <a:endParaRPr lang="en-US" sz="1100"/>
          </a:p>
        </p:txBody>
      </p:sp>
      <p:sp>
        <p:nvSpPr>
          <p:cNvPr id="6" name="AutoShape 6"/>
          <p:cNvSpPr/>
          <p:nvPr>
            <p:custDataLst>
              <p:tags r:id="rId3"/>
            </p:custDataLst>
          </p:nvPr>
        </p:nvSpPr>
        <p:spPr>
          <a:xfrm>
            <a:off x="889000" y="2984500"/>
            <a:ext cx="3048000" cy="1143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采用二分法将连续属性离散化。对属性值排序后尝试所有分割点，选择信息增益最大的点作为最优划分。</a:t>
            </a:r>
            <a:endParaRPr lang="en-US" sz="1100"/>
          </a:p>
        </p:txBody>
      </p:sp>
      <p:sp>
        <p:nvSpPr>
          <p:cNvPr id="7" name="AutoShape 7"/>
          <p:cNvSpPr/>
          <p:nvPr>
            <p:custDataLst>
              <p:tags r:id="rId4"/>
            </p:custDataLst>
          </p:nvPr>
        </p:nvSpPr>
        <p:spPr>
          <a:xfrm>
            <a:off x="4445000" y="1397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9" name="AutoShape 9"/>
          <p:cNvSpPr/>
          <p:nvPr>
            <p:custDataLst>
              <p:tags r:id="rId5"/>
            </p:custDataLst>
          </p:nvPr>
        </p:nvSpPr>
        <p:spPr>
          <a:xfrm>
            <a:off x="4572000" y="2159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处理缺失值</a:t>
            </a:r>
            <a:endParaRPr lang="en-US" sz="1100"/>
          </a:p>
        </p:txBody>
      </p:sp>
      <p:sp>
        <p:nvSpPr>
          <p:cNvPr id="10" name="AutoShape 10"/>
          <p:cNvSpPr/>
          <p:nvPr>
            <p:custDataLst>
              <p:tags r:id="rId6"/>
            </p:custDataLst>
          </p:nvPr>
        </p:nvSpPr>
        <p:spPr>
          <a:xfrm>
            <a:off x="4572000" y="2603500"/>
            <a:ext cx="3048000" cy="1905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计算信息增益率时忽略缺失值样本，或将缺失值按比例分配到不同子集，确保算法在数据不完整时的鲁棒性。</a:t>
            </a:r>
            <a:endParaRPr lang="en-US" sz="1100"/>
          </a:p>
        </p:txBody>
      </p:sp>
      <p:sp>
        <p:nvSpPr>
          <p:cNvPr id="11" name="AutoShape 11"/>
          <p:cNvSpPr/>
          <p:nvPr>
            <p:custDataLst>
              <p:tags r:id="rId7"/>
            </p:custDataLst>
          </p:nvPr>
        </p:nvSpPr>
        <p:spPr>
          <a:xfrm>
            <a:off x="8128000" y="1397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13" name="AutoShape 13"/>
          <p:cNvSpPr/>
          <p:nvPr>
            <p:custDataLst>
              <p:tags r:id="rId8"/>
            </p:custDataLst>
          </p:nvPr>
        </p:nvSpPr>
        <p:spPr>
          <a:xfrm>
            <a:off x="8255000" y="2159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树剪枝策略</a:t>
            </a:r>
            <a:endParaRPr lang="en-US" sz="1100"/>
          </a:p>
        </p:txBody>
      </p:sp>
      <p:sp>
        <p:nvSpPr>
          <p:cNvPr id="14" name="AutoShape 14"/>
          <p:cNvSpPr/>
          <p:nvPr>
            <p:custDataLst>
              <p:tags r:id="rId9"/>
            </p:custDataLst>
          </p:nvPr>
        </p:nvSpPr>
        <p:spPr>
          <a:xfrm>
            <a:off x="8255000" y="2603500"/>
            <a:ext cx="3048000" cy="1905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引入悲观剪枝（PEP）。先生成完整决策树，再自底向上评估分支，若剪枝能提升泛化能力则执行，有效防止过拟合。</a:t>
            </a:r>
            <a:endParaRPr lang="en-US" sz="1100"/>
          </a:p>
        </p:txBody>
      </p:sp>
      <p:sp>
        <p:nvSpPr>
          <p:cNvPr id="15" name="AutoShape 15"/>
          <p:cNvSpPr/>
          <p:nvPr/>
        </p:nvSpPr>
        <p:spPr>
          <a:xfrm>
            <a:off x="762000" y="5842000"/>
            <a:ext cx="10668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524000"/>
            <a:ext cx="10160000" cy="3302000"/>
          </a:xfrm>
          <a:prstGeom prst="roundRect">
            <a:avLst>
              <a:gd name="adj" fmla="val 3846"/>
            </a:avLst>
          </a:prstGeom>
          <a:solidFill>
            <a:srgbClr val="FFFFFF">
              <a:alpha val="100000"/>
            </a:srgbClr>
          </a:solidFill>
          <a:ln w="25400" cap="flat" cmpd="sng">
            <a:noFill/>
            <a:prstDash val="solid"/>
            <a:round/>
          </a:ln>
          <a:effectLst>
            <a:outerShdw blurRad="254000" dist="127000" dir="5400000" algn="tl" rotWithShape="0">
              <a:srgbClr val="003366">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1905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spc="400">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CHAPTER 03</a:t>
            </a:r>
            <a:endParaRPr lang="en-US" sz="1100"/>
          </a:p>
        </p:txBody>
      </p:sp>
      <p:sp>
        <p:nvSpPr>
          <p:cNvPr id="5" name="AutoShape 5"/>
          <p:cNvSpPr/>
          <p:nvPr/>
        </p:nvSpPr>
        <p:spPr>
          <a:xfrm>
            <a:off x="1270000" y="2413000"/>
            <a:ext cx="965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属性选择与树剪枝策略详解</a:t>
            </a:r>
            <a:endParaRPr lang="en-US" sz="1100"/>
          </a:p>
        </p:txBody>
      </p:sp>
      <p:cxnSp>
        <p:nvCxnSpPr>
          <p:cNvPr id="6" name="Connector 6"/>
          <p:cNvCxnSpPr/>
          <p:nvPr/>
        </p:nvCxnSpPr>
        <p:spPr>
          <a:xfrm rot="-34376">
            <a:off x="5461032" y="3232150"/>
            <a:ext cx="1270000" cy="12700"/>
          </a:xfrm>
          <a:prstGeom prst="line">
            <a:avLst/>
          </a:prstGeom>
          <a:solidFill>
            <a:srgbClr val="DEE0E3">
              <a:alpha val="100000"/>
            </a:srgbClr>
          </a:solidFill>
          <a:ln w="25400" cap="flat" cmpd="sng">
            <a:solidFill>
              <a:srgbClr val="003366">
                <a:alpha val="100000"/>
              </a:srgbClr>
            </a:solidFill>
            <a:prstDash val="solid"/>
            <a:round/>
            <a:headEnd type="none" w="lg" len="lg"/>
            <a:tailEnd type="none" w="lg" len="lg"/>
          </a:ln>
        </p:spPr>
      </p:cxnSp>
      <p:sp>
        <p:nvSpPr>
          <p:cNvPr id="7" name="AutoShape 7"/>
          <p:cNvSpPr/>
          <p:nvPr/>
        </p:nvSpPr>
        <p:spPr>
          <a:xfrm>
            <a:off x="1270000" y="3492500"/>
            <a:ext cx="965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优化决策树性能的关键技术</a:t>
            </a:r>
            <a:endParaRPr lang="en-US" sz="1100"/>
          </a:p>
        </p:txBody>
      </p:sp>
      <p:sp>
        <p:nvSpPr>
          <p:cNvPr id="9" name="AutoShape 9"/>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Decision Tree Optimization Techniques</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属性选择度量对比</a:t>
            </a:r>
            <a:endParaRPr lang="en-US" sz="1100"/>
          </a:p>
        </p:txBody>
      </p:sp>
      <p:sp>
        <p:nvSpPr>
          <p:cNvPr id="3" name="AutoShape 3"/>
          <p:cNvSpPr/>
          <p:nvPr/>
        </p:nvSpPr>
        <p:spPr>
          <a:xfrm>
            <a:off x="762000" y="10795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1"/>
            </p:custDataLst>
          </p:nvPr>
        </p:nvSpPr>
        <p:spPr>
          <a:xfrm>
            <a:off x="762000" y="1397000"/>
            <a:ext cx="3378200" cy="4064000"/>
          </a:xfrm>
          <a:prstGeom prst="roundRect">
            <a:avLst>
              <a:gd name="adj" fmla="val 3759"/>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397000"/>
            <a:ext cx="3378200" cy="762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304800" cy="304800"/>
          </a:xfrm>
          <a:prstGeom prst="rect">
            <a:avLst/>
          </a:prstGeom>
        </p:spPr>
      </p:pic>
      <p:sp>
        <p:nvSpPr>
          <p:cNvPr id="7" name="AutoShape 7"/>
          <p:cNvSpPr/>
          <p:nvPr>
            <p:custDataLst>
              <p:tags r:id="rId6"/>
            </p:custDataLst>
          </p:nvPr>
        </p:nvSpPr>
        <p:spPr>
          <a:xfrm>
            <a:off x="1397000" y="16002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a:t>
            </a:r>
            <a:endParaRPr lang="en-US" sz="1100"/>
          </a:p>
        </p:txBody>
      </p:sp>
      <p:sp>
        <p:nvSpPr>
          <p:cNvPr id="8" name="AutoShape 8"/>
          <p:cNvSpPr/>
          <p:nvPr>
            <p:custDataLst>
              <p:tags r:id="rId7"/>
            </p:custDataLst>
          </p:nvPr>
        </p:nvSpPr>
        <p:spPr>
          <a:xfrm>
            <a:off x="952500" y="2095500"/>
            <a:ext cx="3129915" cy="889000"/>
          </a:xfrm>
          <a:prstGeom prst="roundRect">
            <a:avLst>
              <a:gd name="adj" fmla="val 7142"/>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8"/>
            </p:custDataLst>
          </p:nvPr>
        </p:nvSpPr>
        <p:spPr>
          <a:xfrm>
            <a:off x="1016000" y="2159000"/>
            <a:ext cx="299847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a:solidFill>
                  <a:srgbClr val="003366"/>
                </a:solidFill>
                <a:latin typeface="Times New Roman" panose="02020603050405020304"/>
                <a:ea typeface="Times New Roman" panose="02020603050405020304"/>
                <a:cs typeface="Times New Roman" panose="02020603050405020304"/>
                <a:sym typeface="Times New Roman" panose="02020603050405020304"/>
              </a:rPr>
              <a:t>Gain(S,A) = Entropy(S) - ∑(|Sᵥ|/|S|)Entropy(Sᵥ)</a:t>
            </a:r>
            <a:endParaRPr lang="en-US" sz="1200" b="0"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9"/>
            </p:custDataLst>
          </p:nvPr>
        </p:nvSpPr>
        <p:spPr>
          <a:xfrm>
            <a:off x="952500" y="3111500"/>
            <a:ext cx="29972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endParaRPr lang="en-US" sz="1100"/>
          </a:p>
          <a:p>
            <a:pPr indent="0" algn="l">
              <a:lnSpc>
                <a:spcPct val="100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直观易懂，能有效衡量属性区分能力，但偏向多值属性。</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10"/>
            </p:custDataLst>
          </p:nvPr>
        </p:nvSpPr>
        <p:spPr>
          <a:xfrm>
            <a:off x="952500" y="4127500"/>
            <a:ext cx="29972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endParaRPr lang="en-US" sz="1100"/>
          </a:p>
          <a:p>
            <a:pPr indent="0" algn="l">
              <a:lnSpc>
                <a:spcPct val="100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ID3算法，追求快速降低数据不确定性。</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1"/>
            </p:custDataLst>
          </p:nvPr>
        </p:nvSpPr>
        <p:spPr>
          <a:xfrm>
            <a:off x="4394200" y="1397000"/>
            <a:ext cx="3378200" cy="4064000"/>
          </a:xfrm>
          <a:prstGeom prst="roundRect">
            <a:avLst>
              <a:gd name="adj" fmla="val 3759"/>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13" name="AutoShape 13"/>
          <p:cNvSpPr/>
          <p:nvPr>
            <p:custDataLst>
              <p:tags r:id="rId12"/>
            </p:custDataLst>
          </p:nvPr>
        </p:nvSpPr>
        <p:spPr>
          <a:xfrm>
            <a:off x="4394200" y="1397000"/>
            <a:ext cx="3378200" cy="762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48200" y="1651000"/>
            <a:ext cx="304800" cy="304800"/>
          </a:xfrm>
          <a:prstGeom prst="rect">
            <a:avLst/>
          </a:prstGeom>
        </p:spPr>
      </p:pic>
      <p:sp>
        <p:nvSpPr>
          <p:cNvPr id="15" name="AutoShape 15"/>
          <p:cNvSpPr/>
          <p:nvPr>
            <p:custDataLst>
              <p:tags r:id="rId16"/>
            </p:custDataLst>
          </p:nvPr>
        </p:nvSpPr>
        <p:spPr>
          <a:xfrm>
            <a:off x="5029200" y="16002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a:t>
            </a:r>
            <a:endParaRPr lang="en-US" sz="1100"/>
          </a:p>
        </p:txBody>
      </p:sp>
      <p:sp>
        <p:nvSpPr>
          <p:cNvPr id="16" name="AutoShape 16"/>
          <p:cNvSpPr/>
          <p:nvPr>
            <p:custDataLst>
              <p:tags r:id="rId17"/>
            </p:custDataLst>
          </p:nvPr>
        </p:nvSpPr>
        <p:spPr>
          <a:xfrm>
            <a:off x="4584700" y="2095500"/>
            <a:ext cx="2997200" cy="889000"/>
          </a:xfrm>
          <a:prstGeom prst="roundRect">
            <a:avLst>
              <a:gd name="adj" fmla="val 7142"/>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8"/>
            </p:custDataLst>
          </p:nvPr>
        </p:nvSpPr>
        <p:spPr>
          <a:xfrm>
            <a:off x="4648200" y="2159000"/>
            <a:ext cx="28702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i="1">
                <a:solidFill>
                  <a:srgbClr val="333333"/>
                </a:solidFill>
                <a:latin typeface="Times New Roman" panose="02020603050405020304"/>
                <a:ea typeface="Times New Roman" panose="02020603050405020304"/>
                <a:cs typeface="Times New Roman" panose="02020603050405020304"/>
                <a:sym typeface="Times New Roman" panose="02020603050405020304"/>
              </a:rPr>
              <a:t>GainRatio(S,A) = Gain(S,A) / SplitInfo_A(S)</a:t>
            </a:r>
            <a:endParaRPr lang="en-US" sz="1200" b="0"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custDataLst>
              <p:tags r:id="rId19"/>
            </p:custDataLst>
          </p:nvPr>
        </p:nvSpPr>
        <p:spPr>
          <a:xfrm>
            <a:off x="4584700" y="3111500"/>
            <a:ext cx="29972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endParaRPr lang="en-US" sz="1100"/>
          </a:p>
          <a:p>
            <a:pPr indent="0" algn="l">
              <a:lnSpc>
                <a:spcPct val="100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平衡了对多值属性的偏好，选择更公平，但计算稍复杂。</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custDataLst>
              <p:tags r:id="rId20"/>
            </p:custDataLst>
          </p:nvPr>
        </p:nvSpPr>
        <p:spPr>
          <a:xfrm>
            <a:off x="4584700" y="4127500"/>
            <a:ext cx="29972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endParaRPr lang="en-US" sz="1100"/>
          </a:p>
          <a:p>
            <a:pPr indent="0" algn="l">
              <a:lnSpc>
                <a:spcPct val="100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C4.5算法，需要更稳健的属性选择。</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21"/>
            </p:custDataLst>
          </p:nvPr>
        </p:nvSpPr>
        <p:spPr>
          <a:xfrm>
            <a:off x="8026400" y="1397000"/>
            <a:ext cx="3378200" cy="4064000"/>
          </a:xfrm>
          <a:prstGeom prst="roundRect">
            <a:avLst>
              <a:gd name="adj" fmla="val 3759"/>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21" name="AutoShape 21"/>
          <p:cNvSpPr/>
          <p:nvPr>
            <p:custDataLst>
              <p:tags r:id="rId22"/>
            </p:custDataLst>
          </p:nvPr>
        </p:nvSpPr>
        <p:spPr>
          <a:xfrm>
            <a:off x="8026400" y="1397000"/>
            <a:ext cx="3378200" cy="76200"/>
          </a:xfrm>
          <a:prstGeom prst="roundRect">
            <a:avLst>
              <a:gd name="adj" fmla="val 0"/>
            </a:avLst>
          </a:prstGeom>
          <a:solidFill>
            <a:srgbClr val="6666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280400" y="1651000"/>
            <a:ext cx="304800" cy="304800"/>
          </a:xfrm>
          <a:prstGeom prst="rect">
            <a:avLst/>
          </a:prstGeom>
        </p:spPr>
      </p:pic>
      <p:sp>
        <p:nvSpPr>
          <p:cNvPr id="23" name="AutoShape 23"/>
          <p:cNvSpPr/>
          <p:nvPr>
            <p:custDataLst>
              <p:tags r:id="rId26"/>
            </p:custDataLst>
          </p:nvPr>
        </p:nvSpPr>
        <p:spPr>
          <a:xfrm>
            <a:off x="8661400" y="16002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基尼指数</a:t>
            </a:r>
            <a:endParaRPr lang="en-US" sz="1100"/>
          </a:p>
        </p:txBody>
      </p:sp>
      <p:sp>
        <p:nvSpPr>
          <p:cNvPr id="24" name="AutoShape 24"/>
          <p:cNvSpPr/>
          <p:nvPr>
            <p:custDataLst>
              <p:tags r:id="rId27"/>
            </p:custDataLst>
          </p:nvPr>
        </p:nvSpPr>
        <p:spPr>
          <a:xfrm>
            <a:off x="8216900" y="2095500"/>
            <a:ext cx="2997200" cy="889000"/>
          </a:xfrm>
          <a:prstGeom prst="roundRect">
            <a:avLst>
              <a:gd name="adj" fmla="val 7142"/>
            </a:avLst>
          </a:prstGeom>
          <a:solidFill>
            <a:srgbClr val="666666">
              <a:alpha val="1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25" name="AutoShape 25"/>
              <p:cNvSpPr/>
              <p:nvPr>
                <p:custDataLst>
                  <p:tags r:id="rId28"/>
                </p:custDataLst>
              </p:nvPr>
            </p:nvSpPr>
            <p:spPr>
              <a:xfrm>
                <a:off x="8280400" y="2159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14:m>
                  <m:oMathPara xmlns:m="http://schemas.openxmlformats.org/officeDocument/2006/math">
                    <m:oMathParaPr>
                      <m:jc m:val="centerGroup"/>
                    </m:oMathParaPr>
                    <m:oMath xmlns:m="http://schemas.openxmlformats.org/officeDocument/2006/math">
                      <m:r>
                        <a:rPr lang="en-US" sz="1200" i="1">
                          <a:latin typeface="Cambria Math" panose="02040503050406030204" charset="0"/>
                          <a:cs typeface="Cambria Math" panose="02040503050406030204" charset="0"/>
                        </a:rPr>
                        <m:t>𝐺𝑖𝑛𝑖</m:t>
                      </m:r>
                      <m:r>
                        <a:rPr lang="en-US" sz="1200" i="1">
                          <a:latin typeface="Cambria Math" panose="02040503050406030204" charset="0"/>
                          <a:cs typeface="Cambria Math" panose="02040503050406030204" charset="0"/>
                        </a:rPr>
                        <m:t>(</m:t>
                      </m:r>
                      <m:r>
                        <a:rPr lang="en-US" sz="1200" i="1">
                          <a:latin typeface="Cambria Math" panose="02040503050406030204" charset="0"/>
                          <a:cs typeface="Cambria Math" panose="02040503050406030204" charset="0"/>
                        </a:rPr>
                        <m:t>𝑆</m:t>
                      </m:r>
                      <m:r>
                        <a:rPr lang="en-US" sz="1200" i="1">
                          <a:latin typeface="Cambria Math" panose="02040503050406030204" charset="0"/>
                          <a:cs typeface="Cambria Math" panose="02040503050406030204" charset="0"/>
                        </a:rPr>
                        <m:t>)</m:t>
                      </m:r>
                      <m:r>
                        <a:rPr lang="en-US" sz="1200" i="1">
                          <a:latin typeface="Cambria Math" panose="02040503050406030204" charset="0"/>
                          <a:cs typeface="Cambria Math" panose="02040503050406030204" charset="0"/>
                        </a:rPr>
                        <m:t> = </m:t>
                      </m:r>
                      <m:r>
                        <a:rPr lang="en-US" sz="1200" i="1">
                          <a:latin typeface="Cambria Math" panose="02040503050406030204" charset="0"/>
                          <a:cs typeface="Cambria Math" panose="02040503050406030204" charset="0"/>
                        </a:rPr>
                        <m:t>1</m:t>
                      </m:r>
                      <m:r>
                        <a:rPr lang="en-US" sz="1200" i="1">
                          <a:latin typeface="Cambria Math" panose="02040503050406030204" charset="0"/>
                          <a:cs typeface="Cambria Math" panose="02040503050406030204" charset="0"/>
                        </a:rPr>
                        <m:t> − </m:t>
                      </m:r>
                      <m:nary>
                        <m:naryPr>
                          <m:chr m:val="∑"/>
                          <m:limLoc m:val="undOvr"/>
                          <m:ctrlPr>
                            <a:rPr lang="en-US" sz="1200" i="1">
                              <a:latin typeface="Cambria Math" panose="02040503050406030204" charset="0"/>
                              <a:cs typeface="Cambria Math" panose="02040503050406030204" charset="0"/>
                            </a:rPr>
                          </m:ctrlPr>
                        </m:naryPr>
                        <m:sub>
                          <m:r>
                            <a:rPr lang="en-US" sz="1200" i="1">
                              <a:latin typeface="Cambria Math" panose="02040503050406030204" charset="0"/>
                              <a:cs typeface="Cambria Math" panose="02040503050406030204" charset="0"/>
                            </a:rPr>
                            <m:t>𝑖</m:t>
                          </m:r>
                          <m:r>
                            <a:rPr lang="en-US" sz="1200" i="1">
                              <a:latin typeface="Cambria Math" panose="02040503050406030204" charset="0"/>
                              <a:cs typeface="Cambria Math" panose="02040503050406030204" charset="0"/>
                            </a:rPr>
                            <m:t>=</m:t>
                          </m:r>
                          <m:r>
                            <a:rPr lang="en-US" sz="1200" i="1">
                              <a:latin typeface="Cambria Math" panose="02040503050406030204" charset="0"/>
                              <a:cs typeface="Cambria Math" panose="02040503050406030204" charset="0"/>
                            </a:rPr>
                            <m:t>1</m:t>
                          </m:r>
                        </m:sub>
                        <m:sup>
                          <m:r>
                            <a:rPr lang="en-US" sz="1200" i="1">
                              <a:latin typeface="Cambria Math" panose="02040503050406030204" charset="0"/>
                              <a:cs typeface="Cambria Math" panose="02040503050406030204" charset="0"/>
                            </a:rPr>
                            <m:t>𝑚</m:t>
                          </m:r>
                        </m:sup>
                        <m:e>
                          <m:sSubSup>
                            <m:sSubSupPr>
                              <m:ctrlPr>
                                <a:rPr lang="en-US" sz="1200" i="1">
                                  <a:latin typeface="Cambria Math" panose="02040503050406030204" charset="0"/>
                                  <a:cs typeface="Cambria Math" panose="02040503050406030204" charset="0"/>
                                </a:rPr>
                              </m:ctrlPr>
                            </m:sSubSupPr>
                            <m:e>
                              <m:r>
                                <a:rPr lang="en-US" sz="1200" i="1">
                                  <a:latin typeface="Cambria Math" panose="02040503050406030204" charset="0"/>
                                  <a:cs typeface="Cambria Math" panose="02040503050406030204" charset="0"/>
                                </a:rPr>
                                <m:t>𝑃</m:t>
                              </m:r>
                            </m:e>
                            <m:sub>
                              <m:r>
                                <a:rPr lang="en-US" sz="1200" i="1">
                                  <a:latin typeface="Cambria Math" panose="02040503050406030204" charset="0"/>
                                  <a:cs typeface="Cambria Math" panose="02040503050406030204" charset="0"/>
                                </a:rPr>
                                <m:t>𝑖</m:t>
                              </m:r>
                            </m:sub>
                            <m:sup>
                              <m:r>
                                <a:rPr lang="en-US" sz="1200" i="1">
                                  <a:latin typeface="Cambria Math" panose="02040503050406030204" charset="0"/>
                                  <a:cs typeface="Cambria Math" panose="02040503050406030204" charset="0"/>
                                </a:rPr>
                                <m:t>2</m:t>
                              </m:r>
                            </m:sup>
                          </m:sSubSup>
                        </m:e>
                      </m:nary>
                    </m:oMath>
                  </m:oMathPara>
                </a14:m>
                <a:endParaRPr lang="en-US" sz="1200" b="0"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25" name="AutoShape 25"/>
              <p:cNvSpPr>
                <a:spLocks noRot="1" noChangeAspect="1" noMove="1" noResize="1" noEditPoints="1" noAdjustHandles="1" noChangeArrowheads="1" noChangeShapeType="1" noTextEdit="1"/>
              </p:cNvSpPr>
              <p:nvPr>
                <p:custDataLst>
                  <p:tags r:id="rId29"/>
                </p:custDataLst>
              </p:nvPr>
            </p:nvSpPr>
            <p:spPr>
              <a:xfrm>
                <a:off x="8280400" y="2159000"/>
                <a:ext cx="2870200" cy="762000"/>
              </a:xfrm>
              <a:prstGeom prst="rect">
                <a:avLst/>
              </a:prstGeom>
              <a:blipFill rotWithShape="1">
                <a:blip r:embed="rId30"/>
                <a:stretch>
                  <a:fillRect/>
                </a:stretch>
              </a:blipFill>
              <a:ln w="12700" cap="flat" cmpd="sng">
                <a:noFill/>
                <a:prstDash val="solid"/>
                <a:round/>
              </a:ln>
            </p:spPr>
            <p:txBody>
              <a:bodyPr/>
              <a:lstStyle/>
              <a:p>
                <a:r>
                  <a:rPr lang="zh-CN" altLang="en-US">
                    <a:noFill/>
                  </a:rPr>
                  <a:t> </a:t>
                </a:r>
              </a:p>
            </p:txBody>
          </p:sp>
        </mc:Fallback>
      </mc:AlternateContent>
      <p:sp>
        <p:nvSpPr>
          <p:cNvPr id="26" name="AutoShape 26"/>
          <p:cNvSpPr/>
          <p:nvPr>
            <p:custDataLst>
              <p:tags r:id="rId31"/>
            </p:custDataLst>
          </p:nvPr>
        </p:nvSpPr>
        <p:spPr>
          <a:xfrm>
            <a:off x="8216900" y="3111500"/>
            <a:ext cx="29972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endParaRPr lang="en-US" sz="1100"/>
          </a:p>
          <a:p>
            <a:pPr indent="0" algn="l">
              <a:lnSpc>
                <a:spcPct val="100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计算效率高，不涉及对数运算，衡量数据的不纯度。</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custDataLst>
              <p:tags r:id="rId32"/>
            </p:custDataLst>
          </p:nvPr>
        </p:nvSpPr>
        <p:spPr>
          <a:xfrm>
            <a:off x="8216900" y="4127500"/>
            <a:ext cx="29972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endParaRPr lang="en-US" sz="1100"/>
          </a:p>
          <a:p>
            <a:pPr indent="0" algn="l">
              <a:lnSpc>
                <a:spcPct val="100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CART算法，适用于大规模数据集。</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762000" y="5715000"/>
            <a:ext cx="10642600" cy="635000"/>
          </a:xfrm>
          <a:prstGeom prst="roundRect">
            <a:avLst>
              <a:gd name="adj" fmla="val 20000"/>
            </a:avLst>
          </a:prstGeom>
          <a:solidFill>
            <a:srgbClr val="003366">
              <a:alpha val="5000"/>
            </a:srgbClr>
          </a:solidFill>
          <a:ln w="12700" cap="flat" cmpd="sng">
            <a:solidFill>
              <a:srgbClr val="003366">
                <a:alpha val="1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52500" y="5880100"/>
            <a:ext cx="304800" cy="304800"/>
          </a:xfrm>
          <a:prstGeom prst="rect">
            <a:avLst/>
          </a:prstGeom>
        </p:spPr>
      </p:pic>
      <p:sp>
        <p:nvSpPr>
          <p:cNvPr id="30" name="AutoShape 30"/>
          <p:cNvSpPr/>
          <p:nvPr/>
        </p:nvSpPr>
        <p:spPr>
          <a:xfrm>
            <a:off x="1333500" y="5715000"/>
            <a:ext cx="990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r>
              <a:rPr lang="en-US" sz="1400" b="0"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三种方法各有优劣，信息增益直观但有偏，增益率稳健但复杂，基尼指数高效适合大数据。实际应用需结合数据特点选择。</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树剪枝策略详解</a:t>
            </a:r>
            <a:endParaRPr lang="en-US" sz="1100"/>
          </a:p>
        </p:txBody>
      </p:sp>
      <p:sp>
        <p:nvSpPr>
          <p:cNvPr id="3" name="AutoShape 3"/>
          <p:cNvSpPr/>
          <p:nvPr/>
        </p:nvSpPr>
        <p:spPr>
          <a:xfrm>
            <a:off x="762000" y="1206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决策树易发生过拟合，剪枝是解决该问题的核心手段，主要分为预剪枝和后剪枝两种策略。</a:t>
            </a:r>
            <a:endParaRPr lang="en-US" sz="1100"/>
          </a:p>
        </p:txBody>
      </p:sp>
      <p:sp>
        <p:nvSpPr>
          <p:cNvPr id="5" name="AutoShape 5"/>
          <p:cNvSpPr/>
          <p:nvPr/>
        </p:nvSpPr>
        <p:spPr>
          <a:xfrm>
            <a:off x="762000" y="1663700"/>
            <a:ext cx="5207000" cy="2413000"/>
          </a:xfrm>
          <a:prstGeom prst="roundRect">
            <a:avLst>
              <a:gd name="adj" fmla="val 5263"/>
            </a:avLst>
          </a:prstGeom>
          <a:solidFill>
            <a:srgbClr val="FFFFFF">
              <a:alpha val="100000"/>
            </a:srgbClr>
          </a:solidFill>
          <a:ln w="25400" cap="flat" cmpd="sng">
            <a:noFill/>
            <a:prstDash val="solid"/>
            <a:round/>
          </a:ln>
          <a:effectLst>
            <a:outerShdw blurRad="127000" dist="63500" dir="5400000" algn="tl" rotWithShape="0">
              <a:srgbClr val="003366">
                <a:alpha val="8000"/>
              </a:srgbClr>
            </a:outerShdw>
          </a:effectLst>
        </p:spPr>
        <p:txBody>
          <a:bodyPr vert="horz" wrap="square" lIns="63500" tIns="63500" rIns="63500" bIns="63500" rtlCol="0" anchor="ctr"/>
          <a:lstStyle/>
          <a:p>
            <a:pPr algn="ctr">
              <a:defRPr/>
            </a:pPr>
          </a:p>
        </p:txBody>
      </p:sp>
      <p:sp>
        <p:nvSpPr>
          <p:cNvPr id="6" name="AutoShape 6"/>
          <p:cNvSpPr/>
          <p:nvPr/>
        </p:nvSpPr>
        <p:spPr>
          <a:xfrm>
            <a:off x="762000" y="1663700"/>
            <a:ext cx="5207000" cy="457200"/>
          </a:xfrm>
          <a:prstGeom prst="roundRect">
            <a:avLst>
              <a:gd name="adj" fmla="val 27777"/>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58520" y="1689100"/>
            <a:ext cx="428498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预剪枝 (Pre-pruning)</a:t>
            </a:r>
            <a:endParaRPr lang="en-US" sz="1100"/>
          </a:p>
        </p:txBody>
      </p:sp>
      <p:sp>
        <p:nvSpPr>
          <p:cNvPr id="9" name="AutoShape 9"/>
          <p:cNvSpPr/>
          <p:nvPr/>
        </p:nvSpPr>
        <p:spPr>
          <a:xfrm>
            <a:off x="952500" y="2235200"/>
            <a:ext cx="4826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原理：</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在树的构建过程中提前停止生长。</a:t>
            </a:r>
            <a:endParaRPr lang="en-US" sz="1100"/>
          </a:p>
          <a:p>
            <a:pPr indent="0" algn="l">
              <a:lnSpc>
                <a:spcPct val="108000"/>
              </a:lnSpc>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常见方法包括限制树的最大深度、设置节点分裂所需的最小样本数、设定信息增益的阈值等。</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计算高效防过拟合，但可能过早停止导致欠拟合。</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23000" y="1663700"/>
            <a:ext cx="5207000" cy="2413000"/>
          </a:xfrm>
          <a:prstGeom prst="roundRect">
            <a:avLst>
              <a:gd name="adj" fmla="val 5263"/>
            </a:avLst>
          </a:prstGeom>
          <a:solidFill>
            <a:srgbClr val="FFFFFF">
              <a:alpha val="100000"/>
            </a:srgbClr>
          </a:solidFill>
          <a:ln w="25400" cap="flat" cmpd="sng">
            <a:noFill/>
            <a:prstDash val="solid"/>
            <a:round/>
          </a:ln>
          <a:effectLst>
            <a:outerShdw blurRad="127000" dist="63500" dir="5400000" algn="tl" rotWithShape="0">
              <a:srgbClr val="003366">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6223000" y="1663700"/>
            <a:ext cx="5207000" cy="457200"/>
          </a:xfrm>
          <a:prstGeom prst="roundRect">
            <a:avLst>
              <a:gd name="adj" fmla="val 27777"/>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306185" y="1689100"/>
            <a:ext cx="4298315"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后剪枝 (Post-pruning)</a:t>
            </a:r>
            <a:endParaRPr lang="en-US" sz="1100"/>
          </a:p>
        </p:txBody>
      </p:sp>
      <p:sp>
        <p:nvSpPr>
          <p:cNvPr id="14" name="AutoShape 14"/>
          <p:cNvSpPr/>
          <p:nvPr/>
        </p:nvSpPr>
        <p:spPr>
          <a:xfrm>
            <a:off x="6413500" y="2235200"/>
            <a:ext cx="4826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原理：</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先生成完整树，再自底向上剪去无效分支。</a:t>
            </a:r>
            <a:endParaRPr lang="en-US" sz="1100"/>
          </a:p>
          <a:p>
            <a:pPr indent="0" algn="l">
              <a:lnSpc>
                <a:spcPct val="108000"/>
              </a:lnSpc>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C4.5使用的是悲观剪枝（PEP）策略，它不需要额外的验证集，通过统计方法估计剪枝前后的误差，非常高效。</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泛化能力强、模型性能优，但计算成本较高。</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62000" y="4330700"/>
            <a:ext cx="10668000" cy="762000"/>
          </a:xfrm>
          <a:prstGeom prst="roundRect">
            <a:avLst>
              <a:gd name="adj" fmla="val 16666"/>
            </a:avLst>
          </a:prstGeom>
          <a:solidFill>
            <a:srgbClr val="FFFFFF">
              <a:alpha val="60000"/>
            </a:srgbClr>
          </a:solidFill>
          <a:ln w="12700" cap="flat" cmpd="sng">
            <a:solidFill>
              <a:srgbClr val="4A90E2">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44577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预剪枝注重效率与早期干预，后剪枝注重效果与后期优化，需根据实际场景权衡选择。</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812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分类任务的现实意义与决策树优势</a:t>
            </a:r>
            <a:endParaRPr lang="en-US" sz="1100"/>
          </a:p>
        </p:txBody>
      </p:sp>
      <p:sp>
        <p:nvSpPr>
          <p:cNvPr id="3" name="AutoShape 3"/>
          <p:cNvSpPr/>
          <p:nvPr/>
        </p:nvSpPr>
        <p:spPr>
          <a:xfrm>
            <a:off x="762000" y="12065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1435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14500"/>
            <a:ext cx="463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一、分类任务的现实意义</a:t>
            </a:r>
            <a:endParaRPr lang="en-US" sz="1100"/>
          </a:p>
        </p:txBody>
      </p:sp>
      <p:sp>
        <p:nvSpPr>
          <p:cNvPr id="7" name="AutoShape 7"/>
          <p:cNvSpPr/>
          <p:nvPr/>
        </p:nvSpPr>
        <p:spPr>
          <a:xfrm>
            <a:off x="1015365" y="2184400"/>
            <a:ext cx="463677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医疗诊断：</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辅助医生判断肿瘤良恶性，提高诊断效率与准确性。</a:t>
            </a:r>
            <a:endParaRPr lang="en-US" sz="1100"/>
          </a:p>
        </p:txBody>
      </p:sp>
      <p:sp>
        <p:nvSpPr>
          <p:cNvPr id="9" name="AutoShape 9"/>
          <p:cNvSpPr/>
          <p:nvPr/>
        </p:nvSpPr>
        <p:spPr>
          <a:xfrm>
            <a:off x="1016635" y="2819400"/>
            <a:ext cx="4634865"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金融风控：</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评估信用风险，预测贷款违约概率，构建智能审批系统。</a:t>
            </a:r>
            <a:endParaRPr lang="en-US" sz="1100"/>
          </a:p>
        </p:txBody>
      </p:sp>
      <p:sp>
        <p:nvSpPr>
          <p:cNvPr id="11" name="AutoShape 11"/>
          <p:cNvSpPr/>
          <p:nvPr/>
        </p:nvSpPr>
        <p:spPr>
          <a:xfrm>
            <a:off x="1016635" y="3454400"/>
            <a:ext cx="4634865"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文本分类：</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自动识别垃圾邮件、新闻主题分类及情感倾向分析。</a:t>
            </a:r>
            <a:endParaRPr lang="en-US" sz="1100"/>
          </a:p>
        </p:txBody>
      </p:sp>
      <p:sp>
        <p:nvSpPr>
          <p:cNvPr id="13" name="AutoShape 13"/>
          <p:cNvSpPr/>
          <p:nvPr/>
        </p:nvSpPr>
        <p:spPr>
          <a:xfrm>
            <a:off x="1016635" y="4089400"/>
            <a:ext cx="4634865"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工业质检：</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基于图像或传感器数据自动检测缺陷，实现自动化质控。</a:t>
            </a:r>
            <a:endParaRPr lang="en-US" sz="1100"/>
          </a:p>
        </p:txBody>
      </p:sp>
      <p:sp>
        <p:nvSpPr>
          <p:cNvPr id="14" name="AutoShape 14"/>
          <p:cNvSpPr/>
          <p:nvPr/>
        </p:nvSpPr>
        <p:spPr>
          <a:xfrm>
            <a:off x="6286500" y="1524000"/>
            <a:ext cx="51435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6540500" y="1714500"/>
            <a:ext cx="463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二、决策树的三大核心优势</a:t>
            </a:r>
            <a:endParaRPr lang="en-US" sz="1100"/>
          </a:p>
        </p:txBody>
      </p:sp>
      <p:sp>
        <p:nvSpPr>
          <p:cNvPr id="17" name="AutoShape 17"/>
          <p:cNvSpPr/>
          <p:nvPr/>
        </p:nvSpPr>
        <p:spPr>
          <a:xfrm>
            <a:off x="6539865" y="2184400"/>
            <a:ext cx="4636135"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强可解释性：</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结构清晰，每一条路径对应明确的“IF-THEN”规则，决策过程透明，易于审计。</a:t>
            </a:r>
            <a:endParaRPr lang="en-US" sz="1100"/>
          </a:p>
        </p:txBody>
      </p:sp>
      <p:sp>
        <p:nvSpPr>
          <p:cNvPr id="19" name="AutoShape 19"/>
          <p:cNvSpPr/>
          <p:nvPr/>
        </p:nvSpPr>
        <p:spPr>
          <a:xfrm>
            <a:off x="6539865" y="3009900"/>
            <a:ext cx="4636135"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数据鲁棒性：</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无需复杂预处理，能直接处理离散/连续特征，对异常值和缺失值有较高容忍度。</a:t>
            </a:r>
            <a:endParaRPr lang="en-US" sz="1100"/>
          </a:p>
        </p:txBody>
      </p:sp>
      <p:sp>
        <p:nvSpPr>
          <p:cNvPr id="21" name="AutoShape 21"/>
          <p:cNvSpPr/>
          <p:nvPr/>
        </p:nvSpPr>
        <p:spPr>
          <a:xfrm>
            <a:off x="6539865" y="3835400"/>
            <a:ext cx="4636135"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高效性：</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训练和预测速度快，计算复杂度相对较低，适合大规模数据和实时场景。</a:t>
            </a:r>
            <a:endParaRPr lang="en-US" sz="1100"/>
          </a:p>
        </p:txBody>
      </p:sp>
      <p:sp>
        <p:nvSpPr>
          <p:cNvPr id="22" name="AutoShape 22"/>
          <p:cNvSpPr/>
          <p:nvPr/>
        </p:nvSpPr>
        <p:spPr>
          <a:xfrm>
            <a:off x="762000" y="5588000"/>
            <a:ext cx="10668000" cy="762000"/>
          </a:xfrm>
          <a:prstGeom prst="roundRect">
            <a:avLst>
              <a:gd name="adj" fmla="val 16666"/>
            </a:avLst>
          </a:prstGeom>
          <a:solidFill>
            <a:srgbClr val="4A90E2">
              <a:alpha val="10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1017270" y="5715000"/>
            <a:ext cx="1015873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决策树凭借其透明的决策逻辑和对数据的低依赖性，成为解决复杂分类问题的首选算法之一。</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581152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决策树的固有缺陷与挑战</a:t>
            </a:r>
            <a:endParaRPr lang="en-US" sz="1100"/>
          </a:p>
        </p:txBody>
      </p:sp>
      <p:sp>
        <p:nvSpPr>
          <p:cNvPr id="3" name="AutoShape 3"/>
          <p:cNvSpPr/>
          <p:nvPr/>
        </p:nvSpPr>
        <p:spPr>
          <a:xfrm>
            <a:off x="762000" y="12192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1"/>
            </p:custDataLst>
          </p:nvPr>
        </p:nvSpPr>
        <p:spPr>
          <a:xfrm>
            <a:off x="762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651000"/>
            <a:ext cx="3302000" cy="76200"/>
          </a:xfrm>
          <a:prstGeom prst="roundRect">
            <a:avLst>
              <a:gd name="adj" fmla="val 16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889000" y="2285365"/>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易过拟合</a:t>
            </a:r>
            <a:endParaRPr lang="en-US" sz="1100"/>
          </a:p>
        </p:txBody>
      </p:sp>
      <p:sp>
        <p:nvSpPr>
          <p:cNvPr id="8" name="AutoShape 8"/>
          <p:cNvSpPr/>
          <p:nvPr>
            <p:custDataLst>
              <p:tags r:id="rId4"/>
            </p:custDataLst>
          </p:nvPr>
        </p:nvSpPr>
        <p:spPr>
          <a:xfrm>
            <a:off x="889000" y="2506345"/>
            <a:ext cx="3048000" cy="236347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生长过深会学习到噪声，导致泛化能力差。</a:t>
            </a:r>
            <a:endParaRPr lang="en-US" sz="1100"/>
          </a:p>
          <a:p>
            <a:pPr indent="0" algn="l">
              <a:lnSpc>
                <a:spcPct val="108000"/>
              </a:lnSpc>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结构复杂，叶子节点过多，对训练数据“死记硬背”。</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5"/>
            </p:custDataLst>
          </p:nvPr>
        </p:nvSpPr>
        <p:spPr>
          <a:xfrm>
            <a:off x="4445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10" name="AutoShape 10"/>
          <p:cNvSpPr/>
          <p:nvPr>
            <p:custDataLst>
              <p:tags r:id="rId6"/>
            </p:custDataLst>
          </p:nvPr>
        </p:nvSpPr>
        <p:spPr>
          <a:xfrm>
            <a:off x="4445000" y="1651000"/>
            <a:ext cx="3302000" cy="76200"/>
          </a:xfrm>
          <a:prstGeom prst="roundRect">
            <a:avLst>
              <a:gd name="adj" fmla="val 16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7"/>
            </p:custDataLst>
          </p:nvPr>
        </p:nvSpPr>
        <p:spPr>
          <a:xfrm>
            <a:off x="4572000" y="2285365"/>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对数据变化敏感</a:t>
            </a:r>
            <a:endParaRPr lang="en-US" sz="1100"/>
          </a:p>
        </p:txBody>
      </p:sp>
      <p:sp>
        <p:nvSpPr>
          <p:cNvPr id="13" name="AutoShape 13"/>
          <p:cNvSpPr/>
          <p:nvPr>
            <p:custDataLst>
              <p:tags r:id="rId8"/>
            </p:custDataLst>
          </p:nvPr>
        </p:nvSpPr>
        <p:spPr>
          <a:xfrm>
            <a:off x="4572000" y="2666365"/>
            <a:ext cx="3048000" cy="2204085"/>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数据微小变动可能导致树结构剧变，稳定性差。</a:t>
            </a:r>
            <a:endParaRPr lang="en-US" sz="1100"/>
          </a:p>
          <a:p>
            <a:pPr indent="0" algn="l">
              <a:lnSpc>
                <a:spcPct val="108000"/>
              </a:lnSpc>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缺乏鲁棒性，难以应对数据分布的漂移。</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9"/>
            </p:custDataLst>
          </p:nvPr>
        </p:nvSpPr>
        <p:spPr>
          <a:xfrm>
            <a:off x="8128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15" name="AutoShape 15"/>
          <p:cNvSpPr/>
          <p:nvPr>
            <p:custDataLst>
              <p:tags r:id="rId10"/>
            </p:custDataLst>
          </p:nvPr>
        </p:nvSpPr>
        <p:spPr>
          <a:xfrm>
            <a:off x="8128000" y="1651000"/>
            <a:ext cx="3302000" cy="76200"/>
          </a:xfrm>
          <a:prstGeom prst="roundRect">
            <a:avLst>
              <a:gd name="adj" fmla="val 16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1"/>
            </p:custDataLst>
          </p:nvPr>
        </p:nvSpPr>
        <p:spPr>
          <a:xfrm>
            <a:off x="8255000" y="2285365"/>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多值属性偏向</a:t>
            </a:r>
            <a:endParaRPr lang="en-US" sz="1100"/>
          </a:p>
        </p:txBody>
      </p:sp>
      <p:sp>
        <p:nvSpPr>
          <p:cNvPr id="18" name="AutoShape 18"/>
          <p:cNvSpPr/>
          <p:nvPr>
            <p:custDataLst>
              <p:tags r:id="rId12"/>
            </p:custDataLst>
          </p:nvPr>
        </p:nvSpPr>
        <p:spPr>
          <a:xfrm>
            <a:off x="8255000" y="2666365"/>
            <a:ext cx="3048000" cy="220345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倾向于选择取值多的属性，即便其无预测价值。</a:t>
            </a:r>
            <a:endParaRPr lang="en-US" sz="1100"/>
          </a:p>
          <a:p>
            <a:pPr indent="0" algn="l">
              <a:lnSpc>
                <a:spcPct val="108000"/>
              </a:lnSpc>
            </a:pPr>
            <a:r>
              <a:rPr lang="en-US" sz="14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如“身份证号”信息增益高但无泛化能力。</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1"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“正视这些缺陷，正是后续算法（如随机森林、GBDT）不断演进的动力。”</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287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C4.5的核心改进：连续属性与缺失值处理</a:t>
            </a:r>
            <a:endParaRPr lang="en-US" sz="1100"/>
          </a:p>
        </p:txBody>
      </p:sp>
      <p:sp>
        <p:nvSpPr>
          <p:cNvPr id="3" name="AutoShape 3"/>
          <p:cNvSpPr/>
          <p:nvPr>
            <p:custDataLst>
              <p:tags r:id="rId1"/>
            </p:custDataLst>
          </p:nvPr>
        </p:nvSpPr>
        <p:spPr>
          <a:xfrm>
            <a:off x="762000" y="1397000"/>
            <a:ext cx="51435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397000"/>
            <a:ext cx="5143500" cy="609600"/>
          </a:xfrm>
          <a:prstGeom prst="roundRect">
            <a:avLst>
              <a:gd name="adj" fmla="val 20833"/>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951865" y="1473200"/>
            <a:ext cx="469963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连续属性离散化 (Discretization)</a:t>
            </a:r>
            <a:endParaRPr lang="en-US" sz="1100"/>
          </a:p>
        </p:txBody>
      </p:sp>
      <p:sp>
        <p:nvSpPr>
          <p:cNvPr id="7" name="AutoShape 7"/>
          <p:cNvSpPr/>
          <p:nvPr>
            <p:custDataLst>
              <p:tags r:id="rId4"/>
            </p:custDataLst>
          </p:nvPr>
        </p:nvSpPr>
        <p:spPr>
          <a:xfrm>
            <a:off x="952500" y="2159000"/>
            <a:ext cx="4762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传统ID3无法处理年龄、收入等连续特征，限制了适用范围。</a:t>
            </a:r>
            <a:endParaRPr lang="en-US" sz="1100"/>
          </a:p>
        </p:txBody>
      </p:sp>
      <p:sp>
        <p:nvSpPr>
          <p:cNvPr id="8" name="AutoShape 8"/>
          <p:cNvSpPr/>
          <p:nvPr>
            <p:custDataLst>
              <p:tags r:id="rId5"/>
            </p:custDataLst>
          </p:nvPr>
        </p:nvSpPr>
        <p:spPr>
          <a:xfrm>
            <a:off x="952500" y="2857500"/>
            <a:ext cx="47625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C4.5 二分法策略：</a:t>
            </a:r>
            <a:endParaRPr lang="en-US" sz="1100"/>
          </a:p>
          <a:p>
            <a:pPr marL="165100" indent="-165100" algn="l">
              <a:lnSpc>
                <a:spcPct val="125000"/>
              </a:lnSpc>
              <a:buClr>
                <a:srgbClr val="666666"/>
              </a:buClr>
              <a:buChar cha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将属性值排序，取相邻值中点为候选阈值</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65100" indent="-165100" algn="l">
              <a:lnSpc>
                <a:spcPct val="125000"/>
              </a:lnSpc>
              <a:buClr>
                <a:srgbClr val="666666"/>
              </a:buClr>
              <a:buChar cha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计算各阈值的信息增益，选择增益最大者为分裂点</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65100" indent="-165100" algn="l">
              <a:lnSpc>
                <a:spcPct val="125000"/>
              </a:lnSpc>
              <a:buClr>
                <a:srgbClr val="666666"/>
              </a:buClr>
              <a:buChar cha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将连续属性转化为“大于/小于阈值”的二分类问题</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6"/>
            </p:custDataLst>
          </p:nvPr>
        </p:nvSpPr>
        <p:spPr>
          <a:xfrm>
            <a:off x="952500" y="4127500"/>
            <a:ext cx="4762500" cy="571500"/>
          </a:xfrm>
          <a:prstGeom prst="roundRect">
            <a:avLst>
              <a:gd name="adj" fmla="val 11111"/>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7"/>
            </p:custDataLst>
          </p:nvPr>
        </p:nvSpPr>
        <p:spPr>
          <a:xfrm>
            <a:off x="1079500" y="4216400"/>
            <a:ext cx="4508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年龄 [20, 25, 30] → 阈值 [22.5, 27.5] → 选最优划分。</a:t>
            </a:r>
            <a:endParaRPr lang="en-US" sz="1100"/>
          </a:p>
        </p:txBody>
      </p:sp>
      <p:sp>
        <p:nvSpPr>
          <p:cNvPr id="11" name="AutoShape 11"/>
          <p:cNvSpPr/>
          <p:nvPr>
            <p:custDataLst>
              <p:tags r:id="rId8"/>
            </p:custDataLst>
          </p:nvPr>
        </p:nvSpPr>
        <p:spPr>
          <a:xfrm>
            <a:off x="6286500" y="1397000"/>
            <a:ext cx="51435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3366">
                <a:alpha val="10000"/>
              </a:srgbClr>
            </a:outerShdw>
          </a:effectLst>
        </p:spPr>
        <p:txBody>
          <a:bodyPr vert="horz" wrap="square" lIns="63500" tIns="63500" rIns="63500" bIns="63500" rtlCol="0" anchor="ctr"/>
          <a:lstStyle/>
          <a:p>
            <a:pPr algn="ctr">
              <a:defRPr/>
            </a:pPr>
          </a:p>
        </p:txBody>
      </p:sp>
      <p:sp>
        <p:nvSpPr>
          <p:cNvPr id="12" name="AutoShape 12"/>
          <p:cNvSpPr/>
          <p:nvPr>
            <p:custDataLst>
              <p:tags r:id="rId9"/>
            </p:custDataLst>
          </p:nvPr>
        </p:nvSpPr>
        <p:spPr>
          <a:xfrm>
            <a:off x="6286500" y="1397000"/>
            <a:ext cx="5143500" cy="609600"/>
          </a:xfrm>
          <a:prstGeom prst="roundRect">
            <a:avLst>
              <a:gd name="adj" fmla="val 20833"/>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0"/>
            </p:custDataLst>
          </p:nvPr>
        </p:nvSpPr>
        <p:spPr>
          <a:xfrm>
            <a:off x="6476365" y="1473200"/>
            <a:ext cx="469963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缺失值处理 (Missing Values)</a:t>
            </a:r>
            <a:endParaRPr lang="en-US" sz="1100"/>
          </a:p>
        </p:txBody>
      </p:sp>
      <p:sp>
        <p:nvSpPr>
          <p:cNvPr id="15" name="AutoShape 15"/>
          <p:cNvSpPr/>
          <p:nvPr>
            <p:custDataLst>
              <p:tags r:id="rId11"/>
            </p:custDataLst>
          </p:nvPr>
        </p:nvSpPr>
        <p:spPr>
          <a:xfrm>
            <a:off x="6477000" y="2159000"/>
            <a:ext cx="4762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现实数据普遍存在缺失，直接删除会导致信息大量损失。</a:t>
            </a:r>
            <a:endParaRPr lang="en-US" sz="1100"/>
          </a:p>
        </p:txBody>
      </p:sp>
      <p:sp>
        <p:nvSpPr>
          <p:cNvPr id="16" name="AutoShape 16"/>
          <p:cNvSpPr/>
          <p:nvPr>
            <p:custDataLst>
              <p:tags r:id="rId12"/>
            </p:custDataLst>
          </p:nvPr>
        </p:nvSpPr>
        <p:spPr>
          <a:xfrm>
            <a:off x="6477000" y="2857500"/>
            <a:ext cx="47625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C4.5 概率加权法：</a:t>
            </a:r>
            <a:endParaRPr lang="en-US" sz="1100"/>
          </a:p>
          <a:p>
            <a:pPr marL="165100" indent="-165100" algn="l">
              <a:lnSpc>
                <a:spcPct val="125000"/>
              </a:lnSpc>
              <a:buClr>
                <a:srgbClr val="666666"/>
              </a:buClr>
              <a:buChar cha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属性选择：</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仅用无缺失样本计算增益率，并加权（无缺失/总数）</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65100" indent="-165100" algn="l">
              <a:lnSpc>
                <a:spcPct val="125000"/>
              </a:lnSpc>
              <a:buClr>
                <a:srgbClr val="666666"/>
              </a:buClr>
              <a:buChar cha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样本划分：</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将缺失样本按比例分配到各子节点参与训练</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3"/>
            </p:custDataLst>
          </p:nvPr>
        </p:nvSpPr>
        <p:spPr>
          <a:xfrm>
            <a:off x="6477000" y="4127500"/>
            <a:ext cx="4762500" cy="571500"/>
          </a:xfrm>
          <a:prstGeom prst="roundRect">
            <a:avLst>
              <a:gd name="adj" fmla="val 11111"/>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4"/>
            </p:custDataLst>
          </p:nvPr>
        </p:nvSpPr>
        <p:spPr>
          <a:xfrm>
            <a:off x="6604000" y="4216400"/>
            <a:ext cx="4508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充分利用所有数据，显著提升模型鲁棒性与信息利用率。</a:t>
            </a:r>
            <a:endParaRPr lang="en-US" sz="1100"/>
          </a:p>
        </p:txBody>
      </p:sp>
      <p:sp>
        <p:nvSpPr>
          <p:cNvPr id="19" name="AutoShape 19"/>
          <p:cNvSpPr/>
          <p:nvPr/>
        </p:nvSpPr>
        <p:spPr>
          <a:xfrm>
            <a:off x="762000" y="5334000"/>
            <a:ext cx="10668000" cy="1016000"/>
          </a:xfrm>
          <a:prstGeom prst="roundRect">
            <a:avLst>
              <a:gd name="adj" fmla="val 12500"/>
            </a:avLst>
          </a:prstGeom>
          <a:solidFill>
            <a:srgbClr val="FFFFFF">
              <a:alpha val="10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953135" y="5461000"/>
            <a:ext cx="10222865"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核心价值总结</a:t>
            </a:r>
            <a:endParaRPr lang="en-US" sz="1100"/>
          </a:p>
          <a:p>
            <a:pPr indent="0" algn="l">
              <a:lnSpc>
                <a:spcPct val="125000"/>
              </a:lnSpc>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C4.5通过“离散化”解决了连续特征的处理难题，通过“概率加权”保留了缺失值样本的信息。这两项改进使其能够处理更复杂、更贴近真实世界的数据集，是决策树算法发展史上的重要里程碑。</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4927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决策树的剪枝策略详解</a:t>
            </a:r>
            <a:endParaRPr lang="en-US" sz="1100"/>
          </a:p>
        </p:txBody>
      </p:sp>
      <p:sp>
        <p:nvSpPr>
          <p:cNvPr id="3" name="AutoShape 3"/>
          <p:cNvSpPr/>
          <p:nvPr/>
        </p:nvSpPr>
        <p:spPr>
          <a:xfrm>
            <a:off x="762000" y="12192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1"/>
            </p:custDataLst>
          </p:nvPr>
        </p:nvSpPr>
        <p:spPr>
          <a:xfrm>
            <a:off x="762000" y="1524000"/>
            <a:ext cx="5080000" cy="3683000"/>
          </a:xfrm>
          <a:prstGeom prst="roundRect">
            <a:avLst>
              <a:gd name="adj" fmla="val 3448"/>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524000"/>
            <a:ext cx="5080000" cy="609600"/>
          </a:xfrm>
          <a:prstGeom prst="roundRect">
            <a:avLst>
              <a:gd name="adj" fmla="val 20833"/>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951865" y="1625600"/>
            <a:ext cx="4636135"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预剪枝 (Pre-pruning)</a:t>
            </a:r>
            <a:endParaRPr lang="en-US" sz="1100"/>
          </a:p>
        </p:txBody>
      </p:sp>
      <p:sp>
        <p:nvSpPr>
          <p:cNvPr id="8" name="AutoShape 8"/>
          <p:cNvSpPr/>
          <p:nvPr>
            <p:custDataLst>
              <p:tags r:id="rId4"/>
            </p:custDataLst>
          </p:nvPr>
        </p:nvSpPr>
        <p:spPr>
          <a:xfrm>
            <a:off x="952500" y="2286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在构建过程中提前停止树的生长，防止过度复杂。</a:t>
            </a:r>
            <a:endParaRPr lang="en-US" sz="1100"/>
          </a:p>
        </p:txBody>
      </p:sp>
      <p:sp>
        <p:nvSpPr>
          <p:cNvPr id="9" name="AutoShape 9"/>
          <p:cNvSpPr/>
          <p:nvPr>
            <p:custDataLst>
              <p:tags r:id="rId5"/>
            </p:custDataLst>
          </p:nvPr>
        </p:nvSpPr>
        <p:spPr>
          <a:xfrm>
            <a:off x="952500" y="2857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常用停止条件：</a:t>
            </a:r>
            <a:endParaRPr lang="en-US" sz="1100"/>
          </a:p>
          <a:p>
            <a:pPr marL="165100" indent="-165100" algn="l">
              <a:lnSpc>
                <a:spcPct val="125000"/>
              </a:lnSpc>
              <a:buClr>
                <a:srgbClr val="666666"/>
              </a:buClr>
              <a:buChar cha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深度限制：</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设定最大深度，达到即停。</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65100" indent="-165100" algn="l">
              <a:lnSpc>
                <a:spcPct val="125000"/>
              </a:lnSpc>
              <a:buClr>
                <a:srgbClr val="666666"/>
              </a:buClr>
              <a:buChar cha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样本限制：</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节点样本数少于阈值即停。</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65100" indent="-165100" algn="l">
              <a:lnSpc>
                <a:spcPct val="125000"/>
              </a:lnSpc>
              <a:buClr>
                <a:srgbClr val="666666"/>
              </a:buClr>
              <a:buChar cha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增益限制：</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信息增益小于阈值即停。</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6"/>
            </p:custDataLst>
          </p:nvPr>
        </p:nvSpPr>
        <p:spPr>
          <a:xfrm>
            <a:off x="952500" y="3873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特点分析：</a:t>
            </a:r>
            <a:endParaRPr lang="en-US" sz="1100"/>
          </a:p>
          <a:p>
            <a:pPr indent="0" algn="l">
              <a:lnSpc>
                <a:spcPct val="125000"/>
              </a:lnSpc>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优点：</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简单高效，训练速度快。</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缺点：</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可能欠拟合，易丢失重要信息。</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7"/>
            </p:custDataLst>
          </p:nvPr>
        </p:nvSpPr>
        <p:spPr>
          <a:xfrm>
            <a:off x="6350000" y="1524000"/>
            <a:ext cx="5080000" cy="3683000"/>
          </a:xfrm>
          <a:prstGeom prst="roundRect">
            <a:avLst>
              <a:gd name="adj" fmla="val 3448"/>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12" name="AutoShape 12"/>
          <p:cNvSpPr/>
          <p:nvPr>
            <p:custDataLst>
              <p:tags r:id="rId8"/>
            </p:custDataLst>
          </p:nvPr>
        </p:nvSpPr>
        <p:spPr>
          <a:xfrm>
            <a:off x="6350000" y="1524000"/>
            <a:ext cx="5080000" cy="609600"/>
          </a:xfrm>
          <a:prstGeom prst="roundRect">
            <a:avLst>
              <a:gd name="adj" fmla="val 20833"/>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9"/>
            </p:custDataLst>
          </p:nvPr>
        </p:nvSpPr>
        <p:spPr>
          <a:xfrm>
            <a:off x="6539865" y="1625600"/>
            <a:ext cx="4636135"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后剪枝 (Post-pruning)</a:t>
            </a:r>
            <a:endParaRPr lang="en-US" sz="1100"/>
          </a:p>
        </p:txBody>
      </p:sp>
      <p:sp>
        <p:nvSpPr>
          <p:cNvPr id="15" name="AutoShape 15"/>
          <p:cNvSpPr/>
          <p:nvPr>
            <p:custDataLst>
              <p:tags r:id="rId10"/>
            </p:custDataLst>
          </p:nvPr>
        </p:nvSpPr>
        <p:spPr>
          <a:xfrm>
            <a:off x="6540500" y="2286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先生成完整树，再自下而上剪去贡献小的分支。</a:t>
            </a:r>
            <a:endParaRPr lang="en-US" sz="1100"/>
          </a:p>
        </p:txBody>
      </p:sp>
      <p:sp>
        <p:nvSpPr>
          <p:cNvPr id="16" name="AutoShape 16"/>
          <p:cNvSpPr/>
          <p:nvPr>
            <p:custDataLst>
              <p:tags r:id="rId11"/>
            </p:custDataLst>
          </p:nvPr>
        </p:nvSpPr>
        <p:spPr>
          <a:xfrm>
            <a:off x="6540500" y="2857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C4.5 悲观剪枝 (PEP)：</a:t>
            </a:r>
            <a:endParaRPr lang="en-US" sz="1100"/>
          </a:p>
          <a:p>
            <a:pPr marL="165100" indent="-165100" algn="l">
              <a:lnSpc>
                <a:spcPct val="125000"/>
              </a:lnSpc>
              <a:buClr>
                <a:srgbClr val="666666"/>
              </a:buClr>
              <a:buChar cha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误差估计：</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计算剪枝前后的误差。</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65100" indent="-165100" algn="l">
              <a:lnSpc>
                <a:spcPct val="125000"/>
              </a:lnSpc>
              <a:buClr>
                <a:srgbClr val="666666"/>
              </a:buClr>
              <a:buChar cha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剪枝判断：</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误差不增加则剪枝。</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65100" indent="-165100" algn="l">
              <a:lnSpc>
                <a:spcPct val="125000"/>
              </a:lnSpc>
              <a:buClr>
                <a:srgbClr val="666666"/>
              </a:buClr>
              <a:buChar cha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递归操作：</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自下而上递归，直到无法再剪。</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2"/>
            </p:custDataLst>
          </p:nvPr>
        </p:nvSpPr>
        <p:spPr>
          <a:xfrm>
            <a:off x="6540500" y="3873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特点分析：</a:t>
            </a:r>
            <a:endParaRPr lang="en-US" sz="1100"/>
          </a:p>
          <a:p>
            <a:pPr indent="0" algn="l">
              <a:lnSpc>
                <a:spcPct val="125000"/>
              </a:lnSpc>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优点：</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效果通常更好，欠拟合风险小。</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缺点：</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训练时间长，需先生成完整树。</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62000" y="5461000"/>
            <a:ext cx="10668000" cy="889000"/>
          </a:xfrm>
          <a:prstGeom prst="roundRect">
            <a:avLst>
              <a:gd name="adj" fmla="val 14285"/>
            </a:avLst>
          </a:prstGeom>
          <a:solidFill>
            <a:srgbClr val="003366">
              <a:alpha val="5000"/>
            </a:srgbClr>
          </a:solidFill>
          <a:ln w="12700" cap="flat" cmpd="sng">
            <a:solidFill>
              <a:srgbClr val="4A90E2">
                <a:alpha val="100000"/>
              </a:srgbClr>
            </a:solidFill>
            <a:prstDash val="dash"/>
            <a:round/>
          </a:ln>
        </p:spPr>
        <p:txBody>
          <a:bodyPr vert="horz" wrap="square" lIns="63500" tIns="63500" rIns="63500" bIns="63500" rtlCol="0" anchor="ctr"/>
          <a:lstStyle/>
          <a:p>
            <a:pPr algn="ctr">
              <a:defRPr/>
            </a:pPr>
          </a:p>
        </p:txBody>
      </p:sp>
      <p:sp>
        <p:nvSpPr>
          <p:cNvPr id="20" name="AutoShape 20"/>
          <p:cNvSpPr/>
          <p:nvPr/>
        </p:nvSpPr>
        <p:spPr>
          <a:xfrm>
            <a:off x="951865" y="5562600"/>
            <a:ext cx="10224135" cy="68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策略对比与选择：</a:t>
            </a:r>
            <a:r>
              <a:rPr lang="en-US" sz="15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预剪枝计算成本低，适合快速迭代；后剪枝模型泛化能力更强，适合对精度要求高的场景。在实际应用中，后剪枝（如PEP）往往能获得更好的最终性能。</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705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en-US" altLang="zh-CN"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ReLU</a:t>
            </a:r>
            <a:r>
              <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的</a:t>
            </a: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可微分决策树</a:t>
            </a:r>
            <a:r>
              <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Neu</a:t>
            </a:r>
            <a:r>
              <a:rPr lang="en-US" altLang="zh-CN"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rIPS2025</a:t>
            </a:r>
            <a:r>
              <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270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0" tIns="0" rIns="0" bIns="0" rtlCol="0" anchor="ctr" anchorCtr="0"/>
          <a:lstStyle/>
          <a:p>
            <a:pPr algn="ctr">
              <a:defRPr/>
            </a:pPr>
          </a:p>
        </p:txBody>
      </p:sp>
      <p:sp>
        <p:nvSpPr>
          <p:cNvPr id="6" name="AutoShape 6"/>
          <p:cNvSpPr/>
          <p:nvPr/>
        </p:nvSpPr>
        <p:spPr>
          <a:xfrm>
            <a:off x="762000" y="2413000"/>
            <a:ext cx="10668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0" tIns="0" rIns="0" bIns="0" rtlCol="0" anchor="ctr" anchorCtr="0"/>
          <a:lstStyle/>
          <a:p>
            <a:pPr algn="ctr">
              <a:defRPr/>
            </a:pPr>
          </a:p>
        </p:txBody>
      </p:sp>
      <p:sp>
        <p:nvSpPr>
          <p:cNvPr id="8" name="AutoShape 8"/>
          <p:cNvSpPr/>
          <p:nvPr/>
        </p:nvSpPr>
        <p:spPr>
          <a:xfrm>
            <a:off x="1007745" y="2540000"/>
            <a:ext cx="10168255"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核心思想：用连续函数近似离散决策</a:t>
            </a:r>
            <a:endParaRPr lang="en-US" sz="1100"/>
          </a:p>
          <a:p>
            <a:pPr marL="177800" indent="-177800" algn="l">
              <a:lnSpc>
                <a:spcPct val="125000"/>
              </a:lnSpc>
              <a:buClr>
                <a:srgbClr val="666666"/>
              </a:buClr>
              <a:buChar cha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传统决策树的决策过程是离散的（例如，判断 x_j &lt;= t），这导致其不可微，无法使用梯度下降进行优化。</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25000"/>
              </a:lnSpc>
              <a:buClr>
                <a:srgbClr val="666666"/>
              </a:buClr>
              <a:buChar cha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该论文提出使用连续可微的函数来近似这个离散的决策过程，从而将整个决策树转化为一个可微的神经网络模块。</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25000"/>
              </a:lnSpc>
              <a:buClr>
                <a:srgbClr val="666666"/>
              </a:buClr>
              <a:buChar cha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关键技术：使用平滑的 ReLU 函数来近似阶跃判断（如 ReLU(t - x_j)），并结合 argmin 实现路径选择的连续化。</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4445000"/>
            <a:ext cx="10668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0" tIns="0" rIns="0" bIns="0" rtlCol="0" anchor="ctr" anchorCtr="0"/>
          <a:lstStyle/>
          <a:p>
            <a:pPr algn="ctr">
              <a:defRPr/>
            </a:pPr>
          </a:p>
        </p:txBody>
      </p:sp>
      <p:sp>
        <p:nvSpPr>
          <p:cNvPr id="11" name="AutoShape 11"/>
          <p:cNvSpPr/>
          <p:nvPr/>
        </p:nvSpPr>
        <p:spPr>
          <a:xfrm>
            <a:off x="1007745" y="4572000"/>
            <a:ext cx="983615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实验成果与结论</a:t>
            </a:r>
            <a:endParaRPr lang="en-US" sz="1100"/>
          </a:p>
          <a:p>
            <a:pPr marL="177800" indent="-177800" algn="l">
              <a:lnSpc>
                <a:spcPct val="125000"/>
              </a:lnSpc>
              <a:buClr>
                <a:srgbClr val="666666"/>
              </a:buClr>
              <a:buChar cha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实现端到端训练：整个决策树模型变得可微，可以使用梯度下降进行端到端的优化。</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25000"/>
              </a:lnSpc>
              <a:buClr>
                <a:srgbClr val="666666"/>
              </a:buClr>
              <a:buChar cha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性能与可解释性双赢：在多个公开数据集上，该方法在保持决策树高可解释性的同时，其预测性能能够接近甚至超越随机森林等集成学习模型。</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25000"/>
              </a:lnSpc>
              <a:buClr>
                <a:srgbClr val="666666"/>
              </a:buClr>
              <a:buChar cha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结论：这是一种简单而有效的方法，为可解释AI领域提供了新的、强大的工具。</a:t>
            </a:r>
            <a:endPar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5" name="图片 14"/>
          <p:cNvPicPr>
            <a:picLocks noChangeAspect="1"/>
          </p:cNvPicPr>
          <p:nvPr/>
        </p:nvPicPr>
        <p:blipFill>
          <a:blip r:embed="rId1"/>
          <a:stretch>
            <a:fillRect/>
          </a:stretch>
        </p:blipFill>
        <p:spPr>
          <a:xfrm>
            <a:off x="1007745" y="1381125"/>
            <a:ext cx="8320405" cy="7778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问题与核心思想</a:t>
            </a:r>
            <a:endParaRPr lang="en-US" sz="1100"/>
          </a:p>
        </p:txBody>
      </p:sp>
      <p:sp>
        <p:nvSpPr>
          <p:cNvPr id="3" name="AutoShape 3"/>
          <p:cNvSpPr/>
          <p:nvPr/>
        </p:nvSpPr>
        <p:spPr>
          <a:xfrm>
            <a:off x="762000" y="1524000"/>
            <a:ext cx="5207000" cy="4699000"/>
          </a:xfrm>
          <a:prstGeom prst="roundRect">
            <a:avLst>
              <a:gd name="adj" fmla="val 3243"/>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207000" cy="762000"/>
          </a:xfrm>
          <a:prstGeom prst="roundRect">
            <a:avLst>
              <a:gd name="adj" fmla="val 2000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524000" y="16764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传统决策树的困境：不可微性</a:t>
            </a:r>
            <a:endParaRPr lang="en-US" sz="1100"/>
          </a:p>
        </p:txBody>
      </p:sp>
      <p:sp>
        <p:nvSpPr>
          <p:cNvPr id="7" name="AutoShape 7"/>
          <p:cNvSpPr/>
          <p:nvPr/>
        </p:nvSpPr>
        <p:spPr>
          <a:xfrm>
            <a:off x="1016000" y="2476500"/>
            <a:ext cx="4699000" cy="1016000"/>
          </a:xfrm>
          <a:prstGeom prst="roundRect">
            <a:avLst>
              <a:gd name="adj" fmla="val 10000"/>
            </a:avLst>
          </a:prstGeom>
          <a:solidFill>
            <a:srgbClr val="F0F5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48410" y="2603500"/>
            <a:ext cx="433959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核心问题：离散决策</a:t>
            </a:r>
            <a:endParaRPr lang="en-US" sz="1100"/>
          </a:p>
        </p:txBody>
      </p:sp>
      <p:sp>
        <p:nvSpPr>
          <p:cNvPr id="10" name="AutoShape 10"/>
          <p:cNvSpPr/>
          <p:nvPr/>
        </p:nvSpPr>
        <p:spPr>
          <a:xfrm>
            <a:off x="1248410" y="2946400"/>
            <a:ext cx="433959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传统决策树的决策过程是离散的，例如 IF x_j &lt;= t THEN ...，逻辑类似“开关”。</a:t>
            </a:r>
            <a:endParaRPr lang="en-US" sz="1100"/>
          </a:p>
        </p:txBody>
      </p:sp>
      <p:sp>
        <p:nvSpPr>
          <p:cNvPr id="11" name="AutoShape 11"/>
          <p:cNvSpPr/>
          <p:nvPr/>
        </p:nvSpPr>
        <p:spPr>
          <a:xfrm>
            <a:off x="1016000" y="3683000"/>
            <a:ext cx="4699000" cy="1016000"/>
          </a:xfrm>
          <a:prstGeom prst="roundRect">
            <a:avLst>
              <a:gd name="adj" fmla="val 10000"/>
            </a:avLst>
          </a:prstGeom>
          <a:solidFill>
            <a:srgbClr val="F0F5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248410" y="3810000"/>
            <a:ext cx="433959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数学障碍：不可微性</a:t>
            </a:r>
            <a:endParaRPr lang="en-US" sz="1100"/>
          </a:p>
        </p:txBody>
      </p:sp>
      <p:sp>
        <p:nvSpPr>
          <p:cNvPr id="14" name="AutoShape 14"/>
          <p:cNvSpPr/>
          <p:nvPr/>
        </p:nvSpPr>
        <p:spPr>
          <a:xfrm>
            <a:off x="1248410" y="4152900"/>
            <a:ext cx="433959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这种离散的阶跃函数（step function）在数学上是不可微的，无法定义参数变化趋势。</a:t>
            </a:r>
            <a:endParaRPr lang="en-US" sz="1100"/>
          </a:p>
        </p:txBody>
      </p:sp>
      <p:sp>
        <p:nvSpPr>
          <p:cNvPr id="15" name="AutoShape 15"/>
          <p:cNvSpPr/>
          <p:nvPr/>
        </p:nvSpPr>
        <p:spPr>
          <a:xfrm>
            <a:off x="1016000" y="4889500"/>
            <a:ext cx="4699000" cy="1016000"/>
          </a:xfrm>
          <a:prstGeom prst="roundRect">
            <a:avLst>
              <a:gd name="adj" fmla="val 10000"/>
            </a:avLst>
          </a:prstGeom>
          <a:solidFill>
            <a:srgbClr val="F0F5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248410" y="5016500"/>
            <a:ext cx="433959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优化瓶颈：无法端到端训练</a:t>
            </a:r>
            <a:endParaRPr lang="en-US" sz="1100"/>
          </a:p>
        </p:txBody>
      </p:sp>
      <p:sp>
        <p:nvSpPr>
          <p:cNvPr id="18" name="AutoShape 18"/>
          <p:cNvSpPr/>
          <p:nvPr/>
        </p:nvSpPr>
        <p:spPr>
          <a:xfrm>
            <a:off x="1248410" y="5359400"/>
            <a:ext cx="433959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无法计算损失函数对阈值t的梯度，因此无法使用梯度下降等高效算法进行训练。</a:t>
            </a:r>
            <a:endParaRPr lang="en-US" sz="1100"/>
          </a:p>
        </p:txBody>
      </p:sp>
      <p:sp>
        <p:nvSpPr>
          <p:cNvPr id="19" name="AutoShape 19"/>
          <p:cNvSpPr/>
          <p:nvPr/>
        </p:nvSpPr>
        <p:spPr>
          <a:xfrm>
            <a:off x="6223000" y="1524000"/>
            <a:ext cx="5207000" cy="4699000"/>
          </a:xfrm>
          <a:prstGeom prst="roundRect">
            <a:avLst>
              <a:gd name="adj" fmla="val 3243"/>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0" name="AutoShape 20"/>
          <p:cNvSpPr/>
          <p:nvPr/>
        </p:nvSpPr>
        <p:spPr>
          <a:xfrm>
            <a:off x="6223000" y="1524000"/>
            <a:ext cx="5207000" cy="762000"/>
          </a:xfrm>
          <a:prstGeom prst="roundRect">
            <a:avLst>
              <a:gd name="adj" fmla="val 2000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985000" y="16764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核心思想：连续函数近似</a:t>
            </a:r>
            <a:endParaRPr lang="en-US" sz="1100"/>
          </a:p>
        </p:txBody>
      </p:sp>
      <p:sp>
        <p:nvSpPr>
          <p:cNvPr id="23" name="AutoShape 23"/>
          <p:cNvSpPr/>
          <p:nvPr/>
        </p:nvSpPr>
        <p:spPr>
          <a:xfrm>
            <a:off x="6477000" y="2476500"/>
            <a:ext cx="4699000" cy="1016000"/>
          </a:xfrm>
          <a:prstGeom prst="roundRect">
            <a:avLst>
              <a:gd name="adj" fmla="val 10000"/>
            </a:avLst>
          </a:prstGeom>
          <a:solidFill>
            <a:srgbClr val="F0F5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779895" y="2603500"/>
            <a:ext cx="426910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论文核心：连续函数近似</a:t>
            </a:r>
            <a:endParaRPr lang="en-US" sz="1100"/>
          </a:p>
        </p:txBody>
      </p:sp>
      <p:sp>
        <p:nvSpPr>
          <p:cNvPr id="26" name="AutoShape 26"/>
          <p:cNvSpPr/>
          <p:nvPr/>
        </p:nvSpPr>
        <p:spPr>
          <a:xfrm>
            <a:off x="6779895" y="2946400"/>
            <a:ext cx="4269105"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提出一种巧妙的方法，用连续可微的函数来近似这个离散的决策过程。</a:t>
            </a:r>
            <a:endParaRPr lang="en-US" sz="1100"/>
          </a:p>
        </p:txBody>
      </p:sp>
      <p:sp>
        <p:nvSpPr>
          <p:cNvPr id="27" name="AutoShape 27"/>
          <p:cNvSpPr/>
          <p:nvPr/>
        </p:nvSpPr>
        <p:spPr>
          <a:xfrm>
            <a:off x="6477000" y="3683000"/>
            <a:ext cx="4699000" cy="1143000"/>
          </a:xfrm>
          <a:prstGeom prst="roundRect">
            <a:avLst>
              <a:gd name="adj" fmla="val 8888"/>
            </a:avLst>
          </a:prstGeom>
          <a:solidFill>
            <a:srgbClr val="F0F5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779895" y="3810000"/>
            <a:ext cx="426910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关键技术手段</a:t>
            </a:r>
            <a:endParaRPr lang="en-US" sz="1100"/>
          </a:p>
        </p:txBody>
      </p:sp>
      <p:sp>
        <p:nvSpPr>
          <p:cNvPr id="30" name="AutoShape 30"/>
          <p:cNvSpPr/>
          <p:nvPr/>
        </p:nvSpPr>
        <p:spPr>
          <a:xfrm>
            <a:off x="6779895" y="4152900"/>
            <a:ext cx="4269105"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1. 平滑化决策：使用平滑的 ReLU 函数来近似阶跃判断；</a:t>
            </a:r>
            <a:b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 可微化路径选择：使用可微函数近似 argmin 路径选择。</a:t>
            </a:r>
            <a:endParaRPr lang="en-US" sz="1100"/>
          </a:p>
        </p:txBody>
      </p:sp>
      <p:sp>
        <p:nvSpPr>
          <p:cNvPr id="31" name="AutoShape 31"/>
          <p:cNvSpPr/>
          <p:nvPr/>
        </p:nvSpPr>
        <p:spPr>
          <a:xfrm>
            <a:off x="6477000" y="5016500"/>
            <a:ext cx="4699000" cy="1016000"/>
          </a:xfrm>
          <a:prstGeom prst="roundRect">
            <a:avLst>
              <a:gd name="adj" fmla="val 10000"/>
            </a:avLst>
          </a:prstGeom>
          <a:solidFill>
            <a:srgbClr val="F0F5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6779895" y="5143500"/>
            <a:ext cx="426910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最终目标：端到端优化</a:t>
            </a:r>
            <a:endParaRPr lang="en-US" sz="1100"/>
          </a:p>
        </p:txBody>
      </p:sp>
      <p:sp>
        <p:nvSpPr>
          <p:cNvPr id="34" name="AutoShape 34"/>
          <p:cNvSpPr/>
          <p:nvPr/>
        </p:nvSpPr>
        <p:spPr>
          <a:xfrm>
            <a:off x="6779895" y="5486400"/>
            <a:ext cx="4269105"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将整个决策树转化为一个可微的神经网络模块，从而实现端到端的梯度下降优化。</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算法原理详解</a:t>
            </a:r>
            <a:endParaRPr lang="en-US" sz="1100"/>
          </a:p>
        </p:txBody>
      </p:sp>
      <p:sp>
        <p:nvSpPr>
          <p:cNvPr id="3" name="AutoShape 3"/>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核心机制：从「离散」到「连续」</a:t>
            </a:r>
            <a:endParaRPr lang="en-US" sz="1100"/>
          </a:p>
        </p:txBody>
      </p:sp>
      <p:sp>
        <p:nvSpPr>
          <p:cNvPr id="4" name="AutoShape 4"/>
          <p:cNvSpPr/>
          <p:nvPr/>
        </p:nvSpPr>
        <p:spPr>
          <a:xfrm>
            <a:off x="762000" y="1905000"/>
            <a:ext cx="5080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2095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传统决策：阶跃函数</a:t>
            </a:r>
            <a:endParaRPr lang="en-US" sz="1100"/>
          </a:p>
        </p:txBody>
      </p:sp>
      <p:sp>
        <p:nvSpPr>
          <p:cNvPr id="6" name="AutoShape 6"/>
          <p:cNvSpPr/>
          <p:nvPr/>
        </p:nvSpPr>
        <p:spPr>
          <a:xfrm>
            <a:off x="1016000" y="2540000"/>
            <a:ext cx="4572000" cy="381000"/>
          </a:xfrm>
          <a:prstGeom prst="roundRect">
            <a:avLst>
              <a:gd name="adj" fmla="val 26666"/>
            </a:avLst>
          </a:prstGeom>
          <a:solidFill>
            <a:srgbClr val="E8F2FC">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Indicator Function: [x_j ≤ t]</a:t>
            </a:r>
            <a:endParaRPr lang="en-US" sz="1100"/>
          </a:p>
        </p:txBody>
      </p:sp>
      <p:sp>
        <p:nvSpPr>
          <p:cNvPr id="7" name="AutoShape 7"/>
          <p:cNvSpPr/>
          <p:nvPr/>
        </p:nvSpPr>
        <p:spPr>
          <a:xfrm>
            <a:off x="1016000" y="3048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 x_j = t 处不可微，输出非0即1，导致传统树模型无法端到端优化。</a:t>
            </a:r>
            <a:endParaRPr lang="en-US" sz="1100"/>
          </a:p>
        </p:txBody>
      </p:sp>
      <p:sp>
        <p:nvSpPr>
          <p:cNvPr id="8" name="AutoShape 8"/>
          <p:cNvSpPr/>
          <p:nvPr/>
        </p:nvSpPr>
        <p:spPr>
          <a:xfrm>
            <a:off x="762000" y="4064000"/>
            <a:ext cx="5080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1016000" y="4254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论文改进：ReLU 平滑</a:t>
            </a:r>
            <a:endParaRPr lang="en-US" sz="1100"/>
          </a:p>
        </p:txBody>
      </p:sp>
      <p:sp>
        <p:nvSpPr>
          <p:cNvPr id="10" name="AutoShape 10"/>
          <p:cNvSpPr/>
          <p:nvPr/>
        </p:nvSpPr>
        <p:spPr>
          <a:xfrm>
            <a:off x="1016000" y="4699000"/>
            <a:ext cx="4572000" cy="381000"/>
          </a:xfrm>
          <a:prstGeom prst="roundRect">
            <a:avLst>
              <a:gd name="adj" fmla="val 26666"/>
            </a:avLst>
          </a:prstGeom>
          <a:solidFill>
            <a:srgbClr val="E8F2FC">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Smooth Approximation: ReLU(t - x_j)</a:t>
            </a:r>
            <a:endParaRPr lang="en-US" sz="1100"/>
          </a:p>
        </p:txBody>
      </p:sp>
      <p:sp>
        <p:nvSpPr>
          <p:cNvPr id="11" name="AutoShape 11"/>
          <p:cNvSpPr/>
          <p:nvPr/>
        </p:nvSpPr>
        <p:spPr>
          <a:xfrm>
            <a:off x="1016000" y="5207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实现了从输入到输出的平滑映射，处处可微，解决了传统模型不可微的痛点。</a:t>
            </a:r>
            <a:endParaRPr lang="en-US" sz="1100"/>
          </a:p>
        </p:txBody>
      </p:sp>
      <p:sp>
        <p:nvSpPr>
          <p:cNvPr id="12" name="AutoShape 12"/>
          <p:cNvSpPr/>
          <p:nvPr/>
        </p:nvSpPr>
        <p:spPr>
          <a:xfrm>
            <a:off x="6350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关键公式详解</a:t>
            </a:r>
            <a:endParaRPr lang="en-US" sz="1100"/>
          </a:p>
        </p:txBody>
      </p:sp>
      <p:sp>
        <p:nvSpPr>
          <p:cNvPr id="13" name="AutoShape 13"/>
          <p:cNvSpPr/>
          <p:nvPr/>
        </p:nvSpPr>
        <p:spPr>
          <a:xfrm>
            <a:off x="6350000" y="1905000"/>
            <a:ext cx="5080000" cy="2286000"/>
          </a:xfrm>
          <a:prstGeom prst="roundRect">
            <a:avLst>
              <a:gd name="adj" fmla="val 6666"/>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6604000" y="2095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1. 路径权重计算 (Path Weight)</a:t>
            </a:r>
            <a:endParaRPr lang="en-US" sz="1100"/>
          </a:p>
        </p:txBody>
      </p:sp>
      <p:sp>
        <p:nvSpPr>
          <p:cNvPr id="15" name="AutoShape 15"/>
          <p:cNvSpPr/>
          <p:nvPr/>
        </p:nvSpPr>
        <p:spPr>
          <a:xfrm>
            <a:off x="6604000" y="2540000"/>
            <a:ext cx="4572000" cy="635000"/>
          </a:xfrm>
          <a:prstGeom prst="roundRect">
            <a:avLst>
              <a:gd name="adj" fmla="val 16000"/>
            </a:avLst>
          </a:prstGeom>
          <a:solidFill>
            <a:srgbClr val="E8F2FC">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w_m(x) = ∏ ReLU(t - x_j) (j,t) ∈ path_m</a:t>
            </a:r>
            <a:endParaRPr lang="en-US" sz="1100"/>
          </a:p>
        </p:txBody>
      </p:sp>
      <p:sp>
        <p:nvSpPr>
          <p:cNvPr id="16" name="AutoShape 16"/>
          <p:cNvSpPr/>
          <p:nvPr/>
        </p:nvSpPr>
        <p:spPr>
          <a:xfrm>
            <a:off x="6604000" y="3238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路径权重由所有节点的ReLU输出相乘得到，量化了样本匹配路径的程度。</a:t>
            </a:r>
            <a:endParaRPr lang="en-US" sz="1100"/>
          </a:p>
        </p:txBody>
      </p:sp>
      <p:sp>
        <p:nvSpPr>
          <p:cNvPr id="17" name="AutoShape 17"/>
          <p:cNvSpPr/>
          <p:nvPr/>
        </p:nvSpPr>
        <p:spPr>
          <a:xfrm>
            <a:off x="6350000" y="4318000"/>
            <a:ext cx="5080000" cy="2286000"/>
          </a:xfrm>
          <a:prstGeom prst="roundRect">
            <a:avLst>
              <a:gd name="adj" fmla="val 6666"/>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8" name="AutoShape 18"/>
          <p:cNvSpPr/>
          <p:nvPr/>
        </p:nvSpPr>
        <p:spPr>
          <a:xfrm>
            <a:off x="6604000" y="4508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2. 最终预测 (Final Prediction)</a:t>
            </a:r>
            <a:endParaRPr lang="en-US" sz="1100"/>
          </a:p>
        </p:txBody>
      </p:sp>
      <p:sp>
        <p:nvSpPr>
          <p:cNvPr id="19" name="AutoShape 19"/>
          <p:cNvSpPr/>
          <p:nvPr/>
        </p:nvSpPr>
        <p:spPr>
          <a:xfrm>
            <a:off x="6604000" y="4953000"/>
            <a:ext cx="4572000" cy="635000"/>
          </a:xfrm>
          <a:prstGeom prst="roundRect">
            <a:avLst>
              <a:gd name="adj" fmla="val 16000"/>
            </a:avLst>
          </a:prstGeom>
          <a:solidFill>
            <a:srgbClr val="E8F2FC">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f(x) = Σ_m [ (w_m/Σ_k w_k) × v_m ]</a:t>
            </a:r>
            <a:endParaRPr lang="en-US" sz="1100"/>
          </a:p>
        </p:txBody>
      </p:sp>
      <p:sp>
        <p:nvSpPr>
          <p:cNvPr id="20" name="AutoShape 20"/>
          <p:cNvSpPr/>
          <p:nvPr/>
        </p:nvSpPr>
        <p:spPr>
          <a:xfrm>
            <a:off x="6604000" y="5651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利用Softmax归一化路径权重，最终预测为所有叶子节点输出值v_m的加权求和。</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模型架构与可视化</a:t>
            </a:r>
            <a:endParaRPr lang="en-US" sz="1100"/>
          </a:p>
        </p:txBody>
      </p:sp>
      <p:sp>
        <p:nvSpPr>
          <p:cNvPr id="3" name="AutoShape 3"/>
          <p:cNvSpPr/>
          <p:nvPr/>
        </p:nvSpPr>
        <p:spPr>
          <a:xfrm>
            <a:off x="762000" y="1397000"/>
            <a:ext cx="5080000" cy="4826000"/>
          </a:xfrm>
          <a:prstGeom prst="roundRect">
            <a:avLst>
              <a:gd name="adj" fmla="val 2631"/>
            </a:avLst>
          </a:prstGeom>
          <a:solidFill>
            <a:srgbClr val="FFFFFF">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254000" tIns="254000" rIns="254000" bIns="0" rtlCol="0" anchor="ctr" anchorCtr="0"/>
          <a:lstStyle/>
          <a:p>
            <a:pPr indent="0" algn="ctr">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模型架构解析</a:t>
            </a:r>
            <a:endParaRPr lang="en-US" sz="1100"/>
          </a:p>
          <a:p>
            <a:pPr indent="0" algn="ctr">
              <a:lnSpc>
                <a:spcPct val="125000"/>
              </a:lnSpc>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输入层：</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接收原始特征向量 x。</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决策层（隐层）：</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由多个可微的决策节点组成，每个节点对应一个 ReLU(t - xj) 操作。这些节点共同构成了决策路径。</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加权层：</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计算每条路径的权重 wm(x)，并进行归一化。</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输出层：</a:t>
            </a: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对所有叶子节点的输出值 vm 进行加权求和，得到最终预测 f(x)。</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p>
          <a:p>
            <a:pPr indent="0" algn="ctr">
              <a:lnSpc>
                <a:spcPct val="125000"/>
              </a:lnSpc>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数据流与计算过程</a:t>
            </a:r>
            <a:endPar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1. 输入: 样本 x 进入模型。</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2. 决策: 样本通过每个决策节点，计算出 ReLU 值。</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3. 路径权重: 沿着每条路径，将所有 ReLU 值相乘，得到路径权重 wm(x)。</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4. 归一化: 将所有路径权重进行 softmax 归一化。</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5. 输出: 用归一化后的权重对叶子节点值 vm 进行加权求和，得到最终预测。</a:t>
            </a:r>
            <a:endPar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6350000" y="1396365"/>
            <a:ext cx="5080000" cy="4826635"/>
          </a:xfrm>
          <a:prstGeom prst="roundRect">
            <a:avLst>
              <a:gd name="adj" fmla="val 2631"/>
            </a:avLst>
          </a:prstGeom>
          <a:solidFill>
            <a:srgbClr val="FFFFFF">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0" tIns="0" rIns="0" bIns="0" rtlCol="0" anchor="ctr" anchorCtr="0"/>
          <a:lstStyle/>
          <a:p>
            <a:pPr indent="0" algn="ctr">
              <a:lnSpc>
                <a:spcPct val="125000"/>
              </a:lnSpc>
              <a:defRPr/>
            </a:pPr>
            <a:endPar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可微分决策树模型</a:t>
            </a:r>
            <a:endParaRPr lang="en-US" sz="1100"/>
          </a:p>
          <a:p>
            <a:pPr indent="0" algn="ctr">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该图展示了输入特征如何通过一系列决策节点（ReLU），计算出不同路径的权重，并最终通过加权求和得到输出。</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图片 4"/>
          <p:cNvPicPr>
            <a:picLocks noChangeAspect="1"/>
          </p:cNvPicPr>
          <p:nvPr/>
        </p:nvPicPr>
        <p:blipFill>
          <a:blip r:embed="rId1"/>
          <a:stretch>
            <a:fillRect/>
          </a:stretch>
        </p:blipFill>
        <p:spPr>
          <a:xfrm>
            <a:off x="6411595" y="2332355"/>
            <a:ext cx="4951730" cy="1397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实验成果与分析</a:t>
            </a:r>
            <a:endParaRPr lang="en-US" sz="1100"/>
          </a:p>
        </p:txBody>
      </p:sp>
      <p:sp>
        <p:nvSpPr>
          <p:cNvPr id="3" name="AutoShape 3"/>
          <p:cNvSpPr/>
          <p:nvPr/>
        </p:nvSpPr>
        <p:spPr>
          <a:xfrm>
            <a:off x="762000" y="1397000"/>
            <a:ext cx="3302000" cy="2286000"/>
          </a:xfrm>
          <a:prstGeom prst="roundRect">
            <a:avLst>
              <a:gd name="adj" fmla="val 4444"/>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21080" y="1676400"/>
            <a:ext cx="278892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实现端到端训练</a:t>
            </a:r>
            <a:endParaRPr lang="en-US" sz="1100"/>
          </a:p>
        </p:txBody>
      </p:sp>
      <p:sp>
        <p:nvSpPr>
          <p:cNvPr id="6" name="AutoShape 6"/>
          <p:cNvSpPr/>
          <p:nvPr/>
        </p:nvSpPr>
        <p:spPr>
          <a:xfrm>
            <a:off x="1016000" y="2159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该方法成功地将决策树转化为可微模型，证明了使用梯度下降进行端到端优化的可行性。</a:t>
            </a:r>
            <a:endParaRPr lang="en-US" sz="1100"/>
          </a:p>
        </p:txBody>
      </p:sp>
      <p:sp>
        <p:nvSpPr>
          <p:cNvPr id="7" name="AutoShape 7"/>
          <p:cNvSpPr/>
          <p:nvPr/>
        </p:nvSpPr>
        <p:spPr>
          <a:xfrm>
            <a:off x="4445000" y="1397000"/>
            <a:ext cx="3302000" cy="2286000"/>
          </a:xfrm>
          <a:prstGeom prst="roundRect">
            <a:avLst>
              <a:gd name="adj" fmla="val 4444"/>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4704715" y="1676400"/>
            <a:ext cx="278828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性能优越</a:t>
            </a:r>
            <a:endParaRPr lang="en-US" sz="1100"/>
          </a:p>
        </p:txBody>
      </p:sp>
      <p:sp>
        <p:nvSpPr>
          <p:cNvPr id="10" name="AutoShape 10"/>
          <p:cNvSpPr/>
          <p:nvPr/>
        </p:nvSpPr>
        <p:spPr>
          <a:xfrm>
            <a:off x="4699000" y="2159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在多个公开数据集上，该方法的预测性能能够与随机森林等强大的集成学习模型相媲美，甚至在某些数据集上表现更优。</a:t>
            </a:r>
            <a:endParaRPr lang="en-US" sz="1100"/>
          </a:p>
        </p:txBody>
      </p:sp>
      <p:sp>
        <p:nvSpPr>
          <p:cNvPr id="11" name="AutoShape 11"/>
          <p:cNvSpPr/>
          <p:nvPr/>
        </p:nvSpPr>
        <p:spPr>
          <a:xfrm>
            <a:off x="8128000" y="1397000"/>
            <a:ext cx="3302000" cy="2286000"/>
          </a:xfrm>
          <a:prstGeom prst="roundRect">
            <a:avLst>
              <a:gd name="adj" fmla="val 4444"/>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3" name="AutoShape 13"/>
          <p:cNvSpPr/>
          <p:nvPr/>
        </p:nvSpPr>
        <p:spPr>
          <a:xfrm>
            <a:off x="8387715" y="1676400"/>
            <a:ext cx="278828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保持可解释性</a:t>
            </a:r>
            <a:endParaRPr lang="en-US" sz="1100"/>
          </a:p>
        </p:txBody>
      </p:sp>
      <p:sp>
        <p:nvSpPr>
          <p:cNvPr id="14" name="AutoShape 14"/>
          <p:cNvSpPr/>
          <p:nvPr/>
        </p:nvSpPr>
        <p:spPr>
          <a:xfrm>
            <a:off x="8382000" y="2159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与黑箱模型不同，该方法保留了决策树固有的可解释性，每条路径的决策逻辑依然清晰可见。</a:t>
            </a:r>
            <a:endParaRPr lang="en-US" sz="1100"/>
          </a:p>
        </p:txBody>
      </p:sp>
      <p:sp>
        <p:nvSpPr>
          <p:cNvPr id="15" name="AutoShape 15"/>
          <p:cNvSpPr/>
          <p:nvPr/>
        </p:nvSpPr>
        <p:spPr>
          <a:xfrm>
            <a:off x="762000" y="3937000"/>
            <a:ext cx="10572750" cy="2540000"/>
          </a:xfrm>
          <a:prstGeom prst="roundRect">
            <a:avLst>
              <a:gd name="adj" fmla="val 4000"/>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21" name="图片 20"/>
          <p:cNvPicPr>
            <a:picLocks noChangeAspect="1"/>
          </p:cNvPicPr>
          <p:nvPr/>
        </p:nvPicPr>
        <p:blipFill>
          <a:blip r:embed="rId1"/>
          <a:stretch>
            <a:fillRect/>
          </a:stretch>
        </p:blipFill>
        <p:spPr>
          <a:xfrm>
            <a:off x="1169035" y="4159885"/>
            <a:ext cx="9648825" cy="12763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在线GBDT</a:t>
            </a:r>
            <a:r>
              <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ICLR2025</a:t>
            </a:r>
            <a:r>
              <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 - 问题与目标</a:t>
            </a:r>
            <a:endParaRPr lang="en-US" sz="1100"/>
          </a:p>
        </p:txBody>
      </p:sp>
      <p:sp>
        <p:nvSpPr>
          <p:cNvPr id="3" name="AutoShape 3"/>
          <p:cNvSpPr/>
          <p:nvPr/>
        </p:nvSpPr>
        <p:spPr>
          <a:xfrm>
            <a:off x="762000" y="2675255"/>
            <a:ext cx="5207000" cy="3674745"/>
          </a:xfrm>
          <a:prstGeom prst="roundRect">
            <a:avLst>
              <a:gd name="adj" fmla="val 3157"/>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2785745"/>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背景问题：传统GBDT的困境</a:t>
            </a:r>
            <a:endParaRPr lang="en-US" sz="1100"/>
          </a:p>
        </p:txBody>
      </p:sp>
      <p:sp>
        <p:nvSpPr>
          <p:cNvPr id="5" name="AutoShape 5"/>
          <p:cNvSpPr/>
          <p:nvPr/>
        </p:nvSpPr>
        <p:spPr>
          <a:xfrm>
            <a:off x="1016000" y="3358515"/>
            <a:ext cx="4699000" cy="896620"/>
          </a:xfrm>
          <a:prstGeom prst="roundRect">
            <a:avLst>
              <a:gd name="adj" fmla="val 8888"/>
            </a:avLst>
          </a:prstGeom>
          <a:solidFill>
            <a:srgbClr val="EBF3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300480" y="3403600"/>
            <a:ext cx="435102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静态模型的局限性</a:t>
            </a:r>
            <a:endParaRPr lang="en-US" sz="1100"/>
          </a:p>
        </p:txBody>
      </p:sp>
      <p:sp>
        <p:nvSpPr>
          <p:cNvPr id="8" name="AutoShape 8"/>
          <p:cNvSpPr/>
          <p:nvPr/>
        </p:nvSpPr>
        <p:spPr>
          <a:xfrm>
            <a:off x="1300480" y="3747135"/>
            <a:ext cx="4287520" cy="379095"/>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传统GBDT训练完成后模型结构固定，无法根据新信息进行动态调整与迭代。</a:t>
            </a:r>
            <a:endParaRPr lang="en-US" sz="1100"/>
          </a:p>
        </p:txBody>
      </p:sp>
      <p:sp>
        <p:nvSpPr>
          <p:cNvPr id="9" name="AutoShape 9"/>
          <p:cNvSpPr/>
          <p:nvPr/>
        </p:nvSpPr>
        <p:spPr>
          <a:xfrm>
            <a:off x="1016000" y="4381500"/>
            <a:ext cx="4699000" cy="802005"/>
          </a:xfrm>
          <a:prstGeom prst="roundRect">
            <a:avLst>
              <a:gd name="adj" fmla="val 8888"/>
            </a:avLst>
          </a:prstGeom>
          <a:solidFill>
            <a:srgbClr val="EBF3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300480" y="4446905"/>
            <a:ext cx="435102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数据变动代价高昂</a:t>
            </a:r>
            <a:endParaRPr lang="en-US" sz="1100"/>
          </a:p>
        </p:txBody>
      </p:sp>
      <p:sp>
        <p:nvSpPr>
          <p:cNvPr id="12" name="AutoShape 12"/>
          <p:cNvSpPr/>
          <p:nvPr/>
        </p:nvSpPr>
        <p:spPr>
          <a:xfrm>
            <a:off x="1300480" y="4794885"/>
            <a:ext cx="4287520" cy="3937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数据新增或删除时，必须使用全量新旧数据重新训练，在大规模数据场景下极其耗时。</a:t>
            </a:r>
            <a:endParaRPr lang="en-US" sz="1100"/>
          </a:p>
        </p:txBody>
      </p:sp>
      <p:sp>
        <p:nvSpPr>
          <p:cNvPr id="13" name="AutoShape 13"/>
          <p:cNvSpPr/>
          <p:nvPr/>
        </p:nvSpPr>
        <p:spPr>
          <a:xfrm>
            <a:off x="1016000" y="5302250"/>
            <a:ext cx="4699000" cy="793750"/>
          </a:xfrm>
          <a:prstGeom prst="roundRect">
            <a:avLst>
              <a:gd name="adj" fmla="val 8888"/>
            </a:avLst>
          </a:prstGeom>
          <a:solidFill>
            <a:srgbClr val="EBF3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300480" y="5302250"/>
            <a:ext cx="435102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现实场景的硬性要求</a:t>
            </a:r>
            <a:endParaRPr lang="en-US" sz="1100"/>
          </a:p>
        </p:txBody>
      </p:sp>
      <p:sp>
        <p:nvSpPr>
          <p:cNvPr id="16" name="AutoShape 16"/>
          <p:cNvSpPr/>
          <p:nvPr/>
        </p:nvSpPr>
        <p:spPr>
          <a:xfrm>
            <a:off x="1300480" y="5607050"/>
            <a:ext cx="4287520" cy="42545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面对持续产生的流数据，以及GDPR等法规对用户数据删除权的合规要求，传统方案难以适配。</a:t>
            </a:r>
            <a:endParaRPr lang="en-US" sz="1100"/>
          </a:p>
        </p:txBody>
      </p:sp>
      <p:sp>
        <p:nvSpPr>
          <p:cNvPr id="17" name="AutoShape 17"/>
          <p:cNvSpPr/>
          <p:nvPr/>
        </p:nvSpPr>
        <p:spPr>
          <a:xfrm>
            <a:off x="6223000" y="2675255"/>
            <a:ext cx="5207000" cy="3674745"/>
          </a:xfrm>
          <a:prstGeom prst="roundRect">
            <a:avLst>
              <a:gd name="adj" fmla="val 3157"/>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8" name="AutoShape 18"/>
          <p:cNvSpPr/>
          <p:nvPr/>
        </p:nvSpPr>
        <p:spPr>
          <a:xfrm>
            <a:off x="6477000" y="276987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核心目标：高效的在线更新框架</a:t>
            </a:r>
            <a:endParaRPr lang="en-US" sz="1100"/>
          </a:p>
        </p:txBody>
      </p:sp>
      <p:sp>
        <p:nvSpPr>
          <p:cNvPr id="19" name="AutoShape 19"/>
          <p:cNvSpPr/>
          <p:nvPr/>
        </p:nvSpPr>
        <p:spPr>
          <a:xfrm>
            <a:off x="6477000" y="3233420"/>
            <a:ext cx="4699000" cy="1016000"/>
          </a:xfrm>
          <a:prstGeom prst="roundRect">
            <a:avLst>
              <a:gd name="adj" fmla="val 10000"/>
            </a:avLst>
          </a:prstGeom>
          <a:solidFill>
            <a:srgbClr val="EBF3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735445" y="3472180"/>
            <a:ext cx="4250055"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输入：增量与减量数据</a:t>
            </a:r>
            <a:endParaRPr lang="en-US" sz="1100"/>
          </a:p>
        </p:txBody>
      </p:sp>
      <p:sp>
        <p:nvSpPr>
          <p:cNvPr id="22" name="AutoShape 22"/>
          <p:cNvSpPr/>
          <p:nvPr/>
        </p:nvSpPr>
        <p:spPr>
          <a:xfrm>
            <a:off x="6735445" y="3805555"/>
            <a:ext cx="4250055" cy="28003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基于已训练的GBDT模型，处理新增数据(D_in)与待删除数据(D_de)。</a:t>
            </a:r>
            <a:endParaRPr lang="en-US" sz="1100"/>
          </a:p>
        </p:txBody>
      </p:sp>
      <p:sp>
        <p:nvSpPr>
          <p:cNvPr id="23" name="AutoShape 23"/>
          <p:cNvSpPr/>
          <p:nvPr/>
        </p:nvSpPr>
        <p:spPr>
          <a:xfrm>
            <a:off x="6477000" y="4371340"/>
            <a:ext cx="4699000" cy="532765"/>
          </a:xfrm>
          <a:prstGeom prst="roundRect">
            <a:avLst>
              <a:gd name="adj" fmla="val 12307"/>
            </a:avLst>
          </a:prstGeom>
          <a:solidFill>
            <a:srgbClr val="EBF3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735445" y="4447540"/>
            <a:ext cx="4250055" cy="34036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高效快速更新 ｜</a:t>
            </a: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无需漫长等待，即时得到更新后的模型。</a:t>
            </a:r>
            <a:endParaRPr lang="en-US" sz="1100"/>
          </a:p>
        </p:txBody>
      </p:sp>
      <p:sp>
        <p:nvSpPr>
          <p:cNvPr id="26" name="AutoShape 26"/>
          <p:cNvSpPr/>
          <p:nvPr/>
        </p:nvSpPr>
        <p:spPr>
          <a:xfrm>
            <a:off x="6477000" y="4986020"/>
            <a:ext cx="4699000" cy="520065"/>
          </a:xfrm>
          <a:prstGeom prst="roundRect">
            <a:avLst>
              <a:gd name="adj" fmla="val 12307"/>
            </a:avLst>
          </a:prstGeom>
          <a:solidFill>
            <a:srgbClr val="EBF3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735445" y="5071110"/>
            <a:ext cx="4250055" cy="34925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性能效果一致 ｜</a:t>
            </a: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新模型的预测性能需近似于全量数据重训结果。</a:t>
            </a:r>
            <a:endParaRPr lang="en-US" sz="1100"/>
          </a:p>
        </p:txBody>
      </p:sp>
      <p:sp>
        <p:nvSpPr>
          <p:cNvPr id="29" name="AutoShape 29"/>
          <p:cNvSpPr/>
          <p:nvPr/>
        </p:nvSpPr>
        <p:spPr>
          <a:xfrm>
            <a:off x="6477000" y="5612765"/>
            <a:ext cx="4699000" cy="483235"/>
          </a:xfrm>
          <a:prstGeom prst="roundRect">
            <a:avLst>
              <a:gd name="adj" fmla="val 12307"/>
            </a:avLst>
          </a:prstGeom>
          <a:solidFill>
            <a:srgbClr val="EBF3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735445" y="5588000"/>
            <a:ext cx="4250055"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避免全量重训 ｜</a:t>
            </a: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在原有模型基础上增量更新，降低计算资源消耗。</a:t>
            </a:r>
            <a:endParaRPr lang="en-US" sz="1100"/>
          </a:p>
        </p:txBody>
      </p:sp>
      <p:pic>
        <p:nvPicPr>
          <p:cNvPr id="32" name="图片 31"/>
          <p:cNvPicPr>
            <a:picLocks noChangeAspect="1"/>
          </p:cNvPicPr>
          <p:nvPr/>
        </p:nvPicPr>
        <p:blipFill>
          <a:blip r:embed="rId1"/>
          <a:stretch>
            <a:fillRect/>
          </a:stretch>
        </p:blipFill>
        <p:spPr>
          <a:xfrm>
            <a:off x="1016000" y="1493520"/>
            <a:ext cx="6672580" cy="83121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在线GBDT - 核心成果</a:t>
            </a:r>
            <a:endParaRPr lang="en-US" sz="1100"/>
          </a:p>
        </p:txBody>
      </p:sp>
      <p:sp>
        <p:nvSpPr>
          <p:cNvPr id="3" name="AutoShape 3"/>
          <p:cNvSpPr/>
          <p:nvPr>
            <p:custDataLst>
              <p:tags r:id="rId1"/>
            </p:custDataLst>
          </p:nvPr>
        </p:nvSpPr>
        <p:spPr>
          <a:xfrm>
            <a:off x="762000" y="1524000"/>
            <a:ext cx="5207000" cy="2286000"/>
          </a:xfrm>
          <a:prstGeom prst="roundRect">
            <a:avLst>
              <a:gd name="adj" fmla="val 6666"/>
            </a:avLst>
          </a:prstGeom>
          <a:solidFill>
            <a:srgbClr val="FFFFFF">
              <a:alpha val="100000"/>
            </a:srgbClr>
          </a:solidFill>
          <a:ln w="25400" cap="flat" cmpd="sng">
            <a:noFill/>
            <a:prstDash val="solid"/>
            <a:round/>
          </a:ln>
          <a:effectLst>
            <a:outerShdw blurRad="203200" dist="50800" dir="2700000" algn="tl" rotWithShape="0">
              <a:srgbClr val="003366">
                <a:alpha val="8000"/>
              </a:srgbClr>
            </a:outerShdw>
          </a:effectLst>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1253490" y="1841500"/>
            <a:ext cx="446151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同时支持增量与减量学习</a:t>
            </a:r>
            <a:endParaRPr lang="en-US" sz="1100"/>
          </a:p>
        </p:txBody>
      </p:sp>
      <p:sp>
        <p:nvSpPr>
          <p:cNvPr id="7" name="AutoShape 7"/>
          <p:cNvSpPr/>
          <p:nvPr>
            <p:custDataLst>
              <p:tags r:id="rId3"/>
            </p:custDataLst>
          </p:nvPr>
        </p:nvSpPr>
        <p:spPr>
          <a:xfrm>
            <a:off x="1254125" y="2413000"/>
            <a:ext cx="4460875"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首次在统一框架内实现数据的增加与删除，打破了以往方法仅支持单一模式的局限，为动态数据场景提供了完整解决方案。</a:t>
            </a:r>
            <a:endParaRPr lang="en-US" sz="1100"/>
          </a:p>
        </p:txBody>
      </p:sp>
      <p:sp>
        <p:nvSpPr>
          <p:cNvPr id="8" name="AutoShape 8"/>
          <p:cNvSpPr/>
          <p:nvPr>
            <p:custDataLst>
              <p:tags r:id="rId4"/>
            </p:custDataLst>
          </p:nvPr>
        </p:nvSpPr>
        <p:spPr>
          <a:xfrm>
            <a:off x="6223000" y="1524000"/>
            <a:ext cx="5207000" cy="2286000"/>
          </a:xfrm>
          <a:prstGeom prst="roundRect">
            <a:avLst>
              <a:gd name="adj" fmla="val 6666"/>
            </a:avLst>
          </a:prstGeom>
          <a:solidFill>
            <a:srgbClr val="FFFFFF">
              <a:alpha val="100000"/>
            </a:srgbClr>
          </a:solidFill>
          <a:ln w="25400" cap="flat" cmpd="sng">
            <a:noFill/>
            <a:prstDash val="solid"/>
            <a:round/>
          </a:ln>
          <a:effectLst>
            <a:outerShdw blurRad="203200" dist="50800" dir="2700000" algn="tl" rotWithShape="0">
              <a:srgbClr val="003366">
                <a:alpha val="8000"/>
              </a:srgbClr>
            </a:outerShdw>
          </a:effectLst>
        </p:spPr>
        <p:txBody>
          <a:bodyPr vert="horz" wrap="square" lIns="63500" tIns="63500" rIns="63500" bIns="63500" rtlCol="0" anchor="ctr"/>
          <a:lstStyle/>
          <a:p>
            <a:pPr algn="ctr">
              <a:defRPr/>
            </a:pPr>
          </a:p>
        </p:txBody>
      </p:sp>
      <p:sp>
        <p:nvSpPr>
          <p:cNvPr id="11" name="AutoShape 11"/>
          <p:cNvSpPr/>
          <p:nvPr>
            <p:custDataLst>
              <p:tags r:id="rId5"/>
            </p:custDataLst>
          </p:nvPr>
        </p:nvSpPr>
        <p:spPr>
          <a:xfrm>
            <a:off x="6729095" y="1841500"/>
            <a:ext cx="444690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提出“局部更新”机制</a:t>
            </a:r>
            <a:endParaRPr lang="en-US" sz="1100"/>
          </a:p>
        </p:txBody>
      </p:sp>
      <p:sp>
        <p:nvSpPr>
          <p:cNvPr id="12" name="AutoShape 12"/>
          <p:cNvSpPr/>
          <p:nvPr>
            <p:custDataLst>
              <p:tags r:id="rId6"/>
            </p:custDataLst>
          </p:nvPr>
        </p:nvSpPr>
        <p:spPr>
          <a:xfrm>
            <a:off x="6729095" y="2413000"/>
            <a:ext cx="4446905"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核心创新点。数据变化时，仅识别并更新受影响的节点及其子树，未受影响部分直接复用，大幅减少计算开销，显著提升更新效率。</a:t>
            </a:r>
            <a:endParaRPr lang="en-US" sz="1100"/>
          </a:p>
        </p:txBody>
      </p:sp>
      <p:sp>
        <p:nvSpPr>
          <p:cNvPr id="13" name="AutoShape 13"/>
          <p:cNvSpPr/>
          <p:nvPr>
            <p:custDataLst>
              <p:tags r:id="rId7"/>
            </p:custDataLst>
          </p:nvPr>
        </p:nvSpPr>
        <p:spPr>
          <a:xfrm>
            <a:off x="762000" y="4064000"/>
            <a:ext cx="5207000" cy="2286000"/>
          </a:xfrm>
          <a:prstGeom prst="roundRect">
            <a:avLst>
              <a:gd name="adj" fmla="val 6666"/>
            </a:avLst>
          </a:prstGeom>
          <a:solidFill>
            <a:srgbClr val="FFFFFF">
              <a:alpha val="100000"/>
            </a:srgbClr>
          </a:solidFill>
          <a:ln w="25400" cap="flat" cmpd="sng">
            <a:noFill/>
            <a:prstDash val="solid"/>
            <a:round/>
          </a:ln>
          <a:effectLst>
            <a:outerShdw blurRad="203200" dist="50800" dir="2700000" algn="tl" rotWithShape="0">
              <a:srgbClr val="003366">
                <a:alpha val="8000"/>
              </a:srgbClr>
            </a:outerShdw>
          </a:effectLst>
        </p:spPr>
        <p:txBody>
          <a:bodyPr vert="horz" wrap="square" lIns="63500" tIns="63500" rIns="63500" bIns="63500" rtlCol="0" anchor="ctr"/>
          <a:lstStyle/>
          <a:p>
            <a:pPr algn="ctr">
              <a:defRPr/>
            </a:pPr>
          </a:p>
        </p:txBody>
      </p:sp>
      <p:sp>
        <p:nvSpPr>
          <p:cNvPr id="16" name="AutoShape 16"/>
          <p:cNvSpPr/>
          <p:nvPr>
            <p:custDataLst>
              <p:tags r:id="rId8"/>
            </p:custDataLst>
          </p:nvPr>
        </p:nvSpPr>
        <p:spPr>
          <a:xfrm>
            <a:off x="1254125" y="4381500"/>
            <a:ext cx="446087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提出“鲁棒分裂”策略</a:t>
            </a:r>
            <a:endParaRPr lang="en-US" sz="1100"/>
          </a:p>
        </p:txBody>
      </p:sp>
      <p:sp>
        <p:nvSpPr>
          <p:cNvPr id="17" name="AutoShape 17"/>
          <p:cNvSpPr/>
          <p:nvPr>
            <p:custDataLst>
              <p:tags r:id="rId9"/>
            </p:custDataLst>
          </p:nvPr>
        </p:nvSpPr>
        <p:spPr>
          <a:xfrm>
            <a:off x="1254125" y="4953000"/>
            <a:ext cx="4460875"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若新数据未显著改变当前节点的最优分裂方式，则保持原分裂不变。有效过滤微小扰动带来的不必要更新，进一步加速在线学习过程。</a:t>
            </a:r>
            <a:endParaRPr lang="en-US" sz="1100"/>
          </a:p>
        </p:txBody>
      </p:sp>
      <p:sp>
        <p:nvSpPr>
          <p:cNvPr id="18" name="AutoShape 18"/>
          <p:cNvSpPr/>
          <p:nvPr>
            <p:custDataLst>
              <p:tags r:id="rId10"/>
            </p:custDataLst>
          </p:nvPr>
        </p:nvSpPr>
        <p:spPr>
          <a:xfrm>
            <a:off x="6223000" y="4064000"/>
            <a:ext cx="5207000" cy="2286000"/>
          </a:xfrm>
          <a:prstGeom prst="roundRect">
            <a:avLst>
              <a:gd name="adj" fmla="val 6666"/>
            </a:avLst>
          </a:prstGeom>
          <a:solidFill>
            <a:srgbClr val="FFFFFF">
              <a:alpha val="100000"/>
            </a:srgbClr>
          </a:solidFill>
          <a:ln w="25400" cap="flat" cmpd="sng">
            <a:noFill/>
            <a:prstDash val="solid"/>
            <a:round/>
          </a:ln>
          <a:effectLst>
            <a:outerShdw blurRad="203200" dist="50800" dir="2700000" algn="tl" rotWithShape="0">
              <a:srgbClr val="003366">
                <a:alpha val="8000"/>
              </a:srgbClr>
            </a:outerShdw>
          </a:effectLst>
        </p:spPr>
        <p:txBody>
          <a:bodyPr vert="horz" wrap="square" lIns="63500" tIns="63500" rIns="63500" bIns="63500" rtlCol="0" anchor="ctr"/>
          <a:lstStyle/>
          <a:p>
            <a:pPr algn="ctr">
              <a:defRPr/>
            </a:pPr>
          </a:p>
        </p:txBody>
      </p:sp>
      <p:sp>
        <p:nvSpPr>
          <p:cNvPr id="21" name="AutoShape 21"/>
          <p:cNvSpPr/>
          <p:nvPr>
            <p:custDataLst>
              <p:tags r:id="rId11"/>
            </p:custDataLst>
          </p:nvPr>
        </p:nvSpPr>
        <p:spPr>
          <a:xfrm>
            <a:off x="6729730" y="4381500"/>
            <a:ext cx="444627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引入“容忍机制”</a:t>
            </a:r>
            <a:endParaRPr lang="en-US" sz="1100"/>
          </a:p>
        </p:txBody>
      </p:sp>
      <p:sp>
        <p:nvSpPr>
          <p:cNvPr id="22" name="AutoShape 22"/>
          <p:cNvSpPr/>
          <p:nvPr>
            <p:custDataLst>
              <p:tags r:id="rId12"/>
            </p:custDataLst>
          </p:nvPr>
        </p:nvSpPr>
        <p:spPr>
          <a:xfrm>
            <a:off x="6729095" y="4953000"/>
            <a:ext cx="4446905"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当最优分裂的性能仍在可接受的“前几名”范围内时，不进行更新。平衡了模型的准确性与稳定性，大幅降低了高频更新的成本。</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在线GBDT - 算法核心思想</a:t>
            </a:r>
            <a:endParaRPr lang="en-US" sz="1100"/>
          </a:p>
        </p:txBody>
      </p:sp>
      <p:sp>
        <p:nvSpPr>
          <p:cNvPr id="3" name="AutoShape 3"/>
          <p:cNvSpPr/>
          <p:nvPr/>
        </p:nvSpPr>
        <p:spPr>
          <a:xfrm>
            <a:off x="762000" y="1397000"/>
            <a:ext cx="10668000" cy="762000"/>
          </a:xfrm>
          <a:prstGeom prst="roundRect">
            <a:avLst>
              <a:gd name="adj" fmla="val 16666"/>
            </a:avLst>
          </a:prstGeom>
          <a:solidFill>
            <a:srgbClr val="E8F1FC">
              <a:alpha val="100000"/>
            </a:srgbClr>
          </a:solidFill>
          <a:ln w="25400" cap="flat" cmpd="sng">
            <a:solidFill>
              <a:srgbClr val="4A90E2">
                <a:alpha val="100000"/>
              </a:srgbClr>
            </a:solid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核心思想：局部更新，而非全局重训</a:t>
            </a:r>
            <a:endParaRPr lang="en-US" sz="1100"/>
          </a:p>
        </p:txBody>
      </p:sp>
      <p:sp>
        <p:nvSpPr>
          <p:cNvPr id="4" name="AutoShape 4"/>
          <p:cNvSpPr/>
          <p:nvPr>
            <p:custDataLst>
              <p:tags r:id="rId1"/>
            </p:custDataLst>
          </p:nvPr>
        </p:nvSpPr>
        <p:spPr>
          <a:xfrm>
            <a:off x="762000" y="2413000"/>
            <a:ext cx="3302000" cy="1651000"/>
          </a:xfrm>
          <a:prstGeom prst="roundRect">
            <a:avLst>
              <a:gd name="adj" fmla="val 6153"/>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1285240" y="2667000"/>
            <a:ext cx="252476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数据变化</a:t>
            </a:r>
            <a:endParaRPr lang="en-US" sz="1100"/>
          </a:p>
        </p:txBody>
      </p:sp>
      <p:sp>
        <p:nvSpPr>
          <p:cNvPr id="7" name="AutoShape 7"/>
          <p:cNvSpPr/>
          <p:nvPr>
            <p:custDataLst>
              <p:tags r:id="rId3"/>
            </p:custDataLst>
          </p:nvPr>
        </p:nvSpPr>
        <p:spPr>
          <a:xfrm>
            <a:off x="1278890" y="3175000"/>
            <a:ext cx="253111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监测数据流向，捕获新增数据(D_in)或删除数据(D_de)的变化信号。</a:t>
            </a:r>
            <a:endParaRPr lang="en-US" sz="1100"/>
          </a:p>
        </p:txBody>
      </p:sp>
      <p:sp>
        <p:nvSpPr>
          <p:cNvPr id="8" name="AutoShape 8"/>
          <p:cNvSpPr/>
          <p:nvPr>
            <p:custDataLst>
              <p:tags r:id="rId4"/>
            </p:custDataLst>
          </p:nvPr>
        </p:nvSpPr>
        <p:spPr>
          <a:xfrm>
            <a:off x="4445000" y="2413000"/>
            <a:ext cx="3302000" cy="1651000"/>
          </a:xfrm>
          <a:prstGeom prst="roundRect">
            <a:avLst>
              <a:gd name="adj" fmla="val 6153"/>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custDataLst>
              <p:tags r:id="rId5"/>
            </p:custDataLst>
          </p:nvPr>
        </p:nvSpPr>
        <p:spPr>
          <a:xfrm>
            <a:off x="4928235" y="2667000"/>
            <a:ext cx="256476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02. 遍历检查</a:t>
            </a:r>
            <a:endParaRPr lang="en-US" sz="1100"/>
          </a:p>
        </p:txBody>
      </p:sp>
      <p:sp>
        <p:nvSpPr>
          <p:cNvPr id="11" name="AutoShape 11"/>
          <p:cNvSpPr/>
          <p:nvPr>
            <p:custDataLst>
              <p:tags r:id="rId6"/>
            </p:custDataLst>
          </p:nvPr>
        </p:nvSpPr>
        <p:spPr>
          <a:xfrm>
            <a:off x="4928235" y="3175000"/>
            <a:ext cx="2564765"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对现有模型中的每一棵树，自上而下逐节点进行遍历与状态检查。</a:t>
            </a:r>
            <a:endParaRPr lang="en-US" sz="1100"/>
          </a:p>
        </p:txBody>
      </p:sp>
      <p:sp>
        <p:nvSpPr>
          <p:cNvPr id="12" name="AutoShape 12"/>
          <p:cNvSpPr/>
          <p:nvPr>
            <p:custDataLst>
              <p:tags r:id="rId7"/>
            </p:custDataLst>
          </p:nvPr>
        </p:nvSpPr>
        <p:spPr>
          <a:xfrm>
            <a:off x="8128000" y="2413000"/>
            <a:ext cx="3302000" cy="1651000"/>
          </a:xfrm>
          <a:prstGeom prst="roundRect">
            <a:avLst>
              <a:gd name="adj" fmla="val 6153"/>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custDataLst>
              <p:tags r:id="rId8"/>
            </p:custDataLst>
          </p:nvPr>
        </p:nvSpPr>
        <p:spPr>
          <a:xfrm>
            <a:off x="8611235" y="2667000"/>
            <a:ext cx="256476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03. 更新统计量</a:t>
            </a:r>
            <a:endParaRPr lang="en-US" sz="1100"/>
          </a:p>
        </p:txBody>
      </p:sp>
      <p:sp>
        <p:nvSpPr>
          <p:cNvPr id="15" name="AutoShape 15"/>
          <p:cNvSpPr/>
          <p:nvPr>
            <p:custDataLst>
              <p:tags r:id="rId9"/>
            </p:custDataLst>
          </p:nvPr>
        </p:nvSpPr>
        <p:spPr>
          <a:xfrm>
            <a:off x="8611235" y="3175000"/>
            <a:ext cx="2564765"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将变化数据流经树节点，实时更新一阶、二阶梯度等关键统计信息。</a:t>
            </a:r>
            <a:endParaRPr lang="en-US" sz="1100"/>
          </a:p>
        </p:txBody>
      </p:sp>
      <p:sp>
        <p:nvSpPr>
          <p:cNvPr id="16" name="AutoShape 16"/>
          <p:cNvSpPr/>
          <p:nvPr/>
        </p:nvSpPr>
        <p:spPr>
          <a:xfrm>
            <a:off x="762000" y="4445000"/>
            <a:ext cx="5270500" cy="1651000"/>
          </a:xfrm>
          <a:prstGeom prst="roundRect">
            <a:avLst>
              <a:gd name="adj" fmla="val 6153"/>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8" name="AutoShape 18"/>
          <p:cNvSpPr/>
          <p:nvPr/>
        </p:nvSpPr>
        <p:spPr>
          <a:xfrm>
            <a:off x="1278890" y="4699000"/>
            <a:ext cx="443611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04. 判断分裂稳定性 (核心逻辑)</a:t>
            </a:r>
            <a:endParaRPr lang="en-US" sz="1100"/>
          </a:p>
        </p:txBody>
      </p:sp>
      <p:sp>
        <p:nvSpPr>
          <p:cNvPr id="19" name="AutoShape 19"/>
          <p:cNvSpPr/>
          <p:nvPr/>
        </p:nvSpPr>
        <p:spPr>
          <a:xfrm>
            <a:off x="1285240" y="5207000"/>
            <a:ext cx="408051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未变：保留原节点及子树，不做任何操作。</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已变：仅对该节点及其以下的子树进行局部重建。</a:t>
            </a:r>
            <a:endParaRPr lang="en-US" sz="1100"/>
          </a:p>
        </p:txBody>
      </p:sp>
      <p:sp>
        <p:nvSpPr>
          <p:cNvPr id="20" name="AutoShape 20"/>
          <p:cNvSpPr/>
          <p:nvPr/>
        </p:nvSpPr>
        <p:spPr>
          <a:xfrm>
            <a:off x="6159500" y="4445000"/>
            <a:ext cx="5016500" cy="1651000"/>
          </a:xfrm>
          <a:prstGeom prst="roundRect">
            <a:avLst>
              <a:gd name="adj" fmla="val 6153"/>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2" name="AutoShape 22"/>
          <p:cNvSpPr/>
          <p:nvPr/>
        </p:nvSpPr>
        <p:spPr>
          <a:xfrm>
            <a:off x="6690360" y="4699000"/>
            <a:ext cx="429514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05. 完成更新</a:t>
            </a:r>
            <a:endParaRPr lang="en-US" sz="1100"/>
          </a:p>
        </p:txBody>
      </p:sp>
      <p:sp>
        <p:nvSpPr>
          <p:cNvPr id="23" name="AutoShape 23"/>
          <p:cNvSpPr/>
          <p:nvPr/>
        </p:nvSpPr>
        <p:spPr>
          <a:xfrm>
            <a:off x="6690360" y="5207000"/>
            <a:ext cx="429514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对所有树完成遍历与按需更新后，输出高效的更新后模型，实现在线学习。</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在线GBDT - </a:t>
            </a:r>
            <a:r>
              <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a:t>
            </a:r>
            <a:endParaRPr lang="zh-CN" alt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3" name="图片 12"/>
          <p:cNvPicPr>
            <a:picLocks noChangeAspect="1"/>
          </p:cNvPicPr>
          <p:nvPr/>
        </p:nvPicPr>
        <p:blipFill>
          <a:blip r:embed="rId1"/>
          <a:stretch>
            <a:fillRect/>
          </a:stretch>
        </p:blipFill>
        <p:spPr>
          <a:xfrm>
            <a:off x="762000" y="1522095"/>
            <a:ext cx="10544175" cy="49720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在线GBDT - 增量与减量流程</a:t>
            </a:r>
            <a:endParaRPr lang="en-US" sz="1100"/>
          </a:p>
        </p:txBody>
      </p:sp>
      <p:sp>
        <p:nvSpPr>
          <p:cNvPr id="3" name="AutoShape 3"/>
          <p:cNvSpPr/>
          <p:nvPr/>
        </p:nvSpPr>
        <p:spPr>
          <a:xfrm>
            <a:off x="762000" y="1524000"/>
            <a:ext cx="5207000" cy="4699000"/>
          </a:xfrm>
          <a:prstGeom prst="roundRect">
            <a:avLst>
              <a:gd name="adj" fmla="val 3243"/>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469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增量学习（加数据）流程</a:t>
            </a:r>
            <a:endParaRPr lang="en-US" sz="1100"/>
          </a:p>
        </p:txBody>
      </p:sp>
      <p:sp>
        <p:nvSpPr>
          <p:cNvPr id="5" name="AutoShape 5"/>
          <p:cNvSpPr/>
          <p:nvPr/>
        </p:nvSpPr>
        <p:spPr>
          <a:xfrm>
            <a:off x="1016000" y="2413000"/>
            <a:ext cx="4699000" cy="889000"/>
          </a:xfrm>
          <a:prstGeom prst="roundRect">
            <a:avLst>
              <a:gd name="adj" fmla="val 11428"/>
            </a:avLst>
          </a:prstGeom>
          <a:solidFill>
            <a:srgbClr val="EBF2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446530" y="2540000"/>
            <a:ext cx="414147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数据加入 (Data Input)</a:t>
            </a:r>
            <a:endParaRPr lang="en-US" sz="1100"/>
          </a:p>
        </p:txBody>
      </p:sp>
      <p:sp>
        <p:nvSpPr>
          <p:cNvPr id="8" name="AutoShape 8"/>
          <p:cNvSpPr/>
          <p:nvPr/>
        </p:nvSpPr>
        <p:spPr>
          <a:xfrm>
            <a:off x="1446530" y="2921000"/>
            <a:ext cx="414147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将新增数据集 D_in 输入模型，作为增量更新的触发起点。</a:t>
            </a:r>
            <a:endParaRPr lang="en-US" sz="1100"/>
          </a:p>
        </p:txBody>
      </p:sp>
      <p:sp>
        <p:nvSpPr>
          <p:cNvPr id="9" name="AutoShape 9"/>
          <p:cNvSpPr/>
          <p:nvPr/>
        </p:nvSpPr>
        <p:spPr>
          <a:xfrm>
            <a:off x="1016000" y="3429000"/>
            <a:ext cx="4699000" cy="889000"/>
          </a:xfrm>
          <a:prstGeom prst="roundRect">
            <a:avLst>
              <a:gd name="adj" fmla="val 11428"/>
            </a:avLst>
          </a:prstGeom>
          <a:solidFill>
            <a:srgbClr val="EBF2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446530" y="3556000"/>
            <a:ext cx="414147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02. 前向传播 (Forward Pass)</a:t>
            </a:r>
            <a:endParaRPr lang="en-US" sz="1100"/>
          </a:p>
        </p:txBody>
      </p:sp>
      <p:sp>
        <p:nvSpPr>
          <p:cNvPr id="12" name="AutoShape 12"/>
          <p:cNvSpPr/>
          <p:nvPr/>
        </p:nvSpPr>
        <p:spPr>
          <a:xfrm>
            <a:off x="1447165" y="3937000"/>
            <a:ext cx="414083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让新数据样本完整遍历现有决策树，记录其经过的所有节点路径。</a:t>
            </a:r>
            <a:endParaRPr lang="en-US" sz="1100"/>
          </a:p>
        </p:txBody>
      </p:sp>
      <p:sp>
        <p:nvSpPr>
          <p:cNvPr id="13" name="AutoShape 13"/>
          <p:cNvSpPr/>
          <p:nvPr/>
        </p:nvSpPr>
        <p:spPr>
          <a:xfrm>
            <a:off x="1016000" y="4445000"/>
            <a:ext cx="4699000" cy="889000"/>
          </a:xfrm>
          <a:prstGeom prst="roundRect">
            <a:avLst>
              <a:gd name="adj" fmla="val 11428"/>
            </a:avLst>
          </a:prstGeom>
          <a:solidFill>
            <a:srgbClr val="EBF2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447800" y="4572000"/>
            <a:ext cx="41402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03. 统计量更新 (Stats Update)</a:t>
            </a:r>
            <a:endParaRPr lang="en-US" sz="1100"/>
          </a:p>
        </p:txBody>
      </p:sp>
      <p:sp>
        <p:nvSpPr>
          <p:cNvPr id="16" name="AutoShape 16"/>
          <p:cNvSpPr/>
          <p:nvPr/>
        </p:nvSpPr>
        <p:spPr>
          <a:xfrm>
            <a:off x="1447165" y="4953000"/>
            <a:ext cx="414083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在数据途经的每个节点上，动态累加并更新梯度和等关键统计信息。</a:t>
            </a:r>
            <a:endParaRPr lang="en-US" sz="1100"/>
          </a:p>
        </p:txBody>
      </p:sp>
      <p:sp>
        <p:nvSpPr>
          <p:cNvPr id="17" name="AutoShape 17"/>
          <p:cNvSpPr/>
          <p:nvPr/>
        </p:nvSpPr>
        <p:spPr>
          <a:xfrm>
            <a:off x="1016000" y="5461000"/>
            <a:ext cx="4699000" cy="762000"/>
          </a:xfrm>
          <a:prstGeom prst="roundRect">
            <a:avLst>
              <a:gd name="adj" fmla="val 13333"/>
            </a:avLst>
          </a:prstGeom>
          <a:solidFill>
            <a:srgbClr val="EBF2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446530" y="5562600"/>
            <a:ext cx="414147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04. 分裂检查：</a:t>
            </a: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若分裂变化则重建子树，否则保留原结构。</a:t>
            </a:r>
            <a:endParaRPr lang="en-US" sz="1100"/>
          </a:p>
        </p:txBody>
      </p:sp>
      <p:sp>
        <p:nvSpPr>
          <p:cNvPr id="20" name="AutoShape 20"/>
          <p:cNvSpPr/>
          <p:nvPr/>
        </p:nvSpPr>
        <p:spPr>
          <a:xfrm>
            <a:off x="6223000" y="1524000"/>
            <a:ext cx="5207000" cy="4699000"/>
          </a:xfrm>
          <a:prstGeom prst="roundRect">
            <a:avLst>
              <a:gd name="adj" fmla="val 3243"/>
            </a:avLst>
          </a:prstGeom>
          <a:solidFill>
            <a:srgbClr val="FFFFFF">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21" name="AutoShape 21"/>
          <p:cNvSpPr/>
          <p:nvPr/>
        </p:nvSpPr>
        <p:spPr>
          <a:xfrm>
            <a:off x="6477000" y="1778000"/>
            <a:ext cx="469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减量学习（删数据）流程</a:t>
            </a:r>
            <a:endParaRPr lang="en-US" sz="1100"/>
          </a:p>
        </p:txBody>
      </p:sp>
      <p:sp>
        <p:nvSpPr>
          <p:cNvPr id="22" name="AutoShape 22"/>
          <p:cNvSpPr/>
          <p:nvPr/>
        </p:nvSpPr>
        <p:spPr>
          <a:xfrm>
            <a:off x="6477000" y="2413000"/>
            <a:ext cx="4699000" cy="889000"/>
          </a:xfrm>
          <a:prstGeom prst="roundRect">
            <a:avLst>
              <a:gd name="adj" fmla="val 11428"/>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787515" y="2540000"/>
            <a:ext cx="426148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数据删除 (Data Removal)</a:t>
            </a:r>
            <a:endParaRPr lang="en-US" sz="1100"/>
          </a:p>
        </p:txBody>
      </p:sp>
      <p:sp>
        <p:nvSpPr>
          <p:cNvPr id="25" name="AutoShape 25"/>
          <p:cNvSpPr/>
          <p:nvPr/>
        </p:nvSpPr>
        <p:spPr>
          <a:xfrm>
            <a:off x="6787515" y="2921000"/>
            <a:ext cx="426148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标记并定位需要从模型中移除的目标数据样本集合 D_de。</a:t>
            </a:r>
            <a:endParaRPr lang="en-US" sz="1100"/>
          </a:p>
        </p:txBody>
      </p:sp>
      <p:sp>
        <p:nvSpPr>
          <p:cNvPr id="26" name="AutoShape 26"/>
          <p:cNvSpPr/>
          <p:nvPr/>
        </p:nvSpPr>
        <p:spPr>
          <a:xfrm>
            <a:off x="6477000" y="3429000"/>
            <a:ext cx="4699000" cy="889000"/>
          </a:xfrm>
          <a:prstGeom prst="roundRect">
            <a:avLst>
              <a:gd name="adj" fmla="val 11428"/>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787515" y="3556000"/>
            <a:ext cx="426148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02. 反向更新 (Backward Update)</a:t>
            </a:r>
            <a:endParaRPr lang="en-US" sz="1100"/>
          </a:p>
        </p:txBody>
      </p:sp>
      <p:sp>
        <p:nvSpPr>
          <p:cNvPr id="29" name="AutoShape 29"/>
          <p:cNvSpPr/>
          <p:nvPr/>
        </p:nvSpPr>
        <p:spPr>
          <a:xfrm>
            <a:off x="6787515" y="3937000"/>
            <a:ext cx="426148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追溯历史路径，从受影响节点的统计信息中“减去”该数据的贡献。</a:t>
            </a:r>
            <a:endParaRPr lang="en-US" sz="1100"/>
          </a:p>
        </p:txBody>
      </p:sp>
      <p:sp>
        <p:nvSpPr>
          <p:cNvPr id="30" name="AutoShape 30"/>
          <p:cNvSpPr/>
          <p:nvPr/>
        </p:nvSpPr>
        <p:spPr>
          <a:xfrm>
            <a:off x="6477000" y="4445000"/>
            <a:ext cx="4699000" cy="889000"/>
          </a:xfrm>
          <a:prstGeom prst="roundRect">
            <a:avLst>
              <a:gd name="adj" fmla="val 11428"/>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787515" y="4572000"/>
            <a:ext cx="426148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03. 分裂检查 (Split Check)</a:t>
            </a:r>
            <a:endParaRPr lang="en-US" sz="1100"/>
          </a:p>
        </p:txBody>
      </p:sp>
      <p:sp>
        <p:nvSpPr>
          <p:cNvPr id="33" name="AutoShape 33"/>
          <p:cNvSpPr/>
          <p:nvPr/>
        </p:nvSpPr>
        <p:spPr>
          <a:xfrm>
            <a:off x="6787515" y="4953000"/>
            <a:ext cx="426148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评估节点分裂收益是否显著下降，判断是否需要重建该节点子树。</a:t>
            </a:r>
            <a:endParaRPr lang="en-US" sz="1100"/>
          </a:p>
        </p:txBody>
      </p:sp>
      <p:sp>
        <p:nvSpPr>
          <p:cNvPr id="34" name="AutoShape 34"/>
          <p:cNvSpPr/>
          <p:nvPr/>
        </p:nvSpPr>
        <p:spPr>
          <a:xfrm>
            <a:off x="6477000" y="5461000"/>
            <a:ext cx="4699000" cy="762000"/>
          </a:xfrm>
          <a:prstGeom prst="roundRect">
            <a:avLst>
              <a:gd name="adj" fmla="val 13333"/>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787515" y="5562600"/>
            <a:ext cx="4261485"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核心原则：</a:t>
            </a: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遵循“局部更新”策略，避免全量重训，大幅提升效率。</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在线GBDT - 核心数学原理</a:t>
            </a:r>
            <a:endParaRPr lang="en-US" sz="1100"/>
          </a:p>
        </p:txBody>
      </p:sp>
      <p:sp>
        <p:nvSpPr>
          <p:cNvPr id="3" name="AutoShape 3"/>
          <p:cNvSpPr/>
          <p:nvPr/>
        </p:nvSpPr>
        <p:spPr>
          <a:xfrm>
            <a:off x="762000" y="1524000"/>
            <a:ext cx="5207000" cy="4572000"/>
          </a:xfrm>
          <a:prstGeom prst="roundRect">
            <a:avLst>
              <a:gd name="adj" fmla="val 3333"/>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6" name="AutoShape 6"/>
          <p:cNvSpPr/>
          <p:nvPr/>
        </p:nvSpPr>
        <p:spPr>
          <a:xfrm>
            <a:off x="1207135" y="1651000"/>
            <a:ext cx="4507865"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判断依据：分裂收益 (Gain)</a:t>
            </a:r>
            <a:endParaRPr lang="en-US" sz="1100"/>
          </a:p>
        </p:txBody>
      </p:sp>
      <p:cxnSp>
        <p:nvCxnSpPr>
          <p:cNvPr id="7" name="Connector 7"/>
          <p:cNvCxnSpPr/>
          <p:nvPr/>
        </p:nvCxnSpPr>
        <p:spPr>
          <a:xfrm rot="-9291">
            <a:off x="1016009" y="2794000"/>
            <a:ext cx="4699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8" name="AutoShape 8"/>
          <p:cNvSpPr/>
          <p:nvPr/>
        </p:nvSpPr>
        <p:spPr>
          <a:xfrm>
            <a:off x="1016000" y="2857500"/>
            <a:ext cx="4699000" cy="1143000"/>
          </a:xfrm>
          <a:prstGeom prst="roundRect">
            <a:avLst>
              <a:gd name="adj" fmla="val 888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29845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▍核心量化指标</a:t>
            </a:r>
            <a:endParaRPr lang="en-US" sz="1100"/>
          </a:p>
        </p:txBody>
      </p:sp>
      <p:sp>
        <p:nvSpPr>
          <p:cNvPr id="10" name="AutoShape 10"/>
          <p:cNvSpPr/>
          <p:nvPr/>
        </p:nvSpPr>
        <p:spPr>
          <a:xfrm>
            <a:off x="1206500" y="3365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Gain是衡量分裂质量的唯一标准。Gain值越大，代表该分裂对模型的拟合提升效果越显著，是分裂“好坏”的直接量化依据。</a:t>
            </a:r>
            <a:endParaRPr lang="en-US" sz="1100"/>
          </a:p>
        </p:txBody>
      </p:sp>
      <p:sp>
        <p:nvSpPr>
          <p:cNvPr id="11" name="AutoShape 11"/>
          <p:cNvSpPr/>
          <p:nvPr/>
        </p:nvSpPr>
        <p:spPr>
          <a:xfrm>
            <a:off x="1016000" y="4191000"/>
            <a:ext cx="4699000" cy="1397000"/>
          </a:xfrm>
          <a:prstGeom prst="roundRect">
            <a:avLst>
              <a:gd name="adj" fmla="val 7272"/>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4318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▍动态更新决策逻辑</a:t>
            </a:r>
            <a:endParaRPr lang="en-US" sz="1100"/>
          </a:p>
        </p:txBody>
      </p:sp>
      <p:sp>
        <p:nvSpPr>
          <p:cNvPr id="13" name="AutoShape 13"/>
          <p:cNvSpPr/>
          <p:nvPr/>
        </p:nvSpPr>
        <p:spPr>
          <a:xfrm>
            <a:off x="1206500" y="4699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实时监控数据流变化，对比数据更新前后同一节点的分裂Gain值。仅当新旧Gain差异达到预设阈值时，才触发模型结构的更新。</a:t>
            </a:r>
            <a:endParaRPr lang="en-US" sz="1100"/>
          </a:p>
        </p:txBody>
      </p:sp>
      <p:sp>
        <p:nvSpPr>
          <p:cNvPr id="14" name="AutoShape 14"/>
          <p:cNvSpPr/>
          <p:nvPr/>
        </p:nvSpPr>
        <p:spPr>
          <a:xfrm>
            <a:off x="6223000" y="1524000"/>
            <a:ext cx="5207000" cy="2159000"/>
          </a:xfrm>
          <a:prstGeom prst="roundRect">
            <a:avLst>
              <a:gd name="adj" fmla="val 7058"/>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7" name="AutoShape 17"/>
          <p:cNvSpPr/>
          <p:nvPr/>
        </p:nvSpPr>
        <p:spPr>
          <a:xfrm>
            <a:off x="6666865" y="1841500"/>
            <a:ext cx="4509135"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 I：鲁棒分裂 (Robust Split)</a:t>
            </a:r>
            <a:endParaRPr lang="en-US" sz="1100"/>
          </a:p>
        </p:txBody>
      </p:sp>
      <p:sp>
        <p:nvSpPr>
          <p:cNvPr id="18" name="AutoShape 18"/>
          <p:cNvSpPr/>
          <p:nvPr/>
        </p:nvSpPr>
        <p:spPr>
          <a:xfrm>
            <a:off x="6477000" y="2540000"/>
            <a:ext cx="4699000" cy="1016000"/>
          </a:xfrm>
          <a:prstGeom prst="roundRect">
            <a:avLst>
              <a:gd name="adj" fmla="val 10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67500" y="2667000"/>
            <a:ext cx="4318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当数据变化比例 λ 很小时，原最优分裂大概率仍保持最优性。</a:t>
            </a:r>
            <a:r>
              <a:rPr lang="en-US" sz="12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结论：数据变化越小，越无需重训练。</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这为减少冗余计算提供了坚实的理论支撑。</a:t>
            </a:r>
            <a:endParaRPr lang="en-US" sz="1100"/>
          </a:p>
        </p:txBody>
      </p:sp>
      <p:sp>
        <p:nvSpPr>
          <p:cNvPr id="20" name="AutoShape 20"/>
          <p:cNvSpPr/>
          <p:nvPr/>
        </p:nvSpPr>
        <p:spPr>
          <a:xfrm>
            <a:off x="6223000" y="3937000"/>
            <a:ext cx="5207000" cy="2159000"/>
          </a:xfrm>
          <a:prstGeom prst="roundRect">
            <a:avLst>
              <a:gd name="adj" fmla="val 7058"/>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r>
              <a:rPr lang="en-US"/>
              <a:t> </a:t>
            </a:r>
            <a:endParaRPr lang="en-US"/>
          </a:p>
        </p:txBody>
      </p:sp>
      <p:sp>
        <p:nvSpPr>
          <p:cNvPr id="23" name="AutoShape 23"/>
          <p:cNvSpPr/>
          <p:nvPr/>
        </p:nvSpPr>
        <p:spPr>
          <a:xfrm>
            <a:off x="6667500" y="4254500"/>
            <a:ext cx="4508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 II：容忍机制 (Tolerance)</a:t>
            </a:r>
            <a:endParaRPr lang="en-US" sz="1100"/>
          </a:p>
        </p:txBody>
      </p:sp>
      <p:sp>
        <p:nvSpPr>
          <p:cNvPr id="24" name="AutoShape 24"/>
          <p:cNvSpPr/>
          <p:nvPr/>
        </p:nvSpPr>
        <p:spPr>
          <a:xfrm>
            <a:off x="6477000" y="4953000"/>
            <a:ext cx="4699000" cy="1016000"/>
          </a:xfrm>
          <a:prstGeom prst="roundRect">
            <a:avLst>
              <a:gd name="adj" fmla="val 10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667500" y="5080000"/>
            <a:ext cx="4318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不强制追求绝对最优，若原分裂Gain值仍位列所有候选分裂的前 σ%（如10%），即判定为“可接受”。</a:t>
            </a:r>
            <a:r>
              <a:rPr lang="en-US" sz="12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效果：极大降低更新频率，显著提升在线效率。</a:t>
            </a:r>
            <a:endParaRPr lang="en-US" sz="1100"/>
          </a:p>
        </p:txBody>
      </p:sp>
      <mc:AlternateContent xmlns:mc="http://schemas.openxmlformats.org/markup-compatibility/2006">
        <mc:Choice xmlns:a14="http://schemas.microsoft.com/office/drawing/2010/main" Requires="a14">
          <p:sp>
            <p:nvSpPr>
              <p:cNvPr id="4" name="文本框 3"/>
              <p:cNvSpPr txBox="1"/>
              <p:nvPr/>
            </p:nvSpPr>
            <p:spPr>
              <a:xfrm>
                <a:off x="1071880" y="2190115"/>
                <a:ext cx="4507865" cy="56261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𝐺𝑎𝑖𝑛</m:t>
                      </m:r>
                      <m:r>
                        <a:rPr lang="en-US" altLang="zh-CN" i="1">
                          <a:latin typeface="Cambria Math" panose="02040503050406030204" charset="0"/>
                          <a:cs typeface="Cambria Math" panose="02040503050406030204" charset="0"/>
                        </a:rPr>
                        <m:t> = </m:t>
                      </m:r>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nary>
                                <m:naryPr>
                                  <m:chr m:val="∑"/>
                                  <m:limLoc m:val="undOvr"/>
                                  <m:subHide m:val="on"/>
                                  <m:supHide m:val="on"/>
                                  <m:ctrlPr>
                                    <a:rPr lang="en-US" altLang="zh-CN" i="1">
                                      <a:latin typeface="Cambria Math" panose="02040503050406030204" charset="0"/>
                                      <a:cs typeface="Cambria Math" panose="02040503050406030204" charset="0"/>
                                    </a:rPr>
                                  </m:ctrlPr>
                                </m:naryPr>
                                <m:sub/>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𝐿</m:t>
                                      </m:r>
                                    </m:sub>
                                  </m:sSub>
                                </m:e>
                              </m:nary>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2</m:t>
                              </m:r>
                            </m:sup>
                          </m:sSup>
                        </m:num>
                        <m:den>
                          <m:nary>
                            <m:naryPr>
                              <m:chr m:val="∑"/>
                              <m:limLoc m:val="undOvr"/>
                              <m:subHide m:val="on"/>
                              <m:supHide m:val="on"/>
                              <m:ctrlPr>
                                <a:rPr lang="en-US" altLang="zh-CN" i="1">
                                  <a:latin typeface="Cambria Math" panose="02040503050406030204" charset="0"/>
                                  <a:cs typeface="Cambria Math" panose="02040503050406030204" charset="0"/>
                                </a:rPr>
                              </m:ctrlPr>
                            </m:naryPr>
                            <m:sub/>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𝐿</m:t>
                                  </m:r>
                                </m:sub>
                              </m:sSub>
                            </m:e>
                          </m:nary>
                        </m:den>
                      </m:f>
                      <m:r>
                        <a:rPr lang="en-US" altLang="zh-CN" i="1">
                          <a:latin typeface="Cambria Math" panose="02040503050406030204" charset="0"/>
                          <a:cs typeface="Cambria Math" panose="02040503050406030204" charset="0"/>
                        </a:rPr>
                        <m:t> + </m:t>
                      </m:r>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nary>
                                <m:naryPr>
                                  <m:chr m:val="∑"/>
                                  <m:limLoc m:val="undOvr"/>
                                  <m:subHide m:val="on"/>
                                  <m:supHide m:val="on"/>
                                  <m:ctrlPr>
                                    <a:rPr lang="en-US" altLang="zh-CN" i="1">
                                      <a:latin typeface="Cambria Math" panose="02040503050406030204" charset="0"/>
                                      <a:cs typeface="Cambria Math" panose="02040503050406030204" charset="0"/>
                                    </a:rPr>
                                  </m:ctrlPr>
                                </m:naryPr>
                                <m:sub/>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𝑅</m:t>
                                      </m:r>
                                    </m:sub>
                                  </m:sSub>
                                </m:e>
                              </m:nary>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2</m:t>
                              </m:r>
                            </m:sup>
                          </m:sSup>
                        </m:num>
                        <m:den>
                          <m:nary>
                            <m:naryPr>
                              <m:chr m:val="∑"/>
                              <m:limLoc m:val="undOvr"/>
                              <m:subHide m:val="on"/>
                              <m:supHide m:val="on"/>
                              <m:ctrlPr>
                                <a:rPr lang="en-US" altLang="zh-CN" i="1">
                                  <a:latin typeface="Cambria Math" panose="02040503050406030204" charset="0"/>
                                  <a:cs typeface="Cambria Math" panose="02040503050406030204" charset="0"/>
                                </a:rPr>
                              </m:ctrlPr>
                            </m:naryPr>
                            <m:sub/>
                            <m:sup/>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𝑅</m:t>
                                  </m:r>
                                </m:sub>
                              </m:sSub>
                            </m:e>
                          </m:nary>
                        </m:den>
                      </m:f>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nary>
                                <m:naryPr>
                                  <m:chr m:val="∑"/>
                                  <m:limLoc m:val="undOvr"/>
                                  <m:subHide m:val="on"/>
                                  <m:supHide m:val="on"/>
                                  <m:ctrlPr>
                                    <a:rPr lang="en-US" altLang="zh-CN" i="1">
                                      <a:latin typeface="Cambria Math" panose="02040503050406030204" charset="0"/>
                                      <a:cs typeface="Cambria Math" panose="02040503050406030204" charset="0"/>
                                    </a:rPr>
                                  </m:ctrlPr>
                                </m:naryPr>
                                <m:sub/>
                                <m:sup/>
                                <m:e>
                                  <m:r>
                                    <a:rPr lang="en-US" altLang="zh-CN" i="1">
                                      <a:latin typeface="Cambria Math" panose="02040503050406030204" charset="0"/>
                                      <a:cs typeface="Cambria Math" panose="02040503050406030204" charset="0"/>
                                    </a:rPr>
                                    <m:t>𝑔</m:t>
                                  </m:r>
                                </m:e>
                              </m:nary>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2</m:t>
                              </m:r>
                            </m:sup>
                          </m:sSup>
                        </m:num>
                        <m:den>
                          <m:nary>
                            <m:naryPr>
                              <m:chr m:val="∑"/>
                              <m:limLoc m:val="undOvr"/>
                              <m:subHide m:val="on"/>
                              <m:supHide m:val="on"/>
                              <m:ctrlPr>
                                <a:rPr lang="en-US" altLang="zh-CN" i="1">
                                  <a:latin typeface="Cambria Math" panose="02040503050406030204" charset="0"/>
                                  <a:cs typeface="Cambria Math" panose="02040503050406030204" charset="0"/>
                                </a:rPr>
                              </m:ctrlPr>
                            </m:naryPr>
                            <m:sub/>
                            <m:sup/>
                            <m:e>
                              <m:r>
                                <a:rPr lang="en-US" altLang="zh-CN" i="1">
                                  <a:latin typeface="Cambria Math" panose="02040503050406030204" charset="0"/>
                                  <a:cs typeface="Cambria Math" panose="02040503050406030204" charset="0"/>
                                </a:rPr>
                                <m:t>ℎ</m:t>
                              </m:r>
                            </m:e>
                          </m:nary>
                        </m:den>
                      </m:f>
                      <m:r>
                        <a:rPr lang="en-US" altLang="zh-CN" i="1">
                          <a:latin typeface="Cambria Math" panose="02040503050406030204" charset="0"/>
                          <a:cs typeface="Cambria Math" panose="02040503050406030204" charset="0"/>
                        </a:rPr>
                        <m:t> </m:t>
                      </m:r>
                    </m:oMath>
                  </m:oMathPara>
                </a14:m>
                <a:endParaRPr lang="en-US" altLang="zh-CN"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071880" y="2190115"/>
                <a:ext cx="4507865" cy="56261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在线GBDT - 实验结果</a:t>
            </a:r>
            <a:endParaRPr lang="en-US" sz="1100"/>
          </a:p>
        </p:txBody>
      </p:sp>
      <p:sp>
        <p:nvSpPr>
          <p:cNvPr id="8" name="AutoShape 8"/>
          <p:cNvSpPr/>
          <p:nvPr>
            <p:custDataLst>
              <p:tags r:id="rId1"/>
            </p:custDataLst>
          </p:nvPr>
        </p:nvSpPr>
        <p:spPr>
          <a:xfrm>
            <a:off x="2159000" y="30480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sp>
        <p:nvSpPr>
          <p:cNvPr id="9" name="AutoShape 9"/>
          <p:cNvSpPr/>
          <p:nvPr>
            <p:custDataLst>
              <p:tags r:id="rId2"/>
            </p:custDataLst>
          </p:nvPr>
        </p:nvSpPr>
        <p:spPr>
          <a:xfrm>
            <a:off x="6223000" y="1524000"/>
            <a:ext cx="5207000" cy="2286000"/>
          </a:xfrm>
          <a:prstGeom prst="roundRect">
            <a:avLst>
              <a:gd name="adj" fmla="val 6666"/>
            </a:avLst>
          </a:prstGeom>
          <a:solidFill>
            <a:srgbClr val="FFFFFF">
              <a:alpha val="100000"/>
            </a:srgbClr>
          </a:solidFill>
          <a:ln w="25400" cap="flat" cmpd="sng">
            <a:noFill/>
            <a:prstDash val="solid"/>
            <a:round/>
          </a:ln>
          <a:effectLst>
            <a:outerShdw blurRad="190500" dist="63500" dir="2700000" algn="tl" rotWithShape="0">
              <a:srgbClr val="000000">
                <a:alpha val="6000"/>
              </a:srgbClr>
            </a:outerShdw>
          </a:effectLst>
        </p:spPr>
        <p:txBody>
          <a:bodyPr vert="horz" wrap="square" lIns="63500" tIns="63500" rIns="63500" bIns="63500" rtlCol="0" anchor="ctr"/>
          <a:lstStyle/>
          <a:p>
            <a:pPr algn="ctr">
              <a:defRPr/>
            </a:pPr>
          </a:p>
        </p:txBody>
      </p:sp>
      <p:sp>
        <p:nvSpPr>
          <p:cNvPr id="12" name="AutoShape 12"/>
          <p:cNvSpPr/>
          <p:nvPr>
            <p:custDataLst>
              <p:tags r:id="rId3"/>
            </p:custDataLst>
          </p:nvPr>
        </p:nvSpPr>
        <p:spPr>
          <a:xfrm>
            <a:off x="7620000" y="184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准确率几乎无损</a:t>
            </a:r>
            <a:endParaRPr lang="en-US" sz="1100"/>
          </a:p>
        </p:txBody>
      </p:sp>
      <p:sp>
        <p:nvSpPr>
          <p:cNvPr id="13" name="AutoShape 13"/>
          <p:cNvSpPr/>
          <p:nvPr>
            <p:custDataLst>
              <p:tags r:id="rId4"/>
            </p:custDataLst>
          </p:nvPr>
        </p:nvSpPr>
        <p:spPr>
          <a:xfrm>
            <a:off x="7048500" y="2349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将在线更新后的模型与“使用全量数据从头训练”的基准模型进行对比测试。</a:t>
            </a:r>
            <a:endParaRPr lang="en-US" sz="1100"/>
          </a:p>
        </p:txBody>
      </p:sp>
      <p:sp>
        <p:nvSpPr>
          <p:cNvPr id="14" name="AutoShape 14"/>
          <p:cNvSpPr/>
          <p:nvPr>
            <p:custDataLst>
              <p:tags r:id="rId5"/>
            </p:custDataLst>
          </p:nvPr>
        </p:nvSpPr>
        <p:spPr>
          <a:xfrm>
            <a:off x="7048500" y="30480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结论：两者预测准确率无显著差异，验证了在线更新的有效性。</a:t>
            </a:r>
            <a:endParaRPr lang="en-US" sz="1100"/>
          </a:p>
        </p:txBody>
      </p:sp>
      <p:sp>
        <p:nvSpPr>
          <p:cNvPr id="15" name="AutoShape 15"/>
          <p:cNvSpPr/>
          <p:nvPr>
            <p:custDataLst>
              <p:tags r:id="rId6"/>
            </p:custDataLst>
          </p:nvPr>
        </p:nvSpPr>
        <p:spPr>
          <a:xfrm>
            <a:off x="762000" y="4064000"/>
            <a:ext cx="5207000" cy="2286000"/>
          </a:xfrm>
          <a:prstGeom prst="roundRect">
            <a:avLst>
              <a:gd name="adj" fmla="val 6666"/>
            </a:avLst>
          </a:prstGeom>
          <a:solidFill>
            <a:srgbClr val="FFFFFF">
              <a:alpha val="100000"/>
            </a:srgbClr>
          </a:solidFill>
          <a:ln w="25400" cap="flat" cmpd="sng">
            <a:noFill/>
            <a:prstDash val="solid"/>
            <a:round/>
          </a:ln>
          <a:effectLst>
            <a:outerShdw blurRad="190500" dist="63500" dir="2700000" algn="tl" rotWithShape="0">
              <a:srgbClr val="000000">
                <a:alpha val="6000"/>
              </a:srgbClr>
            </a:outerShdw>
          </a:effectLst>
        </p:spPr>
        <p:txBody>
          <a:bodyPr vert="horz" wrap="square" lIns="63500" tIns="63500" rIns="63500" bIns="63500" rtlCol="0" anchor="ctr"/>
          <a:lstStyle/>
          <a:p>
            <a:pPr algn="ctr">
              <a:defRPr/>
            </a:pPr>
          </a:p>
        </p:txBody>
      </p:sp>
      <p:sp>
        <p:nvSpPr>
          <p:cNvPr id="18" name="AutoShape 18"/>
          <p:cNvSpPr/>
          <p:nvPr>
            <p:custDataLst>
              <p:tags r:id="rId7"/>
            </p:custDataLst>
          </p:nvPr>
        </p:nvSpPr>
        <p:spPr>
          <a:xfrm>
            <a:off x="2159000" y="438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内存占用显著降低</a:t>
            </a:r>
            <a:endParaRPr lang="en-US" sz="1100"/>
          </a:p>
        </p:txBody>
      </p:sp>
      <p:sp>
        <p:nvSpPr>
          <p:cNvPr id="19" name="AutoShape 19"/>
          <p:cNvSpPr/>
          <p:nvPr>
            <p:custDataLst>
              <p:tags r:id="rId8"/>
            </p:custDataLst>
          </p:nvPr>
        </p:nvSpPr>
        <p:spPr>
          <a:xfrm>
            <a:off x="1513205" y="4889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无需存储全部历史数据，仅进行局部模型更新，彻底解决了传统重训方法面临的内存压力。</a:t>
            </a:r>
            <a:endParaRPr lang="en-US" sz="1100"/>
          </a:p>
        </p:txBody>
      </p:sp>
      <p:sp>
        <p:nvSpPr>
          <p:cNvPr id="20" name="AutoShape 20"/>
          <p:cNvSpPr/>
          <p:nvPr>
            <p:custDataLst>
              <p:tags r:id="rId9"/>
            </p:custDataLst>
          </p:nvPr>
        </p:nvSpPr>
        <p:spPr>
          <a:xfrm>
            <a:off x="1513205" y="5588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优势：有效避免内存溢出 (OOM) 风险</a:t>
            </a:r>
            <a:endParaRPr lang="en-US" sz="1100"/>
          </a:p>
        </p:txBody>
      </p:sp>
      <p:sp>
        <p:nvSpPr>
          <p:cNvPr id="21" name="AutoShape 21"/>
          <p:cNvSpPr/>
          <p:nvPr>
            <p:custDataLst>
              <p:tags r:id="rId10"/>
            </p:custDataLst>
          </p:nvPr>
        </p:nvSpPr>
        <p:spPr>
          <a:xfrm>
            <a:off x="6223000" y="4064000"/>
            <a:ext cx="5207000" cy="2286000"/>
          </a:xfrm>
          <a:prstGeom prst="roundRect">
            <a:avLst>
              <a:gd name="adj" fmla="val 6666"/>
            </a:avLst>
          </a:prstGeom>
          <a:solidFill>
            <a:srgbClr val="FFFFFF">
              <a:alpha val="100000"/>
            </a:srgbClr>
          </a:solidFill>
          <a:ln w="25400" cap="flat" cmpd="sng">
            <a:noFill/>
            <a:prstDash val="solid"/>
            <a:round/>
          </a:ln>
          <a:effectLst>
            <a:outerShdw blurRad="190500" dist="63500" dir="2700000" algn="tl" rotWithShape="0">
              <a:srgbClr val="000000">
                <a:alpha val="6000"/>
              </a:srgbClr>
            </a:outerShdw>
          </a:effectLst>
        </p:spPr>
        <p:txBody>
          <a:bodyPr vert="horz" wrap="square" lIns="63500" tIns="63500" rIns="63500" bIns="63500" rtlCol="0" anchor="ctr"/>
          <a:lstStyle/>
          <a:p>
            <a:pPr algn="ctr">
              <a:defRPr/>
            </a:pPr>
          </a:p>
        </p:txBody>
      </p:sp>
      <p:sp>
        <p:nvSpPr>
          <p:cNvPr id="24" name="AutoShape 24"/>
          <p:cNvSpPr/>
          <p:nvPr>
            <p:custDataLst>
              <p:tags r:id="rId11"/>
            </p:custDataLst>
          </p:nvPr>
        </p:nvSpPr>
        <p:spPr>
          <a:xfrm>
            <a:off x="7620000" y="438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支持“机器遗忘”隐私保护</a:t>
            </a:r>
            <a:endParaRPr lang="en-US" sz="1100"/>
          </a:p>
        </p:txBody>
      </p:sp>
      <p:sp>
        <p:nvSpPr>
          <p:cNvPr id="25" name="AutoShape 25"/>
          <p:cNvSpPr/>
          <p:nvPr>
            <p:custDataLst>
              <p:tags r:id="rId12"/>
            </p:custDataLst>
          </p:nvPr>
        </p:nvSpPr>
        <p:spPr>
          <a:xfrm>
            <a:off x="7048500" y="4889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针对“后门攻击”数据进行删除实验，模型攻击成功率显著下降，证明实现了真正的数据遗忘。</a:t>
            </a:r>
            <a:endParaRPr lang="en-US" sz="1100"/>
          </a:p>
        </p:txBody>
      </p:sp>
      <p:sp>
        <p:nvSpPr>
          <p:cNvPr id="26" name="AutoShape 26"/>
          <p:cNvSpPr/>
          <p:nvPr>
            <p:custDataLst>
              <p:tags r:id="rId13"/>
            </p:custDataLst>
          </p:nvPr>
        </p:nvSpPr>
        <p:spPr>
          <a:xfrm>
            <a:off x="7048500" y="5588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价值：满足现代AI应用严格的隐私合规需求</a:t>
            </a:r>
            <a:endParaRPr lang="en-US" sz="1100"/>
          </a:p>
        </p:txBody>
      </p:sp>
      <p:pic>
        <p:nvPicPr>
          <p:cNvPr id="27" name="图片 26"/>
          <p:cNvPicPr>
            <a:picLocks noChangeAspect="1"/>
          </p:cNvPicPr>
          <p:nvPr/>
        </p:nvPicPr>
        <p:blipFill>
          <a:blip r:embed="rId14"/>
          <a:stretch>
            <a:fillRect/>
          </a:stretch>
        </p:blipFill>
        <p:spPr>
          <a:xfrm>
            <a:off x="761365" y="1466215"/>
            <a:ext cx="5207000" cy="243395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在线GBDT - 总结</a:t>
            </a:r>
            <a:endParaRPr lang="en-US" sz="1100"/>
          </a:p>
        </p:txBody>
      </p:sp>
      <p:sp>
        <p:nvSpPr>
          <p:cNvPr id="3" name="AutoShape 3"/>
          <p:cNvSpPr/>
          <p:nvPr/>
        </p:nvSpPr>
        <p:spPr>
          <a:xfrm>
            <a:off x="762000" y="1651000"/>
            <a:ext cx="3302000" cy="4445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6" name="AutoShape 6"/>
          <p:cNvSpPr/>
          <p:nvPr/>
        </p:nvSpPr>
        <p:spPr>
          <a:xfrm>
            <a:off x="1863725" y="2006600"/>
            <a:ext cx="1946275"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cxnSp>
        <p:nvCxnSpPr>
          <p:cNvPr id="7" name="Connector 7"/>
          <p:cNvCxnSpPr/>
          <p:nvPr/>
        </p:nvCxnSpPr>
        <p:spPr>
          <a:xfrm rot="-15626">
            <a:off x="1016014" y="2724150"/>
            <a:ext cx="27940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sp>
        <p:nvSpPr>
          <p:cNvPr id="8" name="AutoShape 8"/>
          <p:cNvSpPr/>
          <p:nvPr/>
        </p:nvSpPr>
        <p:spPr>
          <a:xfrm>
            <a:off x="1016000" y="3048000"/>
            <a:ext cx="2794000" cy="1397000"/>
          </a:xfrm>
          <a:prstGeom prst="roundRect">
            <a:avLst>
              <a:gd name="adj" fmla="val 7272"/>
            </a:avLst>
          </a:prstGeom>
          <a:solidFill>
            <a:srgbClr val="E8F1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32385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只在必要时更新决策树的局部结构，避免全量重构，实现高效的在线学习。</a:t>
            </a:r>
            <a:endParaRPr lang="en-US" sz="1100"/>
          </a:p>
        </p:txBody>
      </p:sp>
      <p:sp>
        <p:nvSpPr>
          <p:cNvPr id="10" name="AutoShape 10"/>
          <p:cNvSpPr/>
          <p:nvPr/>
        </p:nvSpPr>
        <p:spPr>
          <a:xfrm>
            <a:off x="1016000" y="4699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聚焦局部优化策略，大幅降低了在数据流持续到达场景下的计算开销与时间成本。</a:t>
            </a:r>
            <a:endParaRPr lang="en-US" sz="1100"/>
          </a:p>
        </p:txBody>
      </p:sp>
      <p:sp>
        <p:nvSpPr>
          <p:cNvPr id="11" name="AutoShape 11"/>
          <p:cNvSpPr/>
          <p:nvPr/>
        </p:nvSpPr>
        <p:spPr>
          <a:xfrm>
            <a:off x="4445000" y="1651000"/>
            <a:ext cx="3302000" cy="4445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5367655" y="2006600"/>
            <a:ext cx="2125345"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三大创新点</a:t>
            </a:r>
            <a:endParaRPr lang="en-US" sz="1100"/>
          </a:p>
        </p:txBody>
      </p:sp>
      <p:cxnSp>
        <p:nvCxnSpPr>
          <p:cNvPr id="15" name="Connector 15"/>
          <p:cNvCxnSpPr/>
          <p:nvPr/>
        </p:nvCxnSpPr>
        <p:spPr>
          <a:xfrm rot="-15626">
            <a:off x="4699014" y="2724150"/>
            <a:ext cx="27940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sp>
        <p:nvSpPr>
          <p:cNvPr id="16" name="AutoShape 16"/>
          <p:cNvSpPr/>
          <p:nvPr/>
        </p:nvSpPr>
        <p:spPr>
          <a:xfrm>
            <a:off x="4699000" y="2984500"/>
            <a:ext cx="2794000" cy="1016000"/>
          </a:xfrm>
          <a:prstGeom prst="roundRect">
            <a:avLst>
              <a:gd name="adj" fmla="val 10000"/>
            </a:avLst>
          </a:prstGeom>
          <a:solidFill>
            <a:srgbClr val="F9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972050" y="3111500"/>
            <a:ext cx="245745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功能创新：双向学习</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统一框架内支持增量(加数据)与减量(删数据)，突破传统局限。</a:t>
            </a:r>
            <a:endParaRPr lang="en-US" sz="1100"/>
          </a:p>
        </p:txBody>
      </p:sp>
      <p:sp>
        <p:nvSpPr>
          <p:cNvPr id="19" name="AutoShape 19"/>
          <p:cNvSpPr/>
          <p:nvPr/>
        </p:nvSpPr>
        <p:spPr>
          <a:xfrm>
            <a:off x="4699000" y="4064000"/>
            <a:ext cx="2794000" cy="1016000"/>
          </a:xfrm>
          <a:prstGeom prst="roundRect">
            <a:avLst>
              <a:gd name="adj" fmla="val 10000"/>
            </a:avLst>
          </a:prstGeom>
          <a:solidFill>
            <a:srgbClr val="F9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972050" y="4191000"/>
            <a:ext cx="245745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策略创新：鲁棒分裂</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有效减少数据波动导致的频繁重训练，显著提升更新效率。</a:t>
            </a:r>
            <a:endParaRPr lang="en-US" sz="1100"/>
          </a:p>
        </p:txBody>
      </p:sp>
      <p:sp>
        <p:nvSpPr>
          <p:cNvPr id="22" name="AutoShape 22"/>
          <p:cNvSpPr/>
          <p:nvPr/>
        </p:nvSpPr>
        <p:spPr>
          <a:xfrm>
            <a:off x="4699000" y="5143500"/>
            <a:ext cx="2794000" cy="889000"/>
          </a:xfrm>
          <a:prstGeom prst="roundRect">
            <a:avLst>
              <a:gd name="adj" fmla="val 11428"/>
            </a:avLst>
          </a:prstGeom>
          <a:solidFill>
            <a:srgbClr val="F9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972050" y="5270500"/>
            <a:ext cx="245745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优化创新：容忍机制</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平衡更新速度与模型稳定性，适配高流速场景。</a:t>
            </a:r>
            <a:endParaRPr lang="en-US" sz="1100"/>
          </a:p>
        </p:txBody>
      </p:sp>
      <p:sp>
        <p:nvSpPr>
          <p:cNvPr id="25" name="AutoShape 25"/>
          <p:cNvSpPr/>
          <p:nvPr/>
        </p:nvSpPr>
        <p:spPr>
          <a:xfrm>
            <a:off x="8128000" y="1651000"/>
            <a:ext cx="3302000" cy="4445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8" name="AutoShape 28"/>
          <p:cNvSpPr/>
          <p:nvPr/>
        </p:nvSpPr>
        <p:spPr>
          <a:xfrm>
            <a:off x="8964295" y="2006600"/>
            <a:ext cx="2211705"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实际应用价值</a:t>
            </a:r>
            <a:endParaRPr lang="en-US" sz="1100"/>
          </a:p>
        </p:txBody>
      </p:sp>
      <p:cxnSp>
        <p:nvCxnSpPr>
          <p:cNvPr id="29" name="Connector 29"/>
          <p:cNvCxnSpPr/>
          <p:nvPr/>
        </p:nvCxnSpPr>
        <p:spPr>
          <a:xfrm rot="-15626">
            <a:off x="8382014" y="2724150"/>
            <a:ext cx="2794000" cy="12700"/>
          </a:xfrm>
          <a:prstGeom prst="straightConnector1">
            <a:avLst/>
          </a:prstGeom>
          <a:solidFill>
            <a:srgbClr val="DEE0E3">
              <a:alpha val="100000"/>
            </a:srgbClr>
          </a:solidFill>
          <a:ln w="12700" cap="flat" cmpd="sng">
            <a:solidFill>
              <a:srgbClr val="E6E8EB">
                <a:alpha val="100000"/>
              </a:srgbClr>
            </a:solidFill>
            <a:prstDash val="solid"/>
            <a:round/>
            <a:headEnd type="none" w="med" len="med"/>
            <a:tailEnd type="none" w="med" len="med"/>
          </a:ln>
        </p:spPr>
      </p:cxnSp>
      <p:sp>
        <p:nvSpPr>
          <p:cNvPr id="30" name="AutoShape 30"/>
          <p:cNvSpPr/>
          <p:nvPr/>
        </p:nvSpPr>
        <p:spPr>
          <a:xfrm>
            <a:off x="8382000" y="2984500"/>
            <a:ext cx="2794000" cy="1016000"/>
          </a:xfrm>
          <a:prstGeom prst="roundRect">
            <a:avLst>
              <a:gd name="adj" fmla="val 10000"/>
            </a:avLst>
          </a:prstGeom>
          <a:solidFill>
            <a:srgbClr val="F9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667750" y="3111500"/>
            <a:ext cx="244475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实时机器学习</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适用于数据流持续到达的场景，实现毫秒级低延迟响应。</a:t>
            </a:r>
            <a:endParaRPr lang="en-US" sz="1100"/>
          </a:p>
        </p:txBody>
      </p:sp>
      <p:sp>
        <p:nvSpPr>
          <p:cNvPr id="33" name="AutoShape 33"/>
          <p:cNvSpPr/>
          <p:nvPr/>
        </p:nvSpPr>
        <p:spPr>
          <a:xfrm>
            <a:off x="8382000" y="4064000"/>
            <a:ext cx="2794000" cy="1016000"/>
          </a:xfrm>
          <a:prstGeom prst="roundRect">
            <a:avLst>
              <a:gd name="adj" fmla="val 10000"/>
            </a:avLst>
          </a:prstGeom>
          <a:solidFill>
            <a:srgbClr val="F9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8667750" y="4191000"/>
            <a:ext cx="244475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数据隐私合规</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完美支持“被遗忘权”数据删除需求，符合GDPR等法规。</a:t>
            </a:r>
            <a:endParaRPr lang="en-US" sz="1100"/>
          </a:p>
        </p:txBody>
      </p:sp>
      <p:sp>
        <p:nvSpPr>
          <p:cNvPr id="36" name="AutoShape 36"/>
          <p:cNvSpPr/>
          <p:nvPr/>
        </p:nvSpPr>
        <p:spPr>
          <a:xfrm>
            <a:off x="8382000" y="5143500"/>
            <a:ext cx="2794000" cy="889000"/>
          </a:xfrm>
          <a:prstGeom prst="roundRect">
            <a:avLst>
              <a:gd name="adj" fmla="val 11428"/>
            </a:avLst>
          </a:prstGeom>
          <a:solidFill>
            <a:srgbClr val="F9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8667750" y="5270500"/>
            <a:ext cx="244475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超大规模模型维护</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为海量数据下的模型高效迭代提供了解决方案。</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581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四大决策树算法终极对比</a:t>
            </a:r>
            <a:endParaRPr lang="en-US" sz="1100"/>
          </a:p>
        </p:txBody>
      </p:sp>
      <p:sp>
        <p:nvSpPr>
          <p:cNvPr id="3" name="AutoShape 3"/>
          <p:cNvSpPr/>
          <p:nvPr/>
        </p:nvSpPr>
        <p:spPr>
          <a:xfrm>
            <a:off x="762000" y="9525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graphicFrame>
        <p:nvGraphicFramePr>
          <p:cNvPr id="4" name="Table 4"/>
          <p:cNvGraphicFramePr>
            <a:graphicFrameLocks noGrp="1"/>
          </p:cNvGraphicFramePr>
          <p:nvPr/>
        </p:nvGraphicFramePr>
        <p:xfrm>
          <a:off x="762000" y="1270000"/>
          <a:ext cx="10668000" cy="4318000"/>
        </p:xfrm>
        <a:graphic>
          <a:graphicData uri="http://schemas.openxmlformats.org/drawingml/2006/table">
            <a:tbl>
              <a:tblPr>
                <a:effectLst/>
              </a:tblPr>
              <a:tblGrid>
                <a:gridCol w="1524000"/>
                <a:gridCol w="2286000"/>
                <a:gridCol w="2286000"/>
                <a:gridCol w="2286000"/>
                <a:gridCol w="2286000"/>
              </a:tblGrid>
              <a:tr h="508000">
                <a:tc>
                  <a:txBody>
                    <a:bodyPr rtlCol="0"/>
                    <a:lstStyle/>
                    <a:p>
                      <a:pPr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特性维度</a:t>
                      </a:r>
                      <a:endParaRPr lang="en-US" sz="1100"/>
                    </a:p>
                  </a:txBody>
                  <a:tcPr marL="101600" marR="101600" marT="101600" marB="101600" anchor="t" anchorCtr="0">
                    <a:lnL>
                      <a:noFill/>
                    </a:lnL>
                    <a:lnR>
                      <a:noFill/>
                    </a:lnR>
                    <a:lnT>
                      <a:noFill/>
                    </a:lnT>
                    <a:lnB>
                      <a:noFill/>
                    </a:lnB>
                    <a:solidFill>
                      <a:srgbClr val="003366">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CLS 算法</a:t>
                      </a:r>
                      <a:endParaRPr lang="en-US" sz="1100"/>
                    </a:p>
                  </a:txBody>
                  <a:tcPr marL="101600" marR="101600" marT="101600" marB="101600" anchor="t" anchorCtr="0">
                    <a:lnL>
                      <a:noFill/>
                    </a:lnL>
                    <a:lnR>
                      <a:noFill/>
                    </a:lnR>
                    <a:lnT>
                      <a:noFill/>
                    </a:lnT>
                    <a:lnB>
                      <a:noFill/>
                    </a:lnB>
                    <a:solidFill>
                      <a:srgbClr val="003366">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ID3 算法</a:t>
                      </a:r>
                      <a:endParaRPr lang="en-US" sz="1100"/>
                    </a:p>
                  </a:txBody>
                  <a:tcPr marL="101600" marR="101600" marT="101600" marB="101600" anchor="t" anchorCtr="0">
                    <a:lnL>
                      <a:noFill/>
                    </a:lnL>
                    <a:lnR>
                      <a:noFill/>
                    </a:lnR>
                    <a:lnT>
                      <a:noFill/>
                    </a:lnT>
                    <a:lnB>
                      <a:noFill/>
                    </a:lnB>
                    <a:solidFill>
                      <a:srgbClr val="003366">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C4.5 算法</a:t>
                      </a:r>
                      <a:endParaRPr lang="en-US" sz="1100"/>
                    </a:p>
                  </a:txBody>
                  <a:tcPr marL="101600" marR="101600" marT="101600" marB="101600" anchor="t" anchorCtr="0">
                    <a:lnL>
                      <a:noFill/>
                    </a:lnL>
                    <a:lnR>
                      <a:noFill/>
                    </a:lnR>
                    <a:lnT>
                      <a:noFill/>
                    </a:lnT>
                    <a:lnB>
                      <a:noFill/>
                    </a:lnB>
                    <a:solidFill>
                      <a:srgbClr val="003366">
                        <a:alpha val="100000"/>
                      </a:srgbClr>
                    </a:solidFill>
                  </a:tcPr>
                </a:tc>
                <a:tc>
                  <a:txBody>
                    <a:bodyPr rtlCol="0"/>
                    <a:lstStyle/>
                    <a:p>
                      <a:pPr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CART 算法</a:t>
                      </a:r>
                      <a:endParaRPr lang="en-US" sz="1100"/>
                    </a:p>
                  </a:txBody>
                  <a:tcPr marL="101600" marR="101600" marT="101600" marB="101600" anchor="t" anchorCtr="0">
                    <a:lnL>
                      <a:noFill/>
                    </a:lnL>
                    <a:lnR>
                      <a:noFill/>
                    </a:lnR>
                    <a:lnT>
                      <a:noFill/>
                    </a:lnT>
                    <a:lnB>
                      <a:noFill/>
                    </a:lnB>
                    <a:solidFill>
                      <a:srgbClr val="003366">
                        <a:alpha val="100000"/>
                      </a:srgbClr>
                    </a:solidFill>
                  </a:tcPr>
                </a:tc>
              </a:tr>
              <a:tr h="508000">
                <a:tc>
                  <a:txBody>
                    <a:bodyPr rtlCol="0"/>
                    <a:lstStyle/>
                    <a:p>
                      <a:pPr indent="0" algn="ctr">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属性选择</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随机选择</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增益率</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基尼指数 / MSE</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r>
              <a:tr h="508000">
                <a:tc>
                  <a:txBody>
                    <a:bodyPr rtlCol="0"/>
                    <a:lstStyle/>
                    <a:p>
                      <a:pPr indent="0" algn="ctr">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树结构</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多叉树</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多叉树</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多叉树</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二叉树</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r>
              <a:tr h="508000">
                <a:tc>
                  <a:txBody>
                    <a:bodyPr rtlCol="0"/>
                    <a:lstStyle/>
                    <a:p>
                      <a:pPr indent="0" algn="ctr">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连续值处理</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 (二分法)</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r>
              <a:tr h="508000">
                <a:tc>
                  <a:txBody>
                    <a:bodyPr rtlCol="0"/>
                    <a:lstStyle/>
                    <a:p>
                      <a:pPr indent="0" algn="ctr">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缺失值处理</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不支持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 (概率加权)</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r>
              <a:tr h="508000">
                <a:tc>
                  <a:txBody>
                    <a:bodyPr rtlCol="0"/>
                    <a:lstStyle/>
                    <a:p>
                      <a:pPr indent="0" algn="ctr">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剪枝策略</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悲观剪枝 (PEP)</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代价复杂度剪枝</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r>
              <a:tr h="635000">
                <a:tc>
                  <a:txBody>
                    <a:bodyPr rtlCol="0"/>
                    <a:lstStyle/>
                    <a:p>
                      <a:pPr indent="0" algn="ctr">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决策树雏形，开创先河</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首个基于信息论的决策树算法</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工业级成熟算法，实用性强</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分类回归皆可，结构简单效率高</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r>
              <a:tr h="635000">
                <a:tc>
                  <a:txBody>
                    <a:bodyPr rtlCol="0"/>
                    <a:lstStyle/>
                    <a:p>
                      <a:pPr indent="0" algn="ctr">
                        <a:lnSpc>
                          <a:spcPct val="100000"/>
                        </a:lnSpc>
                        <a:defRPr/>
                      </a:pPr>
                      <a:r>
                        <a:rPr lang="en-US" sz="13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主要缺陷</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无科学选择依据，不稳定</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易过拟合，偏向多值属性</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计算复杂度较高，耗时较长</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表达能力相对较弱（仅二叉树）</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r>
            </a:tbl>
          </a:graphicData>
        </a:graphic>
      </p:graphicFrame>
      <p:sp>
        <p:nvSpPr>
          <p:cNvPr id="5" name="AutoShape 5"/>
          <p:cNvSpPr/>
          <p:nvPr/>
        </p:nvSpPr>
        <p:spPr>
          <a:xfrm>
            <a:off x="762000" y="5969000"/>
            <a:ext cx="10668000" cy="508000"/>
          </a:xfrm>
          <a:prstGeom prst="roundRect">
            <a:avLst>
              <a:gd name="adj" fmla="val 25000"/>
            </a:avLst>
          </a:prstGeom>
          <a:solidFill>
            <a:srgbClr val="4A90E2">
              <a:alpha val="10000"/>
            </a:srgbClr>
          </a:solidFill>
          <a:ln w="12700" cap="flat" cmpd="sng">
            <a:solidFill>
              <a:srgbClr val="4A90E2">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 CLS 的随机选择到 ID3 的信息增益，再到 C4.5 的增益率优化，最后到 CART 的二叉树与基尼指数，算法在稳定性与实用性上不断突破。</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762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1270000"/>
            <a:ext cx="10922000" cy="4318000"/>
          </a:xfrm>
          <a:prstGeom prst="roundRect">
            <a:avLst>
              <a:gd name="adj" fmla="val 2941"/>
            </a:avLst>
          </a:prstGeom>
          <a:solidFill>
            <a:srgbClr val="FFFFFF">
              <a:alpha val="100000"/>
            </a:srgbClr>
          </a:solidFill>
          <a:ln w="25400" cap="flat" cmpd="sng">
            <a:noFill/>
            <a:prstDash val="solid"/>
            <a:round/>
          </a:ln>
          <a:effectLst>
            <a:outerShdw blurRad="254000" dist="127000" dir="5400000" algn="tl" rotWithShape="0">
              <a:srgbClr val="003366">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4140200" y="2667000"/>
            <a:ext cx="39116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04 总结与展望</a:t>
            </a:r>
            <a:endParaRPr lang="en-US" sz="1100"/>
          </a:p>
        </p:txBody>
      </p:sp>
      <p:cxnSp>
        <p:nvCxnSpPr>
          <p:cNvPr id="6" name="Connector 6"/>
          <p:cNvCxnSpPr/>
          <p:nvPr/>
        </p:nvCxnSpPr>
        <p:spPr>
          <a:xfrm rot="-34376">
            <a:off x="5461032" y="3486150"/>
            <a:ext cx="1270000" cy="12700"/>
          </a:xfrm>
          <a:prstGeom prst="straightConnector1">
            <a:avLst/>
          </a:prstGeom>
          <a:solidFill>
            <a:srgbClr val="DEE0E3">
              <a:alpha val="100000"/>
            </a:srgbClr>
          </a:solidFill>
          <a:ln w="25400" cap="flat" cmpd="sng">
            <a:solidFill>
              <a:srgbClr val="003366">
                <a:alpha val="100000"/>
              </a:srgbClr>
            </a:solidFill>
            <a:prstDash val="solid"/>
            <a:round/>
            <a:headEnd type="none" w="lg" len="lg"/>
            <a:tailEnd type="none" w="lg" len="lg"/>
          </a:ln>
        </p:spPr>
      </p:cxnSp>
      <p:sp>
        <p:nvSpPr>
          <p:cNvPr id="7" name="AutoShape 7"/>
          <p:cNvSpPr/>
          <p:nvPr/>
        </p:nvSpPr>
        <p:spPr>
          <a:xfrm>
            <a:off x="1270000" y="3746500"/>
            <a:ext cx="965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回顾核心要点，探讨实际应用价值</a:t>
            </a:r>
            <a:endParaRPr lang="en-US" sz="1100"/>
          </a:p>
        </p:txBody>
      </p:sp>
      <p:sp>
        <p:nvSpPr>
          <p:cNvPr id="8" name="AutoShape 8"/>
          <p:cNvSpPr/>
          <p:nvPr/>
        </p:nvSpPr>
        <p:spPr>
          <a:xfrm>
            <a:off x="0" y="6705600"/>
            <a:ext cx="12192000" cy="1524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89408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100"/>
          </a:p>
        </p:txBody>
      </p:sp>
      <p:sp>
        <p:nvSpPr>
          <p:cNvPr id="3" name="AutoShape 3"/>
          <p:cNvSpPr/>
          <p:nvPr/>
        </p:nvSpPr>
        <p:spPr>
          <a:xfrm>
            <a:off x="762000" y="1219200"/>
            <a:ext cx="508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968500" y="1905000"/>
            <a:ext cx="889000" cy="889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59000" y="2095500"/>
            <a:ext cx="508000" cy="508000"/>
          </a:xfrm>
          <a:prstGeom prst="rect">
            <a:avLst/>
          </a:prstGeom>
        </p:spPr>
      </p:pic>
      <p:sp>
        <p:nvSpPr>
          <p:cNvPr id="7" name="AutoShape 7"/>
          <p:cNvSpPr/>
          <p:nvPr/>
        </p:nvSpPr>
        <p:spPr>
          <a:xfrm>
            <a:off x="889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演进脉络清晰</a:t>
            </a:r>
            <a:endParaRPr lang="en-US" sz="1100"/>
          </a:p>
        </p:txBody>
      </p:sp>
      <p:sp>
        <p:nvSpPr>
          <p:cNvPr id="8" name="AutoShape 8"/>
          <p:cNvSpPr/>
          <p:nvPr/>
        </p:nvSpPr>
        <p:spPr>
          <a:xfrm>
            <a:off x="952500" y="34290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从CLS的雏形，到ID3引入信息增益，再到C4.5使用增益率并支持剪枝，算法不断完善。</a:t>
            </a:r>
            <a:endParaRPr lang="en-US" sz="1100"/>
          </a:p>
        </p:txBody>
      </p:sp>
      <p:sp>
        <p:nvSpPr>
          <p:cNvPr id="9" name="AutoShape 9"/>
          <p:cNvSpPr/>
          <p:nvPr/>
        </p:nvSpPr>
        <p:spPr>
          <a:xfrm>
            <a:off x="4445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5651500" y="1905000"/>
            <a:ext cx="889000" cy="889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0" y="2095500"/>
            <a:ext cx="508000" cy="508000"/>
          </a:xfrm>
          <a:prstGeom prst="rect">
            <a:avLst/>
          </a:prstGeom>
        </p:spPr>
      </p:pic>
      <p:sp>
        <p:nvSpPr>
          <p:cNvPr id="12" name="AutoShape 12"/>
          <p:cNvSpPr/>
          <p:nvPr/>
        </p:nvSpPr>
        <p:spPr>
          <a:xfrm>
            <a:off x="4572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核心技术关键</a:t>
            </a:r>
            <a:endParaRPr lang="en-US" sz="1100"/>
          </a:p>
        </p:txBody>
      </p:sp>
      <p:sp>
        <p:nvSpPr>
          <p:cNvPr id="13" name="AutoShape 13"/>
          <p:cNvSpPr/>
          <p:nvPr/>
        </p:nvSpPr>
        <p:spPr>
          <a:xfrm>
            <a:off x="4635500" y="34290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信息增益、增益率等属性选择度量决定了决策树的构建效率，而剪枝策略是防止过拟合、提升模型泛化能力的核心手段。</a:t>
            </a:r>
            <a:endParaRPr lang="en-US" sz="1100"/>
          </a:p>
        </p:txBody>
      </p:sp>
      <p:sp>
        <p:nvSpPr>
          <p:cNvPr id="14" name="AutoShape 14"/>
          <p:cNvSpPr/>
          <p:nvPr/>
        </p:nvSpPr>
        <p:spPr>
          <a:xfrm>
            <a:off x="8128000" y="1651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3366">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9334500" y="1905000"/>
            <a:ext cx="889000" cy="889000"/>
          </a:xfrm>
          <a:prstGeom prst="ellipse">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0" y="2095500"/>
            <a:ext cx="508000" cy="508000"/>
          </a:xfrm>
          <a:prstGeom prst="rect">
            <a:avLst/>
          </a:prstGeom>
        </p:spPr>
      </p:pic>
      <p:sp>
        <p:nvSpPr>
          <p:cNvPr id="17" name="AutoShape 17"/>
          <p:cNvSpPr/>
          <p:nvPr/>
        </p:nvSpPr>
        <p:spPr>
          <a:xfrm>
            <a:off x="8255000" y="2921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应用价值广泛</a:t>
            </a:r>
            <a:endParaRPr lang="en-US" sz="1100"/>
          </a:p>
        </p:txBody>
      </p:sp>
      <p:sp>
        <p:nvSpPr>
          <p:cNvPr id="18" name="AutoShape 18"/>
          <p:cNvSpPr/>
          <p:nvPr/>
        </p:nvSpPr>
        <p:spPr>
          <a:xfrm>
            <a:off x="8318500" y="3429000"/>
            <a:ext cx="2921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决策树具有极强的可解释性，是理解数据规律的有力工具，也是随机森林、GBDT等集成学习算法的基础。</a:t>
            </a:r>
            <a:endParaRPr lang="en-US" sz="1100"/>
          </a:p>
        </p:txBody>
      </p:sp>
      <p:sp>
        <p:nvSpPr>
          <p:cNvPr id="19" name="AutoShape 19"/>
          <p:cNvSpPr/>
          <p:nvPr/>
        </p:nvSpPr>
        <p:spPr>
          <a:xfrm>
            <a:off x="762000" y="5461000"/>
            <a:ext cx="10668000" cy="762000"/>
          </a:xfrm>
          <a:prstGeom prst="roundRect">
            <a:avLst>
              <a:gd name="adj" fmla="val 16666"/>
            </a:avLst>
          </a:prstGeom>
          <a:solidFill>
            <a:srgbClr val="003366">
              <a:alpha val="5000"/>
            </a:srgbClr>
          </a:solidFill>
          <a:ln w="12700" cap="flat" cmpd="sng">
            <a:solidFill>
              <a:srgbClr val="003366">
                <a:alpha val="1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5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决策树：从简单概念模型到强大机器学习基石的演变</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397000"/>
            <a:ext cx="812800" cy="812800"/>
          </a:xfrm>
          <a:prstGeom prst="rect">
            <a:avLst/>
          </a:prstGeom>
        </p:spPr>
      </p:pic>
      <p:sp>
        <p:nvSpPr>
          <p:cNvPr id="4" name="AutoShape 4"/>
          <p:cNvSpPr/>
          <p:nvPr/>
        </p:nvSpPr>
        <p:spPr>
          <a:xfrm>
            <a:off x="1016000" y="2413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5" name="AutoShape 5"/>
          <p:cNvSpPr/>
          <p:nvPr/>
        </p:nvSpPr>
        <p:spPr>
          <a:xfrm>
            <a:off x="1016000" y="33020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endParaRPr lang="en-US" sz="1100"/>
          </a:p>
        </p:txBody>
      </p:sp>
      <p:cxnSp>
        <p:nvCxnSpPr>
          <p:cNvPr id="6" name="Connector 6"/>
          <p:cNvCxnSpPr/>
          <p:nvPr/>
        </p:nvCxnSpPr>
        <p:spPr>
          <a:xfrm rot="-34376">
            <a:off x="5461032" y="4057650"/>
            <a:ext cx="1270000" cy="12700"/>
          </a:xfrm>
          <a:prstGeom prst="line">
            <a:avLst/>
          </a:prstGeom>
          <a:solidFill>
            <a:srgbClr val="DEE0E3">
              <a:alpha val="100000"/>
            </a:srgbClr>
          </a:solidFill>
          <a:ln w="25400" cap="flat" cmpd="sng">
            <a:solidFill>
              <a:srgbClr val="003366">
                <a:alpha val="30000"/>
              </a:srgbClr>
            </a:solidFill>
            <a:prstDash val="solid"/>
            <a:round/>
            <a:headEnd type="none" w="lg" len="lg"/>
            <a:tailEnd type="none" w="lg" len="lg"/>
          </a:ln>
        </p:spPr>
      </p:cxnSp>
      <p:sp>
        <p:nvSpPr>
          <p:cNvPr id="7" name="AutoShape 7"/>
          <p:cNvSpPr/>
          <p:nvPr/>
        </p:nvSpPr>
        <p:spPr>
          <a:xfrm>
            <a:off x="1016000" y="4318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66666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欢迎各位</a:t>
            </a:r>
            <a:r>
              <a:rPr lang="zh-CN" altLang="en-US" sz="1600" b="0" i="0" u="none" strike="noStrike">
                <a:solidFill>
                  <a:srgbClr val="66666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同学、老师</a:t>
            </a:r>
            <a:r>
              <a:rPr lang="en-US" sz="1600" b="0" i="0" u="none" strike="noStrike">
                <a:solidFill>
                  <a:srgbClr val="66666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批评指正</a:t>
            </a:r>
            <a:endParaRPr lang="en-US" sz="1100"/>
          </a:p>
        </p:txBody>
      </p:sp>
      <p:sp>
        <p:nvSpPr>
          <p:cNvPr id="8" name="AutoShape 8"/>
          <p:cNvSpPr/>
          <p:nvPr/>
        </p:nvSpPr>
        <p:spPr>
          <a:xfrm>
            <a:off x="0" y="6756400"/>
            <a:ext cx="12192000" cy="101600"/>
          </a:xfrm>
          <a:prstGeom prst="roundRect">
            <a:avLst>
              <a:gd name="adj" fmla="val 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ags/tag1.xml><?xml version="1.0" encoding="utf-8"?>
<p:tagLst xmlns:p="http://schemas.openxmlformats.org/presentationml/2006/main">
  <p:tag name="KSO_WM_DIAGRAM_VIRTUALLY_FRAME" val="{&quot;height&quot;:321.35,&quot;left&quot;:60,&quot;top&quot;:120,&quot;width&quot;:840}"/>
</p:tagLst>
</file>

<file path=ppt/tags/tag2.xml><?xml version="1.0" encoding="utf-8"?>
<p:tagLst xmlns:p="http://schemas.openxmlformats.org/presentationml/2006/main">
  <p:tag name="KSO_WM_DIAGRAM_VIRTUALLY_FRAME" val="{&quot;height&quot;:321.35,&quot;left&quot;:60,&quot;top&quot;:120,&quot;width&quot;:840}"/>
</p:tagLst>
</file>

<file path=ppt/tags/tag3.xml><?xml version="1.0" encoding="utf-8"?>
<p:tagLst xmlns:p="http://schemas.openxmlformats.org/presentationml/2006/main">
  <p:tag name="KSO_WM_DIAGRAM_VIRTUALLY_FRAME" val="{&quot;height&quot;:321.35,&quot;left&quot;:60,&quot;top&quot;:120,&quot;width&quot;:840}"/>
</p:tagLst>
</file>

<file path=ppt/tags/tag4.xml><?xml version="1.0" encoding="utf-8"?>
<p:tagLst xmlns:p="http://schemas.openxmlformats.org/presentationml/2006/main">
  <p:tag name="KSO_WM_DIAGRAM_VIRTUALLY_FRAME" val="{&quot;height&quot;:321.35,&quot;left&quot;:60,&quot;top&quot;:120,&quot;width&quot;:840}"/>
</p:tagLst>
</file>

<file path=ppt/tags/tag5.xml><?xml version="1.0" encoding="utf-8"?>
<p:tagLst xmlns:p="http://schemas.openxmlformats.org/presentationml/2006/main">
  <p:tag name="KSO_WM_DIAGRAM_VIRTUALLY_FRAME" val="{&quot;height&quot;:321.35,&quot;left&quot;:60,&quot;top&quot;:120,&quot;width&quot;:840}"/>
</p:tagLst>
</file>

<file path=ppt/tags/tag6.xml><?xml version="1.0" encoding="utf-8"?>
<p:tagLst xmlns:p="http://schemas.openxmlformats.org/presentationml/2006/main">
  <p:tag name="KSO_WM_DIAGRAM_VIRTUALLY_FRAME" val="{&quot;height&quot;:321.35,&quot;left&quot;:60,&quot;top&quot;:120,&quot;width&quot;:840}"/>
</p:tagLst>
</file>

<file path=ppt/tags/tag7.xml><?xml version="1.0" encoding="utf-8"?>
<p:tagLst xmlns:p="http://schemas.openxmlformats.org/presentationml/2006/main">
  <p:tag name="KSO_WM_DIAGRAM_VIRTUALLY_FRAME" val="{&quot;height&quot;:321.35,&quot;left&quot;:60,&quot;top&quot;:120,&quot;width&quot;:840}"/>
</p:tagLst>
</file>

<file path=ppt/tags/tag8.xml><?xml version="1.0" encoding="utf-8"?>
<p:tagLst xmlns:p="http://schemas.openxmlformats.org/presentationml/2006/main">
  <p:tag name="KSO_WM_DIAGRAM_VIRTUALLY_FRAME" val="{&quot;height&quot;:321.35,&quot;left&quot;:60,&quot;top&quot;:120,&quot;width&quot;:840}"/>
</p:tagLst>
</file>

<file path=ppt/tags/tag9.xml><?xml version="1.0" encoding="utf-8"?>
<p:tagLst xmlns:p="http://schemas.openxmlformats.org/presentationml/2006/main">
  <p:tag name="KSO_WM_DIAGRAM_VIRTUALLY_FRAME" val="{&quot;height&quot;:321.35,&quot;left&quot;:60,&quot;top&quot;:120,&quot;width&quot;:840}"/>
</p:tagLst>
</file>

<file path=ppt/tags/tag10.xml><?xml version="1.0" encoding="utf-8"?>
<p:tagLst xmlns:p="http://schemas.openxmlformats.org/presentationml/2006/main">
  <p:tag name="KSO_WM_DIAGRAM_VIRTUALLY_FRAME" val="{&quot;height&quot;:321.35,&quot;left&quot;:60,&quot;top&quot;:120,&quot;width&quot;:840}"/>
</p:tagLst>
</file>

<file path=ppt/tags/tag11.xml><?xml version="1.0" encoding="utf-8"?>
<p:tagLst xmlns:p="http://schemas.openxmlformats.org/presentationml/2006/main">
  <p:tag name="KSO_WM_DIAGRAM_VIRTUALLY_FRAME" val="{&quot;height&quot;:321.35,&quot;left&quot;:60,&quot;top&quot;:120,&quot;width&quot;:840}"/>
</p:tagLst>
</file>

<file path=ppt/tags/tag12.xml><?xml version="1.0" encoding="utf-8"?>
<p:tagLst xmlns:p="http://schemas.openxmlformats.org/presentationml/2006/main">
  <p:tag name="KSO_WM_DIAGRAM_VIRTUALLY_FRAME" val="{&quot;height&quot;:321.35,&quot;left&quot;:60,&quot;top&quot;:120,&quot;width&quot;:840}"/>
</p:tagLst>
</file>

<file path=ppt/tags/tag13.xml><?xml version="1.0" encoding="utf-8"?>
<p:tagLst xmlns:p="http://schemas.openxmlformats.org/presentationml/2006/main">
  <p:tag name="KSO_WM_DIAGRAM_VIRTUALLY_FRAME" val="{&quot;height&quot;:321.35,&quot;left&quot;:60,&quot;top&quot;:120,&quot;width&quot;:840}"/>
</p:tagLst>
</file>

<file path=ppt/tags/tag14.xml><?xml version="1.0" encoding="utf-8"?>
<p:tagLst xmlns:p="http://schemas.openxmlformats.org/presentationml/2006/main">
  <p:tag name="KSO_WM_DIAGRAM_VIRTUALLY_FRAME" val="{&quot;height&quot;:321.35,&quot;left&quot;:60,&quot;top&quot;:120,&quot;width&quot;:840}"/>
</p:tagLst>
</file>

<file path=ppt/tags/tag15.xml><?xml version="1.0" encoding="utf-8"?>
<p:tagLst xmlns:p="http://schemas.openxmlformats.org/presentationml/2006/main">
  <p:tag name="KSO_WM_DIAGRAM_VIRTUALLY_FRAME" val="{&quot;height&quot;:62.3,&quot;left&quot;:220,&quot;top&quot;:290,&quot;width&quot;:520}"/>
</p:tagLst>
</file>

<file path=ppt/tags/tag16.xml><?xml version="1.0" encoding="utf-8"?>
<p:tagLst xmlns:p="http://schemas.openxmlformats.org/presentationml/2006/main">
  <p:tag name="KSO_WM_DIAGRAM_VIRTUALLY_FRAME" val="{&quot;height&quot;:62.3,&quot;left&quot;:220,&quot;top&quot;:290,&quot;width&quot;:520}"/>
</p:tagLst>
</file>

<file path=ppt/tags/tag17.xml><?xml version="1.0" encoding="utf-8"?>
<p:tagLst xmlns:p="http://schemas.openxmlformats.org/presentationml/2006/main">
  <p:tag name="KSO_WM_DIAGRAM_VIRTUALLY_FRAME" val="{&quot;height&quot;:62.3,&quot;left&quot;:220,&quot;top&quot;:290,&quot;width&quot;:520}"/>
</p:tagLst>
</file>

<file path=ppt/tags/tag18.xml><?xml version="1.0" encoding="utf-8"?>
<p:tagLst xmlns:p="http://schemas.openxmlformats.org/presentationml/2006/main">
  <p:tag name="KSO_WM_DIAGRAM_VIRTUALLY_FRAME" val="{&quot;height&quot;:62.3,&quot;left&quot;:220,&quot;top&quot;:290,&quot;width&quot;:520}"/>
</p:tagLst>
</file>

<file path=ppt/tags/tag19.xml><?xml version="1.0" encoding="utf-8"?>
<p:tagLst xmlns:p="http://schemas.openxmlformats.org/presentationml/2006/main">
  <p:tag name="KSO_WM_DIAGRAM_VIRTUALLY_FRAME" val="{&quot;height&quot;:62.3,&quot;left&quot;:220,&quot;top&quot;:290,&quot;width&quot;:520}"/>
</p:tagLst>
</file>

<file path=ppt/tags/tag20.xml><?xml version="1.0" encoding="utf-8"?>
<p:tagLst xmlns:p="http://schemas.openxmlformats.org/presentationml/2006/main">
  <p:tag name="KSO_WM_DIAGRAM_VIRTUALLY_FRAME" val="{&quot;height&quot;:62.3,&quot;left&quot;:220,&quot;top&quot;:290,&quot;width&quot;:520}"/>
</p:tagLst>
</file>

<file path=ppt/tags/tag21.xml><?xml version="1.0" encoding="utf-8"?>
<p:tagLst xmlns:p="http://schemas.openxmlformats.org/presentationml/2006/main">
  <p:tag name="KSO_WM_DIAGRAM_VIRTUALLY_FRAME" val="{&quot;height&quot;:170,&quot;left&quot;:380,&quot;top&quot;:150,&quot;width&quot;:520}"/>
</p:tagLst>
</file>

<file path=ppt/tags/tag22.xml><?xml version="1.0" encoding="utf-8"?>
<p:tagLst xmlns:p="http://schemas.openxmlformats.org/presentationml/2006/main">
  <p:tag name="KSO_WM_DIAGRAM_VIRTUALLY_FRAME" val="{&quot;height&quot;:170,&quot;left&quot;:380,&quot;top&quot;:150,&quot;width&quot;:520}"/>
</p:tagLst>
</file>

<file path=ppt/tags/tag23.xml><?xml version="1.0" encoding="utf-8"?>
<p:tagLst xmlns:p="http://schemas.openxmlformats.org/presentationml/2006/main">
  <p:tag name="KSO_WM_DIAGRAM_VIRTUALLY_FRAME" val="{&quot;height&quot;:170,&quot;left&quot;:380,&quot;top&quot;:150,&quot;width&quot;:520}"/>
</p:tagLst>
</file>

<file path=ppt/tags/tag24.xml><?xml version="1.0" encoding="utf-8"?>
<p:tagLst xmlns:p="http://schemas.openxmlformats.org/presentationml/2006/main">
  <p:tag name="KSO_WM_DIAGRAM_VIRTUALLY_FRAME" val="{&quot;height&quot;:170,&quot;left&quot;:380,&quot;top&quot;:150,&quot;width&quot;:520}"/>
</p:tagLst>
</file>

<file path=ppt/tags/tag25.xml><?xml version="1.0" encoding="utf-8"?>
<p:tagLst xmlns:p="http://schemas.openxmlformats.org/presentationml/2006/main">
  <p:tag name="KSO_WM_DIAGRAM_VIRTUALLY_FRAME" val="{&quot;height&quot;:170,&quot;left&quot;:380,&quot;top&quot;:150,&quot;width&quot;:520}"/>
</p:tagLst>
</file>

<file path=ppt/tags/tag26.xml><?xml version="1.0" encoding="utf-8"?>
<p:tagLst xmlns:p="http://schemas.openxmlformats.org/presentationml/2006/main">
  <p:tag name="KSO_WM_DIAGRAM_VIRTUALLY_FRAME" val="{&quot;height&quot;:170,&quot;left&quot;:380,&quot;top&quot;:150,&quot;width&quot;:520}"/>
</p:tagLst>
</file>

<file path=ppt/tags/tag27.xml><?xml version="1.0" encoding="utf-8"?>
<p:tagLst xmlns:p="http://schemas.openxmlformats.org/presentationml/2006/main">
  <p:tag name="KSO_WM_DIAGRAM_VIRTUALLY_FRAME" val="{&quot;height&quot;:170,&quot;left&quot;:380,&quot;top&quot;:150,&quot;width&quot;:520}"/>
</p:tagLst>
</file>

<file path=ppt/tags/tag28.xml><?xml version="1.0" encoding="utf-8"?>
<p:tagLst xmlns:p="http://schemas.openxmlformats.org/presentationml/2006/main">
  <p:tag name="KSO_WM_DIAGRAM_VIRTUALLY_FRAME" val="{&quot;height&quot;:170,&quot;left&quot;:380,&quot;top&quot;:150,&quot;width&quot;:520}"/>
</p:tagLst>
</file>

<file path=ppt/tags/tag29.xml><?xml version="1.0" encoding="utf-8"?>
<p:tagLst xmlns:p="http://schemas.openxmlformats.org/presentationml/2006/main">
  <p:tag name="KSO_WM_DIAGRAM_VIRTUALLY_FRAME" val="{&quot;height&quot;:330,&quot;left&quot;:420,&quot;top&quot;:130,&quot;width&quot;:480}"/>
</p:tagLst>
</file>

<file path=ppt/tags/tag30.xml><?xml version="1.0" encoding="utf-8"?>
<p:tagLst xmlns:p="http://schemas.openxmlformats.org/presentationml/2006/main">
  <p:tag name="KSO_WM_DIAGRAM_VIRTUALLY_FRAME" val="{&quot;height&quot;:330,&quot;left&quot;:420,&quot;top&quot;:130,&quot;width&quot;:480}"/>
</p:tagLst>
</file>

<file path=ppt/tags/tag31.xml><?xml version="1.0" encoding="utf-8"?>
<p:tagLst xmlns:p="http://schemas.openxmlformats.org/presentationml/2006/main">
  <p:tag name="KSO_WM_DIAGRAM_VIRTUALLY_FRAME" val="{&quot;height&quot;:330,&quot;left&quot;:420,&quot;top&quot;:130,&quot;width&quot;:480}"/>
</p:tagLst>
</file>

<file path=ppt/tags/tag32.xml><?xml version="1.0" encoding="utf-8"?>
<p:tagLst xmlns:p="http://schemas.openxmlformats.org/presentationml/2006/main">
  <p:tag name="KSO_WM_DIAGRAM_VIRTUALLY_FRAME" val="{&quot;height&quot;:330,&quot;left&quot;:420,&quot;top&quot;:130,&quot;width&quot;:480}"/>
</p:tagLst>
</file>

<file path=ppt/tags/tag33.xml><?xml version="1.0" encoding="utf-8"?>
<p:tagLst xmlns:p="http://schemas.openxmlformats.org/presentationml/2006/main">
  <p:tag name="KSO_WM_DIAGRAM_VIRTUALLY_FRAME" val="{&quot;height&quot;:330,&quot;left&quot;:420,&quot;top&quot;:130,&quot;width&quot;:480}"/>
</p:tagLst>
</file>

<file path=ppt/tags/tag34.xml><?xml version="1.0" encoding="utf-8"?>
<p:tagLst xmlns:p="http://schemas.openxmlformats.org/presentationml/2006/main">
  <p:tag name="KSO_WM_DIAGRAM_VIRTUALLY_FRAME" val="{&quot;height&quot;:330,&quot;left&quot;:420,&quot;top&quot;:130,&quot;width&quot;:480}"/>
</p:tagLst>
</file>

<file path=ppt/tags/tag35.xml><?xml version="1.0" encoding="utf-8"?>
<p:tagLst xmlns:p="http://schemas.openxmlformats.org/presentationml/2006/main">
  <p:tag name="KSO_WM_DIAGRAM_VIRTUALLY_FRAME" val="{&quot;height&quot;:330,&quot;left&quot;:420,&quot;top&quot;:130,&quot;width&quot;:480}"/>
</p:tagLst>
</file>

<file path=ppt/tags/tag36.xml><?xml version="1.0" encoding="utf-8"?>
<p:tagLst xmlns:p="http://schemas.openxmlformats.org/presentationml/2006/main">
  <p:tag name="KSO_WM_DIAGRAM_VIRTUALLY_FRAME" val="{&quot;height&quot;:330,&quot;left&quot;:420,&quot;top&quot;:130,&quot;width&quot;:480}"/>
</p:tagLst>
</file>

<file path=ppt/tags/tag37.xml><?xml version="1.0" encoding="utf-8"?>
<p:tagLst xmlns:p="http://schemas.openxmlformats.org/presentationml/2006/main">
  <p:tag name="KSO_WM_DIAGRAM_VIRTUALLY_FRAME" val="{&quot;height&quot;:330,&quot;left&quot;:420,&quot;top&quot;:130,&quot;width&quot;:480}"/>
</p:tagLst>
</file>

<file path=ppt/tags/tag38.xml><?xml version="1.0" encoding="utf-8"?>
<p:tagLst xmlns:p="http://schemas.openxmlformats.org/presentationml/2006/main">
  <p:tag name="KSO_WM_DIAGRAM_VIRTUALLY_FRAME" val="{&quot;height&quot;:330,&quot;left&quot;:420,&quot;top&quot;:130,&quot;width&quot;:480}"/>
</p:tagLst>
</file>

<file path=ppt/tags/tag39.xml><?xml version="1.0" encoding="utf-8"?>
<p:tagLst xmlns:p="http://schemas.openxmlformats.org/presentationml/2006/main">
  <p:tag name="KSO_WM_DIAGRAM_VIRTUALLY_FRAME" val="{&quot;height&quot;:320,&quot;left&quot;:60,&quot;top&quot;:110,&quot;width&quot;:840}"/>
</p:tagLst>
</file>

<file path=ppt/tags/tag40.xml><?xml version="1.0" encoding="utf-8"?>
<p:tagLst xmlns:p="http://schemas.openxmlformats.org/presentationml/2006/main">
  <p:tag name="KSO_WM_DIAGRAM_VIRTUALLY_FRAME" val="{&quot;height&quot;:320,&quot;left&quot;:60,&quot;top&quot;:110,&quot;width&quot;:840}"/>
</p:tagLst>
</file>

<file path=ppt/tags/tag41.xml><?xml version="1.0" encoding="utf-8"?>
<p:tagLst xmlns:p="http://schemas.openxmlformats.org/presentationml/2006/main">
  <p:tag name="KSO_WM_DIAGRAM_VIRTUALLY_FRAME" val="{&quot;height&quot;:320,&quot;left&quot;:60,&quot;top&quot;:110,&quot;width&quot;:840}"/>
</p:tagLst>
</file>

<file path=ppt/tags/tag42.xml><?xml version="1.0" encoding="utf-8"?>
<p:tagLst xmlns:p="http://schemas.openxmlformats.org/presentationml/2006/main">
  <p:tag name="KSO_WM_DIAGRAM_VIRTUALLY_FRAME" val="{&quot;height&quot;:320,&quot;left&quot;:60,&quot;top&quot;:110,&quot;width&quot;:840}"/>
</p:tagLst>
</file>

<file path=ppt/tags/tag43.xml><?xml version="1.0" encoding="utf-8"?>
<p:tagLst xmlns:p="http://schemas.openxmlformats.org/presentationml/2006/main">
  <p:tag name="KSO_WM_DIAGRAM_VIRTUALLY_FRAME" val="{&quot;height&quot;:320,&quot;left&quot;:60,&quot;top&quot;:110,&quot;width&quot;:840}"/>
</p:tagLst>
</file>

<file path=ppt/tags/tag44.xml><?xml version="1.0" encoding="utf-8"?>
<p:tagLst xmlns:p="http://schemas.openxmlformats.org/presentationml/2006/main">
  <p:tag name="KSO_WM_DIAGRAM_VIRTUALLY_FRAME" val="{&quot;height&quot;:320,&quot;left&quot;:60,&quot;top&quot;:110,&quot;width&quot;:840}"/>
</p:tagLst>
</file>

<file path=ppt/tags/tag45.xml><?xml version="1.0" encoding="utf-8"?>
<p:tagLst xmlns:p="http://schemas.openxmlformats.org/presentationml/2006/main">
  <p:tag name="KSO_WM_DIAGRAM_VIRTUALLY_FRAME" val="{&quot;height&quot;:320,&quot;left&quot;:60,&quot;top&quot;:110,&quot;width&quot;:840}"/>
</p:tagLst>
</file>

<file path=ppt/tags/tag46.xml><?xml version="1.0" encoding="utf-8"?>
<p:tagLst xmlns:p="http://schemas.openxmlformats.org/presentationml/2006/main">
  <p:tag name="KSO_WM_DIAGRAM_VIRTUALLY_FRAME" val="{&quot;height&quot;:320,&quot;left&quot;:60,&quot;top&quot;:110,&quot;width&quot;:840}"/>
</p:tagLst>
</file>

<file path=ppt/tags/tag47.xml><?xml version="1.0" encoding="utf-8"?>
<p:tagLst xmlns:p="http://schemas.openxmlformats.org/presentationml/2006/main">
  <p:tag name="KSO_WM_DIAGRAM_VIRTUALLY_FRAME" val="{&quot;height&quot;:320,&quot;left&quot;:60,&quot;top&quot;:110,&quot;width&quot;:840}"/>
</p:tagLst>
</file>

<file path=ppt/tags/tag48.xml><?xml version="1.0" encoding="utf-8"?>
<p:tagLst xmlns:p="http://schemas.openxmlformats.org/presentationml/2006/main">
  <p:tag name="KSO_WM_DIAGRAM_VIRTUALLY_FRAME" val="{&quot;height&quot;:320,&quot;left&quot;:60,&quot;top&quot;:110,&quot;width&quot;:838}"/>
</p:tagLst>
</file>

<file path=ppt/tags/tag49.xml><?xml version="1.0" encoding="utf-8"?>
<p:tagLst xmlns:p="http://schemas.openxmlformats.org/presentationml/2006/main">
  <p:tag name="KSO_WM_DIAGRAM_VIRTUALLY_FRAME" val="{&quot;height&quot;:320,&quot;left&quot;:60,&quot;top&quot;:110,&quot;width&quot;:838}"/>
</p:tagLst>
</file>

<file path=ppt/tags/tag50.xml><?xml version="1.0" encoding="utf-8"?>
<p:tagLst xmlns:p="http://schemas.openxmlformats.org/presentationml/2006/main">
  <p:tag name="KSO_WM_DIAGRAM_VIRTUALLY_FRAME" val="{&quot;height&quot;:320,&quot;left&quot;:60,&quot;top&quot;:110,&quot;width&quot;:838}"/>
</p:tagLst>
</file>

<file path=ppt/tags/tag51.xml><?xml version="1.0" encoding="utf-8"?>
<p:tagLst xmlns:p="http://schemas.openxmlformats.org/presentationml/2006/main">
  <p:tag name="KSO_WM_DIAGRAM_VIRTUALLY_FRAME" val="{&quot;height&quot;:320,&quot;left&quot;:60,&quot;top&quot;:110,&quot;width&quot;:838}"/>
</p:tagLst>
</file>

<file path=ppt/tags/tag52.xml><?xml version="1.0" encoding="utf-8"?>
<p:tagLst xmlns:p="http://schemas.openxmlformats.org/presentationml/2006/main">
  <p:tag name="KSO_WM_DIAGRAM_VIRTUALLY_FRAME" val="{&quot;height&quot;:320,&quot;left&quot;:60,&quot;top&quot;:110,&quot;width&quot;:838}"/>
</p:tagLst>
</file>

<file path=ppt/tags/tag53.xml><?xml version="1.0" encoding="utf-8"?>
<p:tagLst xmlns:p="http://schemas.openxmlformats.org/presentationml/2006/main">
  <p:tag name="KSO_WM_DIAGRAM_VIRTUALLY_FRAME" val="{&quot;height&quot;:320,&quot;left&quot;:60,&quot;top&quot;:110,&quot;width&quot;:838}"/>
</p:tagLst>
</file>

<file path=ppt/tags/tag54.xml><?xml version="1.0" encoding="utf-8"?>
<p:tagLst xmlns:p="http://schemas.openxmlformats.org/presentationml/2006/main">
  <p:tag name="KSO_WM_DIAGRAM_VIRTUALLY_FRAME" val="{&quot;height&quot;:320,&quot;left&quot;:60,&quot;top&quot;:110,&quot;width&quot;:838}"/>
</p:tagLst>
</file>

<file path=ppt/tags/tag55.xml><?xml version="1.0" encoding="utf-8"?>
<p:tagLst xmlns:p="http://schemas.openxmlformats.org/presentationml/2006/main">
  <p:tag name="KSO_WM_DIAGRAM_VIRTUALLY_FRAME" val="{&quot;height&quot;:320,&quot;left&quot;:60,&quot;top&quot;:110,&quot;width&quot;:838}"/>
</p:tagLst>
</file>

<file path=ppt/tags/tag56.xml><?xml version="1.0" encoding="utf-8"?>
<p:tagLst xmlns:p="http://schemas.openxmlformats.org/presentationml/2006/main">
  <p:tag name="KSO_WM_DIAGRAM_VIRTUALLY_FRAME" val="{&quot;height&quot;:320,&quot;left&quot;:60,&quot;top&quot;:110,&quot;width&quot;:838}"/>
</p:tagLst>
</file>

<file path=ppt/tags/tag57.xml><?xml version="1.0" encoding="utf-8"?>
<p:tagLst xmlns:p="http://schemas.openxmlformats.org/presentationml/2006/main">
  <p:tag name="KSO_WM_DIAGRAM_VIRTUALLY_FRAME" val="{&quot;height&quot;:320,&quot;left&quot;:60,&quot;top&quot;:110,&quot;width&quot;:838}"/>
</p:tagLst>
</file>

<file path=ppt/tags/tag58.xml><?xml version="1.0" encoding="utf-8"?>
<p:tagLst xmlns:p="http://schemas.openxmlformats.org/presentationml/2006/main">
  <p:tag name="KSO_WM_DIAGRAM_VIRTUALLY_FRAME" val="{&quot;height&quot;:320,&quot;left&quot;:60,&quot;top&quot;:110,&quot;width&quot;:838}"/>
</p:tagLst>
</file>

<file path=ppt/tags/tag59.xml><?xml version="1.0" encoding="utf-8"?>
<p:tagLst xmlns:p="http://schemas.openxmlformats.org/presentationml/2006/main">
  <p:tag name="KSO_WM_DIAGRAM_VIRTUALLY_FRAME" val="{&quot;height&quot;:320,&quot;left&quot;:60,&quot;top&quot;:110,&quot;width&quot;:838}"/>
</p:tagLst>
</file>

<file path=ppt/tags/tag60.xml><?xml version="1.0" encoding="utf-8"?>
<p:tagLst xmlns:p="http://schemas.openxmlformats.org/presentationml/2006/main">
  <p:tag name="KSO_WM_DIAGRAM_VIRTUALLY_FRAME" val="{&quot;height&quot;:320,&quot;left&quot;:60,&quot;top&quot;:110,&quot;width&quot;:838}"/>
</p:tagLst>
</file>

<file path=ppt/tags/tag61.xml><?xml version="1.0" encoding="utf-8"?>
<p:tagLst xmlns:p="http://schemas.openxmlformats.org/presentationml/2006/main">
  <p:tag name="KSO_WM_DIAGRAM_VIRTUALLY_FRAME" val="{&quot;height&quot;:320,&quot;left&quot;:60,&quot;top&quot;:110,&quot;width&quot;:838}"/>
</p:tagLst>
</file>

<file path=ppt/tags/tag62.xml><?xml version="1.0" encoding="utf-8"?>
<p:tagLst xmlns:p="http://schemas.openxmlformats.org/presentationml/2006/main">
  <p:tag name="KSO_WM_DIAGRAM_VIRTUALLY_FRAME" val="{&quot;height&quot;:320,&quot;left&quot;:60,&quot;top&quot;:110,&quot;width&quot;:838}"/>
</p:tagLst>
</file>

<file path=ppt/tags/tag63.xml><?xml version="1.0" encoding="utf-8"?>
<p:tagLst xmlns:p="http://schemas.openxmlformats.org/presentationml/2006/main">
  <p:tag name="KSO_WM_DIAGRAM_VIRTUALLY_FRAME" val="{&quot;height&quot;:320,&quot;left&quot;:60,&quot;top&quot;:110,&quot;width&quot;:838}"/>
</p:tagLst>
</file>

<file path=ppt/tags/tag64.xml><?xml version="1.0" encoding="utf-8"?>
<p:tagLst xmlns:p="http://schemas.openxmlformats.org/presentationml/2006/main">
  <p:tag name="KSO_WM_DIAGRAM_VIRTUALLY_FRAME" val="{&quot;height&quot;:320,&quot;left&quot;:60,&quot;top&quot;:110,&quot;width&quot;:838}"/>
</p:tagLst>
</file>

<file path=ppt/tags/tag65.xml><?xml version="1.0" encoding="utf-8"?>
<p:tagLst xmlns:p="http://schemas.openxmlformats.org/presentationml/2006/main">
  <p:tag name="KSO_WM_DIAGRAM_VIRTUALLY_FRAME" val="{&quot;height&quot;:320,&quot;left&quot;:60,&quot;top&quot;:110,&quot;width&quot;:838}"/>
</p:tagLst>
</file>

<file path=ppt/tags/tag66.xml><?xml version="1.0" encoding="utf-8"?>
<p:tagLst xmlns:p="http://schemas.openxmlformats.org/presentationml/2006/main">
  <p:tag name="KSO_WM_DIAGRAM_VIRTUALLY_FRAME" val="{&quot;height&quot;:320,&quot;left&quot;:60,&quot;top&quot;:110,&quot;width&quot;:838}"/>
</p:tagLst>
</file>

<file path=ppt/tags/tag67.xml><?xml version="1.0" encoding="utf-8"?>
<p:tagLst xmlns:p="http://schemas.openxmlformats.org/presentationml/2006/main">
  <p:tag name="KSO_WM_DIAGRAM_VIRTUALLY_FRAME" val="{&quot;height&quot;:320,&quot;left&quot;:60,&quot;top&quot;:110,&quot;width&quot;:838}"/>
</p:tagLst>
</file>

<file path=ppt/tags/tag68.xml><?xml version="1.0" encoding="utf-8"?>
<p:tagLst xmlns:p="http://schemas.openxmlformats.org/presentationml/2006/main">
  <p:tag name="KSO_WM_DIAGRAM_VIRTUALLY_FRAME" val="{&quot;height&quot;:320,&quot;left&quot;:60,&quot;top&quot;:110,&quot;width&quot;:838}"/>
</p:tagLst>
</file>

<file path=ppt/tags/tag69.xml><?xml version="1.0" encoding="utf-8"?>
<p:tagLst xmlns:p="http://schemas.openxmlformats.org/presentationml/2006/main">
  <p:tag name="KSO_WM_DIAGRAM_VIRTUALLY_FRAME" val="{&quot;height&quot;:320,&quot;left&quot;:60,&quot;top&quot;:110,&quot;width&quot;:838}"/>
</p:tagLst>
</file>

<file path=ppt/tags/tag70.xml><?xml version="1.0" encoding="utf-8"?>
<p:tagLst xmlns:p="http://schemas.openxmlformats.org/presentationml/2006/main">
  <p:tag name="KSO_WM_DIAGRAM_VIRTUALLY_FRAME" val="{&quot;height&quot;:320,&quot;left&quot;:60,&quot;top&quot;:110,&quot;width&quot;:838}"/>
</p:tagLst>
</file>

<file path=ppt/tags/tag71.xml><?xml version="1.0" encoding="utf-8"?>
<p:tagLst xmlns:p="http://schemas.openxmlformats.org/presentationml/2006/main">
  <p:tag name="KSO_WM_DIAGRAM_VIRTUALLY_FRAME" val="{&quot;height&quot;:320,&quot;left&quot;:60,&quot;top&quot;:110,&quot;width&quot;:838}"/>
</p:tagLst>
</file>

<file path=ppt/tags/tag72.xml><?xml version="1.0" encoding="utf-8"?>
<p:tagLst xmlns:p="http://schemas.openxmlformats.org/presentationml/2006/main">
  <p:tag name="KSO_WM_DIAGRAM_VIRTUALLY_FRAME" val="{&quot;height&quot;:320,&quot;left&quot;:60,&quot;top&quot;:110,&quot;width&quot;:838}"/>
</p:tagLst>
</file>

<file path=ppt/tags/tag73.xml><?xml version="1.0" encoding="utf-8"?>
<p:tagLst xmlns:p="http://schemas.openxmlformats.org/presentationml/2006/main">
  <p:tag name="KSO_WM_DIAGRAM_VIRTUALLY_FRAME" val="{&quot;height&quot;:280,&quot;left&quot;:60,&quot;top&quot;:130,&quot;width&quot;:840}"/>
</p:tagLst>
</file>

<file path=ppt/tags/tag74.xml><?xml version="1.0" encoding="utf-8"?>
<p:tagLst xmlns:p="http://schemas.openxmlformats.org/presentationml/2006/main">
  <p:tag name="KSO_WM_DIAGRAM_VIRTUALLY_FRAME" val="{&quot;height&quot;:280,&quot;left&quot;:60,&quot;top&quot;:130,&quot;width&quot;:840}"/>
</p:tagLst>
</file>

<file path=ppt/tags/tag75.xml><?xml version="1.0" encoding="utf-8"?>
<p:tagLst xmlns:p="http://schemas.openxmlformats.org/presentationml/2006/main">
  <p:tag name="KSO_WM_DIAGRAM_VIRTUALLY_FRAME" val="{&quot;height&quot;:280,&quot;left&quot;:60,&quot;top&quot;:130,&quot;width&quot;:840}"/>
</p:tagLst>
</file>

<file path=ppt/tags/tag76.xml><?xml version="1.0" encoding="utf-8"?>
<p:tagLst xmlns:p="http://schemas.openxmlformats.org/presentationml/2006/main">
  <p:tag name="KSO_WM_DIAGRAM_VIRTUALLY_FRAME" val="{&quot;height&quot;:280,&quot;left&quot;:60,&quot;top&quot;:130,&quot;width&quot;:840}"/>
</p:tagLst>
</file>

<file path=ppt/tags/tag77.xml><?xml version="1.0" encoding="utf-8"?>
<p:tagLst xmlns:p="http://schemas.openxmlformats.org/presentationml/2006/main">
  <p:tag name="KSO_WM_DIAGRAM_VIRTUALLY_FRAME" val="{&quot;height&quot;:280,&quot;left&quot;:60,&quot;top&quot;:130,&quot;width&quot;:840}"/>
</p:tagLst>
</file>

<file path=ppt/tags/tag78.xml><?xml version="1.0" encoding="utf-8"?>
<p:tagLst xmlns:p="http://schemas.openxmlformats.org/presentationml/2006/main">
  <p:tag name="KSO_WM_DIAGRAM_VIRTUALLY_FRAME" val="{&quot;height&quot;:280,&quot;left&quot;:60,&quot;top&quot;:130,&quot;width&quot;:840}"/>
</p:tagLst>
</file>

<file path=ppt/tags/tag79.xml><?xml version="1.0" encoding="utf-8"?>
<p:tagLst xmlns:p="http://schemas.openxmlformats.org/presentationml/2006/main">
  <p:tag name="KSO_WM_DIAGRAM_VIRTUALLY_FRAME" val="{&quot;height&quot;:280,&quot;left&quot;:60,&quot;top&quot;:130,&quot;width&quot;:840}"/>
</p:tagLst>
</file>

<file path=ppt/tags/tag80.xml><?xml version="1.0" encoding="utf-8"?>
<p:tagLst xmlns:p="http://schemas.openxmlformats.org/presentationml/2006/main">
  <p:tag name="KSO_WM_DIAGRAM_VIRTUALLY_FRAME" val="{&quot;height&quot;:280,&quot;left&quot;:60,&quot;top&quot;:130,&quot;width&quot;:840}"/>
</p:tagLst>
</file>

<file path=ppt/tags/tag81.xml><?xml version="1.0" encoding="utf-8"?>
<p:tagLst xmlns:p="http://schemas.openxmlformats.org/presentationml/2006/main">
  <p:tag name="KSO_WM_DIAGRAM_VIRTUALLY_FRAME" val="{&quot;height&quot;:280,&quot;left&quot;:60,&quot;top&quot;:130,&quot;width&quot;:840}"/>
</p:tagLst>
</file>

<file path=ppt/tags/tag82.xml><?xml version="1.0" encoding="utf-8"?>
<p:tagLst xmlns:p="http://schemas.openxmlformats.org/presentationml/2006/main">
  <p:tag name="KSO_WM_DIAGRAM_VIRTUALLY_FRAME" val="{&quot;height&quot;:280,&quot;left&quot;:60,&quot;top&quot;:130,&quot;width&quot;:840}"/>
</p:tagLst>
</file>

<file path=ppt/tags/tag83.xml><?xml version="1.0" encoding="utf-8"?>
<p:tagLst xmlns:p="http://schemas.openxmlformats.org/presentationml/2006/main">
  <p:tag name="KSO_WM_DIAGRAM_VIRTUALLY_FRAME" val="{&quot;height&quot;:280,&quot;left&quot;:60,&quot;top&quot;:130,&quot;width&quot;:840}"/>
</p:tagLst>
</file>

<file path=ppt/tags/tag84.xml><?xml version="1.0" encoding="utf-8"?>
<p:tagLst xmlns:p="http://schemas.openxmlformats.org/presentationml/2006/main">
  <p:tag name="KSO_WM_DIAGRAM_VIRTUALLY_FRAME" val="{&quot;height&quot;:280,&quot;left&quot;:60,&quot;top&quot;:130,&quot;width&quot;:840}"/>
</p:tagLst>
</file>

<file path=ppt/tags/tag85.xml><?xml version="1.0" encoding="utf-8"?>
<p:tagLst xmlns:p="http://schemas.openxmlformats.org/presentationml/2006/main">
  <p:tag name="KSO_WM_DIAGRAM_VIRTUALLY_FRAME" val="{&quot;height&quot;:280,&quot;left&quot;:60,&quot;top&quot;:110,&quot;width&quot;:840}"/>
</p:tagLst>
</file>

<file path=ppt/tags/tag86.xml><?xml version="1.0" encoding="utf-8"?>
<p:tagLst xmlns:p="http://schemas.openxmlformats.org/presentationml/2006/main">
  <p:tag name="KSO_WM_DIAGRAM_VIRTUALLY_FRAME" val="{&quot;height&quot;:280,&quot;left&quot;:60,&quot;top&quot;:110,&quot;width&quot;:840}"/>
</p:tagLst>
</file>

<file path=ppt/tags/tag87.xml><?xml version="1.0" encoding="utf-8"?>
<p:tagLst xmlns:p="http://schemas.openxmlformats.org/presentationml/2006/main">
  <p:tag name="KSO_WM_DIAGRAM_VIRTUALLY_FRAME" val="{&quot;height&quot;:280,&quot;left&quot;:60,&quot;top&quot;:110,&quot;width&quot;:840}"/>
</p:tagLst>
</file>

<file path=ppt/tags/tag88.xml><?xml version="1.0" encoding="utf-8"?>
<p:tagLst xmlns:p="http://schemas.openxmlformats.org/presentationml/2006/main">
  <p:tag name="KSO_WM_DIAGRAM_VIRTUALLY_FRAME" val="{&quot;height&quot;:280,&quot;left&quot;:60,&quot;top&quot;:110,&quot;width&quot;:840}"/>
</p:tagLst>
</file>

<file path=ppt/tags/tag89.xml><?xml version="1.0" encoding="utf-8"?>
<p:tagLst xmlns:p="http://schemas.openxmlformats.org/presentationml/2006/main">
  <p:tag name="KSO_WM_DIAGRAM_VIRTUALLY_FRAME" val="{&quot;height&quot;:280,&quot;left&quot;:60,&quot;top&quot;:110,&quot;width&quot;:840}"/>
</p:tagLst>
</file>

<file path=ppt/tags/tag90.xml><?xml version="1.0" encoding="utf-8"?>
<p:tagLst xmlns:p="http://schemas.openxmlformats.org/presentationml/2006/main">
  <p:tag name="KSO_WM_DIAGRAM_VIRTUALLY_FRAME" val="{&quot;height&quot;:280,&quot;left&quot;:60,&quot;top&quot;:110,&quot;width&quot;:840}"/>
</p:tagLst>
</file>

<file path=ppt/tags/tag91.xml><?xml version="1.0" encoding="utf-8"?>
<p:tagLst xmlns:p="http://schemas.openxmlformats.org/presentationml/2006/main">
  <p:tag name="KSO_WM_DIAGRAM_VIRTUALLY_FRAME" val="{&quot;height&quot;:280,&quot;left&quot;:60,&quot;top&quot;:110,&quot;width&quot;:840}"/>
</p:tagLst>
</file>

<file path=ppt/tags/tag92.xml><?xml version="1.0" encoding="utf-8"?>
<p:tagLst xmlns:p="http://schemas.openxmlformats.org/presentationml/2006/main">
  <p:tag name="KSO_WM_DIAGRAM_VIRTUALLY_FRAME" val="{&quot;height&quot;:280,&quot;left&quot;:60,&quot;top&quot;:110,&quot;width&quot;:840}"/>
</p:tagLst>
</file>

<file path=ppt/tags/tag93.xml><?xml version="1.0" encoding="utf-8"?>
<p:tagLst xmlns:p="http://schemas.openxmlformats.org/presentationml/2006/main">
  <p:tag name="KSO_WM_DIAGRAM_VIRTUALLY_FRAME" val="{&quot;height&quot;:280,&quot;left&quot;:60,&quot;top&quot;:110,&quot;width&quot;:840}"/>
</p:tagLst>
</file>

<file path=ppt/tags/tag94.xml><?xml version="1.0" encoding="utf-8"?>
<p:tagLst xmlns:p="http://schemas.openxmlformats.org/presentationml/2006/main">
  <p:tag name="KSO_WM_DIAGRAM_VIRTUALLY_FRAME" val="{&quot;height&quot;:280,&quot;left&quot;:60,&quot;top&quot;:110,&quot;width&quot;:840}"/>
</p:tagLst>
</file>

<file path=ppt/tags/tag95.xml><?xml version="1.0" encoding="utf-8"?>
<p:tagLst xmlns:p="http://schemas.openxmlformats.org/presentationml/2006/main">
  <p:tag name="KSO_WM_DIAGRAM_VIRTUALLY_FRAME" val="{&quot;height&quot;:280,&quot;left&quot;:60,&quot;top&quot;:110,&quot;width&quot;:840}"/>
</p:tagLst>
</file>

<file path=ppt/tags/tag96.xml><?xml version="1.0" encoding="utf-8"?>
<p:tagLst xmlns:p="http://schemas.openxmlformats.org/presentationml/2006/main">
  <p:tag name="KSO_WM_DIAGRAM_VIRTUALLY_FRAME" val="{&quot;height&quot;:280,&quot;left&quot;:60,&quot;top&quot;:110,&quot;width&quot;:840}"/>
</p:tagLst>
</file>

<file path=ppt/tags/tag97.xml><?xml version="1.0" encoding="utf-8"?>
<p:tagLst xmlns:p="http://schemas.openxmlformats.org/presentationml/2006/main">
  <p:tag name="KSO_WM_DIAGRAM_VIRTUALLY_FRAME" val="{&quot;height&quot;:280,&quot;left&quot;:60,&quot;top&quot;:110,&quot;width&quot;:840}"/>
</p:tagLst>
</file>

<file path=ppt/tags/tag98.xml><?xml version="1.0" encoding="utf-8"?>
<p:tagLst xmlns:p="http://schemas.openxmlformats.org/presentationml/2006/main">
  <p:tag name="KSO_WM_DIAGRAM_VIRTUALLY_FRAME" val="{&quot;height&quot;:280,&quot;left&quot;:60,&quot;top&quot;:110,&quot;width&quot;:840}"/>
</p:tagLst>
</file>

<file path=ppt/tags/tag99.xml><?xml version="1.0" encoding="utf-8"?>
<p:tagLst xmlns:p="http://schemas.openxmlformats.org/presentationml/2006/main">
  <p:tag name="KSO_WM_DIAGRAM_VIRTUALLY_FRAME" val="{&quot;height&quot;:290,&quot;left&quot;:60,&quot;top&quot;:120,&quot;width&quot;:840}"/>
</p:tagLst>
</file>

<file path=ppt/tags/tag100.xml><?xml version="1.0" encoding="utf-8"?>
<p:tagLst xmlns:p="http://schemas.openxmlformats.org/presentationml/2006/main">
  <p:tag name="KSO_WM_DIAGRAM_VIRTUALLY_FRAME" val="{&quot;height&quot;:290,&quot;left&quot;:60,&quot;top&quot;:120,&quot;width&quot;:840}"/>
</p:tagLst>
</file>

<file path=ppt/tags/tag101.xml><?xml version="1.0" encoding="utf-8"?>
<p:tagLst xmlns:p="http://schemas.openxmlformats.org/presentationml/2006/main">
  <p:tag name="KSO_WM_DIAGRAM_VIRTUALLY_FRAME" val="{&quot;height&quot;:290,&quot;left&quot;:60,&quot;top&quot;:120,&quot;width&quot;:840}"/>
</p:tagLst>
</file>

<file path=ppt/tags/tag102.xml><?xml version="1.0" encoding="utf-8"?>
<p:tagLst xmlns:p="http://schemas.openxmlformats.org/presentationml/2006/main">
  <p:tag name="KSO_WM_DIAGRAM_VIRTUALLY_FRAME" val="{&quot;height&quot;:290,&quot;left&quot;:60,&quot;top&quot;:120,&quot;width&quot;:840}"/>
</p:tagLst>
</file>

<file path=ppt/tags/tag103.xml><?xml version="1.0" encoding="utf-8"?>
<p:tagLst xmlns:p="http://schemas.openxmlformats.org/presentationml/2006/main">
  <p:tag name="KSO_WM_DIAGRAM_VIRTUALLY_FRAME" val="{&quot;height&quot;:290,&quot;left&quot;:60,&quot;top&quot;:120,&quot;width&quot;:840}"/>
</p:tagLst>
</file>

<file path=ppt/tags/tag104.xml><?xml version="1.0" encoding="utf-8"?>
<p:tagLst xmlns:p="http://schemas.openxmlformats.org/presentationml/2006/main">
  <p:tag name="KSO_WM_DIAGRAM_VIRTUALLY_FRAME" val="{&quot;height&quot;:290,&quot;left&quot;:60,&quot;top&quot;:120,&quot;width&quot;:840}"/>
</p:tagLst>
</file>

<file path=ppt/tags/tag105.xml><?xml version="1.0" encoding="utf-8"?>
<p:tagLst xmlns:p="http://schemas.openxmlformats.org/presentationml/2006/main">
  <p:tag name="KSO_WM_DIAGRAM_VIRTUALLY_FRAME" val="{&quot;height&quot;:290,&quot;left&quot;:60,&quot;top&quot;:120,&quot;width&quot;:840}"/>
</p:tagLst>
</file>

<file path=ppt/tags/tag106.xml><?xml version="1.0" encoding="utf-8"?>
<p:tagLst xmlns:p="http://schemas.openxmlformats.org/presentationml/2006/main">
  <p:tag name="KSO_WM_DIAGRAM_VIRTUALLY_FRAME" val="{&quot;height&quot;:290,&quot;left&quot;:60,&quot;top&quot;:120,&quot;width&quot;:840}"/>
</p:tagLst>
</file>

<file path=ppt/tags/tag107.xml><?xml version="1.0" encoding="utf-8"?>
<p:tagLst xmlns:p="http://schemas.openxmlformats.org/presentationml/2006/main">
  <p:tag name="KSO_WM_DIAGRAM_VIRTUALLY_FRAME" val="{&quot;height&quot;:290,&quot;left&quot;:60,&quot;top&quot;:120,&quot;width&quot;:840}"/>
</p:tagLst>
</file>

<file path=ppt/tags/tag108.xml><?xml version="1.0" encoding="utf-8"?>
<p:tagLst xmlns:p="http://schemas.openxmlformats.org/presentationml/2006/main">
  <p:tag name="KSO_WM_DIAGRAM_VIRTUALLY_FRAME" val="{&quot;height&quot;:290,&quot;left&quot;:60,&quot;top&quot;:120,&quot;width&quot;:840}"/>
</p:tagLst>
</file>

<file path=ppt/tags/tag109.xml><?xml version="1.0" encoding="utf-8"?>
<p:tagLst xmlns:p="http://schemas.openxmlformats.org/presentationml/2006/main">
  <p:tag name="KSO_WM_DIAGRAM_VIRTUALLY_FRAME" val="{&quot;height&quot;:290,&quot;left&quot;:60,&quot;top&quot;:120,&quot;width&quot;:840}"/>
</p:tagLst>
</file>

<file path=ppt/tags/tag110.xml><?xml version="1.0" encoding="utf-8"?>
<p:tagLst xmlns:p="http://schemas.openxmlformats.org/presentationml/2006/main">
  <p:tag name="KSO_WM_DIAGRAM_VIRTUALLY_FRAME" val="{&quot;height&quot;:290,&quot;left&quot;:60,&quot;top&quot;:120,&quot;width&quot;:840}"/>
</p:tagLst>
</file>

<file path=ppt/tags/tag111.xml><?xml version="1.0" encoding="utf-8"?>
<p:tagLst xmlns:p="http://schemas.openxmlformats.org/presentationml/2006/main">
  <p:tag name="KSO_WM_DIAGRAM_VIRTUALLY_FRAME" val="{&quot;height&quot;:380,&quot;left&quot;:60,&quot;top&quot;:120,&quot;width&quot;:840}"/>
</p:tagLst>
</file>

<file path=ppt/tags/tag112.xml><?xml version="1.0" encoding="utf-8"?>
<p:tagLst xmlns:p="http://schemas.openxmlformats.org/presentationml/2006/main">
  <p:tag name="KSO_WM_DIAGRAM_VIRTUALLY_FRAME" val="{&quot;height&quot;:380,&quot;left&quot;:60,&quot;top&quot;:120,&quot;width&quot;:840}"/>
</p:tagLst>
</file>

<file path=ppt/tags/tag113.xml><?xml version="1.0" encoding="utf-8"?>
<p:tagLst xmlns:p="http://schemas.openxmlformats.org/presentationml/2006/main">
  <p:tag name="KSO_WM_DIAGRAM_VIRTUALLY_FRAME" val="{&quot;height&quot;:380,&quot;left&quot;:60,&quot;top&quot;:120,&quot;width&quot;:840}"/>
</p:tagLst>
</file>

<file path=ppt/tags/tag114.xml><?xml version="1.0" encoding="utf-8"?>
<p:tagLst xmlns:p="http://schemas.openxmlformats.org/presentationml/2006/main">
  <p:tag name="KSO_WM_DIAGRAM_VIRTUALLY_FRAME" val="{&quot;height&quot;:380,&quot;left&quot;:60,&quot;top&quot;:120,&quot;width&quot;:840}"/>
</p:tagLst>
</file>

<file path=ppt/tags/tag115.xml><?xml version="1.0" encoding="utf-8"?>
<p:tagLst xmlns:p="http://schemas.openxmlformats.org/presentationml/2006/main">
  <p:tag name="KSO_WM_DIAGRAM_VIRTUALLY_FRAME" val="{&quot;height&quot;:380,&quot;left&quot;:60,&quot;top&quot;:120,&quot;width&quot;:840}"/>
</p:tagLst>
</file>

<file path=ppt/tags/tag116.xml><?xml version="1.0" encoding="utf-8"?>
<p:tagLst xmlns:p="http://schemas.openxmlformats.org/presentationml/2006/main">
  <p:tag name="KSO_WM_DIAGRAM_VIRTUALLY_FRAME" val="{&quot;height&quot;:380,&quot;left&quot;:60,&quot;top&quot;:120,&quot;width&quot;:840}"/>
</p:tagLst>
</file>

<file path=ppt/tags/tag117.xml><?xml version="1.0" encoding="utf-8"?>
<p:tagLst xmlns:p="http://schemas.openxmlformats.org/presentationml/2006/main">
  <p:tag name="KSO_WM_DIAGRAM_VIRTUALLY_FRAME" val="{&quot;height&quot;:380,&quot;left&quot;:60,&quot;top&quot;:120,&quot;width&quot;:840}"/>
</p:tagLst>
</file>

<file path=ppt/tags/tag118.xml><?xml version="1.0" encoding="utf-8"?>
<p:tagLst xmlns:p="http://schemas.openxmlformats.org/presentationml/2006/main">
  <p:tag name="KSO_WM_DIAGRAM_VIRTUALLY_FRAME" val="{&quot;height&quot;:380,&quot;left&quot;:60,&quot;top&quot;:120,&quot;width&quot;:840}"/>
</p:tagLst>
</file>

<file path=ppt/tags/tag119.xml><?xml version="1.0" encoding="utf-8"?>
<p:tagLst xmlns:p="http://schemas.openxmlformats.org/presentationml/2006/main">
  <p:tag name="KSO_WM_DIAGRAM_VIRTUALLY_FRAME" val="{&quot;height&quot;:380,&quot;left&quot;:60,&quot;top&quot;:120,&quot;width&quot;:840}"/>
</p:tagLst>
</file>

<file path=ppt/tags/tag120.xml><?xml version="1.0" encoding="utf-8"?>
<p:tagLst xmlns:p="http://schemas.openxmlformats.org/presentationml/2006/main">
  <p:tag name="KSO_WM_DIAGRAM_VIRTUALLY_FRAME" val="{&quot;height&quot;:380,&quot;left&quot;:60,&quot;top&quot;:120,&quot;width&quot;:840}"/>
</p:tagLst>
</file>

<file path=ppt/tags/tag121.xml><?xml version="1.0" encoding="utf-8"?>
<p:tagLst xmlns:p="http://schemas.openxmlformats.org/presentationml/2006/main">
  <p:tag name="KSO_WM_DIAGRAM_VIRTUALLY_FRAME" val="{&quot;height&quot;:380,&quot;left&quot;:60,&quot;top&quot;:120,&quot;width&quot;:840}"/>
</p:tagLst>
</file>

<file path=ppt/tags/tag122.xml><?xml version="1.0" encoding="utf-8"?>
<p:tagLst xmlns:p="http://schemas.openxmlformats.org/presentationml/2006/main">
  <p:tag name="KSO_WM_DIAGRAM_VIRTUALLY_FRAME" val="{&quot;height&quot;:380,&quot;left&quot;:60,&quot;top&quot;:120,&quot;width&quot;:840}"/>
</p:tagLst>
</file>

<file path=ppt/tags/tag123.xml><?xml version="1.0" encoding="utf-8"?>
<p:tagLst xmlns:p="http://schemas.openxmlformats.org/presentationml/2006/main">
  <p:tag name="KSO_WM_DIAGRAM_VIRTUALLY_FRAME" val="{&quot;height&quot;:130,&quot;left&quot;:60,&quot;top&quot;:190,&quot;width&quot;:840}"/>
</p:tagLst>
</file>

<file path=ppt/tags/tag124.xml><?xml version="1.0" encoding="utf-8"?>
<p:tagLst xmlns:p="http://schemas.openxmlformats.org/presentationml/2006/main">
  <p:tag name="KSO_WM_DIAGRAM_VIRTUALLY_FRAME" val="{&quot;height&quot;:130,&quot;left&quot;:60,&quot;top&quot;:190,&quot;width&quot;:840}"/>
</p:tagLst>
</file>

<file path=ppt/tags/tag125.xml><?xml version="1.0" encoding="utf-8"?>
<p:tagLst xmlns:p="http://schemas.openxmlformats.org/presentationml/2006/main">
  <p:tag name="KSO_WM_DIAGRAM_VIRTUALLY_FRAME" val="{&quot;height&quot;:130,&quot;left&quot;:60,&quot;top&quot;:190,&quot;width&quot;:840}"/>
</p:tagLst>
</file>

<file path=ppt/tags/tag126.xml><?xml version="1.0" encoding="utf-8"?>
<p:tagLst xmlns:p="http://schemas.openxmlformats.org/presentationml/2006/main">
  <p:tag name="KSO_WM_DIAGRAM_VIRTUALLY_FRAME" val="{&quot;height&quot;:130,&quot;left&quot;:60,&quot;top&quot;:190,&quot;width&quot;:840}"/>
</p:tagLst>
</file>

<file path=ppt/tags/tag127.xml><?xml version="1.0" encoding="utf-8"?>
<p:tagLst xmlns:p="http://schemas.openxmlformats.org/presentationml/2006/main">
  <p:tag name="KSO_WM_DIAGRAM_VIRTUALLY_FRAME" val="{&quot;height&quot;:130,&quot;left&quot;:60,&quot;top&quot;:190,&quot;width&quot;:840}"/>
</p:tagLst>
</file>

<file path=ppt/tags/tag128.xml><?xml version="1.0" encoding="utf-8"?>
<p:tagLst xmlns:p="http://schemas.openxmlformats.org/presentationml/2006/main">
  <p:tag name="KSO_WM_DIAGRAM_VIRTUALLY_FRAME" val="{&quot;height&quot;:130,&quot;left&quot;:60,&quot;top&quot;:190,&quot;width&quot;:840}"/>
</p:tagLst>
</file>

<file path=ppt/tags/tag129.xml><?xml version="1.0" encoding="utf-8"?>
<p:tagLst xmlns:p="http://schemas.openxmlformats.org/presentationml/2006/main">
  <p:tag name="KSO_WM_DIAGRAM_VIRTUALLY_FRAME" val="{&quot;height&quot;:130,&quot;left&quot;:60,&quot;top&quot;:190,&quot;width&quot;:840}"/>
</p:tagLst>
</file>

<file path=ppt/tags/tag130.xml><?xml version="1.0" encoding="utf-8"?>
<p:tagLst xmlns:p="http://schemas.openxmlformats.org/presentationml/2006/main">
  <p:tag name="KSO_WM_DIAGRAM_VIRTUALLY_FRAME" val="{&quot;height&quot;:130,&quot;left&quot;:60,&quot;top&quot;:190,&quot;width&quot;:840}"/>
</p:tagLst>
</file>

<file path=ppt/tags/tag131.xml><?xml version="1.0" encoding="utf-8"?>
<p:tagLst xmlns:p="http://schemas.openxmlformats.org/presentationml/2006/main">
  <p:tag name="KSO_WM_DIAGRAM_VIRTUALLY_FRAME" val="{&quot;height&quot;:130,&quot;left&quot;:60,&quot;top&quot;:190,&quot;width&quot;:840}"/>
</p:tagLst>
</file>

<file path=ppt/tags/tag132.xml><?xml version="1.0" encoding="utf-8"?>
<p:tagLst xmlns:p="http://schemas.openxmlformats.org/presentationml/2006/main">
  <p:tag name="KSO_WM_DIAGRAM_VIRTUALLY_FRAME" val="{&quot;height&quot;:380,&quot;left&quot;:17.85,&quot;top&quot;:120,&quot;width&quot;:882.15}"/>
</p:tagLst>
</file>

<file path=ppt/tags/tag133.xml><?xml version="1.0" encoding="utf-8"?>
<p:tagLst xmlns:p="http://schemas.openxmlformats.org/presentationml/2006/main">
  <p:tag name="KSO_WM_DIAGRAM_VIRTUALLY_FRAME" val="{&quot;height&quot;:380,&quot;left&quot;:17.85,&quot;top&quot;:120,&quot;width&quot;:882.15}"/>
</p:tagLst>
</file>

<file path=ppt/tags/tag134.xml><?xml version="1.0" encoding="utf-8"?>
<p:tagLst xmlns:p="http://schemas.openxmlformats.org/presentationml/2006/main">
  <p:tag name="KSO_WM_DIAGRAM_VIRTUALLY_FRAME" val="{&quot;height&quot;:380,&quot;left&quot;:17.85,&quot;top&quot;:120,&quot;width&quot;:882.15}"/>
</p:tagLst>
</file>

<file path=ppt/tags/tag135.xml><?xml version="1.0" encoding="utf-8"?>
<p:tagLst xmlns:p="http://schemas.openxmlformats.org/presentationml/2006/main">
  <p:tag name="KSO_WM_DIAGRAM_VIRTUALLY_FRAME" val="{&quot;height&quot;:380,&quot;left&quot;:17.85,&quot;top&quot;:120,&quot;width&quot;:882.15}"/>
</p:tagLst>
</file>

<file path=ppt/tags/tag136.xml><?xml version="1.0" encoding="utf-8"?>
<p:tagLst xmlns:p="http://schemas.openxmlformats.org/presentationml/2006/main">
  <p:tag name="KSO_WM_DIAGRAM_VIRTUALLY_FRAME" val="{&quot;height&quot;:380,&quot;left&quot;:17.85,&quot;top&quot;:120,&quot;width&quot;:882.15}"/>
</p:tagLst>
</file>

<file path=ppt/tags/tag137.xml><?xml version="1.0" encoding="utf-8"?>
<p:tagLst xmlns:p="http://schemas.openxmlformats.org/presentationml/2006/main">
  <p:tag name="KSO_WM_DIAGRAM_VIRTUALLY_FRAME" val="{&quot;height&quot;:380,&quot;left&quot;:17.85,&quot;top&quot;:120,&quot;width&quot;:882.15}"/>
</p:tagLst>
</file>

<file path=ppt/tags/tag138.xml><?xml version="1.0" encoding="utf-8"?>
<p:tagLst xmlns:p="http://schemas.openxmlformats.org/presentationml/2006/main">
  <p:tag name="KSO_WM_DIAGRAM_VIRTUALLY_FRAME" val="{&quot;height&quot;:380,&quot;left&quot;:17.85,&quot;top&quot;:120,&quot;width&quot;:882.15}"/>
</p:tagLst>
</file>

<file path=ppt/tags/tag139.xml><?xml version="1.0" encoding="utf-8"?>
<p:tagLst xmlns:p="http://schemas.openxmlformats.org/presentationml/2006/main">
  <p:tag name="KSO_WM_DIAGRAM_VIRTUALLY_FRAME" val="{&quot;height&quot;:380,&quot;left&quot;:17.85,&quot;top&quot;:120,&quot;width&quot;:882.15}"/>
</p:tagLst>
</file>

<file path=ppt/tags/tag140.xml><?xml version="1.0" encoding="utf-8"?>
<p:tagLst xmlns:p="http://schemas.openxmlformats.org/presentationml/2006/main">
  <p:tag name="KSO_WM_DIAGRAM_VIRTUALLY_FRAME" val="{&quot;height&quot;:380,&quot;left&quot;:17.85,&quot;top&quot;:120,&quot;width&quot;:882.15}"/>
</p:tagLst>
</file>

<file path=ppt/tags/tag141.xml><?xml version="1.0" encoding="utf-8"?>
<p:tagLst xmlns:p="http://schemas.openxmlformats.org/presentationml/2006/main">
  <p:tag name="KSO_WM_DIAGRAM_VIRTUALLY_FRAME" val="{&quot;height&quot;:380,&quot;left&quot;:17.85,&quot;top&quot;:120,&quot;width&quot;:882.15}"/>
</p:tagLst>
</file>

<file path=ppt/tags/tag142.xml><?xml version="1.0" encoding="utf-8"?>
<p:tagLst xmlns:p="http://schemas.openxmlformats.org/presentationml/2006/main">
  <p:tag name="KSO_WM_DIAGRAM_VIRTUALLY_FRAME" val="{&quot;height&quot;:380,&quot;left&quot;:17.85,&quot;top&quot;:120,&quot;width&quot;:882.15}"/>
</p:tagLst>
</file>

<file path=ppt/tags/tag143.xml><?xml version="1.0" encoding="utf-8"?>
<p:tagLst xmlns:p="http://schemas.openxmlformats.org/presentationml/2006/main">
  <p:tag name="KSO_WM_DIAGRAM_VIRTUALLY_FRAME" val="{&quot;height&quot;:380,&quot;left&quot;:17.85,&quot;top&quot;:120,&quot;width&quot;:882.15}"/>
</p:tagLst>
</file>

<file path=ppt/tags/tag144.xml><?xml version="1.0" encoding="utf-8"?>
<p:tagLst xmlns:p="http://schemas.openxmlformats.org/presentationml/2006/main">
  <p:tag name="KSO_WM_DIAGRAM_VIRTUALLY_FRAME" val="{&quot;height&quot;:380,&quot;left&quot;:17.85,&quot;top&quot;:120,&quot;width&quot;:882.1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10406</Words>
  <Application>WPS 演示</Application>
  <PresentationFormat/>
  <Paragraphs>879</Paragraphs>
  <Slides>39</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39</vt:i4>
      </vt:variant>
    </vt:vector>
  </HeadingPairs>
  <TitlesOfParts>
    <vt:vector size="52" baseType="lpstr">
      <vt:lpstr>Arial</vt:lpstr>
      <vt:lpstr>宋体</vt:lpstr>
      <vt:lpstr>Wingdings</vt:lpstr>
      <vt:lpstr>Arial</vt:lpstr>
      <vt:lpstr>Noto Sans SC</vt:lpstr>
      <vt:lpstr>Times New Roman</vt:lpstr>
      <vt:lpstr>Wingdings</vt:lpstr>
      <vt:lpstr>微软雅黑</vt:lpstr>
      <vt:lpstr>Arial Unicode MS</vt:lpstr>
      <vt:lpstr>Cambria Math</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Droye</cp:lastModifiedBy>
  <cp:revision>12</cp:revision>
  <dcterms:created xsi:type="dcterms:W3CDTF">2026-04-10T07:30:00Z</dcterms:created>
  <dcterms:modified xsi:type="dcterms:W3CDTF">2026-04-12T06:41:37Z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B86C56D5ECFA4F7189005A2D37FED728_12</vt:lpwstr>
  </property>
</Properties>
</file>