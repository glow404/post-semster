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8" r:id="rId3"/>
    <p:sldId id="279" r:id="rId5"/>
    <p:sldId id="260" r:id="rId6"/>
    <p:sldId id="262" r:id="rId7"/>
    <p:sldId id="263" r:id="rId8"/>
    <p:sldId id="300" r:id="rId9"/>
    <p:sldId id="264" r:id="rId10"/>
    <p:sldId id="296" r:id="rId11"/>
    <p:sldId id="265" r:id="rId12"/>
    <p:sldId id="297" r:id="rId13"/>
    <p:sldId id="277" r:id="rId14"/>
    <p:sldId id="298" r:id="rId15"/>
    <p:sldId id="267" r:id="rId16"/>
    <p:sldId id="270" r:id="rId17"/>
    <p:sldId id="299" r:id="rId18"/>
    <p:sldId id="295" r:id="rId19"/>
    <p:sldId id="282" r:id="rId20"/>
    <p:sldId id="289" r:id="rId21"/>
    <p:sldId id="288" r:id="rId22"/>
    <p:sldId id="286" r:id="rId23"/>
    <p:sldId id="287" r:id="rId24"/>
    <p:sldId id="283" r:id="rId25"/>
    <p:sldId id="290" r:id="rId26"/>
    <p:sldId id="291" r:id="rId27"/>
    <p:sldId id="292" r:id="rId28"/>
    <p:sldId id="294" r:id="rId29"/>
    <p:sldId id="293" r:id="rId30"/>
  </p:sldIdLst>
  <p:sldSz cx="12192000" cy="6858000"/>
  <p:notesSz cx="6858000" cy="9144000"/>
  <p:embeddedFontLst>
    <p:embeddedFont>
      <p:font typeface="Berlin Sans FB Demi" panose="020E0802020502020306" pitchFamily="34" charset="0"/>
      <p:bold r:id="rId35"/>
    </p:embeddedFont>
    <p:embeddedFont>
      <p:font typeface="Calibri" panose="020F0502020204030204" charset="0"/>
      <p:regular r:id="rId36"/>
      <p:bold r:id="rId37"/>
      <p:italic r:id="rId38"/>
      <p:boldItalic r:id="rId39"/>
    </p:embeddedFont>
    <p:embeddedFont>
      <p:font typeface="Noto Sans SC" panose="020B0200000000000000" pitchFamily="34" charset="-120"/>
      <p:regular r:id="rId40"/>
    </p:embeddedFont>
    <p:embeddedFont>
      <p:font typeface="微软雅黑" panose="020B0503020204020204" charset="-122"/>
      <p:regular r:id="rId41"/>
    </p:embeddedFont>
    <p:embeddedFont>
      <p:font typeface="Noto Sans SC" panose="020B0200000000000000" pitchFamily="34" charset="-122"/>
      <p:regular r:id="rId42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ueqing Liu" initials="XL" lastIdx="34" clrIdx="0"/>
  <p:cmAuthor id="2" name="Shang, Jingbo" initials="SJ" lastIdx="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7A96"/>
    <a:srgbClr val="FAFAFA"/>
    <a:srgbClr val="EEF1F4"/>
    <a:srgbClr val="FFFFFF"/>
    <a:srgbClr val="DCDCDC"/>
    <a:srgbClr val="F0F0F0"/>
    <a:srgbClr val="E6E6E6"/>
    <a:srgbClr val="C8C8C8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2" Type="http://schemas.openxmlformats.org/officeDocument/2006/relationships/font" Target="fonts/font8.fntdata"/><Relationship Id="rId41" Type="http://schemas.openxmlformats.org/officeDocument/2006/relationships/font" Target="fonts/font7.fntdata"/><Relationship Id="rId4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5.fntdata"/><Relationship Id="rId38" Type="http://schemas.openxmlformats.org/officeDocument/2006/relationships/font" Target="fonts/font4.fntdata"/><Relationship Id="rId37" Type="http://schemas.openxmlformats.org/officeDocument/2006/relationships/font" Target="fonts/font3.fntdata"/><Relationship Id="rId36" Type="http://schemas.openxmlformats.org/officeDocument/2006/relationships/font" Target="fonts/font2.fntdata"/><Relationship Id="rId35" Type="http://schemas.openxmlformats.org/officeDocument/2006/relationships/font" Target="fonts/font1.fntdata"/><Relationship Id="rId34" Type="http://schemas.openxmlformats.org/officeDocument/2006/relationships/commentAuthors" Target="commentAuthors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fld id="{BF947792-BF46-405C-86E9-4DC33AF8A072}" type="slidenum">
              <a:rPr lang="en-US" altLang="en-US">
                <a:solidFill>
                  <a:prstClr val="black"/>
                </a:solidFill>
              </a:rPr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fld id="{BF947792-BF46-405C-86E9-4DC33AF8A072}" type="slidenum">
              <a:rPr lang="en-US" altLang="en-US">
                <a:solidFill>
                  <a:prstClr val="black"/>
                </a:solidFill>
              </a:rPr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218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CDA057-A07F-498D-8BAA-5C2D046C082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218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CDA057-A07F-498D-8BAA-5C2D046C082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218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CDA057-A07F-498D-8BAA-5C2D046C082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218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CDA057-A07F-498D-8BAA-5C2D046C082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218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CDA057-A07F-498D-8BAA-5C2D046C082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218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CDA057-A07F-498D-8BAA-5C2D046C082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218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CDA057-A07F-498D-8BAA-5C2D046C082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218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CDA057-A07F-498D-8BAA-5C2D046C082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218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CDA057-A07F-498D-8BAA-5C2D046C082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218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CDA057-A07F-498D-8BAA-5C2D046C082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218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CDA057-A07F-498D-8BAA-5C2D046C082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218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CDA057-A07F-498D-8BAA-5C2D046C082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218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CDA057-A07F-498D-8BAA-5C2D046C082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218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CDA057-A07F-498D-8BAA-5C2D046C082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218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CDA057-A07F-498D-8BAA-5C2D046C082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218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CDA057-A07F-498D-8BAA-5C2D046C082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218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CDA057-A07F-498D-8BAA-5C2D046C082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218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CDA057-A07F-498D-8BAA-5C2D046C082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218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CDA057-A07F-498D-8BAA-5C2D046C082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218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CDA057-A07F-498D-8BAA-5C2D046C082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218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CDA057-A07F-498D-8BAA-5C2D046C082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218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CDA057-A07F-498D-8BAA-5C2D046C082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218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CDA057-A07F-498D-8BAA-5C2D046C082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218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CDA057-A07F-498D-8BAA-5C2D046C082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218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CDA057-A07F-498D-8BAA-5C2D046C082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4500" y="2343945"/>
            <a:ext cx="11303000" cy="1034256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6600" spc="-51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95871" y="3529775"/>
            <a:ext cx="10058400" cy="782070"/>
          </a:xfrm>
        </p:spPr>
        <p:txBody>
          <a:bodyPr lIns="91436" rIns="91436">
            <a:normAutofit/>
          </a:bodyPr>
          <a:lstStyle>
            <a:lvl1pPr marL="0" indent="0" algn="ctr">
              <a:buNone/>
              <a:defRPr sz="2400" b="1" cap="none" spc="200" baseline="0">
                <a:solidFill>
                  <a:schemeClr val="tx1"/>
                </a:solidFill>
                <a:latin typeface="Berlin Sans FB Demi" panose="020E0802020502020306" pitchFamily="34" charset="0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" y="0"/>
            <a:ext cx="12244106" cy="228147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" y="4463419"/>
            <a:ext cx="12192000" cy="23961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985" y="221676"/>
            <a:ext cx="11369963" cy="738909"/>
          </a:xfrm>
        </p:spPr>
        <p:txBody>
          <a:bodyPr/>
          <a:lstStyle>
            <a:lvl1pPr marL="0">
              <a:defRPr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983" y="1219200"/>
            <a:ext cx="11406908" cy="5384800"/>
          </a:xfrm>
        </p:spPr>
        <p:txBody>
          <a:bodyPr/>
          <a:lstStyle>
            <a:lvl1pPr marL="461645" indent="-461645">
              <a:defRPr sz="2800"/>
            </a:lvl1pPr>
            <a:lvl2pPr marL="737870" indent="-537845">
              <a:defRPr sz="2800"/>
            </a:lvl2pPr>
            <a:lvl3pPr marL="858520" indent="-474345">
              <a:defRPr sz="2800"/>
            </a:lvl3pPr>
            <a:lvl4pPr marL="1144270" indent="-521970">
              <a:defRPr sz="2800"/>
            </a:lvl4pPr>
            <a:lvl5pPr marL="1376045" indent="-508000">
              <a:defRPr sz="28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 Third level</a:t>
            </a:r>
            <a:endParaRPr lang="en-US" dirty="0"/>
          </a:p>
          <a:p>
            <a:pPr lvl="3"/>
            <a:r>
              <a:rPr lang="en-US" dirty="0"/>
              <a:t> Fourth level</a:t>
            </a:r>
            <a:endParaRPr lang="en-US" dirty="0"/>
          </a:p>
          <a:p>
            <a:pPr lvl="4"/>
            <a:r>
              <a:rPr lang="en-US" dirty="0"/>
              <a:t> 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59"/>
          <p:cNvSpPr>
            <a:spLocks noGrp="1" noChangeArrowheads="1"/>
          </p:cNvSpPr>
          <p:nvPr>
            <p:ph type="dt" sz="half" idx="10"/>
          </p:nvPr>
        </p:nvSpPr>
        <p:spPr>
          <a:xfrm>
            <a:off x="203200" y="6324600"/>
            <a:ext cx="2540000" cy="5334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951A89-488A-40F4-925D-3A8D716DC85C}" type="datetime4">
              <a:rPr lang="en-US"/>
            </a:fld>
            <a:endParaRPr lang="en-US"/>
          </a:p>
        </p:txBody>
      </p:sp>
      <p:sp>
        <p:nvSpPr>
          <p:cNvPr id="3" name="Rectangle 2060"/>
          <p:cNvSpPr>
            <a:spLocks noGrp="1" noChangeArrowheads="1"/>
          </p:cNvSpPr>
          <p:nvPr>
            <p:ph type="ftr" sz="quarter" idx="11"/>
          </p:nvPr>
        </p:nvSpPr>
        <p:spPr>
          <a:xfrm>
            <a:off x="4267200" y="6324600"/>
            <a:ext cx="3860800" cy="5334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  <a:endParaRPr lang="en-US"/>
          </a:p>
        </p:txBody>
      </p:sp>
      <p:sp>
        <p:nvSpPr>
          <p:cNvPr id="4" name="Rectangle 206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652000" y="64008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37563FD-6697-45D1-A120-28B4ECD11418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81000"/>
            <a:ext cx="11074400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08000" y="1371600"/>
            <a:ext cx="54864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371600"/>
            <a:ext cx="54864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2059"/>
          <p:cNvSpPr>
            <a:spLocks noGrp="1" noChangeArrowheads="1"/>
          </p:cNvSpPr>
          <p:nvPr>
            <p:ph type="dt" sz="half" idx="10"/>
          </p:nvPr>
        </p:nvSpPr>
        <p:spPr>
          <a:xfrm>
            <a:off x="406400" y="6477000"/>
            <a:ext cx="25400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0FFBA9-6F95-4F70-A0C1-45366D5DB750}" type="datetime4">
              <a:rPr lang="en-US"/>
            </a:fld>
            <a:endParaRPr lang="en-US"/>
          </a:p>
        </p:txBody>
      </p:sp>
      <p:sp>
        <p:nvSpPr>
          <p:cNvPr id="6" name="Rectangle 2060"/>
          <p:cNvSpPr>
            <a:spLocks noGrp="1" noChangeArrowheads="1"/>
          </p:cNvSpPr>
          <p:nvPr>
            <p:ph type="ftr" sz="quarter" idx="11"/>
          </p:nvPr>
        </p:nvSpPr>
        <p:spPr>
          <a:xfrm>
            <a:off x="4470400" y="6477000"/>
            <a:ext cx="3860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  <a:endParaRPr lang="en-US"/>
          </a:p>
        </p:txBody>
      </p:sp>
      <p:sp>
        <p:nvSpPr>
          <p:cNvPr id="7" name="Rectangle 206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652000" y="6477000"/>
            <a:ext cx="25400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3B0B6D57-B021-463B-8D62-09A83E2EE1F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 spd="med"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81000"/>
            <a:ext cx="11074400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08000" y="1371600"/>
            <a:ext cx="54864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3716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40005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Rectangle 2059"/>
          <p:cNvSpPr>
            <a:spLocks noGrp="1" noChangeArrowheads="1"/>
          </p:cNvSpPr>
          <p:nvPr>
            <p:ph type="dt" sz="half" idx="10"/>
          </p:nvPr>
        </p:nvSpPr>
        <p:spPr>
          <a:xfrm>
            <a:off x="406400" y="6477000"/>
            <a:ext cx="25400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3EE658-57DF-4B39-B118-E03A2B79081A}" type="datetime4">
              <a:rPr lang="en-US"/>
            </a:fld>
            <a:endParaRPr lang="en-US"/>
          </a:p>
        </p:txBody>
      </p:sp>
      <p:sp>
        <p:nvSpPr>
          <p:cNvPr id="7" name="Rectangle 2060"/>
          <p:cNvSpPr>
            <a:spLocks noGrp="1" noChangeArrowheads="1"/>
          </p:cNvSpPr>
          <p:nvPr>
            <p:ph type="ftr" sz="quarter" idx="11"/>
          </p:nvPr>
        </p:nvSpPr>
        <p:spPr>
          <a:xfrm>
            <a:off x="4470400" y="6477000"/>
            <a:ext cx="3860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  <a:endParaRPr lang="en-US"/>
          </a:p>
        </p:txBody>
      </p:sp>
      <p:sp>
        <p:nvSpPr>
          <p:cNvPr id="8" name="Rectangle 206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652000" y="6477000"/>
            <a:ext cx="25400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B9DA83-A2E4-4BB2-82C9-33E7C7455EB3}" type="slidenum">
              <a:rPr lang="en-US"/>
            </a:fld>
            <a:endParaRPr lang="en-US"/>
          </a:p>
        </p:txBody>
      </p:sp>
    </p:spTree>
  </p:cSld>
  <p:clrMapOvr>
    <a:masterClrMapping/>
  </p:clrMapOvr>
  <p:transition spd="med"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6400" y="1371600"/>
            <a:ext cx="55372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46800" y="1371600"/>
            <a:ext cx="55372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2061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9652000" y="6477000"/>
            <a:ext cx="25400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2936636E-AA82-48A0-9724-8B30587E83AF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2061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9652000" y="6477000"/>
            <a:ext cx="25400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7E9CF88-D109-4A11-9C8C-9AA1CCFBA93C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381000"/>
            <a:ext cx="11203517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6400" y="1371600"/>
            <a:ext cx="112776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6400" y="4000500"/>
            <a:ext cx="112776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2061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9652000" y="6477000"/>
            <a:ext cx="25400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8B188AE-0E67-4EDB-ADA3-3959A28F2472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0985" y="286607"/>
            <a:ext cx="11369963" cy="673979"/>
          </a:xfrm>
          <a:prstGeom prst="rect">
            <a:avLst/>
          </a:prstGeom>
        </p:spPr>
        <p:txBody>
          <a:bodyPr vert="horz" lIns="91436" tIns="45718" rIns="91436" bIns="45718" rtlCol="0" anchor="b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0983" y="1219203"/>
            <a:ext cx="11406908" cy="5209309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/>
          <a:p>
            <a:pPr lvl="0"/>
            <a:r>
              <a:rPr lang="en-US" dirty="0"/>
              <a:t> Click to edit Master text styles</a:t>
            </a:r>
            <a:endParaRPr lang="en-US" dirty="0"/>
          </a:p>
          <a:p>
            <a:pPr lvl="1"/>
            <a:r>
              <a:rPr lang="en-US" dirty="0"/>
              <a:t> Second level</a:t>
            </a:r>
            <a:endParaRPr lang="en-US" dirty="0"/>
          </a:p>
          <a:p>
            <a:pPr lvl="2"/>
            <a:r>
              <a:rPr lang="en-US" dirty="0"/>
              <a:t> Third level</a:t>
            </a:r>
            <a:endParaRPr lang="en-US" dirty="0"/>
          </a:p>
          <a:p>
            <a:pPr lvl="3"/>
            <a:r>
              <a:rPr lang="en-US" dirty="0"/>
              <a:t> Fourth level</a:t>
            </a:r>
            <a:endParaRPr lang="en-US" dirty="0"/>
          </a:p>
          <a:p>
            <a:pPr lvl="4"/>
            <a:r>
              <a:rPr lang="en-US" dirty="0"/>
              <a:t> Fifth level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91131" y="1100537"/>
            <a:ext cx="109728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/>
          <p:cNvSpPr txBox="1"/>
          <p:nvPr userDrawn="1"/>
        </p:nvSpPr>
        <p:spPr>
          <a:xfrm>
            <a:off x="0" y="6565686"/>
            <a:ext cx="1066800" cy="273844"/>
          </a:xfrm>
          <a:prstGeom prst="rect">
            <a:avLst/>
          </a:prstGeom>
        </p:spPr>
        <p:txBody>
          <a:bodyPr lIns="91436" tIns="45718" rIns="91436" bIns="45718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4F2234-F0AC-4578-99CD-21C2B01FA7D4}" type="slidenum">
              <a:rPr lang="en-US" sz="1600" b="0" smtClean="0"/>
            </a:fld>
            <a:endParaRPr lang="en-US" sz="16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400" kern="1200" spc="-51" baseline="0"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Berlin Sans FB Demi" panose="020E0802020502020306" pitchFamily="34" charset="0"/>
          <a:ea typeface="+mj-ea"/>
          <a:cs typeface="+mj-cs"/>
        </a:defRPr>
      </a:lvl1pPr>
    </p:titleStyle>
    <p:bodyStyle>
      <a:lvl1pPr marL="340995" indent="-340995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0000CC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2770" indent="-372745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BD582C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83895" indent="-29972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008080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912495" indent="-290195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FF0000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7432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7030A0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9" Type="http://schemas.openxmlformats.org/officeDocument/2006/relationships/notesSlide" Target="../notesSlides/notesSlide7.xml"/><Relationship Id="rId28" Type="http://schemas.openxmlformats.org/officeDocument/2006/relationships/slideLayout" Target="../slideLayouts/slideLayout2.xml"/><Relationship Id="rId27" Type="http://schemas.openxmlformats.org/officeDocument/2006/relationships/tags" Target="../tags/tag28.xml"/><Relationship Id="rId26" Type="http://schemas.openxmlformats.org/officeDocument/2006/relationships/tags" Target="../tags/tag27.xml"/><Relationship Id="rId25" Type="http://schemas.openxmlformats.org/officeDocument/2006/relationships/tags" Target="../tags/tag26.xml"/><Relationship Id="rId24" Type="http://schemas.openxmlformats.org/officeDocument/2006/relationships/tags" Target="../tags/tag25.xml"/><Relationship Id="rId23" Type="http://schemas.openxmlformats.org/officeDocument/2006/relationships/tags" Target="../tags/tag24.xml"/><Relationship Id="rId22" Type="http://schemas.openxmlformats.org/officeDocument/2006/relationships/tags" Target="../tags/tag23.xml"/><Relationship Id="rId21" Type="http://schemas.openxmlformats.org/officeDocument/2006/relationships/tags" Target="../tags/tag22.xml"/><Relationship Id="rId20" Type="http://schemas.openxmlformats.org/officeDocument/2006/relationships/tags" Target="../tags/tag21.xml"/><Relationship Id="rId2" Type="http://schemas.openxmlformats.org/officeDocument/2006/relationships/tags" Target="../tags/tag3.xml"/><Relationship Id="rId19" Type="http://schemas.openxmlformats.org/officeDocument/2006/relationships/tags" Target="../tags/tag20.xml"/><Relationship Id="rId18" Type="http://schemas.openxmlformats.org/officeDocument/2006/relationships/tags" Target="../tags/tag19.xml"/><Relationship Id="rId17" Type="http://schemas.openxmlformats.org/officeDocument/2006/relationships/tags" Target="../tags/tag18.xml"/><Relationship Id="rId16" Type="http://schemas.openxmlformats.org/officeDocument/2006/relationships/tags" Target="../tags/tag17.xml"/><Relationship Id="rId15" Type="http://schemas.openxmlformats.org/officeDocument/2006/relationships/tags" Target="../tags/tag16.xml"/><Relationship Id="rId14" Type="http://schemas.openxmlformats.org/officeDocument/2006/relationships/tags" Target="../tags/tag15.xml"/><Relationship Id="rId13" Type="http://schemas.openxmlformats.org/officeDocument/2006/relationships/tags" Target="../tags/tag14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9.xml"/><Relationship Id="rId1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4" Type="http://schemas.openxmlformats.org/officeDocument/2006/relationships/notesSlide" Target="../notesSlides/notesSlide19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41.xml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tags" Target="../tags/tag3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619125" y="123825"/>
            <a:ext cx="11029950" cy="978710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sz="4000" dirty="0"/>
              <a:t>Chapter 6. Classification: Basic Concepts</a:t>
            </a:r>
            <a:endParaRPr lang="en-US" altLang="en-US" sz="4000" dirty="0"/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19125" y="1209675"/>
            <a:ext cx="10915650" cy="5343525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en-US" sz="2400" dirty="0"/>
              <a:t>Classification: Basic Concepts</a:t>
            </a:r>
            <a:endParaRPr lang="en-US" altLang="en-US" sz="2400" dirty="0"/>
          </a:p>
          <a:p>
            <a:pPr>
              <a:lnSpc>
                <a:spcPct val="150000"/>
              </a:lnSpc>
            </a:pPr>
            <a:r>
              <a:rPr lang="en-US" altLang="en-US" sz="2400" dirty="0"/>
              <a:t>Decision Tree Induction</a:t>
            </a:r>
            <a:endParaRPr lang="en-US" altLang="en-US" sz="2400" dirty="0"/>
          </a:p>
          <a:p>
            <a:pPr>
              <a:lnSpc>
                <a:spcPct val="150000"/>
              </a:lnSpc>
            </a:pPr>
            <a:r>
              <a:rPr lang="en-US" altLang="en-US" sz="2400" dirty="0"/>
              <a:t>Bayes Classification Methods </a:t>
            </a:r>
            <a:endParaRPr lang="en-US" altLang="en-US" sz="2400" dirty="0"/>
          </a:p>
          <a:p>
            <a:pPr>
              <a:lnSpc>
                <a:spcPct val="150000"/>
              </a:lnSpc>
            </a:pPr>
            <a:r>
              <a:rPr lang="en-US" altLang="en-US" sz="2400" dirty="0"/>
              <a:t>Lazy Learners (or learning from your neighbors)</a:t>
            </a:r>
            <a:endParaRPr lang="en-US" altLang="en-US" sz="2400" dirty="0"/>
          </a:p>
          <a:p>
            <a:pPr>
              <a:lnSpc>
                <a:spcPct val="150000"/>
              </a:lnSpc>
            </a:pPr>
            <a:r>
              <a:rPr lang="en-US" altLang="en-US" sz="2400" dirty="0"/>
              <a:t>Linear Classifiers</a:t>
            </a:r>
            <a:endParaRPr lang="en-US" altLang="en-US" sz="2400" dirty="0"/>
          </a:p>
          <a:p>
            <a:pPr>
              <a:lnSpc>
                <a:spcPct val="150000"/>
              </a:lnSpc>
            </a:pPr>
            <a:r>
              <a:rPr lang="en-US" altLang="en-US" sz="2400" dirty="0"/>
              <a:t>Model Evaluation and Selection</a:t>
            </a:r>
            <a:endParaRPr lang="en-US" altLang="en-US" sz="2400" dirty="0"/>
          </a:p>
          <a:p>
            <a:pPr>
              <a:lnSpc>
                <a:spcPct val="150000"/>
              </a:lnSpc>
            </a:pPr>
            <a:r>
              <a:rPr lang="en-US" altLang="en-US" sz="2400" dirty="0"/>
              <a:t>Techniques to Improve Classification Accuracy</a:t>
            </a:r>
            <a:endParaRPr lang="en-US" altLang="en-US" sz="2400" dirty="0"/>
          </a:p>
          <a:p>
            <a:pPr>
              <a:lnSpc>
                <a:spcPct val="150000"/>
              </a:lnSpc>
            </a:pPr>
            <a:r>
              <a:rPr lang="en-US" altLang="en-US" sz="2400" dirty="0"/>
              <a:t>Summary</a:t>
            </a:r>
            <a:endParaRPr lang="en-US" altLang="en-US" sz="2400" dirty="0"/>
          </a:p>
        </p:txBody>
      </p:sp>
      <p:sp>
        <p:nvSpPr>
          <p:cNvPr id="5125" name="AutoShape 8"/>
          <p:cNvSpPr>
            <a:spLocks noChangeArrowheads="1"/>
          </p:cNvSpPr>
          <p:nvPr/>
        </p:nvSpPr>
        <p:spPr bwMode="auto">
          <a:xfrm rot="9803581">
            <a:off x="7190808" y="3143953"/>
            <a:ext cx="533400" cy="462984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</a:ln>
        </p:spPr>
        <p:txBody>
          <a:bodyPr rot="10800000"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619125" y="123825"/>
            <a:ext cx="11029950" cy="978710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sz="4000" dirty="0"/>
              <a:t>K </a:t>
            </a:r>
            <a:r>
              <a:rPr lang="zh-CN" altLang="en-US" sz="4000" dirty="0"/>
              <a:t>近</a:t>
            </a:r>
            <a:r>
              <a:rPr lang="zh-CN" altLang="en-US" sz="4000" dirty="0"/>
              <a:t>邻算法</a:t>
            </a:r>
            <a:endParaRPr lang="zh-CN" altLang="en-US" sz="4000" dirty="0"/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19125" y="1209675"/>
            <a:ext cx="10915650" cy="5343525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学习范式对比</a:t>
            </a:r>
            <a:endParaRPr lang="zh-CN" altLang="en-US" sz="2400" dirty="0"/>
          </a:p>
          <a:p>
            <a:pPr>
              <a:lnSpc>
                <a:spcPct val="150000"/>
              </a:lnSpc>
            </a:pPr>
            <a:r>
              <a:rPr lang="en-US" altLang="en-US" sz="2400" dirty="0"/>
              <a:t>K</a:t>
            </a:r>
            <a:r>
              <a:rPr lang="zh-CN" altLang="en-US" sz="2400" dirty="0"/>
              <a:t>近邻算法</a:t>
            </a:r>
            <a:endParaRPr lang="zh-CN" altLang="en-US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三大核心</a:t>
            </a:r>
            <a:r>
              <a:rPr lang="zh-CN" altLang="en-US" sz="2400" dirty="0"/>
              <a:t>问题</a:t>
            </a:r>
            <a:endParaRPr lang="zh-CN" altLang="en-US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K</a:t>
            </a:r>
            <a:r>
              <a:rPr lang="zh-CN" altLang="en-US" sz="2400" dirty="0"/>
              <a:t>值选择策略</a:t>
            </a:r>
            <a:endParaRPr lang="zh-CN" altLang="en-US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距离度量方法</a:t>
            </a:r>
            <a:endParaRPr lang="zh-CN" altLang="en-US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计算效率优化</a:t>
            </a:r>
            <a:endParaRPr lang="zh-CN" altLang="en-US" sz="2400" dirty="0"/>
          </a:p>
        </p:txBody>
      </p:sp>
    </p:spTree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381000"/>
            <a:ext cx="8839200" cy="609600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pPr eaLnBrk="1" hangingPunct="1"/>
            <a:r>
              <a:rPr lang="zh-CN" altLang="en-US" dirty="0">
                <a:latin typeface="+mn-ea"/>
                <a:cs typeface="+mn-ea"/>
                <a:sym typeface="+mn-ea"/>
              </a:rPr>
              <a:t>懒惰学习</a:t>
            </a:r>
            <a:r>
              <a:rPr lang="en-US" altLang="zh-CN" dirty="0">
                <a:latin typeface="+mn-ea"/>
                <a:cs typeface="+mn-ea"/>
                <a:sym typeface="+mn-ea"/>
              </a:rPr>
              <a:t> vs </a:t>
            </a:r>
            <a:r>
              <a:rPr lang="zh-CN" altLang="en-US" dirty="0">
                <a:latin typeface="+mn-ea"/>
                <a:cs typeface="+mn-ea"/>
                <a:sym typeface="+mn-ea"/>
              </a:rPr>
              <a:t>急切学习</a:t>
            </a:r>
            <a:endParaRPr lang="en-US" altLang="en-US"/>
          </a:p>
        </p:txBody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54685" y="1308735"/>
            <a:ext cx="10851515" cy="2466340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marL="0" lvl="1" eaLnBrk="1" hangingPunct="1">
              <a:spcAft>
                <a:spcPts val="600"/>
              </a:spcAft>
            </a:pPr>
            <a:r>
              <a:rPr lang="zh-CN" altLang="en-US" sz="2400" dirty="0">
                <a:cs typeface="+mn-lt"/>
                <a:sym typeface="+mn-ea"/>
              </a:rPr>
              <a:t>懒惰学习（</a:t>
            </a:r>
            <a:r>
              <a:rPr lang="en-US" altLang="zh-CN" sz="2400" dirty="0">
                <a:cs typeface="+mn-lt"/>
                <a:sym typeface="+mn-ea"/>
              </a:rPr>
              <a:t>Lazy Learning</a:t>
            </a:r>
            <a:r>
              <a:rPr lang="zh-CN" altLang="en-US" sz="2400" dirty="0">
                <a:cs typeface="+mn-lt"/>
                <a:sym typeface="+mn-ea"/>
              </a:rPr>
              <a:t>），也称为基于实例的学习，将大部分学习过程推迟到提出查询时才进行。在这种范式中，训练阶段很短，因为模型不会对数据模式进行显式表示。相反，它保留训练样本并在推理时使用它们。</a:t>
            </a:r>
            <a:endParaRPr lang="zh-CN" altLang="en-US" sz="2400" dirty="0">
              <a:cs typeface="+mn-lt"/>
            </a:endParaRPr>
          </a:p>
          <a:p>
            <a:pPr eaLnBrk="1" hangingPunct="1">
              <a:spcAft>
                <a:spcPts val="600"/>
              </a:spcAft>
            </a:pPr>
            <a:r>
              <a:rPr lang="zh-CN" altLang="en-US" sz="2400" dirty="0">
                <a:cs typeface="+mn-lt"/>
                <a:sym typeface="+mn-ea"/>
              </a:rPr>
              <a:t>急切</a:t>
            </a:r>
            <a:r>
              <a:rPr lang="zh-CN" altLang="en-US" sz="2400" dirty="0">
                <a:cs typeface="+mn-lt"/>
              </a:rPr>
              <a:t>学习（</a:t>
            </a:r>
            <a:r>
              <a:rPr lang="en-US" altLang="zh-CN" sz="2400" dirty="0">
                <a:cs typeface="+mn-lt"/>
              </a:rPr>
              <a:t>Eager Learning</a:t>
            </a:r>
            <a:r>
              <a:rPr lang="zh-CN" altLang="en-US" sz="2400" dirty="0">
                <a:cs typeface="+mn-lt"/>
              </a:rPr>
              <a:t>），</a:t>
            </a:r>
            <a:r>
              <a:rPr lang="zh-CN" altLang="en-US" sz="2400" dirty="0">
                <a:cs typeface="+mn-lt"/>
              </a:rPr>
              <a:t>也称基于模型的学习，是在接收任何查询前，从训练数据构建一个通用模型。这意味着学习过程在前期就涉及大量计算，从而在推理时更快地做出预测。</a:t>
            </a:r>
            <a:endParaRPr lang="zh-CN" altLang="en-US" sz="2400" dirty="0">
              <a:cs typeface="+mn-lt"/>
            </a:endParaRPr>
          </a:p>
          <a:p>
            <a:pPr marL="200025" lvl="1" indent="0" eaLnBrk="1" hangingPunct="1">
              <a:spcAft>
                <a:spcPts val="600"/>
              </a:spcAft>
              <a:buNone/>
            </a:pPr>
            <a:endParaRPr lang="zh-CN" altLang="en-US" sz="2400" dirty="0">
              <a:cs typeface="+mn-lt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845185" y="4057650"/>
          <a:ext cx="10502265" cy="2280285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3500755"/>
                <a:gridCol w="3500755"/>
                <a:gridCol w="3500755"/>
              </a:tblGrid>
              <a:tr h="325755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altLang="en-US" sz="2000">
                        <a:cs typeface="+mn-lt"/>
                      </a:endParaRPr>
                    </a:p>
                  </a:txBody>
                  <a:tcPr marL="55350" marR="55350" marT="25717" marB="25717" anchor="ctr" anchorCtr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/>
                        <a:t>懒惰学习</a:t>
                      </a:r>
                      <a:endParaRPr lang="zh-CN" altLang="en-US" sz="2000"/>
                    </a:p>
                  </a:txBody>
                  <a:tcPr marL="55350" marR="55350" marT="25717" marB="25717" anchor="ctr" anchorCtr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/>
                        <a:t>急切学习</a:t>
                      </a:r>
                      <a:endParaRPr lang="zh-CN" altLang="en-US" sz="2000"/>
                    </a:p>
                  </a:txBody>
                  <a:tcPr marL="55350" marR="55350" marT="25717" marB="25717" anchor="ctr" anchorCtr="0"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325755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/>
                        <a:t>训练时间</a:t>
                      </a:r>
                      <a:endParaRPr lang="zh-CN" altLang="en-US" sz="2000"/>
                    </a:p>
                  </a:txBody>
                  <a:tcPr marL="55350" marR="55350" marT="25717" marB="25717" anchor="ctr" anchorCtr="0">
                    <a:solidFill>
                      <a:srgbClr val="EEF1F4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/>
                        <a:t>短</a:t>
                      </a:r>
                      <a:endParaRPr lang="zh-CN" altLang="en-US" sz="2000"/>
                    </a:p>
                  </a:txBody>
                  <a:tcPr marL="55350" marR="55350" marT="25717" marB="25717" anchor="ctr" anchorCtr="0">
                    <a:solidFill>
                      <a:srgbClr val="EEF1F4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/>
                        <a:t>长</a:t>
                      </a:r>
                      <a:endParaRPr lang="zh-CN" altLang="en-US" sz="2000"/>
                    </a:p>
                  </a:txBody>
                  <a:tcPr marL="55350" marR="55350" marT="25717" marB="25717" anchor="ctr" anchorCtr="0">
                    <a:solidFill>
                      <a:srgbClr val="EEF1F4"/>
                    </a:solidFill>
                  </a:tcPr>
                </a:tc>
              </a:tr>
              <a:tr h="325755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/>
                        <a:t>推断时间</a:t>
                      </a:r>
                      <a:endParaRPr lang="zh-CN" altLang="en-US" sz="2000"/>
                    </a:p>
                  </a:txBody>
                  <a:tcPr marL="55350" marR="55350" marT="25717" marB="25717" anchor="ctr" anchorCtr="0">
                    <a:solidFill>
                      <a:srgbClr val="EEF1F4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/>
                        <a:t>长</a:t>
                      </a:r>
                      <a:endParaRPr lang="zh-CN" altLang="en-US" sz="2000"/>
                    </a:p>
                  </a:txBody>
                  <a:tcPr marL="55350" marR="55350" marT="25717" marB="25717" anchor="ctr" anchorCtr="0">
                    <a:solidFill>
                      <a:srgbClr val="EEF1F4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/>
                        <a:t>短</a:t>
                      </a:r>
                      <a:endParaRPr lang="zh-CN" altLang="en-US" sz="2000"/>
                    </a:p>
                  </a:txBody>
                  <a:tcPr marL="55350" marR="55350" marT="25717" marB="25717" anchor="ctr" anchorCtr="0">
                    <a:solidFill>
                      <a:srgbClr val="EEF1F4"/>
                    </a:solidFill>
                  </a:tcPr>
                </a:tc>
              </a:tr>
              <a:tr h="325755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/>
                        <a:t>内存使用</a:t>
                      </a:r>
                      <a:endParaRPr lang="zh-CN" altLang="en-US" sz="2000"/>
                    </a:p>
                  </a:txBody>
                  <a:tcPr marL="55350" marR="55350" marT="25717" marB="25717" anchor="ctr" anchorCtr="0">
                    <a:solidFill>
                      <a:srgbClr val="EEF1F4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/>
                        <a:t>高（存储训练实例）</a:t>
                      </a:r>
                      <a:endParaRPr lang="zh-CN" altLang="en-US" sz="2000"/>
                    </a:p>
                  </a:txBody>
                  <a:tcPr marL="55350" marR="55350" marT="25717" marB="25717" anchor="ctr" anchorCtr="0">
                    <a:solidFill>
                      <a:srgbClr val="EEF1F4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/>
                        <a:t>低（不存储所有实例）</a:t>
                      </a:r>
                      <a:endParaRPr lang="zh-CN" altLang="en-US" sz="2000"/>
                    </a:p>
                  </a:txBody>
                  <a:tcPr marL="55350" marR="55350" marT="25717" marB="25717" anchor="ctr" anchorCtr="0">
                    <a:solidFill>
                      <a:srgbClr val="EEF1F4"/>
                    </a:solidFill>
                  </a:tcPr>
                </a:tc>
              </a:tr>
              <a:tr h="325755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/>
                        <a:t>适应性</a:t>
                      </a:r>
                      <a:endParaRPr lang="zh-CN" altLang="en-US" sz="2000"/>
                    </a:p>
                  </a:txBody>
                  <a:tcPr marL="55350" marR="55350" marT="25717" marB="25717" anchor="ctr" anchorCtr="0">
                    <a:solidFill>
                      <a:srgbClr val="EEF1F4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/>
                        <a:t>轻松适应新数据</a:t>
                      </a:r>
                      <a:endParaRPr lang="zh-CN" altLang="en-US" sz="2000"/>
                    </a:p>
                  </a:txBody>
                  <a:tcPr marL="55350" marR="55350" marT="25717" marB="25717" anchor="ctr" anchorCtr="0">
                    <a:solidFill>
                      <a:srgbClr val="EEF1F4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/>
                        <a:t>需要重新训练以获取新数据</a:t>
                      </a:r>
                      <a:endParaRPr lang="zh-CN" altLang="en-US" sz="2000"/>
                    </a:p>
                  </a:txBody>
                  <a:tcPr marL="55350" marR="55350" marT="25717" marB="25717" anchor="ctr" anchorCtr="0">
                    <a:solidFill>
                      <a:srgbClr val="EEF1F4"/>
                    </a:solidFill>
                  </a:tcPr>
                </a:tc>
              </a:tr>
              <a:tr h="325755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/>
                        <a:t>推广</a:t>
                      </a:r>
                      <a:endParaRPr lang="zh-CN" altLang="en-US" sz="2000"/>
                    </a:p>
                  </a:txBody>
                  <a:tcPr marL="55350" marR="55350" marT="25717" marB="25717" anchor="ctr" anchorCtr="0">
                    <a:solidFill>
                      <a:srgbClr val="EEF1F4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/>
                        <a:t>局部推广</a:t>
                      </a:r>
                      <a:endParaRPr lang="zh-CN" altLang="en-US" sz="2000"/>
                    </a:p>
                  </a:txBody>
                  <a:tcPr marL="55350" marR="55350" marT="25717" marB="25717" anchor="ctr" anchorCtr="0">
                    <a:solidFill>
                      <a:srgbClr val="EEF1F4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/>
                        <a:t>全局推广</a:t>
                      </a:r>
                      <a:endParaRPr lang="zh-CN" altLang="en-US" sz="2000"/>
                    </a:p>
                  </a:txBody>
                  <a:tcPr marL="55350" marR="55350" marT="25717" marB="25717" anchor="ctr" anchorCtr="0">
                    <a:solidFill>
                      <a:srgbClr val="EEF1F4"/>
                    </a:solidFill>
                  </a:tcPr>
                </a:tc>
              </a:tr>
              <a:tr h="325755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/>
                        <a:t>示例</a:t>
                      </a:r>
                      <a:endParaRPr lang="zh-CN" altLang="en-US" sz="2000"/>
                    </a:p>
                  </a:txBody>
                  <a:tcPr marL="55350" marR="55350" marT="25717" marB="25717" anchor="ctr" anchorCtr="0">
                    <a:solidFill>
                      <a:srgbClr val="EEF1F4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cs typeface="+mn-lt"/>
                        </a:rPr>
                        <a:t> KNN</a:t>
                      </a:r>
                      <a:r>
                        <a:rPr lang="zh-CN" altLang="en-US" sz="2000">
                          <a:cs typeface="+mn-lt"/>
                        </a:rPr>
                        <a:t>、</a:t>
                      </a:r>
                      <a:r>
                        <a:rPr lang="en-US" altLang="zh-CN" sz="2000">
                          <a:cs typeface="+mn-lt"/>
                        </a:rPr>
                        <a:t>LWR</a:t>
                      </a:r>
                      <a:r>
                        <a:rPr lang="zh-CN" altLang="en-US" sz="2000">
                          <a:cs typeface="+mn-lt"/>
                        </a:rPr>
                        <a:t>、</a:t>
                      </a:r>
                      <a:r>
                        <a:rPr lang="en-US" altLang="zh-CN" sz="2000">
                          <a:cs typeface="+mn-lt"/>
                        </a:rPr>
                        <a:t>CBR</a:t>
                      </a:r>
                      <a:endParaRPr lang="en-US" altLang="zh-CN" sz="2000">
                        <a:cs typeface="+mn-lt"/>
                      </a:endParaRPr>
                    </a:p>
                  </a:txBody>
                  <a:tcPr marL="55350" marR="55350" marT="25717" marB="25717" anchor="ctr" anchorCtr="0">
                    <a:solidFill>
                      <a:srgbClr val="EEF1F4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>
                          <a:cs typeface="+mn-lt"/>
                        </a:rPr>
                        <a:t>决策树、</a:t>
                      </a:r>
                      <a:r>
                        <a:rPr lang="en-US" altLang="zh-CN" sz="2000">
                          <a:cs typeface="+mn-lt"/>
                        </a:rPr>
                        <a:t>SVM</a:t>
                      </a:r>
                      <a:r>
                        <a:rPr lang="zh-CN" altLang="en-US" sz="2000">
                          <a:cs typeface="+mn-lt"/>
                        </a:rPr>
                        <a:t>、神经网络</a:t>
                      </a:r>
                      <a:endParaRPr lang="zh-CN" altLang="en-US" sz="2000">
                        <a:cs typeface="+mn-lt"/>
                      </a:endParaRPr>
                    </a:p>
                  </a:txBody>
                  <a:tcPr marL="55350" marR="55350" marT="25717" marB="25717" anchor="ctr" anchorCtr="0">
                    <a:solidFill>
                      <a:srgbClr val="EEF1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381000"/>
            <a:ext cx="8839200" cy="609600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pPr eaLnBrk="1" hangingPunct="1"/>
            <a:r>
              <a:rPr lang="zh-CN" altLang="en-US" dirty="0">
                <a:latin typeface="+mn-ea"/>
                <a:cs typeface="+mn-ea"/>
                <a:sym typeface="+mn-ea"/>
              </a:rPr>
              <a:t>什么是</a:t>
            </a:r>
            <a:r>
              <a:rPr lang="en-US" altLang="zh-CN" dirty="0">
                <a:latin typeface="+mn-ea"/>
                <a:cs typeface="+mn-ea"/>
                <a:sym typeface="+mn-ea"/>
              </a:rPr>
              <a:t> KNN</a:t>
            </a:r>
            <a:r>
              <a:rPr lang="zh-CN" altLang="en-US" dirty="0">
                <a:latin typeface="+mn-ea"/>
                <a:cs typeface="+mn-ea"/>
                <a:sym typeface="+mn-ea"/>
              </a:rPr>
              <a:t>？</a:t>
            </a:r>
            <a:endParaRPr lang="zh-CN" altLang="en-US" dirty="0">
              <a:latin typeface="+mn-ea"/>
              <a:cs typeface="+mn-ea"/>
              <a:sym typeface="+mn-ea"/>
            </a:endParaRPr>
          </a:p>
        </p:txBody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54685" y="1371600"/>
            <a:ext cx="6290310" cy="4999990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marL="0" lvl="1" algn="just" eaLnBrk="1" hangingPunct="1">
              <a:spcAft>
                <a:spcPts val="600"/>
              </a:spcAft>
            </a:pPr>
            <a:r>
              <a:rPr lang="en-US" altLang="zh-CN" sz="2400" dirty="0">
                <a:cs typeface="+mn-lt"/>
              </a:rPr>
              <a:t>K-</a:t>
            </a:r>
            <a:r>
              <a:rPr lang="zh-CN" altLang="en-US" sz="2400" dirty="0">
                <a:cs typeface="+mn-lt"/>
              </a:rPr>
              <a:t>近邻算法（</a:t>
            </a:r>
            <a:r>
              <a:rPr lang="en-US" altLang="zh-CN" sz="2400" dirty="0">
                <a:cs typeface="+mn-lt"/>
              </a:rPr>
              <a:t>K-Nearest Neighbors, KNN</a:t>
            </a:r>
            <a:r>
              <a:rPr lang="zh-CN" altLang="en-US" sz="2400" dirty="0">
                <a:cs typeface="+mn-lt"/>
              </a:rPr>
              <a:t>）是一种</a:t>
            </a:r>
            <a:r>
              <a:rPr lang="zh-CN" altLang="en-US" sz="2400" b="1" dirty="0">
                <a:cs typeface="+mn-lt"/>
              </a:rPr>
              <a:t>非参数化、懒惰学习</a:t>
            </a:r>
            <a:r>
              <a:rPr lang="zh-CN" altLang="en-US" sz="2400" dirty="0">
                <a:cs typeface="+mn-lt"/>
              </a:rPr>
              <a:t>的</a:t>
            </a:r>
            <a:r>
              <a:rPr lang="zh-CN" altLang="en-US" sz="2400" b="1" dirty="0">
                <a:cs typeface="+mn-lt"/>
              </a:rPr>
              <a:t>监督学习</a:t>
            </a:r>
            <a:r>
              <a:rPr lang="zh-CN" altLang="en-US" sz="2400" dirty="0">
                <a:cs typeface="+mn-lt"/>
              </a:rPr>
              <a:t>算法，可用于分类和回归任务。</a:t>
            </a:r>
            <a:endParaRPr lang="zh-CN" altLang="en-US" sz="2400" dirty="0">
              <a:cs typeface="+mn-lt"/>
            </a:endParaRPr>
          </a:p>
          <a:p>
            <a:pPr marL="0" lvl="1" algn="just" eaLnBrk="1" hangingPunct="1">
              <a:spcAft>
                <a:spcPts val="600"/>
              </a:spcAft>
            </a:pPr>
            <a:r>
              <a:rPr lang="en-US" altLang="zh-CN" sz="2400" dirty="0">
                <a:cs typeface="+mn-lt"/>
              </a:rPr>
              <a:t>KNN</a:t>
            </a:r>
            <a:r>
              <a:rPr lang="zh-CN" altLang="en-US" sz="2400" dirty="0">
                <a:cs typeface="+mn-lt"/>
              </a:rPr>
              <a:t>的核心思想是：对一个新样本，找到训练集中距离最近的</a:t>
            </a:r>
            <a:r>
              <a:rPr lang="en-US" altLang="zh-CN" sz="2400" dirty="0">
                <a:cs typeface="+mn-lt"/>
              </a:rPr>
              <a:t>K</a:t>
            </a:r>
            <a:r>
              <a:rPr lang="zh-CN" altLang="en-US" sz="2400" dirty="0">
                <a:cs typeface="+mn-lt"/>
              </a:rPr>
              <a:t>个邻居，根据这些邻居的类别或数值来预测新样本的类别或数值。</a:t>
            </a:r>
            <a:endParaRPr lang="zh-CN" altLang="en-US" sz="2400" dirty="0">
              <a:cs typeface="+mn-lt"/>
            </a:endParaRPr>
          </a:p>
          <a:p>
            <a:pPr marL="914400" lvl="3" algn="just" eaLnBrk="1" hangingPunct="1">
              <a:spcAft>
                <a:spcPts val="600"/>
              </a:spcAft>
            </a:pPr>
            <a:r>
              <a:rPr lang="zh-CN" altLang="en-US" sz="2400" dirty="0">
                <a:cs typeface="+mn-lt"/>
              </a:rPr>
              <a:t>分类任务（</a:t>
            </a:r>
            <a:r>
              <a:rPr lang="en-US" altLang="zh-CN" sz="2400" dirty="0">
                <a:cs typeface="+mn-lt"/>
              </a:rPr>
              <a:t>Classification</a:t>
            </a:r>
            <a:r>
              <a:rPr lang="zh-CN" altLang="en-US" sz="2400" dirty="0">
                <a:cs typeface="+mn-lt"/>
              </a:rPr>
              <a:t>）：采用多数投票原则，</a:t>
            </a:r>
            <a:r>
              <a:rPr lang="en-US" altLang="zh-CN" sz="2400" dirty="0">
                <a:cs typeface="+mn-lt"/>
              </a:rPr>
              <a:t>K</a:t>
            </a:r>
            <a:r>
              <a:rPr lang="zh-CN" altLang="en-US" sz="2400" dirty="0">
                <a:cs typeface="+mn-lt"/>
              </a:rPr>
              <a:t>个邻居中出现最多的类别为预测类别。</a:t>
            </a:r>
            <a:endParaRPr lang="en-US" altLang="zh-CN" sz="2400" dirty="0">
              <a:cs typeface="+mn-lt"/>
            </a:endParaRPr>
          </a:p>
          <a:p>
            <a:pPr marL="914400" lvl="3" algn="just" eaLnBrk="1" hangingPunct="1">
              <a:spcAft>
                <a:spcPts val="600"/>
              </a:spcAft>
            </a:pPr>
            <a:r>
              <a:rPr lang="zh-CN" altLang="en-US" sz="2400" dirty="0">
                <a:cs typeface="+mn-lt"/>
              </a:rPr>
              <a:t>回归任务（</a:t>
            </a:r>
            <a:r>
              <a:rPr lang="en-US" altLang="zh-CN" sz="2400" dirty="0">
                <a:cs typeface="+mn-lt"/>
              </a:rPr>
              <a:t>Regression</a:t>
            </a:r>
            <a:r>
              <a:rPr lang="zh-CN" altLang="en-US" sz="2400" dirty="0">
                <a:cs typeface="+mn-lt"/>
              </a:rPr>
              <a:t>）：取</a:t>
            </a:r>
            <a:r>
              <a:rPr lang="en-US" altLang="zh-CN" sz="2400" dirty="0">
                <a:cs typeface="+mn-lt"/>
              </a:rPr>
              <a:t>K</a:t>
            </a:r>
            <a:r>
              <a:rPr lang="zh-CN" altLang="en-US" sz="2400" dirty="0">
                <a:cs typeface="+mn-lt"/>
              </a:rPr>
              <a:t>个邻居的均值作为预测值。</a:t>
            </a:r>
            <a:endParaRPr lang="zh-CN" altLang="en-US" sz="2400" dirty="0">
              <a:cs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2960" y="1945005"/>
            <a:ext cx="4885690" cy="39357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381000"/>
            <a:ext cx="8839200" cy="609600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pPr eaLnBrk="1" hangingPunct="1"/>
            <a:r>
              <a:rPr lang="en-US" altLang="zh-CN" dirty="0">
                <a:latin typeface="+mn-ea"/>
                <a:cs typeface="+mn-ea"/>
                <a:sym typeface="+mn-ea"/>
              </a:rPr>
              <a:t>K-</a:t>
            </a:r>
            <a:r>
              <a:rPr lang="zh-CN" altLang="en-US" dirty="0">
                <a:latin typeface="+mn-ea"/>
                <a:cs typeface="+mn-ea"/>
                <a:sym typeface="+mn-ea"/>
              </a:rPr>
              <a:t>近邻算法</a:t>
            </a:r>
            <a:r>
              <a:rPr lang="zh-CN" altLang="en-US" dirty="0">
                <a:latin typeface="+mn-ea"/>
                <a:cs typeface="+mn-ea"/>
                <a:sym typeface="+mn-ea"/>
              </a:rPr>
              <a:t>流程</a:t>
            </a:r>
            <a:endParaRPr lang="zh-CN" altLang="en-US" dirty="0">
              <a:latin typeface="+mn-ea"/>
              <a:cs typeface="+mn-ea"/>
              <a:sym typeface="+mn-ea"/>
            </a:endParaRPr>
          </a:p>
        </p:txBody>
      </p:sp>
      <p:pic>
        <p:nvPicPr>
          <p:cNvPr id="73" name="图片 7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920" y="1699895"/>
            <a:ext cx="9685020" cy="5073650"/>
          </a:xfrm>
          <a:prstGeom prst="rect">
            <a:avLst/>
          </a:prstGeom>
        </p:spPr>
      </p:pic>
      <p:pic>
        <p:nvPicPr>
          <p:cNvPr id="74" name="图片 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0470" y="1276350"/>
            <a:ext cx="6853555" cy="304800"/>
          </a:xfrm>
          <a:prstGeom prst="rect">
            <a:avLst/>
          </a:prstGeom>
        </p:spPr>
      </p:pic>
      <p:pic>
        <p:nvPicPr>
          <p:cNvPr id="75" name="图片 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7165" y="1313180"/>
            <a:ext cx="1769745" cy="296545"/>
          </a:xfrm>
          <a:prstGeom prst="rect">
            <a:avLst/>
          </a:prstGeom>
        </p:spPr>
      </p:pic>
      <p:sp>
        <p:nvSpPr>
          <p:cNvPr id="76" name="文本框 75"/>
          <p:cNvSpPr txBox="1"/>
          <p:nvPr/>
        </p:nvSpPr>
        <p:spPr>
          <a:xfrm>
            <a:off x="673735" y="1276350"/>
            <a:ext cx="7937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rgbClr val="FF0000"/>
                </a:solidFill>
              </a:rPr>
              <a:t>输入：</a:t>
            </a:r>
            <a:endParaRPr lang="zh-CN" altLang="en-US" sz="1600">
              <a:solidFill>
                <a:srgbClr val="FF0000"/>
              </a:solidFill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8459470" y="1276350"/>
            <a:ext cx="7937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rgbClr val="FF0000"/>
                </a:solidFill>
              </a:rPr>
              <a:t>输出：</a:t>
            </a:r>
            <a:endParaRPr lang="zh-CN" altLang="en-US" sz="16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381000"/>
            <a:ext cx="8839200" cy="609600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pPr eaLnBrk="1" hangingPunct="1"/>
            <a:r>
              <a:rPr lang="zh-CN" altLang="en-US" dirty="0">
                <a:latin typeface="+mn-ea"/>
                <a:cs typeface="+mn-ea"/>
                <a:sym typeface="+mn-ea"/>
              </a:rPr>
              <a:t>算法</a:t>
            </a:r>
            <a:r>
              <a:rPr lang="zh-CN" altLang="en-US" dirty="0">
                <a:latin typeface="+mn-ea"/>
                <a:cs typeface="+mn-ea"/>
                <a:sym typeface="+mn-ea"/>
              </a:rPr>
              <a:t>优缺点</a:t>
            </a:r>
            <a:endParaRPr lang="zh-CN" altLang="en-US" dirty="0">
              <a:latin typeface="+mn-ea"/>
              <a:cs typeface="+mn-ea"/>
              <a:sym typeface="+mn-ea"/>
            </a:endParaRPr>
          </a:p>
        </p:txBody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2295" y="1168400"/>
            <a:ext cx="10973435" cy="5462905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marL="0" lvl="1" algn="just" eaLnBrk="1" hangingPunct="1">
              <a:lnSpc>
                <a:spcPct val="100000"/>
              </a:lnSpc>
              <a:spcAft>
                <a:spcPts val="600"/>
              </a:spcAft>
            </a:pPr>
            <a:r>
              <a:rPr lang="zh-CN" altLang="en-US" sz="1800" b="1" dirty="0">
                <a:cs typeface="+mn-lt"/>
              </a:rPr>
              <a:t>优点</a:t>
            </a:r>
            <a:endParaRPr lang="zh-CN" altLang="en-US" sz="1800" b="1" dirty="0">
              <a:cs typeface="+mn-lt"/>
            </a:endParaRPr>
          </a:p>
          <a:p>
            <a:pPr marL="800100" lvl="2" indent="-342900" algn="just" eaLnBrk="1" hangingPunct="1">
              <a:lnSpc>
                <a:spcPct val="100000"/>
              </a:lnSpc>
              <a:spcAft>
                <a:spcPts val="600"/>
              </a:spcAft>
            </a:pP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cs typeface="+mn-lt"/>
              </a:rPr>
              <a:t>易于理解和实现：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cs typeface="+mn-lt"/>
              </a:rPr>
              <a:t>KNN</a:t>
            </a: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cs typeface="+mn-lt"/>
              </a:rPr>
              <a:t>算法的原理简单直观，易于理解，且实现起来相对容易。</a:t>
            </a:r>
            <a:endParaRPr lang="zh-CN" altLang="en-US" sz="1800" dirty="0">
              <a:solidFill>
                <a:schemeClr val="tx1">
                  <a:lumMod val="85000"/>
                  <a:lumOff val="15000"/>
                </a:schemeClr>
              </a:solidFill>
              <a:cs typeface="+mn-lt"/>
            </a:endParaRPr>
          </a:p>
          <a:p>
            <a:pPr marL="800100" lvl="2" indent="-342900" algn="just" eaLnBrk="1" hangingPunct="1">
              <a:lnSpc>
                <a:spcPct val="100000"/>
              </a:lnSpc>
              <a:spcAft>
                <a:spcPts val="600"/>
              </a:spcAft>
            </a:pP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cs typeface="+mn-lt"/>
              </a:rPr>
              <a:t>不需要训练阶段：由于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cs typeface="+mn-lt"/>
              </a:rPr>
              <a:t>KNN</a:t>
            </a: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cs typeface="+mn-lt"/>
              </a:rPr>
              <a:t>算法在预测时直接使用整个数据集，因此它不需要一个专门的训练阶段。</a:t>
            </a:r>
            <a:endParaRPr lang="zh-CN" altLang="en-US" sz="1800" dirty="0">
              <a:solidFill>
                <a:schemeClr val="tx1">
                  <a:lumMod val="85000"/>
                  <a:lumOff val="15000"/>
                </a:schemeClr>
              </a:solidFill>
              <a:cs typeface="+mn-lt"/>
            </a:endParaRPr>
          </a:p>
          <a:p>
            <a:pPr marL="800100" lvl="2" indent="-342900" algn="just" eaLnBrk="1" hangingPunct="1">
              <a:lnSpc>
                <a:spcPct val="100000"/>
              </a:lnSpc>
              <a:spcAft>
                <a:spcPts val="600"/>
              </a:spcAft>
            </a:pP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cs typeface="+mn-lt"/>
              </a:rPr>
              <a:t>自适应性强：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cs typeface="+mn-lt"/>
              </a:rPr>
              <a:t>KNN</a:t>
            </a: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cs typeface="+mn-lt"/>
              </a:rPr>
              <a:t>算法能够随着数据集的更新而更新，能够适应数据的变化。</a:t>
            </a:r>
            <a:endParaRPr lang="zh-CN" altLang="en-US" sz="1800" dirty="0">
              <a:solidFill>
                <a:schemeClr val="tx1">
                  <a:lumMod val="85000"/>
                  <a:lumOff val="15000"/>
                </a:schemeClr>
              </a:solidFill>
              <a:cs typeface="+mn-lt"/>
            </a:endParaRPr>
          </a:p>
          <a:p>
            <a:pPr marL="800100" lvl="2" indent="-342900" algn="just" eaLnBrk="1" hangingPunct="1">
              <a:lnSpc>
                <a:spcPct val="100000"/>
              </a:lnSpc>
              <a:spcAft>
                <a:spcPts val="600"/>
              </a:spcAft>
            </a:pP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cs typeface="+mn-lt"/>
              </a:rPr>
              <a:t>可用于非线性问题：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cs typeface="+mn-lt"/>
              </a:rPr>
              <a:t>KNN</a:t>
            </a: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cs typeface="+mn-lt"/>
              </a:rPr>
              <a:t>算法</a:t>
            </a:r>
            <a:r>
              <a:rPr lang="zh-CN" altLang="en-US" sz="1800" dirty="0">
                <a:cs typeface="+mn-lt"/>
              </a:rPr>
              <a:t>不假设数据的分布，因此可以用于非线性问题的分类和回归。</a:t>
            </a:r>
            <a:endParaRPr lang="zh-CN" altLang="en-US" sz="1800" dirty="0">
              <a:cs typeface="+mn-lt"/>
            </a:endParaRPr>
          </a:p>
          <a:p>
            <a:pPr marL="457200" lvl="2" indent="0" algn="just" eaLnBrk="1" hangingPunct="1">
              <a:lnSpc>
                <a:spcPct val="100000"/>
              </a:lnSpc>
              <a:spcAft>
                <a:spcPts val="600"/>
              </a:spcAft>
              <a:buNone/>
            </a:pPr>
            <a:endParaRPr lang="zh-CN" altLang="en-US" sz="1800" dirty="0">
              <a:cs typeface="+mn-lt"/>
            </a:endParaRPr>
          </a:p>
          <a:p>
            <a:pPr marL="0" lvl="1" algn="just" eaLnBrk="1" hangingPunct="1">
              <a:lnSpc>
                <a:spcPct val="100000"/>
              </a:lnSpc>
              <a:spcAft>
                <a:spcPts val="600"/>
              </a:spcAft>
            </a:pPr>
            <a:r>
              <a:rPr lang="zh-CN" altLang="en-US" sz="1800" b="1" dirty="0">
                <a:cs typeface="+mn-lt"/>
              </a:rPr>
              <a:t>缺点</a:t>
            </a:r>
            <a:endParaRPr lang="zh-CN" altLang="en-US" sz="1800" b="1" dirty="0">
              <a:cs typeface="+mn-lt"/>
            </a:endParaRPr>
          </a:p>
          <a:p>
            <a:pPr marL="800100" lvl="2" indent="-342900" algn="just" eaLnBrk="1" hangingPunct="1">
              <a:lnSpc>
                <a:spcPct val="100000"/>
              </a:lnSpc>
              <a:spcAft>
                <a:spcPts val="600"/>
              </a:spcAft>
            </a:pPr>
            <a:r>
              <a:rPr lang="zh-CN" altLang="en-US" sz="1800" dirty="0">
                <a:cs typeface="+mn-lt"/>
              </a:rPr>
              <a:t>计算密集型：由于在每次预测时都需要计算新样本与所有训练样本之间的距离，</a:t>
            </a:r>
            <a:r>
              <a:rPr lang="en-US" altLang="zh-CN" sz="1800" dirty="0">
                <a:cs typeface="+mn-lt"/>
              </a:rPr>
              <a:t>KNN</a:t>
            </a:r>
            <a:r>
              <a:rPr lang="zh-CN" altLang="en-US" sz="1800" dirty="0">
                <a:cs typeface="+mn-lt"/>
              </a:rPr>
              <a:t>算法在大数据集上可能变得非常慢。</a:t>
            </a:r>
            <a:endParaRPr lang="zh-CN" altLang="en-US" sz="1800" dirty="0">
              <a:cs typeface="+mn-lt"/>
            </a:endParaRPr>
          </a:p>
          <a:p>
            <a:pPr marL="800100" lvl="2" indent="-342900" algn="just" eaLnBrk="1" hangingPunct="1">
              <a:lnSpc>
                <a:spcPct val="100000"/>
              </a:lnSpc>
              <a:spcAft>
                <a:spcPts val="600"/>
              </a:spcAft>
            </a:pPr>
            <a:r>
              <a:rPr lang="zh-CN" altLang="en-US" sz="1800" dirty="0">
                <a:cs typeface="+mn-lt"/>
              </a:rPr>
              <a:t>存储需求高：</a:t>
            </a:r>
            <a:r>
              <a:rPr lang="en-US" altLang="zh-CN" sz="1800" dirty="0">
                <a:cs typeface="+mn-lt"/>
              </a:rPr>
              <a:t>KNN</a:t>
            </a:r>
            <a:r>
              <a:rPr lang="zh-CN" altLang="en-US" sz="1800" dirty="0">
                <a:cs typeface="+mn-lt"/>
              </a:rPr>
              <a:t>算法需要存储全部数据集，因此对内存的需求较高。</a:t>
            </a:r>
            <a:endParaRPr lang="zh-CN" altLang="en-US" sz="1800" dirty="0">
              <a:cs typeface="+mn-lt"/>
            </a:endParaRPr>
          </a:p>
          <a:p>
            <a:pPr marL="800100" lvl="2" indent="-342900" algn="just" eaLnBrk="1" hangingPunct="1">
              <a:lnSpc>
                <a:spcPct val="100000"/>
              </a:lnSpc>
              <a:spcAft>
                <a:spcPts val="600"/>
              </a:spcAft>
            </a:pPr>
            <a:r>
              <a:rPr lang="zh-CN" altLang="en-US" sz="1800" dirty="0">
                <a:cs typeface="+mn-lt"/>
              </a:rPr>
              <a:t>维数灾难：随着特征维度的增加，距离度量可能会变得不那么有效，导致</a:t>
            </a:r>
            <a:r>
              <a:rPr lang="en-US" altLang="zh-CN" sz="1800" dirty="0">
                <a:cs typeface="+mn-lt"/>
              </a:rPr>
              <a:t>“</a:t>
            </a:r>
            <a:r>
              <a:rPr lang="zh-CN" altLang="en-US" sz="1800" dirty="0">
                <a:cs typeface="+mn-lt"/>
              </a:rPr>
              <a:t>维数灾难</a:t>
            </a:r>
            <a:r>
              <a:rPr lang="en-US" altLang="zh-CN" sz="1800" dirty="0">
                <a:cs typeface="+mn-lt"/>
              </a:rPr>
              <a:t>”</a:t>
            </a:r>
            <a:r>
              <a:rPr lang="zh-CN" altLang="en-US" sz="1800" dirty="0">
                <a:cs typeface="+mn-lt"/>
              </a:rPr>
              <a:t>。</a:t>
            </a:r>
            <a:endParaRPr lang="zh-CN" altLang="en-US" sz="1800" dirty="0">
              <a:cs typeface="+mn-lt"/>
            </a:endParaRPr>
          </a:p>
          <a:p>
            <a:pPr marL="800100" lvl="2" indent="-342900" algn="just" eaLnBrk="1" hangingPunct="1">
              <a:lnSpc>
                <a:spcPct val="100000"/>
              </a:lnSpc>
              <a:spcAft>
                <a:spcPts val="600"/>
              </a:spcAft>
            </a:pPr>
            <a:r>
              <a:rPr lang="zh-CN" altLang="en-US" sz="1800" dirty="0">
                <a:cs typeface="+mn-lt"/>
              </a:rPr>
              <a:t>对不平衡数据敏感：</a:t>
            </a:r>
            <a:r>
              <a:rPr lang="en-US" altLang="zh-CN" sz="1800" dirty="0">
                <a:cs typeface="+mn-lt"/>
              </a:rPr>
              <a:t>KNN</a:t>
            </a:r>
            <a:r>
              <a:rPr lang="zh-CN" altLang="en-US" sz="1800" dirty="0">
                <a:cs typeface="+mn-lt"/>
              </a:rPr>
              <a:t>算法对类别不平衡的数据集比较敏感，少数类可能会被多数类所淹没。</a:t>
            </a:r>
            <a:endParaRPr lang="zh-CN" altLang="en-US" sz="1800" dirty="0">
              <a:cs typeface="+mn-lt"/>
            </a:endParaRPr>
          </a:p>
          <a:p>
            <a:pPr marL="800100" lvl="2" indent="-342900" algn="just" eaLnBrk="1" hangingPunct="1">
              <a:lnSpc>
                <a:spcPct val="100000"/>
              </a:lnSpc>
              <a:spcAft>
                <a:spcPts val="600"/>
              </a:spcAft>
            </a:pPr>
            <a:r>
              <a:rPr lang="zh-CN" altLang="en-US" sz="1800" dirty="0">
                <a:cs typeface="+mn-lt"/>
              </a:rPr>
              <a:t>对噪声敏感：</a:t>
            </a:r>
            <a:r>
              <a:rPr lang="en-US" altLang="zh-CN" sz="1800" dirty="0">
                <a:cs typeface="+mn-lt"/>
              </a:rPr>
              <a:t>KNN</a:t>
            </a:r>
            <a:r>
              <a:rPr lang="zh-CN" altLang="en-US" sz="1800" dirty="0">
                <a:cs typeface="+mn-lt"/>
              </a:rPr>
              <a:t>算法对噪声数据点比较敏感，噪声点可能会对预测结果产生较大影响。</a:t>
            </a:r>
            <a:endParaRPr lang="zh-CN" altLang="en-US" sz="1800" dirty="0">
              <a:cs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381000"/>
            <a:ext cx="8839200" cy="609600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pPr eaLnBrk="1" hangingPunct="1"/>
            <a:r>
              <a:rPr lang="zh-CN" altLang="en-US" dirty="0">
                <a:latin typeface="+mn-ea"/>
                <a:cs typeface="+mn-ea"/>
                <a:sym typeface="+mn-ea"/>
              </a:rPr>
              <a:t>三大</a:t>
            </a:r>
            <a:r>
              <a:rPr lang="zh-CN" altLang="en-US" dirty="0">
                <a:latin typeface="+mn-ea"/>
                <a:cs typeface="+mn-ea"/>
                <a:sym typeface="+mn-ea"/>
              </a:rPr>
              <a:t>核心问题</a:t>
            </a:r>
            <a:endParaRPr lang="zh-CN" altLang="en-US" dirty="0">
              <a:latin typeface="+mn-ea"/>
              <a:cs typeface="+mn-ea"/>
              <a:sym typeface="+mn-ea"/>
            </a:endParaRPr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385445" y="1548765"/>
            <a:ext cx="3646805" cy="3288030"/>
          </a:xfrm>
          <a:custGeom>
            <a:avLst/>
            <a:gdLst/>
            <a:ahLst/>
            <a:cxnLst/>
            <a:rect l="l" t="t" r="r" b="b"/>
            <a:pathLst>
              <a:path w="3647017" h="3018367">
                <a:moveTo>
                  <a:pt x="152397" y="0"/>
                </a:moveTo>
                <a:lnTo>
                  <a:pt x="3494619" y="0"/>
                </a:lnTo>
                <a:cubicBezTo>
                  <a:pt x="3578786" y="0"/>
                  <a:pt x="3647017" y="68231"/>
                  <a:pt x="3647017" y="152397"/>
                </a:cubicBezTo>
                <a:lnTo>
                  <a:pt x="3647017" y="2865969"/>
                </a:lnTo>
                <a:cubicBezTo>
                  <a:pt x="3647017" y="2950136"/>
                  <a:pt x="3578786" y="3018367"/>
                  <a:pt x="3494619" y="3018367"/>
                </a:cubicBezTo>
                <a:lnTo>
                  <a:pt x="152397" y="3018367"/>
                </a:lnTo>
                <a:cubicBezTo>
                  <a:pt x="68231" y="3018367"/>
                  <a:pt x="0" y="2950136"/>
                  <a:pt x="0" y="2865969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EEF1F4"/>
          </a:solidFill>
          <a:ln w="11289">
            <a:solidFill>
              <a:srgbClr val="E5E5E5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618067" y="178138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</p:spPr>
      </p:sp>
      <p:sp>
        <p:nvSpPr>
          <p:cNvPr id="7" name="Shape 5"/>
          <p:cNvSpPr/>
          <p:nvPr>
            <p:custDataLst>
              <p:tags r:id="rId3"/>
            </p:custDataLst>
          </p:nvPr>
        </p:nvSpPr>
        <p:spPr>
          <a:xfrm>
            <a:off x="751417" y="191473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23812"/>
                </a:moveTo>
                <a:cubicBezTo>
                  <a:pt x="5321" y="23812"/>
                  <a:pt x="0" y="29133"/>
                  <a:pt x="0" y="35719"/>
                </a:cubicBezTo>
                <a:cubicBezTo>
                  <a:pt x="0" y="42304"/>
                  <a:pt x="5321" y="47625"/>
                  <a:pt x="11906" y="47625"/>
                </a:cubicBezTo>
                <a:lnTo>
                  <a:pt x="44165" y="47625"/>
                </a:lnTo>
                <a:cubicBezTo>
                  <a:pt x="48741" y="58155"/>
                  <a:pt x="59234" y="65484"/>
                  <a:pt x="71438" y="65484"/>
                </a:cubicBezTo>
                <a:cubicBezTo>
                  <a:pt x="83641" y="65484"/>
                  <a:pt x="94134" y="58155"/>
                  <a:pt x="98710" y="47625"/>
                </a:cubicBezTo>
                <a:lnTo>
                  <a:pt x="178594" y="47625"/>
                </a:lnTo>
                <a:cubicBezTo>
                  <a:pt x="185179" y="47625"/>
                  <a:pt x="190500" y="42304"/>
                  <a:pt x="190500" y="35719"/>
                </a:cubicBezTo>
                <a:cubicBezTo>
                  <a:pt x="190500" y="29133"/>
                  <a:pt x="185179" y="23812"/>
                  <a:pt x="178594" y="23812"/>
                </a:cubicBezTo>
                <a:lnTo>
                  <a:pt x="98710" y="23812"/>
                </a:lnTo>
                <a:cubicBezTo>
                  <a:pt x="94134" y="13283"/>
                  <a:pt x="83641" y="5953"/>
                  <a:pt x="71438" y="5953"/>
                </a:cubicBezTo>
                <a:cubicBezTo>
                  <a:pt x="59234" y="5953"/>
                  <a:pt x="48741" y="13283"/>
                  <a:pt x="44165" y="23812"/>
                </a:cubicBezTo>
                <a:lnTo>
                  <a:pt x="11906" y="23812"/>
                </a:lnTo>
                <a:close/>
                <a:moveTo>
                  <a:pt x="11906" y="83344"/>
                </a:move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03696" y="107156"/>
                </a:lnTo>
                <a:cubicBezTo>
                  <a:pt x="108272" y="117686"/>
                  <a:pt x="118765" y="125016"/>
                  <a:pt x="130969" y="125016"/>
                </a:cubicBezTo>
                <a:cubicBezTo>
                  <a:pt x="143173" y="125016"/>
                  <a:pt x="153665" y="117686"/>
                  <a:pt x="158242" y="107156"/>
                </a:cubicBezTo>
                <a:lnTo>
                  <a:pt x="178594" y="107156"/>
                </a:lnTo>
                <a:cubicBezTo>
                  <a:pt x="185179" y="107156"/>
                  <a:pt x="190500" y="101836"/>
                  <a:pt x="190500" y="95250"/>
                </a:cubicBezTo>
                <a:cubicBezTo>
                  <a:pt x="190500" y="88664"/>
                  <a:pt x="185179" y="83344"/>
                  <a:pt x="178594" y="83344"/>
                </a:cubicBezTo>
                <a:lnTo>
                  <a:pt x="158242" y="83344"/>
                </a:lnTo>
                <a:cubicBezTo>
                  <a:pt x="153665" y="72814"/>
                  <a:pt x="143173" y="65484"/>
                  <a:pt x="130969" y="65484"/>
                </a:cubicBezTo>
                <a:cubicBezTo>
                  <a:pt x="118765" y="65484"/>
                  <a:pt x="108272" y="72814"/>
                  <a:pt x="103696" y="83344"/>
                </a:cubicBezTo>
                <a:lnTo>
                  <a:pt x="11906" y="83344"/>
                </a:lnTo>
                <a:close/>
                <a:moveTo>
                  <a:pt x="11906" y="142875"/>
                </a:moveTo>
                <a:cubicBezTo>
                  <a:pt x="5321" y="142875"/>
                  <a:pt x="0" y="148196"/>
                  <a:pt x="0" y="154781"/>
                </a:cubicBezTo>
                <a:cubicBezTo>
                  <a:pt x="0" y="161367"/>
                  <a:pt x="5321" y="166688"/>
                  <a:pt x="11906" y="166688"/>
                </a:cubicBezTo>
                <a:lnTo>
                  <a:pt x="32258" y="166688"/>
                </a:lnTo>
                <a:cubicBezTo>
                  <a:pt x="36835" y="177217"/>
                  <a:pt x="47327" y="184547"/>
                  <a:pt x="59531" y="184547"/>
                </a:cubicBezTo>
                <a:cubicBezTo>
                  <a:pt x="71735" y="184547"/>
                  <a:pt x="82228" y="177217"/>
                  <a:pt x="86804" y="166688"/>
                </a:cubicBezTo>
                <a:lnTo>
                  <a:pt x="178594" y="166688"/>
                </a:lnTo>
                <a:cubicBezTo>
                  <a:pt x="185179" y="166688"/>
                  <a:pt x="190500" y="161367"/>
                  <a:pt x="190500" y="154781"/>
                </a:cubicBezTo>
                <a:cubicBezTo>
                  <a:pt x="190500" y="148196"/>
                  <a:pt x="185179" y="142875"/>
                  <a:pt x="178594" y="142875"/>
                </a:cubicBezTo>
                <a:lnTo>
                  <a:pt x="86804" y="142875"/>
                </a:lnTo>
                <a:cubicBezTo>
                  <a:pt x="82228" y="132345"/>
                  <a:pt x="71735" y="125016"/>
                  <a:pt x="59531" y="125016"/>
                </a:cubicBezTo>
                <a:cubicBezTo>
                  <a:pt x="47327" y="125016"/>
                  <a:pt x="36835" y="132345"/>
                  <a:pt x="32258" y="142875"/>
                </a:cubicBezTo>
                <a:lnTo>
                  <a:pt x="11906" y="142875"/>
                </a:lnTo>
                <a:close/>
              </a:path>
            </a:pathLst>
          </a:custGeom>
          <a:solidFill>
            <a:srgbClr val="0071E3"/>
          </a:solidFill>
        </p:spPr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1189567" y="1857587"/>
            <a:ext cx="342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1D1D1D"/>
                </a:solidFill>
                <a:ea typeface="MiSans" pitchFamily="34" charset="-122"/>
                <a:cs typeface="+mn-lt"/>
              </a:rPr>
              <a:t>01</a:t>
            </a:r>
            <a:endParaRPr lang="en-US" sz="2400" b="1" dirty="0">
              <a:solidFill>
                <a:srgbClr val="1D1D1D"/>
              </a:solidFill>
              <a:ea typeface="MiSans" pitchFamily="34" charset="-122"/>
              <a:cs typeface="+mn-lt"/>
            </a:endParaRPr>
          </a:p>
        </p:txBody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618067" y="2390987"/>
            <a:ext cx="32766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1D1D1D"/>
                </a:solidFill>
                <a:cs typeface="+mn-lt"/>
              </a:rPr>
              <a:t>K值选择困境</a:t>
            </a:r>
            <a:endParaRPr lang="en-US" b="1" dirty="0">
              <a:solidFill>
                <a:srgbClr val="1D1D1D"/>
              </a:solidFill>
              <a:cs typeface="+mn-lt"/>
            </a:endParaRPr>
          </a:p>
        </p:txBody>
      </p:sp>
      <p:sp>
        <p:nvSpPr>
          <p:cNvPr id="10" name="Text 8"/>
          <p:cNvSpPr/>
          <p:nvPr>
            <p:custDataLst>
              <p:tags r:id="rId6"/>
            </p:custDataLst>
          </p:nvPr>
        </p:nvSpPr>
        <p:spPr>
          <a:xfrm>
            <a:off x="617855" y="2809875"/>
            <a:ext cx="3257550" cy="1260475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algn="just">
              <a:lnSpc>
                <a:spcPct val="140000"/>
              </a:lnSpc>
            </a:pPr>
            <a:r>
              <a:rPr lang="en-US" altLang="zh-CN" sz="1400" dirty="0">
                <a:solidFill>
                  <a:schemeClr val="tx1"/>
                </a:solidFill>
                <a:cs typeface="+mn-lt"/>
              </a:rPr>
              <a:t>K</a:t>
            </a:r>
            <a:r>
              <a:rPr lang="zh-CN" altLang="en-US" sz="1400" dirty="0">
                <a:solidFill>
                  <a:schemeClr val="tx1"/>
                </a:solidFill>
                <a:cs typeface="+mn-lt"/>
              </a:rPr>
              <a:t>值表示在分类数据点时需要考虑的最近邻数量。如果</a:t>
            </a:r>
            <a:r>
              <a:rPr lang="en-US" altLang="zh-CN" sz="1400" dirty="0">
                <a:solidFill>
                  <a:schemeClr val="tx1"/>
                </a:solidFill>
                <a:cs typeface="+mn-lt"/>
              </a:rPr>
              <a:t> K </a:t>
            </a:r>
            <a:r>
              <a:rPr lang="zh-CN" altLang="en-US" sz="1400" dirty="0">
                <a:solidFill>
                  <a:schemeClr val="tx1"/>
                </a:solidFill>
                <a:cs typeface="+mn-lt"/>
              </a:rPr>
              <a:t>太小或太大，可能会导致过拟合或欠拟合。</a:t>
            </a:r>
            <a:endParaRPr lang="zh-CN" altLang="en-US" sz="1400" dirty="0">
              <a:solidFill>
                <a:schemeClr val="tx1"/>
              </a:solidFill>
              <a:cs typeface="+mn-lt"/>
            </a:endParaRPr>
          </a:p>
        </p:txBody>
      </p:sp>
      <p:sp>
        <p:nvSpPr>
          <p:cNvPr id="11" name="Shape 9"/>
          <p:cNvSpPr/>
          <p:nvPr>
            <p:custDataLst>
              <p:tags r:id="rId7"/>
            </p:custDataLst>
          </p:nvPr>
        </p:nvSpPr>
        <p:spPr>
          <a:xfrm>
            <a:off x="618067" y="4280747"/>
            <a:ext cx="3181350" cy="419100"/>
          </a:xfrm>
          <a:custGeom>
            <a:avLst/>
            <a:gdLst/>
            <a:ahLst/>
            <a:cxnLst/>
            <a:rect l="l" t="t" r="r" b="b"/>
            <a:pathLst>
              <a:path w="3181350" h="419100">
                <a:moveTo>
                  <a:pt x="76201" y="0"/>
                </a:moveTo>
                <a:lnTo>
                  <a:pt x="3105149" y="0"/>
                </a:lnTo>
                <a:cubicBezTo>
                  <a:pt x="3147234" y="0"/>
                  <a:pt x="3181350" y="34116"/>
                  <a:pt x="3181350" y="76201"/>
                </a:cubicBezTo>
                <a:lnTo>
                  <a:pt x="3181350" y="342899"/>
                </a:lnTo>
                <a:cubicBezTo>
                  <a:pt x="3181350" y="384984"/>
                  <a:pt x="3147234" y="419100"/>
                  <a:pt x="3105149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5F5F5"/>
          </a:solidFill>
        </p:spPr>
      </p:sp>
      <p:sp>
        <p:nvSpPr>
          <p:cNvPr id="12" name="Shape 10"/>
          <p:cNvSpPr/>
          <p:nvPr>
            <p:custDataLst>
              <p:tags r:id="rId8"/>
            </p:custDataLst>
          </p:nvPr>
        </p:nvSpPr>
        <p:spPr>
          <a:xfrm>
            <a:off x="751417" y="442129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43495" y="43495"/>
                </a:moveTo>
                <a:cubicBezTo>
                  <a:pt x="45943" y="41047"/>
                  <a:pt x="49902" y="41047"/>
                  <a:pt x="52324" y="43495"/>
                </a:cubicBezTo>
                <a:lnTo>
                  <a:pt x="66649" y="57820"/>
                </a:lnTo>
                <a:lnTo>
                  <a:pt x="80974" y="43495"/>
                </a:lnTo>
                <a:cubicBezTo>
                  <a:pt x="83422" y="41047"/>
                  <a:pt x="87381" y="41047"/>
                  <a:pt x="89803" y="43495"/>
                </a:cubicBezTo>
                <a:cubicBezTo>
                  <a:pt x="92225" y="45943"/>
                  <a:pt x="92251" y="49902"/>
                  <a:pt x="89803" y="52324"/>
                </a:cubicBezTo>
                <a:lnTo>
                  <a:pt x="75478" y="66649"/>
                </a:lnTo>
                <a:lnTo>
                  <a:pt x="89803" y="80974"/>
                </a:lnTo>
                <a:cubicBezTo>
                  <a:pt x="92251" y="83422"/>
                  <a:pt x="92251" y="87381"/>
                  <a:pt x="89803" y="89803"/>
                </a:cubicBezTo>
                <a:cubicBezTo>
                  <a:pt x="87355" y="92225"/>
                  <a:pt x="83396" y="92251"/>
                  <a:pt x="80974" y="89803"/>
                </a:cubicBezTo>
                <a:lnTo>
                  <a:pt x="66649" y="75478"/>
                </a:lnTo>
                <a:lnTo>
                  <a:pt x="52324" y="89803"/>
                </a:lnTo>
                <a:cubicBezTo>
                  <a:pt x="49876" y="92251"/>
                  <a:pt x="45917" y="92251"/>
                  <a:pt x="43495" y="89803"/>
                </a:cubicBezTo>
                <a:cubicBezTo>
                  <a:pt x="41073" y="87355"/>
                  <a:pt x="41047" y="83396"/>
                  <a:pt x="43495" y="80974"/>
                </a:cubicBezTo>
                <a:lnTo>
                  <a:pt x="57820" y="66649"/>
                </a:lnTo>
                <a:lnTo>
                  <a:pt x="43495" y="52324"/>
                </a:lnTo>
                <a:cubicBezTo>
                  <a:pt x="41047" y="49876"/>
                  <a:pt x="41047" y="45917"/>
                  <a:pt x="43495" y="43495"/>
                </a:cubicBezTo>
                <a:close/>
              </a:path>
            </a:pathLst>
          </a:custGeom>
          <a:solidFill>
            <a:srgbClr val="FB2C36"/>
          </a:solidFill>
        </p:spPr>
      </p:sp>
      <p:sp>
        <p:nvSpPr>
          <p:cNvPr id="13" name="Text 11"/>
          <p:cNvSpPr/>
          <p:nvPr>
            <p:custDataLst>
              <p:tags r:id="rId9"/>
            </p:custDataLst>
          </p:nvPr>
        </p:nvSpPr>
        <p:spPr>
          <a:xfrm>
            <a:off x="960967" y="4400127"/>
            <a:ext cx="2790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/>
                </a:solidFill>
                <a:cs typeface="+mn-lt"/>
              </a:rPr>
              <a:t>全局K无法兼顾局部异质性</a:t>
            </a:r>
            <a:endParaRPr lang="en-US" sz="1050" dirty="0">
              <a:solidFill>
                <a:schemeClr val="tx1"/>
              </a:solidFill>
              <a:cs typeface="+mn-lt"/>
            </a:endParaRPr>
          </a:p>
        </p:txBody>
      </p:sp>
      <p:sp>
        <p:nvSpPr>
          <p:cNvPr id="14" name="Shape 12"/>
          <p:cNvSpPr/>
          <p:nvPr>
            <p:custDataLst>
              <p:tags r:id="rId10"/>
            </p:custDataLst>
          </p:nvPr>
        </p:nvSpPr>
        <p:spPr>
          <a:xfrm>
            <a:off x="4271645" y="1548765"/>
            <a:ext cx="3646805" cy="3288030"/>
          </a:xfrm>
          <a:custGeom>
            <a:avLst/>
            <a:gdLst/>
            <a:ahLst/>
            <a:cxnLst/>
            <a:rect l="l" t="t" r="r" b="b"/>
            <a:pathLst>
              <a:path w="3647017" h="3018367">
                <a:moveTo>
                  <a:pt x="152397" y="0"/>
                </a:moveTo>
                <a:lnTo>
                  <a:pt x="3494619" y="0"/>
                </a:lnTo>
                <a:cubicBezTo>
                  <a:pt x="3578786" y="0"/>
                  <a:pt x="3647017" y="68231"/>
                  <a:pt x="3647017" y="152397"/>
                </a:cubicBezTo>
                <a:lnTo>
                  <a:pt x="3647017" y="2865969"/>
                </a:lnTo>
                <a:cubicBezTo>
                  <a:pt x="3647017" y="2950136"/>
                  <a:pt x="3578786" y="3018367"/>
                  <a:pt x="3494619" y="3018367"/>
                </a:cubicBezTo>
                <a:lnTo>
                  <a:pt x="152397" y="3018367"/>
                </a:lnTo>
                <a:cubicBezTo>
                  <a:pt x="68231" y="3018367"/>
                  <a:pt x="0" y="2950136"/>
                  <a:pt x="0" y="2865969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EEF1F4"/>
          </a:solidFill>
          <a:ln w="11289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>
            <p:custDataLst>
              <p:tags r:id="rId11"/>
            </p:custDataLst>
          </p:nvPr>
        </p:nvSpPr>
        <p:spPr>
          <a:xfrm>
            <a:off x="4504267" y="178138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</p:spPr>
      </p:sp>
      <p:sp>
        <p:nvSpPr>
          <p:cNvPr id="16" name="Shape 14"/>
          <p:cNvSpPr/>
          <p:nvPr>
            <p:custDataLst>
              <p:tags r:id="rId12"/>
            </p:custDataLst>
          </p:nvPr>
        </p:nvSpPr>
        <p:spPr>
          <a:xfrm>
            <a:off x="4625710" y="1914737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77800" y="192063"/>
                </a:moveTo>
                <a:cubicBezTo>
                  <a:pt x="70842" y="199020"/>
                  <a:pt x="59531" y="199020"/>
                  <a:pt x="52536" y="192063"/>
                </a:cubicBezTo>
                <a:lnTo>
                  <a:pt x="10455" y="149982"/>
                </a:lnTo>
                <a:cubicBezTo>
                  <a:pt x="3497" y="143024"/>
                  <a:pt x="3497" y="131713"/>
                  <a:pt x="10455" y="124718"/>
                </a:cubicBezTo>
                <a:lnTo>
                  <a:pt x="16780" y="118393"/>
                </a:lnTo>
                <a:lnTo>
                  <a:pt x="44128" y="145740"/>
                </a:lnTo>
                <a:cubicBezTo>
                  <a:pt x="47625" y="149237"/>
                  <a:pt x="53280" y="149237"/>
                  <a:pt x="56741" y="145740"/>
                </a:cubicBezTo>
                <a:cubicBezTo>
                  <a:pt x="60201" y="142242"/>
                  <a:pt x="60238" y="136587"/>
                  <a:pt x="56741" y="133127"/>
                </a:cubicBezTo>
                <a:lnTo>
                  <a:pt x="29394" y="105780"/>
                </a:lnTo>
                <a:lnTo>
                  <a:pt x="42007" y="93166"/>
                </a:lnTo>
                <a:lnTo>
                  <a:pt x="60945" y="112105"/>
                </a:lnTo>
                <a:cubicBezTo>
                  <a:pt x="64443" y="115602"/>
                  <a:pt x="70098" y="115602"/>
                  <a:pt x="73558" y="112105"/>
                </a:cubicBezTo>
                <a:cubicBezTo>
                  <a:pt x="77019" y="108607"/>
                  <a:pt x="77056" y="102952"/>
                  <a:pt x="73558" y="99492"/>
                </a:cubicBezTo>
                <a:lnTo>
                  <a:pt x="54620" y="80553"/>
                </a:lnTo>
                <a:lnTo>
                  <a:pt x="67233" y="67940"/>
                </a:lnTo>
                <a:lnTo>
                  <a:pt x="94580" y="95287"/>
                </a:lnTo>
                <a:cubicBezTo>
                  <a:pt x="98078" y="98785"/>
                  <a:pt x="103733" y="98785"/>
                  <a:pt x="107193" y="95287"/>
                </a:cubicBezTo>
                <a:cubicBezTo>
                  <a:pt x="110654" y="91790"/>
                  <a:pt x="110691" y="86134"/>
                  <a:pt x="107193" y="82674"/>
                </a:cubicBezTo>
                <a:lnTo>
                  <a:pt x="79846" y="55327"/>
                </a:lnTo>
                <a:lnTo>
                  <a:pt x="92459" y="42714"/>
                </a:lnTo>
                <a:lnTo>
                  <a:pt x="111398" y="61652"/>
                </a:lnTo>
                <a:cubicBezTo>
                  <a:pt x="114895" y="65150"/>
                  <a:pt x="120551" y="65150"/>
                  <a:pt x="124011" y="61652"/>
                </a:cubicBezTo>
                <a:cubicBezTo>
                  <a:pt x="127471" y="58155"/>
                  <a:pt x="127508" y="52499"/>
                  <a:pt x="124011" y="49039"/>
                </a:cubicBezTo>
                <a:lnTo>
                  <a:pt x="105073" y="30100"/>
                </a:lnTo>
                <a:lnTo>
                  <a:pt x="117686" y="17487"/>
                </a:lnTo>
                <a:lnTo>
                  <a:pt x="145033" y="44834"/>
                </a:lnTo>
                <a:cubicBezTo>
                  <a:pt x="148530" y="48332"/>
                  <a:pt x="154186" y="48332"/>
                  <a:pt x="157646" y="44834"/>
                </a:cubicBezTo>
                <a:cubicBezTo>
                  <a:pt x="161106" y="41337"/>
                  <a:pt x="161144" y="35682"/>
                  <a:pt x="157646" y="32221"/>
                </a:cubicBezTo>
                <a:lnTo>
                  <a:pt x="130299" y="4874"/>
                </a:lnTo>
                <a:lnTo>
                  <a:pt x="136624" y="-1451"/>
                </a:lnTo>
                <a:cubicBezTo>
                  <a:pt x="143582" y="-8409"/>
                  <a:pt x="154893" y="-8409"/>
                  <a:pt x="161888" y="-1451"/>
                </a:cubicBezTo>
                <a:lnTo>
                  <a:pt x="204081" y="40518"/>
                </a:lnTo>
                <a:cubicBezTo>
                  <a:pt x="211038" y="47476"/>
                  <a:pt x="211038" y="58787"/>
                  <a:pt x="204081" y="65782"/>
                </a:cubicBezTo>
                <a:lnTo>
                  <a:pt x="77800" y="192063"/>
                </a:lnTo>
                <a:close/>
              </a:path>
            </a:pathLst>
          </a:custGeom>
          <a:solidFill>
            <a:srgbClr val="0071E3"/>
          </a:solidFill>
        </p:spPr>
      </p:sp>
      <p:sp>
        <p:nvSpPr>
          <p:cNvPr id="17" name="Text 15"/>
          <p:cNvSpPr/>
          <p:nvPr>
            <p:custDataLst>
              <p:tags r:id="rId13"/>
            </p:custDataLst>
          </p:nvPr>
        </p:nvSpPr>
        <p:spPr>
          <a:xfrm>
            <a:off x="5075767" y="1857587"/>
            <a:ext cx="3905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1D1D1D"/>
                </a:solidFill>
                <a:ea typeface="MiSans" pitchFamily="34" charset="-122"/>
                <a:cs typeface="+mn-lt"/>
              </a:rPr>
              <a:t>02</a:t>
            </a:r>
            <a:endParaRPr lang="en-US" sz="2000" b="1" dirty="0">
              <a:solidFill>
                <a:srgbClr val="1D1D1D"/>
              </a:solidFill>
              <a:ea typeface="MiSans" pitchFamily="34" charset="-122"/>
              <a:cs typeface="+mn-lt"/>
            </a:endParaRPr>
          </a:p>
        </p:txBody>
      </p:sp>
      <p:sp>
        <p:nvSpPr>
          <p:cNvPr id="18" name="Text 16"/>
          <p:cNvSpPr/>
          <p:nvPr>
            <p:custDataLst>
              <p:tags r:id="rId14"/>
            </p:custDataLst>
          </p:nvPr>
        </p:nvSpPr>
        <p:spPr>
          <a:xfrm>
            <a:off x="4504267" y="2390987"/>
            <a:ext cx="32766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1D1D1D"/>
                </a:solidFill>
                <a:cs typeface="MiSans" pitchFamily="34" charset="-120"/>
              </a:rPr>
              <a:t>距离失效</a:t>
            </a:r>
            <a:endParaRPr lang="en-US" b="1" dirty="0">
              <a:solidFill>
                <a:srgbClr val="1D1D1D"/>
              </a:solidFill>
              <a:cs typeface="MiSans" pitchFamily="34" charset="-120"/>
            </a:endParaRPr>
          </a:p>
        </p:txBody>
      </p:sp>
      <p:sp>
        <p:nvSpPr>
          <p:cNvPr id="19" name="Text 17"/>
          <p:cNvSpPr/>
          <p:nvPr>
            <p:custDataLst>
              <p:tags r:id="rId15"/>
            </p:custDataLst>
          </p:nvPr>
        </p:nvSpPr>
        <p:spPr>
          <a:xfrm>
            <a:off x="4504055" y="2771775"/>
            <a:ext cx="3257550" cy="1298575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chemeClr val="tx1"/>
                </a:solidFill>
                <a:cs typeface="+mn-lt"/>
              </a:rPr>
              <a:t>默认欧氏距离假设 </a:t>
            </a:r>
            <a:r>
              <a:rPr lang="en-US" sz="1400" b="1" dirty="0">
                <a:solidFill>
                  <a:schemeClr val="tx1"/>
                </a:solidFill>
                <a:cs typeface="+mn-lt"/>
              </a:rPr>
              <a:t>特征同等重要、相互独立</a:t>
            </a:r>
            <a:r>
              <a:rPr lang="en-US" sz="1400" dirty="0">
                <a:solidFill>
                  <a:schemeClr val="tx1"/>
                </a:solidFill>
                <a:cs typeface="+mn-lt"/>
              </a:rPr>
              <a:t> 。在高维空间（d&gt;20），距离趋于均匀。</a:t>
            </a:r>
            <a:endParaRPr lang="en-US" sz="1400" dirty="0">
              <a:solidFill>
                <a:schemeClr val="tx1"/>
              </a:solidFill>
              <a:cs typeface="+mn-lt"/>
            </a:endParaRPr>
          </a:p>
        </p:txBody>
      </p:sp>
      <p:sp>
        <p:nvSpPr>
          <p:cNvPr id="20" name="Shape 18"/>
          <p:cNvSpPr/>
          <p:nvPr>
            <p:custDataLst>
              <p:tags r:id="rId16"/>
            </p:custDataLst>
          </p:nvPr>
        </p:nvSpPr>
        <p:spPr>
          <a:xfrm>
            <a:off x="4504267" y="4280747"/>
            <a:ext cx="3181350" cy="419100"/>
          </a:xfrm>
          <a:custGeom>
            <a:avLst/>
            <a:gdLst/>
            <a:ahLst/>
            <a:cxnLst/>
            <a:rect l="l" t="t" r="r" b="b"/>
            <a:pathLst>
              <a:path w="3181350" h="419100">
                <a:moveTo>
                  <a:pt x="76201" y="0"/>
                </a:moveTo>
                <a:lnTo>
                  <a:pt x="3105149" y="0"/>
                </a:lnTo>
                <a:cubicBezTo>
                  <a:pt x="3147234" y="0"/>
                  <a:pt x="3181350" y="34116"/>
                  <a:pt x="3181350" y="76201"/>
                </a:cubicBezTo>
                <a:lnTo>
                  <a:pt x="3181350" y="342899"/>
                </a:lnTo>
                <a:cubicBezTo>
                  <a:pt x="3181350" y="384984"/>
                  <a:pt x="3147234" y="419100"/>
                  <a:pt x="3105149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5F5F5"/>
          </a:solidFill>
        </p:spPr>
      </p:sp>
      <p:sp>
        <p:nvSpPr>
          <p:cNvPr id="21" name="Shape 19"/>
          <p:cNvSpPr/>
          <p:nvPr>
            <p:custDataLst>
              <p:tags r:id="rId17"/>
            </p:custDataLst>
          </p:nvPr>
        </p:nvSpPr>
        <p:spPr>
          <a:xfrm>
            <a:off x="4637617" y="442129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70504" y="0"/>
                  <a:pt x="74020" y="2110"/>
                  <a:pt x="75843" y="5469"/>
                </a:cubicBezTo>
                <a:lnTo>
                  <a:pt x="132100" y="109649"/>
                </a:lnTo>
                <a:cubicBezTo>
                  <a:pt x="133845" y="112879"/>
                  <a:pt x="133767" y="116785"/>
                  <a:pt x="131891" y="119937"/>
                </a:cubicBezTo>
                <a:cubicBezTo>
                  <a:pt x="130016" y="123088"/>
                  <a:pt x="126604" y="125016"/>
                  <a:pt x="122932" y="125016"/>
                </a:cubicBezTo>
                <a:lnTo>
                  <a:pt x="10418" y="125016"/>
                </a:lnTo>
                <a:cubicBezTo>
                  <a:pt x="6746" y="125016"/>
                  <a:pt x="3360" y="123088"/>
                  <a:pt x="1459" y="119937"/>
                </a:cubicBezTo>
                <a:cubicBezTo>
                  <a:pt x="-443" y="116785"/>
                  <a:pt x="-495" y="112879"/>
                  <a:pt x="1250" y="109649"/>
                </a:cubicBezTo>
                <a:lnTo>
                  <a:pt x="57507" y="5469"/>
                </a:lnTo>
                <a:cubicBezTo>
                  <a:pt x="59330" y="2110"/>
                  <a:pt x="62846" y="0"/>
                  <a:pt x="66675" y="0"/>
                </a:cubicBezTo>
                <a:close/>
                <a:moveTo>
                  <a:pt x="66675" y="43755"/>
                </a:moveTo>
                <a:cubicBezTo>
                  <a:pt x="63211" y="43755"/>
                  <a:pt x="60424" y="46542"/>
                  <a:pt x="60424" y="50006"/>
                </a:cubicBezTo>
                <a:lnTo>
                  <a:pt x="60424" y="79177"/>
                </a:lnTo>
                <a:cubicBezTo>
                  <a:pt x="60424" y="82641"/>
                  <a:pt x="63211" y="85427"/>
                  <a:pt x="66675" y="85427"/>
                </a:cubicBezTo>
                <a:cubicBezTo>
                  <a:pt x="70139" y="85427"/>
                  <a:pt x="72926" y="82641"/>
                  <a:pt x="72926" y="79177"/>
                </a:cubicBezTo>
                <a:lnTo>
                  <a:pt x="72926" y="50006"/>
                </a:lnTo>
                <a:cubicBezTo>
                  <a:pt x="72926" y="46542"/>
                  <a:pt x="70139" y="43755"/>
                  <a:pt x="66675" y="43755"/>
                </a:cubicBezTo>
                <a:close/>
                <a:moveTo>
                  <a:pt x="73629" y="100013"/>
                </a:moveTo>
                <a:cubicBezTo>
                  <a:pt x="73787" y="97431"/>
                  <a:pt x="72500" y="94975"/>
                  <a:pt x="70287" y="93637"/>
                </a:cubicBezTo>
                <a:cubicBezTo>
                  <a:pt x="68074" y="92299"/>
                  <a:pt x="65302" y="92299"/>
                  <a:pt x="63089" y="93637"/>
                </a:cubicBezTo>
                <a:cubicBezTo>
                  <a:pt x="60876" y="94975"/>
                  <a:pt x="59589" y="97431"/>
                  <a:pt x="59747" y="100012"/>
                </a:cubicBezTo>
                <a:cubicBezTo>
                  <a:pt x="59589" y="102594"/>
                  <a:pt x="60876" y="105050"/>
                  <a:pt x="63089" y="106388"/>
                </a:cubicBezTo>
                <a:cubicBezTo>
                  <a:pt x="65302" y="107726"/>
                  <a:pt x="68074" y="107726"/>
                  <a:pt x="70287" y="106388"/>
                </a:cubicBezTo>
                <a:cubicBezTo>
                  <a:pt x="72500" y="105050"/>
                  <a:pt x="73787" y="102594"/>
                  <a:pt x="73629" y="100013"/>
                </a:cubicBezTo>
                <a:close/>
              </a:path>
            </a:pathLst>
          </a:custGeom>
          <a:solidFill>
            <a:srgbClr val="D08700"/>
          </a:solidFill>
        </p:spPr>
      </p:sp>
      <p:sp>
        <p:nvSpPr>
          <p:cNvPr id="22" name="Text 20"/>
          <p:cNvSpPr/>
          <p:nvPr>
            <p:custDataLst>
              <p:tags r:id="rId18"/>
            </p:custDataLst>
          </p:nvPr>
        </p:nvSpPr>
        <p:spPr>
          <a:xfrm>
            <a:off x="4847167" y="4400127"/>
            <a:ext cx="2790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/>
                </a:solidFill>
                <a:ea typeface="MiSans" pitchFamily="34" charset="-122"/>
                <a:cs typeface="MiSans" pitchFamily="34" charset="-120"/>
              </a:rPr>
              <a:t>维度诅咒：高维下所有点距离相近</a:t>
            </a:r>
            <a:endParaRPr lang="en-US" sz="1050" dirty="0">
              <a:solidFill>
                <a:schemeClr val="tx1"/>
              </a:solidFill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3" name="Shape 21"/>
          <p:cNvSpPr/>
          <p:nvPr>
            <p:custDataLst>
              <p:tags r:id="rId19"/>
            </p:custDataLst>
          </p:nvPr>
        </p:nvSpPr>
        <p:spPr>
          <a:xfrm>
            <a:off x="8157845" y="1548765"/>
            <a:ext cx="3646805" cy="3288030"/>
          </a:xfrm>
          <a:custGeom>
            <a:avLst/>
            <a:gdLst/>
            <a:ahLst/>
            <a:cxnLst/>
            <a:rect l="l" t="t" r="r" b="b"/>
            <a:pathLst>
              <a:path w="3647017" h="3018367">
                <a:moveTo>
                  <a:pt x="152397" y="0"/>
                </a:moveTo>
                <a:lnTo>
                  <a:pt x="3494619" y="0"/>
                </a:lnTo>
                <a:cubicBezTo>
                  <a:pt x="3578786" y="0"/>
                  <a:pt x="3647017" y="68231"/>
                  <a:pt x="3647017" y="152397"/>
                </a:cubicBezTo>
                <a:lnTo>
                  <a:pt x="3647017" y="2865969"/>
                </a:lnTo>
                <a:cubicBezTo>
                  <a:pt x="3647017" y="2950136"/>
                  <a:pt x="3578786" y="3018367"/>
                  <a:pt x="3494619" y="3018367"/>
                </a:cubicBezTo>
                <a:lnTo>
                  <a:pt x="152397" y="3018367"/>
                </a:lnTo>
                <a:cubicBezTo>
                  <a:pt x="68231" y="3018367"/>
                  <a:pt x="0" y="2950136"/>
                  <a:pt x="0" y="2865969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EEF1F4"/>
          </a:solidFill>
          <a:ln w="11289">
            <a:solidFill>
              <a:srgbClr val="E5E5E5"/>
            </a:solidFill>
            <a:prstDash val="solid"/>
          </a:ln>
        </p:spPr>
      </p:sp>
      <p:sp>
        <p:nvSpPr>
          <p:cNvPr id="24" name="Shape 22"/>
          <p:cNvSpPr/>
          <p:nvPr>
            <p:custDataLst>
              <p:tags r:id="rId20"/>
            </p:custDataLst>
          </p:nvPr>
        </p:nvSpPr>
        <p:spPr>
          <a:xfrm>
            <a:off x="8390467" y="178138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</p:spPr>
      </p:sp>
      <p:sp>
        <p:nvSpPr>
          <p:cNvPr id="25" name="Shape 23"/>
          <p:cNvSpPr/>
          <p:nvPr>
            <p:custDataLst>
              <p:tags r:id="rId21"/>
            </p:custDataLst>
          </p:nvPr>
        </p:nvSpPr>
        <p:spPr>
          <a:xfrm>
            <a:off x="8523817" y="191473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107156" y="35719"/>
                </a:moveTo>
                <a:cubicBezTo>
                  <a:pt x="107156" y="29148"/>
                  <a:pt x="101821" y="23812"/>
                  <a:pt x="95250" y="23812"/>
                </a:cubicBezTo>
                <a:cubicBezTo>
                  <a:pt x="88679" y="23812"/>
                  <a:pt x="83344" y="29148"/>
                  <a:pt x="83344" y="35719"/>
                </a:cubicBezTo>
                <a:cubicBezTo>
                  <a:pt x="83344" y="42290"/>
                  <a:pt x="88679" y="47625"/>
                  <a:pt x="95250" y="47625"/>
                </a:cubicBezTo>
                <a:cubicBezTo>
                  <a:pt x="101821" y="47625"/>
                  <a:pt x="107156" y="42290"/>
                  <a:pt x="107156" y="35719"/>
                </a:cubicBezTo>
                <a:close/>
                <a:moveTo>
                  <a:pt x="95250" y="154781"/>
                </a:moveTo>
                <a:cubicBezTo>
                  <a:pt x="108384" y="154781"/>
                  <a:pt x="119063" y="144103"/>
                  <a:pt x="119063" y="130969"/>
                </a:cubicBezTo>
                <a:cubicBezTo>
                  <a:pt x="119063" y="124941"/>
                  <a:pt x="116830" y="119397"/>
                  <a:pt x="113109" y="115230"/>
                </a:cubicBezTo>
                <a:lnTo>
                  <a:pt x="138968" y="63550"/>
                </a:lnTo>
                <a:cubicBezTo>
                  <a:pt x="141163" y="59122"/>
                  <a:pt x="139378" y="53764"/>
                  <a:pt x="134987" y="51569"/>
                </a:cubicBezTo>
                <a:cubicBezTo>
                  <a:pt x="130597" y="49374"/>
                  <a:pt x="125202" y="51160"/>
                  <a:pt x="123006" y="55550"/>
                </a:cubicBezTo>
                <a:lnTo>
                  <a:pt x="97148" y="107231"/>
                </a:lnTo>
                <a:cubicBezTo>
                  <a:pt x="96515" y="107193"/>
                  <a:pt x="95883" y="107156"/>
                  <a:pt x="95250" y="107156"/>
                </a:cubicBezTo>
                <a:cubicBezTo>
                  <a:pt x="82116" y="107156"/>
                  <a:pt x="71438" y="117835"/>
                  <a:pt x="71438" y="130969"/>
                </a:cubicBezTo>
                <a:cubicBezTo>
                  <a:pt x="71438" y="144103"/>
                  <a:pt x="82116" y="154781"/>
                  <a:pt x="95250" y="154781"/>
                </a:cubicBezTo>
                <a:close/>
                <a:moveTo>
                  <a:pt x="65484" y="53578"/>
                </a:moveTo>
                <a:cubicBezTo>
                  <a:pt x="65484" y="47007"/>
                  <a:pt x="60149" y="41672"/>
                  <a:pt x="53578" y="41672"/>
                </a:cubicBezTo>
                <a:cubicBezTo>
                  <a:pt x="47007" y="41672"/>
                  <a:pt x="41672" y="47007"/>
                  <a:pt x="41672" y="53578"/>
                </a:cubicBezTo>
                <a:cubicBezTo>
                  <a:pt x="41672" y="60149"/>
                  <a:pt x="47007" y="65484"/>
                  <a:pt x="53578" y="65484"/>
                </a:cubicBezTo>
                <a:cubicBezTo>
                  <a:pt x="60149" y="65484"/>
                  <a:pt x="65484" y="60149"/>
                  <a:pt x="65484" y="53578"/>
                </a:cubicBezTo>
                <a:close/>
                <a:moveTo>
                  <a:pt x="35719" y="107156"/>
                </a:moveTo>
                <a:cubicBezTo>
                  <a:pt x="42290" y="107156"/>
                  <a:pt x="47625" y="101821"/>
                  <a:pt x="47625" y="95250"/>
                </a:cubicBez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lose/>
                <a:moveTo>
                  <a:pt x="166688" y="95250"/>
                </a:moveTo>
                <a:cubicBezTo>
                  <a:pt x="166688" y="88679"/>
                  <a:pt x="161352" y="83344"/>
                  <a:pt x="154781" y="83344"/>
                </a:cubicBezTo>
                <a:cubicBezTo>
                  <a:pt x="148210" y="83344"/>
                  <a:pt x="142875" y="88679"/>
                  <a:pt x="142875" y="95250"/>
                </a:cubicBezTo>
                <a:cubicBezTo>
                  <a:pt x="142875" y="101821"/>
                  <a:pt x="148210" y="107156"/>
                  <a:pt x="154781" y="107156"/>
                </a:cubicBezTo>
                <a:cubicBezTo>
                  <a:pt x="161352" y="107156"/>
                  <a:pt x="166688" y="101821"/>
                  <a:pt x="166688" y="95250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26" name="Text 24"/>
          <p:cNvSpPr/>
          <p:nvPr>
            <p:custDataLst>
              <p:tags r:id="rId22"/>
            </p:custDataLst>
          </p:nvPr>
        </p:nvSpPr>
        <p:spPr>
          <a:xfrm>
            <a:off x="8961967" y="1857587"/>
            <a:ext cx="3905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1D1D1D"/>
                </a:solidFill>
                <a:ea typeface="MiSans" pitchFamily="34" charset="-122"/>
                <a:cs typeface="+mn-lt"/>
              </a:rPr>
              <a:t>03</a:t>
            </a:r>
            <a:endParaRPr lang="en-US" sz="2000" b="1" dirty="0">
              <a:solidFill>
                <a:srgbClr val="1D1D1D"/>
              </a:solidFill>
              <a:ea typeface="MiSans" pitchFamily="34" charset="-122"/>
              <a:cs typeface="+mn-lt"/>
            </a:endParaRPr>
          </a:p>
        </p:txBody>
      </p:sp>
      <p:sp>
        <p:nvSpPr>
          <p:cNvPr id="27" name="Text 25"/>
          <p:cNvSpPr/>
          <p:nvPr>
            <p:custDataLst>
              <p:tags r:id="rId23"/>
            </p:custDataLst>
          </p:nvPr>
        </p:nvSpPr>
        <p:spPr>
          <a:xfrm>
            <a:off x="8390467" y="2390987"/>
            <a:ext cx="32766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1D1D1D"/>
                </a:solidFill>
                <a:cs typeface="MiSans" pitchFamily="34" charset="-120"/>
              </a:rPr>
              <a:t>计算瓶颈</a:t>
            </a:r>
            <a:endParaRPr lang="en-US" b="1" dirty="0">
              <a:solidFill>
                <a:srgbClr val="1D1D1D"/>
              </a:solidFill>
              <a:cs typeface="MiSans" pitchFamily="34" charset="-120"/>
            </a:endParaRPr>
          </a:p>
        </p:txBody>
      </p:sp>
      <p:sp>
        <p:nvSpPr>
          <p:cNvPr id="28" name="Text 26"/>
          <p:cNvSpPr/>
          <p:nvPr>
            <p:custDataLst>
              <p:tags r:id="rId24"/>
            </p:custDataLst>
          </p:nvPr>
        </p:nvSpPr>
        <p:spPr>
          <a:xfrm>
            <a:off x="8390255" y="2771775"/>
            <a:ext cx="3257550" cy="1298575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chemeClr val="tx1"/>
                </a:solidFill>
                <a:cs typeface="+mn-lt"/>
              </a:rPr>
              <a:t>Lazy范式把计算推迟到查询时，导致 </a:t>
            </a:r>
            <a:r>
              <a:rPr lang="en-US" sz="1400" b="1" dirty="0">
                <a:solidFill>
                  <a:schemeClr val="tx1"/>
                </a:solidFill>
                <a:cs typeface="+mn-lt"/>
              </a:rPr>
              <a:t>O(nd)的暴力搜索</a:t>
            </a:r>
            <a:r>
              <a:rPr lang="en-US" sz="1400" dirty="0">
                <a:solidFill>
                  <a:schemeClr val="tx1"/>
                </a:solidFill>
                <a:cs typeface="+mn-lt"/>
              </a:rPr>
              <a:t> 成本。百万级数据下每次查询需10亿次运算， 无法满足实时性需求 。</a:t>
            </a:r>
            <a:endParaRPr lang="en-US" sz="1400" dirty="0">
              <a:solidFill>
                <a:schemeClr val="tx1"/>
              </a:solidFill>
              <a:cs typeface="+mn-lt"/>
            </a:endParaRPr>
          </a:p>
        </p:txBody>
      </p:sp>
      <p:sp>
        <p:nvSpPr>
          <p:cNvPr id="29" name="Shape 27"/>
          <p:cNvSpPr/>
          <p:nvPr>
            <p:custDataLst>
              <p:tags r:id="rId25"/>
            </p:custDataLst>
          </p:nvPr>
        </p:nvSpPr>
        <p:spPr>
          <a:xfrm>
            <a:off x="8390467" y="4280747"/>
            <a:ext cx="3181350" cy="419100"/>
          </a:xfrm>
          <a:custGeom>
            <a:avLst/>
            <a:gdLst/>
            <a:ahLst/>
            <a:cxnLst/>
            <a:rect l="l" t="t" r="r" b="b"/>
            <a:pathLst>
              <a:path w="3181350" h="419100">
                <a:moveTo>
                  <a:pt x="76201" y="0"/>
                </a:moveTo>
                <a:lnTo>
                  <a:pt x="3105149" y="0"/>
                </a:lnTo>
                <a:cubicBezTo>
                  <a:pt x="3147234" y="0"/>
                  <a:pt x="3181350" y="34116"/>
                  <a:pt x="3181350" y="76201"/>
                </a:cubicBezTo>
                <a:lnTo>
                  <a:pt x="3181350" y="342899"/>
                </a:lnTo>
                <a:cubicBezTo>
                  <a:pt x="3181350" y="384984"/>
                  <a:pt x="3147234" y="419100"/>
                  <a:pt x="3105149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5F5F5"/>
          </a:solidFill>
        </p:spPr>
      </p:sp>
      <p:sp>
        <p:nvSpPr>
          <p:cNvPr id="30" name="Shape 28"/>
          <p:cNvSpPr/>
          <p:nvPr>
            <p:custDataLst>
              <p:tags r:id="rId26"/>
            </p:custDataLst>
          </p:nvPr>
        </p:nvSpPr>
        <p:spPr>
          <a:xfrm>
            <a:off x="8523817" y="442129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ubicBezTo>
                  <a:pt x="0" y="29876"/>
                  <a:pt x="29876" y="0"/>
                  <a:pt x="66675" y="0"/>
                </a:cubicBezTo>
                <a:close/>
                <a:moveTo>
                  <a:pt x="60424" y="31254"/>
                </a:moveTo>
                <a:lnTo>
                  <a:pt x="60424" y="66675"/>
                </a:lnTo>
                <a:cubicBezTo>
                  <a:pt x="60424" y="68759"/>
                  <a:pt x="61466" y="70712"/>
                  <a:pt x="63211" y="71884"/>
                </a:cubicBezTo>
                <a:lnTo>
                  <a:pt x="88214" y="88553"/>
                </a:lnTo>
                <a:cubicBezTo>
                  <a:pt x="91079" y="90480"/>
                  <a:pt x="94960" y="89699"/>
                  <a:pt x="96887" y="86808"/>
                </a:cubicBezTo>
                <a:cubicBezTo>
                  <a:pt x="98814" y="83917"/>
                  <a:pt x="98033" y="80062"/>
                  <a:pt x="95142" y="78135"/>
                </a:cubicBezTo>
                <a:lnTo>
                  <a:pt x="72926" y="63341"/>
                </a:lnTo>
                <a:lnTo>
                  <a:pt x="72926" y="31254"/>
                </a:lnTo>
                <a:cubicBezTo>
                  <a:pt x="72926" y="27790"/>
                  <a:pt x="70139" y="25003"/>
                  <a:pt x="66675" y="25003"/>
                </a:cubicBezTo>
                <a:cubicBezTo>
                  <a:pt x="63211" y="25003"/>
                  <a:pt x="60424" y="27790"/>
                  <a:pt x="60424" y="31254"/>
                </a:cubicBezTo>
                <a:close/>
              </a:path>
            </a:pathLst>
          </a:custGeom>
          <a:solidFill>
            <a:srgbClr val="FB2C36"/>
          </a:solidFill>
        </p:spPr>
      </p:sp>
      <p:sp>
        <p:nvSpPr>
          <p:cNvPr id="31" name="Text 29"/>
          <p:cNvSpPr/>
          <p:nvPr>
            <p:custDataLst>
              <p:tags r:id="rId27"/>
            </p:custDataLst>
          </p:nvPr>
        </p:nvSpPr>
        <p:spPr>
          <a:xfrm>
            <a:off x="8733367" y="4400127"/>
            <a:ext cx="2790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/>
                </a:solidFill>
                <a:ea typeface="MiSans" pitchFamily="34" charset="-122"/>
                <a:cs typeface="MiSans" pitchFamily="34" charset="-120"/>
              </a:rPr>
              <a:t>查询太慢：百万级数据不可行</a:t>
            </a:r>
            <a:endParaRPr lang="en-US" sz="1050" dirty="0">
              <a:solidFill>
                <a:schemeClr val="tx1"/>
              </a:solidFill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81000" y="5084445"/>
            <a:ext cx="11430000" cy="1228090"/>
          </a:xfrm>
          <a:custGeom>
            <a:avLst/>
            <a:gdLst/>
            <a:ahLst/>
            <a:cxnLst/>
            <a:rect l="l" t="t" r="r" b="b"/>
            <a:pathLst>
              <a:path w="11430000" h="990600">
                <a:moveTo>
                  <a:pt x="152404" y="0"/>
                </a:moveTo>
                <a:lnTo>
                  <a:pt x="11277596" y="0"/>
                </a:lnTo>
                <a:cubicBezTo>
                  <a:pt x="11361766" y="0"/>
                  <a:pt x="11430000" y="68234"/>
                  <a:pt x="11430000" y="152404"/>
                </a:cubicBezTo>
                <a:lnTo>
                  <a:pt x="11430000" y="838196"/>
                </a:lnTo>
                <a:cubicBezTo>
                  <a:pt x="11430000" y="922366"/>
                  <a:pt x="11361766" y="990600"/>
                  <a:pt x="11277596" y="990600"/>
                </a:cubicBezTo>
                <a:lnTo>
                  <a:pt x="152404" y="990600"/>
                </a:lnTo>
                <a:cubicBezTo>
                  <a:pt x="68234" y="990600"/>
                  <a:pt x="0" y="922366"/>
                  <a:pt x="0" y="838196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solidFill>
            <a:srgbClr val="EEF1F4"/>
          </a:solidFill>
        </p:spPr>
      </p:sp>
      <p:sp>
        <p:nvSpPr>
          <p:cNvPr id="33" name="Shape 31"/>
          <p:cNvSpPr/>
          <p:nvPr/>
        </p:nvSpPr>
        <p:spPr>
          <a:xfrm>
            <a:off x="647700" y="531283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50031" y="142875"/>
                </a:moveTo>
                <a:cubicBezTo>
                  <a:pt x="250031" y="83734"/>
                  <a:pt x="202016" y="35719"/>
                  <a:pt x="142875" y="35719"/>
                </a:cubicBezTo>
                <a:cubicBezTo>
                  <a:pt x="83734" y="35719"/>
                  <a:pt x="35719" y="83734"/>
                  <a:pt x="35719" y="142875"/>
                </a:cubicBezTo>
                <a:cubicBezTo>
                  <a:pt x="35719" y="202016"/>
                  <a:pt x="83734" y="250031"/>
                  <a:pt x="142875" y="250031"/>
                </a:cubicBezTo>
                <a:cubicBezTo>
                  <a:pt x="202016" y="250031"/>
                  <a:pt x="250031" y="202016"/>
                  <a:pt x="250031" y="142875"/>
                </a:cubicBezTo>
                <a:close/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142875" y="187523"/>
                </a:moveTo>
                <a:cubicBezTo>
                  <a:pt x="167517" y="187523"/>
                  <a:pt x="187523" y="167517"/>
                  <a:pt x="187523" y="142875"/>
                </a:cubicBezTo>
                <a:cubicBezTo>
                  <a:pt x="187523" y="118233"/>
                  <a:pt x="167517" y="98227"/>
                  <a:pt x="142875" y="98227"/>
                </a:cubicBezTo>
                <a:cubicBezTo>
                  <a:pt x="118233" y="98227"/>
                  <a:pt x="98227" y="118233"/>
                  <a:pt x="98227" y="142875"/>
                </a:cubicBezTo>
                <a:cubicBezTo>
                  <a:pt x="98227" y="167517"/>
                  <a:pt x="118233" y="187523"/>
                  <a:pt x="142875" y="187523"/>
                </a:cubicBezTo>
                <a:close/>
                <a:moveTo>
                  <a:pt x="142875" y="62508"/>
                </a:moveTo>
                <a:cubicBezTo>
                  <a:pt x="187231" y="62508"/>
                  <a:pt x="223242" y="98519"/>
                  <a:pt x="223242" y="142875"/>
                </a:cubicBezTo>
                <a:cubicBezTo>
                  <a:pt x="223242" y="187231"/>
                  <a:pt x="187231" y="223242"/>
                  <a:pt x="142875" y="223242"/>
                </a:cubicBezTo>
                <a:cubicBezTo>
                  <a:pt x="98519" y="223242"/>
                  <a:pt x="62508" y="187231"/>
                  <a:pt x="62508" y="142875"/>
                </a:cubicBezTo>
                <a:cubicBezTo>
                  <a:pt x="62508" y="98519"/>
                  <a:pt x="98519" y="62508"/>
                  <a:pt x="142875" y="62508"/>
                </a:cubicBezTo>
                <a:close/>
                <a:moveTo>
                  <a:pt x="125016" y="142875"/>
                </a:moveTo>
                <a:cubicBezTo>
                  <a:pt x="125016" y="133018"/>
                  <a:pt x="133018" y="125016"/>
                  <a:pt x="142875" y="125016"/>
                </a:cubicBezTo>
                <a:cubicBezTo>
                  <a:pt x="152732" y="125016"/>
                  <a:pt x="160734" y="133018"/>
                  <a:pt x="160734" y="142875"/>
                </a:cubicBezTo>
                <a:cubicBezTo>
                  <a:pt x="160734" y="152732"/>
                  <a:pt x="152732" y="160734"/>
                  <a:pt x="142875" y="160734"/>
                </a:cubicBezTo>
                <a:cubicBezTo>
                  <a:pt x="133018" y="160734"/>
                  <a:pt x="125016" y="152732"/>
                  <a:pt x="125016" y="142875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34" name="Text 32"/>
          <p:cNvSpPr/>
          <p:nvPr/>
        </p:nvSpPr>
        <p:spPr>
          <a:xfrm>
            <a:off x="1119188" y="5312834"/>
            <a:ext cx="32670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chemeClr val="tx1"/>
                </a:solidFill>
                <a:ea typeface="+mj-ea"/>
                <a:cs typeface="MiSans" pitchFamily="34" charset="-120"/>
              </a:rPr>
              <a:t>三大核心问题</a:t>
            </a:r>
            <a:endParaRPr lang="en-US" sz="2000" b="1" dirty="0">
              <a:solidFill>
                <a:schemeClr val="tx1"/>
              </a:solidFill>
              <a:ea typeface="+mj-ea"/>
              <a:cs typeface="MiSans" pitchFamily="34" charset="-12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119505" y="5846445"/>
            <a:ext cx="41579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sz="1600" dirty="0">
                <a:solidFill>
                  <a:schemeClr val="tx1">
                    <a:alpha val="70000"/>
                  </a:schemeClr>
                </a:solidFill>
                <a:cs typeface="+mn-lt"/>
              </a:rPr>
              <a:t>如何确定K · 如何计算距离 · 如何提高计算效率</a:t>
            </a:r>
            <a:endParaRPr lang="en-US" sz="1600" dirty="0">
              <a:solidFill>
                <a:schemeClr val="tx1">
                  <a:alpha val="70000"/>
                </a:schemeClr>
              </a:solidFill>
              <a:cs typeface="+mn-lt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0748010" y="5770245"/>
            <a:ext cx="82359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algn="r">
              <a:lnSpc>
                <a:spcPct val="110000"/>
              </a:lnSpc>
            </a:pPr>
            <a:r>
              <a:rPr lang="en-US" sz="1800" b="1" dirty="0">
                <a:solidFill>
                  <a:srgbClr val="0071E3"/>
                </a:solidFill>
                <a:ea typeface="MiSans" pitchFamily="34" charset="-122"/>
                <a:cs typeface="+mn-lt"/>
              </a:rPr>
              <a:t>→</a:t>
            </a:r>
            <a:endParaRPr lang="en-US" sz="1800" b="1" dirty="0">
              <a:solidFill>
                <a:srgbClr val="0071E3"/>
              </a:solidFill>
              <a:ea typeface="MiSans" pitchFamily="34" charset="-122"/>
              <a:cs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381000"/>
            <a:ext cx="8839200" cy="609600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pPr eaLnBrk="1" hangingPunct="1"/>
            <a:r>
              <a:rPr lang="en-US" altLang="zh-CN" dirty="0">
                <a:latin typeface="+mn-ea"/>
                <a:cs typeface="+mn-ea"/>
                <a:sym typeface="+mn-ea"/>
              </a:rPr>
              <a:t>K</a:t>
            </a:r>
            <a:r>
              <a:rPr lang="zh-CN" altLang="en-US" dirty="0">
                <a:latin typeface="+mn-ea"/>
                <a:cs typeface="+mn-ea"/>
                <a:sym typeface="+mn-ea"/>
              </a:rPr>
              <a:t>值选择</a:t>
            </a:r>
            <a:r>
              <a:rPr lang="zh-CN" altLang="en-US" dirty="0">
                <a:latin typeface="+mn-ea"/>
                <a:cs typeface="+mn-ea"/>
                <a:sym typeface="+mn-ea"/>
              </a:rPr>
              <a:t>策略</a:t>
            </a:r>
            <a:endParaRPr lang="zh-CN" altLang="en-US" dirty="0">
              <a:latin typeface="+mn-ea"/>
              <a:cs typeface="+mn-ea"/>
              <a:sym typeface="+mn-ea"/>
            </a:endParaRPr>
          </a:p>
        </p:txBody>
      </p:sp>
      <p:pic>
        <p:nvPicPr>
          <p:cNvPr id="2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349" y="3172465"/>
            <a:ext cx="11207599" cy="3685518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13080" y="1179195"/>
            <a:ext cx="11208385" cy="14897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>
                <a:cs typeface="+mn-lt"/>
              </a:rPr>
              <a:t>K </a:t>
            </a:r>
            <a:r>
              <a:rPr lang="zh-CN" altLang="en-US">
                <a:cs typeface="+mn-lt"/>
              </a:rPr>
              <a:t>的本质是平衡偏差（</a:t>
            </a:r>
            <a:r>
              <a:rPr lang="en-US" altLang="zh-CN">
                <a:cs typeface="+mn-lt"/>
              </a:rPr>
              <a:t>Bias</a:t>
            </a:r>
            <a:r>
              <a:rPr lang="zh-CN" altLang="en-US">
                <a:cs typeface="+mn-lt"/>
              </a:rPr>
              <a:t>）与方差（</a:t>
            </a:r>
            <a:r>
              <a:rPr lang="en-US" altLang="zh-CN">
                <a:cs typeface="+mn-lt"/>
              </a:rPr>
              <a:t>Variance</a:t>
            </a:r>
            <a:r>
              <a:rPr lang="zh-CN" altLang="en-US">
                <a:cs typeface="+mn-lt"/>
              </a:rPr>
              <a:t>）：</a:t>
            </a:r>
            <a:endParaRPr lang="zh-CN" altLang="en-US"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cs typeface="+mn-lt"/>
              </a:rPr>
              <a:t>K </a:t>
            </a:r>
            <a:r>
              <a:rPr lang="zh-CN" altLang="en-US">
                <a:cs typeface="+mn-lt"/>
              </a:rPr>
              <a:t>值太小：当</a:t>
            </a:r>
            <a:r>
              <a:rPr lang="en-US" altLang="zh-CN">
                <a:cs typeface="+mn-lt"/>
              </a:rPr>
              <a:t> K </a:t>
            </a:r>
            <a:r>
              <a:rPr lang="zh-CN" altLang="en-US">
                <a:cs typeface="+mn-lt"/>
              </a:rPr>
              <a:t>值较小（如</a:t>
            </a:r>
            <a:r>
              <a:rPr lang="en-US" altLang="zh-CN">
                <a:cs typeface="+mn-lt"/>
              </a:rPr>
              <a:t> K=1</a:t>
            </a:r>
            <a:r>
              <a:rPr lang="zh-CN" altLang="en-US">
                <a:cs typeface="+mn-lt"/>
              </a:rPr>
              <a:t>）时，模型</a:t>
            </a:r>
            <a:r>
              <a:rPr lang="en-US" altLang="zh-CN">
                <a:cs typeface="+mn-lt"/>
              </a:rPr>
              <a:t> </a:t>
            </a:r>
            <a:r>
              <a:rPr lang="zh-CN" altLang="en-US">
                <a:cs typeface="+mn-lt"/>
              </a:rPr>
              <a:t>可能会对训练数据中的噪声敏感，导致</a:t>
            </a:r>
            <a:r>
              <a:rPr lang="zh-CN" altLang="en-US" b="1">
                <a:cs typeface="+mn-lt"/>
              </a:rPr>
              <a:t>过拟合</a:t>
            </a:r>
            <a:r>
              <a:rPr lang="zh-CN" altLang="en-US">
                <a:cs typeface="+mn-lt"/>
              </a:rPr>
              <a:t>。即便是一个错误的标记也可能完全改变预测的结果。</a:t>
            </a:r>
            <a:endParaRPr lang="zh-CN" altLang="en-US">
              <a:cs typeface="+mn-lt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>
                <a:cs typeface="+mn-lt"/>
              </a:rPr>
              <a:t> </a:t>
            </a:r>
            <a:endParaRPr lang="en-US" altLang="zh-CN"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cs typeface="+mn-lt"/>
              </a:rPr>
              <a:t>K </a:t>
            </a:r>
            <a:r>
              <a:rPr lang="zh-CN" altLang="en-US">
                <a:cs typeface="+mn-lt"/>
              </a:rPr>
              <a:t>值太大：当</a:t>
            </a:r>
            <a:r>
              <a:rPr lang="en-US" altLang="zh-CN">
                <a:cs typeface="+mn-lt"/>
              </a:rPr>
              <a:t> K </a:t>
            </a:r>
            <a:r>
              <a:rPr lang="zh-CN" altLang="en-US">
                <a:cs typeface="+mn-lt"/>
              </a:rPr>
              <a:t>值较大时，模型可能会忽略局部的细节，导致</a:t>
            </a:r>
            <a:r>
              <a:rPr lang="zh-CN" altLang="en-US" b="1">
                <a:cs typeface="+mn-lt"/>
              </a:rPr>
              <a:t>欠拟合</a:t>
            </a:r>
            <a:r>
              <a:rPr lang="zh-CN" altLang="en-US">
                <a:cs typeface="+mn-lt"/>
              </a:rPr>
              <a:t>，从而对不同类</a:t>
            </a:r>
            <a:r>
              <a:rPr lang="en-US" altLang="zh-CN">
                <a:cs typeface="+mn-lt"/>
              </a:rPr>
              <a:t> </a:t>
            </a:r>
            <a:r>
              <a:rPr lang="zh-CN" altLang="en-US">
                <a:cs typeface="+mn-lt"/>
              </a:rPr>
              <a:t>别的数据进行过于平滑的处理，无法有效区分不同的类别。</a:t>
            </a:r>
            <a:endParaRPr lang="zh-CN" altLang="en-US"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>
              <a:cs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381000"/>
            <a:ext cx="8839200" cy="609600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pPr eaLnBrk="1" hangingPunct="1"/>
            <a:r>
              <a:rPr lang="en-US" altLang="zh-CN" dirty="0">
                <a:latin typeface="+mn-ea"/>
                <a:cs typeface="+mn-ea"/>
                <a:sym typeface="+mn-ea"/>
              </a:rPr>
              <a:t>K</a:t>
            </a:r>
            <a:r>
              <a:rPr lang="zh-CN" altLang="en-US" dirty="0">
                <a:latin typeface="+mn-ea"/>
                <a:cs typeface="+mn-ea"/>
                <a:sym typeface="+mn-ea"/>
              </a:rPr>
              <a:t>值选择</a:t>
            </a:r>
            <a:r>
              <a:rPr lang="zh-CN" altLang="en-US" dirty="0">
                <a:latin typeface="+mn-ea"/>
                <a:cs typeface="+mn-ea"/>
                <a:sym typeface="+mn-ea"/>
              </a:rPr>
              <a:t>策略</a:t>
            </a:r>
            <a:endParaRPr lang="zh-CN" altLang="en-US" dirty="0">
              <a:latin typeface="+mn-ea"/>
              <a:cs typeface="+mn-ea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1276350"/>
            <a:ext cx="7037705" cy="5168265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b="0">
                <a:solidFill>
                  <a:srgbClr val="000000"/>
                </a:solidFill>
                <a:cs typeface="+mn-lt"/>
              </a:rPr>
              <a:t>1. </a:t>
            </a:r>
            <a:r>
              <a:rPr lang="zh-CN" altLang="en-US" b="0">
                <a:solidFill>
                  <a:srgbClr val="000000"/>
                </a:solidFill>
                <a:cs typeface="+mn-lt"/>
              </a:rPr>
              <a:t>经验法</a:t>
            </a:r>
            <a:endParaRPr lang="zh-CN" altLang="en-US" b="0">
              <a:solidFill>
                <a:srgbClr val="000000"/>
              </a:solidFill>
              <a:cs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b="0">
                <a:solidFill>
                  <a:srgbClr val="000000"/>
                </a:solidFill>
                <a:cs typeface="+mn-lt"/>
              </a:rPr>
              <a:t>K </a:t>
            </a:r>
            <a:r>
              <a:rPr lang="zh-CN" altLang="en-US" b="0">
                <a:solidFill>
                  <a:srgbClr val="000000"/>
                </a:solidFill>
                <a:cs typeface="+mn-lt"/>
              </a:rPr>
              <a:t>一般取</a:t>
            </a:r>
            <a:r>
              <a:rPr lang="zh-CN" altLang="en-US" b="1">
                <a:solidFill>
                  <a:srgbClr val="000000"/>
                </a:solidFill>
                <a:cs typeface="+mn-lt"/>
              </a:rPr>
              <a:t>奇数</a:t>
            </a:r>
            <a:r>
              <a:rPr lang="zh-CN" altLang="en-US" b="0">
                <a:solidFill>
                  <a:srgbClr val="000000"/>
                </a:solidFill>
                <a:cs typeface="+mn-lt"/>
              </a:rPr>
              <a:t>，避免二分类投票平票</a:t>
            </a:r>
            <a:endParaRPr lang="zh-CN" altLang="en-US" b="0">
              <a:solidFill>
                <a:srgbClr val="000000"/>
              </a:solidFill>
              <a:cs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b="0">
                <a:solidFill>
                  <a:srgbClr val="000000"/>
                </a:solidFill>
                <a:cs typeface="+mn-lt"/>
              </a:rPr>
              <a:t>经验范围：</a:t>
            </a:r>
            <a:r>
              <a:rPr lang="en-US" altLang="zh-CN" b="1">
                <a:solidFill>
                  <a:srgbClr val="000000"/>
                </a:solidFill>
                <a:cs typeface="+mn-lt"/>
              </a:rPr>
              <a:t>K ∈ {1,3,5,7,9,11,15,21}</a:t>
            </a:r>
            <a:endParaRPr lang="en-US" altLang="zh-CN" b="1">
              <a:solidFill>
                <a:srgbClr val="000000"/>
              </a:solidFill>
              <a:cs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b="0">
                <a:solidFill>
                  <a:srgbClr val="000000"/>
                </a:solidFill>
                <a:cs typeface="+mn-lt"/>
              </a:rPr>
              <a:t>简单场景可用：</a:t>
            </a:r>
            <a:r>
              <a:rPr lang="en-US" altLang="zh-CN" b="1">
                <a:solidFill>
                  <a:srgbClr val="000000"/>
                </a:solidFill>
                <a:cs typeface="+mn-lt"/>
              </a:rPr>
              <a:t>K ≈ √N</a:t>
            </a:r>
            <a:r>
              <a:rPr lang="zh-CN" altLang="en-US" b="0">
                <a:solidFill>
                  <a:srgbClr val="000000"/>
                </a:solidFill>
                <a:cs typeface="+mn-lt"/>
              </a:rPr>
              <a:t>（</a:t>
            </a:r>
            <a:r>
              <a:rPr lang="en-US" altLang="zh-CN" b="0">
                <a:solidFill>
                  <a:srgbClr val="000000"/>
                </a:solidFill>
                <a:cs typeface="+mn-lt"/>
              </a:rPr>
              <a:t>N </a:t>
            </a:r>
            <a:r>
              <a:rPr lang="zh-CN" altLang="en-US" b="0">
                <a:solidFill>
                  <a:srgbClr val="000000"/>
                </a:solidFill>
                <a:cs typeface="+mn-lt"/>
              </a:rPr>
              <a:t>为训练样本数）</a:t>
            </a:r>
            <a:endParaRPr lang="zh-CN" altLang="en-US" b="0">
              <a:solidFill>
                <a:srgbClr val="000000"/>
              </a:solidFill>
              <a:cs typeface="+mn-lt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  <a:cs typeface="+mn-lt"/>
              </a:rPr>
              <a:t>适用</a:t>
            </a:r>
            <a:r>
              <a:rPr lang="zh-CN" altLang="en-US" b="0">
                <a:solidFill>
                  <a:srgbClr val="000000"/>
                </a:solidFill>
                <a:cs typeface="+mn-lt"/>
              </a:rPr>
              <a:t>：小数据集、快速实验、演示场景</a:t>
            </a:r>
            <a:endParaRPr lang="zh-CN" altLang="en-US" b="0">
              <a:solidFill>
                <a:srgbClr val="000000"/>
              </a:solidFill>
              <a:cs typeface="+mn-lt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b="0">
              <a:solidFill>
                <a:srgbClr val="000000"/>
              </a:solidFill>
              <a:cs typeface="+mn-lt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b="0">
                <a:solidFill>
                  <a:srgbClr val="000000"/>
                </a:solidFill>
                <a:cs typeface="+mn-lt"/>
              </a:rPr>
              <a:t>2. </a:t>
            </a:r>
            <a:r>
              <a:rPr lang="en-US" b="1" dirty="0">
                <a:latin typeface="+mn-ea"/>
                <a:cs typeface="Noto Sans SC" panose="020B0200000000000000" pitchFamily="34" charset="-120"/>
                <a:sym typeface="+mn-ea"/>
              </a:rPr>
              <a:t>交叉验证法</a:t>
            </a:r>
            <a:endParaRPr lang="en-US" b="1" dirty="0">
              <a:latin typeface="+mn-ea"/>
              <a:cs typeface="Noto Sans SC" panose="020B0200000000000000" pitchFamily="34" charset="-120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n-ea"/>
                <a:cs typeface="+mn-ea"/>
                <a:sym typeface="+mn-ea"/>
              </a:rPr>
              <a:t>将数据划分为K折，轮流作为验证集，评估不同K值的泛化性能</a:t>
            </a:r>
            <a:endParaRPr lang="en-US" dirty="0">
              <a:latin typeface="+mn-ea"/>
              <a:cs typeface="+mn-ea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n-ea"/>
                <a:cs typeface="Noto Sans SC" panose="020B0200000000000000" pitchFamily="34" charset="-120"/>
                <a:sym typeface="+mn-ea"/>
              </a:rPr>
              <a:t>结果稳定可靠，适合大多数场景</a:t>
            </a:r>
            <a:endParaRPr lang="en-US" dirty="0">
              <a:solidFill>
                <a:schemeClr val="tx1"/>
              </a:solidFill>
              <a:latin typeface="+mn-ea"/>
              <a:cs typeface="Noto Sans SC" panose="020B0200000000000000" pitchFamily="34" charset="-12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n-ea"/>
                <a:cs typeface="Noto Sans SC" panose="020B0200000000000000" pitchFamily="34" charset="-120"/>
                <a:sym typeface="+mn-ea"/>
              </a:rPr>
              <a:t>计算开销大，需多次训练模型</a:t>
            </a:r>
            <a:endParaRPr lang="en-US" dirty="0">
              <a:latin typeface="+mn-ea"/>
              <a:cs typeface="Noto Sans SC" panose="020B0200000000000000" pitchFamily="34" charset="-120"/>
              <a:sym typeface="+mn-ea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+mn-ea"/>
                <a:cs typeface="Noto Sans SC" panose="020B0200000000000000" pitchFamily="34" charset="-120"/>
                <a:sym typeface="+mn-ea"/>
              </a:rPr>
              <a:t>适用：</a:t>
            </a:r>
            <a:r>
              <a:rPr lang="en-US" dirty="0">
                <a:latin typeface="+mn-ea"/>
                <a:cs typeface="Noto Sans SC" panose="020B0200000000000000" pitchFamily="34" charset="-120"/>
                <a:sym typeface="+mn-ea"/>
              </a:rPr>
              <a:t>中小规模数据集，追求高精度</a:t>
            </a:r>
            <a:endParaRPr lang="en-US" dirty="0">
              <a:solidFill>
                <a:schemeClr val="tx1"/>
              </a:solidFill>
              <a:latin typeface="+mn-ea"/>
              <a:cs typeface="Noto Sans SC" panose="020B0200000000000000" pitchFamily="34" charset="-120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chemeClr val="tx1"/>
              </a:solidFill>
              <a:latin typeface="+mn-ea"/>
              <a:cs typeface="Noto Sans SC" panose="020B0200000000000000" pitchFamily="34" charset="-120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chemeClr val="tx1"/>
              </a:solidFill>
              <a:latin typeface="+mn-ea"/>
              <a:cs typeface="+mn-ea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b="1" dirty="0">
              <a:solidFill>
                <a:schemeClr val="tx1"/>
              </a:solidFill>
              <a:latin typeface="+mn-ea"/>
              <a:cs typeface="Noto Sans SC" panose="020B0200000000000000" pitchFamily="34" charset="-120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b="0">
              <a:solidFill>
                <a:srgbClr val="000000"/>
              </a:solidFill>
              <a:cs typeface="+mn-lt"/>
            </a:endParaRPr>
          </a:p>
        </p:txBody>
      </p:sp>
      <p:pic>
        <p:nvPicPr>
          <p:cNvPr id="76" name="图片 7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0505" y="3310255"/>
            <a:ext cx="4168775" cy="307213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554990" y="1266190"/>
            <a:ext cx="6737350" cy="4874895"/>
            <a:chOff x="874" y="1994"/>
            <a:chExt cx="10610" cy="7677"/>
          </a:xfrm>
        </p:grpSpPr>
        <p:sp>
          <p:nvSpPr>
            <p:cNvPr id="23" name="Shape 21"/>
            <p:cNvSpPr/>
            <p:nvPr/>
          </p:nvSpPr>
          <p:spPr>
            <a:xfrm>
              <a:off x="874" y="1994"/>
              <a:ext cx="10611" cy="3711"/>
            </a:xfrm>
            <a:custGeom>
              <a:avLst/>
              <a:gdLst/>
              <a:ahLst/>
              <a:cxnLst/>
              <a:rect l="l" t="t" r="r" b="b"/>
              <a:pathLst>
                <a:path w="5636009" h="1965011">
                  <a:moveTo>
                    <a:pt x="35727" y="0"/>
                  </a:moveTo>
                  <a:lnTo>
                    <a:pt x="5564561" y="0"/>
                  </a:lnTo>
                  <a:cubicBezTo>
                    <a:pt x="5604021" y="0"/>
                    <a:pt x="5636009" y="31988"/>
                    <a:pt x="5636009" y="71448"/>
                  </a:cubicBezTo>
                  <a:lnTo>
                    <a:pt x="5636009" y="1893563"/>
                  </a:lnTo>
                  <a:cubicBezTo>
                    <a:pt x="5636009" y="1933023"/>
                    <a:pt x="5604021" y="1965011"/>
                    <a:pt x="5564561" y="1965011"/>
                  </a:cubicBezTo>
                  <a:lnTo>
                    <a:pt x="35727" y="1965011"/>
                  </a:lnTo>
                  <a:cubicBezTo>
                    <a:pt x="15996" y="1965011"/>
                    <a:pt x="0" y="1949015"/>
                    <a:pt x="0" y="1929284"/>
                  </a:cubicBezTo>
                  <a:lnTo>
                    <a:pt x="0" y="35727"/>
                  </a:lnTo>
                  <a:cubicBezTo>
                    <a:pt x="0" y="16009"/>
                    <a:pt x="16009" y="0"/>
                    <a:pt x="35727" y="0"/>
                  </a:cubicBezTo>
                  <a:close/>
                </a:path>
              </a:pathLst>
            </a:custGeom>
            <a:solidFill>
              <a:srgbClr val="5C7A96">
                <a:alpha val="10196"/>
              </a:srgbClr>
            </a:solidFill>
          </p:spPr>
        </p:sp>
        <p:sp>
          <p:nvSpPr>
            <p:cNvPr id="5" name="Shape 21"/>
            <p:cNvSpPr/>
            <p:nvPr/>
          </p:nvSpPr>
          <p:spPr>
            <a:xfrm>
              <a:off x="880" y="5961"/>
              <a:ext cx="10605" cy="3711"/>
            </a:xfrm>
            <a:custGeom>
              <a:avLst/>
              <a:gdLst/>
              <a:ahLst/>
              <a:cxnLst/>
              <a:rect l="l" t="t" r="r" b="b"/>
              <a:pathLst>
                <a:path w="5636009" h="1965011">
                  <a:moveTo>
                    <a:pt x="35727" y="0"/>
                  </a:moveTo>
                  <a:lnTo>
                    <a:pt x="5564561" y="0"/>
                  </a:lnTo>
                  <a:cubicBezTo>
                    <a:pt x="5604021" y="0"/>
                    <a:pt x="5636009" y="31988"/>
                    <a:pt x="5636009" y="71448"/>
                  </a:cubicBezTo>
                  <a:lnTo>
                    <a:pt x="5636009" y="1893563"/>
                  </a:lnTo>
                  <a:cubicBezTo>
                    <a:pt x="5636009" y="1933023"/>
                    <a:pt x="5604021" y="1965011"/>
                    <a:pt x="5564561" y="1965011"/>
                  </a:cubicBezTo>
                  <a:lnTo>
                    <a:pt x="35727" y="1965011"/>
                  </a:lnTo>
                  <a:cubicBezTo>
                    <a:pt x="15996" y="1965011"/>
                    <a:pt x="0" y="1949015"/>
                    <a:pt x="0" y="1929284"/>
                  </a:cubicBezTo>
                  <a:lnTo>
                    <a:pt x="0" y="35727"/>
                  </a:lnTo>
                  <a:cubicBezTo>
                    <a:pt x="0" y="16009"/>
                    <a:pt x="16009" y="0"/>
                    <a:pt x="35727" y="0"/>
                  </a:cubicBezTo>
                  <a:close/>
                </a:path>
              </a:pathLst>
            </a:custGeom>
            <a:solidFill>
              <a:srgbClr val="5C7A96">
                <a:alpha val="10196"/>
              </a:srgbClr>
            </a:solidFill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381000"/>
            <a:ext cx="8839200" cy="609600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pPr eaLnBrk="1" hangingPunct="1"/>
            <a:r>
              <a:rPr lang="en-US" altLang="zh-CN" dirty="0">
                <a:latin typeface="+mn-ea"/>
                <a:cs typeface="+mn-ea"/>
                <a:sym typeface="+mn-ea"/>
              </a:rPr>
              <a:t>K</a:t>
            </a:r>
            <a:r>
              <a:rPr lang="zh-CN" altLang="en-US" dirty="0">
                <a:latin typeface="+mn-ea"/>
                <a:cs typeface="+mn-ea"/>
                <a:sym typeface="+mn-ea"/>
              </a:rPr>
              <a:t>值选择</a:t>
            </a:r>
            <a:r>
              <a:rPr lang="zh-CN" altLang="en-US" dirty="0">
                <a:latin typeface="+mn-ea"/>
                <a:cs typeface="+mn-ea"/>
                <a:sym typeface="+mn-ea"/>
              </a:rPr>
              <a:t>策略</a:t>
            </a:r>
            <a:endParaRPr lang="zh-CN" altLang="en-US" dirty="0">
              <a:latin typeface="+mn-ea"/>
              <a:cs typeface="+mn-ea"/>
              <a:sym typeface="+mn-ea"/>
            </a:endParaRPr>
          </a:p>
        </p:txBody>
      </p:sp>
      <p:pic>
        <p:nvPicPr>
          <p:cNvPr id="77" name="图片 76"/>
          <p:cNvPicPr>
            <a:picLocks noChangeAspect="1"/>
          </p:cNvPicPr>
          <p:nvPr/>
        </p:nvPicPr>
        <p:blipFill>
          <a:blip r:embed="rId1"/>
          <a:srcRect l="4356" t="14388" r="12031" b="3030"/>
          <a:stretch>
            <a:fillRect/>
          </a:stretch>
        </p:blipFill>
        <p:spPr>
          <a:xfrm>
            <a:off x="7025640" y="1204595"/>
            <a:ext cx="4794250" cy="258508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890385" y="3789680"/>
            <a:ext cx="5210175" cy="2950210"/>
          </a:xfrm>
          <a:prstGeom prst="rect">
            <a:avLst/>
          </a:prstGeom>
        </p:spPr>
        <p:txBody>
          <a:bodyPr>
            <a:noAutofit/>
          </a:bodyPr>
          <a:p>
            <a:pPr marL="0" indent="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场景：不仅要选</a:t>
            </a:r>
            <a:r>
              <a:rPr lang="en-US" altLang="zh-CN" sz="16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16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，还要选距离权重策略和距离度量</a:t>
            </a:r>
            <a:endParaRPr lang="zh-CN" altLang="en-US" sz="1600" b="0" i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参数网格：</a:t>
            </a:r>
            <a:endParaRPr lang="zh-CN" altLang="en-US" sz="1600" b="0" i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6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   K</a:t>
            </a:r>
            <a:r>
              <a:rPr lang="zh-CN" altLang="en-US" sz="16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值：</a:t>
            </a:r>
            <a:r>
              <a:rPr lang="en-US" altLang="zh-CN" sz="16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{3,5,7,9}</a:t>
            </a:r>
            <a:r>
              <a:rPr lang="zh-CN" altLang="en-US" sz="16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6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16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个选项）</a:t>
            </a:r>
            <a:endParaRPr lang="zh-CN" altLang="en-US" sz="1600" b="0" i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6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16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权重：</a:t>
            </a:r>
            <a:r>
              <a:rPr lang="en-US" altLang="zh-CN" sz="16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{uniform</a:t>
            </a:r>
            <a:r>
              <a:rPr lang="zh-CN" altLang="en-US" sz="16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（均匀投票）</a:t>
            </a:r>
            <a:r>
              <a:rPr lang="en-US" altLang="zh-CN" sz="16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, distance</a:t>
            </a:r>
            <a:r>
              <a:rPr lang="zh-CN" altLang="en-US" sz="16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（距离加权投票）</a:t>
            </a:r>
            <a:r>
              <a:rPr lang="en-US" altLang="zh-CN" sz="16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16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6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6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个选项）</a:t>
            </a:r>
            <a:endParaRPr lang="zh-CN" altLang="en-US" sz="1600" b="0" i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6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16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距离度量：</a:t>
            </a:r>
            <a:r>
              <a:rPr lang="en-US" altLang="zh-CN" sz="16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{euclidean, manhattan}</a:t>
            </a:r>
            <a:r>
              <a:rPr lang="zh-CN" altLang="en-US" sz="16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6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6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个选项）</a:t>
            </a:r>
            <a:endParaRPr lang="zh-CN" altLang="en-US" sz="1600" b="0" i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总组合数：</a:t>
            </a:r>
            <a:r>
              <a:rPr lang="en-US" altLang="zh-CN" sz="1600" b="0" i="0">
                <a:latin typeface="Times New Roman" panose="02020603050405020304" pitchFamily="18" charset="0"/>
                <a:cs typeface="Times New Roman" panose="02020603050405020304" pitchFamily="18" charset="0"/>
              </a:rPr>
              <a:t>4×2×2=16 种配置</a:t>
            </a:r>
            <a:endParaRPr lang="en-US" altLang="zh-CN" sz="1600" b="0" i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54990" y="1266190"/>
            <a:ext cx="6181090" cy="5177790"/>
            <a:chOff x="874" y="1994"/>
            <a:chExt cx="9734" cy="8154"/>
          </a:xfrm>
        </p:grpSpPr>
        <p:sp>
          <p:nvSpPr>
            <p:cNvPr id="4" name="文本框 3"/>
            <p:cNvSpPr txBox="1"/>
            <p:nvPr/>
          </p:nvSpPr>
          <p:spPr>
            <a:xfrm>
              <a:off x="880" y="2010"/>
              <a:ext cx="9723" cy="8139"/>
            </a:xfrm>
            <a:prstGeom prst="rect">
              <a:avLst/>
            </a:prstGeom>
          </p:spPr>
          <p:txBody>
            <a:bodyPr>
              <a:noAutofit/>
            </a:bodyPr>
            <a:p>
              <a:pPr marL="0" inden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b="1" dirty="0">
                  <a:cs typeface="+mn-lt"/>
                  <a:sym typeface="+mn-ea"/>
                </a:rPr>
                <a:t>3. 肘部法则</a:t>
              </a:r>
              <a:endParaRPr lang="zh-CN" altLang="en-US" b="1">
                <a:solidFill>
                  <a:srgbClr val="000000"/>
                </a:solidFill>
                <a:cs typeface="+mn-lt"/>
              </a:endParaRPr>
            </a:p>
            <a:p>
              <a:pPr marL="285750" indent="-28575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cs typeface="+mn-lt"/>
                  <a:sym typeface="+mn-ea"/>
                </a:rPr>
                <a:t>绘制误差随K值变化曲线，寻找下降速度明显减缓的拐点</a:t>
              </a:r>
              <a:endParaRPr lang="en-US" dirty="0">
                <a:solidFill>
                  <a:schemeClr val="tx1"/>
                </a:solidFill>
                <a:cs typeface="+mn-lt"/>
              </a:endParaRPr>
            </a:p>
            <a:p>
              <a:pPr marL="285750" indent="-28575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cs typeface="+mn-lt"/>
                  <a:sym typeface="+mn-ea"/>
                </a:rPr>
                <a:t>直观易懂，计算量小</a:t>
              </a:r>
              <a:endParaRPr lang="en-US" dirty="0">
                <a:cs typeface="+mn-lt"/>
                <a:sym typeface="+mn-ea"/>
              </a:endParaRPr>
            </a:p>
            <a:p>
              <a:pPr marL="285750" indent="-28575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cs typeface="+mn-lt"/>
                  <a:sym typeface="+mn-ea"/>
                </a:rPr>
                <a:t>主观性强，拐点不明显时难以判断</a:t>
              </a:r>
              <a:endParaRPr lang="en-US" dirty="0">
                <a:solidFill>
                  <a:schemeClr val="tx1"/>
                </a:solidFill>
                <a:cs typeface="+mn-lt"/>
              </a:endParaRPr>
            </a:p>
            <a:p>
              <a:pPr marL="0" inden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b="1" dirty="0">
                  <a:cs typeface="+mn-lt"/>
                  <a:sym typeface="+mn-ea"/>
                </a:rPr>
                <a:t>适用：</a:t>
              </a:r>
              <a:r>
                <a:rPr lang="en-US" dirty="0">
                  <a:cs typeface="+mn-lt"/>
                  <a:sym typeface="+mn-ea"/>
                </a:rPr>
                <a:t>快速初步筛选，大规模数据集</a:t>
              </a:r>
              <a:endParaRPr lang="en-US" dirty="0">
                <a:solidFill>
                  <a:schemeClr val="tx1"/>
                </a:solidFill>
                <a:cs typeface="+mn-lt"/>
              </a:endParaRPr>
            </a:p>
            <a:p>
              <a:pPr marL="0" inden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endParaRPr lang="zh-CN" altLang="en-US" b="0">
                <a:solidFill>
                  <a:srgbClr val="000000"/>
                </a:solidFill>
                <a:cs typeface="+mn-lt"/>
              </a:endParaRPr>
            </a:p>
            <a:p>
              <a:pPr marL="0" inden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b="1">
                  <a:solidFill>
                    <a:srgbClr val="000000"/>
                  </a:solidFill>
                  <a:cs typeface="+mn-lt"/>
                </a:rPr>
                <a:t>4. </a:t>
              </a:r>
              <a:r>
                <a:rPr lang="en-US" b="1" dirty="0">
                  <a:cs typeface="+mn-lt"/>
                  <a:sym typeface="+mn-ea"/>
                </a:rPr>
                <a:t>网格搜索</a:t>
              </a:r>
              <a:endParaRPr lang="en-US" b="1" dirty="0">
                <a:cs typeface="+mn-lt"/>
                <a:sym typeface="+mn-ea"/>
              </a:endParaRPr>
            </a:p>
            <a:p>
              <a:pPr marL="285750" indent="-28575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cs typeface="+mn-lt"/>
                  <a:sym typeface="+mn-ea"/>
                </a:rPr>
                <a:t>系统遍历预设K值集合，结合交叉验证自动选择最优参数</a:t>
              </a:r>
              <a:endParaRPr lang="en-US" dirty="0">
                <a:cs typeface="+mn-lt"/>
                <a:sym typeface="+mn-ea"/>
              </a:endParaRPr>
            </a:p>
            <a:p>
              <a:pPr marL="285750" indent="-28575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cs typeface="+mn-lt"/>
                  <a:sym typeface="+mn-ea"/>
                </a:rPr>
                <a:t>自动化程度高，系统性强</a:t>
              </a:r>
              <a:endParaRPr lang="en-US" dirty="0">
                <a:cs typeface="+mn-lt"/>
                <a:sym typeface="+mn-ea"/>
              </a:endParaRPr>
            </a:p>
            <a:p>
              <a:pPr marL="285750" indent="-28575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cs typeface="+mn-lt"/>
                  <a:sym typeface="+mn-ea"/>
                </a:rPr>
                <a:t>参数空间越大，计算成本越高</a:t>
              </a:r>
              <a:endParaRPr lang="en-US" dirty="0">
                <a:solidFill>
                  <a:schemeClr val="tx1"/>
                </a:solidFill>
                <a:cs typeface="+mn-lt"/>
              </a:endParaRPr>
            </a:p>
            <a:p>
              <a:pPr marL="0" inden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b="1" dirty="0">
                  <a:cs typeface="+mn-lt"/>
                  <a:sym typeface="+mn-ea"/>
                </a:rPr>
                <a:t>适用：</a:t>
              </a:r>
              <a:r>
                <a:rPr lang="en-US" dirty="0">
                  <a:cs typeface="+mn-lt"/>
                  <a:sym typeface="+mn-ea"/>
                </a:rPr>
                <a:t>超参数调优，多参数组合优化</a:t>
              </a:r>
              <a:endParaRPr lang="en-US" b="1" dirty="0">
                <a:solidFill>
                  <a:schemeClr val="tx1"/>
                </a:solidFill>
                <a:cs typeface="+mn-lt"/>
              </a:endParaRPr>
            </a:p>
            <a:p>
              <a:pPr marL="0" inden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zh-CN" b="0">
                <a:solidFill>
                  <a:srgbClr val="000000"/>
                </a:solidFill>
                <a:cs typeface="+mn-lt"/>
              </a:endParaRPr>
            </a:p>
          </p:txBody>
        </p:sp>
        <p:sp>
          <p:nvSpPr>
            <p:cNvPr id="23" name="Shape 21"/>
            <p:cNvSpPr/>
            <p:nvPr/>
          </p:nvSpPr>
          <p:spPr>
            <a:xfrm>
              <a:off x="874" y="1994"/>
              <a:ext cx="9729" cy="3711"/>
            </a:xfrm>
            <a:custGeom>
              <a:avLst/>
              <a:gdLst/>
              <a:ahLst/>
              <a:cxnLst/>
              <a:rect l="l" t="t" r="r" b="b"/>
              <a:pathLst>
                <a:path w="5636009" h="1965011">
                  <a:moveTo>
                    <a:pt x="35727" y="0"/>
                  </a:moveTo>
                  <a:lnTo>
                    <a:pt x="5564561" y="0"/>
                  </a:lnTo>
                  <a:cubicBezTo>
                    <a:pt x="5604021" y="0"/>
                    <a:pt x="5636009" y="31988"/>
                    <a:pt x="5636009" y="71448"/>
                  </a:cubicBezTo>
                  <a:lnTo>
                    <a:pt x="5636009" y="1893563"/>
                  </a:lnTo>
                  <a:cubicBezTo>
                    <a:pt x="5636009" y="1933023"/>
                    <a:pt x="5604021" y="1965011"/>
                    <a:pt x="5564561" y="1965011"/>
                  </a:cubicBezTo>
                  <a:lnTo>
                    <a:pt x="35727" y="1965011"/>
                  </a:lnTo>
                  <a:cubicBezTo>
                    <a:pt x="15996" y="1965011"/>
                    <a:pt x="0" y="1949015"/>
                    <a:pt x="0" y="1929284"/>
                  </a:cubicBezTo>
                  <a:lnTo>
                    <a:pt x="0" y="35727"/>
                  </a:lnTo>
                  <a:cubicBezTo>
                    <a:pt x="0" y="16009"/>
                    <a:pt x="16009" y="0"/>
                    <a:pt x="35727" y="0"/>
                  </a:cubicBezTo>
                  <a:close/>
                </a:path>
              </a:pathLst>
            </a:custGeom>
            <a:solidFill>
              <a:srgbClr val="5C7A96">
                <a:alpha val="10196"/>
              </a:srgbClr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2" name="Shape 21"/>
            <p:cNvSpPr/>
            <p:nvPr/>
          </p:nvSpPr>
          <p:spPr>
            <a:xfrm>
              <a:off x="880" y="5968"/>
              <a:ext cx="9729" cy="3711"/>
            </a:xfrm>
            <a:custGeom>
              <a:avLst/>
              <a:gdLst/>
              <a:ahLst/>
              <a:cxnLst/>
              <a:rect l="l" t="t" r="r" b="b"/>
              <a:pathLst>
                <a:path w="5636009" h="1965011">
                  <a:moveTo>
                    <a:pt x="35727" y="0"/>
                  </a:moveTo>
                  <a:lnTo>
                    <a:pt x="5564561" y="0"/>
                  </a:lnTo>
                  <a:cubicBezTo>
                    <a:pt x="5604021" y="0"/>
                    <a:pt x="5636009" y="31988"/>
                    <a:pt x="5636009" y="71448"/>
                  </a:cubicBezTo>
                  <a:lnTo>
                    <a:pt x="5636009" y="1893563"/>
                  </a:lnTo>
                  <a:cubicBezTo>
                    <a:pt x="5636009" y="1933023"/>
                    <a:pt x="5604021" y="1965011"/>
                    <a:pt x="5564561" y="1965011"/>
                  </a:cubicBezTo>
                  <a:lnTo>
                    <a:pt x="35727" y="1965011"/>
                  </a:lnTo>
                  <a:cubicBezTo>
                    <a:pt x="15996" y="1965011"/>
                    <a:pt x="0" y="1949015"/>
                    <a:pt x="0" y="1929284"/>
                  </a:cubicBezTo>
                  <a:lnTo>
                    <a:pt x="0" y="35727"/>
                  </a:lnTo>
                  <a:cubicBezTo>
                    <a:pt x="0" y="16009"/>
                    <a:pt x="16009" y="0"/>
                    <a:pt x="35727" y="0"/>
                  </a:cubicBezTo>
                  <a:close/>
                </a:path>
              </a:pathLst>
            </a:custGeom>
            <a:solidFill>
              <a:srgbClr val="5C7A96">
                <a:alpha val="10196"/>
              </a:srgbClr>
            </a:solidFill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381000"/>
            <a:ext cx="8839200" cy="609600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pPr eaLnBrk="1" hangingPunct="1"/>
            <a:r>
              <a:rPr lang="en-US" altLang="zh-CN" dirty="0">
                <a:latin typeface="+mn-ea"/>
                <a:cs typeface="+mn-ea"/>
                <a:sym typeface="+mn-ea"/>
              </a:rPr>
              <a:t>K</a:t>
            </a:r>
            <a:r>
              <a:rPr lang="zh-CN" altLang="en-US" dirty="0">
                <a:latin typeface="+mn-ea"/>
                <a:cs typeface="+mn-ea"/>
                <a:sym typeface="+mn-ea"/>
              </a:rPr>
              <a:t>值选择</a:t>
            </a:r>
            <a:r>
              <a:rPr lang="zh-CN" altLang="en-US" dirty="0">
                <a:latin typeface="+mn-ea"/>
                <a:cs typeface="+mn-ea"/>
                <a:sym typeface="+mn-ea"/>
              </a:rPr>
              <a:t>策略</a:t>
            </a:r>
            <a:endParaRPr lang="zh-CN" altLang="en-US" dirty="0">
              <a:latin typeface="+mn-ea"/>
              <a:cs typeface="+mn-ea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9280" y="1216025"/>
            <a:ext cx="56553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cs typeface="+mn-lt"/>
              </a:rPr>
              <a:t>5. </a:t>
            </a:r>
            <a:r>
              <a:rPr lang="zh-CN" altLang="en-US" sz="2000" b="1">
                <a:cs typeface="+mn-lt"/>
              </a:rPr>
              <a:t>距离加权</a:t>
            </a:r>
            <a:r>
              <a:rPr lang="en-US" altLang="zh-CN" sz="2000" b="1">
                <a:cs typeface="+mn-lt"/>
              </a:rPr>
              <a:t>KNN</a:t>
            </a:r>
            <a:endParaRPr lang="en-US" altLang="zh-CN" sz="2000" b="1">
              <a:cs typeface="+mn-lt"/>
            </a:endParaRPr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305" y="1638935"/>
            <a:ext cx="5577205" cy="52038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381000"/>
            <a:ext cx="8839200" cy="609600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pPr eaLnBrk="1" hangingPunct="1"/>
            <a:r>
              <a:rPr lang="en-US" altLang="zh-CN" dirty="0">
                <a:latin typeface="+mn-ea"/>
                <a:cs typeface="+mn-ea"/>
                <a:sym typeface="+mn-ea"/>
              </a:rPr>
              <a:t>K</a:t>
            </a:r>
            <a:r>
              <a:rPr lang="zh-CN" altLang="en-US" dirty="0">
                <a:latin typeface="+mn-ea"/>
                <a:cs typeface="+mn-ea"/>
                <a:sym typeface="+mn-ea"/>
              </a:rPr>
              <a:t>值选择</a:t>
            </a:r>
            <a:r>
              <a:rPr lang="zh-CN" altLang="en-US" dirty="0">
                <a:latin typeface="+mn-ea"/>
                <a:cs typeface="+mn-ea"/>
                <a:sym typeface="+mn-ea"/>
              </a:rPr>
              <a:t>策略</a:t>
            </a:r>
            <a:endParaRPr lang="zh-CN" altLang="en-US" dirty="0">
              <a:latin typeface="+mn-ea"/>
              <a:cs typeface="+mn-ea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8315" y="1266825"/>
            <a:ext cx="6207760" cy="3896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200000"/>
              </a:lnSpc>
            </a:pPr>
            <a:r>
              <a:rPr lang="en-US" altLang="zh-CN" sz="2000" b="1">
                <a:cs typeface="+mn-lt"/>
              </a:rPr>
              <a:t>6. </a:t>
            </a:r>
            <a:r>
              <a:rPr lang="zh-CN" altLang="en-US" sz="2000" b="1">
                <a:cs typeface="+mn-lt"/>
              </a:rPr>
              <a:t>局部自适应</a:t>
            </a:r>
            <a:r>
              <a:rPr lang="en-US" altLang="zh-CN" sz="2000" b="1">
                <a:cs typeface="+mn-lt"/>
              </a:rPr>
              <a:t> K</a:t>
            </a:r>
            <a:endParaRPr lang="en-US" altLang="zh-CN" sz="2000" b="1">
              <a:cs typeface="+mn-lt"/>
            </a:endParaRPr>
          </a:p>
          <a:p>
            <a:pPr>
              <a:lnSpc>
                <a:spcPct val="200000"/>
              </a:lnSpc>
            </a:pPr>
            <a:r>
              <a:rPr lang="en-US" altLang="zh-CN" sz="2000">
                <a:cs typeface="+mn-lt"/>
              </a:rPr>
              <a:t>K </a:t>
            </a:r>
            <a:r>
              <a:rPr lang="zh-CN" altLang="en-US" sz="2000">
                <a:cs typeface="+mn-lt"/>
              </a:rPr>
              <a:t>的选择本质是</a:t>
            </a:r>
            <a:r>
              <a:rPr lang="zh-CN" altLang="en-US" sz="2000">
                <a:cs typeface="+mn-lt"/>
                <a:sym typeface="+mn-ea"/>
              </a:rPr>
              <a:t>平衡偏差（</a:t>
            </a:r>
            <a:r>
              <a:rPr lang="en-US" altLang="zh-CN" sz="2000">
                <a:cs typeface="+mn-lt"/>
                <a:sym typeface="+mn-ea"/>
              </a:rPr>
              <a:t>Bias</a:t>
            </a:r>
            <a:r>
              <a:rPr lang="zh-CN" altLang="en-US" sz="2000">
                <a:cs typeface="+mn-lt"/>
                <a:sym typeface="+mn-ea"/>
              </a:rPr>
              <a:t>）与方差（</a:t>
            </a:r>
            <a:r>
              <a:rPr lang="en-US" altLang="zh-CN" sz="2000">
                <a:cs typeface="+mn-lt"/>
                <a:sym typeface="+mn-ea"/>
              </a:rPr>
              <a:t>Variance</a:t>
            </a:r>
            <a:r>
              <a:rPr lang="zh-CN" altLang="en-US" sz="2000">
                <a:cs typeface="+mn-lt"/>
                <a:sym typeface="+mn-ea"/>
              </a:rPr>
              <a:t>）</a:t>
            </a:r>
            <a:endParaRPr lang="zh-CN" altLang="en-US" sz="2000">
              <a:cs typeface="+mn-lt"/>
            </a:endParaRPr>
          </a:p>
          <a:p>
            <a:pPr>
              <a:lnSpc>
                <a:spcPct val="200000"/>
              </a:lnSpc>
            </a:pPr>
            <a:endParaRPr lang="en-US" altLang="zh-CN" sz="2000">
              <a:cs typeface="+mn-lt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cs typeface="+mn-lt"/>
              </a:rPr>
              <a:t>密集区域</a:t>
            </a:r>
            <a:r>
              <a:rPr lang="en-US" altLang="zh-CN" sz="2000">
                <a:cs typeface="+mn-lt"/>
              </a:rPr>
              <a:t> </a:t>
            </a:r>
            <a:r>
              <a:rPr lang="en-US" altLang="en-US" sz="2000">
                <a:cs typeface="+mn-lt"/>
              </a:rPr>
              <a:t>→</a:t>
            </a:r>
            <a:r>
              <a:rPr lang="en-US" altLang="zh-CN" sz="2000">
                <a:cs typeface="+mn-lt"/>
              </a:rPr>
              <a:t> </a:t>
            </a:r>
            <a:r>
              <a:rPr lang="zh-CN" altLang="en-US" sz="2000">
                <a:cs typeface="+mn-lt"/>
              </a:rPr>
              <a:t>使用较大</a:t>
            </a:r>
            <a:r>
              <a:rPr lang="en-US" altLang="zh-CN" sz="2000">
                <a:cs typeface="+mn-lt"/>
              </a:rPr>
              <a:t> K </a:t>
            </a:r>
            <a:r>
              <a:rPr lang="zh-CN" altLang="en-US" sz="2000">
                <a:cs typeface="+mn-lt"/>
              </a:rPr>
              <a:t>降低方差</a:t>
            </a:r>
            <a:endParaRPr lang="zh-CN" altLang="en-US" sz="2000">
              <a:cs typeface="+mn-lt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cs typeface="+mn-lt"/>
              </a:rPr>
              <a:t>稀疏区域</a:t>
            </a:r>
            <a:r>
              <a:rPr lang="en-US" altLang="zh-CN" sz="2000">
                <a:cs typeface="+mn-lt"/>
              </a:rPr>
              <a:t> </a:t>
            </a:r>
            <a:r>
              <a:rPr lang="en-US" altLang="en-US" sz="2000">
                <a:cs typeface="+mn-lt"/>
              </a:rPr>
              <a:t>→</a:t>
            </a:r>
            <a:r>
              <a:rPr lang="en-US" altLang="zh-CN" sz="2000">
                <a:cs typeface="+mn-lt"/>
              </a:rPr>
              <a:t> </a:t>
            </a:r>
            <a:r>
              <a:rPr lang="zh-CN" altLang="en-US" sz="2000">
                <a:cs typeface="+mn-lt"/>
              </a:rPr>
              <a:t>使用较小</a:t>
            </a:r>
            <a:r>
              <a:rPr lang="en-US" altLang="zh-CN" sz="2000">
                <a:cs typeface="+mn-lt"/>
              </a:rPr>
              <a:t> K </a:t>
            </a:r>
            <a:r>
              <a:rPr lang="zh-CN" altLang="en-US" sz="2000">
                <a:cs typeface="+mn-lt"/>
              </a:rPr>
              <a:t>降低偏差</a:t>
            </a:r>
            <a:endParaRPr lang="zh-CN" altLang="en-US" sz="2000">
              <a:cs typeface="+mn-lt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cs typeface="+mn-lt"/>
              </a:rPr>
              <a:t>边界区域</a:t>
            </a:r>
            <a:r>
              <a:rPr lang="en-US" altLang="zh-CN" sz="2000">
                <a:cs typeface="+mn-lt"/>
              </a:rPr>
              <a:t> </a:t>
            </a:r>
            <a:r>
              <a:rPr lang="en-US" altLang="en-US" sz="2000">
                <a:cs typeface="+mn-lt"/>
              </a:rPr>
              <a:t>→</a:t>
            </a:r>
            <a:r>
              <a:rPr lang="en-US" altLang="zh-CN" sz="2000">
                <a:cs typeface="+mn-lt"/>
              </a:rPr>
              <a:t> </a:t>
            </a:r>
            <a:r>
              <a:rPr lang="zh-CN" altLang="en-US" sz="2000">
                <a:cs typeface="+mn-lt"/>
              </a:rPr>
              <a:t>使用极小</a:t>
            </a:r>
            <a:r>
              <a:rPr lang="en-US" altLang="zh-CN" sz="2000">
                <a:cs typeface="+mn-lt"/>
              </a:rPr>
              <a:t> K </a:t>
            </a:r>
            <a:r>
              <a:rPr lang="zh-CN" altLang="en-US" sz="2000">
                <a:cs typeface="+mn-lt"/>
              </a:rPr>
              <a:t>保持决策敏感性</a:t>
            </a:r>
            <a:endParaRPr lang="zh-CN" altLang="en-US" sz="2000">
              <a:cs typeface="+mn-lt"/>
            </a:endParaRPr>
          </a:p>
          <a:p>
            <a:pPr>
              <a:lnSpc>
                <a:spcPct val="200000"/>
              </a:lnSpc>
            </a:pPr>
            <a:endParaRPr lang="zh-CN" altLang="en-US" sz="2000">
              <a:cs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12862" t="-476" r="8522"/>
          <a:stretch>
            <a:fillRect/>
          </a:stretch>
        </p:blipFill>
        <p:spPr>
          <a:xfrm>
            <a:off x="6558915" y="1887855"/>
            <a:ext cx="5581650" cy="39185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381000"/>
            <a:ext cx="8839200" cy="609600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pPr eaLnBrk="1" hangingPunct="1"/>
            <a:r>
              <a:rPr lang="zh-CN" altLang="en-US" dirty="0">
                <a:latin typeface="+mn-ea"/>
                <a:cs typeface="+mn-ea"/>
                <a:sym typeface="+mn-ea"/>
              </a:rPr>
              <a:t>距离度量</a:t>
            </a:r>
            <a:r>
              <a:rPr lang="zh-CN" altLang="en-US" dirty="0">
                <a:latin typeface="+mn-ea"/>
                <a:cs typeface="+mn-ea"/>
                <a:sym typeface="+mn-ea"/>
              </a:rPr>
              <a:t>方法</a:t>
            </a:r>
            <a:endParaRPr lang="zh-CN" altLang="en-US" dirty="0">
              <a:latin typeface="+mn-ea"/>
              <a:cs typeface="+mn-ea"/>
              <a:sym typeface="+mn-ea"/>
            </a:endParaRPr>
          </a:p>
        </p:txBody>
      </p:sp>
      <p:pic>
        <p:nvPicPr>
          <p:cNvPr id="115" name="图片 1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655" y="1267460"/>
            <a:ext cx="7156450" cy="532574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381000"/>
            <a:ext cx="8839200" cy="609600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pPr eaLnBrk="1" hangingPunct="1"/>
            <a:r>
              <a:rPr lang="zh-CN" altLang="en-US" dirty="0">
                <a:latin typeface="+mn-ea"/>
                <a:cs typeface="+mn-ea"/>
                <a:sym typeface="+mn-ea"/>
              </a:rPr>
              <a:t>距离度量</a:t>
            </a:r>
            <a:r>
              <a:rPr lang="zh-CN" altLang="en-US" dirty="0">
                <a:latin typeface="+mn-ea"/>
                <a:cs typeface="+mn-ea"/>
                <a:sym typeface="+mn-ea"/>
              </a:rPr>
              <a:t>方法</a:t>
            </a:r>
            <a:endParaRPr lang="zh-CN" altLang="en-US" dirty="0">
              <a:latin typeface="+mn-ea"/>
              <a:cs typeface="+mn-ea"/>
              <a:sym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40030" y="1193165"/>
            <a:ext cx="11463655" cy="2191385"/>
          </a:xfrm>
          <a:custGeom>
            <a:avLst/>
            <a:gdLst/>
            <a:ahLst/>
            <a:cxnLst/>
            <a:rect l="l" t="t" r="r" b="b"/>
            <a:pathLst>
              <a:path w="4486991" h="3239896">
                <a:moveTo>
                  <a:pt x="131281" y="0"/>
                </a:moveTo>
                <a:lnTo>
                  <a:pt x="4355711" y="0"/>
                </a:lnTo>
                <a:cubicBezTo>
                  <a:pt x="4428215" y="0"/>
                  <a:pt x="4486991" y="58776"/>
                  <a:pt x="4486991" y="131281"/>
                </a:cubicBezTo>
                <a:lnTo>
                  <a:pt x="4486991" y="3108615"/>
                </a:lnTo>
                <a:cubicBezTo>
                  <a:pt x="4486991" y="3181120"/>
                  <a:pt x="4428215" y="3239896"/>
                  <a:pt x="4355711" y="3239896"/>
                </a:cubicBezTo>
                <a:lnTo>
                  <a:pt x="131281" y="3239896"/>
                </a:lnTo>
                <a:cubicBezTo>
                  <a:pt x="58825" y="3239896"/>
                  <a:pt x="0" y="3181071"/>
                  <a:pt x="0" y="3108615"/>
                </a:cubicBezTo>
                <a:lnTo>
                  <a:pt x="0" y="131281"/>
                </a:lnTo>
                <a:cubicBezTo>
                  <a:pt x="0" y="58825"/>
                  <a:pt x="58825" y="0"/>
                  <a:pt x="131281" y="0"/>
                </a:cubicBezTo>
                <a:close/>
              </a:path>
            </a:pathLst>
          </a:custGeom>
          <a:solidFill>
            <a:srgbClr val="FFFFFF"/>
          </a:solidFill>
          <a:ln w="11289">
            <a:solidFill>
              <a:srgbClr val="E5E5E5"/>
            </a:solidFill>
            <a:prstDash val="solid"/>
          </a:ln>
        </p:spPr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440" y="1385570"/>
            <a:ext cx="7473315" cy="185674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0030" y="3745230"/>
            <a:ext cx="10340340" cy="239966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altLang="en-US" sz="2000">
                <a:cs typeface="+mn-lt"/>
              </a:rPr>
              <a:t>常见解决方法包括：</a:t>
            </a:r>
            <a:endParaRPr lang="zh-CN" altLang="en-US" sz="2000"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cs typeface="+mn-lt"/>
              </a:rPr>
              <a:t>1. </a:t>
            </a:r>
            <a:r>
              <a:rPr lang="zh-CN" altLang="en-US" sz="2000">
                <a:cs typeface="+mn-lt"/>
              </a:rPr>
              <a:t>数据标准化</a:t>
            </a:r>
            <a:r>
              <a:rPr lang="en-US" altLang="zh-CN" sz="2000">
                <a:cs typeface="+mn-lt"/>
              </a:rPr>
              <a:t> —— </a:t>
            </a:r>
            <a:r>
              <a:rPr lang="zh-CN" altLang="en-US" sz="2000">
                <a:cs typeface="+mn-lt"/>
              </a:rPr>
              <a:t>避免某些维度主导距离</a:t>
            </a:r>
            <a:endParaRPr lang="zh-CN" altLang="en-US" sz="2000"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cs typeface="+mn-lt"/>
              </a:rPr>
              <a:t>2. </a:t>
            </a:r>
            <a:r>
              <a:rPr lang="zh-CN" altLang="en-US" sz="2000">
                <a:cs typeface="+mn-lt"/>
              </a:rPr>
              <a:t>降维</a:t>
            </a:r>
            <a:r>
              <a:rPr lang="en-US" altLang="zh-CN" sz="2000">
                <a:cs typeface="+mn-lt"/>
              </a:rPr>
              <a:t> —— </a:t>
            </a:r>
            <a:r>
              <a:rPr lang="zh-CN" altLang="en-US" sz="2000">
                <a:cs typeface="+mn-lt"/>
              </a:rPr>
              <a:t>把高维</a:t>
            </a:r>
            <a:r>
              <a:rPr lang="en-US" altLang="zh-CN" sz="2000">
                <a:cs typeface="+mn-lt"/>
              </a:rPr>
              <a:t> </a:t>
            </a:r>
            <a:r>
              <a:rPr lang="en-US" altLang="en-US" sz="2000">
                <a:cs typeface="+mn-lt"/>
              </a:rPr>
              <a:t>→</a:t>
            </a:r>
            <a:r>
              <a:rPr lang="en-US" altLang="zh-CN" sz="2000">
                <a:cs typeface="+mn-lt"/>
              </a:rPr>
              <a:t> </a:t>
            </a:r>
            <a:r>
              <a:rPr lang="zh-CN" altLang="en-US" sz="2000">
                <a:cs typeface="+mn-lt"/>
              </a:rPr>
              <a:t>低维（保留信息）</a:t>
            </a:r>
            <a:endParaRPr lang="zh-CN" altLang="en-US" sz="2000"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cs typeface="+mn-lt"/>
              </a:rPr>
              <a:t>3. </a:t>
            </a:r>
            <a:r>
              <a:rPr lang="zh-CN" altLang="en-US" sz="2000">
                <a:cs typeface="+mn-lt"/>
              </a:rPr>
              <a:t>使用其他距离度量（如余弦相似度）</a:t>
            </a:r>
            <a:endParaRPr lang="zh-CN" altLang="en-US" sz="2000"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cs typeface="+mn-lt"/>
              </a:rPr>
              <a:t>4. </a:t>
            </a:r>
            <a:r>
              <a:rPr lang="zh-CN" altLang="en-US" sz="2000">
                <a:cs typeface="+mn-lt"/>
              </a:rPr>
              <a:t>特征选择</a:t>
            </a:r>
            <a:r>
              <a:rPr lang="en-US" altLang="zh-CN" sz="2000">
                <a:cs typeface="+mn-lt"/>
              </a:rPr>
              <a:t> —— </a:t>
            </a:r>
            <a:r>
              <a:rPr lang="zh-CN" altLang="en-US" sz="2000">
                <a:cs typeface="+mn-lt"/>
              </a:rPr>
              <a:t>只保留重要特征</a:t>
            </a:r>
            <a:endParaRPr lang="zh-CN" altLang="en-US" sz="2000">
              <a:cs typeface="+mn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381000"/>
            <a:ext cx="8839200" cy="609600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pPr eaLnBrk="1" hangingPunct="1"/>
            <a:r>
              <a:rPr lang="zh-CN" altLang="en-US" dirty="0">
                <a:latin typeface="+mn-ea"/>
                <a:cs typeface="+mn-ea"/>
                <a:sym typeface="+mn-ea"/>
              </a:rPr>
              <a:t>距离度量</a:t>
            </a:r>
            <a:r>
              <a:rPr lang="zh-CN" altLang="en-US" dirty="0">
                <a:latin typeface="+mn-ea"/>
                <a:cs typeface="+mn-ea"/>
                <a:sym typeface="+mn-ea"/>
              </a:rPr>
              <a:t>方法</a:t>
            </a:r>
            <a:endParaRPr lang="zh-CN" altLang="en-US" dirty="0">
              <a:latin typeface="+mn-ea"/>
              <a:cs typeface="+mn-ea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710" y="1247775"/>
            <a:ext cx="8477885" cy="397764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00710" y="5359400"/>
            <a:ext cx="6971030" cy="350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7.</a:t>
            </a:r>
            <a:r>
              <a:rPr lang="zh-CN" alt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汉明距离（</a:t>
            </a:r>
            <a:r>
              <a:rPr lang="en-US" altLang="zh-CN" sz="12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Hamming Distance</a:t>
            </a:r>
            <a:r>
              <a:rPr lang="zh-CN" alt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12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12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885" y="5709920"/>
            <a:ext cx="5023485" cy="39243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10" y="6300470"/>
            <a:ext cx="5043170" cy="5441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381000"/>
            <a:ext cx="8839200" cy="609600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pPr eaLnBrk="1" hangingPunct="1"/>
            <a:r>
              <a:rPr lang="zh-CN" altLang="en-US" dirty="0">
                <a:latin typeface="+mn-ea"/>
                <a:cs typeface="+mn-ea"/>
                <a:sym typeface="+mn-ea"/>
              </a:rPr>
              <a:t>距离度量</a:t>
            </a:r>
            <a:r>
              <a:rPr lang="zh-CN" altLang="en-US" dirty="0">
                <a:latin typeface="+mn-ea"/>
                <a:cs typeface="+mn-ea"/>
                <a:sym typeface="+mn-ea"/>
              </a:rPr>
              <a:t>方法</a:t>
            </a:r>
            <a:endParaRPr lang="zh-CN" altLang="en-US" dirty="0">
              <a:latin typeface="+mn-ea"/>
              <a:cs typeface="+mn-ea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5260" y="1340485"/>
            <a:ext cx="5609590" cy="541083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81025" y="1254125"/>
            <a:ext cx="2804160" cy="521335"/>
          </a:xfrm>
          <a:prstGeom prst="rect">
            <a:avLst/>
          </a:prstGeom>
        </p:spPr>
        <p:txBody>
          <a:bodyPr anchor="t" anchorCtr="0">
            <a:noAutofit/>
          </a:bodyPr>
          <a:p>
            <a:pPr marL="0" indent="0" algn="just">
              <a:lnSpc>
                <a:spcPct val="150000"/>
              </a:lnSpc>
              <a:spcBef>
                <a:spcPts val="800"/>
              </a:spcBef>
              <a:spcAft>
                <a:spcPts val="200"/>
              </a:spcAft>
            </a:pPr>
            <a:r>
              <a:rPr lang="zh-CN" altLang="en-US" sz="2000" b="0" i="0">
                <a:solidFill>
                  <a:srgbClr val="4F4F4F"/>
                </a:solidFill>
                <a:ea typeface="PingFang SC"/>
              </a:rPr>
              <a:t>距离度量选择建议：</a:t>
            </a:r>
            <a:endParaRPr lang="zh-CN" altLang="en-US" sz="2000" b="0" i="0">
              <a:solidFill>
                <a:srgbClr val="4F4F4F"/>
              </a:solidFill>
              <a:ea typeface="PingFang SC"/>
            </a:endParaRPr>
          </a:p>
        </p:txBody>
      </p:sp>
      <p:graphicFrame>
        <p:nvGraphicFramePr>
          <p:cNvPr id="9" name="表格 8"/>
          <p:cNvGraphicFramePr/>
          <p:nvPr>
            <p:custDataLst>
              <p:tags r:id="rId2"/>
            </p:custDataLst>
          </p:nvPr>
        </p:nvGraphicFramePr>
        <p:xfrm>
          <a:off x="716915" y="1948180"/>
          <a:ext cx="4744720" cy="2362200"/>
        </p:xfrm>
        <a:graphic>
          <a:graphicData uri="http://schemas.openxmlformats.org/drawingml/2006/table">
            <a:tbl>
              <a:tblPr/>
              <a:tblGrid>
                <a:gridCol w="2372360"/>
                <a:gridCol w="2372360"/>
              </a:tblGrid>
              <a:tr h="472440">
                <a:tc>
                  <a:txBody>
                    <a:bodyPr/>
                    <a:p>
                      <a:pPr marL="0" indent="0" algn="ctr" fontAlgn="ctr" latinLnBrk="0">
                        <a:lnSpc>
                          <a:spcPts val="73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>
                          <a:solidFill>
                            <a:srgbClr val="4F4F4F"/>
                          </a:solidFill>
                        </a:rPr>
                        <a:t>场景</a:t>
                      </a:r>
                      <a:endParaRPr lang="zh-CN" altLang="en-US" sz="1600" b="1">
                        <a:solidFill>
                          <a:srgbClr val="4F4F4F"/>
                        </a:solidFill>
                      </a:endParaRPr>
                    </a:p>
                  </a:txBody>
                  <a:tcPr marL="34184" marR="34184" marT="34184" marB="34184" anchor="ctr" anchorCtr="0">
                    <a:lnL w="4445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4445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FF3F5"/>
                    </a:solidFill>
                  </a:tcPr>
                </a:tc>
                <a:tc>
                  <a:txBody>
                    <a:bodyPr/>
                    <a:p>
                      <a:pPr marL="0" indent="0" algn="ctr" fontAlgn="ctr" latinLnBrk="0">
                        <a:lnSpc>
                          <a:spcPts val="73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>
                          <a:solidFill>
                            <a:srgbClr val="4F4F4F"/>
                          </a:solidFill>
                        </a:rPr>
                        <a:t>推荐距离度量</a:t>
                      </a:r>
                      <a:endParaRPr lang="zh-CN" altLang="en-US" sz="1600" b="1">
                        <a:solidFill>
                          <a:srgbClr val="4F4F4F"/>
                        </a:solidFill>
                      </a:endParaRPr>
                    </a:p>
                  </a:txBody>
                  <a:tcPr marL="34184" marR="34184" marT="34184" marB="34184" anchor="ctr" anchorCtr="0">
                    <a:lnL w="4445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4445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FF3F5"/>
                    </a:solidFill>
                  </a:tcPr>
                </a:tc>
              </a:tr>
              <a:tr h="472440">
                <a:tc>
                  <a:txBody>
                    <a:bodyPr/>
                    <a:p>
                      <a:pPr marL="0" indent="0" algn="ctr" fontAlgn="ctr" latinLnBrk="0">
                        <a:lnSpc>
                          <a:spcPts val="73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>
                          <a:solidFill>
                            <a:srgbClr val="4F4F4F"/>
                          </a:solidFill>
                        </a:rPr>
                        <a:t>一般连续特征</a:t>
                      </a:r>
                      <a:endParaRPr lang="zh-CN" altLang="en-US" sz="1600" b="0">
                        <a:solidFill>
                          <a:srgbClr val="4F4F4F"/>
                        </a:solidFill>
                      </a:endParaRPr>
                    </a:p>
                  </a:txBody>
                  <a:tcPr marL="34184" marR="34184" marT="34184" marB="34184" anchor="ctr" anchorCtr="0">
                    <a:lnL w="4445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4445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 latinLnBrk="0">
                        <a:lnSpc>
                          <a:spcPts val="73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>
                          <a:solidFill>
                            <a:srgbClr val="4F4F4F"/>
                          </a:solidFill>
                        </a:rPr>
                        <a:t>欧氏距离</a:t>
                      </a:r>
                      <a:endParaRPr lang="zh-CN" altLang="en-US" sz="1600" b="0">
                        <a:solidFill>
                          <a:srgbClr val="4F4F4F"/>
                        </a:solidFill>
                      </a:endParaRPr>
                    </a:p>
                  </a:txBody>
                  <a:tcPr marL="34184" marR="34184" marT="34184" marB="34184" anchor="ctr" anchorCtr="0">
                    <a:lnL w="4445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4445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2440">
                <a:tc>
                  <a:txBody>
                    <a:bodyPr/>
                    <a:p>
                      <a:pPr marL="0" indent="0" algn="ctr" fontAlgn="ctr" latinLnBrk="0">
                        <a:lnSpc>
                          <a:spcPts val="73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>
                          <a:solidFill>
                            <a:srgbClr val="4F4F4F"/>
                          </a:solidFill>
                        </a:rPr>
                        <a:t>高维稀疏数据</a:t>
                      </a:r>
                      <a:endParaRPr lang="zh-CN" altLang="en-US" sz="1600" b="0">
                        <a:solidFill>
                          <a:srgbClr val="4F4F4F"/>
                        </a:solidFill>
                      </a:endParaRPr>
                    </a:p>
                  </a:txBody>
                  <a:tcPr marL="34184" marR="34184" marT="34184" marB="34184" anchor="ctr" anchorCtr="0">
                    <a:lnL w="4445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4445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 latinLnBrk="0">
                        <a:lnSpc>
                          <a:spcPts val="73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>
                          <a:solidFill>
                            <a:srgbClr val="4F4F4F"/>
                          </a:solidFill>
                        </a:rPr>
                        <a:t>余弦相似度</a:t>
                      </a:r>
                      <a:endParaRPr lang="zh-CN" altLang="en-US" sz="1600" b="0">
                        <a:solidFill>
                          <a:srgbClr val="4F4F4F"/>
                        </a:solidFill>
                      </a:endParaRPr>
                    </a:p>
                  </a:txBody>
                  <a:tcPr marL="34184" marR="34184" marT="34184" marB="34184" anchor="ctr" anchorCtr="0">
                    <a:lnL w="4445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4445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2440">
                <a:tc>
                  <a:txBody>
                    <a:bodyPr/>
                    <a:p>
                      <a:pPr marL="0" indent="0" algn="ctr" fontAlgn="ctr" latinLnBrk="0">
                        <a:lnSpc>
                          <a:spcPts val="73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>
                          <a:solidFill>
                            <a:srgbClr val="4F4F4F"/>
                          </a:solidFill>
                        </a:rPr>
                        <a:t>特征相关性较强</a:t>
                      </a:r>
                      <a:endParaRPr lang="zh-CN" altLang="en-US" sz="1600" b="0">
                        <a:solidFill>
                          <a:srgbClr val="4F4F4F"/>
                        </a:solidFill>
                      </a:endParaRPr>
                    </a:p>
                  </a:txBody>
                  <a:tcPr marL="34184" marR="34184" marT="34184" marB="34184" anchor="ctr" anchorCtr="0">
                    <a:lnL w="4445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4445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 latinLnBrk="0">
                        <a:lnSpc>
                          <a:spcPts val="73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>
                          <a:solidFill>
                            <a:srgbClr val="4F4F4F"/>
                          </a:solidFill>
                        </a:rPr>
                        <a:t>马氏距离</a:t>
                      </a:r>
                      <a:endParaRPr lang="zh-CN" altLang="en-US" sz="1600" b="0">
                        <a:solidFill>
                          <a:srgbClr val="4F4F4F"/>
                        </a:solidFill>
                      </a:endParaRPr>
                    </a:p>
                  </a:txBody>
                  <a:tcPr marL="34184" marR="34184" marT="34184" marB="34184" anchor="ctr" anchorCtr="0">
                    <a:lnL w="4445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4445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2440">
                <a:tc>
                  <a:txBody>
                    <a:bodyPr/>
                    <a:p>
                      <a:pPr marL="0" indent="0" algn="ctr" fontAlgn="ctr" latinLnBrk="0">
                        <a:lnSpc>
                          <a:spcPts val="73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>
                          <a:solidFill>
                            <a:srgbClr val="4F4F4F"/>
                          </a:solidFill>
                          <a:cs typeface="+mn-lt"/>
                        </a:rPr>
                        <a:t>离散</a:t>
                      </a:r>
                      <a:r>
                        <a:rPr lang="en-US" altLang="zh-CN" sz="1600" b="0">
                          <a:solidFill>
                            <a:srgbClr val="4F4F4F"/>
                          </a:solidFill>
                          <a:cs typeface="+mn-lt"/>
                        </a:rPr>
                        <a:t>/</a:t>
                      </a:r>
                      <a:r>
                        <a:rPr lang="zh-CN" altLang="en-US" sz="1600" b="0">
                          <a:solidFill>
                            <a:srgbClr val="4F4F4F"/>
                          </a:solidFill>
                          <a:cs typeface="+mn-lt"/>
                        </a:rPr>
                        <a:t>分类特征</a:t>
                      </a:r>
                      <a:endParaRPr lang="zh-CN" altLang="en-US" sz="1600" b="0">
                        <a:solidFill>
                          <a:srgbClr val="4F4F4F"/>
                        </a:solidFill>
                        <a:cs typeface="+mn-lt"/>
                      </a:endParaRPr>
                    </a:p>
                  </a:txBody>
                  <a:tcPr marL="34184" marR="34184" marT="34184" marB="34184" anchor="ctr" anchorCtr="0">
                    <a:lnL w="4445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4445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 latinLnBrk="0">
                        <a:lnSpc>
                          <a:spcPts val="73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>
                          <a:solidFill>
                            <a:srgbClr val="4F4F4F"/>
                          </a:solidFill>
                        </a:rPr>
                        <a:t>汉明距离</a:t>
                      </a:r>
                      <a:endParaRPr lang="zh-CN" altLang="en-US" sz="1600" b="0">
                        <a:solidFill>
                          <a:srgbClr val="4F4F4F"/>
                        </a:solidFill>
                      </a:endParaRPr>
                    </a:p>
                  </a:txBody>
                  <a:tcPr marL="34184" marR="34184" marT="34184" marB="34184" anchor="ctr" anchorCtr="0">
                    <a:lnL w="4445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4445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381000"/>
            <a:ext cx="8839200" cy="609600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pPr eaLnBrk="1" hangingPunct="1"/>
            <a:r>
              <a:rPr lang="zh-CN" altLang="en-US" dirty="0">
                <a:latin typeface="+mn-ea"/>
                <a:cs typeface="+mn-ea"/>
                <a:sym typeface="+mn-ea"/>
              </a:rPr>
              <a:t>计算效率</a:t>
            </a:r>
            <a:r>
              <a:rPr lang="zh-CN" altLang="en-US" dirty="0">
                <a:latin typeface="+mn-ea"/>
                <a:cs typeface="+mn-ea"/>
                <a:sym typeface="+mn-ea"/>
              </a:rPr>
              <a:t>优化</a:t>
            </a:r>
            <a:endParaRPr lang="zh-CN" altLang="en-US" dirty="0">
              <a:latin typeface="+mn-ea"/>
              <a:cs typeface="+mn-ea"/>
              <a:sym typeface="+mn-ea"/>
            </a:endParaRPr>
          </a:p>
        </p:txBody>
      </p:sp>
      <p:sp>
        <p:nvSpPr>
          <p:cNvPr id="9" name="Text 6"/>
          <p:cNvSpPr/>
          <p:nvPr/>
        </p:nvSpPr>
        <p:spPr>
          <a:xfrm>
            <a:off x="551180" y="1306830"/>
            <a:ext cx="5079365" cy="3455670"/>
          </a:xfrm>
          <a:prstGeom prst="rect">
            <a:avLst/>
          </a:prstGeom>
          <a:noFill/>
        </p:spPr>
        <p:txBody>
          <a:bodyPr wrap="square" lIns="0" tIns="0" rIns="0" bIns="0" rtlCol="0" anchor="t" anchorCtr="0"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1D1D1D"/>
                </a:solidFill>
                <a:latin typeface="+mn-ea"/>
                <a:cs typeface="+mn-ea"/>
              </a:rPr>
              <a:t>计算瓶颈分析</a:t>
            </a:r>
            <a:endParaRPr lang="en-US" sz="2400" b="1" dirty="0">
              <a:solidFill>
                <a:srgbClr val="1D1D1D"/>
              </a:solidFill>
              <a:latin typeface="+mn-ea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1D1D1D"/>
                </a:solidFill>
                <a:latin typeface="+mn-ea"/>
                <a:cs typeface="+mn-ea"/>
              </a:rPr>
              <a:t>训练阶段：</a:t>
            </a:r>
            <a:endParaRPr lang="zh-CN" altLang="en-US" sz="2000" b="1" dirty="0">
              <a:solidFill>
                <a:srgbClr val="1D1D1D"/>
              </a:solidFill>
              <a:latin typeface="+mn-ea"/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1D1D1D"/>
                </a:solidFill>
                <a:latin typeface="+mn-ea"/>
                <a:cs typeface="+mn-ea"/>
              </a:rPr>
              <a:t>仅需存储数据，无需显示训练</a:t>
            </a:r>
            <a:endParaRPr lang="zh-CN" altLang="en-US" sz="2000" b="1" dirty="0">
              <a:solidFill>
                <a:srgbClr val="1D1D1D"/>
              </a:solidFill>
              <a:latin typeface="+mn-ea"/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1D1D1D"/>
                </a:solidFill>
                <a:latin typeface="+mn-ea"/>
                <a:cs typeface="+mn-ea"/>
              </a:rPr>
              <a:t>时间复杂度：</a:t>
            </a:r>
            <a:r>
              <a:rPr lang="en-US" altLang="zh-CN" sz="2000" b="1" dirty="0">
                <a:solidFill>
                  <a:srgbClr val="1D1D1D"/>
                </a:solidFill>
                <a:latin typeface="+mn-ea"/>
                <a:cs typeface="+mn-ea"/>
              </a:rPr>
              <a:t>O(1)</a:t>
            </a:r>
            <a:endParaRPr lang="en-US" altLang="zh-CN" sz="2000" b="1" dirty="0">
              <a:solidFill>
                <a:srgbClr val="1D1D1D"/>
              </a:solidFill>
              <a:latin typeface="+mn-ea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1D1D1D"/>
                </a:solidFill>
                <a:latin typeface="+mn-ea"/>
                <a:cs typeface="+mn-ea"/>
              </a:rPr>
              <a:t>预测阶段：</a:t>
            </a:r>
            <a:endParaRPr lang="zh-CN" altLang="en-US" sz="2000" b="1" dirty="0">
              <a:solidFill>
                <a:srgbClr val="1D1D1D"/>
              </a:solidFill>
              <a:latin typeface="+mn-ea"/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1D1D1D"/>
                </a:solidFill>
                <a:latin typeface="+mn-ea"/>
                <a:cs typeface="+mn-ea"/>
              </a:rPr>
              <a:t>计算与所有样本的距离</a:t>
            </a:r>
            <a:endParaRPr lang="zh-CN" altLang="en-US" sz="2000" b="1" dirty="0">
              <a:solidFill>
                <a:srgbClr val="1D1D1D"/>
              </a:solidFill>
              <a:latin typeface="+mn-ea"/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1D1D1D"/>
                </a:solidFill>
                <a:latin typeface="+mn-ea"/>
                <a:cs typeface="+mn-ea"/>
              </a:rPr>
              <a:t>时间复杂度：</a:t>
            </a:r>
            <a:r>
              <a:rPr lang="en-US" altLang="zh-CN" sz="2000" b="1" dirty="0">
                <a:solidFill>
                  <a:srgbClr val="1D1D1D"/>
                </a:solidFill>
                <a:latin typeface="+mn-ea"/>
                <a:cs typeface="+mn-ea"/>
              </a:rPr>
              <a:t>O(nd)</a:t>
            </a:r>
            <a:endParaRPr lang="en-US" sz="2000" dirty="0">
              <a:latin typeface="+mn-ea"/>
              <a:cs typeface="+mn-ea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6010275" y="1306830"/>
            <a:ext cx="6096000" cy="32956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计算挑战</a:t>
            </a:r>
            <a:endParaRPr lang="en-US" sz="2400" b="1" dirty="0">
              <a:solidFill>
                <a:schemeClr val="tx1"/>
              </a:solidFill>
              <a:latin typeface="+mn-ea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大规模数据集</a:t>
            </a:r>
            <a:endParaRPr lang="en-US" sz="2000" b="1" dirty="0">
              <a:solidFill>
                <a:schemeClr val="tx1"/>
              </a:solidFill>
              <a:latin typeface="+mn-ea"/>
              <a:cs typeface="+mn-ea"/>
              <a:sym typeface="+mn-ea"/>
            </a:endParaRPr>
          </a:p>
          <a:p>
            <a:pPr indent="45720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当n=10⁶时，单次查询需计算10⁶次距离</a:t>
            </a:r>
            <a:endParaRPr lang="en-US" sz="2000" dirty="0">
              <a:solidFill>
                <a:schemeClr val="tx1"/>
              </a:solidFill>
              <a:latin typeface="+mn-ea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高维特征</a:t>
            </a:r>
            <a:endParaRPr lang="en-US" sz="2000" dirty="0">
              <a:solidFill>
                <a:schemeClr val="tx1"/>
              </a:solidFill>
              <a:latin typeface="+mn-ea"/>
              <a:cs typeface="+mn-ea"/>
            </a:endParaRPr>
          </a:p>
          <a:p>
            <a:pPr indent="45720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d=1000时，每次距离计算需1000次操作</a:t>
            </a:r>
            <a:endParaRPr lang="en-US" sz="2000" dirty="0">
              <a:solidFill>
                <a:schemeClr val="tx1"/>
              </a:solidFill>
              <a:latin typeface="+mn-ea"/>
              <a:cs typeface="+mn-ea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实时应用</a:t>
            </a:r>
            <a:endParaRPr lang="en-US" sz="2000" b="1" dirty="0">
              <a:solidFill>
                <a:schemeClr val="tx1"/>
              </a:solidFill>
              <a:latin typeface="+mn-ea"/>
              <a:cs typeface="+mn-ea"/>
              <a:sym typeface="+mn-ea"/>
            </a:endParaRPr>
          </a:p>
          <a:p>
            <a:pPr indent="45720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推荐系统、异常检测需毫秒级响应</a:t>
            </a:r>
            <a:endParaRPr lang="en-US" altLang="en-US" sz="2000" dirty="0">
              <a:solidFill>
                <a:schemeClr val="tx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551180" y="5078730"/>
            <a:ext cx="1062482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200000"/>
              </a:lnSpc>
            </a:pPr>
            <a:r>
              <a:rPr lang="en-US" altLang="zh-CN" sz="2400"/>
              <a:t>1. </a:t>
            </a:r>
            <a:r>
              <a:rPr lang="zh-CN" altLang="en-US" sz="2400"/>
              <a:t>空间划分法：用树结构把空间分区，不用搜全量</a:t>
            </a:r>
            <a:r>
              <a:rPr lang="en-US" altLang="zh-CN" sz="2400"/>
              <a:t>      </a:t>
            </a:r>
            <a:r>
              <a:rPr lang="en-US" altLang="en-US" sz="2400"/>
              <a:t>→  </a:t>
            </a:r>
            <a:r>
              <a:rPr lang="en-US" altLang="zh-CN" sz="2400"/>
              <a:t>KD-Tree</a:t>
            </a:r>
            <a:endParaRPr lang="en-US" altLang="zh-CN" sz="2400"/>
          </a:p>
          <a:p>
            <a:pPr>
              <a:lnSpc>
                <a:spcPct val="200000"/>
              </a:lnSpc>
            </a:pPr>
            <a:r>
              <a:rPr lang="en-US" altLang="zh-CN" sz="2400"/>
              <a:t>2. </a:t>
            </a:r>
            <a:r>
              <a:rPr lang="zh-CN" altLang="en-US" sz="2400"/>
              <a:t>近似检索法：牺牲少量精度换速度</a:t>
            </a:r>
            <a:r>
              <a:rPr lang="en-US" altLang="zh-CN" sz="2400"/>
              <a:t>                                </a:t>
            </a:r>
            <a:r>
              <a:rPr lang="en-US" altLang="en-US" sz="2400"/>
              <a:t>→</a:t>
            </a:r>
            <a:r>
              <a:rPr lang="en-US" altLang="zh-CN" sz="2400"/>
              <a:t>   LSH </a:t>
            </a:r>
            <a:r>
              <a:rPr lang="zh-CN" altLang="en-US" sz="2400"/>
              <a:t>局部敏感哈希</a:t>
            </a:r>
            <a:endParaRPr lang="zh-CN" altLang="en-US" sz="2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381000"/>
            <a:ext cx="8839200" cy="609600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pPr eaLnBrk="1" hangingPunct="1"/>
            <a:r>
              <a:rPr lang="zh-CN" altLang="en-US" dirty="0">
                <a:latin typeface="+mn-ea"/>
                <a:cs typeface="+mn-ea"/>
                <a:sym typeface="+mn-ea"/>
              </a:rPr>
              <a:t>计算效率优化</a:t>
            </a:r>
            <a:r>
              <a:rPr lang="en-US" altLang="zh-CN" dirty="0">
                <a:latin typeface="+mn-ea"/>
                <a:cs typeface="+mn-ea"/>
                <a:sym typeface="+mn-ea"/>
              </a:rPr>
              <a:t>——</a:t>
            </a:r>
            <a:r>
              <a:rPr lang="en-US" altLang="zh-CN" dirty="0">
                <a:latin typeface="+mn-ea"/>
                <a:cs typeface="+mn-ea"/>
                <a:sym typeface="+mn-ea"/>
              </a:rPr>
              <a:t>KD</a:t>
            </a:r>
            <a:r>
              <a:rPr lang="zh-CN" altLang="en-US" dirty="0">
                <a:latin typeface="+mn-ea"/>
                <a:cs typeface="+mn-ea"/>
                <a:sym typeface="+mn-ea"/>
              </a:rPr>
              <a:t>树</a:t>
            </a:r>
            <a:endParaRPr lang="zh-CN" altLang="en-US" dirty="0">
              <a:latin typeface="+mn-ea"/>
              <a:cs typeface="+mn-ea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69595" y="1273810"/>
            <a:ext cx="11021060" cy="2456815"/>
          </a:xfrm>
          <a:prstGeom prst="rect">
            <a:avLst/>
          </a:prstGeom>
        </p:spPr>
        <p:txBody>
          <a:bodyPr>
            <a:noAutofit/>
          </a:bodyPr>
          <a:p>
            <a:pPr marL="0" indent="0"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0" i="0">
                <a:solidFill>
                  <a:srgbClr val="000000"/>
                </a:solidFill>
                <a:cs typeface="+mn-lt"/>
              </a:rPr>
              <a:t>KD</a:t>
            </a:r>
            <a:r>
              <a:rPr lang="zh-CN" altLang="en-US" sz="2000" b="0" i="0">
                <a:solidFill>
                  <a:srgbClr val="000000"/>
                </a:solidFill>
                <a:cs typeface="+mn-lt"/>
              </a:rPr>
              <a:t>树是一种对</a:t>
            </a:r>
            <a:r>
              <a:rPr lang="en-US" altLang="zh-CN" sz="2000" b="0" i="0">
                <a:solidFill>
                  <a:srgbClr val="000000"/>
                </a:solidFill>
                <a:cs typeface="+mn-lt"/>
              </a:rPr>
              <a:t>K</a:t>
            </a:r>
            <a:r>
              <a:rPr lang="zh-CN" altLang="en-US" sz="2000" b="0" i="0">
                <a:solidFill>
                  <a:srgbClr val="000000"/>
                </a:solidFill>
                <a:cs typeface="+mn-lt"/>
              </a:rPr>
              <a:t>维空间中的实例点进行存储以便对其进行快速检索的树形数据结构。</a:t>
            </a:r>
            <a:endParaRPr lang="zh-CN" altLang="en-US" sz="2000" b="0" i="0">
              <a:solidFill>
                <a:srgbClr val="000000"/>
              </a:solidFill>
              <a:cs typeface="+mn-lt"/>
            </a:endParaRPr>
          </a:p>
          <a:p>
            <a:pPr marL="0" indent="0"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0" i="0">
                <a:solidFill>
                  <a:srgbClr val="000000"/>
                </a:solidFill>
                <a:cs typeface="+mn-lt"/>
              </a:rPr>
              <a:t>KD</a:t>
            </a:r>
            <a:r>
              <a:rPr lang="zh-CN" altLang="en-US" sz="2000" b="0" i="0">
                <a:solidFill>
                  <a:srgbClr val="000000"/>
                </a:solidFill>
                <a:cs typeface="+mn-lt"/>
              </a:rPr>
              <a:t>树是一个二叉树，一棵</a:t>
            </a:r>
            <a:r>
              <a:rPr lang="en-US" altLang="zh-CN" sz="2000" b="0" i="0">
                <a:solidFill>
                  <a:srgbClr val="000000"/>
                </a:solidFill>
                <a:cs typeface="+mn-lt"/>
              </a:rPr>
              <a:t>KD</a:t>
            </a:r>
            <a:r>
              <a:rPr lang="zh-CN" altLang="en-US" sz="2000" b="0" i="0">
                <a:solidFill>
                  <a:srgbClr val="000000"/>
                </a:solidFill>
                <a:cs typeface="+mn-lt"/>
              </a:rPr>
              <a:t>树就是一个超平面，表示对</a:t>
            </a:r>
            <a:r>
              <a:rPr lang="en-US" altLang="zh-CN" sz="2000" b="0" i="0">
                <a:solidFill>
                  <a:srgbClr val="000000"/>
                </a:solidFill>
                <a:cs typeface="+mn-lt"/>
              </a:rPr>
              <a:t>K</a:t>
            </a:r>
            <a:r>
              <a:rPr lang="zh-CN" altLang="en-US" sz="2000" b="0" i="0">
                <a:solidFill>
                  <a:srgbClr val="000000"/>
                </a:solidFill>
                <a:cs typeface="+mn-lt"/>
              </a:rPr>
              <a:t>维空间的一个划分（</a:t>
            </a:r>
            <a:r>
              <a:rPr lang="en-US" altLang="zh-CN" sz="2000" b="0" i="0">
                <a:solidFill>
                  <a:srgbClr val="000000"/>
                </a:solidFill>
                <a:cs typeface="+mn-lt"/>
              </a:rPr>
              <a:t>partition</a:t>
            </a:r>
            <a:r>
              <a:rPr lang="zh-CN" altLang="en-US" sz="2000" b="0" i="0">
                <a:solidFill>
                  <a:srgbClr val="000000"/>
                </a:solidFill>
                <a:cs typeface="+mn-lt"/>
              </a:rPr>
              <a:t>）。</a:t>
            </a:r>
            <a:endParaRPr lang="zh-CN" altLang="en-US" sz="2000" b="0" i="0">
              <a:solidFill>
                <a:srgbClr val="000000"/>
              </a:solidFill>
              <a:cs typeface="+mn-lt"/>
            </a:endParaRPr>
          </a:p>
          <a:p>
            <a:pPr marL="0" indent="0"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0" i="0">
                <a:solidFill>
                  <a:srgbClr val="000000"/>
                </a:solidFill>
                <a:cs typeface="+mn-lt"/>
              </a:rPr>
              <a:t>构造</a:t>
            </a:r>
            <a:r>
              <a:rPr lang="en-US" altLang="zh-CN" sz="2000" b="0" i="0">
                <a:solidFill>
                  <a:srgbClr val="000000"/>
                </a:solidFill>
                <a:cs typeface="+mn-lt"/>
              </a:rPr>
              <a:t>KD</a:t>
            </a:r>
            <a:r>
              <a:rPr lang="zh-CN" altLang="en-US" sz="2000" b="0" i="0">
                <a:solidFill>
                  <a:srgbClr val="000000"/>
                </a:solidFill>
                <a:cs typeface="+mn-lt"/>
              </a:rPr>
              <a:t>树相当于不断地用垂直于坐标轴的超平面将</a:t>
            </a:r>
            <a:r>
              <a:rPr lang="en-US" altLang="zh-CN" sz="2000" b="0" i="0">
                <a:solidFill>
                  <a:srgbClr val="000000"/>
                </a:solidFill>
                <a:cs typeface="+mn-lt"/>
              </a:rPr>
              <a:t>K</a:t>
            </a:r>
            <a:r>
              <a:rPr lang="zh-CN" altLang="en-US" sz="2000" b="0" i="0">
                <a:solidFill>
                  <a:srgbClr val="000000"/>
                </a:solidFill>
                <a:cs typeface="+mn-lt"/>
              </a:rPr>
              <a:t>维空间切分，构成一系列的</a:t>
            </a:r>
            <a:r>
              <a:rPr lang="en-US" altLang="zh-CN" sz="2000" b="0" i="0">
                <a:solidFill>
                  <a:srgbClr val="000000"/>
                </a:solidFill>
                <a:cs typeface="+mn-lt"/>
              </a:rPr>
              <a:t>K</a:t>
            </a:r>
            <a:r>
              <a:rPr lang="zh-CN" altLang="en-US" sz="2000" b="0" i="0">
                <a:solidFill>
                  <a:srgbClr val="000000"/>
                </a:solidFill>
                <a:cs typeface="+mn-lt"/>
              </a:rPr>
              <a:t>维超矩形区域。</a:t>
            </a:r>
            <a:r>
              <a:rPr lang="en-US" altLang="zh-CN" sz="2000" b="0" i="0">
                <a:solidFill>
                  <a:srgbClr val="000000"/>
                </a:solidFill>
                <a:cs typeface="+mn-lt"/>
              </a:rPr>
              <a:t>KD</a:t>
            </a:r>
            <a:r>
              <a:rPr lang="zh-CN" altLang="en-US" sz="2000" b="0" i="0">
                <a:solidFill>
                  <a:srgbClr val="000000"/>
                </a:solidFill>
                <a:cs typeface="+mn-lt"/>
              </a:rPr>
              <a:t>树的每个结点对应于一</a:t>
            </a:r>
            <a:r>
              <a:rPr lang="en-US" altLang="zh-CN" sz="2000" b="0" i="0">
                <a:solidFill>
                  <a:srgbClr val="000000"/>
                </a:solidFill>
                <a:cs typeface="+mn-lt"/>
              </a:rPr>
              <a:t>K</a:t>
            </a:r>
            <a:r>
              <a:rPr lang="zh-CN" altLang="en-US" sz="2000" b="0" i="0">
                <a:solidFill>
                  <a:srgbClr val="000000"/>
                </a:solidFill>
                <a:cs typeface="+mn-lt"/>
              </a:rPr>
              <a:t>维超矩形区域。</a:t>
            </a:r>
            <a:endParaRPr lang="zh-CN" altLang="en-US" sz="2000" b="0" i="0">
              <a:solidFill>
                <a:srgbClr val="000000"/>
              </a:solidFill>
              <a:cs typeface="+mn-lt"/>
            </a:endParaRPr>
          </a:p>
          <a:p>
            <a:pPr marL="0" indent="0"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0" i="0">
                <a:solidFill>
                  <a:srgbClr val="000000"/>
                </a:solidFill>
                <a:cs typeface="+mn-lt"/>
              </a:rPr>
              <a:t>这里</a:t>
            </a:r>
            <a:r>
              <a:rPr lang="en-US" altLang="zh-CN" sz="2000" b="0" i="0">
                <a:solidFill>
                  <a:srgbClr val="000000"/>
                </a:solidFill>
                <a:cs typeface="+mn-lt"/>
              </a:rPr>
              <a:t>K</a:t>
            </a:r>
            <a:r>
              <a:rPr lang="zh-CN" altLang="en-US" sz="2000" b="0" i="0">
                <a:solidFill>
                  <a:srgbClr val="000000"/>
                </a:solidFill>
                <a:cs typeface="+mn-lt"/>
              </a:rPr>
              <a:t>是数据集属性的数量。</a:t>
            </a:r>
            <a:endParaRPr lang="zh-CN" altLang="en-US" sz="2000" b="0" i="0">
              <a:solidFill>
                <a:srgbClr val="000000"/>
              </a:solidFill>
              <a:cs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76115" y="3249295"/>
            <a:ext cx="7397750" cy="347281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381000"/>
            <a:ext cx="8839200" cy="609600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pPr eaLnBrk="1" hangingPunct="1"/>
            <a:r>
              <a:rPr lang="zh-CN" altLang="en-US" dirty="0">
                <a:latin typeface="+mn-ea"/>
                <a:cs typeface="+mn-ea"/>
                <a:sym typeface="+mn-ea"/>
              </a:rPr>
              <a:t>计算效率优化</a:t>
            </a:r>
            <a:r>
              <a:rPr lang="en-US" altLang="zh-CN" dirty="0">
                <a:latin typeface="+mn-ea"/>
                <a:cs typeface="+mn-ea"/>
                <a:sym typeface="+mn-ea"/>
              </a:rPr>
              <a:t>——</a:t>
            </a:r>
            <a:r>
              <a:rPr lang="en-US" altLang="zh-CN" dirty="0">
                <a:latin typeface="+mn-ea"/>
                <a:cs typeface="+mn-ea"/>
                <a:sym typeface="+mn-ea"/>
              </a:rPr>
              <a:t>KD</a:t>
            </a:r>
            <a:r>
              <a:rPr lang="zh-CN" altLang="en-US" dirty="0">
                <a:latin typeface="+mn-ea"/>
                <a:cs typeface="+mn-ea"/>
                <a:sym typeface="+mn-ea"/>
              </a:rPr>
              <a:t>树</a:t>
            </a:r>
            <a:endParaRPr lang="zh-CN" altLang="en-US" dirty="0">
              <a:latin typeface="+mn-ea"/>
              <a:cs typeface="+mn-ea"/>
              <a:sym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95605" y="1394460"/>
            <a:ext cx="11344910" cy="5257800"/>
            <a:chOff x="623" y="2196"/>
            <a:chExt cx="17866" cy="8280"/>
          </a:xfrm>
        </p:grpSpPr>
        <p:sp>
          <p:nvSpPr>
            <p:cNvPr id="7" name="Shape 3"/>
            <p:cNvSpPr/>
            <p:nvPr/>
          </p:nvSpPr>
          <p:spPr>
            <a:xfrm>
              <a:off x="623" y="2196"/>
              <a:ext cx="17866" cy="4718"/>
            </a:xfrm>
            <a:custGeom>
              <a:avLst/>
              <a:gdLst/>
              <a:ahLst/>
              <a:cxnLst/>
              <a:rect l="l" t="t" r="r" b="b"/>
              <a:pathLst>
                <a:path w="6736692" h="2996179">
                  <a:moveTo>
                    <a:pt x="37688" y="0"/>
                  </a:moveTo>
                  <a:lnTo>
                    <a:pt x="6661309" y="0"/>
                  </a:lnTo>
                  <a:cubicBezTo>
                    <a:pt x="6702942" y="0"/>
                    <a:pt x="6736692" y="33751"/>
                    <a:pt x="6736692" y="75384"/>
                  </a:cubicBezTo>
                  <a:lnTo>
                    <a:pt x="6736692" y="2920795"/>
                  </a:lnTo>
                  <a:cubicBezTo>
                    <a:pt x="6736692" y="2962429"/>
                    <a:pt x="6702942" y="2996179"/>
                    <a:pt x="6661309" y="2996179"/>
                  </a:cubicBezTo>
                  <a:lnTo>
                    <a:pt x="37688" y="2996179"/>
                  </a:lnTo>
                  <a:cubicBezTo>
                    <a:pt x="16873" y="2996179"/>
                    <a:pt x="0" y="2979306"/>
                    <a:pt x="0" y="2958491"/>
                  </a:cubicBezTo>
                  <a:lnTo>
                    <a:pt x="0" y="37688"/>
                  </a:lnTo>
                  <a:cubicBezTo>
                    <a:pt x="0" y="16873"/>
                    <a:pt x="16873" y="0"/>
                    <a:pt x="37688" y="0"/>
                  </a:cubicBezTo>
                  <a:close/>
                </a:path>
              </a:pathLst>
            </a:custGeom>
            <a:solidFill>
              <a:srgbClr val="5C7A96">
                <a:alpha val="10196"/>
              </a:srgbClr>
            </a:solidFill>
          </p:spPr>
        </p:sp>
        <p:sp>
          <p:nvSpPr>
            <p:cNvPr id="8" name="Shape 4"/>
            <p:cNvSpPr/>
            <p:nvPr/>
          </p:nvSpPr>
          <p:spPr>
            <a:xfrm>
              <a:off x="623" y="2196"/>
              <a:ext cx="59" cy="4718"/>
            </a:xfrm>
            <a:custGeom>
              <a:avLst/>
              <a:gdLst/>
              <a:ahLst/>
              <a:cxnLst/>
              <a:rect l="l" t="t" r="r" b="b"/>
              <a:pathLst>
                <a:path w="37688" h="2996179">
                  <a:moveTo>
                    <a:pt x="37688" y="0"/>
                  </a:moveTo>
                  <a:lnTo>
                    <a:pt x="37688" y="0"/>
                  </a:lnTo>
                  <a:lnTo>
                    <a:pt x="37688" y="2996179"/>
                  </a:lnTo>
                  <a:lnTo>
                    <a:pt x="37688" y="2996179"/>
                  </a:lnTo>
                  <a:cubicBezTo>
                    <a:pt x="16873" y="2996179"/>
                    <a:pt x="0" y="2979306"/>
                    <a:pt x="0" y="2958491"/>
                  </a:cubicBezTo>
                  <a:lnTo>
                    <a:pt x="0" y="37688"/>
                  </a:lnTo>
                  <a:cubicBezTo>
                    <a:pt x="0" y="16887"/>
                    <a:pt x="16887" y="0"/>
                    <a:pt x="37688" y="0"/>
                  </a:cubicBezTo>
                  <a:close/>
                </a:path>
              </a:pathLst>
            </a:custGeom>
            <a:solidFill>
              <a:srgbClr val="5C7A96"/>
            </a:solidFill>
          </p:spPr>
        </p:sp>
        <p:sp>
          <p:nvSpPr>
            <p:cNvPr id="10" name="Text 6"/>
            <p:cNvSpPr/>
            <p:nvPr/>
          </p:nvSpPr>
          <p:spPr>
            <a:xfrm>
              <a:off x="950" y="2492"/>
              <a:ext cx="9763" cy="41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p>
              <a:pPr>
                <a:lnSpc>
                  <a:spcPct val="120000"/>
                </a:lnSpc>
              </a:pPr>
              <a:r>
                <a:rPr lang="en-US" sz="2000" b="1" dirty="0">
                  <a:solidFill>
                    <a:schemeClr val="tx1"/>
                  </a:solidFill>
                  <a:latin typeface="+mn-ea"/>
                  <a:cs typeface="Noto Sans SC" panose="020B0200000000000000" pitchFamily="34" charset="-120"/>
                </a:rPr>
                <a:t>构建过程</a:t>
              </a:r>
              <a:endParaRPr lang="en-US" sz="2000" b="1" dirty="0">
                <a:solidFill>
                  <a:schemeClr val="tx1"/>
                </a:solidFill>
                <a:latin typeface="+mn-ea"/>
                <a:cs typeface="Noto Sans SC" panose="020B0200000000000000" pitchFamily="34" charset="-120"/>
              </a:endParaRPr>
            </a:p>
          </p:txBody>
        </p:sp>
        <p:sp>
          <p:nvSpPr>
            <p:cNvPr id="11" name="Shape 7"/>
            <p:cNvSpPr/>
            <p:nvPr>
              <p:custDataLst>
                <p:tags r:id="rId1"/>
              </p:custDataLst>
            </p:nvPr>
          </p:nvSpPr>
          <p:spPr>
            <a:xfrm>
              <a:off x="950" y="3146"/>
              <a:ext cx="415" cy="415"/>
            </a:xfrm>
            <a:custGeom>
              <a:avLst/>
              <a:gdLst/>
              <a:ahLst/>
              <a:cxnLst/>
              <a:rect l="l" t="t" r="r" b="b"/>
              <a:pathLst>
                <a:path w="263815" h="263815">
                  <a:moveTo>
                    <a:pt x="131907" y="0"/>
                  </a:moveTo>
                  <a:lnTo>
                    <a:pt x="131907" y="0"/>
                  </a:lnTo>
                  <a:cubicBezTo>
                    <a:pt x="204709" y="0"/>
                    <a:pt x="263815" y="59106"/>
                    <a:pt x="263815" y="131907"/>
                  </a:cubicBezTo>
                  <a:lnTo>
                    <a:pt x="263815" y="131907"/>
                  </a:lnTo>
                  <a:cubicBezTo>
                    <a:pt x="263815" y="204709"/>
                    <a:pt x="204709" y="263815"/>
                    <a:pt x="131907" y="263815"/>
                  </a:cubicBezTo>
                  <a:lnTo>
                    <a:pt x="131907" y="263815"/>
                  </a:lnTo>
                  <a:cubicBezTo>
                    <a:pt x="59106" y="263815"/>
                    <a:pt x="0" y="204709"/>
                    <a:pt x="0" y="131907"/>
                  </a:cubicBezTo>
                  <a:lnTo>
                    <a:pt x="0" y="131907"/>
                  </a:lnTo>
                  <a:cubicBezTo>
                    <a:pt x="0" y="59106"/>
                    <a:pt x="59106" y="0"/>
                    <a:pt x="131907" y="0"/>
                  </a:cubicBezTo>
                  <a:close/>
                </a:path>
              </a:pathLst>
            </a:custGeom>
            <a:solidFill>
              <a:srgbClr val="D4A26A"/>
            </a:solidFill>
          </p:spPr>
        </p:sp>
        <p:sp>
          <p:nvSpPr>
            <p:cNvPr id="12" name="Text 8"/>
            <p:cNvSpPr/>
            <p:nvPr>
              <p:custDataLst>
                <p:tags r:id="rId2"/>
              </p:custDataLst>
            </p:nvPr>
          </p:nvSpPr>
          <p:spPr>
            <a:xfrm>
              <a:off x="890" y="3146"/>
              <a:ext cx="534" cy="41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p>
              <a:pPr algn="ctr">
                <a:lnSpc>
                  <a:spcPct val="140000"/>
                </a:lnSpc>
              </a:pPr>
              <a:r>
                <a:rPr lang="en-US" sz="1185" b="1" dirty="0">
                  <a:solidFill>
                    <a:schemeClr val="tx1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rPr>
                <a:t>1</a:t>
              </a:r>
              <a:endParaRPr lang="en-US" sz="1185" b="1" dirty="0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endParaRPr>
            </a:p>
          </p:txBody>
        </p:sp>
        <p:sp>
          <p:nvSpPr>
            <p:cNvPr id="13" name="Text 9"/>
            <p:cNvSpPr/>
            <p:nvPr>
              <p:custDataLst>
                <p:tags r:id="rId3"/>
              </p:custDataLst>
            </p:nvPr>
          </p:nvSpPr>
          <p:spPr>
            <a:xfrm>
              <a:off x="1543" y="3146"/>
              <a:ext cx="4066" cy="38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p>
              <a:pPr>
                <a:lnSpc>
                  <a:spcPct val="140000"/>
                </a:lnSpc>
              </a:pPr>
              <a:r>
                <a:rPr lang="en-US" sz="1400" b="1" dirty="0">
                  <a:solidFill>
                    <a:schemeClr val="tx1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rPr>
                <a:t>选择划分维度</a:t>
              </a:r>
              <a:endParaRPr lang="en-US" sz="1400" b="1" dirty="0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endParaRPr>
            </a:p>
          </p:txBody>
        </p:sp>
        <p:sp>
          <p:nvSpPr>
            <p:cNvPr id="14" name="Text 10"/>
            <p:cNvSpPr/>
            <p:nvPr>
              <p:custDataLst>
                <p:tags r:id="rId4"/>
              </p:custDataLst>
            </p:nvPr>
          </p:nvSpPr>
          <p:spPr>
            <a:xfrm>
              <a:off x="3518" y="3235"/>
              <a:ext cx="7127" cy="29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p>
              <a:pPr>
                <a:lnSpc>
                  <a:spcPct val="120000"/>
                </a:lnSpc>
              </a:pPr>
              <a:r>
                <a:rPr lang="en-US" sz="1400" dirty="0">
                  <a:solidFill>
                    <a:schemeClr val="tx1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rPr>
                <a:t>通常选择方差最大的维度或按顺序循环选择</a:t>
              </a:r>
              <a:endParaRPr lang="en-US" sz="1400" dirty="0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endParaRPr>
            </a:p>
          </p:txBody>
        </p:sp>
        <p:sp>
          <p:nvSpPr>
            <p:cNvPr id="15" name="Shape 11"/>
            <p:cNvSpPr/>
            <p:nvPr>
              <p:custDataLst>
                <p:tags r:id="rId5"/>
              </p:custDataLst>
            </p:nvPr>
          </p:nvSpPr>
          <p:spPr>
            <a:xfrm>
              <a:off x="950" y="4066"/>
              <a:ext cx="415" cy="415"/>
            </a:xfrm>
            <a:custGeom>
              <a:avLst/>
              <a:gdLst/>
              <a:ahLst/>
              <a:cxnLst/>
              <a:rect l="l" t="t" r="r" b="b"/>
              <a:pathLst>
                <a:path w="263815" h="263815">
                  <a:moveTo>
                    <a:pt x="131907" y="0"/>
                  </a:moveTo>
                  <a:lnTo>
                    <a:pt x="131907" y="0"/>
                  </a:lnTo>
                  <a:cubicBezTo>
                    <a:pt x="204709" y="0"/>
                    <a:pt x="263815" y="59106"/>
                    <a:pt x="263815" y="131907"/>
                  </a:cubicBezTo>
                  <a:lnTo>
                    <a:pt x="263815" y="131907"/>
                  </a:lnTo>
                  <a:cubicBezTo>
                    <a:pt x="263815" y="204709"/>
                    <a:pt x="204709" y="263815"/>
                    <a:pt x="131907" y="263815"/>
                  </a:cubicBezTo>
                  <a:lnTo>
                    <a:pt x="131907" y="263815"/>
                  </a:lnTo>
                  <a:cubicBezTo>
                    <a:pt x="59106" y="263815"/>
                    <a:pt x="0" y="204709"/>
                    <a:pt x="0" y="131907"/>
                  </a:cubicBezTo>
                  <a:lnTo>
                    <a:pt x="0" y="131907"/>
                  </a:lnTo>
                  <a:cubicBezTo>
                    <a:pt x="0" y="59106"/>
                    <a:pt x="59106" y="0"/>
                    <a:pt x="131907" y="0"/>
                  </a:cubicBezTo>
                  <a:close/>
                </a:path>
              </a:pathLst>
            </a:custGeom>
            <a:solidFill>
              <a:srgbClr val="D4A26A"/>
            </a:solidFill>
          </p:spPr>
        </p:sp>
        <p:sp>
          <p:nvSpPr>
            <p:cNvPr id="16" name="Text 12"/>
            <p:cNvSpPr/>
            <p:nvPr>
              <p:custDataLst>
                <p:tags r:id="rId6"/>
              </p:custDataLst>
            </p:nvPr>
          </p:nvSpPr>
          <p:spPr>
            <a:xfrm>
              <a:off x="890" y="4066"/>
              <a:ext cx="534" cy="41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p>
              <a:pPr algn="ctr">
                <a:lnSpc>
                  <a:spcPct val="140000"/>
                </a:lnSpc>
              </a:pPr>
              <a:r>
                <a:rPr lang="en-US" sz="1185" b="1" dirty="0">
                  <a:solidFill>
                    <a:schemeClr val="tx1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rPr>
                <a:t>2</a:t>
              </a:r>
              <a:endParaRPr lang="en-US" sz="1185" b="1" dirty="0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endParaRPr>
            </a:p>
          </p:txBody>
        </p:sp>
        <p:sp>
          <p:nvSpPr>
            <p:cNvPr id="17" name="Text 13"/>
            <p:cNvSpPr/>
            <p:nvPr>
              <p:custDataLst>
                <p:tags r:id="rId7"/>
              </p:custDataLst>
            </p:nvPr>
          </p:nvSpPr>
          <p:spPr>
            <a:xfrm>
              <a:off x="1543" y="4066"/>
              <a:ext cx="4481" cy="38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p>
              <a:pPr>
                <a:lnSpc>
                  <a:spcPct val="140000"/>
                </a:lnSpc>
              </a:pPr>
              <a:r>
                <a:rPr lang="en-US" sz="1400" b="1" dirty="0">
                  <a:solidFill>
                    <a:schemeClr val="tx1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rPr>
                <a:t>确定分割点</a:t>
              </a:r>
              <a:endParaRPr lang="en-US" sz="1400" b="1" dirty="0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endParaRPr>
            </a:p>
          </p:txBody>
        </p:sp>
        <p:sp>
          <p:nvSpPr>
            <p:cNvPr id="18" name="Text 14"/>
            <p:cNvSpPr/>
            <p:nvPr>
              <p:custDataLst>
                <p:tags r:id="rId8"/>
              </p:custDataLst>
            </p:nvPr>
          </p:nvSpPr>
          <p:spPr>
            <a:xfrm>
              <a:off x="3518" y="4184"/>
              <a:ext cx="6738" cy="29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p>
              <a:pPr>
                <a:lnSpc>
                  <a:spcPct val="120000"/>
                </a:lnSpc>
              </a:pPr>
              <a:r>
                <a:rPr lang="en-US" sz="1400" dirty="0">
                  <a:solidFill>
                    <a:schemeClr val="tx1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rPr>
                <a:t>在选定维度上取中位数作为分割点，保证树平衡</a:t>
              </a:r>
              <a:endParaRPr lang="en-US" sz="1400" dirty="0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endParaRPr>
            </a:p>
          </p:txBody>
        </p:sp>
        <p:sp>
          <p:nvSpPr>
            <p:cNvPr id="19" name="Shape 15"/>
            <p:cNvSpPr/>
            <p:nvPr>
              <p:custDataLst>
                <p:tags r:id="rId9"/>
              </p:custDataLst>
            </p:nvPr>
          </p:nvSpPr>
          <p:spPr>
            <a:xfrm>
              <a:off x="950" y="4985"/>
              <a:ext cx="415" cy="415"/>
            </a:xfrm>
            <a:custGeom>
              <a:avLst/>
              <a:gdLst/>
              <a:ahLst/>
              <a:cxnLst/>
              <a:rect l="l" t="t" r="r" b="b"/>
              <a:pathLst>
                <a:path w="263815" h="263815">
                  <a:moveTo>
                    <a:pt x="131907" y="0"/>
                  </a:moveTo>
                  <a:lnTo>
                    <a:pt x="131907" y="0"/>
                  </a:lnTo>
                  <a:cubicBezTo>
                    <a:pt x="204709" y="0"/>
                    <a:pt x="263815" y="59106"/>
                    <a:pt x="263815" y="131907"/>
                  </a:cubicBezTo>
                  <a:lnTo>
                    <a:pt x="263815" y="131907"/>
                  </a:lnTo>
                  <a:cubicBezTo>
                    <a:pt x="263815" y="204709"/>
                    <a:pt x="204709" y="263815"/>
                    <a:pt x="131907" y="263815"/>
                  </a:cubicBezTo>
                  <a:lnTo>
                    <a:pt x="131907" y="263815"/>
                  </a:lnTo>
                  <a:cubicBezTo>
                    <a:pt x="59106" y="263815"/>
                    <a:pt x="0" y="204709"/>
                    <a:pt x="0" y="131907"/>
                  </a:cubicBezTo>
                  <a:lnTo>
                    <a:pt x="0" y="131907"/>
                  </a:lnTo>
                  <a:cubicBezTo>
                    <a:pt x="0" y="59106"/>
                    <a:pt x="59106" y="0"/>
                    <a:pt x="131907" y="0"/>
                  </a:cubicBezTo>
                  <a:close/>
                </a:path>
              </a:pathLst>
            </a:custGeom>
            <a:solidFill>
              <a:srgbClr val="D4A26A"/>
            </a:solidFill>
          </p:spPr>
        </p:sp>
        <p:sp>
          <p:nvSpPr>
            <p:cNvPr id="20" name="Text 16"/>
            <p:cNvSpPr/>
            <p:nvPr>
              <p:custDataLst>
                <p:tags r:id="rId10"/>
              </p:custDataLst>
            </p:nvPr>
          </p:nvSpPr>
          <p:spPr>
            <a:xfrm>
              <a:off x="890" y="4985"/>
              <a:ext cx="534" cy="41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p>
              <a:pPr algn="ctr">
                <a:lnSpc>
                  <a:spcPct val="140000"/>
                </a:lnSpc>
              </a:pPr>
              <a:r>
                <a:rPr lang="en-US" sz="1185" b="1" dirty="0">
                  <a:solidFill>
                    <a:schemeClr val="tx1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rPr>
                <a:t>3</a:t>
              </a:r>
              <a:endParaRPr lang="en-US" sz="1185" b="1" dirty="0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endParaRPr>
            </a:p>
          </p:txBody>
        </p:sp>
        <p:sp>
          <p:nvSpPr>
            <p:cNvPr id="21" name="Text 17"/>
            <p:cNvSpPr/>
            <p:nvPr>
              <p:custDataLst>
                <p:tags r:id="rId11"/>
              </p:custDataLst>
            </p:nvPr>
          </p:nvSpPr>
          <p:spPr>
            <a:xfrm>
              <a:off x="1543" y="4985"/>
              <a:ext cx="4985" cy="38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p>
              <a:pPr>
                <a:lnSpc>
                  <a:spcPct val="140000"/>
                </a:lnSpc>
              </a:pPr>
              <a:r>
                <a:rPr lang="en-US" sz="1400" b="1" dirty="0">
                  <a:solidFill>
                    <a:schemeClr val="tx1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rPr>
                <a:t>递归构建</a:t>
              </a:r>
              <a:endParaRPr lang="en-US" sz="1400" b="1" dirty="0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endParaRPr>
            </a:p>
          </p:txBody>
        </p:sp>
        <p:sp>
          <p:nvSpPr>
            <p:cNvPr id="22" name="Text 18"/>
            <p:cNvSpPr/>
            <p:nvPr>
              <p:custDataLst>
                <p:tags r:id="rId12"/>
              </p:custDataLst>
            </p:nvPr>
          </p:nvSpPr>
          <p:spPr>
            <a:xfrm>
              <a:off x="3518" y="5075"/>
              <a:ext cx="7713" cy="29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p>
              <a:pPr>
                <a:lnSpc>
                  <a:spcPct val="120000"/>
                </a:lnSpc>
              </a:pPr>
              <a:r>
                <a:rPr lang="en-US" sz="1400" dirty="0">
                  <a:solidFill>
                    <a:schemeClr val="tx1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rPr>
                <a:t>对左右子集递归执行步骤1-2，直到子集大小小于阈值</a:t>
              </a:r>
              <a:endParaRPr lang="en-US" sz="1400" dirty="0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endParaRPr>
            </a:p>
          </p:txBody>
        </p:sp>
        <p:sp>
          <p:nvSpPr>
            <p:cNvPr id="23" name="Shape 19"/>
            <p:cNvSpPr/>
            <p:nvPr/>
          </p:nvSpPr>
          <p:spPr>
            <a:xfrm>
              <a:off x="950" y="5965"/>
              <a:ext cx="9986" cy="653"/>
            </a:xfrm>
            <a:custGeom>
              <a:avLst/>
              <a:gdLst/>
              <a:ahLst/>
              <a:cxnLst/>
              <a:rect l="l" t="t" r="r" b="b"/>
              <a:pathLst>
                <a:path w="6340971" h="414566">
                  <a:moveTo>
                    <a:pt x="75376" y="0"/>
                  </a:moveTo>
                  <a:lnTo>
                    <a:pt x="6265594" y="0"/>
                  </a:lnTo>
                  <a:cubicBezTo>
                    <a:pt x="6307223" y="0"/>
                    <a:pt x="6340971" y="33747"/>
                    <a:pt x="6340971" y="75376"/>
                  </a:cubicBezTo>
                  <a:lnTo>
                    <a:pt x="6340971" y="339189"/>
                  </a:lnTo>
                  <a:cubicBezTo>
                    <a:pt x="6340971" y="380819"/>
                    <a:pt x="6307223" y="414566"/>
                    <a:pt x="6265594" y="414566"/>
                  </a:cubicBezTo>
                  <a:lnTo>
                    <a:pt x="75376" y="414566"/>
                  </a:lnTo>
                  <a:cubicBezTo>
                    <a:pt x="33775" y="414566"/>
                    <a:pt x="0" y="380791"/>
                    <a:pt x="0" y="339189"/>
                  </a:cubicBezTo>
                  <a:lnTo>
                    <a:pt x="0" y="75376"/>
                  </a:lnTo>
                  <a:cubicBezTo>
                    <a:pt x="0" y="33775"/>
                    <a:pt x="33775" y="0"/>
                    <a:pt x="75376" y="0"/>
                  </a:cubicBezTo>
                  <a:close/>
                </a:path>
              </a:pathLst>
            </a:custGeom>
            <a:solidFill>
              <a:srgbClr val="1A1D21">
                <a:alpha val="50196"/>
              </a:srgbClr>
            </a:solidFill>
          </p:spPr>
        </p:sp>
        <p:sp>
          <p:nvSpPr>
            <p:cNvPr id="24" name="Text 20"/>
            <p:cNvSpPr/>
            <p:nvPr/>
          </p:nvSpPr>
          <p:spPr>
            <a:xfrm>
              <a:off x="1128" y="6143"/>
              <a:ext cx="9734" cy="29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p>
              <a:pPr>
                <a:lnSpc>
                  <a:spcPct val="120000"/>
                </a:lnSpc>
              </a:pPr>
              <a:r>
                <a:rPr lang="en-US" sz="1600" b="1" dirty="0">
                  <a:solidFill>
                    <a:schemeClr val="tx1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rPr>
                <a:t>构建复杂度：</a:t>
              </a:r>
              <a:r>
                <a:rPr lang="en-US" sz="1600" dirty="0">
                  <a:solidFill>
                    <a:schemeClr val="tx1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rPr>
                <a:t>O(n log n)，使用快速选择算法找中位数</a:t>
              </a:r>
              <a:endParaRPr lang="en-US" sz="1600" dirty="0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endParaRPr>
            </a:p>
          </p:txBody>
        </p:sp>
        <p:sp>
          <p:nvSpPr>
            <p:cNvPr id="25" name="Shape 21"/>
            <p:cNvSpPr/>
            <p:nvPr/>
          </p:nvSpPr>
          <p:spPr>
            <a:xfrm>
              <a:off x="623" y="7152"/>
              <a:ext cx="17866" cy="3324"/>
            </a:xfrm>
            <a:custGeom>
              <a:avLst/>
              <a:gdLst/>
              <a:ahLst/>
              <a:cxnLst/>
              <a:rect l="l" t="t" r="r" b="b"/>
              <a:pathLst>
                <a:path w="6736692" h="2110516">
                  <a:moveTo>
                    <a:pt x="37688" y="0"/>
                  </a:moveTo>
                  <a:lnTo>
                    <a:pt x="6661326" y="0"/>
                  </a:lnTo>
                  <a:cubicBezTo>
                    <a:pt x="6702950" y="0"/>
                    <a:pt x="6736692" y="33743"/>
                    <a:pt x="6736692" y="75367"/>
                  </a:cubicBezTo>
                  <a:lnTo>
                    <a:pt x="6736692" y="2035150"/>
                  </a:lnTo>
                  <a:cubicBezTo>
                    <a:pt x="6736692" y="2076773"/>
                    <a:pt x="6702950" y="2110516"/>
                    <a:pt x="6661326" y="2110516"/>
                  </a:cubicBezTo>
                  <a:lnTo>
                    <a:pt x="37688" y="2110516"/>
                  </a:lnTo>
                  <a:cubicBezTo>
                    <a:pt x="16873" y="2110516"/>
                    <a:pt x="0" y="2093643"/>
                    <a:pt x="0" y="2072828"/>
                  </a:cubicBezTo>
                  <a:lnTo>
                    <a:pt x="0" y="37688"/>
                  </a:lnTo>
                  <a:cubicBezTo>
                    <a:pt x="0" y="16887"/>
                    <a:pt x="16887" y="0"/>
                    <a:pt x="37688" y="0"/>
                  </a:cubicBezTo>
                  <a:close/>
                </a:path>
              </a:pathLst>
            </a:custGeom>
            <a:solidFill>
              <a:srgbClr val="5C7A96">
                <a:alpha val="10196"/>
              </a:srgbClr>
            </a:solidFill>
          </p:spPr>
        </p:sp>
        <p:sp>
          <p:nvSpPr>
            <p:cNvPr id="26" name="Shape 22"/>
            <p:cNvSpPr/>
            <p:nvPr/>
          </p:nvSpPr>
          <p:spPr>
            <a:xfrm>
              <a:off x="623" y="7152"/>
              <a:ext cx="59" cy="3324"/>
            </a:xfrm>
            <a:custGeom>
              <a:avLst/>
              <a:gdLst/>
              <a:ahLst/>
              <a:cxnLst/>
              <a:rect l="l" t="t" r="r" b="b"/>
              <a:pathLst>
                <a:path w="37688" h="2110516">
                  <a:moveTo>
                    <a:pt x="37688" y="0"/>
                  </a:moveTo>
                  <a:lnTo>
                    <a:pt x="37688" y="0"/>
                  </a:lnTo>
                  <a:lnTo>
                    <a:pt x="37688" y="2110516"/>
                  </a:lnTo>
                  <a:lnTo>
                    <a:pt x="37688" y="2110516"/>
                  </a:lnTo>
                  <a:cubicBezTo>
                    <a:pt x="16873" y="2110516"/>
                    <a:pt x="0" y="2093643"/>
                    <a:pt x="0" y="2072828"/>
                  </a:cubicBezTo>
                  <a:lnTo>
                    <a:pt x="0" y="37688"/>
                  </a:lnTo>
                  <a:cubicBezTo>
                    <a:pt x="0" y="16887"/>
                    <a:pt x="16887" y="0"/>
                    <a:pt x="37688" y="0"/>
                  </a:cubicBezTo>
                  <a:close/>
                </a:path>
              </a:pathLst>
            </a:custGeom>
            <a:solidFill>
              <a:srgbClr val="D4A26A"/>
            </a:solidFill>
          </p:spPr>
        </p:sp>
        <p:sp>
          <p:nvSpPr>
            <p:cNvPr id="28" name="Text 24"/>
            <p:cNvSpPr/>
            <p:nvPr/>
          </p:nvSpPr>
          <p:spPr>
            <a:xfrm>
              <a:off x="950" y="7434"/>
              <a:ext cx="9763" cy="41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p>
              <a:pPr>
                <a:lnSpc>
                  <a:spcPct val="120000"/>
                </a:lnSpc>
              </a:pPr>
              <a:r>
                <a:rPr lang="en-US" sz="2000" b="1" dirty="0">
                  <a:solidFill>
                    <a:schemeClr val="tx1"/>
                  </a:solidFill>
                  <a:latin typeface="+mn-ea"/>
                  <a:cs typeface="Noto Sans SC" panose="020B0200000000000000" pitchFamily="34" charset="-120"/>
                </a:rPr>
                <a:t>搜索算法与剪枝策略</a:t>
              </a:r>
              <a:endParaRPr lang="en-US" sz="2000" b="1" dirty="0">
                <a:solidFill>
                  <a:schemeClr val="tx1"/>
                </a:solidFill>
                <a:latin typeface="+mn-ea"/>
                <a:cs typeface="Noto Sans SC" panose="020B0200000000000000" pitchFamily="34" charset="-120"/>
              </a:endParaRPr>
            </a:p>
          </p:txBody>
        </p:sp>
        <p:sp>
          <p:nvSpPr>
            <p:cNvPr id="29" name="Text 25"/>
            <p:cNvSpPr/>
            <p:nvPr/>
          </p:nvSpPr>
          <p:spPr>
            <a:xfrm>
              <a:off x="950" y="8101"/>
              <a:ext cx="13747" cy="38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p>
              <a:pPr>
                <a:lnSpc>
                  <a:spcPct val="140000"/>
                </a:lnSpc>
              </a:pPr>
              <a:r>
                <a:rPr lang="en-US" sz="1400" b="1" dirty="0">
                  <a:solidFill>
                    <a:schemeClr val="tx1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rPr>
                <a:t>搜索过程：</a:t>
              </a:r>
              <a:r>
                <a:rPr lang="en-US" sz="1400" dirty="0">
                  <a:solidFill>
                    <a:schemeClr val="tx1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rPr>
                <a:t>从根节点开始，根据查询点在当前划分维度的值选择进入左子树或右子树</a:t>
              </a:r>
              <a:endParaRPr lang="en-US" sz="1400" dirty="0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endParaRPr>
            </a:p>
          </p:txBody>
        </p:sp>
        <p:sp>
          <p:nvSpPr>
            <p:cNvPr id="30" name="Text 26"/>
            <p:cNvSpPr/>
            <p:nvPr/>
          </p:nvSpPr>
          <p:spPr>
            <a:xfrm>
              <a:off x="950" y="8665"/>
              <a:ext cx="10104" cy="38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p>
              <a:pPr>
                <a:lnSpc>
                  <a:spcPct val="140000"/>
                </a:lnSpc>
              </a:pPr>
              <a:r>
                <a:rPr lang="en-US" sz="1400" b="1" dirty="0">
                  <a:solidFill>
                    <a:schemeClr val="tx1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rPr>
                <a:t>剪枝条件：</a:t>
              </a:r>
              <a:r>
                <a:rPr lang="en-US" sz="1400" dirty="0">
                  <a:solidFill>
                    <a:schemeClr val="tx1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rPr>
                <a:t>如果查询点到分割超平面的距离大于当前最优距离，则跳过该子树</a:t>
              </a:r>
              <a:endParaRPr lang="en-US" sz="1400" dirty="0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endParaRPr>
            </a:p>
          </p:txBody>
        </p:sp>
        <p:sp>
          <p:nvSpPr>
            <p:cNvPr id="31" name="Text 27"/>
            <p:cNvSpPr/>
            <p:nvPr/>
          </p:nvSpPr>
          <p:spPr>
            <a:xfrm>
              <a:off x="950" y="9229"/>
              <a:ext cx="10104" cy="38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p>
              <a:pPr>
                <a:lnSpc>
                  <a:spcPct val="140000"/>
                </a:lnSpc>
              </a:pPr>
              <a:r>
                <a:rPr lang="en-US" sz="1400" b="1" dirty="0">
                  <a:solidFill>
                    <a:schemeClr val="tx1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rPr>
                <a:t>回溯机制：</a:t>
              </a:r>
              <a:r>
                <a:rPr lang="en-US" sz="1400" dirty="0">
                  <a:solidFill>
                    <a:schemeClr val="tx1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rPr>
                <a:t>搜索到叶子节点后回溯，检查是否需要搜索另一分支</a:t>
              </a:r>
              <a:endParaRPr lang="en-US" sz="1400" dirty="0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endParaRPr>
            </a:p>
          </p:txBody>
        </p:sp>
        <p:sp>
          <p:nvSpPr>
            <p:cNvPr id="32" name="Text 28"/>
            <p:cNvSpPr/>
            <p:nvPr/>
          </p:nvSpPr>
          <p:spPr>
            <a:xfrm>
              <a:off x="950" y="9793"/>
              <a:ext cx="10104" cy="38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p>
              <a:pPr>
                <a:lnSpc>
                  <a:spcPct val="140000"/>
                </a:lnSpc>
              </a:pPr>
              <a:r>
                <a:rPr lang="en-US" sz="1400" b="1" dirty="0">
                  <a:solidFill>
                    <a:schemeClr val="tx1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rPr>
                <a:t>理想查询复杂度：</a:t>
              </a:r>
              <a:r>
                <a:rPr lang="en-US" sz="1400" dirty="0">
                  <a:solidFill>
                    <a:schemeClr val="tx1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rPr>
                <a:t>O(log n)，但高维时会退化</a:t>
              </a:r>
              <a:endParaRPr lang="en-US" sz="1400" dirty="0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381000"/>
            <a:ext cx="8839200" cy="609600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pPr eaLnBrk="1" hangingPunct="1"/>
            <a:r>
              <a:rPr lang="zh-CN" altLang="en-US" dirty="0">
                <a:latin typeface="+mn-ea"/>
                <a:cs typeface="+mn-ea"/>
                <a:sym typeface="+mn-ea"/>
              </a:rPr>
              <a:t>计算效率优化</a:t>
            </a:r>
            <a:r>
              <a:rPr lang="en-US" altLang="zh-CN" dirty="0">
                <a:latin typeface="+mn-ea"/>
                <a:cs typeface="+mn-ea"/>
                <a:sym typeface="+mn-ea"/>
              </a:rPr>
              <a:t>——KD</a:t>
            </a:r>
            <a:r>
              <a:rPr lang="zh-CN" altLang="en-US" dirty="0">
                <a:latin typeface="+mn-ea"/>
                <a:cs typeface="+mn-ea"/>
                <a:sym typeface="+mn-ea"/>
              </a:rPr>
              <a:t>树</a:t>
            </a:r>
            <a:endParaRPr lang="zh-CN" altLang="en-US" dirty="0">
              <a:latin typeface="+mn-ea"/>
              <a:cs typeface="+mn-ea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6990" y="1641475"/>
            <a:ext cx="9631045" cy="395414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381000"/>
            <a:ext cx="8839200" cy="609600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pPr eaLnBrk="1" hangingPunct="1"/>
            <a:r>
              <a:rPr lang="zh-CN" altLang="en-US" dirty="0">
                <a:latin typeface="+mn-ea"/>
                <a:cs typeface="+mn-ea"/>
                <a:sym typeface="+mn-ea"/>
              </a:rPr>
              <a:t>计算效率优化</a:t>
            </a:r>
            <a:r>
              <a:rPr lang="en-US" altLang="zh-CN" dirty="0">
                <a:latin typeface="+mn-ea"/>
                <a:cs typeface="+mn-ea"/>
                <a:sym typeface="+mn-ea"/>
              </a:rPr>
              <a:t>——KD</a:t>
            </a:r>
            <a:r>
              <a:rPr lang="zh-CN" altLang="en-US" dirty="0">
                <a:latin typeface="+mn-ea"/>
                <a:cs typeface="+mn-ea"/>
                <a:sym typeface="+mn-ea"/>
              </a:rPr>
              <a:t>树</a:t>
            </a:r>
            <a:endParaRPr lang="zh-CN" altLang="en-US" dirty="0">
              <a:latin typeface="+mn-ea"/>
              <a:cs typeface="+mn-ea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0350" y="1401445"/>
            <a:ext cx="9131300" cy="497014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381000"/>
            <a:ext cx="8839200" cy="609600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pPr eaLnBrk="1" hangingPunct="1"/>
            <a:r>
              <a:rPr lang="zh-CN" altLang="en-US" dirty="0">
                <a:latin typeface="+mn-ea"/>
                <a:cs typeface="+mn-ea"/>
                <a:sym typeface="+mn-ea"/>
              </a:rPr>
              <a:t>计算效率优化</a:t>
            </a:r>
            <a:r>
              <a:rPr lang="en-US" altLang="zh-CN" dirty="0">
                <a:latin typeface="+mn-ea"/>
                <a:cs typeface="+mn-ea"/>
                <a:sym typeface="+mn-ea"/>
              </a:rPr>
              <a:t>——</a:t>
            </a:r>
            <a:r>
              <a:rPr lang="zh-CN" altLang="en-US" dirty="0">
                <a:latin typeface="+mn-ea"/>
                <a:cs typeface="+mn-ea"/>
                <a:sym typeface="+mn-ea"/>
              </a:rPr>
              <a:t>局部敏感哈希</a:t>
            </a:r>
            <a:endParaRPr lang="zh-CN" altLang="en-US" dirty="0">
              <a:latin typeface="+mn-ea"/>
              <a:cs typeface="+mn-ea"/>
              <a:sym typeface="+mn-ea"/>
            </a:endParaRPr>
          </a:p>
        </p:txBody>
      </p:sp>
      <p:sp>
        <p:nvSpPr>
          <p:cNvPr id="173" name="文本框 172"/>
          <p:cNvSpPr txBox="1"/>
          <p:nvPr/>
        </p:nvSpPr>
        <p:spPr>
          <a:xfrm>
            <a:off x="556260" y="1169035"/>
            <a:ext cx="10984230" cy="5591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 algn="just">
              <a:lnSpc>
                <a:spcPct val="200000"/>
              </a:lnSpc>
            </a:pPr>
            <a:r>
              <a:rPr lang="zh-CN" altLang="en-US" sz="2000">
                <a:cs typeface="+mn-lt"/>
              </a:rPr>
              <a:t>局部敏感哈希（</a:t>
            </a:r>
            <a:r>
              <a:rPr lang="en-US" altLang="zh-CN" sz="2000">
                <a:cs typeface="+mn-lt"/>
              </a:rPr>
              <a:t>Locality-Sensitive Hashing</a:t>
            </a:r>
            <a:r>
              <a:rPr lang="zh-CN" altLang="en-US" sz="2000">
                <a:cs typeface="+mn-lt"/>
              </a:rPr>
              <a:t>，</a:t>
            </a:r>
            <a:r>
              <a:rPr lang="en-US" altLang="zh-CN" sz="2000">
                <a:cs typeface="+mn-lt"/>
              </a:rPr>
              <a:t>LSH</a:t>
            </a:r>
            <a:r>
              <a:rPr lang="zh-CN" altLang="en-US" sz="2000">
                <a:cs typeface="+mn-lt"/>
              </a:rPr>
              <a:t>），也称为位置敏感哈希。它是一种专门面向</a:t>
            </a:r>
            <a:r>
              <a:rPr lang="zh-CN" altLang="en-US" sz="2000" b="1">
                <a:cs typeface="+mn-lt"/>
              </a:rPr>
              <a:t>高维、海量数据</a:t>
            </a:r>
            <a:r>
              <a:rPr lang="zh-CN" altLang="en-US" sz="2000">
                <a:cs typeface="+mn-lt"/>
              </a:rPr>
              <a:t>的</a:t>
            </a:r>
            <a:r>
              <a:rPr lang="zh-CN" altLang="en-US" sz="2000" b="1">
                <a:cs typeface="+mn-lt"/>
              </a:rPr>
              <a:t>近似最近邻检索算法</a:t>
            </a:r>
            <a:r>
              <a:rPr lang="zh-CN" altLang="en-US" sz="2000">
                <a:cs typeface="+mn-lt"/>
              </a:rPr>
              <a:t>，与传统哈希算法的设计目标完全不同。</a:t>
            </a:r>
            <a:endParaRPr lang="zh-CN" altLang="en-US" sz="2000">
              <a:cs typeface="+mn-lt"/>
            </a:endParaRPr>
          </a:p>
          <a:p>
            <a:pPr indent="457200" algn="just">
              <a:lnSpc>
                <a:spcPct val="200000"/>
              </a:lnSpc>
            </a:pPr>
            <a:r>
              <a:rPr lang="zh-CN" altLang="en-US" sz="2000">
                <a:cs typeface="+mn-lt"/>
              </a:rPr>
              <a:t>传统哈希算法追求尽可能减少冲突，以实现高效的数据存储、查询、增删改。而</a:t>
            </a:r>
            <a:r>
              <a:rPr lang="en-US" altLang="zh-CN" sz="2000">
                <a:cs typeface="+mn-lt"/>
              </a:rPr>
              <a:t> LSH </a:t>
            </a:r>
            <a:r>
              <a:rPr lang="zh-CN" altLang="en-US" sz="2000">
                <a:cs typeface="+mn-lt"/>
              </a:rPr>
              <a:t>反其道而行之，它主动利用并设计哈希冲突，让距离越近、相似度越高的数据点，有更高概率被哈希到同一个</a:t>
            </a:r>
            <a:r>
              <a:rPr lang="en-US" altLang="zh-CN" sz="2000">
                <a:cs typeface="+mn-lt"/>
              </a:rPr>
              <a:t> “</a:t>
            </a:r>
            <a:r>
              <a:rPr lang="zh-CN" altLang="en-US" sz="2000">
                <a:cs typeface="+mn-lt"/>
              </a:rPr>
              <a:t>桶</a:t>
            </a:r>
            <a:r>
              <a:rPr lang="en-US" altLang="zh-CN" sz="2000">
                <a:cs typeface="+mn-lt"/>
              </a:rPr>
              <a:t>” </a:t>
            </a:r>
            <a:r>
              <a:rPr lang="zh-CN" altLang="en-US" sz="2000">
                <a:cs typeface="+mn-lt"/>
              </a:rPr>
              <a:t>内，不相似的数据点则尽可能散落到不同桶中。</a:t>
            </a:r>
            <a:endParaRPr lang="zh-CN" altLang="en-US" sz="2000">
              <a:cs typeface="+mn-lt"/>
            </a:endParaRPr>
          </a:p>
          <a:p>
            <a:pPr indent="457200" algn="just">
              <a:lnSpc>
                <a:spcPct val="200000"/>
              </a:lnSpc>
            </a:pPr>
            <a:r>
              <a:rPr lang="zh-CN" altLang="en-US" sz="2000">
                <a:cs typeface="+mn-lt"/>
              </a:rPr>
              <a:t>通过这种</a:t>
            </a:r>
            <a:r>
              <a:rPr lang="en-US" altLang="zh-CN" sz="2000">
                <a:cs typeface="+mn-lt"/>
              </a:rPr>
              <a:t> “</a:t>
            </a:r>
            <a:r>
              <a:rPr lang="zh-CN" altLang="en-US" sz="2000">
                <a:cs typeface="+mn-lt"/>
              </a:rPr>
              <a:t>相似入同桶、不同相分离</a:t>
            </a:r>
            <a:r>
              <a:rPr lang="en-US" altLang="zh-CN" sz="2000">
                <a:cs typeface="+mn-lt"/>
              </a:rPr>
              <a:t>” </a:t>
            </a:r>
            <a:r>
              <a:rPr lang="zh-CN" altLang="en-US" sz="2000">
                <a:cs typeface="+mn-lt"/>
              </a:rPr>
              <a:t>的机制，</a:t>
            </a:r>
            <a:r>
              <a:rPr lang="en-US" altLang="zh-CN" sz="2000">
                <a:cs typeface="+mn-lt"/>
              </a:rPr>
              <a:t>LSH </a:t>
            </a:r>
            <a:r>
              <a:rPr lang="zh-CN" altLang="en-US" sz="2000">
                <a:cs typeface="+mn-lt"/>
              </a:rPr>
              <a:t>可以极大地缩小检索范围，无需对全量数据进行暴力距离计算，仅需在少量候选桶内完成匹配，即可快速得到近似最近邻结果。</a:t>
            </a:r>
            <a:endParaRPr lang="zh-CN" altLang="en-US" sz="2000">
              <a:cs typeface="+mn-lt"/>
            </a:endParaRPr>
          </a:p>
          <a:p>
            <a:pPr indent="457200" algn="just">
              <a:lnSpc>
                <a:spcPct val="200000"/>
              </a:lnSpc>
            </a:pPr>
            <a:r>
              <a:rPr lang="en-US" altLang="zh-CN" sz="2000">
                <a:cs typeface="+mn-lt"/>
              </a:rPr>
              <a:t>LSH </a:t>
            </a:r>
            <a:r>
              <a:rPr lang="zh-CN" altLang="en-US" sz="2000">
                <a:cs typeface="+mn-lt"/>
              </a:rPr>
              <a:t>主要解决维度灾难与海量数据检索效率问题，广泛应用于文本查重、图像检索、推荐系统、音频指纹匹配等场景，是近似最近邻搜索（</a:t>
            </a:r>
            <a:r>
              <a:rPr lang="en-US" altLang="zh-CN" sz="2000">
                <a:cs typeface="+mn-lt"/>
              </a:rPr>
              <a:t>ANN</a:t>
            </a:r>
            <a:r>
              <a:rPr lang="zh-CN" altLang="en-US" sz="2000">
                <a:cs typeface="+mn-lt"/>
              </a:rPr>
              <a:t>）中最经典、最常用的方法之一。</a:t>
            </a:r>
            <a:endParaRPr lang="zh-CN" altLang="en-US" sz="2000">
              <a:cs typeface="+mn-l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381000"/>
            <a:ext cx="8839200" cy="609600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pPr eaLnBrk="1" hangingPunct="1"/>
            <a:r>
              <a:rPr lang="zh-CN" altLang="en-US" dirty="0">
                <a:latin typeface="+mn-ea"/>
                <a:cs typeface="+mn-ea"/>
                <a:sym typeface="+mn-ea"/>
              </a:rPr>
              <a:t>计算效率优化</a:t>
            </a:r>
            <a:r>
              <a:rPr lang="en-US" altLang="zh-CN" dirty="0">
                <a:latin typeface="+mn-ea"/>
                <a:cs typeface="+mn-ea"/>
                <a:sym typeface="+mn-ea"/>
              </a:rPr>
              <a:t>——</a:t>
            </a:r>
            <a:r>
              <a:rPr lang="zh-CN" altLang="en-US" dirty="0">
                <a:latin typeface="+mn-ea"/>
                <a:cs typeface="+mn-ea"/>
                <a:sym typeface="+mn-ea"/>
              </a:rPr>
              <a:t>局部敏感哈希</a:t>
            </a:r>
            <a:endParaRPr lang="zh-CN" altLang="en-US" dirty="0">
              <a:latin typeface="+mn-ea"/>
              <a:cs typeface="+mn-ea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27050" y="1291590"/>
            <a:ext cx="11062335" cy="1476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>
              <a:lnSpc>
                <a:spcPct val="150000"/>
              </a:lnSpc>
              <a:spcAft>
                <a:spcPct val="0"/>
              </a:spcAft>
              <a:buNone/>
            </a:pPr>
            <a:r>
              <a:rPr lang="zh-CN" altLang="en-US" sz="2000" b="1" i="0">
                <a:solidFill>
                  <a:srgbClr val="252933"/>
                </a:solidFill>
                <a:ea typeface="-apple-system"/>
                <a:cs typeface="+mn-lt"/>
              </a:rPr>
              <a:t>第一步：</a:t>
            </a:r>
            <a:r>
              <a:rPr lang="en-US" altLang="zh-CN" sz="2000" b="1" i="0">
                <a:solidFill>
                  <a:srgbClr val="252933"/>
                </a:solidFill>
                <a:ea typeface="-apple-system"/>
                <a:cs typeface="+mn-lt"/>
              </a:rPr>
              <a:t>Shingling</a:t>
            </a:r>
            <a:endParaRPr lang="en-US" altLang="zh-CN" sz="2000" b="1" i="0">
              <a:solidFill>
                <a:srgbClr val="252933"/>
              </a:solidFill>
              <a:ea typeface="-apple-system"/>
              <a:cs typeface="+mn-lt"/>
            </a:endParaRPr>
          </a:p>
          <a:p>
            <a:pPr marL="0" indent="0" algn="just">
              <a:lnSpc>
                <a:spcPct val="150000"/>
              </a:lnSpc>
              <a:spcAft>
                <a:spcPct val="0"/>
              </a:spcAft>
              <a:buNone/>
            </a:pPr>
            <a:r>
              <a:rPr lang="zh-CN" altLang="en-US" sz="2000" b="0" i="0">
                <a:solidFill>
                  <a:srgbClr val="252933"/>
                </a:solidFill>
                <a:ea typeface="-apple-system"/>
                <a:cs typeface="+mn-lt"/>
              </a:rPr>
              <a:t>使用 </a:t>
            </a:r>
            <a:r>
              <a:rPr lang="en-US" altLang="zh-CN" sz="2000" b="0" i="0">
                <a:solidFill>
                  <a:srgbClr val="252933"/>
                </a:solidFill>
                <a:ea typeface="-apple-system"/>
                <a:cs typeface="+mn-lt"/>
              </a:rPr>
              <a:t>k-gram </a:t>
            </a:r>
            <a:r>
              <a:rPr lang="zh-CN" altLang="en-US" sz="2000" b="0" i="0">
                <a:solidFill>
                  <a:srgbClr val="252933"/>
                </a:solidFill>
                <a:ea typeface="-apple-system"/>
                <a:cs typeface="+mn-lt"/>
              </a:rPr>
              <a:t>将文本切分成连续</a:t>
            </a:r>
            <a:r>
              <a:rPr lang="en-US" altLang="zh-CN" sz="2000" b="0" i="0">
                <a:solidFill>
                  <a:srgbClr val="252933"/>
                </a:solidFill>
                <a:ea typeface="-apple-system"/>
                <a:cs typeface="+mn-lt"/>
              </a:rPr>
              <a:t>k</a:t>
            </a:r>
            <a:r>
              <a:rPr lang="zh-CN" altLang="en-US" sz="2000" b="0" i="0">
                <a:solidFill>
                  <a:srgbClr val="252933"/>
                </a:solidFill>
                <a:ea typeface="-apple-system"/>
                <a:cs typeface="+mn-lt"/>
              </a:rPr>
              <a:t>个字符组成的序列，然后用</a:t>
            </a:r>
            <a:r>
              <a:rPr lang="en-US" altLang="zh-CN" sz="2000" b="0" i="0">
                <a:solidFill>
                  <a:srgbClr val="252933"/>
                </a:solidFill>
                <a:ea typeface="-apple-system"/>
                <a:cs typeface="+mn-lt"/>
              </a:rPr>
              <a:t>one-hot</a:t>
            </a:r>
            <a:r>
              <a:rPr lang="zh-CN" altLang="en-US" sz="2000" b="0" i="0">
                <a:solidFill>
                  <a:srgbClr val="252933"/>
                </a:solidFill>
                <a:ea typeface="-apple-system"/>
                <a:cs typeface="+mn-lt"/>
              </a:rPr>
              <a:t>算法对每个序列进行编码，完成将文本转换为向量。</a:t>
            </a:r>
            <a:endParaRPr lang="zh-CN" altLang="en-US" sz="2000" b="0" i="0">
              <a:solidFill>
                <a:srgbClr val="252933"/>
              </a:solidFill>
              <a:ea typeface="-apple-system"/>
              <a:cs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050" y="2995930"/>
            <a:ext cx="9246870" cy="304927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381000"/>
            <a:ext cx="8839200" cy="609600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pPr eaLnBrk="1" hangingPunct="1"/>
            <a:r>
              <a:rPr lang="zh-CN" altLang="en-US" dirty="0">
                <a:latin typeface="+mn-ea"/>
                <a:cs typeface="+mn-ea"/>
                <a:sym typeface="+mn-ea"/>
              </a:rPr>
              <a:t>计算效率优化</a:t>
            </a:r>
            <a:r>
              <a:rPr lang="en-US" altLang="zh-CN" dirty="0">
                <a:latin typeface="+mn-ea"/>
                <a:cs typeface="+mn-ea"/>
                <a:sym typeface="+mn-ea"/>
              </a:rPr>
              <a:t>——</a:t>
            </a:r>
            <a:r>
              <a:rPr lang="zh-CN" altLang="en-US" dirty="0">
                <a:latin typeface="+mn-ea"/>
                <a:cs typeface="+mn-ea"/>
                <a:sym typeface="+mn-ea"/>
              </a:rPr>
              <a:t>局部敏感哈希</a:t>
            </a:r>
            <a:endParaRPr lang="zh-CN" altLang="en-US" dirty="0">
              <a:latin typeface="+mn-ea"/>
              <a:cs typeface="+mn-ea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27050" y="1311910"/>
            <a:ext cx="6602095" cy="495998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just">
              <a:lnSpc>
                <a:spcPct val="150000"/>
              </a:lnSpc>
              <a:spcAft>
                <a:spcPct val="0"/>
              </a:spcAft>
              <a:buNone/>
            </a:pPr>
            <a:r>
              <a:rPr lang="zh-CN" altLang="en-US" sz="2000" b="1" i="0">
                <a:solidFill>
                  <a:srgbClr val="252933"/>
                </a:solidFill>
                <a:ea typeface="-apple-system"/>
                <a:cs typeface="+mn-lt"/>
              </a:rPr>
              <a:t>第二步：</a:t>
            </a:r>
            <a:r>
              <a:rPr lang="en-US" altLang="zh-CN" sz="2000" b="1" i="0">
                <a:solidFill>
                  <a:srgbClr val="252933"/>
                </a:solidFill>
                <a:ea typeface="-apple-system"/>
                <a:cs typeface="+mn-lt"/>
              </a:rPr>
              <a:t>MinHashing</a:t>
            </a:r>
            <a:endParaRPr lang="en-US" altLang="zh-CN" sz="2000" b="1" i="0">
              <a:solidFill>
                <a:srgbClr val="252933"/>
              </a:solidFill>
              <a:ea typeface="-apple-system"/>
              <a:cs typeface="+mn-lt"/>
            </a:endParaRPr>
          </a:p>
          <a:p>
            <a:pPr marL="0" indent="0" algn="just">
              <a:lnSpc>
                <a:spcPct val="150000"/>
              </a:lnSpc>
              <a:spcAft>
                <a:spcPct val="0"/>
              </a:spcAft>
              <a:buNone/>
            </a:pPr>
            <a:r>
              <a:rPr lang="zh-CN" altLang="en-US" sz="2000" b="0" i="0">
                <a:solidFill>
                  <a:srgbClr val="252933"/>
                </a:solidFill>
                <a:ea typeface="-apple-system"/>
                <a:cs typeface="+mn-lt"/>
              </a:rPr>
              <a:t>将</a:t>
            </a:r>
            <a:r>
              <a:rPr lang="en-US" altLang="zh-CN" sz="2000" b="0" i="0">
                <a:solidFill>
                  <a:srgbClr val="252933"/>
                </a:solidFill>
                <a:ea typeface="-apple-system"/>
                <a:cs typeface="+mn-lt"/>
              </a:rPr>
              <a:t> shingling </a:t>
            </a:r>
            <a:r>
              <a:rPr lang="zh-CN" altLang="en-US" sz="2000" b="0" i="0">
                <a:solidFill>
                  <a:srgbClr val="252933"/>
                </a:solidFill>
                <a:ea typeface="-apple-system"/>
                <a:cs typeface="+mn-lt"/>
              </a:rPr>
              <a:t>得到的向量转化为</a:t>
            </a:r>
            <a:r>
              <a:rPr lang="en-US" altLang="zh-CN" sz="2000" b="0" i="0">
                <a:solidFill>
                  <a:srgbClr val="252933"/>
                </a:solidFill>
                <a:ea typeface="-apple-system"/>
                <a:cs typeface="+mn-lt"/>
              </a:rPr>
              <a:t>“</a:t>
            </a:r>
            <a:r>
              <a:rPr lang="zh-CN" altLang="en-US" sz="2000" b="0" i="0">
                <a:solidFill>
                  <a:srgbClr val="252933"/>
                </a:solidFill>
                <a:ea typeface="-apple-system"/>
                <a:cs typeface="+mn-lt"/>
              </a:rPr>
              <a:t>签名</a:t>
            </a:r>
            <a:r>
              <a:rPr lang="en-US" altLang="zh-CN" sz="2000" b="0" i="0">
                <a:solidFill>
                  <a:srgbClr val="252933"/>
                </a:solidFill>
                <a:ea typeface="-apple-system"/>
                <a:cs typeface="+mn-lt"/>
              </a:rPr>
              <a:t>” </a:t>
            </a:r>
            <a:r>
              <a:rPr lang="zh-CN" altLang="en-US" sz="2000" b="0" i="0">
                <a:solidFill>
                  <a:srgbClr val="252933"/>
                </a:solidFill>
                <a:ea typeface="宋体" panose="02010600030101010101" pitchFamily="2" charset="-122"/>
                <a:cs typeface="+mn-lt"/>
              </a:rPr>
              <a:t>（</a:t>
            </a:r>
            <a:r>
              <a:rPr lang="en-US" altLang="zh-CN" sz="2000" b="0" i="0">
                <a:solidFill>
                  <a:srgbClr val="252933"/>
                </a:solidFill>
                <a:ea typeface="-apple-system"/>
                <a:cs typeface="+mn-lt"/>
              </a:rPr>
              <a:t>signature</a:t>
            </a:r>
            <a:r>
              <a:rPr lang="zh-CN" altLang="en-US" sz="2000" b="0" i="0">
                <a:solidFill>
                  <a:srgbClr val="252933"/>
                </a:solidFill>
                <a:ea typeface="宋体" panose="02010600030101010101" pitchFamily="2" charset="-122"/>
                <a:cs typeface="+mn-lt"/>
              </a:rPr>
              <a:t>）</a:t>
            </a:r>
            <a:r>
              <a:rPr lang="zh-CN" altLang="en-US" sz="2000" b="0" i="0">
                <a:solidFill>
                  <a:srgbClr val="252933"/>
                </a:solidFill>
                <a:ea typeface="-apple-system"/>
                <a:cs typeface="+mn-lt"/>
              </a:rPr>
              <a:t>，这一步的主要目的是将向量转换为更小的维度</a:t>
            </a:r>
            <a:r>
              <a:rPr lang="zh-CN" altLang="en-US" sz="2000" b="0" i="0">
                <a:solidFill>
                  <a:srgbClr val="252933"/>
                </a:solidFill>
                <a:ea typeface="宋体" panose="02010600030101010101" pitchFamily="2" charset="-122"/>
                <a:cs typeface="+mn-lt"/>
              </a:rPr>
              <a:t>（</a:t>
            </a:r>
            <a:r>
              <a:rPr lang="en-US" altLang="zh-CN" sz="2000" b="0" i="0">
                <a:solidFill>
                  <a:srgbClr val="252933"/>
                </a:solidFill>
                <a:ea typeface="-apple-system"/>
                <a:cs typeface="+mn-lt"/>
              </a:rPr>
              <a:t>MinHashing</a:t>
            </a:r>
            <a:r>
              <a:rPr lang="zh-CN" altLang="en-US" sz="2000" b="0" i="0">
                <a:solidFill>
                  <a:srgbClr val="252933"/>
                </a:solidFill>
                <a:ea typeface="宋体" panose="02010600030101010101" pitchFamily="2" charset="-122"/>
                <a:cs typeface="+mn-lt"/>
              </a:rPr>
              <a:t>）</a:t>
            </a:r>
            <a:r>
              <a:rPr lang="zh-CN" altLang="en-US" sz="2000" b="0" i="0">
                <a:solidFill>
                  <a:srgbClr val="252933"/>
                </a:solidFill>
                <a:ea typeface="-apple-system"/>
                <a:cs typeface="+mn-lt"/>
              </a:rPr>
              <a:t>，这种签名</a:t>
            </a:r>
            <a:r>
              <a:rPr lang="en-US" altLang="zh-CN" sz="2000" b="0" i="0">
                <a:solidFill>
                  <a:srgbClr val="252933"/>
                </a:solidFill>
                <a:ea typeface="-apple-system"/>
                <a:cs typeface="+mn-lt"/>
              </a:rPr>
              <a:t> signature </a:t>
            </a:r>
            <a:r>
              <a:rPr lang="zh-CN" altLang="en-US" sz="2000" b="0" i="0">
                <a:solidFill>
                  <a:srgbClr val="252933"/>
                </a:solidFill>
                <a:ea typeface="-apple-system"/>
                <a:cs typeface="+mn-lt"/>
              </a:rPr>
              <a:t>可以保留其样本的相似度。</a:t>
            </a:r>
            <a:endParaRPr lang="en-US" altLang="zh-CN" sz="2000" b="0" i="0">
              <a:solidFill>
                <a:srgbClr val="252933"/>
              </a:solidFill>
              <a:ea typeface="-apple-system"/>
              <a:cs typeface="+mn-lt"/>
            </a:endParaRPr>
          </a:p>
          <a:p>
            <a:pPr marL="0" indent="0" algn="just">
              <a:lnSpc>
                <a:spcPct val="150000"/>
              </a:lnSpc>
              <a:spcAft>
                <a:spcPct val="0"/>
              </a:spcAft>
              <a:buNone/>
            </a:pPr>
            <a:r>
              <a:rPr lang="zh-CN" altLang="en-US" sz="2000" b="0" i="0">
                <a:solidFill>
                  <a:srgbClr val="252933"/>
                </a:solidFill>
                <a:ea typeface="-apple-system"/>
                <a:cs typeface="+mn-lt"/>
              </a:rPr>
              <a:t>这一步我们首先需要</a:t>
            </a:r>
            <a:r>
              <a:rPr lang="zh-CN" altLang="en-US" sz="2000" b="1" i="0">
                <a:solidFill>
                  <a:srgbClr val="252933"/>
                </a:solidFill>
                <a:ea typeface="-apple-system"/>
                <a:cs typeface="+mn-lt"/>
              </a:rPr>
              <a:t>随机生成多个置换向量</a:t>
            </a:r>
            <a:r>
              <a:rPr lang="zh-CN" altLang="en-US" sz="2000" b="0" i="0">
                <a:solidFill>
                  <a:srgbClr val="252933"/>
                </a:solidFill>
                <a:ea typeface="-apple-system"/>
                <a:cs typeface="+mn-lt"/>
              </a:rPr>
              <a:t>，</a:t>
            </a:r>
            <a:r>
              <a:rPr lang="en-US" altLang="zh-CN" sz="2000" b="0" i="0">
                <a:solidFill>
                  <a:srgbClr val="252933"/>
                </a:solidFill>
                <a:ea typeface="-apple-system"/>
                <a:cs typeface="+mn-lt"/>
              </a:rPr>
              <a:t>MinHashing</a:t>
            </a:r>
            <a:r>
              <a:rPr lang="zh-CN" altLang="en-US" sz="2000" b="0" i="0">
                <a:solidFill>
                  <a:srgbClr val="252933"/>
                </a:solidFill>
                <a:ea typeface="-apple-system"/>
                <a:cs typeface="+mn-lt"/>
              </a:rPr>
              <a:t>方法会对置换向量和样本向量进行置换，返回置换后第一个等于</a:t>
            </a:r>
            <a:r>
              <a:rPr lang="en-US" altLang="zh-CN" sz="2000" b="0" i="0">
                <a:solidFill>
                  <a:srgbClr val="252933"/>
                </a:solidFill>
                <a:ea typeface="-apple-system"/>
                <a:cs typeface="+mn-lt"/>
              </a:rPr>
              <a:t>1</a:t>
            </a:r>
            <a:r>
              <a:rPr lang="zh-CN" altLang="en-US" sz="2000" b="0" i="0">
                <a:solidFill>
                  <a:srgbClr val="252933"/>
                </a:solidFill>
                <a:ea typeface="-apple-system"/>
                <a:cs typeface="+mn-lt"/>
              </a:rPr>
              <a:t>的索引。</a:t>
            </a:r>
            <a:endParaRPr lang="zh-CN" altLang="en-US" sz="2000" b="0" i="0">
              <a:solidFill>
                <a:srgbClr val="252933"/>
              </a:solidFill>
              <a:ea typeface="-apple-system"/>
              <a:cs typeface="+mn-lt"/>
            </a:endParaRPr>
          </a:p>
          <a:p>
            <a:pPr marL="0" indent="0" algn="just">
              <a:lnSpc>
                <a:spcPct val="150000"/>
              </a:lnSpc>
              <a:spcAft>
                <a:spcPct val="0"/>
              </a:spcAft>
              <a:buNone/>
            </a:pPr>
            <a:endParaRPr lang="zh-CN" altLang="en-US" sz="2000" b="0" i="0">
              <a:solidFill>
                <a:srgbClr val="252933"/>
              </a:solidFill>
              <a:ea typeface="-apple-system"/>
              <a:cs typeface="+mn-lt"/>
            </a:endParaRPr>
          </a:p>
          <a:p>
            <a:pPr marL="0" indent="0" algn="just">
              <a:lnSpc>
                <a:spcPct val="150000"/>
              </a:lnSpc>
              <a:spcAft>
                <a:spcPct val="0"/>
              </a:spcAft>
              <a:buNone/>
            </a:pPr>
            <a:r>
              <a:rPr lang="zh-CN" altLang="en-US" sz="2000" b="0" i="0">
                <a:solidFill>
                  <a:srgbClr val="252933"/>
                </a:solidFill>
                <a:ea typeface="-apple-system"/>
                <a:cs typeface="+mn-lt"/>
              </a:rPr>
              <a:t>如下图，我们使用</a:t>
            </a:r>
            <a:r>
              <a:rPr lang="en-US" altLang="zh-CN" sz="2000" b="0" i="0">
                <a:solidFill>
                  <a:srgbClr val="252933"/>
                </a:solidFill>
                <a:ea typeface="-apple-system"/>
                <a:cs typeface="+mn-lt"/>
              </a:rPr>
              <a:t>1</a:t>
            </a:r>
            <a:r>
              <a:rPr lang="zh-CN" altLang="en-US" sz="2000" b="0" i="0">
                <a:solidFill>
                  <a:srgbClr val="252933"/>
                </a:solidFill>
                <a:ea typeface="-apple-system"/>
                <a:cs typeface="+mn-lt"/>
              </a:rPr>
              <a:t>个置换向量，向量通过</a:t>
            </a:r>
            <a:r>
              <a:rPr lang="en-US" altLang="zh-CN" sz="2000" b="0" i="0">
                <a:solidFill>
                  <a:srgbClr val="252933"/>
                </a:solidFill>
                <a:ea typeface="-apple-system"/>
                <a:cs typeface="+mn-lt"/>
              </a:rPr>
              <a:t>MinHashing</a:t>
            </a:r>
            <a:r>
              <a:rPr lang="zh-CN" altLang="en-US" sz="2000" b="0" i="0">
                <a:solidFill>
                  <a:srgbClr val="252933"/>
                </a:solidFill>
                <a:ea typeface="-apple-system"/>
                <a:cs typeface="+mn-lt"/>
              </a:rPr>
              <a:t>之后会得到</a:t>
            </a:r>
            <a:r>
              <a:rPr lang="en-US" altLang="zh-CN" sz="2000" b="0" i="0">
                <a:solidFill>
                  <a:srgbClr val="252933"/>
                </a:solidFill>
                <a:ea typeface="-apple-system"/>
                <a:cs typeface="+mn-lt"/>
              </a:rPr>
              <a:t>3</a:t>
            </a:r>
            <a:r>
              <a:rPr lang="zh-CN" altLang="en-US" sz="2000" b="0" i="0">
                <a:solidFill>
                  <a:srgbClr val="252933"/>
                </a:solidFill>
                <a:ea typeface="-apple-system"/>
                <a:cs typeface="+mn-lt"/>
              </a:rPr>
              <a:t>。</a:t>
            </a:r>
            <a:endParaRPr lang="zh-CN" altLang="en-US" sz="2000" b="0" i="0">
              <a:solidFill>
                <a:srgbClr val="252933"/>
              </a:solidFill>
              <a:ea typeface="-apple-system"/>
              <a:cs typeface="+mn-lt"/>
            </a:endParaRPr>
          </a:p>
          <a:p>
            <a:pPr marL="0" indent="0" algn="just">
              <a:lnSpc>
                <a:spcPct val="150000"/>
              </a:lnSpc>
              <a:spcAft>
                <a:spcPct val="0"/>
              </a:spcAft>
              <a:buNone/>
            </a:pPr>
            <a:endParaRPr lang="zh-CN" altLang="en-US" sz="2000" b="0" i="0">
              <a:solidFill>
                <a:srgbClr val="252933"/>
              </a:solidFill>
              <a:ea typeface="-apple-system"/>
              <a:cs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2700" y="1863725"/>
            <a:ext cx="4152265" cy="27813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381000"/>
            <a:ext cx="8839200" cy="609600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pPr eaLnBrk="1" hangingPunct="1"/>
            <a:r>
              <a:rPr lang="zh-CN" altLang="en-US" dirty="0">
                <a:latin typeface="+mn-ea"/>
                <a:cs typeface="+mn-ea"/>
                <a:sym typeface="+mn-ea"/>
              </a:rPr>
              <a:t>计算效率优化</a:t>
            </a:r>
            <a:r>
              <a:rPr lang="en-US" altLang="zh-CN" dirty="0">
                <a:latin typeface="+mn-ea"/>
                <a:cs typeface="+mn-ea"/>
                <a:sym typeface="+mn-ea"/>
              </a:rPr>
              <a:t>——</a:t>
            </a:r>
            <a:r>
              <a:rPr lang="zh-CN" altLang="en-US" dirty="0">
                <a:latin typeface="+mn-ea"/>
                <a:cs typeface="+mn-ea"/>
                <a:sym typeface="+mn-ea"/>
              </a:rPr>
              <a:t>局部敏感哈希</a:t>
            </a:r>
            <a:endParaRPr lang="zh-CN" altLang="en-US" dirty="0">
              <a:latin typeface="+mn-ea"/>
              <a:cs typeface="+mn-ea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5960" y="1316990"/>
            <a:ext cx="10783570" cy="10147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>
              <a:lnSpc>
                <a:spcPct val="150000"/>
              </a:lnSpc>
            </a:pPr>
            <a:r>
              <a:rPr lang="zh-CN" altLang="en-US" sz="2000" b="0" i="0">
                <a:solidFill>
                  <a:srgbClr val="252933"/>
                </a:solidFill>
                <a:ea typeface="-apple-system"/>
                <a:cs typeface="+mn-lt"/>
              </a:rPr>
              <a:t>接下来我们使用多个置换向量，然后得到每个向量的</a:t>
            </a:r>
            <a:r>
              <a:rPr lang="en-US" altLang="zh-CN" sz="2000" b="0" i="0">
                <a:solidFill>
                  <a:srgbClr val="252933"/>
                </a:solidFill>
                <a:ea typeface="-apple-system"/>
                <a:cs typeface="+mn-lt"/>
              </a:rPr>
              <a:t>MinHashing</a:t>
            </a:r>
            <a:r>
              <a:rPr lang="zh-CN" altLang="en-US" sz="2000" b="0" i="0">
                <a:solidFill>
                  <a:srgbClr val="252933"/>
                </a:solidFill>
                <a:ea typeface="-apple-system"/>
                <a:cs typeface="+mn-lt"/>
              </a:rPr>
              <a:t>后的值，对这个值做</a:t>
            </a:r>
            <a:r>
              <a:rPr lang="en-US" altLang="zh-CN" sz="2000" b="0" i="0">
                <a:solidFill>
                  <a:srgbClr val="252933"/>
                </a:solidFill>
                <a:ea typeface="-apple-system"/>
                <a:cs typeface="+mn-lt"/>
              </a:rPr>
              <a:t> </a:t>
            </a:r>
            <a:r>
              <a:rPr lang="en-US" altLang="zh-CN" sz="2000" b="1" i="0">
                <a:solidFill>
                  <a:srgbClr val="252933"/>
                </a:solidFill>
                <a:ea typeface="-apple-system"/>
                <a:cs typeface="+mn-lt"/>
              </a:rPr>
              <a:t>signature</a:t>
            </a:r>
            <a:r>
              <a:rPr lang="en-US" altLang="zh-CN" sz="2000" b="0" i="0">
                <a:solidFill>
                  <a:srgbClr val="252933"/>
                </a:solidFill>
                <a:ea typeface="-apple-system"/>
                <a:cs typeface="+mn-lt"/>
              </a:rPr>
              <a:t> </a:t>
            </a:r>
            <a:r>
              <a:rPr lang="zh-CN" altLang="en-US" sz="2000" b="0" i="0">
                <a:solidFill>
                  <a:srgbClr val="252933"/>
                </a:solidFill>
                <a:ea typeface="-apple-system"/>
                <a:cs typeface="+mn-lt"/>
              </a:rPr>
              <a:t>相似性 和</a:t>
            </a:r>
            <a:r>
              <a:rPr lang="en-US" altLang="zh-CN" sz="2000" b="0" i="0">
                <a:solidFill>
                  <a:srgbClr val="252933"/>
                </a:solidFill>
                <a:ea typeface="-apple-system"/>
                <a:cs typeface="+mn-lt"/>
              </a:rPr>
              <a:t> </a:t>
            </a:r>
            <a:r>
              <a:rPr lang="en-US" altLang="zh-CN" sz="2000" b="1" i="0">
                <a:solidFill>
                  <a:srgbClr val="252933"/>
                </a:solidFill>
                <a:ea typeface="-apple-system"/>
                <a:cs typeface="+mn-lt"/>
              </a:rPr>
              <a:t>Jaccard</a:t>
            </a:r>
            <a:r>
              <a:rPr lang="en-US" altLang="zh-CN" sz="2000" b="0" i="0">
                <a:solidFill>
                  <a:srgbClr val="252933"/>
                </a:solidFill>
                <a:ea typeface="-apple-system"/>
                <a:cs typeface="+mn-lt"/>
              </a:rPr>
              <a:t> </a:t>
            </a:r>
            <a:r>
              <a:rPr lang="zh-CN" altLang="en-US" sz="2000" b="0" i="0">
                <a:solidFill>
                  <a:srgbClr val="252933"/>
                </a:solidFill>
                <a:ea typeface="-apple-system"/>
                <a:cs typeface="+mn-lt"/>
              </a:rPr>
              <a:t>相似性</a:t>
            </a:r>
            <a:endParaRPr lang="zh-CN" altLang="en-US" sz="2000" b="0" i="0">
              <a:solidFill>
                <a:srgbClr val="252933"/>
              </a:solidFill>
              <a:ea typeface="-apple-system"/>
              <a:cs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0965" y="2561590"/>
            <a:ext cx="7710805" cy="41300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381000"/>
            <a:ext cx="8839200" cy="609600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pPr eaLnBrk="1" hangingPunct="1"/>
            <a:r>
              <a:rPr lang="zh-CN" altLang="en-US" dirty="0">
                <a:latin typeface="+mn-ea"/>
                <a:cs typeface="+mn-ea"/>
                <a:sym typeface="+mn-ea"/>
              </a:rPr>
              <a:t>计算效率优化</a:t>
            </a:r>
            <a:r>
              <a:rPr lang="en-US" altLang="zh-CN" dirty="0">
                <a:latin typeface="+mn-ea"/>
                <a:cs typeface="+mn-ea"/>
                <a:sym typeface="+mn-ea"/>
              </a:rPr>
              <a:t>——</a:t>
            </a:r>
            <a:r>
              <a:rPr lang="zh-CN" altLang="en-US" dirty="0">
                <a:latin typeface="+mn-ea"/>
                <a:cs typeface="+mn-ea"/>
                <a:sym typeface="+mn-ea"/>
              </a:rPr>
              <a:t>局部敏感哈希</a:t>
            </a:r>
            <a:endParaRPr lang="zh-CN" altLang="en-US" dirty="0">
              <a:latin typeface="+mn-ea"/>
              <a:cs typeface="+mn-ea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9075" y="3181985"/>
            <a:ext cx="6486525" cy="367601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61975" y="1207770"/>
            <a:ext cx="11190605" cy="2145665"/>
          </a:xfrm>
          <a:prstGeom prst="rect">
            <a:avLst/>
          </a:prstGeom>
        </p:spPr>
        <p:txBody>
          <a:bodyPr>
            <a:noAutofit/>
          </a:bodyPr>
          <a:p>
            <a:pPr algn="just">
              <a:lnSpc>
                <a:spcPct val="150000"/>
              </a:lnSpc>
            </a:pPr>
            <a:r>
              <a:rPr lang="zh-CN" altLang="en-US" sz="2000">
                <a:ea typeface="+mj-ea"/>
                <a:cs typeface="+mn-lt"/>
              </a:rPr>
              <a:t>通过</a:t>
            </a:r>
            <a:r>
              <a:rPr lang="en-US" altLang="zh-CN" sz="2000">
                <a:ea typeface="+mj-ea"/>
                <a:cs typeface="+mn-lt"/>
              </a:rPr>
              <a:t> signature </a:t>
            </a:r>
            <a:r>
              <a:rPr lang="zh-CN" altLang="en-US" sz="2000">
                <a:ea typeface="+mj-ea"/>
                <a:cs typeface="+mn-lt"/>
              </a:rPr>
              <a:t>计算出的相似度大体等于</a:t>
            </a:r>
            <a:r>
              <a:rPr lang="en-US" altLang="zh-CN" sz="2000">
                <a:ea typeface="+mj-ea"/>
                <a:cs typeface="+mn-lt"/>
              </a:rPr>
              <a:t> Jaccard </a:t>
            </a:r>
            <a:r>
              <a:rPr lang="zh-CN" altLang="en-US" sz="2000">
                <a:ea typeface="+mj-ea"/>
                <a:cs typeface="+mn-lt"/>
              </a:rPr>
              <a:t>相似度，这意味着我们可以将向量转换成 </a:t>
            </a:r>
            <a:r>
              <a:rPr lang="en-US" altLang="zh-CN" sz="2000">
                <a:ea typeface="+mj-ea"/>
                <a:cs typeface="+mn-lt"/>
              </a:rPr>
              <a:t>signature</a:t>
            </a:r>
            <a:r>
              <a:rPr lang="zh-CN" altLang="en-US" sz="2000">
                <a:ea typeface="+mj-ea"/>
                <a:cs typeface="+mn-lt"/>
              </a:rPr>
              <a:t>，然后计算他们的相似度，这比我们直接通过原始向量使用</a:t>
            </a:r>
            <a:r>
              <a:rPr lang="en-US" altLang="zh-CN" sz="2000">
                <a:ea typeface="+mj-ea"/>
                <a:cs typeface="+mn-lt"/>
              </a:rPr>
              <a:t>Jaccard Index </a:t>
            </a:r>
            <a:r>
              <a:rPr lang="zh-CN" altLang="en-US" sz="2000">
                <a:ea typeface="+mj-ea"/>
                <a:cs typeface="+mn-lt"/>
              </a:rPr>
              <a:t>计算出的相似度效率更高！</a:t>
            </a:r>
            <a:endParaRPr lang="zh-CN" altLang="en-US" sz="2000">
              <a:ea typeface="+mj-ea"/>
              <a:cs typeface="+mn-lt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>
                <a:ea typeface="+mj-ea"/>
                <a:cs typeface="+mn-lt"/>
              </a:rPr>
              <a:t>综上，</a:t>
            </a:r>
            <a:r>
              <a:rPr lang="en-US" altLang="zh-CN" sz="2000">
                <a:ea typeface="+mj-ea"/>
                <a:cs typeface="+mn-lt"/>
              </a:rPr>
              <a:t>MinHashing </a:t>
            </a:r>
            <a:r>
              <a:rPr lang="zh-CN" altLang="en-US" sz="2000">
                <a:ea typeface="+mj-ea"/>
                <a:cs typeface="+mn-lt"/>
              </a:rPr>
              <a:t>这一步就是将原始向量转换为</a:t>
            </a:r>
            <a:r>
              <a:rPr lang="en-US" altLang="zh-CN" sz="2000">
                <a:ea typeface="+mj-ea"/>
                <a:cs typeface="+mn-lt"/>
              </a:rPr>
              <a:t>signature</a:t>
            </a:r>
            <a:r>
              <a:rPr lang="zh-CN" altLang="en-US" sz="2000">
                <a:ea typeface="+mj-ea"/>
                <a:cs typeface="+mn-lt"/>
              </a:rPr>
              <a:t>，这种</a:t>
            </a:r>
            <a:r>
              <a:rPr lang="en-US" altLang="zh-CN" sz="2000">
                <a:ea typeface="+mj-ea"/>
                <a:cs typeface="+mn-lt"/>
              </a:rPr>
              <a:t>signature</a:t>
            </a:r>
            <a:r>
              <a:rPr lang="zh-CN" altLang="en-US" sz="2000">
                <a:ea typeface="+mj-ea"/>
                <a:cs typeface="+mn-lt"/>
              </a:rPr>
              <a:t>可以有效的保留相似信息，因为 </a:t>
            </a:r>
            <a:r>
              <a:rPr lang="en-US" altLang="zh-CN" sz="2000">
                <a:ea typeface="+mj-ea"/>
                <a:cs typeface="+mn-lt"/>
              </a:rPr>
              <a:t>signature</a:t>
            </a:r>
            <a:r>
              <a:rPr lang="zh-CN" altLang="en-US" sz="2000">
                <a:ea typeface="+mj-ea"/>
                <a:cs typeface="+mn-lt"/>
              </a:rPr>
              <a:t>相似度</a:t>
            </a:r>
            <a:r>
              <a:rPr lang="en-US" altLang="zh-CN" sz="2000">
                <a:ea typeface="+mj-ea"/>
                <a:cs typeface="+mn-lt"/>
              </a:rPr>
              <a:t>≈Jaccard</a:t>
            </a:r>
            <a:r>
              <a:rPr lang="zh-CN" altLang="en-US" sz="2000">
                <a:ea typeface="+mj-ea"/>
                <a:cs typeface="+mn-lt"/>
              </a:rPr>
              <a:t>相似度</a:t>
            </a:r>
            <a:r>
              <a:rPr lang="zh-CN" sz="2000">
                <a:ea typeface="+mj-ea"/>
                <a:cs typeface="+mn-lt"/>
              </a:rPr>
              <a:t>。</a:t>
            </a:r>
            <a:endParaRPr lang="zh-CN" sz="2000">
              <a:ea typeface="+mj-ea"/>
              <a:cs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30" y="5323840"/>
            <a:ext cx="3573145" cy="42354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3821430"/>
            <a:ext cx="2789555" cy="23304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381000"/>
            <a:ext cx="8839200" cy="609600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pPr eaLnBrk="1" hangingPunct="1"/>
            <a:r>
              <a:rPr lang="zh-CN" altLang="en-US" dirty="0">
                <a:latin typeface="+mn-ea"/>
                <a:cs typeface="+mn-ea"/>
                <a:sym typeface="+mn-ea"/>
              </a:rPr>
              <a:t>计算效率优化</a:t>
            </a:r>
            <a:r>
              <a:rPr lang="en-US" altLang="zh-CN" dirty="0">
                <a:latin typeface="+mn-ea"/>
                <a:cs typeface="+mn-ea"/>
                <a:sym typeface="+mn-ea"/>
              </a:rPr>
              <a:t>——</a:t>
            </a:r>
            <a:r>
              <a:rPr lang="zh-CN" altLang="en-US" dirty="0">
                <a:latin typeface="+mn-ea"/>
                <a:cs typeface="+mn-ea"/>
                <a:sym typeface="+mn-ea"/>
              </a:rPr>
              <a:t>局部敏感哈希</a:t>
            </a:r>
            <a:endParaRPr lang="zh-CN" altLang="en-US" dirty="0">
              <a:latin typeface="+mn-ea"/>
              <a:cs typeface="+mn-ea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4660" y="1203325"/>
            <a:ext cx="4183380" cy="5432425"/>
          </a:xfrm>
          <a:prstGeom prst="rect">
            <a:avLst/>
          </a:prstGeom>
        </p:spPr>
        <p:txBody>
          <a:bodyPr>
            <a:noAutofit/>
          </a:bodyPr>
          <a:p>
            <a:pPr algn="just">
              <a:lnSpc>
                <a:spcPct val="150000"/>
              </a:lnSpc>
            </a:pPr>
            <a:r>
              <a:rPr lang="zh-CN" altLang="en-US" sz="2000" b="1">
                <a:cs typeface="+mn-lt"/>
              </a:rPr>
              <a:t>第三步：</a:t>
            </a:r>
            <a:r>
              <a:rPr lang="en-US" altLang="zh-CN" sz="2000" b="1">
                <a:cs typeface="+mn-lt"/>
              </a:rPr>
              <a:t>LSH function</a:t>
            </a:r>
            <a:endParaRPr lang="en-US" altLang="zh-CN" sz="2000" b="1">
              <a:cs typeface="+mn-lt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>
                <a:cs typeface="+mn-lt"/>
              </a:rPr>
              <a:t>LSH </a:t>
            </a:r>
            <a:r>
              <a:rPr lang="zh-CN" altLang="en-US" sz="2000">
                <a:cs typeface="+mn-lt"/>
              </a:rPr>
              <a:t>方法是将签名块散列到不同的存储桶中。</a:t>
            </a:r>
            <a:endParaRPr lang="zh-CN" altLang="en-US" sz="2000">
              <a:cs typeface="+mn-lt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>
                <a:cs typeface="+mn-lt"/>
              </a:rPr>
              <a:t>首先把 </a:t>
            </a:r>
            <a:r>
              <a:rPr lang="en-US" altLang="zh-CN" sz="2000">
                <a:cs typeface="+mn-lt"/>
              </a:rPr>
              <a:t>singature </a:t>
            </a:r>
            <a:r>
              <a:rPr lang="zh-CN" altLang="en-US" sz="2000">
                <a:cs typeface="+mn-lt"/>
              </a:rPr>
              <a:t>拆分为多个相等的部分，每个部分被称为波段</a:t>
            </a:r>
            <a:r>
              <a:rPr lang="en-US" altLang="zh-CN" sz="2000">
                <a:cs typeface="+mn-lt"/>
              </a:rPr>
              <a:t>(bands)</a:t>
            </a:r>
            <a:r>
              <a:rPr lang="zh-CN" altLang="en-US" sz="2000">
                <a:cs typeface="+mn-lt"/>
              </a:rPr>
              <a:t>，每个波段包含</a:t>
            </a:r>
            <a:r>
              <a:rPr lang="en-US" altLang="zh-CN" sz="2000">
                <a:cs typeface="+mn-lt"/>
              </a:rPr>
              <a:t>r</a:t>
            </a:r>
            <a:r>
              <a:rPr lang="zh-CN" altLang="en-US" sz="2000">
                <a:cs typeface="+mn-lt"/>
              </a:rPr>
              <a:t>的值。比如 </a:t>
            </a:r>
            <a:r>
              <a:rPr lang="en-US" altLang="zh-CN" sz="2000">
                <a:cs typeface="+mn-lt"/>
              </a:rPr>
              <a:t>singature </a:t>
            </a:r>
            <a:r>
              <a:rPr lang="zh-CN" altLang="en-US" sz="2000">
                <a:cs typeface="+mn-lt"/>
              </a:rPr>
              <a:t>有</a:t>
            </a:r>
            <a:r>
              <a:rPr lang="en-US" altLang="zh-CN" sz="2000">
                <a:cs typeface="+mn-lt"/>
              </a:rPr>
              <a:t>9</a:t>
            </a:r>
            <a:r>
              <a:rPr lang="zh-CN" altLang="en-US" sz="2000">
                <a:cs typeface="+mn-lt"/>
              </a:rPr>
              <a:t>个值，按</a:t>
            </a:r>
            <a:r>
              <a:rPr lang="en-US" altLang="zh-CN" sz="2000">
                <a:cs typeface="+mn-lt"/>
              </a:rPr>
              <a:t>3</a:t>
            </a:r>
            <a:r>
              <a:rPr lang="zh-CN" altLang="en-US" sz="2000">
                <a:cs typeface="+mn-lt"/>
              </a:rPr>
              <a:t>个一组分，则有</a:t>
            </a:r>
            <a:r>
              <a:rPr lang="en-US" altLang="zh-CN" sz="2000">
                <a:cs typeface="+mn-lt"/>
              </a:rPr>
              <a:t>3</a:t>
            </a:r>
            <a:r>
              <a:rPr lang="zh-CN" altLang="en-US" sz="2000">
                <a:cs typeface="+mn-lt"/>
              </a:rPr>
              <a:t>个波段，每个波段有</a:t>
            </a:r>
            <a:r>
              <a:rPr lang="en-US" altLang="zh-CN" sz="2000">
                <a:cs typeface="+mn-lt"/>
              </a:rPr>
              <a:t>3</a:t>
            </a:r>
            <a:r>
              <a:rPr lang="zh-CN" altLang="en-US" sz="2000">
                <a:cs typeface="+mn-lt"/>
              </a:rPr>
              <a:t>个值。</a:t>
            </a:r>
            <a:endParaRPr lang="zh-CN" altLang="en-US" sz="2000">
              <a:cs typeface="+mn-lt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>
                <a:cs typeface="+mn-lt"/>
              </a:rPr>
              <a:t>然后分别对每个波段进行</a:t>
            </a:r>
            <a:r>
              <a:rPr lang="en-US" altLang="zh-CN" sz="2000">
                <a:cs typeface="+mn-lt"/>
              </a:rPr>
              <a:t>hash</a:t>
            </a:r>
            <a:r>
              <a:rPr lang="zh-CN" altLang="en-US" sz="2000">
                <a:cs typeface="+mn-lt"/>
              </a:rPr>
              <a:t>映射，映射到单独的存储桶中。如果</a:t>
            </a:r>
            <a:r>
              <a:rPr lang="en-US" altLang="zh-CN" sz="2000">
                <a:cs typeface="+mn-lt"/>
              </a:rPr>
              <a:t>signature</a:t>
            </a:r>
            <a:r>
              <a:rPr lang="zh-CN" altLang="en-US" sz="2000">
                <a:cs typeface="+mn-lt"/>
              </a:rPr>
              <a:t>被拆成</a:t>
            </a:r>
            <a:r>
              <a:rPr lang="en-US" altLang="zh-CN" sz="2000">
                <a:cs typeface="+mn-lt"/>
              </a:rPr>
              <a:t>n</a:t>
            </a:r>
            <a:r>
              <a:rPr lang="zh-CN" altLang="en-US" sz="2000">
                <a:cs typeface="+mn-lt"/>
              </a:rPr>
              <a:t>份，则代表有</a:t>
            </a:r>
            <a:r>
              <a:rPr lang="en-US" altLang="zh-CN" sz="2000">
                <a:cs typeface="+mn-lt"/>
              </a:rPr>
              <a:t>n</a:t>
            </a:r>
            <a:r>
              <a:rPr lang="zh-CN" altLang="en-US" sz="2000">
                <a:cs typeface="+mn-lt"/>
              </a:rPr>
              <a:t>个存储桶。</a:t>
            </a:r>
            <a:endParaRPr lang="zh-CN" altLang="en-US" sz="2000">
              <a:cs typeface="+mn-lt"/>
            </a:endParaRPr>
          </a:p>
          <a:p>
            <a:pPr algn="just">
              <a:lnSpc>
                <a:spcPct val="150000"/>
              </a:lnSpc>
            </a:pPr>
            <a:endParaRPr lang="zh-CN" altLang="en-US" sz="2000">
              <a:cs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8195" y="1634490"/>
            <a:ext cx="7583805" cy="458914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24*308"/>
  <p:tag name="TABLE_ENDDRAG_RECT" val="68*209*824*308"/>
</p:tagLst>
</file>

<file path=ppt/tags/tag2.xml><?xml version="1.0" encoding="utf-8"?>
<p:tagLst xmlns:p="http://schemas.openxmlformats.org/presentationml/2006/main">
  <p:tag name="KSO_WM_DIAGRAM_VIRTUALLY_FRAME" val="{&quot;height&quot;:258.9,&quot;left&quot;:30.35,&quot;top&quot;:121.95,&quot;width&quot;:899.15}"/>
</p:tagLst>
</file>

<file path=ppt/tags/tag3.xml><?xml version="1.0" encoding="utf-8"?>
<p:tagLst xmlns:p="http://schemas.openxmlformats.org/presentationml/2006/main">
  <p:tag name="KSO_WM_DIAGRAM_VIRTUALLY_FRAME" val="{&quot;height&quot;:258.9,&quot;left&quot;:30.35,&quot;top&quot;:121.95,&quot;width&quot;:899.15}"/>
</p:tagLst>
</file>

<file path=ppt/tags/tag4.xml><?xml version="1.0" encoding="utf-8"?>
<p:tagLst xmlns:p="http://schemas.openxmlformats.org/presentationml/2006/main">
  <p:tag name="KSO_WM_DIAGRAM_VIRTUALLY_FRAME" val="{&quot;height&quot;:258.9,&quot;left&quot;:30.35,&quot;top&quot;:121.95,&quot;width&quot;:899.15}"/>
</p:tagLst>
</file>

<file path=ppt/tags/tag5.xml><?xml version="1.0" encoding="utf-8"?>
<p:tagLst xmlns:p="http://schemas.openxmlformats.org/presentationml/2006/main">
  <p:tag name="KSO_WM_DIAGRAM_VIRTUALLY_FRAME" val="{&quot;height&quot;:258.9,&quot;left&quot;:30.35,&quot;top&quot;:121.95,&quot;width&quot;:899.15}"/>
</p:tagLst>
</file>

<file path=ppt/tags/tag6.xml><?xml version="1.0" encoding="utf-8"?>
<p:tagLst xmlns:p="http://schemas.openxmlformats.org/presentationml/2006/main">
  <p:tag name="KSO_WM_DIAGRAM_VIRTUALLY_FRAME" val="{&quot;height&quot;:258.9,&quot;left&quot;:30.35,&quot;top&quot;:121.95,&quot;width&quot;:899.15}"/>
</p:tagLst>
</file>

<file path=ppt/tags/tag7.xml><?xml version="1.0" encoding="utf-8"?>
<p:tagLst xmlns:p="http://schemas.openxmlformats.org/presentationml/2006/main">
  <p:tag name="KSO_WM_DIAGRAM_VIRTUALLY_FRAME" val="{&quot;height&quot;:258.9,&quot;left&quot;:30.35,&quot;top&quot;:121.95,&quot;width&quot;:899.15}"/>
</p:tagLst>
</file>

<file path=ppt/tags/tag8.xml><?xml version="1.0" encoding="utf-8"?>
<p:tagLst xmlns:p="http://schemas.openxmlformats.org/presentationml/2006/main">
  <p:tag name="KSO_WM_DIAGRAM_VIRTUALLY_FRAME" val="{&quot;height&quot;:258.9,&quot;left&quot;:30.35,&quot;top&quot;:121.95,&quot;width&quot;:899.15}"/>
</p:tagLst>
</file>

<file path=ppt/tags/tag9.xml><?xml version="1.0" encoding="utf-8"?>
<p:tagLst xmlns:p="http://schemas.openxmlformats.org/presentationml/2006/main">
  <p:tag name="KSO_WM_DIAGRAM_VIRTUALLY_FRAME" val="{&quot;height&quot;:258.9,&quot;left&quot;:30.35,&quot;top&quot;:121.95,&quot;width&quot;:899.15}"/>
</p:tagLst>
</file>

<file path=ppt/tags/tag10.xml><?xml version="1.0" encoding="utf-8"?>
<p:tagLst xmlns:p="http://schemas.openxmlformats.org/presentationml/2006/main">
  <p:tag name="KSO_WM_DIAGRAM_VIRTUALLY_FRAME" val="{&quot;height&quot;:258.9,&quot;left&quot;:30.35,&quot;top&quot;:121.95,&quot;width&quot;:899.15}"/>
</p:tagLst>
</file>

<file path=ppt/tags/tag11.xml><?xml version="1.0" encoding="utf-8"?>
<p:tagLst xmlns:p="http://schemas.openxmlformats.org/presentationml/2006/main">
  <p:tag name="KSO_WM_DIAGRAM_VIRTUALLY_FRAME" val="{&quot;height&quot;:258.9,&quot;left&quot;:30.35,&quot;top&quot;:121.95,&quot;width&quot;:899.15}"/>
</p:tagLst>
</file>

<file path=ppt/tags/tag12.xml><?xml version="1.0" encoding="utf-8"?>
<p:tagLst xmlns:p="http://schemas.openxmlformats.org/presentationml/2006/main">
  <p:tag name="KSO_WM_DIAGRAM_VIRTUALLY_FRAME" val="{&quot;height&quot;:258.9,&quot;left&quot;:30.35,&quot;top&quot;:121.95,&quot;width&quot;:899.15}"/>
</p:tagLst>
</file>

<file path=ppt/tags/tag13.xml><?xml version="1.0" encoding="utf-8"?>
<p:tagLst xmlns:p="http://schemas.openxmlformats.org/presentationml/2006/main">
  <p:tag name="KSO_WM_DIAGRAM_VIRTUALLY_FRAME" val="{&quot;height&quot;:258.9,&quot;left&quot;:30.35,&quot;top&quot;:121.95,&quot;width&quot;:899.15}"/>
</p:tagLst>
</file>

<file path=ppt/tags/tag14.xml><?xml version="1.0" encoding="utf-8"?>
<p:tagLst xmlns:p="http://schemas.openxmlformats.org/presentationml/2006/main">
  <p:tag name="KSO_WM_DIAGRAM_VIRTUALLY_FRAME" val="{&quot;height&quot;:258.9,&quot;left&quot;:30.35,&quot;top&quot;:121.95,&quot;width&quot;:899.15}"/>
</p:tagLst>
</file>

<file path=ppt/tags/tag15.xml><?xml version="1.0" encoding="utf-8"?>
<p:tagLst xmlns:p="http://schemas.openxmlformats.org/presentationml/2006/main">
  <p:tag name="KSO_WM_DIAGRAM_VIRTUALLY_FRAME" val="{&quot;height&quot;:258.9,&quot;left&quot;:30.35,&quot;top&quot;:121.95,&quot;width&quot;:899.15}"/>
</p:tagLst>
</file>

<file path=ppt/tags/tag16.xml><?xml version="1.0" encoding="utf-8"?>
<p:tagLst xmlns:p="http://schemas.openxmlformats.org/presentationml/2006/main">
  <p:tag name="KSO_WM_DIAGRAM_VIRTUALLY_FRAME" val="{&quot;height&quot;:258.9,&quot;left&quot;:30.35,&quot;top&quot;:121.95,&quot;width&quot;:899.15}"/>
</p:tagLst>
</file>

<file path=ppt/tags/tag17.xml><?xml version="1.0" encoding="utf-8"?>
<p:tagLst xmlns:p="http://schemas.openxmlformats.org/presentationml/2006/main">
  <p:tag name="KSO_WM_DIAGRAM_VIRTUALLY_FRAME" val="{&quot;height&quot;:258.9,&quot;left&quot;:30.35,&quot;top&quot;:121.95,&quot;width&quot;:899.15}"/>
</p:tagLst>
</file>

<file path=ppt/tags/tag18.xml><?xml version="1.0" encoding="utf-8"?>
<p:tagLst xmlns:p="http://schemas.openxmlformats.org/presentationml/2006/main">
  <p:tag name="KSO_WM_DIAGRAM_VIRTUALLY_FRAME" val="{&quot;height&quot;:258.9,&quot;left&quot;:30.35,&quot;top&quot;:121.95,&quot;width&quot;:899.15}"/>
</p:tagLst>
</file>

<file path=ppt/tags/tag19.xml><?xml version="1.0" encoding="utf-8"?>
<p:tagLst xmlns:p="http://schemas.openxmlformats.org/presentationml/2006/main">
  <p:tag name="KSO_WM_DIAGRAM_VIRTUALLY_FRAME" val="{&quot;height&quot;:258.9,&quot;left&quot;:30.35,&quot;top&quot;:121.95,&quot;width&quot;:899.15}"/>
</p:tagLst>
</file>

<file path=ppt/tags/tag20.xml><?xml version="1.0" encoding="utf-8"?>
<p:tagLst xmlns:p="http://schemas.openxmlformats.org/presentationml/2006/main">
  <p:tag name="KSO_WM_DIAGRAM_VIRTUALLY_FRAME" val="{&quot;height&quot;:258.9,&quot;left&quot;:30.35,&quot;top&quot;:121.95,&quot;width&quot;:899.15}"/>
</p:tagLst>
</file>

<file path=ppt/tags/tag21.xml><?xml version="1.0" encoding="utf-8"?>
<p:tagLst xmlns:p="http://schemas.openxmlformats.org/presentationml/2006/main">
  <p:tag name="KSO_WM_DIAGRAM_VIRTUALLY_FRAME" val="{&quot;height&quot;:258.9,&quot;left&quot;:30.35,&quot;top&quot;:121.95,&quot;width&quot;:899.15}"/>
</p:tagLst>
</file>

<file path=ppt/tags/tag22.xml><?xml version="1.0" encoding="utf-8"?>
<p:tagLst xmlns:p="http://schemas.openxmlformats.org/presentationml/2006/main">
  <p:tag name="KSO_WM_DIAGRAM_VIRTUALLY_FRAME" val="{&quot;height&quot;:258.9,&quot;left&quot;:30.35,&quot;top&quot;:121.95,&quot;width&quot;:899.15}"/>
</p:tagLst>
</file>

<file path=ppt/tags/tag23.xml><?xml version="1.0" encoding="utf-8"?>
<p:tagLst xmlns:p="http://schemas.openxmlformats.org/presentationml/2006/main">
  <p:tag name="KSO_WM_DIAGRAM_VIRTUALLY_FRAME" val="{&quot;height&quot;:258.9,&quot;left&quot;:30.35,&quot;top&quot;:121.95,&quot;width&quot;:899.15}"/>
</p:tagLst>
</file>

<file path=ppt/tags/tag24.xml><?xml version="1.0" encoding="utf-8"?>
<p:tagLst xmlns:p="http://schemas.openxmlformats.org/presentationml/2006/main">
  <p:tag name="KSO_WM_DIAGRAM_VIRTUALLY_FRAME" val="{&quot;height&quot;:258.9,&quot;left&quot;:30.35,&quot;top&quot;:121.95,&quot;width&quot;:899.15}"/>
</p:tagLst>
</file>

<file path=ppt/tags/tag25.xml><?xml version="1.0" encoding="utf-8"?>
<p:tagLst xmlns:p="http://schemas.openxmlformats.org/presentationml/2006/main">
  <p:tag name="KSO_WM_DIAGRAM_VIRTUALLY_FRAME" val="{&quot;height&quot;:258.9,&quot;left&quot;:30.35,&quot;top&quot;:121.95,&quot;width&quot;:899.15}"/>
</p:tagLst>
</file>

<file path=ppt/tags/tag26.xml><?xml version="1.0" encoding="utf-8"?>
<p:tagLst xmlns:p="http://schemas.openxmlformats.org/presentationml/2006/main">
  <p:tag name="KSO_WM_DIAGRAM_VIRTUALLY_FRAME" val="{&quot;height&quot;:258.9,&quot;left&quot;:30.35,&quot;top&quot;:121.95,&quot;width&quot;:899.15}"/>
</p:tagLst>
</file>

<file path=ppt/tags/tag27.xml><?xml version="1.0" encoding="utf-8"?>
<p:tagLst xmlns:p="http://schemas.openxmlformats.org/presentationml/2006/main">
  <p:tag name="KSO_WM_DIAGRAM_VIRTUALLY_FRAME" val="{&quot;height&quot;:258.9,&quot;left&quot;:30.35,&quot;top&quot;:121.95,&quot;width&quot;:899.15}"/>
</p:tagLst>
</file>

<file path=ppt/tags/tag28.xml><?xml version="1.0" encoding="utf-8"?>
<p:tagLst xmlns:p="http://schemas.openxmlformats.org/presentationml/2006/main">
  <p:tag name="KSO_WM_DIAGRAM_VIRTUALLY_FRAME" val="{&quot;height&quot;:258.9,&quot;left&quot;:30.35,&quot;top&quot;:121.95,&quot;width&quot;:899.15}"/>
</p:tagLst>
</file>

<file path=ppt/tags/tag29.xml><?xml version="1.0" encoding="utf-8"?>
<p:tagLst xmlns:p="http://schemas.openxmlformats.org/presentationml/2006/main">
  <p:tag name="TABLE_ENDDRAG_ORIGIN_RECT" val="373*185"/>
  <p:tag name="TABLE_ENDDRAG_RECT" val="56*153*373*185"/>
</p:tagLst>
</file>

<file path=ppt/tags/tag30.xml><?xml version="1.0" encoding="utf-8"?>
<p:tagLst xmlns:p="http://schemas.openxmlformats.org/presentationml/2006/main">
  <p:tag name="KSO_WM_DIAGRAM_VIRTUALLY_FRAME" val="{&quot;height&quot;:129.08811023622047,&quot;left&quot;:44.513149606299216,&quot;top&quot;:157.27976377952754,&quot;width&quot;:517.0368503937008}"/>
</p:tagLst>
</file>

<file path=ppt/tags/tag31.xml><?xml version="1.0" encoding="utf-8"?>
<p:tagLst xmlns:p="http://schemas.openxmlformats.org/presentationml/2006/main">
  <p:tag name="KSO_WM_DIAGRAM_VIRTUALLY_FRAME" val="{&quot;height&quot;:129.08811023622047,&quot;left&quot;:44.513149606299216,&quot;top&quot;:157.27976377952754,&quot;width&quot;:517.0368503937008}"/>
</p:tagLst>
</file>

<file path=ppt/tags/tag32.xml><?xml version="1.0" encoding="utf-8"?>
<p:tagLst xmlns:p="http://schemas.openxmlformats.org/presentationml/2006/main">
  <p:tag name="KSO_WM_DIAGRAM_VIRTUALLY_FRAME" val="{&quot;height&quot;:129.08811023622047,&quot;left&quot;:44.513149606299216,&quot;top&quot;:157.27976377952754,&quot;width&quot;:517.0368503937008}"/>
</p:tagLst>
</file>

<file path=ppt/tags/tag33.xml><?xml version="1.0" encoding="utf-8"?>
<p:tagLst xmlns:p="http://schemas.openxmlformats.org/presentationml/2006/main">
  <p:tag name="KSO_WM_DIAGRAM_VIRTUALLY_FRAME" val="{&quot;height&quot;:129.08811023622047,&quot;left&quot;:44.513149606299216,&quot;top&quot;:157.27976377952754,&quot;width&quot;:517.0368503937008}"/>
</p:tagLst>
</file>

<file path=ppt/tags/tag34.xml><?xml version="1.0" encoding="utf-8"?>
<p:tagLst xmlns:p="http://schemas.openxmlformats.org/presentationml/2006/main">
  <p:tag name="KSO_WM_DIAGRAM_VIRTUALLY_FRAME" val="{&quot;height&quot;:129.08811023622047,&quot;left&quot;:44.513149606299216,&quot;top&quot;:157.27976377952754,&quot;width&quot;:517.0368503937008}"/>
</p:tagLst>
</file>

<file path=ppt/tags/tag35.xml><?xml version="1.0" encoding="utf-8"?>
<p:tagLst xmlns:p="http://schemas.openxmlformats.org/presentationml/2006/main">
  <p:tag name="KSO_WM_DIAGRAM_VIRTUALLY_FRAME" val="{&quot;height&quot;:129.08811023622047,&quot;left&quot;:44.513149606299216,&quot;top&quot;:157.27976377952754,&quot;width&quot;:517.0368503937008}"/>
</p:tagLst>
</file>

<file path=ppt/tags/tag36.xml><?xml version="1.0" encoding="utf-8"?>
<p:tagLst xmlns:p="http://schemas.openxmlformats.org/presentationml/2006/main">
  <p:tag name="KSO_WM_DIAGRAM_VIRTUALLY_FRAME" val="{&quot;height&quot;:129.08811023622047,&quot;left&quot;:44.513149606299216,&quot;top&quot;:157.27976377952754,&quot;width&quot;:517.0368503937008}"/>
</p:tagLst>
</file>

<file path=ppt/tags/tag37.xml><?xml version="1.0" encoding="utf-8"?>
<p:tagLst xmlns:p="http://schemas.openxmlformats.org/presentationml/2006/main">
  <p:tag name="KSO_WM_DIAGRAM_VIRTUALLY_FRAME" val="{&quot;height&quot;:129.08811023622047,&quot;left&quot;:44.513149606299216,&quot;top&quot;:157.27976377952754,&quot;width&quot;:517.0368503937008}"/>
</p:tagLst>
</file>

<file path=ppt/tags/tag38.xml><?xml version="1.0" encoding="utf-8"?>
<p:tagLst xmlns:p="http://schemas.openxmlformats.org/presentationml/2006/main">
  <p:tag name="KSO_WM_DIAGRAM_VIRTUALLY_FRAME" val="{&quot;height&quot;:129.08811023622047,&quot;left&quot;:44.513149606299216,&quot;top&quot;:157.27976377952754,&quot;width&quot;:517.0368503937008}"/>
</p:tagLst>
</file>

<file path=ppt/tags/tag39.xml><?xml version="1.0" encoding="utf-8"?>
<p:tagLst xmlns:p="http://schemas.openxmlformats.org/presentationml/2006/main">
  <p:tag name="KSO_WM_DIAGRAM_VIRTUALLY_FRAME" val="{&quot;height&quot;:129.08811023622047,&quot;left&quot;:44.513149606299216,&quot;top&quot;:157.27976377952754,&quot;width&quot;:517.0368503937008}"/>
</p:tagLst>
</file>

<file path=ppt/tags/tag40.xml><?xml version="1.0" encoding="utf-8"?>
<p:tagLst xmlns:p="http://schemas.openxmlformats.org/presentationml/2006/main">
  <p:tag name="KSO_WM_DIAGRAM_VIRTUALLY_FRAME" val="{&quot;height&quot;:129.08811023622047,&quot;left&quot;:44.513149606299216,&quot;top&quot;:157.27976377952754,&quot;width&quot;:517.0368503937008}"/>
</p:tagLst>
</file>

<file path=ppt/tags/tag41.xml><?xml version="1.0" encoding="utf-8"?>
<p:tagLst xmlns:p="http://schemas.openxmlformats.org/presentationml/2006/main">
  <p:tag name="KSO_WM_DIAGRAM_VIRTUALLY_FRAME" val="{&quot;height&quot;:129.08811023622047,&quot;left&quot;:44.513149606299216,&quot;top&quot;:157.27976377952754,&quot;width&quot;:517.0368503937008}"/>
</p:tagLst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4321</Words>
  <Application>WPS 演示</Application>
  <PresentationFormat>宽屏</PresentationFormat>
  <Paragraphs>330</Paragraphs>
  <Slides>27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7" baseType="lpstr">
      <vt:lpstr>Arial</vt:lpstr>
      <vt:lpstr>宋体</vt:lpstr>
      <vt:lpstr>Wingdings</vt:lpstr>
      <vt:lpstr>Berlin Sans FB Demi</vt:lpstr>
      <vt:lpstr>Calibri</vt:lpstr>
      <vt:lpstr>Tahoma</vt:lpstr>
      <vt:lpstr>Times New Roman</vt:lpstr>
      <vt:lpstr>MiSans</vt:lpstr>
      <vt:lpstr>MiSans</vt:lpstr>
      <vt:lpstr>Noto Sans SC</vt:lpstr>
      <vt:lpstr>Arial</vt:lpstr>
      <vt:lpstr>微软雅黑</vt:lpstr>
      <vt:lpstr>Arial Unicode MS</vt:lpstr>
      <vt:lpstr>PingFang SC</vt:lpstr>
      <vt:lpstr>Segoe Print</vt:lpstr>
      <vt:lpstr>Noto Sans SC</vt:lpstr>
      <vt:lpstr>-apple-system</vt:lpstr>
      <vt:lpstr>Calibri Light</vt:lpstr>
      <vt:lpstr>MingLiU-ExtB</vt:lpstr>
      <vt:lpstr>Retrospect</vt:lpstr>
      <vt:lpstr>Chapter 6. Classification: Basic Concepts</vt:lpstr>
      <vt:lpstr>K 近邻算法</vt:lpstr>
      <vt:lpstr>懒惰学习 vs 急切学习</vt:lpstr>
      <vt:lpstr>什么是 KNN？</vt:lpstr>
      <vt:lpstr>K-近邻算法流程</vt:lpstr>
      <vt:lpstr>算法优缺点</vt:lpstr>
      <vt:lpstr>三大核心问题</vt:lpstr>
      <vt:lpstr>K值选择策略</vt:lpstr>
      <vt:lpstr>K值选择策略</vt:lpstr>
      <vt:lpstr>K值选择策略</vt:lpstr>
      <vt:lpstr>K值选择策略</vt:lpstr>
      <vt:lpstr>K值选择策略</vt:lpstr>
      <vt:lpstr>距离度量方法</vt:lpstr>
      <vt:lpstr>距离度量方法</vt:lpstr>
      <vt:lpstr>距离度量方法</vt:lpstr>
      <vt:lpstr>距离度量方法</vt:lpstr>
      <vt:lpstr>计算效率优化</vt:lpstr>
      <vt:lpstr>计算效率优化——KD树</vt:lpstr>
      <vt:lpstr>计算效率优化——KD树</vt:lpstr>
      <vt:lpstr>计算效率优化——KD树</vt:lpstr>
      <vt:lpstr>计算效率优化——KD树</vt:lpstr>
      <vt:lpstr>计算效率优化——局部敏感哈希</vt:lpstr>
      <vt:lpstr>计算效率优化——局部敏感哈希</vt:lpstr>
      <vt:lpstr>计算效率优化——局部敏感哈希</vt:lpstr>
      <vt:lpstr>计算效率优化——局部敏感哈希</vt:lpstr>
      <vt:lpstr>计算效率优化——局部敏感哈希</vt:lpstr>
      <vt:lpstr>计算效率优化——局部敏感哈希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WPS_1596446574</cp:lastModifiedBy>
  <cp:revision>167</cp:revision>
  <dcterms:created xsi:type="dcterms:W3CDTF">2019-06-19T02:08:00Z</dcterms:created>
  <dcterms:modified xsi:type="dcterms:W3CDTF">2026-04-12T13:24:11Z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1A64948810AF43EBBFBFBCA8ACBD7EAD_11</vt:lpwstr>
  </property>
</Properties>
</file>