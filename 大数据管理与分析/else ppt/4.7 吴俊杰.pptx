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xml" ContentType="application/inkml+xml"/>
  <Override PartName="/ppt/ink/ink2.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5" r:id="rId1"/>
  </p:sldMasterIdLst>
  <p:notesMasterIdLst>
    <p:notesMasterId r:id="rId26"/>
  </p:notesMasterIdLst>
  <p:sldIdLst>
    <p:sldId id="589" r:id="rId2"/>
    <p:sldId id="628" r:id="rId3"/>
    <p:sldId id="509" r:id="rId4"/>
    <p:sldId id="629" r:id="rId5"/>
    <p:sldId id="531" r:id="rId6"/>
    <p:sldId id="532" r:id="rId7"/>
    <p:sldId id="533" r:id="rId8"/>
    <p:sldId id="514" r:id="rId9"/>
    <p:sldId id="602" r:id="rId10"/>
    <p:sldId id="656" r:id="rId11"/>
    <p:sldId id="606" r:id="rId12"/>
    <p:sldId id="607" r:id="rId13"/>
    <p:sldId id="610" r:id="rId14"/>
    <p:sldId id="657" r:id="rId15"/>
    <p:sldId id="658" r:id="rId16"/>
    <p:sldId id="659" r:id="rId17"/>
    <p:sldId id="652" r:id="rId18"/>
    <p:sldId id="559" r:id="rId19"/>
    <p:sldId id="617" r:id="rId20"/>
    <p:sldId id="639" r:id="rId21"/>
    <p:sldId id="536" r:id="rId22"/>
    <p:sldId id="537" r:id="rId23"/>
    <p:sldId id="653" r:id="rId24"/>
    <p:sldId id="585" r:id="rId25"/>
  </p:sldIdLst>
  <p:sldSz cx="12192000" cy="6858000"/>
  <p:notesSz cx="7010400" cy="9296400"/>
  <p:defaultTextStyle>
    <a:defPPr>
      <a:defRPr lang="en-US"/>
    </a:defPPr>
    <a:lvl1pPr marL="0" algn="l" defTabSz="457189" rtl="0" eaLnBrk="1" latinLnBrk="0" hangingPunct="1">
      <a:defRPr sz="1900" kern="1200">
        <a:solidFill>
          <a:schemeClr val="tx1"/>
        </a:solidFill>
        <a:latin typeface="+mn-lt"/>
        <a:ea typeface="+mn-ea"/>
        <a:cs typeface="+mn-cs"/>
      </a:defRPr>
    </a:lvl1pPr>
    <a:lvl2pPr marL="457189" algn="l" defTabSz="457189" rtl="0" eaLnBrk="1" latinLnBrk="0" hangingPunct="1">
      <a:defRPr sz="1900" kern="1200">
        <a:solidFill>
          <a:schemeClr val="tx1"/>
        </a:solidFill>
        <a:latin typeface="+mn-lt"/>
        <a:ea typeface="+mn-ea"/>
        <a:cs typeface="+mn-cs"/>
      </a:defRPr>
    </a:lvl2pPr>
    <a:lvl3pPr marL="914377" algn="l" defTabSz="457189" rtl="0" eaLnBrk="1" latinLnBrk="0" hangingPunct="1">
      <a:defRPr sz="1900" kern="1200">
        <a:solidFill>
          <a:schemeClr val="tx1"/>
        </a:solidFill>
        <a:latin typeface="+mn-lt"/>
        <a:ea typeface="+mn-ea"/>
        <a:cs typeface="+mn-cs"/>
      </a:defRPr>
    </a:lvl3pPr>
    <a:lvl4pPr marL="1371566" algn="l" defTabSz="457189" rtl="0" eaLnBrk="1" latinLnBrk="0" hangingPunct="1">
      <a:defRPr sz="1900" kern="1200">
        <a:solidFill>
          <a:schemeClr val="tx1"/>
        </a:solidFill>
        <a:latin typeface="+mn-lt"/>
        <a:ea typeface="+mn-ea"/>
        <a:cs typeface="+mn-cs"/>
      </a:defRPr>
    </a:lvl4pPr>
    <a:lvl5pPr marL="1828754" algn="l" defTabSz="457189" rtl="0" eaLnBrk="1" latinLnBrk="0" hangingPunct="1">
      <a:defRPr sz="1900" kern="1200">
        <a:solidFill>
          <a:schemeClr val="tx1"/>
        </a:solidFill>
        <a:latin typeface="+mn-lt"/>
        <a:ea typeface="+mn-ea"/>
        <a:cs typeface="+mn-cs"/>
      </a:defRPr>
    </a:lvl5pPr>
    <a:lvl6pPr marL="2285943" algn="l" defTabSz="457189" rtl="0" eaLnBrk="1" latinLnBrk="0" hangingPunct="1">
      <a:defRPr sz="1900" kern="1200">
        <a:solidFill>
          <a:schemeClr val="tx1"/>
        </a:solidFill>
        <a:latin typeface="+mn-lt"/>
        <a:ea typeface="+mn-ea"/>
        <a:cs typeface="+mn-cs"/>
      </a:defRPr>
    </a:lvl6pPr>
    <a:lvl7pPr marL="2743131" algn="l" defTabSz="457189" rtl="0" eaLnBrk="1" latinLnBrk="0" hangingPunct="1">
      <a:defRPr sz="1900" kern="1200">
        <a:solidFill>
          <a:schemeClr val="tx1"/>
        </a:solidFill>
        <a:latin typeface="+mn-lt"/>
        <a:ea typeface="+mn-ea"/>
        <a:cs typeface="+mn-cs"/>
      </a:defRPr>
    </a:lvl7pPr>
    <a:lvl8pPr marL="3200320" algn="l" defTabSz="457189" rtl="0" eaLnBrk="1" latinLnBrk="0" hangingPunct="1">
      <a:defRPr sz="1900" kern="1200">
        <a:solidFill>
          <a:schemeClr val="tx1"/>
        </a:solidFill>
        <a:latin typeface="+mn-lt"/>
        <a:ea typeface="+mn-ea"/>
        <a:cs typeface="+mn-cs"/>
      </a:defRPr>
    </a:lvl8pPr>
    <a:lvl9pPr marL="3657509" algn="l" defTabSz="457189"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qing Liu" initials="XL" lastIdx="3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66FFFF"/>
    <a:srgbClr val="01FFC3"/>
    <a:srgbClr val="CCFFCC"/>
    <a:srgbClr val="0000CC"/>
    <a:srgbClr val="F0CDBC"/>
    <a:srgbClr val="BD582C"/>
    <a:srgbClr val="008080"/>
    <a:srgbClr val="E48312"/>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7" autoAdjust="0"/>
    <p:restoredTop sz="80689" autoAdjust="0"/>
  </p:normalViewPr>
  <p:slideViewPr>
    <p:cSldViewPr snapToGrid="0">
      <p:cViewPr varScale="1">
        <p:scale>
          <a:sx n="71" d="100"/>
          <a:sy n="71" d="100"/>
        </p:scale>
        <p:origin x="870" y="3"/>
      </p:cViewPr>
      <p:guideLst>
        <p:guide orient="horz" pos="2160"/>
        <p:guide pos="3840"/>
      </p:guideLst>
    </p:cSldViewPr>
  </p:slideViewPr>
  <p:outlineViewPr>
    <p:cViewPr>
      <p:scale>
        <a:sx n="33" d="100"/>
        <a:sy n="33" d="100"/>
      </p:scale>
      <p:origin x="0" y="-18852"/>
    </p:cViewPr>
    <p:sldLst>
      <p:sld r:id="rId1" collapse="1"/>
      <p:sld r:id="rId2" collapse="1"/>
    </p:sldLst>
  </p:outlin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_rels/viewProps.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18-10-02T15:26:54.405"/>
    </inkml:context>
    <inkml:brush xml:id="br0">
      <inkml:brushProperty name="width" value="0.05292" units="cm"/>
      <inkml:brushProperty name="height" value="0.05292" units="cm"/>
      <inkml:brushProperty name="color" value="#92D050"/>
    </inkml:brush>
  </inkml:definitions>
  <inkml:trace contextRef="#ctx0" brushRef="#br0">14220 6716 175 0,'0'0'125'15,"-8"-6"-99"-15,3 2 12 0,0-2-2 16,1 1-30-16,-1-2-4 0,0 1 6 16,0-1-2-16,-1 2-5 0,1-1 2 15,2 2-1-15,0-2 0 0,1 5 13 16,-1-2-4-16,2 2 5 0,0 1-2 16,0 0-1-16,1 0 2 0,0 0 2 15,0 0 3-15,0 0 2 0,0 0 1 16,0 0 0-16,0 0 4 0,0 0 3 15,0 0 1-15,0 0-6 0,0 0-6 16,0 0-3-16,0 0-5 0,0 0-6 16,0 0-3-16,0 0-1 15,0 0-1-15,0 0-1 0,0 0 1 16,0 0 0 0,0 0 0-16,0 0-1 0,2 0 0 15,0 1 1-15,2 2-1 0,0-3 2 16,2 2-1-16,3 0 3 0,-1 1-2 15,0-1 1-15,1 1-2 0,2-1 3 16,-1 1-3-16,0-1 1 0,2 0-1 16,0-1 1-16,1 1 0 0,0-1-1 15,2 0 1-15,-1 1-1 0,0-2 0 16,2 0 1-16,-1 0 2 0,1 0 2 16,-1 0 1-16,1 0-1 0,1 0-1 15,-2 1 2-15,2 1 1 0,-2 0 1 0,1 0-4 16,0 0-2-16,2 3 3 15,-2-3 1-15,3 1-1 0,-1 0-3 0,2 1 1 16,2-2 0-16,-1 1-1 16,-1 1 2-16,1-2-1 0,-2 2 3 15,1-1 0-15,-2 0 1 0,0 0-1 16,1 0 1-16,-1 1 1 0,1 0 1 16,0-1 2-16,0-1-4 0,1 2-3 15,0-1 2-15,1 0-1 0,1-1 1 16,0 0-2-16,0 0-4 0,0 0 2 15,1 0-2-15,0-1 0 0,0 2 0 16,1-2 2-16,1 1-2 0,0 1 1 16,0-2-1-16,-1 0 1 0,3 1 0 15,0-1 0-15,-1 1 0 0,1 0 0 16,1 0-1-16,1 0 0 0,1 1 2 16,1-2 15-16,-2 1-16 0,-2 1-1 15,0-2 0-15,1 0 1 0,1 0 0 16,1-1 0-16,1 0 1 0,1 0-1 15,0 0 0-15,1-2 2 0,0 1 2 16,-1-1-1-16,2 1 4 0,-2 0-1 16,0 1-4-16,4 0-1 0,-5 0 3 15,0 0-5-15,-2 0-1 0,-6 1 0 16,7 1 0-16,-1 0 1 0,7-2 0 16,-4 1 1-16,1-1-2 0,4 0 0 15,1 0 0-15,-1-1 1 0,-4 1 1 16,-5-1-1-16,-4 0 1 0,3 0-1 15,4 0 0-15,0 1 0 0,-1 0 1 16,0-1-2-16,1 1 2 0,-2 0-1 16,1-1 1-16,1 0 0 0,-3 1 1 15,1 0 0-15,-1-2 2 0,-2 1 1 16,2 0 6-16,-1-2 0 16,1 2-2-16,-1-2-3 0,0 2-2 15,0-1-2 1,-1 0-2-16,0-1 2 0,0 1-1 15,-2-2-1-15,0 1 3 0,0 1-3 16,-3-1 4-16,-1 1-1 0,0 0 0 16,-2 0 1-16,0 0 0 0,-1 2 1 15,-2-1 1-15,-1 0-1 0,0 1 2 16,-4 0-5-16,-2 0 2 0,0 0-1 16,-2 0-3-16,-1 0 2 0,-2 0-2 15,1 0-4-15,-2 1-10 0,0-1-16 16,-2 0-15-16,0 0-33 15,-11 0-91-15,-3 0-131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617.08099" units="1/cm"/>
          <inkml:channelProperty channel="Y" name="resolution" value="1090.77893" units="1/cm"/>
          <inkml:channelProperty channel="F" name="resolution" value="5.68611" units="1/deg"/>
          <inkml:channelProperty channel="T" name="resolution" value="1" units="1/dev"/>
        </inkml:channelProperties>
      </inkml:inkSource>
      <inkml:timestamp xml:id="ts0" timeString="2023-01-01T20:37:18.478"/>
    </inkml:context>
    <inkml:brush xml:id="br0">
      <inkml:brushProperty name="width" value="0.05292" units="cm"/>
      <inkml:brushProperty name="height" value="0.05292" units="cm"/>
      <inkml:brushProperty name="color" value="#FFFF00"/>
    </inkml:brush>
  </inkml:definitions>
  <inkml:trace contextRef="#ctx0" brushRef="#br0">14220 6716 175 0,'0'0'125'15,"-8"-6"-99"-15,3 2 12 0,0-2-2 16,1 1-30-16,-1-2-4 0,0 1 6 16,0-1-2-16,-1 2-5 0,1-1 2 15,2 2-1-15,0-2 0 0,1 5 13 16,-1-2-4-16,2 2 5 0,0 1-2 16,0 0-1-16,1 0 2 0,0 0 2 15,0 0 3-15,0 0 2 0,0 0 1 16,0 0 0-16,0 0 4 0,0 0 3 15,0 0 1-15,0 0-6 0,0 0-6 16,0 0-3-16,0 0-5 0,0 0-6 16,0 0-3-16,0 0-1 15,0 0-1-15,0 0-1 0,0 0 1 16,0 0 0 0,0 0 0-16,0 0-1 0,2 0 0 15,0 1 1-15,2 2-1 0,0-3 2 16,2 2-1-16,3 0 3 0,-1 1-2 15,0-1 1-15,1 1-2 0,2-1 3 16,-1 1-3-16,0-1 1 0,2 0-1 16,0-1 1-16,1 1 0 0,0-1-1 15,2 0 1-15,-1 1-1 0,0-2 0 16,2 0 1-16,-1 0 2 0,1 0 2 16,-1 0 1-16,1 0-1 0,1 0-1 15,-2 1 2-15,2 1 1 0,-2 0 1 0,1 0-4 16,0 0-2-16,2 3 3 15,-2-3 1-15,3 1-1 0,-1 0-3 0,2 1 1 16,2-2 0-16,-1 1-1 16,-1 1 2-16,1-2-1 0,-2 2 3 15,1-1 0-15,-2 0 1 0,0 0-1 16,1 0 1-16,-1 1 1 0,1 0 1 16,0-1 2-16,0-1-4 0,1 2-3 15,0-1 2-15,1 0-1 0,1-1 1 16,0 0-2-16,0 0-4 0,0 0 2 15,1 0-2-15,0-1 0 0,0 2 0 16,1-2 2-16,1 1-2 0,0 1 1 16,0-2-1-16,-1 0 1 0,3 1 0 15,0-1 0-15,-1 1 0 0,1 0 0 16,1 0-1-16,1 0 0 0,1 1 2 16,1-2 15-16,-2 1-16 0,-2 1-1 15,0-2 0-15,1 0 1 0,1 0 0 16,1-1 0-16,1 0 1 0,1 0-1 15,0 0 0-15,1-2 2 0,0 1 2 16,-1-1-1-16,2 1 4 0,-2 0-1 16,0 1-4-16,4 0-1 0,-5 0 3 15,0 0-5-15,-2 0-1 0,-6 1 0 16,7 1 0-16,-1 0 1 0,7-2 0 16,-4 1 1-16,1-1-2 0,4 0 0 15,1 0 0-15,-1-1 1 0,-4 1 1 16,-5-1-1-16,-4 0 1 0,3 0-1 15,4 0 0-15,0 1 0 0,-1 0 1 16,0-1-2-16,1 1 2 0,-2 0-1 16,1-1 1-16,1 0 0 0,-3 1 1 15,1 0 0-15,-1-2 2 0,-2 1 1 16,2 0 6-16,-1-2 0 16,1 2-2-16,-1-2-3 0,0 2-2 15,0-1-2 1,-1 0-2-16,0-1 2 0,0 1-1 15,-2-2-1-15,0 1 3 0,0 1-3 16,-3-1 4-16,-1 1-1 0,0 0 0 16,-2 0 1-16,0 0 0 0,-1 2 1 15,-2-1 1-15,-1 0-1 0,0 1 2 16,-4 0-5-16,-2 0 2 0,0 0-1 16,-2 0-3-16,-1 0 2 0,-2 0-2 15,1 0-4-15,-2 1-10 0,0-1-16 16,-2 0-15-16,0 0-33 15,-11 0-91-15,-3 0-131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05348" cy="474208"/>
          </a:xfrm>
          <a:prstGeom prst="rect">
            <a:avLst/>
          </a:prstGeom>
        </p:spPr>
        <p:txBody>
          <a:bodyPr vert="horz" lIns="94947" tIns="47474" rIns="94947" bIns="47474" rtlCol="0"/>
          <a:lstStyle>
            <a:lvl1pPr algn="l">
              <a:defRPr sz="1200"/>
            </a:lvl1pPr>
          </a:lstStyle>
          <a:p>
            <a:endParaRPr lang="en-US"/>
          </a:p>
        </p:txBody>
      </p:sp>
      <p:sp>
        <p:nvSpPr>
          <p:cNvPr id="3" name="Date Placeholder 2"/>
          <p:cNvSpPr>
            <a:spLocks noGrp="1"/>
          </p:cNvSpPr>
          <p:nvPr>
            <p:ph type="dt" idx="1"/>
          </p:nvPr>
        </p:nvSpPr>
        <p:spPr>
          <a:xfrm>
            <a:off x="4059181" y="0"/>
            <a:ext cx="3105348" cy="474208"/>
          </a:xfrm>
          <a:prstGeom prst="rect">
            <a:avLst/>
          </a:prstGeom>
        </p:spPr>
        <p:txBody>
          <a:bodyPr vert="horz" lIns="94947" tIns="47474" rIns="94947" bIns="47474" rtlCol="0"/>
          <a:lstStyle>
            <a:lvl1pPr algn="r">
              <a:defRPr sz="1200"/>
            </a:lvl1pPr>
          </a:lstStyle>
          <a:p>
            <a:fld id="{F87AF23C-6CAB-4A6A-B3BC-A88F610E0570}" type="datetimeFigureOut">
              <a:rPr lang="en-US" smtClean="0"/>
              <a:t>4/5/2026</a:t>
            </a:fld>
            <a:endParaRPr lang="en-US"/>
          </a:p>
        </p:txBody>
      </p:sp>
      <p:sp>
        <p:nvSpPr>
          <p:cNvPr id="4" name="Slide Image Placeholder 3"/>
          <p:cNvSpPr>
            <a:spLocks noGrp="1" noRot="1" noChangeAspect="1"/>
          </p:cNvSpPr>
          <p:nvPr>
            <p:ph type="sldImg" idx="2"/>
          </p:nvPr>
        </p:nvSpPr>
        <p:spPr>
          <a:xfrm>
            <a:off x="747713" y="1181100"/>
            <a:ext cx="5670550" cy="3189288"/>
          </a:xfrm>
          <a:prstGeom prst="rect">
            <a:avLst/>
          </a:prstGeom>
          <a:noFill/>
          <a:ln w="12700">
            <a:solidFill>
              <a:prstClr val="black"/>
            </a:solidFill>
          </a:ln>
        </p:spPr>
        <p:txBody>
          <a:bodyPr vert="horz" lIns="94947" tIns="47474" rIns="94947" bIns="47474" rtlCol="0" anchor="ctr"/>
          <a:lstStyle/>
          <a:p>
            <a:endParaRPr lang="en-US"/>
          </a:p>
        </p:txBody>
      </p:sp>
      <p:sp>
        <p:nvSpPr>
          <p:cNvPr id="5" name="Notes Placeholder 4"/>
          <p:cNvSpPr>
            <a:spLocks noGrp="1"/>
          </p:cNvSpPr>
          <p:nvPr>
            <p:ph type="body" sz="quarter" idx="3"/>
          </p:nvPr>
        </p:nvSpPr>
        <p:spPr>
          <a:xfrm>
            <a:off x="716619" y="4548457"/>
            <a:ext cx="5732949" cy="3721466"/>
          </a:xfrm>
          <a:prstGeom prst="rect">
            <a:avLst/>
          </a:prstGeom>
        </p:spPr>
        <p:txBody>
          <a:bodyPr vert="horz" lIns="94947" tIns="47474" rIns="94947" bIns="4747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77134"/>
            <a:ext cx="3105348" cy="474207"/>
          </a:xfrm>
          <a:prstGeom prst="rect">
            <a:avLst/>
          </a:prstGeom>
        </p:spPr>
        <p:txBody>
          <a:bodyPr vert="horz" lIns="94947" tIns="47474" rIns="94947" bIns="47474" rtlCol="0" anchor="b"/>
          <a:lstStyle>
            <a:lvl1pPr algn="l">
              <a:defRPr sz="1200"/>
            </a:lvl1pPr>
          </a:lstStyle>
          <a:p>
            <a:endParaRPr lang="en-US"/>
          </a:p>
        </p:txBody>
      </p:sp>
      <p:sp>
        <p:nvSpPr>
          <p:cNvPr id="7" name="Slide Number Placeholder 6"/>
          <p:cNvSpPr>
            <a:spLocks noGrp="1"/>
          </p:cNvSpPr>
          <p:nvPr>
            <p:ph type="sldNum" sz="quarter" idx="5"/>
          </p:nvPr>
        </p:nvSpPr>
        <p:spPr>
          <a:xfrm>
            <a:off x="4059181" y="8977134"/>
            <a:ext cx="3105348" cy="474207"/>
          </a:xfrm>
          <a:prstGeom prst="rect">
            <a:avLst/>
          </a:prstGeom>
        </p:spPr>
        <p:txBody>
          <a:bodyPr vert="horz" lIns="94947" tIns="47474" rIns="94947" bIns="47474" rtlCol="0" anchor="b"/>
          <a:lstStyle>
            <a:lvl1pPr algn="r">
              <a:defRPr sz="1200"/>
            </a:lvl1pPr>
          </a:lstStyle>
          <a:p>
            <a:fld id="{A6F8110F-5CB8-4B7A-89C2-96B671E6053B}" type="slidenum">
              <a:rPr lang="en-US" smtClean="0"/>
              <a:t>‹#›</a:t>
            </a:fld>
            <a:endParaRPr lang="en-US"/>
          </a:p>
        </p:txBody>
      </p:sp>
    </p:spTree>
    <p:extLst>
      <p:ext uri="{BB962C8B-B14F-4D97-AF65-F5344CB8AC3E}">
        <p14:creationId xmlns:p14="http://schemas.microsoft.com/office/powerpoint/2010/main" val="1849144875"/>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62" eaLnBrk="0" hangingPunct="0">
              <a:spcBef>
                <a:spcPct val="30000"/>
              </a:spcBef>
              <a:defRPr sz="1200">
                <a:solidFill>
                  <a:schemeClr val="tx1"/>
                </a:solidFill>
                <a:latin typeface="Times New Roman" panose="02020603050405020304" pitchFamily="18" charset="0"/>
              </a:defRPr>
            </a:lvl1pPr>
            <a:lvl2pPr marL="757066" indent="-291179" defTabSz="939862" eaLnBrk="0" hangingPunct="0">
              <a:spcBef>
                <a:spcPct val="30000"/>
              </a:spcBef>
              <a:defRPr sz="1200">
                <a:solidFill>
                  <a:schemeClr val="tx1"/>
                </a:solidFill>
                <a:latin typeface="Times New Roman" panose="02020603050405020304" pitchFamily="18" charset="0"/>
              </a:defRPr>
            </a:lvl2pPr>
            <a:lvl3pPr marL="1164717" indent="-232943" defTabSz="939862" eaLnBrk="0" hangingPunct="0">
              <a:spcBef>
                <a:spcPct val="30000"/>
              </a:spcBef>
              <a:defRPr sz="1200">
                <a:solidFill>
                  <a:schemeClr val="tx1"/>
                </a:solidFill>
                <a:latin typeface="Times New Roman" panose="02020603050405020304" pitchFamily="18" charset="0"/>
              </a:defRPr>
            </a:lvl3pPr>
            <a:lvl4pPr marL="1630604" indent="-232943" defTabSz="939862" eaLnBrk="0" hangingPunct="0">
              <a:spcBef>
                <a:spcPct val="30000"/>
              </a:spcBef>
              <a:defRPr sz="1200">
                <a:solidFill>
                  <a:schemeClr val="tx1"/>
                </a:solidFill>
                <a:latin typeface="Times New Roman" panose="02020603050405020304" pitchFamily="18" charset="0"/>
              </a:defRPr>
            </a:lvl4pPr>
            <a:lvl5pPr marL="2096491" indent="-232943" defTabSz="939862" eaLnBrk="0" hangingPunct="0">
              <a:spcBef>
                <a:spcPct val="30000"/>
              </a:spcBef>
              <a:defRPr sz="1200">
                <a:solidFill>
                  <a:schemeClr val="tx1"/>
                </a:solidFill>
                <a:latin typeface="Times New Roman" panose="02020603050405020304" pitchFamily="18" charset="0"/>
              </a:defRPr>
            </a:lvl5pPr>
            <a:lvl6pPr marL="2562377" indent="-232943" defTabSz="939862" eaLnBrk="0" fontAlgn="base" hangingPunct="0">
              <a:spcBef>
                <a:spcPct val="30000"/>
              </a:spcBef>
              <a:spcAft>
                <a:spcPct val="0"/>
              </a:spcAft>
              <a:defRPr sz="1200">
                <a:solidFill>
                  <a:schemeClr val="tx1"/>
                </a:solidFill>
                <a:latin typeface="Times New Roman" panose="02020603050405020304" pitchFamily="18" charset="0"/>
              </a:defRPr>
            </a:lvl6pPr>
            <a:lvl7pPr marL="3028264" indent="-232943" defTabSz="939862" eaLnBrk="0" fontAlgn="base" hangingPunct="0">
              <a:spcBef>
                <a:spcPct val="30000"/>
              </a:spcBef>
              <a:spcAft>
                <a:spcPct val="0"/>
              </a:spcAft>
              <a:defRPr sz="1200">
                <a:solidFill>
                  <a:schemeClr val="tx1"/>
                </a:solidFill>
                <a:latin typeface="Times New Roman" panose="02020603050405020304" pitchFamily="18" charset="0"/>
              </a:defRPr>
            </a:lvl7pPr>
            <a:lvl8pPr marL="3494151" indent="-232943" defTabSz="939862" eaLnBrk="0" fontAlgn="base" hangingPunct="0">
              <a:spcBef>
                <a:spcPct val="30000"/>
              </a:spcBef>
              <a:spcAft>
                <a:spcPct val="0"/>
              </a:spcAft>
              <a:defRPr sz="1200">
                <a:solidFill>
                  <a:schemeClr val="tx1"/>
                </a:solidFill>
                <a:latin typeface="Times New Roman" panose="02020603050405020304" pitchFamily="18" charset="0"/>
              </a:defRPr>
            </a:lvl8pPr>
            <a:lvl9pPr marL="3960038" indent="-232943" defTabSz="939862"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solidFill>
                  <a:prstClr val="black"/>
                </a:solidFill>
              </a:rPr>
              <a:pPr>
                <a:spcBef>
                  <a:spcPct val="0"/>
                </a:spcBef>
              </a:pPr>
              <a:t>1</a:t>
            </a:fld>
            <a:endParaRPr lang="en-US" altLang="en-US">
              <a:solidFill>
                <a:prstClr val="black"/>
              </a:solidFill>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60325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A6F8110F-5CB8-4B7A-89C2-96B671E6053B}" type="slidenum">
              <a:rPr lang="en-US" smtClean="0"/>
              <a:t>2</a:t>
            </a:fld>
            <a:endParaRPr lang="en-US"/>
          </a:p>
        </p:txBody>
      </p:sp>
    </p:spTree>
    <p:extLst>
      <p:ext uri="{BB962C8B-B14F-4D97-AF65-F5344CB8AC3E}">
        <p14:creationId xmlns:p14="http://schemas.microsoft.com/office/powerpoint/2010/main" val="1216807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defRPr>
            </a:lvl1pPr>
            <a:lvl2pPr marL="757024" indent="-291163" defTabSz="939810" eaLnBrk="0" hangingPunct="0">
              <a:spcBef>
                <a:spcPct val="30000"/>
              </a:spcBef>
              <a:defRPr sz="1200">
                <a:solidFill>
                  <a:schemeClr val="tx1"/>
                </a:solidFill>
                <a:latin typeface="Times New Roman" pitchFamily="18" charset="0"/>
              </a:defRPr>
            </a:lvl2pPr>
            <a:lvl3pPr marL="1164653" indent="-232930" defTabSz="939810" eaLnBrk="0" hangingPunct="0">
              <a:spcBef>
                <a:spcPct val="30000"/>
              </a:spcBef>
              <a:defRPr sz="1200">
                <a:solidFill>
                  <a:schemeClr val="tx1"/>
                </a:solidFill>
                <a:latin typeface="Times New Roman" pitchFamily="18" charset="0"/>
              </a:defRPr>
            </a:lvl3pPr>
            <a:lvl4pPr marL="1630513" indent="-232930" defTabSz="939810" eaLnBrk="0" hangingPunct="0">
              <a:spcBef>
                <a:spcPct val="30000"/>
              </a:spcBef>
              <a:defRPr sz="1200">
                <a:solidFill>
                  <a:schemeClr val="tx1"/>
                </a:solidFill>
                <a:latin typeface="Times New Roman" pitchFamily="18" charset="0"/>
              </a:defRPr>
            </a:lvl4pPr>
            <a:lvl5pPr marL="2096375" indent="-232930" defTabSz="939810" eaLnBrk="0" hangingPunct="0">
              <a:spcBef>
                <a:spcPct val="30000"/>
              </a:spcBef>
              <a:defRPr sz="1200">
                <a:solidFill>
                  <a:schemeClr val="tx1"/>
                </a:solidFill>
                <a:latin typeface="Times New Roman" pitchFamily="18" charset="0"/>
              </a:defRPr>
            </a:lvl5pPr>
            <a:lvl6pPr marL="2562236" indent="-232930" defTabSz="939810" eaLnBrk="0" fontAlgn="base" hangingPunct="0">
              <a:spcBef>
                <a:spcPct val="30000"/>
              </a:spcBef>
              <a:spcAft>
                <a:spcPct val="0"/>
              </a:spcAft>
              <a:defRPr sz="1200">
                <a:solidFill>
                  <a:schemeClr val="tx1"/>
                </a:solidFill>
                <a:latin typeface="Times New Roman" pitchFamily="18" charset="0"/>
              </a:defRPr>
            </a:lvl6pPr>
            <a:lvl7pPr marL="3028096" indent="-232930" defTabSz="939810" eaLnBrk="0" fontAlgn="base" hangingPunct="0">
              <a:spcBef>
                <a:spcPct val="30000"/>
              </a:spcBef>
              <a:spcAft>
                <a:spcPct val="0"/>
              </a:spcAft>
              <a:defRPr sz="1200">
                <a:solidFill>
                  <a:schemeClr val="tx1"/>
                </a:solidFill>
                <a:latin typeface="Times New Roman" pitchFamily="18" charset="0"/>
              </a:defRPr>
            </a:lvl7pPr>
            <a:lvl8pPr marL="3493958" indent="-232930" defTabSz="939810" eaLnBrk="0" fontAlgn="base" hangingPunct="0">
              <a:spcBef>
                <a:spcPct val="30000"/>
              </a:spcBef>
              <a:spcAft>
                <a:spcPct val="0"/>
              </a:spcAft>
              <a:defRPr sz="1200">
                <a:solidFill>
                  <a:schemeClr val="tx1"/>
                </a:solidFill>
                <a:latin typeface="Times New Roman" pitchFamily="18" charset="0"/>
              </a:defRPr>
            </a:lvl8pPr>
            <a:lvl9pPr marL="3959819" indent="-232930" defTabSz="93981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pPr>
                <a:spcBef>
                  <a:spcPct val="0"/>
                </a:spcBef>
              </a:pPr>
              <a:t>3</a:t>
            </a:fld>
            <a:endParaRPr lang="en-US" altLang="en-US"/>
          </a:p>
        </p:txBody>
      </p:sp>
      <p:sp>
        <p:nvSpPr>
          <p:cNvPr id="16387" name="Rectangle 2"/>
          <p:cNvSpPr>
            <a:spLocks noGrp="1" noRot="1" noChangeAspect="1" noChangeArrowheads="1" noTextEdit="1"/>
          </p:cNvSpPr>
          <p:nvPr>
            <p:ph type="sldImg"/>
          </p:nvPr>
        </p:nvSpPr>
        <p:spPr>
          <a:xfrm>
            <a:off x="747713" y="1181100"/>
            <a:ext cx="5670550" cy="3189288"/>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cs typeface="Calibri"/>
              </a:rPr>
              <a:t>https://culinspiration.files.wordpress.com/2010/03/img_3955.jpg</a:t>
            </a:r>
          </a:p>
          <a:p>
            <a:r>
              <a:rPr lang="en-US" altLang="en-US" dirty="0">
                <a:cs typeface="Calibri"/>
              </a:rPr>
              <a:t>http://slideplayer.com/slide/6292417/21/images/65/The+Stages+of+the+Flu.jpg</a:t>
            </a:r>
            <a:endParaRPr lang="en-US" altLang="en-US" dirty="0"/>
          </a:p>
        </p:txBody>
      </p:sp>
    </p:spTree>
    <p:extLst>
      <p:ext uri="{BB962C8B-B14F-4D97-AF65-F5344CB8AC3E}">
        <p14:creationId xmlns:p14="http://schemas.microsoft.com/office/powerpoint/2010/main" val="42510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A6F8110F-5CB8-4B7A-89C2-96B671E6053B}" type="slidenum">
              <a:rPr lang="en-US" smtClean="0"/>
              <a:t>4</a:t>
            </a:fld>
            <a:endParaRPr lang="en-US"/>
          </a:p>
        </p:txBody>
      </p:sp>
    </p:spTree>
    <p:extLst>
      <p:ext uri="{BB962C8B-B14F-4D97-AF65-F5344CB8AC3E}">
        <p14:creationId xmlns:p14="http://schemas.microsoft.com/office/powerpoint/2010/main" val="2560932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defRPr>
            </a:lvl1pPr>
            <a:lvl2pPr marL="757024" indent="-291163" defTabSz="939810" eaLnBrk="0" hangingPunct="0">
              <a:spcBef>
                <a:spcPct val="30000"/>
              </a:spcBef>
              <a:defRPr sz="1200">
                <a:solidFill>
                  <a:schemeClr val="tx1"/>
                </a:solidFill>
                <a:latin typeface="Times New Roman" pitchFamily="18" charset="0"/>
              </a:defRPr>
            </a:lvl2pPr>
            <a:lvl3pPr marL="1164653" indent="-232930" defTabSz="939810" eaLnBrk="0" hangingPunct="0">
              <a:spcBef>
                <a:spcPct val="30000"/>
              </a:spcBef>
              <a:defRPr sz="1200">
                <a:solidFill>
                  <a:schemeClr val="tx1"/>
                </a:solidFill>
                <a:latin typeface="Times New Roman" pitchFamily="18" charset="0"/>
              </a:defRPr>
            </a:lvl3pPr>
            <a:lvl4pPr marL="1630513" indent="-232930" defTabSz="939810" eaLnBrk="0" hangingPunct="0">
              <a:spcBef>
                <a:spcPct val="30000"/>
              </a:spcBef>
              <a:defRPr sz="1200">
                <a:solidFill>
                  <a:schemeClr val="tx1"/>
                </a:solidFill>
                <a:latin typeface="Times New Roman" pitchFamily="18" charset="0"/>
              </a:defRPr>
            </a:lvl4pPr>
            <a:lvl5pPr marL="2096375" indent="-232930" defTabSz="939810" eaLnBrk="0" hangingPunct="0">
              <a:spcBef>
                <a:spcPct val="30000"/>
              </a:spcBef>
              <a:defRPr sz="1200">
                <a:solidFill>
                  <a:schemeClr val="tx1"/>
                </a:solidFill>
                <a:latin typeface="Times New Roman" pitchFamily="18" charset="0"/>
              </a:defRPr>
            </a:lvl5pPr>
            <a:lvl6pPr marL="2562236" indent="-232930" defTabSz="939810" eaLnBrk="0" fontAlgn="base" hangingPunct="0">
              <a:spcBef>
                <a:spcPct val="30000"/>
              </a:spcBef>
              <a:spcAft>
                <a:spcPct val="0"/>
              </a:spcAft>
              <a:defRPr sz="1200">
                <a:solidFill>
                  <a:schemeClr val="tx1"/>
                </a:solidFill>
                <a:latin typeface="Times New Roman" pitchFamily="18" charset="0"/>
              </a:defRPr>
            </a:lvl6pPr>
            <a:lvl7pPr marL="3028096" indent="-232930" defTabSz="939810" eaLnBrk="0" fontAlgn="base" hangingPunct="0">
              <a:spcBef>
                <a:spcPct val="30000"/>
              </a:spcBef>
              <a:spcAft>
                <a:spcPct val="0"/>
              </a:spcAft>
              <a:defRPr sz="1200">
                <a:solidFill>
                  <a:schemeClr val="tx1"/>
                </a:solidFill>
                <a:latin typeface="Times New Roman" pitchFamily="18" charset="0"/>
              </a:defRPr>
            </a:lvl7pPr>
            <a:lvl8pPr marL="3493958" indent="-232930" defTabSz="939810" eaLnBrk="0" fontAlgn="base" hangingPunct="0">
              <a:spcBef>
                <a:spcPct val="30000"/>
              </a:spcBef>
              <a:spcAft>
                <a:spcPct val="0"/>
              </a:spcAft>
              <a:defRPr sz="1200">
                <a:solidFill>
                  <a:schemeClr val="tx1"/>
                </a:solidFill>
                <a:latin typeface="Times New Roman" pitchFamily="18" charset="0"/>
              </a:defRPr>
            </a:lvl8pPr>
            <a:lvl9pPr marL="3959819" indent="-232930" defTabSz="93981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72AEA44-99F3-4B07-B647-24F1E2C1A650}" type="slidenum">
              <a:rPr lang="en-US" altLang="en-US" smtClean="0">
                <a:solidFill>
                  <a:prstClr val="black"/>
                </a:solidFill>
              </a:rPr>
              <a:pPr>
                <a:spcBef>
                  <a:spcPct val="0"/>
                </a:spcBef>
              </a:pPr>
              <a:t>5</a:t>
            </a:fld>
            <a:endParaRPr lang="en-US" altLang="en-US">
              <a:solidFill>
                <a:prstClr val="black"/>
              </a:solidFill>
            </a:endParaRPr>
          </a:p>
        </p:txBody>
      </p:sp>
      <p:sp>
        <p:nvSpPr>
          <p:cNvPr id="18435" name="Rectangle 2"/>
          <p:cNvSpPr>
            <a:spLocks noGrp="1" noRot="1" noChangeAspect="1" noChangeArrowheads="1" noTextEdit="1"/>
          </p:cNvSpPr>
          <p:nvPr>
            <p:ph type="sldImg"/>
          </p:nvPr>
        </p:nvSpPr>
        <p:spPr>
          <a:xfrm>
            <a:off x="747713" y="1181100"/>
            <a:ext cx="5670550" cy="3189288"/>
          </a:xfrm>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168189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defRPr>
            </a:lvl1pPr>
            <a:lvl2pPr marL="757024" indent="-291163" defTabSz="939810" eaLnBrk="0" hangingPunct="0">
              <a:spcBef>
                <a:spcPct val="30000"/>
              </a:spcBef>
              <a:defRPr sz="1200">
                <a:solidFill>
                  <a:schemeClr val="tx1"/>
                </a:solidFill>
                <a:latin typeface="Times New Roman" pitchFamily="18" charset="0"/>
              </a:defRPr>
            </a:lvl2pPr>
            <a:lvl3pPr marL="1164653" indent="-232930" defTabSz="939810" eaLnBrk="0" hangingPunct="0">
              <a:spcBef>
                <a:spcPct val="30000"/>
              </a:spcBef>
              <a:defRPr sz="1200">
                <a:solidFill>
                  <a:schemeClr val="tx1"/>
                </a:solidFill>
                <a:latin typeface="Times New Roman" pitchFamily="18" charset="0"/>
              </a:defRPr>
            </a:lvl3pPr>
            <a:lvl4pPr marL="1630513" indent="-232930" defTabSz="939810" eaLnBrk="0" hangingPunct="0">
              <a:spcBef>
                <a:spcPct val="30000"/>
              </a:spcBef>
              <a:defRPr sz="1200">
                <a:solidFill>
                  <a:schemeClr val="tx1"/>
                </a:solidFill>
                <a:latin typeface="Times New Roman" pitchFamily="18" charset="0"/>
              </a:defRPr>
            </a:lvl4pPr>
            <a:lvl5pPr marL="2096375" indent="-232930" defTabSz="939810" eaLnBrk="0" hangingPunct="0">
              <a:spcBef>
                <a:spcPct val="30000"/>
              </a:spcBef>
              <a:defRPr sz="1200">
                <a:solidFill>
                  <a:schemeClr val="tx1"/>
                </a:solidFill>
                <a:latin typeface="Times New Roman" pitchFamily="18" charset="0"/>
              </a:defRPr>
            </a:lvl5pPr>
            <a:lvl6pPr marL="2562236" indent="-232930" defTabSz="939810" eaLnBrk="0" fontAlgn="base" hangingPunct="0">
              <a:spcBef>
                <a:spcPct val="30000"/>
              </a:spcBef>
              <a:spcAft>
                <a:spcPct val="0"/>
              </a:spcAft>
              <a:defRPr sz="1200">
                <a:solidFill>
                  <a:schemeClr val="tx1"/>
                </a:solidFill>
                <a:latin typeface="Times New Roman" pitchFamily="18" charset="0"/>
              </a:defRPr>
            </a:lvl6pPr>
            <a:lvl7pPr marL="3028096" indent="-232930" defTabSz="939810" eaLnBrk="0" fontAlgn="base" hangingPunct="0">
              <a:spcBef>
                <a:spcPct val="30000"/>
              </a:spcBef>
              <a:spcAft>
                <a:spcPct val="0"/>
              </a:spcAft>
              <a:defRPr sz="1200">
                <a:solidFill>
                  <a:schemeClr val="tx1"/>
                </a:solidFill>
                <a:latin typeface="Times New Roman" pitchFamily="18" charset="0"/>
              </a:defRPr>
            </a:lvl7pPr>
            <a:lvl8pPr marL="3493958" indent="-232930" defTabSz="939810" eaLnBrk="0" fontAlgn="base" hangingPunct="0">
              <a:spcBef>
                <a:spcPct val="30000"/>
              </a:spcBef>
              <a:spcAft>
                <a:spcPct val="0"/>
              </a:spcAft>
              <a:defRPr sz="1200">
                <a:solidFill>
                  <a:schemeClr val="tx1"/>
                </a:solidFill>
                <a:latin typeface="Times New Roman" pitchFamily="18" charset="0"/>
              </a:defRPr>
            </a:lvl8pPr>
            <a:lvl9pPr marL="3959819" indent="-232930" defTabSz="93981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C72AEA44-99F3-4B07-B647-24F1E2C1A650}" type="slidenum">
              <a:rPr lang="en-US" altLang="en-US" smtClean="0">
                <a:solidFill>
                  <a:prstClr val="black"/>
                </a:solidFill>
              </a:rPr>
              <a:pPr>
                <a:spcBef>
                  <a:spcPct val="0"/>
                </a:spcBef>
              </a:pPr>
              <a:t>6</a:t>
            </a:fld>
            <a:endParaRPr lang="en-US" altLang="en-US">
              <a:solidFill>
                <a:prstClr val="black"/>
              </a:solidFill>
            </a:endParaRPr>
          </a:p>
        </p:txBody>
      </p:sp>
      <p:sp>
        <p:nvSpPr>
          <p:cNvPr id="18435" name="Rectangle 2"/>
          <p:cNvSpPr>
            <a:spLocks noGrp="1" noRot="1" noChangeAspect="1" noChangeArrowheads="1" noTextEdit="1"/>
          </p:cNvSpPr>
          <p:nvPr>
            <p:ph type="sldImg"/>
          </p:nvPr>
        </p:nvSpPr>
        <p:spPr>
          <a:xfrm>
            <a:off x="747713" y="1181100"/>
            <a:ext cx="5670550" cy="3189288"/>
          </a:xfrm>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65381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defRPr>
            </a:lvl1pPr>
            <a:lvl2pPr marL="757024" indent="-291163" defTabSz="939810" eaLnBrk="0" hangingPunct="0">
              <a:spcBef>
                <a:spcPct val="30000"/>
              </a:spcBef>
              <a:defRPr sz="1200">
                <a:solidFill>
                  <a:schemeClr val="tx1"/>
                </a:solidFill>
                <a:latin typeface="Times New Roman" pitchFamily="18" charset="0"/>
              </a:defRPr>
            </a:lvl2pPr>
            <a:lvl3pPr marL="1164653" indent="-232930" defTabSz="939810" eaLnBrk="0" hangingPunct="0">
              <a:spcBef>
                <a:spcPct val="30000"/>
              </a:spcBef>
              <a:defRPr sz="1200">
                <a:solidFill>
                  <a:schemeClr val="tx1"/>
                </a:solidFill>
                <a:latin typeface="Times New Roman" pitchFamily="18" charset="0"/>
              </a:defRPr>
            </a:lvl3pPr>
            <a:lvl4pPr marL="1630513" indent="-232930" defTabSz="939810" eaLnBrk="0" hangingPunct="0">
              <a:spcBef>
                <a:spcPct val="30000"/>
              </a:spcBef>
              <a:defRPr sz="1200">
                <a:solidFill>
                  <a:schemeClr val="tx1"/>
                </a:solidFill>
                <a:latin typeface="Times New Roman" pitchFamily="18" charset="0"/>
              </a:defRPr>
            </a:lvl4pPr>
            <a:lvl5pPr marL="2096375" indent="-232930" defTabSz="939810" eaLnBrk="0" hangingPunct="0">
              <a:spcBef>
                <a:spcPct val="30000"/>
              </a:spcBef>
              <a:defRPr sz="1200">
                <a:solidFill>
                  <a:schemeClr val="tx1"/>
                </a:solidFill>
                <a:latin typeface="Times New Roman" pitchFamily="18" charset="0"/>
              </a:defRPr>
            </a:lvl5pPr>
            <a:lvl6pPr marL="2562236" indent="-232930" defTabSz="939810" eaLnBrk="0" fontAlgn="base" hangingPunct="0">
              <a:spcBef>
                <a:spcPct val="30000"/>
              </a:spcBef>
              <a:spcAft>
                <a:spcPct val="0"/>
              </a:spcAft>
              <a:defRPr sz="1200">
                <a:solidFill>
                  <a:schemeClr val="tx1"/>
                </a:solidFill>
                <a:latin typeface="Times New Roman" pitchFamily="18" charset="0"/>
              </a:defRPr>
            </a:lvl6pPr>
            <a:lvl7pPr marL="3028096" indent="-232930" defTabSz="939810" eaLnBrk="0" fontAlgn="base" hangingPunct="0">
              <a:spcBef>
                <a:spcPct val="30000"/>
              </a:spcBef>
              <a:spcAft>
                <a:spcPct val="0"/>
              </a:spcAft>
              <a:defRPr sz="1200">
                <a:solidFill>
                  <a:schemeClr val="tx1"/>
                </a:solidFill>
                <a:latin typeface="Times New Roman" pitchFamily="18" charset="0"/>
              </a:defRPr>
            </a:lvl7pPr>
            <a:lvl8pPr marL="3493958" indent="-232930" defTabSz="939810" eaLnBrk="0" fontAlgn="base" hangingPunct="0">
              <a:spcBef>
                <a:spcPct val="30000"/>
              </a:spcBef>
              <a:spcAft>
                <a:spcPct val="0"/>
              </a:spcAft>
              <a:defRPr sz="1200">
                <a:solidFill>
                  <a:schemeClr val="tx1"/>
                </a:solidFill>
                <a:latin typeface="Times New Roman" pitchFamily="18" charset="0"/>
              </a:defRPr>
            </a:lvl8pPr>
            <a:lvl9pPr marL="3959819" indent="-232930" defTabSz="93981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2892E033-6E78-4E59-80D5-9F5272DC9590}" type="slidenum">
              <a:rPr lang="en-US" altLang="en-US" smtClean="0">
                <a:solidFill>
                  <a:prstClr val="black"/>
                </a:solidFill>
              </a:rPr>
              <a:pPr>
                <a:spcBef>
                  <a:spcPct val="0"/>
                </a:spcBef>
              </a:pPr>
              <a:t>7</a:t>
            </a:fld>
            <a:endParaRPr lang="en-US" altLang="en-US">
              <a:solidFill>
                <a:prstClr val="black"/>
              </a:solidFill>
            </a:endParaRPr>
          </a:p>
        </p:txBody>
      </p:sp>
      <p:sp>
        <p:nvSpPr>
          <p:cNvPr id="19459" name="Rectangle 2"/>
          <p:cNvSpPr>
            <a:spLocks noGrp="1" noRot="1" noChangeAspect="1" noChangeArrowheads="1" noTextEdit="1"/>
          </p:cNvSpPr>
          <p:nvPr>
            <p:ph type="sldImg"/>
          </p:nvPr>
        </p:nvSpPr>
        <p:spPr>
          <a:xfrm>
            <a:off x="747713" y="1181100"/>
            <a:ext cx="5670550" cy="3189288"/>
          </a:xfrm>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711544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defRPr>
            </a:lvl1pPr>
            <a:lvl2pPr marL="757024" indent="-291163" defTabSz="939810" eaLnBrk="0" hangingPunct="0">
              <a:spcBef>
                <a:spcPct val="30000"/>
              </a:spcBef>
              <a:defRPr sz="1200">
                <a:solidFill>
                  <a:schemeClr val="tx1"/>
                </a:solidFill>
                <a:latin typeface="Times New Roman" pitchFamily="18" charset="0"/>
              </a:defRPr>
            </a:lvl2pPr>
            <a:lvl3pPr marL="1164653" indent="-232930" defTabSz="939810" eaLnBrk="0" hangingPunct="0">
              <a:spcBef>
                <a:spcPct val="30000"/>
              </a:spcBef>
              <a:defRPr sz="1200">
                <a:solidFill>
                  <a:schemeClr val="tx1"/>
                </a:solidFill>
                <a:latin typeface="Times New Roman" pitchFamily="18" charset="0"/>
              </a:defRPr>
            </a:lvl3pPr>
            <a:lvl4pPr marL="1630513" indent="-232930" defTabSz="939810" eaLnBrk="0" hangingPunct="0">
              <a:spcBef>
                <a:spcPct val="30000"/>
              </a:spcBef>
              <a:defRPr sz="1200">
                <a:solidFill>
                  <a:schemeClr val="tx1"/>
                </a:solidFill>
                <a:latin typeface="Times New Roman" pitchFamily="18" charset="0"/>
              </a:defRPr>
            </a:lvl4pPr>
            <a:lvl5pPr marL="2096375" indent="-232930" defTabSz="939810" eaLnBrk="0" hangingPunct="0">
              <a:spcBef>
                <a:spcPct val="30000"/>
              </a:spcBef>
              <a:defRPr sz="1200">
                <a:solidFill>
                  <a:schemeClr val="tx1"/>
                </a:solidFill>
                <a:latin typeface="Times New Roman" pitchFamily="18" charset="0"/>
              </a:defRPr>
            </a:lvl5pPr>
            <a:lvl6pPr marL="2562236" indent="-232930" defTabSz="939810" eaLnBrk="0" fontAlgn="base" hangingPunct="0">
              <a:spcBef>
                <a:spcPct val="30000"/>
              </a:spcBef>
              <a:spcAft>
                <a:spcPct val="0"/>
              </a:spcAft>
              <a:defRPr sz="1200">
                <a:solidFill>
                  <a:schemeClr val="tx1"/>
                </a:solidFill>
                <a:latin typeface="Times New Roman" pitchFamily="18" charset="0"/>
              </a:defRPr>
            </a:lvl6pPr>
            <a:lvl7pPr marL="3028096" indent="-232930" defTabSz="939810" eaLnBrk="0" fontAlgn="base" hangingPunct="0">
              <a:spcBef>
                <a:spcPct val="30000"/>
              </a:spcBef>
              <a:spcAft>
                <a:spcPct val="0"/>
              </a:spcAft>
              <a:defRPr sz="1200">
                <a:solidFill>
                  <a:schemeClr val="tx1"/>
                </a:solidFill>
                <a:latin typeface="Times New Roman" pitchFamily="18" charset="0"/>
              </a:defRPr>
            </a:lvl7pPr>
            <a:lvl8pPr marL="3493958" indent="-232930" defTabSz="939810" eaLnBrk="0" fontAlgn="base" hangingPunct="0">
              <a:spcBef>
                <a:spcPct val="30000"/>
              </a:spcBef>
              <a:spcAft>
                <a:spcPct val="0"/>
              </a:spcAft>
              <a:defRPr sz="1200">
                <a:solidFill>
                  <a:schemeClr val="tx1"/>
                </a:solidFill>
                <a:latin typeface="Times New Roman" pitchFamily="18" charset="0"/>
              </a:defRPr>
            </a:lvl8pPr>
            <a:lvl9pPr marL="3959819" indent="-232930" defTabSz="93981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C212861-B6E2-4123-838A-C61641229D1B}" type="slidenum">
              <a:rPr lang="en-US" altLang="en-US" smtClean="0"/>
              <a:pPr>
                <a:spcBef>
                  <a:spcPct val="0"/>
                </a:spcBef>
              </a:pPr>
              <a:t>8</a:t>
            </a:fld>
            <a:endParaRPr lang="en-US" altLang="en-US"/>
          </a:p>
        </p:txBody>
      </p:sp>
      <p:sp>
        <p:nvSpPr>
          <p:cNvPr id="21507" name="Rectangle 2"/>
          <p:cNvSpPr>
            <a:spLocks noGrp="1" noRot="1" noChangeAspect="1" noChangeArrowheads="1" noTextEdit="1"/>
          </p:cNvSpPr>
          <p:nvPr>
            <p:ph type="sldImg"/>
          </p:nvPr>
        </p:nvSpPr>
        <p:spPr>
          <a:xfrm>
            <a:off x="747713" y="1181100"/>
            <a:ext cx="5670550" cy="3189288"/>
          </a:xfrm>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526183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ea typeface="MS PGothic" pitchFamily="34" charset="-128"/>
              </a:defRPr>
            </a:lvl1pPr>
            <a:lvl2pPr marL="757024" indent="-291163" defTabSz="939810" eaLnBrk="0" hangingPunct="0">
              <a:spcBef>
                <a:spcPct val="30000"/>
              </a:spcBef>
              <a:defRPr sz="1200">
                <a:solidFill>
                  <a:schemeClr val="tx1"/>
                </a:solidFill>
                <a:latin typeface="Times New Roman" pitchFamily="18" charset="0"/>
                <a:ea typeface="MS PGothic" pitchFamily="34" charset="-128"/>
              </a:defRPr>
            </a:lvl2pPr>
            <a:lvl3pPr marL="1164653" indent="-232930" defTabSz="939810" eaLnBrk="0" hangingPunct="0">
              <a:spcBef>
                <a:spcPct val="30000"/>
              </a:spcBef>
              <a:defRPr sz="1200">
                <a:solidFill>
                  <a:schemeClr val="tx1"/>
                </a:solidFill>
                <a:latin typeface="Times New Roman" pitchFamily="18" charset="0"/>
                <a:ea typeface="MS PGothic" pitchFamily="34" charset="-128"/>
              </a:defRPr>
            </a:lvl3pPr>
            <a:lvl4pPr marL="1630513" indent="-232930" defTabSz="939810" eaLnBrk="0" hangingPunct="0">
              <a:spcBef>
                <a:spcPct val="30000"/>
              </a:spcBef>
              <a:defRPr sz="1200">
                <a:solidFill>
                  <a:schemeClr val="tx1"/>
                </a:solidFill>
                <a:latin typeface="Times New Roman" pitchFamily="18" charset="0"/>
                <a:ea typeface="MS PGothic" pitchFamily="34" charset="-128"/>
              </a:defRPr>
            </a:lvl4pPr>
            <a:lvl5pPr marL="2096375" indent="-232930" defTabSz="939810" eaLnBrk="0" hangingPunct="0">
              <a:spcBef>
                <a:spcPct val="30000"/>
              </a:spcBef>
              <a:defRPr sz="1200">
                <a:solidFill>
                  <a:schemeClr val="tx1"/>
                </a:solidFill>
                <a:latin typeface="Times New Roman" pitchFamily="18" charset="0"/>
                <a:ea typeface="MS PGothic" pitchFamily="34" charset="-128"/>
              </a:defRPr>
            </a:lvl5pPr>
            <a:lvl6pPr marL="256223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302809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93958"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959819"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9EBBDAB1-D568-438B-B32D-5096A7F7530D}" type="slidenum">
              <a:rPr lang="en-US" altLang="en-US" smtClean="0">
                <a:solidFill>
                  <a:prstClr val="black"/>
                </a:solidFill>
              </a:rPr>
              <a:pPr>
                <a:spcBef>
                  <a:spcPct val="0"/>
                </a:spcBef>
              </a:pPr>
              <a:t>9</a:t>
            </a:fld>
            <a:endParaRPr lang="en-US" altLang="en-US">
              <a:solidFill>
                <a:prstClr val="black"/>
              </a:solidFill>
            </a:endParaRPr>
          </a:p>
        </p:txBody>
      </p:sp>
      <p:sp>
        <p:nvSpPr>
          <p:cNvPr id="37891" name="Rectangle 2"/>
          <p:cNvSpPr>
            <a:spLocks noGrp="1" noRot="1" noChangeAspect="1" noChangeArrowheads="1" noTextEdit="1"/>
          </p:cNvSpPr>
          <p:nvPr>
            <p:ph type="sldImg"/>
          </p:nvPr>
        </p:nvSpPr>
        <p:spPr>
          <a:xfrm>
            <a:off x="747713" y="1181100"/>
            <a:ext cx="5670550" cy="3189288"/>
          </a:xfrm>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675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0A535-8A13-16D0-159D-FF2FEB1C0902}"/>
            </a:ext>
          </a:extLst>
        </p:cNvPr>
        <p:cNvGrpSpPr/>
        <p:nvPr/>
      </p:nvGrpSpPr>
      <p:grpSpPr>
        <a:xfrm>
          <a:off x="0" y="0"/>
          <a:ext cx="0" cy="0"/>
          <a:chOff x="0" y="0"/>
          <a:chExt cx="0" cy="0"/>
        </a:xfrm>
      </p:grpSpPr>
      <p:sp>
        <p:nvSpPr>
          <p:cNvPr id="37890" name="Rectangle 7">
            <a:extLst>
              <a:ext uri="{FF2B5EF4-FFF2-40B4-BE49-F238E27FC236}">
                <a16:creationId xmlns:a16="http://schemas.microsoft.com/office/drawing/2014/main" id="{C64CE452-3BDC-2E9C-2FD1-0531739521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ea typeface="MS PGothic" pitchFamily="34" charset="-128"/>
              </a:defRPr>
            </a:lvl1pPr>
            <a:lvl2pPr marL="757024" indent="-291163" defTabSz="939810" eaLnBrk="0" hangingPunct="0">
              <a:spcBef>
                <a:spcPct val="30000"/>
              </a:spcBef>
              <a:defRPr sz="1200">
                <a:solidFill>
                  <a:schemeClr val="tx1"/>
                </a:solidFill>
                <a:latin typeface="Times New Roman" pitchFamily="18" charset="0"/>
                <a:ea typeface="MS PGothic" pitchFamily="34" charset="-128"/>
              </a:defRPr>
            </a:lvl2pPr>
            <a:lvl3pPr marL="1164653" indent="-232930" defTabSz="939810" eaLnBrk="0" hangingPunct="0">
              <a:spcBef>
                <a:spcPct val="30000"/>
              </a:spcBef>
              <a:defRPr sz="1200">
                <a:solidFill>
                  <a:schemeClr val="tx1"/>
                </a:solidFill>
                <a:latin typeface="Times New Roman" pitchFamily="18" charset="0"/>
                <a:ea typeface="MS PGothic" pitchFamily="34" charset="-128"/>
              </a:defRPr>
            </a:lvl3pPr>
            <a:lvl4pPr marL="1630513" indent="-232930" defTabSz="939810" eaLnBrk="0" hangingPunct="0">
              <a:spcBef>
                <a:spcPct val="30000"/>
              </a:spcBef>
              <a:defRPr sz="1200">
                <a:solidFill>
                  <a:schemeClr val="tx1"/>
                </a:solidFill>
                <a:latin typeface="Times New Roman" pitchFamily="18" charset="0"/>
                <a:ea typeface="MS PGothic" pitchFamily="34" charset="-128"/>
              </a:defRPr>
            </a:lvl4pPr>
            <a:lvl5pPr marL="2096375" indent="-232930" defTabSz="939810" eaLnBrk="0" hangingPunct="0">
              <a:spcBef>
                <a:spcPct val="30000"/>
              </a:spcBef>
              <a:defRPr sz="1200">
                <a:solidFill>
                  <a:schemeClr val="tx1"/>
                </a:solidFill>
                <a:latin typeface="Times New Roman" pitchFamily="18" charset="0"/>
                <a:ea typeface="MS PGothic" pitchFamily="34" charset="-128"/>
              </a:defRPr>
            </a:lvl5pPr>
            <a:lvl6pPr marL="256223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302809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93958"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959819"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9EBBDAB1-D568-438B-B32D-5096A7F7530D}" type="slidenum">
              <a:rPr lang="en-US" altLang="en-US" smtClean="0">
                <a:solidFill>
                  <a:prstClr val="black"/>
                </a:solidFill>
              </a:rPr>
              <a:pPr>
                <a:spcBef>
                  <a:spcPct val="0"/>
                </a:spcBef>
              </a:pPr>
              <a:t>10</a:t>
            </a:fld>
            <a:endParaRPr lang="en-US" altLang="en-US">
              <a:solidFill>
                <a:prstClr val="black"/>
              </a:solidFill>
            </a:endParaRPr>
          </a:p>
        </p:txBody>
      </p:sp>
      <p:sp>
        <p:nvSpPr>
          <p:cNvPr id="37891" name="Rectangle 2">
            <a:extLst>
              <a:ext uri="{FF2B5EF4-FFF2-40B4-BE49-F238E27FC236}">
                <a16:creationId xmlns:a16="http://schemas.microsoft.com/office/drawing/2014/main" id="{27FD5395-5288-3A90-BE57-D9345922EA9E}"/>
              </a:ext>
            </a:extLst>
          </p:cNvPr>
          <p:cNvSpPr>
            <a:spLocks noGrp="1" noRot="1" noChangeAspect="1" noChangeArrowheads="1" noTextEdit="1"/>
          </p:cNvSpPr>
          <p:nvPr>
            <p:ph type="sldImg"/>
          </p:nvPr>
        </p:nvSpPr>
        <p:spPr>
          <a:xfrm>
            <a:off x="747713" y="1181100"/>
            <a:ext cx="5670550" cy="3189288"/>
          </a:xfrm>
          <a:ln/>
        </p:spPr>
      </p:sp>
      <p:sp>
        <p:nvSpPr>
          <p:cNvPr id="37892" name="Rectangle 3">
            <a:extLst>
              <a:ext uri="{FF2B5EF4-FFF2-40B4-BE49-F238E27FC236}">
                <a16:creationId xmlns:a16="http://schemas.microsoft.com/office/drawing/2014/main" id="{D2D6B20B-BD69-825F-F8EC-5C493CAFA3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134394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ea typeface="MS PGothic" pitchFamily="34" charset="-128"/>
              </a:defRPr>
            </a:lvl1pPr>
            <a:lvl2pPr marL="757024" indent="-291163" defTabSz="939810" eaLnBrk="0" hangingPunct="0">
              <a:spcBef>
                <a:spcPct val="30000"/>
              </a:spcBef>
              <a:defRPr sz="1200">
                <a:solidFill>
                  <a:schemeClr val="tx1"/>
                </a:solidFill>
                <a:latin typeface="Times New Roman" pitchFamily="18" charset="0"/>
                <a:ea typeface="MS PGothic" pitchFamily="34" charset="-128"/>
              </a:defRPr>
            </a:lvl2pPr>
            <a:lvl3pPr marL="1164653" indent="-232930" defTabSz="939810" eaLnBrk="0" hangingPunct="0">
              <a:spcBef>
                <a:spcPct val="30000"/>
              </a:spcBef>
              <a:defRPr sz="1200">
                <a:solidFill>
                  <a:schemeClr val="tx1"/>
                </a:solidFill>
                <a:latin typeface="Times New Roman" pitchFamily="18" charset="0"/>
                <a:ea typeface="MS PGothic" pitchFamily="34" charset="-128"/>
              </a:defRPr>
            </a:lvl3pPr>
            <a:lvl4pPr marL="1630513" indent="-232930" defTabSz="939810" eaLnBrk="0" hangingPunct="0">
              <a:spcBef>
                <a:spcPct val="30000"/>
              </a:spcBef>
              <a:defRPr sz="1200">
                <a:solidFill>
                  <a:schemeClr val="tx1"/>
                </a:solidFill>
                <a:latin typeface="Times New Roman" pitchFamily="18" charset="0"/>
                <a:ea typeface="MS PGothic" pitchFamily="34" charset="-128"/>
              </a:defRPr>
            </a:lvl4pPr>
            <a:lvl5pPr marL="2096375" indent="-232930" defTabSz="939810" eaLnBrk="0" hangingPunct="0">
              <a:spcBef>
                <a:spcPct val="30000"/>
              </a:spcBef>
              <a:defRPr sz="1200">
                <a:solidFill>
                  <a:schemeClr val="tx1"/>
                </a:solidFill>
                <a:latin typeface="Times New Roman" pitchFamily="18" charset="0"/>
                <a:ea typeface="MS PGothic" pitchFamily="34" charset="-128"/>
              </a:defRPr>
            </a:lvl5pPr>
            <a:lvl6pPr marL="256223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302809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93958"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959819"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AAF862EB-7413-4372-91DA-32714A91BDD3}" type="slidenum">
              <a:rPr lang="en-US" altLang="en-US" smtClean="0">
                <a:solidFill>
                  <a:prstClr val="black"/>
                </a:solidFill>
              </a:rPr>
              <a:pPr>
                <a:spcBef>
                  <a:spcPct val="0"/>
                </a:spcBef>
              </a:pPr>
              <a:t>11</a:t>
            </a:fld>
            <a:endParaRPr lang="en-US" altLang="en-US">
              <a:solidFill>
                <a:prstClr val="black"/>
              </a:solidFill>
            </a:endParaRPr>
          </a:p>
        </p:txBody>
      </p:sp>
      <p:sp>
        <p:nvSpPr>
          <p:cNvPr id="40963" name="Rectangle 2"/>
          <p:cNvSpPr>
            <a:spLocks noGrp="1" noRot="1" noChangeAspect="1" noChangeArrowheads="1" noTextEdit="1"/>
          </p:cNvSpPr>
          <p:nvPr>
            <p:ph type="sldImg"/>
          </p:nvPr>
        </p:nvSpPr>
        <p:spPr>
          <a:xfrm>
            <a:off x="747713" y="1181100"/>
            <a:ext cx="5670550" cy="3189288"/>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07500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ea typeface="MS PGothic" pitchFamily="34" charset="-128"/>
              </a:defRPr>
            </a:lvl1pPr>
            <a:lvl2pPr marL="757024" indent="-291163" defTabSz="939810" eaLnBrk="0" hangingPunct="0">
              <a:spcBef>
                <a:spcPct val="30000"/>
              </a:spcBef>
              <a:defRPr sz="1200">
                <a:solidFill>
                  <a:schemeClr val="tx1"/>
                </a:solidFill>
                <a:latin typeface="Times New Roman" pitchFamily="18" charset="0"/>
                <a:ea typeface="MS PGothic" pitchFamily="34" charset="-128"/>
              </a:defRPr>
            </a:lvl2pPr>
            <a:lvl3pPr marL="1164653" indent="-232930" defTabSz="939810" eaLnBrk="0" hangingPunct="0">
              <a:spcBef>
                <a:spcPct val="30000"/>
              </a:spcBef>
              <a:defRPr sz="1200">
                <a:solidFill>
                  <a:schemeClr val="tx1"/>
                </a:solidFill>
                <a:latin typeface="Times New Roman" pitchFamily="18" charset="0"/>
                <a:ea typeface="MS PGothic" pitchFamily="34" charset="-128"/>
              </a:defRPr>
            </a:lvl3pPr>
            <a:lvl4pPr marL="1630513" indent="-232930" defTabSz="939810" eaLnBrk="0" hangingPunct="0">
              <a:spcBef>
                <a:spcPct val="30000"/>
              </a:spcBef>
              <a:defRPr sz="1200">
                <a:solidFill>
                  <a:schemeClr val="tx1"/>
                </a:solidFill>
                <a:latin typeface="Times New Roman" pitchFamily="18" charset="0"/>
                <a:ea typeface="MS PGothic" pitchFamily="34" charset="-128"/>
              </a:defRPr>
            </a:lvl4pPr>
            <a:lvl5pPr marL="2096375" indent="-232930" defTabSz="939810" eaLnBrk="0" hangingPunct="0">
              <a:spcBef>
                <a:spcPct val="30000"/>
              </a:spcBef>
              <a:defRPr sz="1200">
                <a:solidFill>
                  <a:schemeClr val="tx1"/>
                </a:solidFill>
                <a:latin typeface="Times New Roman" pitchFamily="18" charset="0"/>
                <a:ea typeface="MS PGothic" pitchFamily="34" charset="-128"/>
              </a:defRPr>
            </a:lvl5pPr>
            <a:lvl6pPr marL="256223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302809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93958"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959819"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DD95A49F-893D-441A-AED6-25E56DAEF746}" type="slidenum">
              <a:rPr lang="en-US" altLang="en-US" smtClean="0">
                <a:solidFill>
                  <a:prstClr val="black"/>
                </a:solidFill>
              </a:rPr>
              <a:pPr>
                <a:spcBef>
                  <a:spcPct val="0"/>
                </a:spcBef>
              </a:pPr>
              <a:t>12</a:t>
            </a:fld>
            <a:endParaRPr lang="en-US" altLang="en-US">
              <a:solidFill>
                <a:prstClr val="black"/>
              </a:solidFill>
            </a:endParaRPr>
          </a:p>
        </p:txBody>
      </p:sp>
      <p:sp>
        <p:nvSpPr>
          <p:cNvPr id="41987" name="Rectangle 2"/>
          <p:cNvSpPr>
            <a:spLocks noGrp="1" noRot="1" noChangeAspect="1" noChangeArrowheads="1" noTextEdit="1"/>
          </p:cNvSpPr>
          <p:nvPr>
            <p:ph type="sldImg"/>
          </p:nvPr>
        </p:nvSpPr>
        <p:spPr>
          <a:xfrm>
            <a:off x="747713" y="1181100"/>
            <a:ext cx="5670550" cy="3189288"/>
          </a:xfrm>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13343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ea typeface="MS PGothic" pitchFamily="34" charset="-128"/>
              </a:defRPr>
            </a:lvl1pPr>
            <a:lvl2pPr marL="757024" indent="-291163" defTabSz="939810" eaLnBrk="0" hangingPunct="0">
              <a:spcBef>
                <a:spcPct val="30000"/>
              </a:spcBef>
              <a:defRPr sz="1200">
                <a:solidFill>
                  <a:schemeClr val="tx1"/>
                </a:solidFill>
                <a:latin typeface="Times New Roman" pitchFamily="18" charset="0"/>
                <a:ea typeface="MS PGothic" pitchFamily="34" charset="-128"/>
              </a:defRPr>
            </a:lvl2pPr>
            <a:lvl3pPr marL="1164653" indent="-232930" defTabSz="939810" eaLnBrk="0" hangingPunct="0">
              <a:spcBef>
                <a:spcPct val="30000"/>
              </a:spcBef>
              <a:defRPr sz="1200">
                <a:solidFill>
                  <a:schemeClr val="tx1"/>
                </a:solidFill>
                <a:latin typeface="Times New Roman" pitchFamily="18" charset="0"/>
                <a:ea typeface="MS PGothic" pitchFamily="34" charset="-128"/>
              </a:defRPr>
            </a:lvl3pPr>
            <a:lvl4pPr marL="1630513" indent="-232930" defTabSz="939810" eaLnBrk="0" hangingPunct="0">
              <a:spcBef>
                <a:spcPct val="30000"/>
              </a:spcBef>
              <a:defRPr sz="1200">
                <a:solidFill>
                  <a:schemeClr val="tx1"/>
                </a:solidFill>
                <a:latin typeface="Times New Roman" pitchFamily="18" charset="0"/>
                <a:ea typeface="MS PGothic" pitchFamily="34" charset="-128"/>
              </a:defRPr>
            </a:lvl4pPr>
            <a:lvl5pPr marL="2096375" indent="-232930" defTabSz="939810" eaLnBrk="0" hangingPunct="0">
              <a:spcBef>
                <a:spcPct val="30000"/>
              </a:spcBef>
              <a:defRPr sz="1200">
                <a:solidFill>
                  <a:schemeClr val="tx1"/>
                </a:solidFill>
                <a:latin typeface="Times New Roman" pitchFamily="18" charset="0"/>
                <a:ea typeface="MS PGothic" pitchFamily="34" charset="-128"/>
              </a:defRPr>
            </a:lvl5pPr>
            <a:lvl6pPr marL="256223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302809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93958"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959819"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CFF66AC2-2738-43CD-802C-31927391F991}" type="slidenum">
              <a:rPr lang="en-US" altLang="en-US" smtClean="0">
                <a:solidFill>
                  <a:prstClr val="black"/>
                </a:solidFill>
              </a:rPr>
              <a:pPr>
                <a:spcBef>
                  <a:spcPct val="0"/>
                </a:spcBef>
              </a:pPr>
              <a:t>13</a:t>
            </a:fld>
            <a:endParaRPr lang="en-US" altLang="en-US">
              <a:solidFill>
                <a:prstClr val="black"/>
              </a:solidFill>
            </a:endParaRPr>
          </a:p>
        </p:txBody>
      </p:sp>
      <p:sp>
        <p:nvSpPr>
          <p:cNvPr id="44035" name="Rectangle 2"/>
          <p:cNvSpPr>
            <a:spLocks noGrp="1" noRot="1" noChangeAspect="1" noChangeArrowheads="1" noTextEdit="1"/>
          </p:cNvSpPr>
          <p:nvPr>
            <p:ph type="sldImg"/>
          </p:nvPr>
        </p:nvSpPr>
        <p:spPr>
          <a:xfrm>
            <a:off x="747713" y="1181100"/>
            <a:ext cx="5670550" cy="3189288"/>
          </a:xfrm>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171594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CFD79-97AD-3FF3-4828-133F2433A037}"/>
            </a:ext>
          </a:extLst>
        </p:cNvPr>
        <p:cNvGrpSpPr/>
        <p:nvPr/>
      </p:nvGrpSpPr>
      <p:grpSpPr>
        <a:xfrm>
          <a:off x="0" y="0"/>
          <a:ext cx="0" cy="0"/>
          <a:chOff x="0" y="0"/>
          <a:chExt cx="0" cy="0"/>
        </a:xfrm>
      </p:grpSpPr>
      <p:sp>
        <p:nvSpPr>
          <p:cNvPr id="44034" name="Rectangle 7">
            <a:extLst>
              <a:ext uri="{FF2B5EF4-FFF2-40B4-BE49-F238E27FC236}">
                <a16:creationId xmlns:a16="http://schemas.microsoft.com/office/drawing/2014/main" id="{3E167AA7-5EA9-98A6-D392-E89397E974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ea typeface="MS PGothic" pitchFamily="34" charset="-128"/>
              </a:defRPr>
            </a:lvl1pPr>
            <a:lvl2pPr marL="757024" indent="-291163" defTabSz="939810" eaLnBrk="0" hangingPunct="0">
              <a:spcBef>
                <a:spcPct val="30000"/>
              </a:spcBef>
              <a:defRPr sz="1200">
                <a:solidFill>
                  <a:schemeClr val="tx1"/>
                </a:solidFill>
                <a:latin typeface="Times New Roman" pitchFamily="18" charset="0"/>
                <a:ea typeface="MS PGothic" pitchFamily="34" charset="-128"/>
              </a:defRPr>
            </a:lvl2pPr>
            <a:lvl3pPr marL="1164653" indent="-232930" defTabSz="939810" eaLnBrk="0" hangingPunct="0">
              <a:spcBef>
                <a:spcPct val="30000"/>
              </a:spcBef>
              <a:defRPr sz="1200">
                <a:solidFill>
                  <a:schemeClr val="tx1"/>
                </a:solidFill>
                <a:latin typeface="Times New Roman" pitchFamily="18" charset="0"/>
                <a:ea typeface="MS PGothic" pitchFamily="34" charset="-128"/>
              </a:defRPr>
            </a:lvl3pPr>
            <a:lvl4pPr marL="1630513" indent="-232930" defTabSz="939810" eaLnBrk="0" hangingPunct="0">
              <a:spcBef>
                <a:spcPct val="30000"/>
              </a:spcBef>
              <a:defRPr sz="1200">
                <a:solidFill>
                  <a:schemeClr val="tx1"/>
                </a:solidFill>
                <a:latin typeface="Times New Roman" pitchFamily="18" charset="0"/>
                <a:ea typeface="MS PGothic" pitchFamily="34" charset="-128"/>
              </a:defRPr>
            </a:lvl4pPr>
            <a:lvl5pPr marL="2096375" indent="-232930" defTabSz="939810" eaLnBrk="0" hangingPunct="0">
              <a:spcBef>
                <a:spcPct val="30000"/>
              </a:spcBef>
              <a:defRPr sz="1200">
                <a:solidFill>
                  <a:schemeClr val="tx1"/>
                </a:solidFill>
                <a:latin typeface="Times New Roman" pitchFamily="18" charset="0"/>
                <a:ea typeface="MS PGothic" pitchFamily="34" charset="-128"/>
              </a:defRPr>
            </a:lvl5pPr>
            <a:lvl6pPr marL="256223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302809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93958"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959819"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CFF66AC2-2738-43CD-802C-31927391F991}" type="slidenum">
              <a:rPr lang="en-US" altLang="en-US" smtClean="0">
                <a:solidFill>
                  <a:prstClr val="black"/>
                </a:solidFill>
              </a:rPr>
              <a:pPr>
                <a:spcBef>
                  <a:spcPct val="0"/>
                </a:spcBef>
              </a:pPr>
              <a:t>14</a:t>
            </a:fld>
            <a:endParaRPr lang="en-US" altLang="en-US">
              <a:solidFill>
                <a:prstClr val="black"/>
              </a:solidFill>
            </a:endParaRPr>
          </a:p>
        </p:txBody>
      </p:sp>
      <p:sp>
        <p:nvSpPr>
          <p:cNvPr id="44035" name="Rectangle 2">
            <a:extLst>
              <a:ext uri="{FF2B5EF4-FFF2-40B4-BE49-F238E27FC236}">
                <a16:creationId xmlns:a16="http://schemas.microsoft.com/office/drawing/2014/main" id="{0191C322-2BAA-AC0A-B35B-CBBBA2AB7E37}"/>
              </a:ext>
            </a:extLst>
          </p:cNvPr>
          <p:cNvSpPr>
            <a:spLocks noGrp="1" noRot="1" noChangeAspect="1" noChangeArrowheads="1" noTextEdit="1"/>
          </p:cNvSpPr>
          <p:nvPr>
            <p:ph type="sldImg"/>
          </p:nvPr>
        </p:nvSpPr>
        <p:spPr>
          <a:xfrm>
            <a:off x="747713" y="1181100"/>
            <a:ext cx="5670550" cy="3189288"/>
          </a:xfrm>
          <a:ln/>
        </p:spPr>
      </p:sp>
      <p:sp>
        <p:nvSpPr>
          <p:cNvPr id="44036" name="Rectangle 3">
            <a:extLst>
              <a:ext uri="{FF2B5EF4-FFF2-40B4-BE49-F238E27FC236}">
                <a16:creationId xmlns:a16="http://schemas.microsoft.com/office/drawing/2014/main" id="{298946B9-DFD1-BF8B-C972-1EE5541685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28403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33AF8-BECC-747E-8A8F-C89AE70F88D6}"/>
            </a:ext>
          </a:extLst>
        </p:cNvPr>
        <p:cNvGrpSpPr/>
        <p:nvPr/>
      </p:nvGrpSpPr>
      <p:grpSpPr>
        <a:xfrm>
          <a:off x="0" y="0"/>
          <a:ext cx="0" cy="0"/>
          <a:chOff x="0" y="0"/>
          <a:chExt cx="0" cy="0"/>
        </a:xfrm>
      </p:grpSpPr>
      <p:sp>
        <p:nvSpPr>
          <p:cNvPr id="44034" name="Rectangle 7">
            <a:extLst>
              <a:ext uri="{FF2B5EF4-FFF2-40B4-BE49-F238E27FC236}">
                <a16:creationId xmlns:a16="http://schemas.microsoft.com/office/drawing/2014/main" id="{07576748-844A-5DAB-C8E8-28219F3CDC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ea typeface="MS PGothic" pitchFamily="34" charset="-128"/>
              </a:defRPr>
            </a:lvl1pPr>
            <a:lvl2pPr marL="757024" indent="-291163" defTabSz="939810" eaLnBrk="0" hangingPunct="0">
              <a:spcBef>
                <a:spcPct val="30000"/>
              </a:spcBef>
              <a:defRPr sz="1200">
                <a:solidFill>
                  <a:schemeClr val="tx1"/>
                </a:solidFill>
                <a:latin typeface="Times New Roman" pitchFamily="18" charset="0"/>
                <a:ea typeface="MS PGothic" pitchFamily="34" charset="-128"/>
              </a:defRPr>
            </a:lvl2pPr>
            <a:lvl3pPr marL="1164653" indent="-232930" defTabSz="939810" eaLnBrk="0" hangingPunct="0">
              <a:spcBef>
                <a:spcPct val="30000"/>
              </a:spcBef>
              <a:defRPr sz="1200">
                <a:solidFill>
                  <a:schemeClr val="tx1"/>
                </a:solidFill>
                <a:latin typeface="Times New Roman" pitchFamily="18" charset="0"/>
                <a:ea typeface="MS PGothic" pitchFamily="34" charset="-128"/>
              </a:defRPr>
            </a:lvl3pPr>
            <a:lvl4pPr marL="1630513" indent="-232930" defTabSz="939810" eaLnBrk="0" hangingPunct="0">
              <a:spcBef>
                <a:spcPct val="30000"/>
              </a:spcBef>
              <a:defRPr sz="1200">
                <a:solidFill>
                  <a:schemeClr val="tx1"/>
                </a:solidFill>
                <a:latin typeface="Times New Roman" pitchFamily="18" charset="0"/>
                <a:ea typeface="MS PGothic" pitchFamily="34" charset="-128"/>
              </a:defRPr>
            </a:lvl4pPr>
            <a:lvl5pPr marL="2096375" indent="-232930" defTabSz="939810" eaLnBrk="0" hangingPunct="0">
              <a:spcBef>
                <a:spcPct val="30000"/>
              </a:spcBef>
              <a:defRPr sz="1200">
                <a:solidFill>
                  <a:schemeClr val="tx1"/>
                </a:solidFill>
                <a:latin typeface="Times New Roman" pitchFamily="18" charset="0"/>
                <a:ea typeface="MS PGothic" pitchFamily="34" charset="-128"/>
              </a:defRPr>
            </a:lvl5pPr>
            <a:lvl6pPr marL="256223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302809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93958"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959819"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CFF66AC2-2738-43CD-802C-31927391F991}" type="slidenum">
              <a:rPr lang="en-US" altLang="en-US" smtClean="0">
                <a:solidFill>
                  <a:prstClr val="black"/>
                </a:solidFill>
              </a:rPr>
              <a:pPr>
                <a:spcBef>
                  <a:spcPct val="0"/>
                </a:spcBef>
              </a:pPr>
              <a:t>15</a:t>
            </a:fld>
            <a:endParaRPr lang="en-US" altLang="en-US">
              <a:solidFill>
                <a:prstClr val="black"/>
              </a:solidFill>
            </a:endParaRPr>
          </a:p>
        </p:txBody>
      </p:sp>
      <p:sp>
        <p:nvSpPr>
          <p:cNvPr id="44035" name="Rectangle 2">
            <a:extLst>
              <a:ext uri="{FF2B5EF4-FFF2-40B4-BE49-F238E27FC236}">
                <a16:creationId xmlns:a16="http://schemas.microsoft.com/office/drawing/2014/main" id="{08E3CB04-396D-8A3A-85E2-D041949AAA8E}"/>
              </a:ext>
            </a:extLst>
          </p:cNvPr>
          <p:cNvSpPr>
            <a:spLocks noGrp="1" noRot="1" noChangeAspect="1" noChangeArrowheads="1" noTextEdit="1"/>
          </p:cNvSpPr>
          <p:nvPr>
            <p:ph type="sldImg"/>
          </p:nvPr>
        </p:nvSpPr>
        <p:spPr>
          <a:xfrm>
            <a:off x="747713" y="1181100"/>
            <a:ext cx="5670550" cy="3189288"/>
          </a:xfrm>
          <a:ln/>
        </p:spPr>
      </p:sp>
      <p:sp>
        <p:nvSpPr>
          <p:cNvPr id="44036" name="Rectangle 3">
            <a:extLst>
              <a:ext uri="{FF2B5EF4-FFF2-40B4-BE49-F238E27FC236}">
                <a16:creationId xmlns:a16="http://schemas.microsoft.com/office/drawing/2014/main" id="{0DC0480A-B217-B236-C059-7D5D94DB28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886178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FB77-2EE8-451E-05B7-0F8D71A963CC}"/>
            </a:ext>
          </a:extLst>
        </p:cNvPr>
        <p:cNvGrpSpPr/>
        <p:nvPr/>
      </p:nvGrpSpPr>
      <p:grpSpPr>
        <a:xfrm>
          <a:off x="0" y="0"/>
          <a:ext cx="0" cy="0"/>
          <a:chOff x="0" y="0"/>
          <a:chExt cx="0" cy="0"/>
        </a:xfrm>
      </p:grpSpPr>
      <p:sp>
        <p:nvSpPr>
          <p:cNvPr id="44034" name="Rectangle 7">
            <a:extLst>
              <a:ext uri="{FF2B5EF4-FFF2-40B4-BE49-F238E27FC236}">
                <a16:creationId xmlns:a16="http://schemas.microsoft.com/office/drawing/2014/main" id="{7D69CF41-14AD-F5D3-3CEF-0D61BB32C8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ea typeface="MS PGothic" pitchFamily="34" charset="-128"/>
              </a:defRPr>
            </a:lvl1pPr>
            <a:lvl2pPr marL="757024" indent="-291163" defTabSz="939810" eaLnBrk="0" hangingPunct="0">
              <a:spcBef>
                <a:spcPct val="30000"/>
              </a:spcBef>
              <a:defRPr sz="1200">
                <a:solidFill>
                  <a:schemeClr val="tx1"/>
                </a:solidFill>
                <a:latin typeface="Times New Roman" pitchFamily="18" charset="0"/>
                <a:ea typeface="MS PGothic" pitchFamily="34" charset="-128"/>
              </a:defRPr>
            </a:lvl2pPr>
            <a:lvl3pPr marL="1164653" indent="-232930" defTabSz="939810" eaLnBrk="0" hangingPunct="0">
              <a:spcBef>
                <a:spcPct val="30000"/>
              </a:spcBef>
              <a:defRPr sz="1200">
                <a:solidFill>
                  <a:schemeClr val="tx1"/>
                </a:solidFill>
                <a:latin typeface="Times New Roman" pitchFamily="18" charset="0"/>
                <a:ea typeface="MS PGothic" pitchFamily="34" charset="-128"/>
              </a:defRPr>
            </a:lvl3pPr>
            <a:lvl4pPr marL="1630513" indent="-232930" defTabSz="939810" eaLnBrk="0" hangingPunct="0">
              <a:spcBef>
                <a:spcPct val="30000"/>
              </a:spcBef>
              <a:defRPr sz="1200">
                <a:solidFill>
                  <a:schemeClr val="tx1"/>
                </a:solidFill>
                <a:latin typeface="Times New Roman" pitchFamily="18" charset="0"/>
                <a:ea typeface="MS PGothic" pitchFamily="34" charset="-128"/>
              </a:defRPr>
            </a:lvl4pPr>
            <a:lvl5pPr marL="2096375" indent="-232930" defTabSz="939810" eaLnBrk="0" hangingPunct="0">
              <a:spcBef>
                <a:spcPct val="30000"/>
              </a:spcBef>
              <a:defRPr sz="1200">
                <a:solidFill>
                  <a:schemeClr val="tx1"/>
                </a:solidFill>
                <a:latin typeface="Times New Roman" pitchFamily="18" charset="0"/>
                <a:ea typeface="MS PGothic" pitchFamily="34" charset="-128"/>
              </a:defRPr>
            </a:lvl5pPr>
            <a:lvl6pPr marL="256223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302809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93958"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959819"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CFF66AC2-2738-43CD-802C-31927391F991}" type="slidenum">
              <a:rPr lang="en-US" altLang="en-US" smtClean="0">
                <a:solidFill>
                  <a:prstClr val="black"/>
                </a:solidFill>
              </a:rPr>
              <a:pPr>
                <a:spcBef>
                  <a:spcPct val="0"/>
                </a:spcBef>
              </a:pPr>
              <a:t>16</a:t>
            </a:fld>
            <a:endParaRPr lang="en-US" altLang="en-US">
              <a:solidFill>
                <a:prstClr val="black"/>
              </a:solidFill>
            </a:endParaRPr>
          </a:p>
        </p:txBody>
      </p:sp>
      <p:sp>
        <p:nvSpPr>
          <p:cNvPr id="44035" name="Rectangle 2">
            <a:extLst>
              <a:ext uri="{FF2B5EF4-FFF2-40B4-BE49-F238E27FC236}">
                <a16:creationId xmlns:a16="http://schemas.microsoft.com/office/drawing/2014/main" id="{5A5B3C5A-678A-72CA-5AA2-DED173222983}"/>
              </a:ext>
            </a:extLst>
          </p:cNvPr>
          <p:cNvSpPr>
            <a:spLocks noGrp="1" noRot="1" noChangeAspect="1" noChangeArrowheads="1" noTextEdit="1"/>
          </p:cNvSpPr>
          <p:nvPr>
            <p:ph type="sldImg"/>
          </p:nvPr>
        </p:nvSpPr>
        <p:spPr>
          <a:xfrm>
            <a:off x="747713" y="1181100"/>
            <a:ext cx="5670550" cy="3189288"/>
          </a:xfrm>
          <a:ln/>
        </p:spPr>
      </p:sp>
      <p:sp>
        <p:nvSpPr>
          <p:cNvPr id="44036" name="Rectangle 3">
            <a:extLst>
              <a:ext uri="{FF2B5EF4-FFF2-40B4-BE49-F238E27FC236}">
                <a16:creationId xmlns:a16="http://schemas.microsoft.com/office/drawing/2014/main" id="{391BF9D2-0EF0-FD41-50E3-5D85E649A1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2460343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ea typeface="MS PGothic" pitchFamily="34" charset="-128"/>
              </a:defRPr>
            </a:lvl1pPr>
            <a:lvl2pPr marL="742909" indent="-285734" defTabSz="922287" eaLnBrk="0" hangingPunct="0">
              <a:spcBef>
                <a:spcPct val="30000"/>
              </a:spcBef>
              <a:defRPr sz="1200">
                <a:solidFill>
                  <a:schemeClr val="tx1"/>
                </a:solidFill>
                <a:latin typeface="Times New Roman" pitchFamily="18" charset="0"/>
                <a:ea typeface="MS PGothic" pitchFamily="34" charset="-128"/>
              </a:defRPr>
            </a:lvl2pPr>
            <a:lvl3pPr marL="1142937" indent="-228587" defTabSz="922287" eaLnBrk="0" hangingPunct="0">
              <a:spcBef>
                <a:spcPct val="30000"/>
              </a:spcBef>
              <a:defRPr sz="1200">
                <a:solidFill>
                  <a:schemeClr val="tx1"/>
                </a:solidFill>
                <a:latin typeface="Times New Roman" pitchFamily="18" charset="0"/>
                <a:ea typeface="MS PGothic" pitchFamily="34" charset="-128"/>
              </a:defRPr>
            </a:lvl3pPr>
            <a:lvl4pPr marL="1600111" indent="-228587" defTabSz="922287" eaLnBrk="0" hangingPunct="0">
              <a:spcBef>
                <a:spcPct val="30000"/>
              </a:spcBef>
              <a:defRPr sz="1200">
                <a:solidFill>
                  <a:schemeClr val="tx1"/>
                </a:solidFill>
                <a:latin typeface="Times New Roman" pitchFamily="18" charset="0"/>
                <a:ea typeface="MS PGothic" pitchFamily="34" charset="-128"/>
              </a:defRPr>
            </a:lvl4pPr>
            <a:lvl5pPr marL="2057287" indent="-228587" defTabSz="922287" eaLnBrk="0" hangingPunct="0">
              <a:spcBef>
                <a:spcPct val="30000"/>
              </a:spcBef>
              <a:defRPr sz="1200">
                <a:solidFill>
                  <a:schemeClr val="tx1"/>
                </a:solidFill>
                <a:latin typeface="Times New Roman" pitchFamily="18" charset="0"/>
                <a:ea typeface="MS PGothic" pitchFamily="34" charset="-128"/>
              </a:defRPr>
            </a:lvl5pPr>
            <a:lvl6pPr marL="2514461"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2971635"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28811"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885985"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01C3236E-EB75-4695-A32C-59BF833B713E}" type="slidenum">
              <a:rPr lang="en-US" altLang="en-US" smtClean="0"/>
              <a:pPr>
                <a:spcBef>
                  <a:spcPct val="0"/>
                </a:spcBef>
              </a:pPr>
              <a:t>17</a:t>
            </a:fld>
            <a:endParaRPr lang="en-US" altLang="en-US"/>
          </a:p>
        </p:txBody>
      </p:sp>
      <p:sp>
        <p:nvSpPr>
          <p:cNvPr id="45059" name="Rectangle 2"/>
          <p:cNvSpPr>
            <a:spLocks noGrp="1" noRot="1" noChangeAspect="1" noChangeArrowheads="1" noTextEdit="1"/>
          </p:cNvSpPr>
          <p:nvPr>
            <p:ph type="sldImg"/>
          </p:nvPr>
        </p:nvSpPr>
        <p:spPr>
          <a:xfrm>
            <a:off x="717550" y="1162050"/>
            <a:ext cx="5575300" cy="3136900"/>
          </a:xfrm>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2210677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ea typeface="MS PGothic" pitchFamily="34" charset="-128"/>
              </a:defRPr>
            </a:lvl1pPr>
            <a:lvl2pPr marL="742909" indent="-285734" defTabSz="922287" eaLnBrk="0" hangingPunct="0">
              <a:spcBef>
                <a:spcPct val="30000"/>
              </a:spcBef>
              <a:defRPr sz="1200">
                <a:solidFill>
                  <a:schemeClr val="tx1"/>
                </a:solidFill>
                <a:latin typeface="Times New Roman" pitchFamily="18" charset="0"/>
                <a:ea typeface="MS PGothic" pitchFamily="34" charset="-128"/>
              </a:defRPr>
            </a:lvl2pPr>
            <a:lvl3pPr marL="1142937" indent="-228587" defTabSz="922287" eaLnBrk="0" hangingPunct="0">
              <a:spcBef>
                <a:spcPct val="30000"/>
              </a:spcBef>
              <a:defRPr sz="1200">
                <a:solidFill>
                  <a:schemeClr val="tx1"/>
                </a:solidFill>
                <a:latin typeface="Times New Roman" pitchFamily="18" charset="0"/>
                <a:ea typeface="MS PGothic" pitchFamily="34" charset="-128"/>
              </a:defRPr>
            </a:lvl3pPr>
            <a:lvl4pPr marL="1600111" indent="-228587" defTabSz="922287" eaLnBrk="0" hangingPunct="0">
              <a:spcBef>
                <a:spcPct val="30000"/>
              </a:spcBef>
              <a:defRPr sz="1200">
                <a:solidFill>
                  <a:schemeClr val="tx1"/>
                </a:solidFill>
                <a:latin typeface="Times New Roman" pitchFamily="18" charset="0"/>
                <a:ea typeface="MS PGothic" pitchFamily="34" charset="-128"/>
              </a:defRPr>
            </a:lvl4pPr>
            <a:lvl5pPr marL="2057287" indent="-228587" defTabSz="922287" eaLnBrk="0" hangingPunct="0">
              <a:spcBef>
                <a:spcPct val="30000"/>
              </a:spcBef>
              <a:defRPr sz="1200">
                <a:solidFill>
                  <a:schemeClr val="tx1"/>
                </a:solidFill>
                <a:latin typeface="Times New Roman" pitchFamily="18" charset="0"/>
                <a:ea typeface="MS PGothic" pitchFamily="34" charset="-128"/>
              </a:defRPr>
            </a:lvl5pPr>
            <a:lvl6pPr marL="2514461"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2971635"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28811"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885985"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398634A4-A9CC-48D0-8B3C-C622AF09CC3D}" type="slidenum">
              <a:rPr lang="en-US" altLang="en-US" smtClean="0">
                <a:solidFill>
                  <a:prstClr val="black"/>
                </a:solidFill>
              </a:rPr>
              <a:pPr>
                <a:spcBef>
                  <a:spcPct val="0"/>
                </a:spcBef>
              </a:pPr>
              <a:t>18</a:t>
            </a:fld>
            <a:endParaRPr lang="en-US" altLang="en-US">
              <a:solidFill>
                <a:prstClr val="black"/>
              </a:solidFill>
            </a:endParaRPr>
          </a:p>
        </p:txBody>
      </p:sp>
      <p:sp>
        <p:nvSpPr>
          <p:cNvPr id="48131" name="Rectangle 2"/>
          <p:cNvSpPr>
            <a:spLocks noGrp="1" noRot="1" noChangeAspect="1" noChangeArrowheads="1" noTextEdit="1"/>
          </p:cNvSpPr>
          <p:nvPr>
            <p:ph type="sldImg"/>
          </p:nvPr>
        </p:nvSpPr>
        <p:spPr>
          <a:xfrm>
            <a:off x="717550" y="1162050"/>
            <a:ext cx="5575300" cy="3136900"/>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07829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ea typeface="MS PGothic" pitchFamily="34" charset="-128"/>
              </a:defRPr>
            </a:lvl1pPr>
            <a:lvl2pPr marL="757024" indent="-291163" defTabSz="939810" eaLnBrk="0" hangingPunct="0">
              <a:spcBef>
                <a:spcPct val="30000"/>
              </a:spcBef>
              <a:defRPr sz="1200">
                <a:solidFill>
                  <a:schemeClr val="tx1"/>
                </a:solidFill>
                <a:latin typeface="Times New Roman" pitchFamily="18" charset="0"/>
                <a:ea typeface="MS PGothic" pitchFamily="34" charset="-128"/>
              </a:defRPr>
            </a:lvl2pPr>
            <a:lvl3pPr marL="1164653" indent="-232930" defTabSz="939810" eaLnBrk="0" hangingPunct="0">
              <a:spcBef>
                <a:spcPct val="30000"/>
              </a:spcBef>
              <a:defRPr sz="1200">
                <a:solidFill>
                  <a:schemeClr val="tx1"/>
                </a:solidFill>
                <a:latin typeface="Times New Roman" pitchFamily="18" charset="0"/>
                <a:ea typeface="MS PGothic" pitchFamily="34" charset="-128"/>
              </a:defRPr>
            </a:lvl3pPr>
            <a:lvl4pPr marL="1630513" indent="-232930" defTabSz="939810" eaLnBrk="0" hangingPunct="0">
              <a:spcBef>
                <a:spcPct val="30000"/>
              </a:spcBef>
              <a:defRPr sz="1200">
                <a:solidFill>
                  <a:schemeClr val="tx1"/>
                </a:solidFill>
                <a:latin typeface="Times New Roman" pitchFamily="18" charset="0"/>
                <a:ea typeface="MS PGothic" pitchFamily="34" charset="-128"/>
              </a:defRPr>
            </a:lvl4pPr>
            <a:lvl5pPr marL="2096375" indent="-232930" defTabSz="939810" eaLnBrk="0" hangingPunct="0">
              <a:spcBef>
                <a:spcPct val="30000"/>
              </a:spcBef>
              <a:defRPr sz="1200">
                <a:solidFill>
                  <a:schemeClr val="tx1"/>
                </a:solidFill>
                <a:latin typeface="Times New Roman" pitchFamily="18" charset="0"/>
                <a:ea typeface="MS PGothic" pitchFamily="34" charset="-128"/>
              </a:defRPr>
            </a:lvl5pPr>
            <a:lvl6pPr marL="256223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302809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93958"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959819"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8C4DA2D8-EBD3-4C15-9B2F-1FBAD39A1039}" type="slidenum">
              <a:rPr lang="en-US" altLang="en-US" smtClean="0">
                <a:solidFill>
                  <a:prstClr val="black"/>
                </a:solidFill>
              </a:rPr>
              <a:pPr>
                <a:spcBef>
                  <a:spcPct val="0"/>
                </a:spcBef>
              </a:pPr>
              <a:t>19</a:t>
            </a:fld>
            <a:endParaRPr lang="en-US" altLang="en-US">
              <a:solidFill>
                <a:prstClr val="black"/>
              </a:solidFill>
            </a:endParaRPr>
          </a:p>
        </p:txBody>
      </p:sp>
      <p:sp>
        <p:nvSpPr>
          <p:cNvPr id="49155" name="Rectangle 2"/>
          <p:cNvSpPr>
            <a:spLocks noGrp="1" noRot="1" noChangeAspect="1" noChangeArrowheads="1" noTextEdit="1"/>
          </p:cNvSpPr>
          <p:nvPr>
            <p:ph type="sldImg"/>
          </p:nvPr>
        </p:nvSpPr>
        <p:spPr>
          <a:xfrm>
            <a:off x="747713" y="1181100"/>
            <a:ext cx="5670550" cy="3189288"/>
          </a:xfrm>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8743958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10" eaLnBrk="0" hangingPunct="0">
              <a:spcBef>
                <a:spcPct val="30000"/>
              </a:spcBef>
              <a:defRPr sz="1200">
                <a:solidFill>
                  <a:schemeClr val="tx1"/>
                </a:solidFill>
                <a:latin typeface="Times New Roman" pitchFamily="18" charset="0"/>
                <a:ea typeface="MS PGothic" pitchFamily="34" charset="-128"/>
              </a:defRPr>
            </a:lvl1pPr>
            <a:lvl2pPr marL="757024" indent="-291163" defTabSz="939810" eaLnBrk="0" hangingPunct="0">
              <a:spcBef>
                <a:spcPct val="30000"/>
              </a:spcBef>
              <a:defRPr sz="1200">
                <a:solidFill>
                  <a:schemeClr val="tx1"/>
                </a:solidFill>
                <a:latin typeface="Times New Roman" pitchFamily="18" charset="0"/>
                <a:ea typeface="MS PGothic" pitchFamily="34" charset="-128"/>
              </a:defRPr>
            </a:lvl2pPr>
            <a:lvl3pPr marL="1164653" indent="-232930" defTabSz="939810" eaLnBrk="0" hangingPunct="0">
              <a:spcBef>
                <a:spcPct val="30000"/>
              </a:spcBef>
              <a:defRPr sz="1200">
                <a:solidFill>
                  <a:schemeClr val="tx1"/>
                </a:solidFill>
                <a:latin typeface="Times New Roman" pitchFamily="18" charset="0"/>
                <a:ea typeface="MS PGothic" pitchFamily="34" charset="-128"/>
              </a:defRPr>
            </a:lvl3pPr>
            <a:lvl4pPr marL="1630513" indent="-232930" defTabSz="939810" eaLnBrk="0" hangingPunct="0">
              <a:spcBef>
                <a:spcPct val="30000"/>
              </a:spcBef>
              <a:defRPr sz="1200">
                <a:solidFill>
                  <a:schemeClr val="tx1"/>
                </a:solidFill>
                <a:latin typeface="Times New Roman" pitchFamily="18" charset="0"/>
                <a:ea typeface="MS PGothic" pitchFamily="34" charset="-128"/>
              </a:defRPr>
            </a:lvl4pPr>
            <a:lvl5pPr marL="2096375" indent="-232930" defTabSz="939810" eaLnBrk="0" hangingPunct="0">
              <a:spcBef>
                <a:spcPct val="30000"/>
              </a:spcBef>
              <a:defRPr sz="1200">
                <a:solidFill>
                  <a:schemeClr val="tx1"/>
                </a:solidFill>
                <a:latin typeface="Times New Roman" pitchFamily="18" charset="0"/>
                <a:ea typeface="MS PGothic" pitchFamily="34" charset="-128"/>
              </a:defRPr>
            </a:lvl5pPr>
            <a:lvl6pPr marL="256223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3028096"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93958"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959819" indent="-232930" defTabSz="939810"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8C4DA2D8-EBD3-4C15-9B2F-1FBAD39A1039}" type="slidenum">
              <a:rPr lang="en-US" altLang="en-US" smtClean="0">
                <a:solidFill>
                  <a:prstClr val="black"/>
                </a:solidFill>
              </a:rPr>
              <a:pPr>
                <a:spcBef>
                  <a:spcPct val="0"/>
                </a:spcBef>
              </a:pPr>
              <a:t>20</a:t>
            </a:fld>
            <a:endParaRPr lang="en-US" altLang="en-US">
              <a:solidFill>
                <a:prstClr val="black"/>
              </a:solidFill>
            </a:endParaRPr>
          </a:p>
        </p:txBody>
      </p:sp>
      <p:sp>
        <p:nvSpPr>
          <p:cNvPr id="49155" name="Rectangle 2"/>
          <p:cNvSpPr>
            <a:spLocks noGrp="1" noRot="1" noChangeAspect="1" noChangeArrowheads="1" noTextEdit="1"/>
          </p:cNvSpPr>
          <p:nvPr>
            <p:ph type="sldImg"/>
          </p:nvPr>
        </p:nvSpPr>
        <p:spPr>
          <a:xfrm>
            <a:off x="747713" y="1181100"/>
            <a:ext cx="5670550" cy="3189288"/>
          </a:xfrm>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0605725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ea typeface="MS PGothic" pitchFamily="34" charset="-128"/>
              </a:defRPr>
            </a:lvl1pPr>
            <a:lvl2pPr marL="742909" indent="-285734" defTabSz="922287" eaLnBrk="0" hangingPunct="0">
              <a:spcBef>
                <a:spcPct val="30000"/>
              </a:spcBef>
              <a:defRPr sz="1200">
                <a:solidFill>
                  <a:schemeClr val="tx1"/>
                </a:solidFill>
                <a:latin typeface="Times New Roman" pitchFamily="18" charset="0"/>
                <a:ea typeface="MS PGothic" pitchFamily="34" charset="-128"/>
              </a:defRPr>
            </a:lvl2pPr>
            <a:lvl3pPr marL="1142937" indent="-228587" defTabSz="922287" eaLnBrk="0" hangingPunct="0">
              <a:spcBef>
                <a:spcPct val="30000"/>
              </a:spcBef>
              <a:defRPr sz="1200">
                <a:solidFill>
                  <a:schemeClr val="tx1"/>
                </a:solidFill>
                <a:latin typeface="Times New Roman" pitchFamily="18" charset="0"/>
                <a:ea typeface="MS PGothic" pitchFamily="34" charset="-128"/>
              </a:defRPr>
            </a:lvl3pPr>
            <a:lvl4pPr marL="1600111" indent="-228587" defTabSz="922287" eaLnBrk="0" hangingPunct="0">
              <a:spcBef>
                <a:spcPct val="30000"/>
              </a:spcBef>
              <a:defRPr sz="1200">
                <a:solidFill>
                  <a:schemeClr val="tx1"/>
                </a:solidFill>
                <a:latin typeface="Times New Roman" pitchFamily="18" charset="0"/>
                <a:ea typeface="MS PGothic" pitchFamily="34" charset="-128"/>
              </a:defRPr>
            </a:lvl4pPr>
            <a:lvl5pPr marL="2057287" indent="-228587" defTabSz="922287" eaLnBrk="0" hangingPunct="0">
              <a:spcBef>
                <a:spcPct val="30000"/>
              </a:spcBef>
              <a:defRPr sz="1200">
                <a:solidFill>
                  <a:schemeClr val="tx1"/>
                </a:solidFill>
                <a:latin typeface="Times New Roman" pitchFamily="18" charset="0"/>
                <a:ea typeface="MS PGothic" pitchFamily="34" charset="-128"/>
              </a:defRPr>
            </a:lvl5pPr>
            <a:lvl6pPr marL="2514461"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2971635"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28811"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885985"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E616CD1D-289A-4E56-A0FB-151B82AF76C7}" type="slidenum">
              <a:rPr lang="en-US" altLang="en-US" smtClean="0"/>
              <a:pPr>
                <a:spcBef>
                  <a:spcPct val="0"/>
                </a:spcBef>
              </a:pPr>
              <a:t>21</a:t>
            </a:fld>
            <a:endParaRPr lang="en-US" altLang="en-US"/>
          </a:p>
        </p:txBody>
      </p:sp>
      <p:sp>
        <p:nvSpPr>
          <p:cNvPr id="50179" name="Rectangle 2"/>
          <p:cNvSpPr>
            <a:spLocks noGrp="1" noRot="1" noChangeAspect="1" noChangeArrowheads="1" noTextEdit="1"/>
          </p:cNvSpPr>
          <p:nvPr>
            <p:ph type="sldImg"/>
          </p:nvPr>
        </p:nvSpPr>
        <p:spPr>
          <a:xfrm>
            <a:off x="717550" y="1162050"/>
            <a:ext cx="5575300" cy="3136900"/>
          </a:xfrm>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505828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ea typeface="MS PGothic" pitchFamily="34" charset="-128"/>
              </a:defRPr>
            </a:lvl1pPr>
            <a:lvl2pPr marL="742909" indent="-285734" defTabSz="922287" eaLnBrk="0" hangingPunct="0">
              <a:spcBef>
                <a:spcPct val="30000"/>
              </a:spcBef>
              <a:defRPr sz="1200">
                <a:solidFill>
                  <a:schemeClr val="tx1"/>
                </a:solidFill>
                <a:latin typeface="Times New Roman" pitchFamily="18" charset="0"/>
                <a:ea typeface="MS PGothic" pitchFamily="34" charset="-128"/>
              </a:defRPr>
            </a:lvl2pPr>
            <a:lvl3pPr marL="1142937" indent="-228587" defTabSz="922287" eaLnBrk="0" hangingPunct="0">
              <a:spcBef>
                <a:spcPct val="30000"/>
              </a:spcBef>
              <a:defRPr sz="1200">
                <a:solidFill>
                  <a:schemeClr val="tx1"/>
                </a:solidFill>
                <a:latin typeface="Times New Roman" pitchFamily="18" charset="0"/>
                <a:ea typeface="MS PGothic" pitchFamily="34" charset="-128"/>
              </a:defRPr>
            </a:lvl3pPr>
            <a:lvl4pPr marL="1600111" indent="-228587" defTabSz="922287" eaLnBrk="0" hangingPunct="0">
              <a:spcBef>
                <a:spcPct val="30000"/>
              </a:spcBef>
              <a:defRPr sz="1200">
                <a:solidFill>
                  <a:schemeClr val="tx1"/>
                </a:solidFill>
                <a:latin typeface="Times New Roman" pitchFamily="18" charset="0"/>
                <a:ea typeface="MS PGothic" pitchFamily="34" charset="-128"/>
              </a:defRPr>
            </a:lvl4pPr>
            <a:lvl5pPr marL="2057287" indent="-228587" defTabSz="922287" eaLnBrk="0" hangingPunct="0">
              <a:spcBef>
                <a:spcPct val="30000"/>
              </a:spcBef>
              <a:defRPr sz="1200">
                <a:solidFill>
                  <a:schemeClr val="tx1"/>
                </a:solidFill>
                <a:latin typeface="Times New Roman" pitchFamily="18" charset="0"/>
                <a:ea typeface="MS PGothic" pitchFamily="34" charset="-128"/>
              </a:defRPr>
            </a:lvl5pPr>
            <a:lvl6pPr marL="2514461"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2971635"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28811"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885985"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621B6CC6-39E2-4B64-8115-5C1211B244C3}" type="slidenum">
              <a:rPr lang="en-US" altLang="en-US" smtClean="0"/>
              <a:pPr>
                <a:spcBef>
                  <a:spcPct val="0"/>
                </a:spcBef>
              </a:pPr>
              <a:t>22</a:t>
            </a:fld>
            <a:endParaRPr lang="en-US" altLang="en-US"/>
          </a:p>
        </p:txBody>
      </p:sp>
      <p:sp>
        <p:nvSpPr>
          <p:cNvPr id="51203" name="Rectangle 2"/>
          <p:cNvSpPr>
            <a:spLocks noGrp="1" noRot="1" noChangeAspect="1" noChangeArrowheads="1" noTextEdit="1"/>
          </p:cNvSpPr>
          <p:nvPr>
            <p:ph type="sldImg"/>
          </p:nvPr>
        </p:nvSpPr>
        <p:spPr>
          <a:xfrm>
            <a:off x="717550" y="1162050"/>
            <a:ext cx="5575300" cy="3136900"/>
          </a:xfrm>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4461531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ea typeface="MS PGothic" pitchFamily="34" charset="-128"/>
              </a:defRPr>
            </a:lvl1pPr>
            <a:lvl2pPr marL="742909" indent="-285734" defTabSz="922287" eaLnBrk="0" hangingPunct="0">
              <a:spcBef>
                <a:spcPct val="30000"/>
              </a:spcBef>
              <a:defRPr sz="1200">
                <a:solidFill>
                  <a:schemeClr val="tx1"/>
                </a:solidFill>
                <a:latin typeface="Times New Roman" pitchFamily="18" charset="0"/>
                <a:ea typeface="MS PGothic" pitchFamily="34" charset="-128"/>
              </a:defRPr>
            </a:lvl2pPr>
            <a:lvl3pPr marL="1142937" indent="-228587" defTabSz="922287" eaLnBrk="0" hangingPunct="0">
              <a:spcBef>
                <a:spcPct val="30000"/>
              </a:spcBef>
              <a:defRPr sz="1200">
                <a:solidFill>
                  <a:schemeClr val="tx1"/>
                </a:solidFill>
                <a:latin typeface="Times New Roman" pitchFamily="18" charset="0"/>
                <a:ea typeface="MS PGothic" pitchFamily="34" charset="-128"/>
              </a:defRPr>
            </a:lvl3pPr>
            <a:lvl4pPr marL="1600111" indent="-228587" defTabSz="922287" eaLnBrk="0" hangingPunct="0">
              <a:spcBef>
                <a:spcPct val="30000"/>
              </a:spcBef>
              <a:defRPr sz="1200">
                <a:solidFill>
                  <a:schemeClr val="tx1"/>
                </a:solidFill>
                <a:latin typeface="Times New Roman" pitchFamily="18" charset="0"/>
                <a:ea typeface="MS PGothic" pitchFamily="34" charset="-128"/>
              </a:defRPr>
            </a:lvl4pPr>
            <a:lvl5pPr marL="2057287" indent="-228587" defTabSz="922287" eaLnBrk="0" hangingPunct="0">
              <a:spcBef>
                <a:spcPct val="30000"/>
              </a:spcBef>
              <a:defRPr sz="1200">
                <a:solidFill>
                  <a:schemeClr val="tx1"/>
                </a:solidFill>
                <a:latin typeface="Times New Roman" pitchFamily="18" charset="0"/>
                <a:ea typeface="MS PGothic" pitchFamily="34" charset="-128"/>
              </a:defRPr>
            </a:lvl5pPr>
            <a:lvl6pPr marL="2514461"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6pPr>
            <a:lvl7pPr marL="2971635"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7pPr>
            <a:lvl8pPr marL="3428811"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8pPr>
            <a:lvl9pPr marL="3885985" indent="-228587" defTabSz="922287" eaLnBrk="0" fontAlgn="base" hangingPunct="0">
              <a:spcBef>
                <a:spcPct val="30000"/>
              </a:spcBef>
              <a:spcAft>
                <a:spcPct val="0"/>
              </a:spcAft>
              <a:defRPr sz="1200">
                <a:solidFill>
                  <a:schemeClr val="tx1"/>
                </a:solidFill>
                <a:latin typeface="Times New Roman" pitchFamily="18" charset="0"/>
                <a:ea typeface="MS PGothic" pitchFamily="34" charset="-128"/>
              </a:defRPr>
            </a:lvl9pPr>
          </a:lstStyle>
          <a:p>
            <a:pPr>
              <a:spcBef>
                <a:spcPct val="0"/>
              </a:spcBef>
            </a:pPr>
            <a:fld id="{398634A4-A9CC-48D0-8B3C-C622AF09CC3D}" type="slidenum">
              <a:rPr lang="en-US" altLang="en-US" smtClean="0"/>
              <a:pPr>
                <a:spcBef>
                  <a:spcPct val="0"/>
                </a:spcBef>
              </a:pPr>
              <a:t>23</a:t>
            </a:fld>
            <a:endParaRPr lang="en-US" altLang="en-US"/>
          </a:p>
        </p:txBody>
      </p:sp>
      <p:sp>
        <p:nvSpPr>
          <p:cNvPr id="48131" name="Rectangle 2"/>
          <p:cNvSpPr>
            <a:spLocks noGrp="1" noRot="1" noChangeAspect="1" noChangeArrowheads="1" noTextEdit="1"/>
          </p:cNvSpPr>
          <p:nvPr>
            <p:ph type="sldImg"/>
          </p:nvPr>
        </p:nvSpPr>
        <p:spPr>
          <a:xfrm>
            <a:off x="717550" y="1162050"/>
            <a:ext cx="5575300" cy="3136900"/>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0149957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4500" y="2343945"/>
            <a:ext cx="11303000" cy="1034256"/>
          </a:xfrm>
        </p:spPr>
        <p:txBody>
          <a:bodyPr anchor="b">
            <a:noAutofit/>
          </a:bodyPr>
          <a:lstStyle>
            <a:lvl1pPr algn="ctr">
              <a:lnSpc>
                <a:spcPct val="85000"/>
              </a:lnSpc>
              <a:defRPr sz="6600" b="1" spc="-51" baseline="0">
                <a:solidFill>
                  <a:schemeClr val="tx1"/>
                </a:solidFill>
              </a:defRPr>
            </a:lvl1pPr>
          </a:lstStyle>
          <a:p>
            <a:r>
              <a:rPr lang="en-US" dirty="0"/>
              <a:t>Click to edit Master title style</a:t>
            </a:r>
          </a:p>
        </p:txBody>
      </p:sp>
      <p:sp>
        <p:nvSpPr>
          <p:cNvPr id="3" name="Subtitle 2"/>
          <p:cNvSpPr>
            <a:spLocks noGrp="1"/>
          </p:cNvSpPr>
          <p:nvPr>
            <p:ph type="subTitle" idx="1" hasCustomPrompt="1"/>
          </p:nvPr>
        </p:nvSpPr>
        <p:spPr>
          <a:xfrm>
            <a:off x="1095871" y="3529775"/>
            <a:ext cx="10058400" cy="782070"/>
          </a:xfrm>
        </p:spPr>
        <p:txBody>
          <a:bodyPr lIns="91436" rIns="91436">
            <a:normAutofit/>
          </a:bodyPr>
          <a:lstStyle>
            <a:lvl1pPr marL="0" indent="0" algn="ctr">
              <a:buNone/>
              <a:defRPr sz="2400" b="1" cap="none" spc="200" baseline="0">
                <a:solidFill>
                  <a:schemeClr val="tx1"/>
                </a:solidFill>
                <a:latin typeface="Berlin Sans FB Demi" panose="020E0802020502020306" pitchFamily="34" charset="0"/>
              </a:defRPr>
            </a:lvl1pPr>
            <a:lvl2pPr marL="457178" indent="0" algn="ctr">
              <a:buNone/>
              <a:defRPr sz="24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r>
              <a:rPr lang="en-US" dirty="0"/>
              <a:t>Click to edit master subtitle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8" y="0"/>
            <a:ext cx="12244106" cy="2281473"/>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18" y="4463419"/>
            <a:ext cx="12192000" cy="2396150"/>
          </a:xfrm>
          <a:prstGeom prst="rect">
            <a:avLst/>
          </a:prstGeom>
        </p:spPr>
      </p:pic>
    </p:spTree>
    <p:extLst>
      <p:ext uri="{BB962C8B-B14F-4D97-AF65-F5344CB8AC3E}">
        <p14:creationId xmlns:p14="http://schemas.microsoft.com/office/powerpoint/2010/main" val="2623803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0985" y="221676"/>
            <a:ext cx="11369963" cy="738909"/>
          </a:xfrm>
        </p:spPr>
        <p:txBody>
          <a:bodyPr/>
          <a:lstStyle>
            <a:lvl1pPr marL="0">
              <a:defRPr b="1"/>
            </a:lvl1pPr>
          </a:lstStyle>
          <a:p>
            <a:r>
              <a:rPr lang="en-US" dirty="0"/>
              <a:t>Click to edit Master title style</a:t>
            </a:r>
          </a:p>
        </p:txBody>
      </p:sp>
      <p:sp>
        <p:nvSpPr>
          <p:cNvPr id="3" name="Content Placeholder 2"/>
          <p:cNvSpPr>
            <a:spLocks noGrp="1"/>
          </p:cNvSpPr>
          <p:nvPr>
            <p:ph idx="1"/>
          </p:nvPr>
        </p:nvSpPr>
        <p:spPr>
          <a:xfrm>
            <a:off x="350983" y="1219200"/>
            <a:ext cx="11406908" cy="5384800"/>
          </a:xfrm>
        </p:spPr>
        <p:txBody>
          <a:bodyPr/>
          <a:lstStyle>
            <a:lvl1pPr marL="461951" indent="-461951">
              <a:defRPr sz="2800"/>
            </a:lvl1pPr>
            <a:lvl2pPr marL="738170" indent="-538149">
              <a:defRPr sz="2800"/>
            </a:lvl2pPr>
            <a:lvl3pPr marL="858817" indent="-474651">
              <a:defRPr sz="2800"/>
            </a:lvl3pPr>
            <a:lvl4pPr marL="1144559" indent="-522275">
              <a:defRPr sz="2800"/>
            </a:lvl4pPr>
            <a:lvl5pPr marL="1376328" indent="-507987">
              <a:defRPr sz="2800"/>
            </a:lvl5pPr>
          </a:lstStyle>
          <a:p>
            <a:pPr lvl="0"/>
            <a:r>
              <a:rPr lang="en-US" dirty="0"/>
              <a:t>Click to 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spTree>
    <p:extLst>
      <p:ext uri="{BB962C8B-B14F-4D97-AF65-F5344CB8AC3E}">
        <p14:creationId xmlns:p14="http://schemas.microsoft.com/office/powerpoint/2010/main" val="589979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381000"/>
            <a:ext cx="11074400" cy="609600"/>
          </a:xfrm>
        </p:spPr>
        <p:txBody>
          <a:bodyPr/>
          <a:lstStyle>
            <a:lvl1pPr>
              <a:defRPr b="0"/>
            </a:lvl1pPr>
          </a:lstStyle>
          <a:p>
            <a:r>
              <a:rPr lang="en-US" dirty="0"/>
              <a:t>Click to edit Master title style</a:t>
            </a:r>
          </a:p>
        </p:txBody>
      </p:sp>
      <p:sp>
        <p:nvSpPr>
          <p:cNvPr id="3" name="Text Placeholder 2"/>
          <p:cNvSpPr>
            <a:spLocks noGrp="1"/>
          </p:cNvSpPr>
          <p:nvPr>
            <p:ph type="body" sz="half" idx="1"/>
          </p:nvPr>
        </p:nvSpPr>
        <p:spPr>
          <a:xfrm>
            <a:off x="508000" y="1371600"/>
            <a:ext cx="5486400" cy="5105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371600"/>
            <a:ext cx="54864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4058152"/>
      </p:ext>
    </p:extLst>
  </p:cSld>
  <p:clrMapOvr>
    <a:masterClrMapping/>
  </p:clrMapOvr>
  <p:transition spd="med">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0985" y="286607"/>
            <a:ext cx="11369963" cy="673979"/>
          </a:xfrm>
          <a:prstGeom prst="rect">
            <a:avLst/>
          </a:prstGeom>
        </p:spPr>
        <p:txBody>
          <a:bodyPr vert="horz" lIns="91436" tIns="45718" rIns="91436" bIns="45718" rtlCol="0" anchor="b">
            <a:normAutofit/>
          </a:bodyPr>
          <a:lstStyle/>
          <a:p>
            <a:r>
              <a:rPr lang="en-US" dirty="0"/>
              <a:t>Click to edit Master title style</a:t>
            </a:r>
          </a:p>
        </p:txBody>
      </p:sp>
      <p:sp>
        <p:nvSpPr>
          <p:cNvPr id="3" name="Text Placeholder 2"/>
          <p:cNvSpPr>
            <a:spLocks noGrp="1"/>
          </p:cNvSpPr>
          <p:nvPr>
            <p:ph type="body" idx="1"/>
          </p:nvPr>
        </p:nvSpPr>
        <p:spPr>
          <a:xfrm>
            <a:off x="350983" y="1219203"/>
            <a:ext cx="11406908" cy="5209309"/>
          </a:xfrm>
          <a:prstGeom prst="rect">
            <a:avLst/>
          </a:prstGeom>
        </p:spPr>
        <p:txBody>
          <a:bodyPr vert="horz" lIns="91436" tIns="45718" rIns="91436" bIns="45718" rtlCol="0">
            <a:no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p>
        </p:txBody>
      </p:sp>
      <p:cxnSp>
        <p:nvCxnSpPr>
          <p:cNvPr id="10" name="Straight Connector 9"/>
          <p:cNvCxnSpPr/>
          <p:nvPr/>
        </p:nvCxnSpPr>
        <p:spPr>
          <a:xfrm>
            <a:off x="591131" y="1100537"/>
            <a:ext cx="109728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5"/>
          <p:cNvSpPr txBox="1">
            <a:spLocks/>
          </p:cNvSpPr>
          <p:nvPr userDrawn="1"/>
        </p:nvSpPr>
        <p:spPr>
          <a:xfrm>
            <a:off x="0" y="6565686"/>
            <a:ext cx="1066800" cy="273844"/>
          </a:xfrm>
          <a:prstGeom prst="rect">
            <a:avLst/>
          </a:prstGeom>
        </p:spPr>
        <p:txBody>
          <a:bodyPr lIns="91436" tIns="45718" rIns="91436" bIns="45718"/>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F4F2234-F0AC-4578-99CD-21C2B01FA7D4}" type="slidenum">
              <a:rPr lang="en-US" sz="1600" smtClean="0">
                <a:solidFill>
                  <a:srgbClr val="000000"/>
                </a:solidFill>
              </a:rPr>
              <a:pPr/>
              <a:t>‹#›</a:t>
            </a:fld>
            <a:endParaRPr lang="en-US" sz="1600" dirty="0">
              <a:solidFill>
                <a:srgbClr val="000000"/>
              </a:solidFill>
            </a:endParaRPr>
          </a:p>
        </p:txBody>
      </p:sp>
    </p:spTree>
    <p:extLst>
      <p:ext uri="{BB962C8B-B14F-4D97-AF65-F5344CB8AC3E}">
        <p14:creationId xmlns:p14="http://schemas.microsoft.com/office/powerpoint/2010/main" val="1618742692"/>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9" r:id="rId3"/>
  </p:sldLayoutIdLst>
  <p:hf hdr="0" ftr="0" dt="0"/>
  <p:txStyles>
    <p:title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p:titleStyle>
    <p:body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174173"/>
          </a:xfrm>
          <a:noFill/>
        </p:spPr>
        <p:txBody>
          <a:bodyPr vert="horz" lIns="92075" tIns="46038" rIns="92075" bIns="46038" rtlCol="0" anchor="ctr">
            <a:noAutofit/>
          </a:bodyPr>
          <a:lstStyle/>
          <a:p>
            <a:pPr eaLnBrk="1" hangingPunct="1"/>
            <a:r>
              <a:rPr lang="en-US" altLang="en-US" sz="4000" b="1" dirty="0"/>
              <a:t>Pattern Mining: Basic Concepts and Methods</a:t>
            </a:r>
          </a:p>
        </p:txBody>
      </p:sp>
      <p:sp>
        <p:nvSpPr>
          <p:cNvPr id="5124" name="Rectangle 3"/>
          <p:cNvSpPr>
            <a:spLocks noGrp="1" noChangeArrowheads="1"/>
          </p:cNvSpPr>
          <p:nvPr>
            <p:ph type="body" sz="half" idx="1"/>
          </p:nvPr>
        </p:nvSpPr>
        <p:spPr>
          <a:xfrm>
            <a:off x="737380" y="1558635"/>
            <a:ext cx="10717240" cy="4637809"/>
          </a:xfrm>
          <a:noFill/>
        </p:spPr>
        <p:txBody>
          <a:bodyPr vert="horz" lIns="92075" tIns="46038" rIns="92075" bIns="46038" rtlCol="0">
            <a:noAutofit/>
          </a:bodyPr>
          <a:lstStyle/>
          <a:p>
            <a:pPr marL="457200" indent="-457200">
              <a:lnSpc>
                <a:spcPct val="250000"/>
              </a:lnSpc>
              <a:buSzTx/>
            </a:pPr>
            <a:r>
              <a:rPr lang="zh-CN" altLang="en-US" sz="2800" b="1" dirty="0"/>
              <a:t>频繁模式挖掘与关联规则</a:t>
            </a:r>
          </a:p>
          <a:p>
            <a:pPr marL="457200" indent="-457200">
              <a:lnSpc>
                <a:spcPct val="250000"/>
              </a:lnSpc>
              <a:buSzTx/>
            </a:pPr>
            <a:r>
              <a:rPr lang="en-US" sz="2800" b="1" i="0" u="none" strike="noStrike" baseline="0" dirty="0"/>
              <a:t>Frequent Itemset Mining Methods </a:t>
            </a:r>
          </a:p>
          <a:p>
            <a:pPr marL="457200" indent="-457200">
              <a:lnSpc>
                <a:spcPct val="250000"/>
              </a:lnSpc>
              <a:buSzTx/>
            </a:pPr>
            <a:r>
              <a:rPr lang="en-US" sz="2800" b="1" i="0" u="none" strike="noStrike" baseline="0" dirty="0"/>
              <a:t>Which Patterns Are Interesting?—Pattern Evaluation Methods </a:t>
            </a:r>
          </a:p>
          <a:p>
            <a:pPr marL="457200" indent="-457200">
              <a:lnSpc>
                <a:spcPct val="250000"/>
              </a:lnSpc>
              <a:buSzTx/>
            </a:pPr>
            <a:r>
              <a:rPr lang="en-US" altLang="en-US" sz="2800" b="1" dirty="0"/>
              <a:t>Summary</a:t>
            </a:r>
          </a:p>
        </p:txBody>
      </p:sp>
    </p:spTree>
    <p:extLst>
      <p:ext uri="{BB962C8B-B14F-4D97-AF65-F5344CB8AC3E}">
        <p14:creationId xmlns:p14="http://schemas.microsoft.com/office/powerpoint/2010/main" val="10792899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D0947-E81E-49E5-90EB-C470D942586C}"/>
              </a:ext>
            </a:extLst>
          </p:cNvPr>
          <p:cNvSpPr>
            <a:spLocks noGrp="1"/>
          </p:cNvSpPr>
          <p:nvPr>
            <p:ph type="title"/>
          </p:nvPr>
        </p:nvSpPr>
        <p:spPr/>
        <p:txBody>
          <a:bodyPr/>
          <a:lstStyle/>
          <a:p>
            <a:r>
              <a:rPr lang="zh-CN" altLang="en-US" dirty="0"/>
              <a:t>频繁模式挖掘与关联规则是什么？</a:t>
            </a:r>
            <a:endParaRPr lang="en-US" dirty="0"/>
          </a:p>
        </p:txBody>
      </p:sp>
      <p:sp>
        <p:nvSpPr>
          <p:cNvPr id="3" name="Content Placeholder 2">
            <a:extLst>
              <a:ext uri="{FF2B5EF4-FFF2-40B4-BE49-F238E27FC236}">
                <a16:creationId xmlns:a16="http://schemas.microsoft.com/office/drawing/2014/main" id="{A2376510-EAD4-4799-8D5D-01B5AECC089D}"/>
              </a:ext>
            </a:extLst>
          </p:cNvPr>
          <p:cNvSpPr>
            <a:spLocks noGrp="1"/>
          </p:cNvSpPr>
          <p:nvPr>
            <p:ph idx="1"/>
          </p:nvPr>
        </p:nvSpPr>
        <p:spPr/>
        <p:txBody>
          <a:bodyPr vert="horz" lIns="91436" tIns="45718" rIns="91436" bIns="45718" rtlCol="0" anchor="t">
            <a:noAutofit/>
          </a:bodyPr>
          <a:lstStyle/>
          <a:p>
            <a:pPr marL="200025" lvl="1" indent="0">
              <a:spcAft>
                <a:spcPts val="200"/>
              </a:spcAft>
              <a:buNone/>
            </a:pPr>
            <a:r>
              <a:rPr lang="zh-CN" altLang="en-US" dirty="0"/>
              <a:t>示例 ：购物篮分析假设作为一家零售公司的经理，你想进一步了解顾客的购买习惯。具体来说，你想知道：“顾客在一次购物中通常倾向于购买哪些商品组合？”为了回答这个问题，可以对你商店的客户交易数据进行购物篮分析。随后，你可以利用这些结果来选择营销策略并帮助创建新的商品目录。例如，购物篮分析可以帮助你设计不同的商店布局：</a:t>
            </a:r>
            <a:r>
              <a:rPr lang="zh-CN" altLang="en-US" b="1" dirty="0"/>
              <a:t>策略一：</a:t>
            </a:r>
            <a:r>
              <a:rPr lang="zh-CN" altLang="en-US" dirty="0"/>
              <a:t> 将经常一起购买的物品放在相邻位置，以进一步鼓励这些物品的联合销售。如果购买计算机的顾客通常也会同时购买杀毒软件，那么将硬件展台靠近软件展台摆放可能有助于增加两者的销量。</a:t>
            </a:r>
            <a:r>
              <a:rPr lang="zh-CN" altLang="en-US" b="1" dirty="0"/>
              <a:t>策略二：</a:t>
            </a:r>
            <a:r>
              <a:rPr lang="zh-CN" altLang="en-US" dirty="0"/>
              <a:t> 将硬件和软件放在商店的两端，可能会诱使购买这些物品的顾客在走动途中顺便购买其他商品。例如，在决定购买一台昂贵的电脑后，顾客在前往软件展台购买杀毒软件的途中可能会看到正在销售的安保系统，并决定也购买一套家庭安保系统。</a:t>
            </a:r>
            <a:endParaRPr lang="en-US" dirty="0"/>
          </a:p>
        </p:txBody>
      </p:sp>
    </p:spTree>
    <p:extLst>
      <p:ext uri="{BB962C8B-B14F-4D97-AF65-F5344CB8AC3E}">
        <p14:creationId xmlns:p14="http://schemas.microsoft.com/office/powerpoint/2010/main" val="227974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zh-CN" altLang="en-US" dirty="0"/>
              <a:t>频繁模式挖掘与关联规则是什么？</a:t>
            </a:r>
            <a:endParaRPr lang="en-US" altLang="en-US" dirty="0"/>
          </a:p>
        </p:txBody>
      </p:sp>
      <p:sp>
        <p:nvSpPr>
          <p:cNvPr id="4100" name="Rectangle 3"/>
          <p:cNvSpPr>
            <a:spLocks noGrp="1" noChangeArrowheads="1"/>
          </p:cNvSpPr>
          <p:nvPr>
            <p:ph idx="1"/>
          </p:nvPr>
        </p:nvSpPr>
        <p:spPr>
          <a:xfrm>
            <a:off x="406401" y="1179088"/>
            <a:ext cx="10749279" cy="5450312"/>
          </a:xfrm>
        </p:spPr>
        <p:txBody>
          <a:bodyPr vert="horz" lIns="91436" tIns="45718" rIns="91436" bIns="45718" rtlCol="0" anchor="t">
            <a:noAutofit/>
          </a:bodyPr>
          <a:lstStyle/>
          <a:p>
            <a:pPr marL="200025" lvl="1" indent="0">
              <a:spcAft>
                <a:spcPts val="200"/>
              </a:spcAft>
              <a:buNone/>
            </a:pPr>
            <a:r>
              <a:rPr lang="zh-CN" altLang="en-US" dirty="0">
                <a:latin typeface="Calibri" pitchFamily="34" charset="0"/>
                <a:cs typeface="Calibri"/>
              </a:rPr>
              <a:t>此外，购物篮分析还可以帮助零售商计划哪些商品可以降价促销。如果顾客倾向于同时购买计算机和打印机，那么降低打印机的价格可能会带动打印机以及计算机的销售。如果我们把商店里所有可用的商品看作一个集合（全集），那么每件商品都可以用一个布尔变量（</a:t>
            </a:r>
            <a:r>
              <a:rPr lang="en-US" altLang="zh-CN" dirty="0">
                <a:latin typeface="Calibri" pitchFamily="34" charset="0"/>
                <a:cs typeface="Calibri"/>
              </a:rPr>
              <a:t>Boolean variable</a:t>
            </a:r>
            <a:r>
              <a:rPr lang="zh-CN" altLang="en-US" dirty="0">
                <a:latin typeface="Calibri" pitchFamily="34" charset="0"/>
                <a:cs typeface="Calibri"/>
              </a:rPr>
              <a:t>）来表示该商品是否存在（即是否被购买）。每个购物篮则可以表示为一个由这些变量赋值组成的布尔向量（</a:t>
            </a:r>
            <a:r>
              <a:rPr lang="en-US" altLang="zh-CN" dirty="0">
                <a:latin typeface="Calibri" pitchFamily="34" charset="0"/>
                <a:cs typeface="Calibri"/>
              </a:rPr>
              <a:t>Boolean vector</a:t>
            </a:r>
            <a:r>
              <a:rPr lang="zh-CN" altLang="en-US" dirty="0">
                <a:latin typeface="Calibri" pitchFamily="34" charset="0"/>
                <a:cs typeface="Calibri"/>
              </a:rPr>
              <a:t>）。通过分析这些布尔向量，可以提取出反映频繁关联或共同购买商品的购买模式。这些模式可以用</a:t>
            </a:r>
            <a:r>
              <a:rPr lang="zh-CN" altLang="en-US" b="1" dirty="0">
                <a:latin typeface="Calibri" pitchFamily="34" charset="0"/>
                <a:cs typeface="Calibri"/>
              </a:rPr>
              <a:t>关联规则（</a:t>
            </a:r>
            <a:r>
              <a:rPr lang="en-US" altLang="zh-CN" b="1" dirty="0">
                <a:latin typeface="Calibri" pitchFamily="34" charset="0"/>
                <a:cs typeface="Calibri"/>
              </a:rPr>
              <a:t>Association rules</a:t>
            </a:r>
            <a:r>
              <a:rPr lang="zh-CN" altLang="en-US" b="1" dirty="0">
                <a:latin typeface="Calibri" pitchFamily="34" charset="0"/>
                <a:cs typeface="Calibri"/>
              </a:rPr>
              <a:t>）</a:t>
            </a:r>
            <a:r>
              <a:rPr lang="zh-CN" altLang="en-US" dirty="0">
                <a:latin typeface="Calibri" pitchFamily="34" charset="0"/>
                <a:cs typeface="Calibri"/>
              </a:rPr>
              <a:t>的形式表示。例如，购买计算机的顾客往往也会同时购买杀毒软件，这一信息可以用如下关联规则表示：</a:t>
            </a:r>
            <a:r>
              <a:rPr lang="en-US" altLang="zh-CN" dirty="0"/>
              <a:t>Computer → Antivirus Software</a:t>
            </a:r>
            <a:br>
              <a:rPr lang="en-US" altLang="zh-CN" dirty="0"/>
            </a:br>
            <a:r>
              <a:rPr lang="zh-CN" altLang="en-US" dirty="0"/>
              <a:t>关联规则挖掘的目标，不是单纯统计某个商品卖得多，而是发现“项与项之间的关系”。</a:t>
            </a:r>
            <a:endParaRPr lang="en-US" altLang="en-US" dirty="0">
              <a:latin typeface="Calibri" pitchFamily="34" charset="0"/>
              <a:cs typeface="Calibri"/>
            </a:endParaRPr>
          </a:p>
        </p:txBody>
      </p:sp>
    </p:spTree>
    <p:extLst>
      <p:ext uri="{BB962C8B-B14F-4D97-AF65-F5344CB8AC3E}">
        <p14:creationId xmlns:p14="http://schemas.microsoft.com/office/powerpoint/2010/main" val="3710900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B6FEA-C94B-4E39-BD18-BFF994DF209A}"/>
              </a:ext>
            </a:extLst>
          </p:cNvPr>
          <p:cNvSpPr>
            <a:spLocks noGrp="1"/>
          </p:cNvSpPr>
          <p:nvPr>
            <p:ph type="title"/>
          </p:nvPr>
        </p:nvSpPr>
        <p:spPr/>
        <p:txBody>
          <a:bodyPr/>
          <a:lstStyle/>
          <a:p>
            <a:r>
              <a:rPr lang="en-US" dirty="0"/>
              <a:t>Basic Concepts: Transactional Database</a:t>
            </a:r>
          </a:p>
        </p:txBody>
      </p:sp>
      <p:sp>
        <p:nvSpPr>
          <p:cNvPr id="3" name="Content Placeholder 2">
            <a:extLst>
              <a:ext uri="{FF2B5EF4-FFF2-40B4-BE49-F238E27FC236}">
                <a16:creationId xmlns:a16="http://schemas.microsoft.com/office/drawing/2014/main" id="{8F96C053-52D5-4087-8577-5EE4007B1D9E}"/>
              </a:ext>
            </a:extLst>
          </p:cNvPr>
          <p:cNvSpPr>
            <a:spLocks noGrp="1"/>
          </p:cNvSpPr>
          <p:nvPr>
            <p:ph idx="1"/>
          </p:nvPr>
        </p:nvSpPr>
        <p:spPr/>
        <p:txBody>
          <a:bodyPr vert="horz" lIns="91436" tIns="45718" rIns="91436" bIns="45718" rtlCol="0" anchor="t">
            <a:noAutofit/>
          </a:bodyPr>
          <a:lstStyle/>
          <a:p>
            <a:pPr marL="461645" indent="-461645"/>
            <a:r>
              <a:rPr lang="zh-CN" altLang="en-US" dirty="0">
                <a:cs typeface="Calibri"/>
              </a:rPr>
              <a:t>事务型数据库</a:t>
            </a:r>
            <a:r>
              <a:rPr lang="en-US" dirty="0">
                <a:cs typeface="Calibri"/>
              </a:rPr>
              <a:t>(TDB)</a:t>
            </a:r>
          </a:p>
          <a:p>
            <a:pPr marL="737870" lvl="1" indent="-537845"/>
            <a:r>
              <a:rPr lang="zh-CN" altLang="en-US" dirty="0"/>
              <a:t>每个事务都与一个称为</a:t>
            </a:r>
            <a:r>
              <a:rPr lang="en-US" altLang="zh-CN" dirty="0"/>
              <a:t>TID</a:t>
            </a:r>
            <a:r>
              <a:rPr lang="zh-CN" altLang="en-US" dirty="0"/>
              <a:t>的标识符相关联。</a:t>
            </a:r>
            <a:endParaRPr lang="en-US" dirty="0">
              <a:cs typeface="Calibri"/>
            </a:endParaRPr>
          </a:p>
          <a:p>
            <a:pPr marL="737870" lvl="1" indent="-537845"/>
            <a:r>
              <a:rPr lang="zh-CN" altLang="en-US" dirty="0">
                <a:cs typeface="Calibri"/>
              </a:rPr>
              <a:t>也可能与所售出的每个商品相关联有数量信息。</a:t>
            </a:r>
            <a:endParaRPr lang="en-US" dirty="0">
              <a:cs typeface="Calibri"/>
            </a:endParaRPr>
          </a:p>
          <a:p>
            <a:pPr marL="737870" lvl="1" indent="-537845"/>
            <a:endParaRPr lang="en-US" dirty="0">
              <a:cs typeface="Calibri"/>
            </a:endParaRPr>
          </a:p>
          <a:p>
            <a:pPr marL="737870" lvl="1" indent="-537845"/>
            <a:endParaRPr lang="en-US" dirty="0">
              <a:cs typeface="Calibri"/>
            </a:endParaRPr>
          </a:p>
          <a:p>
            <a:pPr marL="737870" lvl="1" indent="-537845"/>
            <a:endParaRPr lang="en-US" dirty="0">
              <a:cs typeface="Calibri"/>
            </a:endParaRPr>
          </a:p>
          <a:p>
            <a:pPr marL="737870" lvl="1" indent="-537845"/>
            <a:endParaRPr lang="en-US" dirty="0">
              <a:cs typeface="Calibri"/>
            </a:endParaRPr>
          </a:p>
          <a:p>
            <a:pPr marL="737870" lvl="1" indent="-537845"/>
            <a:endParaRPr lang="en-US" dirty="0">
              <a:cs typeface="Calibri"/>
            </a:endParaRPr>
          </a:p>
        </p:txBody>
      </p:sp>
      <p:graphicFrame>
        <p:nvGraphicFramePr>
          <p:cNvPr id="5" name="Group 44">
            <a:extLst>
              <a:ext uri="{FF2B5EF4-FFF2-40B4-BE49-F238E27FC236}">
                <a16:creationId xmlns:a16="http://schemas.microsoft.com/office/drawing/2014/main" id="{720C2449-7498-4193-9E99-67DCA2F07D26}"/>
              </a:ext>
            </a:extLst>
          </p:cNvPr>
          <p:cNvGraphicFramePr>
            <a:graphicFrameLocks noGrp="1"/>
          </p:cNvGraphicFramePr>
          <p:nvPr>
            <p:extLst>
              <p:ext uri="{D42A27DB-BD31-4B8C-83A1-F6EECF244321}">
                <p14:modId xmlns:p14="http://schemas.microsoft.com/office/powerpoint/2010/main" val="3657488701"/>
              </p:ext>
            </p:extLst>
          </p:nvPr>
        </p:nvGraphicFramePr>
        <p:xfrm>
          <a:off x="3445166" y="3403554"/>
          <a:ext cx="5181600" cy="2193996"/>
        </p:xfrm>
        <a:graphic>
          <a:graphicData uri="http://schemas.openxmlformats.org/drawingml/2006/table">
            <a:tbl>
              <a:tblPr/>
              <a:tblGrid>
                <a:gridCol w="711200">
                  <a:extLst>
                    <a:ext uri="{9D8B030D-6E8A-4147-A177-3AD203B41FA5}">
                      <a16:colId xmlns:a16="http://schemas.microsoft.com/office/drawing/2014/main" val="20000"/>
                    </a:ext>
                  </a:extLst>
                </a:gridCol>
                <a:gridCol w="4470400">
                  <a:extLst>
                    <a:ext uri="{9D8B030D-6E8A-4147-A177-3AD203B41FA5}">
                      <a16:colId xmlns:a16="http://schemas.microsoft.com/office/drawing/2014/main" val="20001"/>
                    </a:ext>
                  </a:extLst>
                </a:gridCol>
              </a:tblGrid>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dirty="0" err="1">
                          <a:ln>
                            <a:noFill/>
                          </a:ln>
                          <a:solidFill>
                            <a:schemeClr val="tx1"/>
                          </a:solidFill>
                          <a:effectLst/>
                          <a:latin typeface="Calibri" panose="020F0502020204030204" pitchFamily="34" charset="0"/>
                        </a:rPr>
                        <a:t>Tid</a:t>
                      </a:r>
                      <a:endParaRPr kumimoji="0" lang="en-US" sz="1800" b="1"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dirty="0">
                          <a:ln>
                            <a:noFill/>
                          </a:ln>
                          <a:solidFill>
                            <a:schemeClr val="tx1"/>
                          </a:solidFill>
                          <a:effectLst/>
                          <a:latin typeface="Calibri" panose="020F0502020204030204" pitchFamily="34" charset="0"/>
                        </a:rPr>
                        <a:t>Items bought</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1</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FF0000"/>
                          </a:solidFill>
                          <a:effectLst/>
                          <a:latin typeface="Calibri" panose="020F0502020204030204" pitchFamily="34" charset="0"/>
                        </a:rPr>
                        <a:t>Beer,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BD582C"/>
                          </a:solidFill>
                          <a:effectLst/>
                          <a:latin typeface="Calibri" panose="020F0502020204030204" pitchFamily="34" charset="0"/>
                        </a:rPr>
                        <a:t>Nuts</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00CC"/>
                          </a:solidFill>
                          <a:effectLst/>
                          <a:latin typeface="Calibri" panose="020F0502020204030204" pitchFamily="34" charset="0"/>
                        </a:rPr>
                        <a:t>Diaper</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2</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FF0000"/>
                          </a:solidFill>
                          <a:effectLst/>
                          <a:latin typeface="Calibri" panose="020F0502020204030204" pitchFamily="34" charset="0"/>
                        </a:rPr>
                        <a:t>Beer</a:t>
                      </a:r>
                      <a:r>
                        <a:rPr kumimoji="0" lang="en-US" sz="1800" b="0" i="0" u="none" strike="noStrike" cap="none" normalizeH="0" baseline="0" dirty="0">
                          <a:ln>
                            <a:noFill/>
                          </a:ln>
                          <a:solidFill>
                            <a:schemeClr val="tx1"/>
                          </a:solidFill>
                          <a:effectLst/>
                          <a:latin typeface="Calibri" panose="020F0502020204030204" pitchFamily="34" charset="0"/>
                        </a:rPr>
                        <a:t>, Coffee, </a:t>
                      </a:r>
                      <a:r>
                        <a:rPr kumimoji="0" lang="en-US" sz="1800" b="0" i="0" u="none" strike="noStrike" cap="none" normalizeH="0" baseline="0" dirty="0">
                          <a:ln>
                            <a:noFill/>
                          </a:ln>
                          <a:solidFill>
                            <a:srgbClr val="0000CC"/>
                          </a:solidFill>
                          <a:effectLst/>
                          <a:latin typeface="Calibri" panose="020F0502020204030204" pitchFamily="34" charset="0"/>
                        </a:rPr>
                        <a:t>Diaper</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3</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FF0000"/>
                          </a:solidFill>
                          <a:effectLst/>
                          <a:latin typeface="Calibri" panose="020F0502020204030204" pitchFamily="34" charset="0"/>
                        </a:rPr>
                        <a:t>Beer,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00CC"/>
                          </a:solidFill>
                          <a:effectLst/>
                          <a:latin typeface="Calibri" panose="020F0502020204030204" pitchFamily="34" charset="0"/>
                        </a:rPr>
                        <a:t>Diaper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B050"/>
                          </a:solidFill>
                          <a:effectLst/>
                          <a:latin typeface="Calibri" panose="020F0502020204030204" pitchFamily="34" charset="0"/>
                        </a:rPr>
                        <a:t>Eggs</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4</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BD582C"/>
                          </a:solidFill>
                          <a:effectLst/>
                          <a:latin typeface="Calibri" panose="020F0502020204030204" pitchFamily="34" charset="0"/>
                        </a:rPr>
                        <a:t>Nuts</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B050"/>
                          </a:solidFill>
                          <a:effectLst/>
                          <a:latin typeface="Calibri" panose="020F0502020204030204" pitchFamily="34" charset="0"/>
                        </a:rPr>
                        <a:t>Eggs</a:t>
                      </a:r>
                      <a:r>
                        <a:rPr kumimoji="0" lang="en-US" sz="1800" b="0" i="0" u="none" strike="noStrike" cap="none" normalizeH="0" baseline="0" dirty="0">
                          <a:ln>
                            <a:noFill/>
                          </a:ln>
                          <a:solidFill>
                            <a:schemeClr val="tx1"/>
                          </a:solidFill>
                          <a:effectLst/>
                          <a:latin typeface="Calibri" panose="020F0502020204030204" pitchFamily="34" charset="0"/>
                        </a:rPr>
                        <a:t>, Milk</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5</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BD582C"/>
                          </a:solidFill>
                          <a:effectLst/>
                          <a:latin typeface="Calibri" panose="020F0502020204030204" pitchFamily="34" charset="0"/>
                        </a:rPr>
                        <a:t>Nuts</a:t>
                      </a:r>
                      <a:r>
                        <a:rPr kumimoji="0" lang="en-US" sz="1800" b="0" i="0" u="none" strike="noStrike" cap="none" normalizeH="0" baseline="0" dirty="0">
                          <a:ln>
                            <a:noFill/>
                          </a:ln>
                          <a:solidFill>
                            <a:schemeClr val="tx1"/>
                          </a:solidFill>
                          <a:effectLst/>
                          <a:latin typeface="Calibri" panose="020F0502020204030204" pitchFamily="34" charset="0"/>
                        </a:rPr>
                        <a:t>, Coffee, </a:t>
                      </a:r>
                      <a:r>
                        <a:rPr kumimoji="0" lang="en-US" sz="1800" b="0" i="0" u="none" strike="noStrike" cap="none" normalizeH="0" baseline="0" dirty="0">
                          <a:ln>
                            <a:noFill/>
                          </a:ln>
                          <a:solidFill>
                            <a:srgbClr val="0000CC"/>
                          </a:solidFill>
                          <a:effectLst/>
                          <a:latin typeface="Calibri" panose="020F0502020204030204" pitchFamily="34" charset="0"/>
                        </a:rPr>
                        <a:t>Diaper,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B050"/>
                          </a:solidFill>
                          <a:effectLst/>
                          <a:latin typeface="Calibri" panose="020F0502020204030204" pitchFamily="34" charset="0"/>
                        </a:rPr>
                        <a:t>Eggs</a:t>
                      </a:r>
                      <a:r>
                        <a:rPr kumimoji="0" lang="en-US" sz="1800" b="0" i="0" u="none" strike="noStrike" cap="none" normalizeH="0" baseline="0" dirty="0">
                          <a:ln>
                            <a:noFill/>
                          </a:ln>
                          <a:solidFill>
                            <a:schemeClr val="tx1"/>
                          </a:solidFill>
                          <a:effectLst/>
                          <a:latin typeface="Calibri" panose="020F0502020204030204" pitchFamily="34" charset="0"/>
                        </a:rPr>
                        <a:t>, Milk</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7807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434109" y="228600"/>
            <a:ext cx="11148291" cy="762000"/>
          </a:xfrm>
        </p:spPr>
        <p:txBody>
          <a:bodyPr>
            <a:normAutofit fontScale="90000"/>
          </a:bodyPr>
          <a:lstStyle/>
          <a:p>
            <a:r>
              <a:rPr lang="en-US" altLang="en-US" dirty="0"/>
              <a:t>Basic Concepts: k-</a:t>
            </a:r>
            <a:r>
              <a:rPr lang="en-US" altLang="en-US" dirty="0" err="1"/>
              <a:t>Itemsets</a:t>
            </a:r>
            <a:r>
              <a:rPr lang="en-US" altLang="en-US" dirty="0"/>
              <a:t> and Their Supports</a:t>
            </a:r>
          </a:p>
        </p:txBody>
      </p:sp>
      <p:sp>
        <p:nvSpPr>
          <p:cNvPr id="6148" name="Rectangle 3"/>
          <p:cNvSpPr>
            <a:spLocks noGrp="1" noChangeArrowheads="1"/>
          </p:cNvSpPr>
          <p:nvPr>
            <p:ph idx="1"/>
          </p:nvPr>
        </p:nvSpPr>
        <p:spPr>
          <a:xfrm>
            <a:off x="272394" y="1192095"/>
            <a:ext cx="6068836" cy="4268299"/>
          </a:xfrm>
        </p:spPr>
        <p:txBody>
          <a:bodyPr vert="horz" lIns="91436" tIns="45718" rIns="91436" bIns="45718" rtlCol="0" anchor="t">
            <a:noAutofit/>
          </a:bodyPr>
          <a:lstStyle/>
          <a:p>
            <a:pPr marL="461645" indent="-461645"/>
            <a:r>
              <a:rPr lang="en-US" altLang="en-US" sz="2400" dirty="0">
                <a:solidFill>
                  <a:srgbClr val="FF0000"/>
                </a:solidFill>
                <a:latin typeface="Calibri" pitchFamily="34" charset="0"/>
              </a:rPr>
              <a:t>Itemset</a:t>
            </a:r>
            <a:r>
              <a:rPr lang="en-US" altLang="en-US" sz="2400" dirty="0">
                <a:latin typeface="Calibri" pitchFamily="34" charset="0"/>
              </a:rPr>
              <a:t>:</a:t>
            </a:r>
            <a:r>
              <a:rPr lang="zh-CN" altLang="en-US" sz="2400" dirty="0">
                <a:latin typeface="Calibri" pitchFamily="34" charset="0"/>
              </a:rPr>
              <a:t>一个包含一个或多个项目的集合</a:t>
            </a:r>
            <a:endParaRPr lang="en-US" dirty="0"/>
          </a:p>
          <a:p>
            <a:pPr marL="200025" lvl="1" indent="0">
              <a:spcAft>
                <a:spcPts val="1200"/>
              </a:spcAft>
              <a:buNone/>
            </a:pPr>
            <a:endParaRPr lang="en-US" sz="2400" dirty="0">
              <a:latin typeface="Calibri" pitchFamily="34" charset="0"/>
              <a:cs typeface="Calibri"/>
            </a:endParaRPr>
          </a:p>
          <a:p>
            <a:pPr marL="461645" indent="-461645"/>
            <a:r>
              <a:rPr lang="en-US" altLang="en-US" sz="2400" dirty="0">
                <a:solidFill>
                  <a:srgbClr val="FF0000"/>
                </a:solidFill>
                <a:latin typeface="Calibri" pitchFamily="34" charset="0"/>
              </a:rPr>
              <a:t>k-itemset</a:t>
            </a:r>
            <a:r>
              <a:rPr lang="en-US" altLang="en-US" sz="2400" dirty="0">
                <a:latin typeface="Calibri" pitchFamily="34" charset="0"/>
              </a:rPr>
              <a:t>: </a:t>
            </a:r>
            <a:r>
              <a:rPr lang="zh-CN" altLang="en-US" sz="2400" dirty="0">
                <a:latin typeface="Calibri" pitchFamily="34" charset="0"/>
              </a:rPr>
              <a:t>一个包含 </a:t>
            </a:r>
            <a:r>
              <a:rPr lang="en-US" altLang="zh-CN" sz="2400" dirty="0">
                <a:latin typeface="Calibri" pitchFamily="34" charset="0"/>
              </a:rPr>
              <a:t>k </a:t>
            </a:r>
            <a:r>
              <a:rPr lang="zh-CN" altLang="en-US" sz="2400" dirty="0">
                <a:latin typeface="Calibri" pitchFamily="34" charset="0"/>
              </a:rPr>
              <a:t>个项目的项集</a:t>
            </a:r>
            <a:r>
              <a:rPr lang="en-US" altLang="en-US" sz="2400" dirty="0">
                <a:latin typeface="Calibri" pitchFamily="34" charset="0"/>
              </a:rPr>
              <a:t>: </a:t>
            </a:r>
            <a:endParaRPr lang="en-US" altLang="en-US" sz="2400" dirty="0">
              <a:latin typeface="Calibri" pitchFamily="34" charset="0"/>
              <a:cs typeface="Calibri"/>
            </a:endParaRPr>
          </a:p>
          <a:p>
            <a:pPr marL="0" indent="0">
              <a:buNone/>
            </a:pPr>
            <a:r>
              <a:rPr lang="en-US" altLang="en-US" sz="2400" dirty="0">
                <a:latin typeface="Calibri" pitchFamily="34" charset="0"/>
              </a:rPr>
              <a:t>              X = {x</a:t>
            </a:r>
            <a:r>
              <a:rPr lang="en-US" altLang="en-US" sz="2400" baseline="-25000" dirty="0">
                <a:latin typeface="Calibri" pitchFamily="34" charset="0"/>
              </a:rPr>
              <a:t>1</a:t>
            </a:r>
            <a:r>
              <a:rPr lang="en-US" altLang="en-US" sz="2400" dirty="0">
                <a:latin typeface="Calibri" pitchFamily="34" charset="0"/>
              </a:rPr>
              <a:t>, …, </a:t>
            </a:r>
            <a:r>
              <a:rPr lang="en-US" altLang="en-US" sz="2400" dirty="0" err="1">
                <a:latin typeface="Calibri" pitchFamily="34" charset="0"/>
              </a:rPr>
              <a:t>x</a:t>
            </a:r>
            <a:r>
              <a:rPr lang="en-US" altLang="en-US" sz="2400" baseline="-25000" dirty="0" err="1">
                <a:latin typeface="Calibri" pitchFamily="34" charset="0"/>
              </a:rPr>
              <a:t>k</a:t>
            </a:r>
            <a:r>
              <a:rPr lang="en-US" altLang="en-US" sz="2400" dirty="0">
                <a:latin typeface="Calibri" pitchFamily="34" charset="0"/>
              </a:rPr>
              <a:t>}</a:t>
            </a:r>
            <a:endParaRPr lang="en-US" altLang="en-US" sz="2400" dirty="0">
              <a:latin typeface="Calibri" pitchFamily="34" charset="0"/>
              <a:cs typeface="Calibri"/>
            </a:endParaRPr>
          </a:p>
          <a:p>
            <a:pPr marL="737870" lvl="1" indent="-537845">
              <a:spcAft>
                <a:spcPts val="1200"/>
              </a:spcAft>
            </a:pPr>
            <a:r>
              <a:rPr lang="en-US" altLang="en-US" sz="2400" dirty="0">
                <a:latin typeface="Calibri" pitchFamily="34" charset="0"/>
              </a:rPr>
              <a:t>Ex. {Beer, Nuts, Diaper} is a 3-itemset</a:t>
            </a:r>
            <a:endParaRPr lang="en-US" altLang="en-US" sz="2400" dirty="0">
              <a:latin typeface="Calibri" pitchFamily="34" charset="0"/>
              <a:cs typeface="Calibri"/>
            </a:endParaRPr>
          </a:p>
          <a:p>
            <a:pPr marL="461645" indent="-461645"/>
            <a:r>
              <a:rPr lang="zh-CN" altLang="en-US" sz="2400" dirty="0">
                <a:solidFill>
                  <a:srgbClr val="FF0000"/>
                </a:solidFill>
                <a:latin typeface="Calibri" pitchFamily="34" charset="0"/>
              </a:rPr>
              <a:t>绝对支持度</a:t>
            </a:r>
            <a:r>
              <a:rPr lang="en-US" altLang="en-US" sz="2400" dirty="0">
                <a:solidFill>
                  <a:srgbClr val="FF0000"/>
                </a:solidFill>
                <a:latin typeface="Calibri" pitchFamily="34" charset="0"/>
              </a:rPr>
              <a:t>(count)</a:t>
            </a:r>
            <a:endParaRPr lang="en-US" altLang="en-US" sz="2400" dirty="0">
              <a:latin typeface="Calibri" pitchFamily="34" charset="0"/>
            </a:endParaRPr>
          </a:p>
          <a:p>
            <a:pPr marL="737870" lvl="1" indent="-537845"/>
            <a:r>
              <a:rPr lang="en-US" altLang="en-US" sz="2400" dirty="0">
                <a:latin typeface="Calibri" pitchFamily="34" charset="0"/>
              </a:rPr>
              <a:t>sup{X} =</a:t>
            </a:r>
            <a:r>
              <a:rPr lang="zh-CN" altLang="en-US" sz="2400" dirty="0">
                <a:latin typeface="Calibri" pitchFamily="34" charset="0"/>
              </a:rPr>
              <a:t>项集 </a:t>
            </a:r>
            <a:r>
              <a:rPr lang="en-US" altLang="zh-CN" sz="2400" dirty="0">
                <a:latin typeface="Calibri" pitchFamily="34" charset="0"/>
              </a:rPr>
              <a:t>X </a:t>
            </a:r>
            <a:r>
              <a:rPr lang="zh-CN" altLang="en-US" sz="2400" dirty="0">
                <a:latin typeface="Calibri" pitchFamily="34" charset="0"/>
              </a:rPr>
              <a:t>出现的次数</a:t>
            </a:r>
            <a:r>
              <a:rPr lang="en-US" altLang="en-US" sz="2400" dirty="0">
                <a:latin typeface="Calibri" pitchFamily="34" charset="0"/>
              </a:rPr>
              <a:t>X</a:t>
            </a:r>
            <a:endParaRPr lang="en-US" altLang="en-US" sz="2400" dirty="0">
              <a:latin typeface="Calibri" pitchFamily="34" charset="0"/>
              <a:cs typeface="Calibri"/>
            </a:endParaRPr>
          </a:p>
          <a:p>
            <a:pPr lvl="2"/>
            <a:r>
              <a:rPr lang="en-US" altLang="en-US" sz="2400" dirty="0">
                <a:latin typeface="Calibri" pitchFamily="34" charset="0"/>
              </a:rPr>
              <a:t>Ex.  sup{Beer} = 3</a:t>
            </a:r>
            <a:endParaRPr lang="en-US" altLang="en-US" sz="2400" dirty="0">
              <a:latin typeface="Calibri" pitchFamily="34" charset="0"/>
              <a:cs typeface="Calibri"/>
            </a:endParaRPr>
          </a:p>
          <a:p>
            <a:pPr lvl="2"/>
            <a:r>
              <a:rPr lang="en-US" altLang="en-US" sz="2400" dirty="0">
                <a:latin typeface="Calibri" pitchFamily="34" charset="0"/>
              </a:rPr>
              <a:t>Ex.  sup{Diaper} = 4</a:t>
            </a:r>
            <a:endParaRPr lang="en-US" altLang="en-US" sz="2400" dirty="0">
              <a:latin typeface="Calibri" pitchFamily="34" charset="0"/>
              <a:cs typeface="Calibri"/>
            </a:endParaRPr>
          </a:p>
          <a:p>
            <a:pPr lvl="2"/>
            <a:r>
              <a:rPr lang="en-US" altLang="en-US" sz="2400" dirty="0">
                <a:latin typeface="Calibri" pitchFamily="34" charset="0"/>
              </a:rPr>
              <a:t>Ex.  sup{Beer, Diaper} = 3</a:t>
            </a:r>
            <a:endParaRPr lang="en-US" altLang="en-US" sz="2400" dirty="0">
              <a:latin typeface="Calibri" pitchFamily="34" charset="0"/>
              <a:cs typeface="Calibri"/>
            </a:endParaRPr>
          </a:p>
          <a:p>
            <a:pPr lvl="2"/>
            <a:r>
              <a:rPr lang="en-US" altLang="en-US" sz="2400" dirty="0">
                <a:latin typeface="Calibri" pitchFamily="34" charset="0"/>
              </a:rPr>
              <a:t>Ex.  sup{Beer, Eggs} = 1</a:t>
            </a:r>
            <a:endParaRPr lang="en-US" altLang="en-US" sz="2400" dirty="0">
              <a:latin typeface="Calibri" pitchFamily="34" charset="0"/>
              <a:cs typeface="Calibri"/>
            </a:endParaRPr>
          </a:p>
        </p:txBody>
      </p:sp>
      <p:graphicFrame>
        <p:nvGraphicFramePr>
          <p:cNvPr id="1767468" name="Group 44"/>
          <p:cNvGraphicFramePr>
            <a:graphicFrameLocks noGrp="1"/>
          </p:cNvGraphicFramePr>
          <p:nvPr>
            <p:extLst>
              <p:ext uri="{D42A27DB-BD31-4B8C-83A1-F6EECF244321}">
                <p14:modId xmlns:p14="http://schemas.microsoft.com/office/powerpoint/2010/main" val="1605048328"/>
              </p:ext>
            </p:extLst>
          </p:nvPr>
        </p:nvGraphicFramePr>
        <p:xfrm>
          <a:off x="6270519" y="1177062"/>
          <a:ext cx="5181600" cy="2193996"/>
        </p:xfrm>
        <a:graphic>
          <a:graphicData uri="http://schemas.openxmlformats.org/drawingml/2006/table">
            <a:tbl>
              <a:tblPr/>
              <a:tblGrid>
                <a:gridCol w="711200">
                  <a:extLst>
                    <a:ext uri="{9D8B030D-6E8A-4147-A177-3AD203B41FA5}">
                      <a16:colId xmlns:a16="http://schemas.microsoft.com/office/drawing/2014/main" val="20000"/>
                    </a:ext>
                  </a:extLst>
                </a:gridCol>
                <a:gridCol w="4470400">
                  <a:extLst>
                    <a:ext uri="{9D8B030D-6E8A-4147-A177-3AD203B41FA5}">
                      <a16:colId xmlns:a16="http://schemas.microsoft.com/office/drawing/2014/main" val="20001"/>
                    </a:ext>
                  </a:extLst>
                </a:gridCol>
              </a:tblGrid>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dirty="0" err="1">
                          <a:ln>
                            <a:noFill/>
                          </a:ln>
                          <a:solidFill>
                            <a:schemeClr val="tx1"/>
                          </a:solidFill>
                          <a:effectLst/>
                          <a:latin typeface="Calibri" panose="020F0502020204030204" pitchFamily="34" charset="0"/>
                        </a:rPr>
                        <a:t>Tid</a:t>
                      </a:r>
                      <a:endParaRPr kumimoji="0" lang="en-US" sz="1800" b="1"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dirty="0">
                          <a:ln>
                            <a:noFill/>
                          </a:ln>
                          <a:solidFill>
                            <a:schemeClr val="tx1"/>
                          </a:solidFill>
                          <a:effectLst/>
                          <a:latin typeface="Calibri" panose="020F0502020204030204" pitchFamily="34" charset="0"/>
                        </a:rPr>
                        <a:t>Items bought</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1</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FF0000"/>
                          </a:solidFill>
                          <a:effectLst/>
                          <a:latin typeface="Calibri" panose="020F0502020204030204" pitchFamily="34" charset="0"/>
                        </a:rPr>
                        <a:t>Beer,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BD582C"/>
                          </a:solidFill>
                          <a:effectLst/>
                          <a:latin typeface="Calibri" panose="020F0502020204030204" pitchFamily="34" charset="0"/>
                        </a:rPr>
                        <a:t>Nuts</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00CC"/>
                          </a:solidFill>
                          <a:effectLst/>
                          <a:latin typeface="Calibri" panose="020F0502020204030204" pitchFamily="34" charset="0"/>
                        </a:rPr>
                        <a:t>Diaper</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2</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FF0000"/>
                          </a:solidFill>
                          <a:effectLst/>
                          <a:latin typeface="Calibri" panose="020F0502020204030204" pitchFamily="34" charset="0"/>
                        </a:rPr>
                        <a:t>Beer</a:t>
                      </a:r>
                      <a:r>
                        <a:rPr kumimoji="0" lang="en-US" sz="1800" b="0" i="0" u="none" strike="noStrike" cap="none" normalizeH="0" baseline="0" dirty="0">
                          <a:ln>
                            <a:noFill/>
                          </a:ln>
                          <a:solidFill>
                            <a:schemeClr val="tx1"/>
                          </a:solidFill>
                          <a:effectLst/>
                          <a:latin typeface="Calibri" panose="020F0502020204030204" pitchFamily="34" charset="0"/>
                        </a:rPr>
                        <a:t>, Coffee, </a:t>
                      </a:r>
                      <a:r>
                        <a:rPr kumimoji="0" lang="en-US" sz="1800" b="0" i="0" u="none" strike="noStrike" cap="none" normalizeH="0" baseline="0" dirty="0">
                          <a:ln>
                            <a:noFill/>
                          </a:ln>
                          <a:solidFill>
                            <a:srgbClr val="0000CC"/>
                          </a:solidFill>
                          <a:effectLst/>
                          <a:latin typeface="Calibri" panose="020F0502020204030204" pitchFamily="34" charset="0"/>
                        </a:rPr>
                        <a:t>Diaper</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3</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FF0000"/>
                          </a:solidFill>
                          <a:effectLst/>
                          <a:latin typeface="Calibri" panose="020F0502020204030204" pitchFamily="34" charset="0"/>
                        </a:rPr>
                        <a:t>Beer,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00CC"/>
                          </a:solidFill>
                          <a:effectLst/>
                          <a:latin typeface="Calibri" panose="020F0502020204030204" pitchFamily="34" charset="0"/>
                        </a:rPr>
                        <a:t>Diaper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B050"/>
                          </a:solidFill>
                          <a:effectLst/>
                          <a:latin typeface="Calibri" panose="020F0502020204030204" pitchFamily="34" charset="0"/>
                        </a:rPr>
                        <a:t>Eggs</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4</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BD582C"/>
                          </a:solidFill>
                          <a:effectLst/>
                          <a:latin typeface="Calibri" panose="020F0502020204030204" pitchFamily="34" charset="0"/>
                        </a:rPr>
                        <a:t>Nuts</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B050"/>
                          </a:solidFill>
                          <a:effectLst/>
                          <a:latin typeface="Calibri" panose="020F0502020204030204" pitchFamily="34" charset="0"/>
                        </a:rPr>
                        <a:t>Eggs</a:t>
                      </a:r>
                      <a:r>
                        <a:rPr kumimoji="0" lang="en-US" sz="1800" b="0" i="0" u="none" strike="noStrike" cap="none" normalizeH="0" baseline="0" dirty="0">
                          <a:ln>
                            <a:noFill/>
                          </a:ln>
                          <a:solidFill>
                            <a:schemeClr val="tx1"/>
                          </a:solidFill>
                          <a:effectLst/>
                          <a:latin typeface="Calibri" panose="020F0502020204030204" pitchFamily="34" charset="0"/>
                        </a:rPr>
                        <a:t>, Milk</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5</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BD582C"/>
                          </a:solidFill>
                          <a:effectLst/>
                          <a:latin typeface="Calibri" panose="020F0502020204030204" pitchFamily="34" charset="0"/>
                        </a:rPr>
                        <a:t>Nuts</a:t>
                      </a:r>
                      <a:r>
                        <a:rPr kumimoji="0" lang="en-US" sz="1800" b="0" i="0" u="none" strike="noStrike" cap="none" normalizeH="0" baseline="0" dirty="0">
                          <a:ln>
                            <a:noFill/>
                          </a:ln>
                          <a:solidFill>
                            <a:schemeClr val="tx1"/>
                          </a:solidFill>
                          <a:effectLst/>
                          <a:latin typeface="Calibri" panose="020F0502020204030204" pitchFamily="34" charset="0"/>
                        </a:rPr>
                        <a:t>, Coffee, </a:t>
                      </a:r>
                      <a:r>
                        <a:rPr kumimoji="0" lang="en-US" sz="1800" b="0" i="0" u="none" strike="noStrike" cap="none" normalizeH="0" baseline="0" dirty="0">
                          <a:ln>
                            <a:noFill/>
                          </a:ln>
                          <a:solidFill>
                            <a:srgbClr val="0000CC"/>
                          </a:solidFill>
                          <a:effectLst/>
                          <a:latin typeface="Calibri" panose="020F0502020204030204" pitchFamily="34" charset="0"/>
                        </a:rPr>
                        <a:t>Diaper,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B050"/>
                          </a:solidFill>
                          <a:effectLst/>
                          <a:latin typeface="Calibri" panose="020F0502020204030204" pitchFamily="34" charset="0"/>
                        </a:rPr>
                        <a:t>Eggs</a:t>
                      </a:r>
                      <a:r>
                        <a:rPr kumimoji="0" lang="en-US" sz="1800" b="0" i="0" u="none" strike="noStrike" cap="none" normalizeH="0" baseline="0" dirty="0">
                          <a:ln>
                            <a:noFill/>
                          </a:ln>
                          <a:solidFill>
                            <a:schemeClr val="tx1"/>
                          </a:solidFill>
                          <a:effectLst/>
                          <a:latin typeface="Calibri" panose="020F0502020204030204" pitchFamily="34" charset="0"/>
                        </a:rPr>
                        <a:t>, Milk</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 name="Rectangle 3"/>
          <p:cNvSpPr txBox="1">
            <a:spLocks noChangeArrowheads="1"/>
          </p:cNvSpPr>
          <p:nvPr/>
        </p:nvSpPr>
        <p:spPr>
          <a:xfrm>
            <a:off x="6237160" y="3593806"/>
            <a:ext cx="5679673" cy="2466933"/>
          </a:xfrm>
          <a:prstGeom prst="rect">
            <a:avLst/>
          </a:prstGeom>
        </p:spPr>
        <p:txBody>
          <a:bodyPr vert="horz" lIns="91436" tIns="45718" rIns="91436" bIns="45718" rtlCol="0" anchor="t">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645" indent="-461645"/>
            <a:r>
              <a:rPr lang="zh-CN" altLang="en-US" sz="2400" dirty="0">
                <a:solidFill>
                  <a:srgbClr val="FF0000"/>
                </a:solidFill>
                <a:sym typeface="Symbol" pitchFamily="18" charset="2"/>
              </a:rPr>
              <a:t>相对支持度</a:t>
            </a:r>
            <a:endParaRPr lang="en-US" dirty="0">
              <a:solidFill>
                <a:srgbClr val="000000"/>
              </a:solidFill>
              <a:sym typeface="Symbol" pitchFamily="18" charset="2"/>
            </a:endParaRPr>
          </a:p>
          <a:p>
            <a:pPr marL="737870" lvl="1" indent="-537845"/>
            <a:r>
              <a:rPr lang="en-US" altLang="en-US" sz="2400" dirty="0">
                <a:solidFill>
                  <a:srgbClr val="000000"/>
                </a:solidFill>
                <a:sym typeface="Symbol" pitchFamily="18" charset="2"/>
              </a:rPr>
              <a:t> </a:t>
            </a:r>
            <a:r>
              <a:rPr lang="en-US" altLang="en-US" sz="2400" i="1" dirty="0">
                <a:solidFill>
                  <a:srgbClr val="000000"/>
                </a:solidFill>
                <a:sym typeface="Symbol" pitchFamily="18" charset="2"/>
              </a:rPr>
              <a:t>s</a:t>
            </a:r>
            <a:r>
              <a:rPr lang="en-US" altLang="en-US" sz="2400" dirty="0">
                <a:solidFill>
                  <a:srgbClr val="000000"/>
                </a:solidFill>
                <a:sym typeface="Symbol" pitchFamily="18" charset="2"/>
              </a:rPr>
              <a:t>{</a:t>
            </a:r>
            <a:r>
              <a:rPr lang="en-US" altLang="en-US" sz="2400" i="1" dirty="0">
                <a:solidFill>
                  <a:srgbClr val="000000"/>
                </a:solidFill>
                <a:sym typeface="Symbol" pitchFamily="18" charset="2"/>
              </a:rPr>
              <a:t>X</a:t>
            </a:r>
            <a:r>
              <a:rPr lang="en-US" altLang="en-US" sz="2400" dirty="0">
                <a:solidFill>
                  <a:srgbClr val="000000"/>
                </a:solidFill>
                <a:sym typeface="Symbol" pitchFamily="18" charset="2"/>
              </a:rPr>
              <a:t>} =</a:t>
            </a:r>
            <a:r>
              <a:rPr lang="zh-CN" altLang="en-US" sz="2400" dirty="0">
                <a:solidFill>
                  <a:srgbClr val="000000"/>
                </a:solidFill>
                <a:sym typeface="Symbol" pitchFamily="18" charset="2"/>
              </a:rPr>
              <a:t>项集 </a:t>
            </a:r>
            <a:r>
              <a:rPr lang="en-US" altLang="zh-CN" sz="2400" dirty="0">
                <a:solidFill>
                  <a:srgbClr val="000000"/>
                </a:solidFill>
                <a:sym typeface="Symbol" pitchFamily="18" charset="2"/>
              </a:rPr>
              <a:t>X </a:t>
            </a:r>
            <a:r>
              <a:rPr lang="zh-CN" altLang="en-US" sz="2400" dirty="0">
                <a:solidFill>
                  <a:srgbClr val="000000"/>
                </a:solidFill>
                <a:sym typeface="Symbol" pitchFamily="18" charset="2"/>
              </a:rPr>
              <a:t>出现的次数占事务数据库中事务总数（记为 </a:t>
            </a:r>
            <a:r>
              <a:rPr lang="en-US" altLang="zh-CN" sz="2400" dirty="0">
                <a:solidFill>
                  <a:srgbClr val="000000"/>
                </a:solidFill>
                <a:sym typeface="Symbol" pitchFamily="18" charset="2"/>
              </a:rPr>
              <a:t>N</a:t>
            </a:r>
            <a:r>
              <a:rPr lang="zh-CN" altLang="en-US" sz="2400" dirty="0">
                <a:solidFill>
                  <a:srgbClr val="000000"/>
                </a:solidFill>
                <a:sym typeface="Symbol" pitchFamily="18" charset="2"/>
              </a:rPr>
              <a:t>）的比例。</a:t>
            </a:r>
            <a:endParaRPr lang="en-US" dirty="0">
              <a:cs typeface="Calibri"/>
            </a:endParaRPr>
          </a:p>
          <a:p>
            <a:pPr lvl="1"/>
            <a:r>
              <a:rPr lang="en-US" altLang="en-US" sz="2400" dirty="0">
                <a:solidFill>
                  <a:srgbClr val="000000"/>
                </a:solidFill>
                <a:sym typeface="Symbol" pitchFamily="18" charset="2"/>
              </a:rPr>
              <a:t>Ex.  s{Beer} = 3/5 = 60%</a:t>
            </a:r>
          </a:p>
          <a:p>
            <a:pPr lvl="1"/>
            <a:r>
              <a:rPr lang="en-US" altLang="en-US" sz="2400" dirty="0">
                <a:solidFill>
                  <a:srgbClr val="000000"/>
                </a:solidFill>
                <a:sym typeface="Symbol" pitchFamily="18" charset="2"/>
              </a:rPr>
              <a:t>Ex.  s{Diaper} = 4/5 = 80%</a:t>
            </a:r>
          </a:p>
          <a:p>
            <a:pPr lvl="1"/>
            <a:r>
              <a:rPr lang="en-US" altLang="en-US" sz="2400" dirty="0">
                <a:solidFill>
                  <a:srgbClr val="000000"/>
                </a:solidFill>
                <a:sym typeface="Symbol" pitchFamily="18" charset="2"/>
              </a:rPr>
              <a:t>Ex.  s{Beer, Eggs} = 1/5 = 20%</a:t>
            </a:r>
          </a:p>
        </p:txBody>
      </p:sp>
      <p:pic>
        <p:nvPicPr>
          <p:cNvPr id="4" name="Picture 4" descr="A drawing of a person&#10;&#10;Description generated with high confidence">
            <a:extLst>
              <a:ext uri="{FF2B5EF4-FFF2-40B4-BE49-F238E27FC236}">
                <a16:creationId xmlns:a16="http://schemas.microsoft.com/office/drawing/2014/main" id="{5A8D5A0C-3248-46F6-82DF-BF25BEC5FA76}"/>
              </a:ext>
            </a:extLst>
          </p:cNvPr>
          <p:cNvPicPr>
            <a:picLocks noChangeAspect="1"/>
          </p:cNvPicPr>
          <p:nvPr/>
        </p:nvPicPr>
        <p:blipFill>
          <a:blip r:embed="rId3"/>
          <a:stretch>
            <a:fillRect/>
          </a:stretch>
        </p:blipFill>
        <p:spPr>
          <a:xfrm>
            <a:off x="1277258" y="1579545"/>
            <a:ext cx="2743200" cy="578338"/>
          </a:xfrm>
          <a:prstGeom prst="rect">
            <a:avLst/>
          </a:prstGeom>
        </p:spPr>
      </p:pic>
    </p:spTree>
    <p:extLst>
      <p:ext uri="{BB962C8B-B14F-4D97-AF65-F5344CB8AC3E}">
        <p14:creationId xmlns:p14="http://schemas.microsoft.com/office/powerpoint/2010/main" val="1049753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6746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4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48">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48">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148">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148">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148">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2" end="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434109" y="228600"/>
            <a:ext cx="11148291" cy="762000"/>
          </a:xfrm>
        </p:spPr>
        <p:txBody>
          <a:bodyPr>
            <a:normAutofit/>
          </a:bodyPr>
          <a:lstStyle/>
          <a:p>
            <a:r>
              <a:rPr lang="en-US" altLang="en-US" dirty="0"/>
              <a:t>Basic Concepts: Frequent </a:t>
            </a:r>
            <a:r>
              <a:rPr lang="en-US" altLang="en-US" dirty="0" err="1"/>
              <a:t>Itemsets</a:t>
            </a:r>
            <a:r>
              <a:rPr lang="en-US" altLang="en-US" dirty="0"/>
              <a:t> (Patterns)</a:t>
            </a:r>
          </a:p>
        </p:txBody>
      </p:sp>
      <p:sp>
        <p:nvSpPr>
          <p:cNvPr id="6148" name="Rectangle 3"/>
          <p:cNvSpPr>
            <a:spLocks noGrp="1" noChangeArrowheads="1"/>
          </p:cNvSpPr>
          <p:nvPr>
            <p:ph idx="1"/>
          </p:nvPr>
        </p:nvSpPr>
        <p:spPr>
          <a:xfrm>
            <a:off x="659549" y="1177062"/>
            <a:ext cx="5457876" cy="4875351"/>
          </a:xfrm>
        </p:spPr>
        <p:txBody>
          <a:bodyPr/>
          <a:lstStyle/>
          <a:p>
            <a:pPr>
              <a:spcAft>
                <a:spcPts val="1200"/>
              </a:spcAft>
            </a:pPr>
            <a:r>
              <a:rPr lang="zh-CN" altLang="en-US" sz="2400" dirty="0">
                <a:latin typeface="Calibri" pitchFamily="34" charset="0"/>
                <a:sym typeface="Symbol" pitchFamily="18" charset="2"/>
              </a:rPr>
              <a:t>如果项集（或模式）</a:t>
            </a:r>
            <a:r>
              <a:rPr lang="en-US" altLang="zh-CN" sz="2400" dirty="0">
                <a:latin typeface="Calibri" pitchFamily="34" charset="0"/>
                <a:sym typeface="Symbol" pitchFamily="18" charset="2"/>
              </a:rPr>
              <a:t>X </a:t>
            </a:r>
            <a:r>
              <a:rPr lang="zh-CN" altLang="en-US" sz="2400" dirty="0">
                <a:latin typeface="Calibri" pitchFamily="34" charset="0"/>
                <a:sym typeface="Symbol" pitchFamily="18" charset="2"/>
              </a:rPr>
              <a:t>的支持度不低于最小支持度阈值 </a:t>
            </a:r>
            <a:r>
              <a:rPr lang="en-US" altLang="zh-CN" sz="2400" dirty="0">
                <a:latin typeface="Calibri" pitchFamily="34" charset="0"/>
                <a:sym typeface="Symbol" pitchFamily="18" charset="2"/>
              </a:rPr>
              <a:t>σ</a:t>
            </a:r>
            <a:r>
              <a:rPr lang="zh-CN" altLang="en-US" sz="2400" dirty="0">
                <a:latin typeface="Calibri" pitchFamily="34" charset="0"/>
                <a:sym typeface="Symbol" pitchFamily="18" charset="2"/>
              </a:rPr>
              <a:t>，则称 </a:t>
            </a:r>
            <a:r>
              <a:rPr lang="en-US" altLang="zh-CN" sz="2400" dirty="0">
                <a:latin typeface="Calibri" pitchFamily="34" charset="0"/>
                <a:sym typeface="Symbol" pitchFamily="18" charset="2"/>
              </a:rPr>
              <a:t>X </a:t>
            </a:r>
            <a:r>
              <a:rPr lang="zh-CN" altLang="en-US" sz="2400" dirty="0">
                <a:latin typeface="Calibri" pitchFamily="34" charset="0"/>
                <a:sym typeface="Symbol" pitchFamily="18" charset="2"/>
              </a:rPr>
              <a:t>为频繁项集（或频繁模式）。</a:t>
            </a:r>
            <a:endParaRPr lang="en-US" altLang="en-US" sz="2400" dirty="0">
              <a:latin typeface="Calibri" pitchFamily="34" charset="0"/>
              <a:sym typeface="Symbol" pitchFamily="18" charset="2"/>
            </a:endParaRPr>
          </a:p>
          <a:p>
            <a:pPr>
              <a:spcBef>
                <a:spcPts val="200"/>
              </a:spcBef>
              <a:defRPr/>
            </a:pPr>
            <a:r>
              <a:rPr lang="en-US" altLang="en-US" sz="2400" dirty="0">
                <a:latin typeface="Calibri" panose="020F0502020204030204" pitchFamily="34" charset="0"/>
              </a:rPr>
              <a:t>Let</a:t>
            </a:r>
            <a:r>
              <a:rPr lang="en-US" altLang="en-US" sz="2400" i="1" dirty="0">
                <a:latin typeface="Calibri" panose="020F0502020204030204" pitchFamily="34" charset="0"/>
              </a:rPr>
              <a:t> </a:t>
            </a:r>
            <a:r>
              <a:rPr lang="el-GR" altLang="en-US" sz="2400" dirty="0">
                <a:latin typeface="Calibri" pitchFamily="34" charset="0"/>
                <a:sym typeface="Symbol" pitchFamily="18" charset="2"/>
              </a:rPr>
              <a:t>σ</a:t>
            </a:r>
            <a:r>
              <a:rPr lang="en-US" altLang="en-US" sz="2400" i="1" dirty="0">
                <a:latin typeface="Calibri" panose="020F0502020204030204" pitchFamily="34" charset="0"/>
              </a:rPr>
              <a:t> = 50%  </a:t>
            </a:r>
            <a:r>
              <a:rPr lang="en-US" altLang="en-US" sz="2400" dirty="0">
                <a:latin typeface="Calibri" panose="020F0502020204030204" pitchFamily="34" charset="0"/>
              </a:rPr>
              <a:t>(</a:t>
            </a:r>
            <a:r>
              <a:rPr lang="el-GR" altLang="en-US" sz="2400" dirty="0">
                <a:latin typeface="Calibri" pitchFamily="34" charset="0"/>
                <a:sym typeface="Symbol" pitchFamily="18" charset="2"/>
              </a:rPr>
              <a:t>σ</a:t>
            </a:r>
            <a:r>
              <a:rPr lang="en-US" altLang="en-US" sz="2400" dirty="0">
                <a:latin typeface="Calibri" pitchFamily="34" charset="0"/>
                <a:sym typeface="Symbol" pitchFamily="18" charset="2"/>
              </a:rPr>
              <a:t>: </a:t>
            </a:r>
            <a:r>
              <a:rPr lang="zh-CN" altLang="en-US" sz="2400" i="1" dirty="0">
                <a:latin typeface="Calibri" panose="020F0502020204030204" pitchFamily="34" charset="0"/>
              </a:rPr>
              <a:t>最小支持度阈值</a:t>
            </a:r>
            <a:r>
              <a:rPr lang="en-US" altLang="en-US" sz="2400" dirty="0">
                <a:latin typeface="Calibri" panose="020F0502020204030204" pitchFamily="34" charset="0"/>
              </a:rPr>
              <a:t>)</a:t>
            </a:r>
          </a:p>
          <a:p>
            <a:pPr marL="287344" lvl="1" indent="0">
              <a:spcBef>
                <a:spcPts val="200"/>
              </a:spcBef>
              <a:spcAft>
                <a:spcPts val="1200"/>
              </a:spcAft>
              <a:buNone/>
              <a:defRPr/>
            </a:pPr>
            <a:r>
              <a:rPr lang="en-US" altLang="en-US" sz="2400" dirty="0">
                <a:latin typeface="Calibri" panose="020F0502020204030204" pitchFamily="34" charset="0"/>
              </a:rPr>
              <a:t>for the given 5-transaction dataset</a:t>
            </a:r>
          </a:p>
          <a:p>
            <a:pPr lvl="1">
              <a:spcBef>
                <a:spcPts val="200"/>
              </a:spcBef>
              <a:defRPr/>
            </a:pPr>
            <a:r>
              <a:rPr lang="en-US" altLang="en-US" sz="2400" dirty="0">
                <a:latin typeface="Calibri" panose="020F0502020204030204" pitchFamily="34" charset="0"/>
              </a:rPr>
              <a:t>All the frequent 1-itemsets:  </a:t>
            </a:r>
          </a:p>
          <a:p>
            <a:pPr lvl="2">
              <a:spcBef>
                <a:spcPts val="200"/>
              </a:spcBef>
              <a:defRPr/>
            </a:pPr>
            <a:r>
              <a:rPr lang="en-US" altLang="en-US" sz="2400" dirty="0">
                <a:solidFill>
                  <a:srgbClr val="7030A0"/>
                </a:solidFill>
                <a:latin typeface="Calibri" panose="020F0502020204030204" pitchFamily="34" charset="0"/>
              </a:rPr>
              <a:t>Beer: 3/5 (60%); Nuts: 3/5 (60%);</a:t>
            </a:r>
            <a:br>
              <a:rPr lang="en-US" altLang="en-US" sz="2400" dirty="0">
                <a:solidFill>
                  <a:srgbClr val="7030A0"/>
                </a:solidFill>
                <a:latin typeface="Calibri" panose="020F0502020204030204" pitchFamily="34" charset="0"/>
              </a:rPr>
            </a:br>
            <a:r>
              <a:rPr lang="en-US" altLang="en-US" sz="2400" dirty="0">
                <a:solidFill>
                  <a:srgbClr val="7030A0"/>
                </a:solidFill>
                <a:latin typeface="Calibri" panose="020F0502020204030204" pitchFamily="34" charset="0"/>
              </a:rPr>
              <a:t>Diaper: 4/5 (80%); Eggs: 3/5 (60%)</a:t>
            </a:r>
          </a:p>
          <a:p>
            <a:pPr lvl="1">
              <a:spcBef>
                <a:spcPts val="200"/>
              </a:spcBef>
              <a:defRPr/>
            </a:pPr>
            <a:r>
              <a:rPr lang="en-US" altLang="en-US" sz="2400" dirty="0">
                <a:latin typeface="Calibri" panose="020F0502020204030204" pitchFamily="34" charset="0"/>
              </a:rPr>
              <a:t>All the frequent 2-itemsets:  </a:t>
            </a:r>
          </a:p>
          <a:p>
            <a:pPr lvl="2">
              <a:spcBef>
                <a:spcPts val="200"/>
              </a:spcBef>
              <a:spcAft>
                <a:spcPts val="1200"/>
              </a:spcAft>
              <a:defRPr/>
            </a:pPr>
            <a:r>
              <a:rPr lang="en-US" altLang="en-US" sz="2400" dirty="0">
                <a:solidFill>
                  <a:srgbClr val="7030A0"/>
                </a:solidFill>
                <a:latin typeface="Calibri" panose="020F0502020204030204" pitchFamily="34" charset="0"/>
              </a:rPr>
              <a:t>{Beer, Diaper}: 3/5 (60%)</a:t>
            </a:r>
          </a:p>
          <a:p>
            <a:pPr lvl="1">
              <a:spcBef>
                <a:spcPts val="200"/>
              </a:spcBef>
              <a:defRPr/>
            </a:pPr>
            <a:r>
              <a:rPr lang="en-US" altLang="en-US" sz="2400" dirty="0">
                <a:latin typeface="Calibri" panose="020F0502020204030204" pitchFamily="34" charset="0"/>
              </a:rPr>
              <a:t>All the frequent 3-itemsets?</a:t>
            </a:r>
          </a:p>
          <a:p>
            <a:pPr lvl="2">
              <a:spcBef>
                <a:spcPts val="200"/>
              </a:spcBef>
              <a:defRPr/>
            </a:pPr>
            <a:r>
              <a:rPr lang="en-US" altLang="en-US" sz="2400" dirty="0">
                <a:latin typeface="Calibri" panose="020F0502020204030204" pitchFamily="34" charset="0"/>
              </a:rPr>
              <a:t>None </a:t>
            </a:r>
          </a:p>
          <a:p>
            <a:pPr lvl="2">
              <a:spcBef>
                <a:spcPts val="200"/>
              </a:spcBef>
              <a:defRPr/>
            </a:pPr>
            <a:endParaRPr lang="en-US" altLang="en-US" sz="2400" dirty="0">
              <a:latin typeface="Calibri" panose="020F0502020204030204" pitchFamily="34" charset="0"/>
            </a:endParaRPr>
          </a:p>
        </p:txBody>
      </p:sp>
      <p:graphicFrame>
        <p:nvGraphicFramePr>
          <p:cNvPr id="1767468" name="Group 44"/>
          <p:cNvGraphicFramePr>
            <a:graphicFrameLocks noGrp="1"/>
          </p:cNvGraphicFramePr>
          <p:nvPr>
            <p:extLst>
              <p:ext uri="{D42A27DB-BD31-4B8C-83A1-F6EECF244321}">
                <p14:modId xmlns:p14="http://schemas.microsoft.com/office/powerpoint/2010/main" val="262853580"/>
              </p:ext>
            </p:extLst>
          </p:nvPr>
        </p:nvGraphicFramePr>
        <p:xfrm>
          <a:off x="6332110" y="1419743"/>
          <a:ext cx="5181600" cy="2193996"/>
        </p:xfrm>
        <a:graphic>
          <a:graphicData uri="http://schemas.openxmlformats.org/drawingml/2006/table">
            <a:tbl>
              <a:tblPr/>
              <a:tblGrid>
                <a:gridCol w="711200">
                  <a:extLst>
                    <a:ext uri="{9D8B030D-6E8A-4147-A177-3AD203B41FA5}">
                      <a16:colId xmlns:a16="http://schemas.microsoft.com/office/drawing/2014/main" val="20000"/>
                    </a:ext>
                  </a:extLst>
                </a:gridCol>
                <a:gridCol w="4470400">
                  <a:extLst>
                    <a:ext uri="{9D8B030D-6E8A-4147-A177-3AD203B41FA5}">
                      <a16:colId xmlns:a16="http://schemas.microsoft.com/office/drawing/2014/main" val="20001"/>
                    </a:ext>
                  </a:extLst>
                </a:gridCol>
              </a:tblGrid>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dirty="0" err="1">
                          <a:ln>
                            <a:noFill/>
                          </a:ln>
                          <a:solidFill>
                            <a:schemeClr val="tx1"/>
                          </a:solidFill>
                          <a:effectLst/>
                          <a:latin typeface="Calibri" panose="020F0502020204030204" pitchFamily="34" charset="0"/>
                        </a:rPr>
                        <a:t>Tid</a:t>
                      </a:r>
                      <a:endParaRPr kumimoji="0" lang="en-US" sz="1800" b="1"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dirty="0">
                          <a:ln>
                            <a:noFill/>
                          </a:ln>
                          <a:solidFill>
                            <a:schemeClr val="tx1"/>
                          </a:solidFill>
                          <a:effectLst/>
                          <a:latin typeface="Calibri" panose="020F0502020204030204" pitchFamily="34" charset="0"/>
                        </a:rPr>
                        <a:t>Items bought</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1</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FF0000"/>
                          </a:solidFill>
                          <a:effectLst/>
                          <a:latin typeface="Calibri" panose="020F0502020204030204" pitchFamily="34" charset="0"/>
                        </a:rPr>
                        <a:t>Beer,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BD582C"/>
                          </a:solidFill>
                          <a:effectLst/>
                          <a:latin typeface="Calibri" panose="020F0502020204030204" pitchFamily="34" charset="0"/>
                        </a:rPr>
                        <a:t>Nuts</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00CC"/>
                          </a:solidFill>
                          <a:effectLst/>
                          <a:latin typeface="Calibri" panose="020F0502020204030204" pitchFamily="34" charset="0"/>
                        </a:rPr>
                        <a:t>Diaper</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2</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FF0000"/>
                          </a:solidFill>
                          <a:effectLst/>
                          <a:latin typeface="Calibri" panose="020F0502020204030204" pitchFamily="34" charset="0"/>
                        </a:rPr>
                        <a:t>Beer</a:t>
                      </a:r>
                      <a:r>
                        <a:rPr kumimoji="0" lang="en-US" sz="1800" b="0" i="0" u="none" strike="noStrike" cap="none" normalizeH="0" baseline="0" dirty="0">
                          <a:ln>
                            <a:noFill/>
                          </a:ln>
                          <a:solidFill>
                            <a:schemeClr val="tx1"/>
                          </a:solidFill>
                          <a:effectLst/>
                          <a:latin typeface="Calibri" panose="020F0502020204030204" pitchFamily="34" charset="0"/>
                        </a:rPr>
                        <a:t>, Coffee, </a:t>
                      </a:r>
                      <a:r>
                        <a:rPr kumimoji="0" lang="en-US" sz="1800" b="0" i="0" u="none" strike="noStrike" cap="none" normalizeH="0" baseline="0" dirty="0">
                          <a:ln>
                            <a:noFill/>
                          </a:ln>
                          <a:solidFill>
                            <a:srgbClr val="0000CC"/>
                          </a:solidFill>
                          <a:effectLst/>
                          <a:latin typeface="Calibri" panose="020F0502020204030204" pitchFamily="34" charset="0"/>
                        </a:rPr>
                        <a:t>Diaper</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3</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FF0000"/>
                          </a:solidFill>
                          <a:effectLst/>
                          <a:latin typeface="Calibri" panose="020F0502020204030204" pitchFamily="34" charset="0"/>
                        </a:rPr>
                        <a:t>Beer,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00CC"/>
                          </a:solidFill>
                          <a:effectLst/>
                          <a:latin typeface="Calibri" panose="020F0502020204030204" pitchFamily="34" charset="0"/>
                        </a:rPr>
                        <a:t>Diaper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B050"/>
                          </a:solidFill>
                          <a:effectLst/>
                          <a:latin typeface="Calibri" panose="020F0502020204030204" pitchFamily="34" charset="0"/>
                        </a:rPr>
                        <a:t>Eggs</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4</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BD582C"/>
                          </a:solidFill>
                          <a:effectLst/>
                          <a:latin typeface="Calibri" panose="020F0502020204030204" pitchFamily="34" charset="0"/>
                        </a:rPr>
                        <a:t>Nuts</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B050"/>
                          </a:solidFill>
                          <a:effectLst/>
                          <a:latin typeface="Calibri" panose="020F0502020204030204" pitchFamily="34" charset="0"/>
                        </a:rPr>
                        <a:t>Eggs</a:t>
                      </a:r>
                      <a:r>
                        <a:rPr kumimoji="0" lang="en-US" sz="1800" b="0" i="0" u="none" strike="noStrike" cap="none" normalizeH="0" baseline="0" dirty="0">
                          <a:ln>
                            <a:noFill/>
                          </a:ln>
                          <a:solidFill>
                            <a:schemeClr val="tx1"/>
                          </a:solidFill>
                          <a:effectLst/>
                          <a:latin typeface="Calibri" panose="020F0502020204030204" pitchFamily="34" charset="0"/>
                        </a:rPr>
                        <a:t>, Milk</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65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5</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BD582C"/>
                          </a:solidFill>
                          <a:effectLst/>
                          <a:latin typeface="Calibri" panose="020F0502020204030204" pitchFamily="34" charset="0"/>
                        </a:rPr>
                        <a:t>Nuts</a:t>
                      </a:r>
                      <a:r>
                        <a:rPr kumimoji="0" lang="en-US" sz="1800" b="0" i="0" u="none" strike="noStrike" cap="none" normalizeH="0" baseline="0" dirty="0">
                          <a:ln>
                            <a:noFill/>
                          </a:ln>
                          <a:solidFill>
                            <a:schemeClr val="tx1"/>
                          </a:solidFill>
                          <a:effectLst/>
                          <a:latin typeface="Calibri" panose="020F0502020204030204" pitchFamily="34" charset="0"/>
                        </a:rPr>
                        <a:t>, Coffee, </a:t>
                      </a:r>
                      <a:r>
                        <a:rPr kumimoji="0" lang="en-US" sz="1800" b="0" i="0" u="none" strike="noStrike" cap="none" normalizeH="0" baseline="0" dirty="0">
                          <a:ln>
                            <a:noFill/>
                          </a:ln>
                          <a:solidFill>
                            <a:srgbClr val="0000CC"/>
                          </a:solidFill>
                          <a:effectLst/>
                          <a:latin typeface="Calibri" panose="020F0502020204030204" pitchFamily="34" charset="0"/>
                        </a:rPr>
                        <a:t>Diaper,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B050"/>
                          </a:solidFill>
                          <a:effectLst/>
                          <a:latin typeface="Calibri" panose="020F0502020204030204" pitchFamily="34" charset="0"/>
                        </a:rPr>
                        <a:t>Eggs</a:t>
                      </a:r>
                      <a:r>
                        <a:rPr kumimoji="0" lang="en-US" sz="1800" b="0" i="0" u="none" strike="noStrike" cap="none" normalizeH="0" baseline="0" dirty="0">
                          <a:ln>
                            <a:noFill/>
                          </a:ln>
                          <a:solidFill>
                            <a:schemeClr val="tx1"/>
                          </a:solidFill>
                          <a:effectLst/>
                          <a:latin typeface="Calibri" panose="020F0502020204030204" pitchFamily="34" charset="0"/>
                        </a:rPr>
                        <a:t>, Milk</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5" name="Rectangle 3"/>
          <p:cNvSpPr txBox="1">
            <a:spLocks noChangeArrowheads="1"/>
          </p:cNvSpPr>
          <p:nvPr/>
        </p:nvSpPr>
        <p:spPr>
          <a:xfrm>
            <a:off x="6193972" y="3443750"/>
            <a:ext cx="5529942" cy="2471276"/>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Bef>
                <a:spcPts val="200"/>
              </a:spcBef>
              <a:defRPr/>
            </a:pPr>
            <a:endParaRPr lang="en-US" altLang="en-US" sz="2400" dirty="0">
              <a:solidFill>
                <a:srgbClr val="000000"/>
              </a:solidFill>
            </a:endParaRPr>
          </a:p>
        </p:txBody>
      </p:sp>
      <p:sp>
        <p:nvSpPr>
          <p:cNvPr id="2" name="Right Arrow 1"/>
          <p:cNvSpPr/>
          <p:nvPr/>
        </p:nvSpPr>
        <p:spPr>
          <a:xfrm rot="8451822">
            <a:off x="5601443" y="3041551"/>
            <a:ext cx="469447" cy="3143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78"/>
            <a:endParaRPr lang="en-US">
              <a:solidFill>
                <a:prstClr val="white"/>
              </a:solidFill>
            </a:endParaRPr>
          </a:p>
        </p:txBody>
      </p:sp>
      <p:sp>
        <p:nvSpPr>
          <p:cNvPr id="7" name="Rectangle 3"/>
          <p:cNvSpPr txBox="1">
            <a:spLocks noChangeArrowheads="1"/>
          </p:cNvSpPr>
          <p:nvPr/>
        </p:nvSpPr>
        <p:spPr>
          <a:xfrm>
            <a:off x="6193972" y="3783727"/>
            <a:ext cx="5457876" cy="2446258"/>
          </a:xfrm>
          <a:prstGeom prst="rect">
            <a:avLst/>
          </a:prstGeom>
        </p:spPr>
        <p:txBody>
          <a:bodyPr vert="horz" lIns="91436" tIns="45718" rIns="91436" bIns="45718" rtlCol="0">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Aft>
                <a:spcPts val="1200"/>
              </a:spcAft>
            </a:pPr>
            <a:r>
              <a:rPr lang="zh-CN" altLang="en-US" sz="2400" dirty="0">
                <a:solidFill>
                  <a:srgbClr val="000000"/>
                </a:solidFill>
                <a:sym typeface="Symbol" pitchFamily="18" charset="2"/>
              </a:rPr>
              <a:t>为什么这些项集（左侧所示）对于任意 </a:t>
            </a:r>
            <a:r>
              <a:rPr lang="en-US" altLang="zh-CN" sz="2400" dirty="0">
                <a:solidFill>
                  <a:srgbClr val="000000"/>
                </a:solidFill>
                <a:sym typeface="Symbol" pitchFamily="18" charset="2"/>
              </a:rPr>
              <a:t>k </a:t>
            </a:r>
            <a:r>
              <a:rPr lang="zh-CN" altLang="en-US" sz="2400" dirty="0">
                <a:solidFill>
                  <a:srgbClr val="000000"/>
                </a:solidFill>
                <a:sym typeface="Symbol" pitchFamily="18" charset="2"/>
              </a:rPr>
              <a:t>构成了完整的频繁 </a:t>
            </a:r>
            <a:r>
              <a:rPr lang="en-US" altLang="zh-CN" sz="2400" dirty="0">
                <a:solidFill>
                  <a:srgbClr val="000000"/>
                </a:solidFill>
                <a:sym typeface="Symbol" pitchFamily="18" charset="2"/>
              </a:rPr>
              <a:t>k </a:t>
            </a:r>
            <a:r>
              <a:rPr lang="zh-CN" altLang="en-US" sz="2400" dirty="0">
                <a:solidFill>
                  <a:srgbClr val="000000"/>
                </a:solidFill>
                <a:sym typeface="Symbol" pitchFamily="18" charset="2"/>
              </a:rPr>
              <a:t>项集（模式）集合？</a:t>
            </a:r>
            <a:endParaRPr lang="en-US" altLang="en-US" sz="2400" dirty="0">
              <a:solidFill>
                <a:srgbClr val="000000"/>
              </a:solidFill>
              <a:sym typeface="Symbol" pitchFamily="18" charset="2"/>
            </a:endParaRPr>
          </a:p>
          <a:p>
            <a:r>
              <a:rPr lang="zh-CN" altLang="en-US" sz="2400" dirty="0">
                <a:solidFill>
                  <a:srgbClr val="000000"/>
                </a:solidFill>
                <a:sym typeface="Symbol" pitchFamily="18" charset="2"/>
              </a:rPr>
              <a:t>观察：我们可能需要一种高效的方法来挖掘完整的频繁模式集合。</a:t>
            </a:r>
            <a:endParaRPr lang="en-US" altLang="en-US" sz="2400" dirty="0">
              <a:solidFill>
                <a:srgbClr val="000000"/>
              </a:solidFill>
            </a:endParaRPr>
          </a:p>
        </p:txBody>
      </p:sp>
    </p:spTree>
    <p:extLst>
      <p:ext uri="{BB962C8B-B14F-4D97-AF65-F5344CB8AC3E}">
        <p14:creationId xmlns:p14="http://schemas.microsoft.com/office/powerpoint/2010/main" val="16736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674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8">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14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48">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48">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148">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148">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101600" y="152400"/>
            <a:ext cx="12395200" cy="762000"/>
          </a:xfrm>
        </p:spPr>
        <p:txBody>
          <a:bodyPr/>
          <a:lstStyle/>
          <a:p>
            <a:r>
              <a:rPr lang="en-US" altLang="zh-CN" dirty="0"/>
              <a:t>Measures of Association Rules</a:t>
            </a:r>
            <a:endParaRPr lang="en-US" altLang="en-US" dirty="0"/>
          </a:p>
        </p:txBody>
      </p:sp>
      <mc:AlternateContent xmlns:mc="http://schemas.openxmlformats.org/markup-compatibility/2006">
        <mc:Choice xmlns:a14="http://schemas.microsoft.com/office/drawing/2010/main" Requires="a14">
          <p:sp>
            <p:nvSpPr>
              <p:cNvPr id="8196" name="Rectangle 3"/>
              <p:cNvSpPr>
                <a:spLocks noGrp="1" noChangeArrowheads="1"/>
              </p:cNvSpPr>
              <p:nvPr>
                <p:ph idx="1"/>
              </p:nvPr>
            </p:nvSpPr>
            <p:spPr>
              <a:xfrm>
                <a:off x="389278" y="1149615"/>
                <a:ext cx="11241714" cy="5587315"/>
              </a:xfrm>
            </p:spPr>
            <p:txBody>
              <a:bodyPr vert="horz" lIns="91436" tIns="45718" rIns="91436" bIns="45718" rtlCol="0" anchor="t">
                <a:noAutofit/>
              </a:bodyPr>
              <a:lstStyle/>
              <a:p>
                <a:r>
                  <a:rPr lang="zh-CN" altLang="en-US" sz="2400" dirty="0"/>
                  <a:t>给出两个公式：</a:t>
                </a:r>
              </a:p>
              <a:p>
                <a:pPr/>
                <a14:m>
                  <m:oMath xmlns:m="http://schemas.openxmlformats.org/officeDocument/2006/math">
                    <m:r>
                      <a:rPr lang="zh-CN" altLang="en-US" i="1"/>
                      <m:t>𝑠𝑢𝑝𝑝𝑜𝑟𝑡</m:t>
                    </m:r>
                    <m:d>
                      <m:dPr>
                        <m:ctrlPr>
                          <a:rPr lang="ar-AE" altLang="zh-CN" i="1"/>
                        </m:ctrlPr>
                      </m:dPr>
                      <m:e>
                        <m:r>
                          <a:rPr lang="zh-CN" altLang="ar-AE" i="1"/>
                          <m:t>𝐴</m:t>
                        </m:r>
                        <m:r>
                          <a:rPr lang="ar-AE" altLang="zh-CN"/>
                          <m:t>⇒</m:t>
                        </m:r>
                        <m:r>
                          <a:rPr lang="zh-CN" altLang="ar-AE" i="1"/>
                          <m:t>𝐵</m:t>
                        </m:r>
                      </m:e>
                    </m:d>
                    <m:r>
                      <a:rPr lang="ar-AE" altLang="zh-CN"/>
                      <m:t>=</m:t>
                    </m:r>
                    <m:r>
                      <a:rPr lang="zh-CN" altLang="ar-AE" i="1"/>
                      <m:t>𝑃</m:t>
                    </m:r>
                    <m:d>
                      <m:dPr>
                        <m:ctrlPr>
                          <a:rPr lang="ar-AE" altLang="zh-CN" i="1"/>
                        </m:ctrlPr>
                      </m:dPr>
                      <m:e>
                        <m:r>
                          <a:rPr lang="zh-CN" altLang="ar-AE" i="1"/>
                          <m:t>𝐴</m:t>
                        </m:r>
                        <m:r>
                          <a:rPr lang="ar-AE" altLang="zh-CN"/>
                          <m:t>∪</m:t>
                        </m:r>
                        <m:r>
                          <a:rPr lang="zh-CN" altLang="ar-AE" i="1"/>
                          <m:t>𝐵</m:t>
                        </m:r>
                      </m:e>
                    </m:d>
                  </m:oMath>
                </a14:m>
                <a:br>
                  <a:rPr lang="en-US" altLang="zh-CN" sz="2400" dirty="0"/>
                </a:br>
                <a14:m>
                  <m:oMath xmlns:m="http://schemas.openxmlformats.org/officeDocument/2006/math">
                    <m:r>
                      <m:rPr>
                        <m:nor/>
                      </m:rPr>
                      <a:rPr lang="en-US" altLang="zh-CN" sz="2400" dirty="0">
                        <a:latin typeface="Calibri" panose="020F0502020204030204" pitchFamily="34" charset="0"/>
                        <a:cs typeface="Calibri"/>
                      </a:rPr>
                      <m:t>Ex</m:t>
                    </m:r>
                    <m:r>
                      <m:rPr>
                        <m:nor/>
                      </m:rPr>
                      <a:rPr lang="en-US" altLang="zh-CN" sz="2400" dirty="0">
                        <a:latin typeface="Calibri" panose="020F0502020204030204" pitchFamily="34" charset="0"/>
                        <a:cs typeface="Calibri"/>
                      </a:rPr>
                      <m:t>. </m:t>
                    </m:r>
                    <m:r>
                      <m:rPr>
                        <m:nor/>
                      </m:rPr>
                      <a:rPr lang="en-US" altLang="zh-CN" sz="2400" dirty="0">
                        <a:latin typeface="Calibri" panose="020F0502020204030204" pitchFamily="34" charset="0"/>
                        <a:cs typeface="Calibri"/>
                      </a:rPr>
                      <m:t>s</m:t>
                    </m:r>
                    <m:r>
                      <m:rPr>
                        <m:nor/>
                      </m:rPr>
                      <a:rPr lang="en-US" altLang="zh-CN" sz="2400" dirty="0">
                        <a:latin typeface="Calibri" panose="020F0502020204030204" pitchFamily="34" charset="0"/>
                        <a:cs typeface="Calibri"/>
                      </a:rPr>
                      <m:t>{</m:t>
                    </m:r>
                    <m:r>
                      <m:rPr>
                        <m:nor/>
                      </m:rPr>
                      <a:rPr lang="en-US" altLang="zh-CN" sz="2400" dirty="0">
                        <a:latin typeface="Calibri" panose="020F0502020204030204" pitchFamily="34" charset="0"/>
                        <a:cs typeface="Calibri"/>
                      </a:rPr>
                      <m:t>Diaper</m:t>
                    </m:r>
                    <m:r>
                      <m:rPr>
                        <m:nor/>
                      </m:rPr>
                      <a:rPr lang="en-US" altLang="zh-CN" sz="2400" dirty="0">
                        <a:latin typeface="Calibri" panose="020F0502020204030204" pitchFamily="34" charset="0"/>
                        <a:cs typeface="Calibri"/>
                      </a:rPr>
                      <m:t>, </m:t>
                    </m:r>
                    <m:r>
                      <m:rPr>
                        <m:nor/>
                      </m:rPr>
                      <a:rPr lang="en-US" altLang="zh-CN" sz="2400" dirty="0">
                        <a:latin typeface="Calibri" panose="020F0502020204030204" pitchFamily="34" charset="0"/>
                        <a:cs typeface="Calibri"/>
                      </a:rPr>
                      <m:t>Beer</m:t>
                    </m:r>
                    <m:r>
                      <m:rPr>
                        <m:nor/>
                      </m:rPr>
                      <a:rPr lang="en-US" altLang="zh-CN" sz="2400" dirty="0">
                        <a:latin typeface="Calibri" panose="020F0502020204030204" pitchFamily="34" charset="0"/>
                        <a:cs typeface="Calibri"/>
                      </a:rPr>
                      <m:t>} = </m:t>
                    </m:r>
                    <m:r>
                      <m:rPr>
                        <m:nor/>
                      </m:rPr>
                      <a:rPr lang="en-US" altLang="zh-CN" sz="2400" dirty="0">
                        <a:latin typeface="Calibri" panose="020F0502020204030204" pitchFamily="34" charset="0"/>
                        <a:cs typeface="Calibri"/>
                      </a:rPr>
                      <m:t>3</m:t>
                    </m:r>
                    <m:r>
                      <m:rPr>
                        <m:nor/>
                      </m:rPr>
                      <a:rPr lang="en-US" altLang="zh-CN" sz="2400" dirty="0">
                        <a:latin typeface="Calibri" panose="020F0502020204030204" pitchFamily="34" charset="0"/>
                        <a:cs typeface="Calibri"/>
                      </a:rPr>
                      <m:t>/</m:t>
                    </m:r>
                    <m:r>
                      <m:rPr>
                        <m:nor/>
                      </m:rPr>
                      <a:rPr lang="en-US" altLang="zh-CN" sz="2400" dirty="0">
                        <a:latin typeface="Calibri" panose="020F0502020204030204" pitchFamily="34" charset="0"/>
                        <a:cs typeface="Calibri"/>
                      </a:rPr>
                      <m:t>5 </m:t>
                    </m:r>
                    <m:r>
                      <m:rPr>
                        <m:nor/>
                      </m:rPr>
                      <a:rPr lang="en-US" altLang="zh-CN" sz="2400" dirty="0">
                        <a:latin typeface="Calibri" panose="020F0502020204030204" pitchFamily="34" charset="0"/>
                        <a:cs typeface="Calibri"/>
                      </a:rPr>
                      <m:t>= </m:t>
                    </m:r>
                    <m:r>
                      <m:rPr>
                        <m:nor/>
                      </m:rPr>
                      <a:rPr lang="en-US" altLang="zh-CN" sz="2400" dirty="0">
                        <a:latin typeface="Calibri" panose="020F0502020204030204" pitchFamily="34" charset="0"/>
                        <a:cs typeface="Calibri"/>
                      </a:rPr>
                      <m:t>0.6 </m:t>
                    </m:r>
                    <m:r>
                      <m:rPr>
                        <m:nor/>
                      </m:rPr>
                      <a:rPr lang="en-US" altLang="zh-CN" sz="2400" dirty="0">
                        <a:latin typeface="Calibri" panose="020F0502020204030204" pitchFamily="34" charset="0"/>
                        <a:cs typeface="Calibri"/>
                      </a:rPr>
                      <m:t>(</m:t>
                    </m:r>
                    <m:r>
                      <m:rPr>
                        <m:nor/>
                      </m:rPr>
                      <a:rPr lang="en-US" altLang="zh-CN" sz="2400" dirty="0">
                        <a:latin typeface="Calibri" panose="020F0502020204030204" pitchFamily="34" charset="0"/>
                        <a:cs typeface="Calibri"/>
                      </a:rPr>
                      <m:t>i</m:t>
                    </m:r>
                    <m:r>
                      <m:rPr>
                        <m:nor/>
                      </m:rPr>
                      <a:rPr lang="en-US" altLang="zh-CN" sz="2400" dirty="0">
                        <a:latin typeface="Calibri" panose="020F0502020204030204" pitchFamily="34" charset="0"/>
                        <a:cs typeface="Calibri"/>
                      </a:rPr>
                      <m:t>.</m:t>
                    </m:r>
                    <m:r>
                      <m:rPr>
                        <m:nor/>
                      </m:rPr>
                      <a:rPr lang="en-US" altLang="zh-CN" sz="2400" dirty="0">
                        <a:latin typeface="Calibri" panose="020F0502020204030204" pitchFamily="34" charset="0"/>
                        <a:cs typeface="Calibri"/>
                      </a:rPr>
                      <m:t>e</m:t>
                    </m:r>
                    <m:r>
                      <m:rPr>
                        <m:nor/>
                      </m:rPr>
                      <a:rPr lang="en-US" altLang="zh-CN" sz="2400" dirty="0">
                        <a:latin typeface="Calibri" panose="020F0502020204030204" pitchFamily="34" charset="0"/>
                        <a:cs typeface="Calibri"/>
                      </a:rPr>
                      <m:t>., </m:t>
                    </m:r>
                    <m:r>
                      <m:rPr>
                        <m:nor/>
                      </m:rPr>
                      <a:rPr lang="en-US" altLang="zh-CN" sz="2400" dirty="0">
                        <a:latin typeface="Calibri" panose="020F0502020204030204" pitchFamily="34" charset="0"/>
                        <a:cs typeface="Calibri"/>
                      </a:rPr>
                      <m:t>60</m:t>
                    </m:r>
                    <m:r>
                      <m:rPr>
                        <m:nor/>
                      </m:rPr>
                      <a:rPr lang="en-US" altLang="zh-CN" sz="2400" dirty="0">
                        <a:latin typeface="Calibri" panose="020F0502020204030204" pitchFamily="34" charset="0"/>
                        <a:cs typeface="Calibri"/>
                      </a:rPr>
                      <m:t>%)</m:t>
                    </m:r>
                  </m:oMath>
                </a14:m>
                <a:endParaRPr lang="ar-AE" altLang="zh-CN" sz="2400" dirty="0"/>
              </a:p>
              <a:p>
                <a:pPr/>
                <a14:m>
                  <m:oMath xmlns:m="http://schemas.openxmlformats.org/officeDocument/2006/math">
                    <m:r>
                      <a:rPr lang="zh-CN" altLang="ar-AE" i="1"/>
                      <m:t>𝑐𝑜𝑛𝑓𝑖𝑑𝑒𝑛𝑐𝑒</m:t>
                    </m:r>
                    <m:d>
                      <m:dPr>
                        <m:ctrlPr>
                          <a:rPr lang="ar-AE" altLang="zh-CN" i="1"/>
                        </m:ctrlPr>
                      </m:dPr>
                      <m:e>
                        <m:r>
                          <a:rPr lang="zh-CN" altLang="ar-AE" i="1"/>
                          <m:t>𝐴</m:t>
                        </m:r>
                        <m:r>
                          <a:rPr lang="ar-AE" altLang="zh-CN"/>
                          <m:t>⇒</m:t>
                        </m:r>
                        <m:r>
                          <a:rPr lang="zh-CN" altLang="ar-AE" i="1"/>
                          <m:t>𝐵</m:t>
                        </m:r>
                      </m:e>
                    </m:d>
                    <m:r>
                      <a:rPr lang="ar-AE" altLang="zh-CN"/>
                      <m:t>=</m:t>
                    </m:r>
                    <m:r>
                      <a:rPr lang="zh-CN" altLang="ar-AE" i="1"/>
                      <m:t>𝑃</m:t>
                    </m:r>
                    <m:d>
                      <m:dPr>
                        <m:ctrlPr>
                          <a:rPr lang="ar-AE" altLang="zh-CN" i="1"/>
                        </m:ctrlPr>
                      </m:dPr>
                      <m:e>
                        <m:r>
                          <a:rPr lang="zh-CN" altLang="ar-AE" i="1"/>
                          <m:t>𝐵</m:t>
                        </m:r>
                        <m:r>
                          <a:rPr lang="ar-AE" altLang="zh-CN"/>
                          <m:t>∣</m:t>
                        </m:r>
                        <m:r>
                          <a:rPr lang="zh-CN" altLang="ar-AE" i="1"/>
                          <m:t>𝐴</m:t>
                        </m:r>
                      </m:e>
                    </m:d>
                    <m:r>
                      <a:rPr lang="ar-AE" altLang="zh-CN"/>
                      <m:t>=</m:t>
                    </m:r>
                    <m:f>
                      <m:fPr>
                        <m:ctrlPr>
                          <a:rPr lang="ar-AE" altLang="zh-CN" i="1"/>
                        </m:ctrlPr>
                      </m:fPr>
                      <m:num>
                        <m:r>
                          <a:rPr lang="zh-CN" altLang="ar-AE" i="1"/>
                          <m:t>𝑠𝑢𝑝𝑝𝑜𝑟𝑡</m:t>
                        </m:r>
                        <m:d>
                          <m:dPr>
                            <m:ctrlPr>
                              <a:rPr lang="ar-AE" altLang="zh-CN" i="1"/>
                            </m:ctrlPr>
                          </m:dPr>
                          <m:e>
                            <m:r>
                              <a:rPr lang="zh-CN" altLang="ar-AE" i="1"/>
                              <m:t>𝐴</m:t>
                            </m:r>
                            <m:r>
                              <a:rPr lang="ar-AE" altLang="zh-CN"/>
                              <m:t>∪</m:t>
                            </m:r>
                            <m:r>
                              <a:rPr lang="zh-CN" altLang="ar-AE" i="1"/>
                              <m:t>𝐵</m:t>
                            </m:r>
                          </m:e>
                        </m:d>
                      </m:num>
                      <m:den>
                        <m:r>
                          <a:rPr lang="zh-CN" altLang="ar-AE" i="1"/>
                          <m:t>𝑠𝑢𝑝𝑝𝑜𝑟𝑡</m:t>
                        </m:r>
                        <m:d>
                          <m:dPr>
                            <m:ctrlPr>
                              <a:rPr lang="ar-AE" altLang="zh-CN" i="1"/>
                            </m:ctrlPr>
                          </m:dPr>
                          <m:e>
                            <m:r>
                              <a:rPr lang="zh-CN" altLang="ar-AE" i="1"/>
                              <m:t>𝐴</m:t>
                            </m:r>
                          </m:e>
                        </m:d>
                      </m:den>
                    </m:f>
                  </m:oMath>
                </a14:m>
                <a:br>
                  <a:rPr lang="en-US" altLang="zh-CN" sz="2400" dirty="0"/>
                </a:br>
                <a14:m>
                  <m:oMath xmlns:m="http://schemas.openxmlformats.org/officeDocument/2006/math">
                    <m:r>
                      <m:rPr>
                        <m:nor/>
                      </m:rPr>
                      <a:rPr lang="en-US" altLang="zh-CN" sz="2400" dirty="0">
                        <a:latin typeface="Calibri" panose="020F0502020204030204" pitchFamily="34" charset="0"/>
                        <a:cs typeface="Calibri"/>
                      </a:rPr>
                      <m:t>Ex</m:t>
                    </m:r>
                    <m:r>
                      <m:rPr>
                        <m:nor/>
                      </m:rPr>
                      <a:rPr lang="en-US" altLang="zh-CN" sz="2400" dirty="0">
                        <a:latin typeface="Calibri" panose="020F0502020204030204" pitchFamily="34" charset="0"/>
                        <a:cs typeface="Calibri"/>
                      </a:rPr>
                      <m:t>.</m:t>
                    </m:r>
                    <m:r>
                      <m:rPr>
                        <m:nor/>
                      </m:rPr>
                      <a:rPr lang="en-US" altLang="zh-CN" sz="2400" dirty="0">
                        <a:latin typeface="Calibri" panose="020F0502020204030204" pitchFamily="34" charset="0"/>
                        <a:cs typeface="Calibri"/>
                      </a:rPr>
                      <m:t> </m:t>
                    </m:r>
                    <m:r>
                      <m:rPr>
                        <m:nor/>
                      </m:rPr>
                      <a:rPr lang="en-US" altLang="zh-CN" sz="2400" i="1" dirty="0">
                        <a:latin typeface="Calibri" panose="020F0502020204030204" pitchFamily="34" charset="0"/>
                        <a:cs typeface="Calibri"/>
                      </a:rPr>
                      <m:t>c</m:t>
                    </m:r>
                    <m:r>
                      <m:rPr>
                        <m:nor/>
                      </m:rPr>
                      <a:rPr lang="en-US" altLang="zh-CN" sz="2400" dirty="0">
                        <a:latin typeface="Calibri" panose="020F0502020204030204" pitchFamily="34" charset="0"/>
                        <a:cs typeface="Calibri"/>
                      </a:rPr>
                      <m:t> = </m:t>
                    </m:r>
                    <m:r>
                      <m:rPr>
                        <m:nor/>
                      </m:rPr>
                      <a:rPr lang="en-US" altLang="zh-CN" sz="2400" dirty="0">
                        <a:latin typeface="Calibri" panose="020F0502020204030204" pitchFamily="34" charset="0"/>
                        <a:cs typeface="Calibri"/>
                      </a:rPr>
                      <m:t>sup</m:t>
                    </m:r>
                    <m:r>
                      <m:rPr>
                        <m:nor/>
                      </m:rPr>
                      <a:rPr lang="en-US" altLang="zh-CN" sz="2400" dirty="0">
                        <a:latin typeface="Calibri" panose="020F0502020204030204" pitchFamily="34" charset="0"/>
                        <a:cs typeface="Calibri"/>
                      </a:rPr>
                      <m:t>{</m:t>
                    </m:r>
                    <m:r>
                      <m:rPr>
                        <m:nor/>
                      </m:rPr>
                      <a:rPr lang="en-US" altLang="zh-CN" sz="2400" dirty="0">
                        <a:latin typeface="Calibri" panose="020F0502020204030204" pitchFamily="34" charset="0"/>
                        <a:cs typeface="Calibri"/>
                      </a:rPr>
                      <m:t>Diaper</m:t>
                    </m:r>
                    <m:r>
                      <m:rPr>
                        <m:nor/>
                      </m:rPr>
                      <a:rPr lang="en-US" altLang="zh-CN" sz="2400" dirty="0">
                        <a:latin typeface="Calibri" panose="020F0502020204030204" pitchFamily="34" charset="0"/>
                        <a:cs typeface="Calibri"/>
                      </a:rPr>
                      <m:t>, </m:t>
                    </m:r>
                    <m:r>
                      <m:rPr>
                        <m:nor/>
                      </m:rPr>
                      <a:rPr lang="en-US" altLang="zh-CN" sz="2400" dirty="0">
                        <a:latin typeface="Calibri" panose="020F0502020204030204" pitchFamily="34" charset="0"/>
                        <a:cs typeface="Calibri"/>
                      </a:rPr>
                      <m:t>Beer</m:t>
                    </m:r>
                    <m:r>
                      <m:rPr>
                        <m:nor/>
                      </m:rPr>
                      <a:rPr lang="en-US" altLang="zh-CN" sz="2400" dirty="0">
                        <a:latin typeface="Calibri" panose="020F0502020204030204" pitchFamily="34" charset="0"/>
                        <a:cs typeface="Calibri"/>
                      </a:rPr>
                      <m:t>}/</m:t>
                    </m:r>
                    <m:r>
                      <m:rPr>
                        <m:nor/>
                      </m:rPr>
                      <a:rPr lang="en-US" altLang="zh-CN" sz="2400" dirty="0">
                        <a:latin typeface="Calibri" panose="020F0502020204030204" pitchFamily="34" charset="0"/>
                        <a:cs typeface="Calibri"/>
                      </a:rPr>
                      <m:t>sup</m:t>
                    </m:r>
                    <m:r>
                      <m:rPr>
                        <m:nor/>
                      </m:rPr>
                      <a:rPr lang="en-US" altLang="zh-CN" sz="2400" dirty="0">
                        <a:latin typeface="Calibri" panose="020F0502020204030204" pitchFamily="34" charset="0"/>
                        <a:cs typeface="Calibri"/>
                      </a:rPr>
                      <m:t>{</m:t>
                    </m:r>
                    <m:r>
                      <m:rPr>
                        <m:nor/>
                      </m:rPr>
                      <a:rPr lang="en-US" altLang="zh-CN" sz="2400" dirty="0">
                        <a:latin typeface="Calibri" panose="020F0502020204030204" pitchFamily="34" charset="0"/>
                        <a:cs typeface="Calibri"/>
                      </a:rPr>
                      <m:t>Diaper</m:t>
                    </m:r>
                    <m:r>
                      <m:rPr>
                        <m:nor/>
                      </m:rPr>
                      <a:rPr lang="en-US" altLang="zh-CN" sz="2400" dirty="0">
                        <a:latin typeface="Calibri" panose="020F0502020204030204" pitchFamily="34" charset="0"/>
                        <a:cs typeface="Calibri"/>
                      </a:rPr>
                      <m:t>} = ¾ = </m:t>
                    </m:r>
                    <m:r>
                      <m:rPr>
                        <m:nor/>
                      </m:rPr>
                      <a:rPr lang="en-US" altLang="zh-CN" sz="2400" dirty="0">
                        <a:latin typeface="Calibri" panose="020F0502020204030204" pitchFamily="34" charset="0"/>
                        <a:cs typeface="Calibri"/>
                      </a:rPr>
                      <m:t>0.75</m:t>
                    </m:r>
                  </m:oMath>
                </a14:m>
                <a:endParaRPr lang="ar-AE" altLang="zh-CN" sz="2400" dirty="0"/>
              </a:p>
              <a:p>
                <a:pPr>
                  <a:spcBef>
                    <a:spcPts val="200"/>
                  </a:spcBef>
                  <a:defRPr/>
                </a:pPr>
                <a:r>
                  <a:rPr lang="en-US" altLang="en-US" sz="2400" dirty="0">
                    <a:latin typeface="Calibri" panose="020F0502020204030204" pitchFamily="34" charset="0"/>
                    <a:sym typeface="Symbol" pitchFamily="18" charset="2"/>
                  </a:rPr>
                  <a:t>Support：</a:t>
                </a:r>
                <a:r>
                  <a:rPr lang="zh-CN" altLang="en-US" sz="2400" dirty="0">
                    <a:latin typeface="Calibri" panose="020F0502020204030204" pitchFamily="34" charset="0"/>
                    <a:sym typeface="Symbol" pitchFamily="18" charset="2"/>
                  </a:rPr>
                  <a:t>规则在全部事务中出现得有多频繁</a:t>
                </a:r>
                <a:br>
                  <a:rPr lang="en-US" altLang="zh-CN" sz="2400" dirty="0">
                    <a:latin typeface="Calibri" panose="020F0502020204030204" pitchFamily="34" charset="0"/>
                    <a:sym typeface="Symbol" pitchFamily="18" charset="2"/>
                  </a:rPr>
                </a:br>
                <a:r>
                  <a:rPr lang="en-US" altLang="en-US" sz="2400" dirty="0">
                    <a:latin typeface="Calibri" panose="020F0502020204030204" pitchFamily="34" charset="0"/>
                    <a:sym typeface="Symbol" pitchFamily="18" charset="2"/>
                  </a:rPr>
                  <a:t>Confidence：</a:t>
                </a:r>
                <a:r>
                  <a:rPr lang="zh-CN" altLang="en-US" sz="2400" dirty="0">
                    <a:latin typeface="Calibri" panose="020F0502020204030204" pitchFamily="34" charset="0"/>
                    <a:sym typeface="Symbol" pitchFamily="18" charset="2"/>
                  </a:rPr>
                  <a:t>在出现 </a:t>
                </a:r>
                <a:r>
                  <a:rPr lang="en-US" altLang="en-US" sz="2400" dirty="0">
                    <a:latin typeface="Calibri" panose="020F0502020204030204" pitchFamily="34" charset="0"/>
                    <a:sym typeface="Symbol" pitchFamily="18" charset="2"/>
                  </a:rPr>
                  <a:t>A </a:t>
                </a:r>
                <a:r>
                  <a:rPr lang="zh-CN" altLang="en-US" sz="2400" dirty="0">
                    <a:latin typeface="Calibri" panose="020F0502020204030204" pitchFamily="34" charset="0"/>
                    <a:sym typeface="Symbol" pitchFamily="18" charset="2"/>
                  </a:rPr>
                  <a:t>的事务中，出现 </a:t>
                </a:r>
                <a:r>
                  <a:rPr lang="en-US" altLang="en-US" sz="2400" dirty="0">
                    <a:latin typeface="Calibri" panose="020F0502020204030204" pitchFamily="34" charset="0"/>
                    <a:sym typeface="Symbol" pitchFamily="18" charset="2"/>
                  </a:rPr>
                  <a:t>B </a:t>
                </a:r>
                <a:r>
                  <a:rPr lang="zh-CN" altLang="en-US" sz="2400" dirty="0">
                    <a:latin typeface="Calibri" panose="020F0502020204030204" pitchFamily="34" charset="0"/>
                    <a:sym typeface="Symbol" pitchFamily="18" charset="2"/>
                  </a:rPr>
                  <a:t>的概率有多大</a:t>
                </a:r>
                <a:br>
                  <a:rPr lang="en-US" altLang="zh-CN" sz="2400" dirty="0">
                    <a:latin typeface="Calibri" panose="020F0502020204030204" pitchFamily="34" charset="0"/>
                    <a:sym typeface="Symbol" pitchFamily="18" charset="2"/>
                  </a:rPr>
                </a:br>
                <a:br>
                  <a:rPr lang="en-US" altLang="zh-CN" sz="2400" dirty="0">
                    <a:latin typeface="Calibri" panose="020F0502020204030204" pitchFamily="34" charset="0"/>
                    <a:sym typeface="Symbol" pitchFamily="18" charset="2"/>
                  </a:rPr>
                </a:br>
                <a:r>
                  <a:rPr lang="en-US" altLang="en-US" sz="2400" b="1" dirty="0">
                    <a:latin typeface="Calibri" panose="020F0502020204030204" pitchFamily="34" charset="0"/>
                  </a:rPr>
                  <a:t>Association rule mining</a:t>
                </a:r>
              </a:p>
              <a:p>
                <a:pPr lvl="1">
                  <a:spcBef>
                    <a:spcPts val="200"/>
                  </a:spcBef>
                  <a:defRPr/>
                </a:pPr>
                <a:r>
                  <a:rPr lang="en-US" altLang="en-US" sz="2400" dirty="0">
                    <a:latin typeface="Calibri" panose="020F0502020204030204" pitchFamily="34" charset="0"/>
                  </a:rPr>
                  <a:t>Given two thresholds: </a:t>
                </a:r>
                <a:r>
                  <a:rPr lang="en-US" altLang="en-US" sz="2400" i="1" dirty="0" err="1">
                    <a:latin typeface="Calibri" panose="020F0502020204030204" pitchFamily="34" charset="0"/>
                  </a:rPr>
                  <a:t>minsup</a:t>
                </a:r>
                <a:r>
                  <a:rPr lang="en-US" altLang="en-US" sz="2400" i="1" dirty="0">
                    <a:latin typeface="Calibri" panose="020F0502020204030204" pitchFamily="34" charset="0"/>
                  </a:rPr>
                  <a:t>, </a:t>
                </a:r>
                <a:r>
                  <a:rPr lang="en-US" altLang="en-US" sz="2400" i="1" dirty="0" err="1">
                    <a:latin typeface="Calibri" panose="020F0502020204030204" pitchFamily="34" charset="0"/>
                  </a:rPr>
                  <a:t>minconf</a:t>
                </a:r>
                <a:endParaRPr lang="en-US" altLang="en-US" sz="2400" dirty="0">
                  <a:latin typeface="Calibri" panose="020F0502020204030204" pitchFamily="34" charset="0"/>
                </a:endParaRPr>
              </a:p>
              <a:p>
                <a:pPr lvl="1">
                  <a:spcBef>
                    <a:spcPts val="200"/>
                  </a:spcBef>
                  <a:defRPr/>
                </a:pPr>
                <a:r>
                  <a:rPr lang="en-US" altLang="en-US" sz="2400" dirty="0">
                    <a:latin typeface="Calibri" panose="020F0502020204030204" pitchFamily="34" charset="0"/>
                  </a:rPr>
                  <a:t>Find </a:t>
                </a:r>
                <a:r>
                  <a:rPr lang="en-US" altLang="en-US" sz="2400" dirty="0">
                    <a:solidFill>
                      <a:srgbClr val="FF0000"/>
                    </a:solidFill>
                    <a:latin typeface="Calibri" panose="020F0502020204030204" pitchFamily="34" charset="0"/>
                  </a:rPr>
                  <a:t>all</a:t>
                </a:r>
                <a:r>
                  <a:rPr lang="en-US" altLang="en-US" sz="2400" dirty="0">
                    <a:latin typeface="Calibri" panose="020F0502020204030204" pitchFamily="34" charset="0"/>
                  </a:rPr>
                  <a:t> of the rules, </a:t>
                </a:r>
                <a:r>
                  <a:rPr lang="en-US" altLang="en-US" sz="2400" i="1" dirty="0">
                    <a:latin typeface="Calibri" panose="020F0502020204030204" pitchFamily="34" charset="0"/>
                  </a:rPr>
                  <a:t>X </a:t>
                </a:r>
                <a:r>
                  <a:rPr lang="en-US" altLang="en-US" sz="2400" dirty="0">
                    <a:latin typeface="Calibri" panose="020F0502020204030204" pitchFamily="34" charset="0"/>
                    <a:sym typeface="Wingdings" pitchFamily="2" charset="2"/>
                  </a:rPr>
                  <a:t> </a:t>
                </a:r>
                <a:r>
                  <a:rPr lang="en-US" altLang="en-US" sz="2400" i="1" dirty="0">
                    <a:latin typeface="Calibri" panose="020F0502020204030204" pitchFamily="34" charset="0"/>
                    <a:sym typeface="Wingdings" pitchFamily="2" charset="2"/>
                  </a:rPr>
                  <a:t>Y </a:t>
                </a:r>
                <a:r>
                  <a:rPr lang="en-US" altLang="en-US" sz="2400" dirty="0">
                    <a:latin typeface="Calibri" panose="020F0502020204030204" pitchFamily="34" charset="0"/>
                    <a:sym typeface="Wingdings" pitchFamily="2" charset="2"/>
                  </a:rPr>
                  <a:t>(s, c)</a:t>
                </a:r>
                <a:br>
                  <a:rPr lang="en-US" altLang="en-US" sz="2400" dirty="0">
                    <a:latin typeface="Calibri" panose="020F0502020204030204" pitchFamily="34" charset="0"/>
                    <a:sym typeface="Wingdings" pitchFamily="2" charset="2"/>
                  </a:rPr>
                </a:br>
                <a:r>
                  <a:rPr lang="en-US" altLang="en-US" sz="2400" dirty="0">
                    <a:latin typeface="Calibri" panose="020F0502020204030204" pitchFamily="34" charset="0"/>
                  </a:rPr>
                  <a:t>such that s ≥ </a:t>
                </a:r>
                <a:r>
                  <a:rPr lang="en-US" altLang="en-US" sz="2400" i="1" dirty="0" err="1">
                    <a:latin typeface="Calibri" panose="020F0502020204030204" pitchFamily="34" charset="0"/>
                  </a:rPr>
                  <a:t>minsup</a:t>
                </a:r>
                <a:r>
                  <a:rPr lang="en-US" altLang="en-US" sz="2400" i="1" dirty="0">
                    <a:latin typeface="Calibri" panose="020F0502020204030204" pitchFamily="34" charset="0"/>
                  </a:rPr>
                  <a:t> </a:t>
                </a:r>
                <a:r>
                  <a:rPr lang="en-US" altLang="en-US" sz="2400" dirty="0">
                    <a:latin typeface="Calibri" panose="020F0502020204030204" pitchFamily="34" charset="0"/>
                  </a:rPr>
                  <a:t>and</a:t>
                </a:r>
                <a:r>
                  <a:rPr lang="en-US" altLang="en-US" sz="2400" i="1" dirty="0">
                    <a:latin typeface="Calibri" panose="020F0502020204030204" pitchFamily="34" charset="0"/>
                  </a:rPr>
                  <a:t>  c </a:t>
                </a:r>
                <a:r>
                  <a:rPr lang="en-US" altLang="en-US" sz="2400" dirty="0">
                    <a:latin typeface="Calibri" panose="020F0502020204030204" pitchFamily="34" charset="0"/>
                  </a:rPr>
                  <a:t>≥ </a:t>
                </a:r>
                <a:r>
                  <a:rPr lang="en-US" altLang="en-US" sz="2400" i="1" dirty="0" err="1">
                    <a:latin typeface="Calibri" panose="020F0502020204030204" pitchFamily="34" charset="0"/>
                  </a:rPr>
                  <a:t>minconf</a:t>
                </a:r>
                <a:r>
                  <a:rPr lang="en-US" altLang="en-US" sz="2400" i="1" dirty="0">
                    <a:latin typeface="Calibri" panose="020F0502020204030204" pitchFamily="34" charset="0"/>
                  </a:rPr>
                  <a:t> </a:t>
                </a:r>
                <a:endParaRPr lang="en-US" altLang="en-US" sz="2400" dirty="0">
                  <a:latin typeface="Calibri" panose="020F0502020204030204" pitchFamily="34" charset="0"/>
                </a:endParaRPr>
              </a:p>
              <a:p>
                <a:pPr marL="0" indent="0">
                  <a:buNone/>
                  <a:defRPr/>
                </a:pPr>
                <a:endParaRPr lang="en-US" altLang="en-US" sz="2400" dirty="0">
                  <a:latin typeface="Calibri" panose="020F0502020204030204" pitchFamily="34" charset="0"/>
                  <a:sym typeface="Symbol" pitchFamily="18" charset="2"/>
                </a:endParaRPr>
              </a:p>
            </p:txBody>
          </p:sp>
        </mc:Choice>
        <mc:Fallback>
          <p:sp>
            <p:nvSpPr>
              <p:cNvPr id="8196" name="Rectangle 3"/>
              <p:cNvSpPr>
                <a:spLocks noGrp="1" noRot="1" noChangeAspect="1" noMove="1" noResize="1" noEditPoints="1" noAdjustHandles="1" noChangeArrowheads="1" noChangeShapeType="1" noTextEdit="1"/>
              </p:cNvSpPr>
              <p:nvPr>
                <p:ph idx="1"/>
              </p:nvPr>
            </p:nvSpPr>
            <p:spPr>
              <a:xfrm>
                <a:off x="389278" y="1149615"/>
                <a:ext cx="11241714" cy="5587315"/>
              </a:xfrm>
              <a:blipFill>
                <a:blip r:embed="rId3"/>
                <a:stretch>
                  <a:fillRect l="-434" t="-1310"/>
                </a:stretch>
              </a:blipFill>
            </p:spPr>
            <p:txBody>
              <a:bodyPr/>
              <a:lstStyle/>
              <a:p>
                <a:r>
                  <a:rPr lang="zh-CN" altLang="en-US">
                    <a:noFill/>
                  </a:rPr>
                  <a:t> </a:t>
                </a:r>
              </a:p>
            </p:txBody>
          </p:sp>
        </mc:Fallback>
      </mc:AlternateContent>
      <p:sp>
        <p:nvSpPr>
          <p:cNvPr id="7174" name="Rectangle 38"/>
          <p:cNvSpPr>
            <a:spLocks noChangeArrowheads="1"/>
          </p:cNvSpPr>
          <p:nvPr/>
        </p:nvSpPr>
        <p:spPr bwMode="auto">
          <a:xfrm>
            <a:off x="4978400" y="5410200"/>
            <a:ext cx="7112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spcBef>
                <a:spcPct val="20000"/>
              </a:spcBef>
              <a:buClr>
                <a:schemeClr val="folHlink"/>
              </a:buClr>
              <a:buSzPct val="60000"/>
              <a:buFont typeface="Wingdings" pitchFamily="2" charset="2"/>
              <a:buChar char="n"/>
              <a:defRPr sz="2800">
                <a:solidFill>
                  <a:schemeClr val="tx1"/>
                </a:solidFill>
                <a:latin typeface="Tahoma" pitchFamily="34" charset="0"/>
              </a:defRPr>
            </a:lvl1pPr>
            <a:lvl2pPr marL="914400" indent="-45720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defTabSz="457178" eaLnBrk="1" hangingPunct="1">
              <a:lnSpc>
                <a:spcPct val="80000"/>
              </a:lnSpc>
              <a:buClr>
                <a:srgbClr val="8C8C8C"/>
              </a:buClr>
            </a:pPr>
            <a:endParaRPr lang="en-US" altLang="en-US" sz="2400">
              <a:solidFill>
                <a:srgbClr val="000000"/>
              </a:solidFill>
              <a:latin typeface="Calibri" pitchFamily="34" charset="0"/>
              <a:sym typeface="Symbol" pitchFamily="18" charset="2"/>
            </a:endParaRPr>
          </a:p>
        </p:txBody>
      </p:sp>
      <p:sp>
        <p:nvSpPr>
          <p:cNvPr id="7176" name="TextBox 2"/>
          <p:cNvSpPr txBox="1">
            <a:spLocks noChangeArrowheads="1"/>
          </p:cNvSpPr>
          <p:nvPr/>
        </p:nvSpPr>
        <p:spPr bwMode="auto">
          <a:xfrm>
            <a:off x="3183700" y="6029349"/>
            <a:ext cx="43190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spcBef>
                <a:spcPct val="20000"/>
              </a:spcBef>
              <a:buClr>
                <a:schemeClr val="folHlink"/>
              </a:buClr>
              <a:buSzPct val="60000"/>
              <a:buFont typeface="Wingdings" pitchFamily="2" charset="2"/>
              <a:buChar char="n"/>
              <a:defRPr sz="2800">
                <a:solidFill>
                  <a:schemeClr val="tx1"/>
                </a:solidFill>
                <a:latin typeface="Tahoma" pitchFamily="34" charset="0"/>
              </a:defRPr>
            </a:lvl1pPr>
            <a:lvl2pPr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marL="0" lvl="1" defTabSz="457178" eaLnBrk="1" hangingPunct="1">
              <a:spcBef>
                <a:spcPct val="0"/>
              </a:spcBef>
              <a:buClrTx/>
              <a:buSzTx/>
              <a:buFontTx/>
              <a:buNone/>
            </a:pPr>
            <a:endParaRPr lang="en-US" altLang="en-US" sz="2000" dirty="0">
              <a:solidFill>
                <a:srgbClr val="000000"/>
              </a:solidFill>
              <a:latin typeface="Calibri" pitchFamily="34" charset="0"/>
              <a:sym typeface="Symbol" pitchFamily="18" charset="2"/>
            </a:endParaRPr>
          </a:p>
        </p:txBody>
      </p:sp>
      <p:graphicFrame>
        <p:nvGraphicFramePr>
          <p:cNvPr id="9" name="Group 44">
            <a:extLst>
              <a:ext uri="{FF2B5EF4-FFF2-40B4-BE49-F238E27FC236}">
                <a16:creationId xmlns:a16="http://schemas.microsoft.com/office/drawing/2014/main" id="{AB5FD64C-3CF1-6B2F-75D8-E9E8E31AD034}"/>
              </a:ext>
            </a:extLst>
          </p:cNvPr>
          <p:cNvGraphicFramePr>
            <a:graphicFrameLocks noGrp="1"/>
          </p:cNvGraphicFramePr>
          <p:nvPr>
            <p:extLst>
              <p:ext uri="{D42A27DB-BD31-4B8C-83A1-F6EECF244321}">
                <p14:modId xmlns:p14="http://schemas.microsoft.com/office/powerpoint/2010/main" val="2608744242"/>
              </p:ext>
            </p:extLst>
          </p:nvPr>
        </p:nvGraphicFramePr>
        <p:xfrm>
          <a:off x="8168543" y="4664004"/>
          <a:ext cx="4023457" cy="2193996"/>
        </p:xfrm>
        <a:graphic>
          <a:graphicData uri="http://schemas.openxmlformats.org/drawingml/2006/table">
            <a:tbl>
              <a:tblPr/>
              <a:tblGrid>
                <a:gridCol w="552240">
                  <a:extLst>
                    <a:ext uri="{9D8B030D-6E8A-4147-A177-3AD203B41FA5}">
                      <a16:colId xmlns:a16="http://schemas.microsoft.com/office/drawing/2014/main" val="20000"/>
                    </a:ext>
                  </a:extLst>
                </a:gridCol>
                <a:gridCol w="3471217">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dirty="0" err="1">
                          <a:ln>
                            <a:noFill/>
                          </a:ln>
                          <a:solidFill>
                            <a:schemeClr val="tx1"/>
                          </a:solidFill>
                          <a:effectLst/>
                          <a:latin typeface="Calibri" panose="020F0502020204030204" pitchFamily="34" charset="0"/>
                        </a:rPr>
                        <a:t>Tid</a:t>
                      </a:r>
                      <a:endParaRPr kumimoji="0" lang="en-US" sz="1800" b="1"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dirty="0">
                          <a:ln>
                            <a:noFill/>
                          </a:ln>
                          <a:solidFill>
                            <a:schemeClr val="tx1"/>
                          </a:solidFill>
                          <a:effectLst/>
                          <a:latin typeface="Calibri" panose="020F0502020204030204" pitchFamily="34" charset="0"/>
                        </a:rPr>
                        <a:t>Items bought</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22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1</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FF0000"/>
                          </a:solidFill>
                          <a:effectLst/>
                          <a:latin typeface="Calibri" panose="020F0502020204030204" pitchFamily="34" charset="0"/>
                        </a:rPr>
                        <a:t>Beer,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BD582C"/>
                          </a:solidFill>
                          <a:effectLst/>
                          <a:latin typeface="Calibri" panose="020F0502020204030204" pitchFamily="34" charset="0"/>
                        </a:rPr>
                        <a:t>Nuts</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00CC"/>
                          </a:solidFill>
                          <a:effectLst/>
                          <a:latin typeface="Calibri" panose="020F0502020204030204" pitchFamily="34" charset="0"/>
                        </a:rPr>
                        <a:t>Diaper</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22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2</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FF0000"/>
                          </a:solidFill>
                          <a:effectLst/>
                          <a:latin typeface="Calibri" panose="020F0502020204030204" pitchFamily="34" charset="0"/>
                        </a:rPr>
                        <a:t>Beer</a:t>
                      </a:r>
                      <a:r>
                        <a:rPr kumimoji="0" lang="en-US" sz="1800" b="0" i="0" u="none" strike="noStrike" cap="none" normalizeH="0" baseline="0" dirty="0">
                          <a:ln>
                            <a:noFill/>
                          </a:ln>
                          <a:solidFill>
                            <a:schemeClr val="tx1"/>
                          </a:solidFill>
                          <a:effectLst/>
                          <a:latin typeface="Calibri" panose="020F0502020204030204" pitchFamily="34" charset="0"/>
                        </a:rPr>
                        <a:t>, Coffee, </a:t>
                      </a:r>
                      <a:r>
                        <a:rPr kumimoji="0" lang="en-US" sz="1800" b="0" i="0" u="none" strike="noStrike" cap="none" normalizeH="0" baseline="0" dirty="0">
                          <a:ln>
                            <a:noFill/>
                          </a:ln>
                          <a:solidFill>
                            <a:srgbClr val="0000CC"/>
                          </a:solidFill>
                          <a:effectLst/>
                          <a:latin typeface="Calibri" panose="020F0502020204030204" pitchFamily="34" charset="0"/>
                        </a:rPr>
                        <a:t>Diaper</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22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3</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FF0000"/>
                          </a:solidFill>
                          <a:effectLst/>
                          <a:latin typeface="Calibri" panose="020F0502020204030204" pitchFamily="34" charset="0"/>
                        </a:rPr>
                        <a:t>Beer,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00CC"/>
                          </a:solidFill>
                          <a:effectLst/>
                          <a:latin typeface="Calibri" panose="020F0502020204030204" pitchFamily="34" charset="0"/>
                        </a:rPr>
                        <a:t>Diaper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B050"/>
                          </a:solidFill>
                          <a:effectLst/>
                          <a:latin typeface="Calibri" panose="020F0502020204030204" pitchFamily="34" charset="0"/>
                        </a:rPr>
                        <a:t>Eggs</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22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4</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BD582C"/>
                          </a:solidFill>
                          <a:effectLst/>
                          <a:latin typeface="Calibri" panose="020F0502020204030204" pitchFamily="34" charset="0"/>
                        </a:rPr>
                        <a:t>Nuts</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B050"/>
                          </a:solidFill>
                          <a:effectLst/>
                          <a:latin typeface="Calibri" panose="020F0502020204030204" pitchFamily="34" charset="0"/>
                        </a:rPr>
                        <a:t>Eggs</a:t>
                      </a:r>
                      <a:r>
                        <a:rPr kumimoji="0" lang="en-US" sz="1800" b="0" i="0" u="none" strike="noStrike" cap="none" normalizeH="0" baseline="0" dirty="0">
                          <a:ln>
                            <a:noFill/>
                          </a:ln>
                          <a:solidFill>
                            <a:schemeClr val="tx1"/>
                          </a:solidFill>
                          <a:effectLst/>
                          <a:latin typeface="Calibri" panose="020F0502020204030204" pitchFamily="34" charset="0"/>
                        </a:rPr>
                        <a:t>, Milk</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221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chemeClr val="tx1"/>
                          </a:solidFill>
                          <a:effectLst/>
                          <a:latin typeface="Calibri"/>
                        </a:rPr>
                        <a:t>5</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a:ln>
                            <a:noFill/>
                          </a:ln>
                          <a:solidFill>
                            <a:srgbClr val="BD582C"/>
                          </a:solidFill>
                          <a:effectLst/>
                          <a:latin typeface="Calibri" panose="020F0502020204030204" pitchFamily="34" charset="0"/>
                        </a:rPr>
                        <a:t>Nuts</a:t>
                      </a:r>
                      <a:r>
                        <a:rPr kumimoji="0" lang="en-US" sz="1800" b="0" i="0" u="none" strike="noStrike" cap="none" normalizeH="0" baseline="0" dirty="0">
                          <a:ln>
                            <a:noFill/>
                          </a:ln>
                          <a:solidFill>
                            <a:schemeClr val="tx1"/>
                          </a:solidFill>
                          <a:effectLst/>
                          <a:latin typeface="Calibri" panose="020F0502020204030204" pitchFamily="34" charset="0"/>
                        </a:rPr>
                        <a:t>, Coffee, </a:t>
                      </a:r>
                      <a:r>
                        <a:rPr kumimoji="0" lang="en-US" sz="1800" b="0" i="0" u="none" strike="noStrike" cap="none" normalizeH="0" baseline="0" dirty="0">
                          <a:ln>
                            <a:noFill/>
                          </a:ln>
                          <a:solidFill>
                            <a:srgbClr val="0000CC"/>
                          </a:solidFill>
                          <a:effectLst/>
                          <a:latin typeface="Calibri" panose="020F0502020204030204" pitchFamily="34" charset="0"/>
                        </a:rPr>
                        <a:t>Diaper,</a:t>
                      </a:r>
                      <a:r>
                        <a:rPr kumimoji="0" lang="en-US" sz="1800" b="0" i="0" u="none" strike="noStrike" cap="none" normalizeH="0" baseline="0" dirty="0">
                          <a:ln>
                            <a:noFill/>
                          </a:ln>
                          <a:solidFill>
                            <a:schemeClr val="tx1"/>
                          </a:solidFill>
                          <a:effectLst/>
                          <a:latin typeface="Calibri" panose="020F0502020204030204" pitchFamily="34" charset="0"/>
                        </a:rPr>
                        <a:t> </a:t>
                      </a:r>
                      <a:r>
                        <a:rPr kumimoji="0" lang="en-US" sz="1800" b="0" i="0" u="none" strike="noStrike" cap="none" normalizeH="0" baseline="0" dirty="0">
                          <a:ln>
                            <a:noFill/>
                          </a:ln>
                          <a:solidFill>
                            <a:srgbClr val="00B050"/>
                          </a:solidFill>
                          <a:effectLst/>
                          <a:latin typeface="Calibri" panose="020F0502020204030204" pitchFamily="34" charset="0"/>
                        </a:rPr>
                        <a:t>Eggs</a:t>
                      </a:r>
                      <a:r>
                        <a:rPr kumimoji="0" lang="en-US" sz="1800" b="0" i="0" u="none" strike="noStrike" cap="none" normalizeH="0" baseline="0" dirty="0">
                          <a:ln>
                            <a:noFill/>
                          </a:ln>
                          <a:solidFill>
                            <a:schemeClr val="tx1"/>
                          </a:solidFill>
                          <a:effectLst/>
                          <a:latin typeface="Calibri" panose="020F0502020204030204" pitchFamily="34" charset="0"/>
                        </a:rPr>
                        <a:t>, Milk</a:t>
                      </a:r>
                    </a:p>
                  </a:txBody>
                  <a:tcPr marL="121920" marR="121920" marT="45673" marB="4567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50794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6">
                                            <p:txEl>
                                              <p:pRg st="5" end="5"/>
                                            </p:txEl>
                                          </p:spTgt>
                                        </p:tgtEl>
                                        <p:attrNameLst>
                                          <p:attrName>style.visibility</p:attrName>
                                        </p:attrNameLst>
                                      </p:cBhvr>
                                      <p:to>
                                        <p:strVal val="visible"/>
                                      </p:to>
                                    </p:set>
                                  </p:childTnLst>
                                </p:cTn>
                              </p:par>
                              <p:par>
                                <p:cTn id="27" presetID="1" presetClass="entr" presetSubtype="0" fill="hold" grpId="0" nodeType="withEffect" nodePh="1">
                                  <p:stCondLst>
                                    <p:cond delay="0"/>
                                  </p:stCondLst>
                                  <p:endCondLst>
                                    <p:cond evt="begin" delay="0">
                                      <p:tn val="27"/>
                                    </p:cond>
                                  </p:endCondLst>
                                  <p:childTnLst>
                                    <p:set>
                                      <p:cBhvr>
                                        <p:cTn id="28" dur="1" fill="hold">
                                          <p:stCondLst>
                                            <p:cond delay="0"/>
                                          </p:stCondLst>
                                        </p:cTn>
                                        <p:tgtEl>
                                          <p:spTgt spid="717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0" y="76200"/>
            <a:ext cx="12192000" cy="935019"/>
          </a:xfrm>
        </p:spPr>
        <p:txBody>
          <a:bodyPr>
            <a:normAutofit fontScale="90000"/>
          </a:bodyPr>
          <a:lstStyle/>
          <a:p>
            <a:pPr eaLnBrk="1" hangingPunct="1"/>
            <a:r>
              <a:rPr lang="en-US" altLang="en-US" dirty="0"/>
              <a:t>Challenge: There Are Too Many Frequent Patterns!</a:t>
            </a:r>
          </a:p>
        </p:txBody>
      </p:sp>
      <p:sp>
        <p:nvSpPr>
          <p:cNvPr id="9220" name="Rectangle 3"/>
          <p:cNvSpPr>
            <a:spLocks noGrp="1" noChangeArrowheads="1"/>
          </p:cNvSpPr>
          <p:nvPr>
            <p:ph idx="1"/>
          </p:nvPr>
        </p:nvSpPr>
        <p:spPr>
          <a:xfrm>
            <a:off x="508000" y="1238250"/>
            <a:ext cx="11684000" cy="5181600"/>
          </a:xfrm>
        </p:spPr>
        <p:txBody>
          <a:bodyPr vert="horz" lIns="91436" tIns="45718" rIns="91436" bIns="45718" rtlCol="0" anchor="t">
            <a:noAutofit/>
          </a:bodyPr>
          <a:lstStyle/>
          <a:p>
            <a:pPr marL="0" indent="0">
              <a:buNone/>
              <a:defRPr/>
            </a:pPr>
            <a:r>
              <a:rPr lang="zh-CN" altLang="en-US" sz="2400" dirty="0">
                <a:latin typeface="Calibri" panose="020F0502020204030204" pitchFamily="34" charset="0"/>
              </a:rPr>
              <a:t>通常，关联规则挖掘分为两步：</a:t>
            </a:r>
            <a:endParaRPr lang="en-US" altLang="zh-CN" sz="2400" dirty="0">
              <a:latin typeface="Calibri" panose="020F0502020204030204" pitchFamily="34" charset="0"/>
            </a:endParaRPr>
          </a:p>
          <a:p>
            <a:pPr marL="0" indent="0">
              <a:buNone/>
              <a:defRPr/>
            </a:pPr>
            <a:r>
              <a:rPr lang="en-US" altLang="zh-CN" sz="2400" dirty="0">
                <a:latin typeface="Calibri" panose="020F0502020204030204" pitchFamily="34" charset="0"/>
              </a:rPr>
              <a:t>1.</a:t>
            </a:r>
            <a:r>
              <a:rPr lang="zh-CN" altLang="en-US" sz="2400" dirty="0">
                <a:latin typeface="Calibri" panose="020F0502020204030204" pitchFamily="34" charset="0"/>
              </a:rPr>
              <a:t>找出所有频繁项集（支持度 </a:t>
            </a:r>
            <a:r>
              <a:rPr lang="en-US" altLang="zh-CN" sz="2400" dirty="0">
                <a:latin typeface="Calibri" panose="020F0502020204030204" pitchFamily="34" charset="0"/>
              </a:rPr>
              <a:t>&gt;= </a:t>
            </a:r>
            <a:r>
              <a:rPr lang="en-US" altLang="zh-CN" sz="2400" dirty="0" err="1">
                <a:latin typeface="Calibri" panose="020F0502020204030204" pitchFamily="34" charset="0"/>
              </a:rPr>
              <a:t>min_sup</a:t>
            </a:r>
            <a:r>
              <a:rPr lang="zh-CN" altLang="en-US" sz="2400" dirty="0">
                <a:latin typeface="Calibri" panose="020F0502020204030204" pitchFamily="34" charset="0"/>
              </a:rPr>
              <a:t>）。</a:t>
            </a:r>
            <a:endParaRPr lang="en-US" altLang="zh-CN" sz="2400" dirty="0">
              <a:latin typeface="Calibri" panose="020F0502020204030204" pitchFamily="34" charset="0"/>
            </a:endParaRPr>
          </a:p>
          <a:p>
            <a:pPr marL="0" indent="0">
              <a:buNone/>
              <a:defRPr/>
            </a:pPr>
            <a:r>
              <a:rPr lang="en-US" altLang="zh-CN" sz="2400" dirty="0">
                <a:latin typeface="Calibri" panose="020F0502020204030204" pitchFamily="34" charset="0"/>
              </a:rPr>
              <a:t>2.</a:t>
            </a:r>
            <a:r>
              <a:rPr lang="zh-CN" altLang="en-US" sz="2400" dirty="0">
                <a:latin typeface="Calibri" panose="020F0502020204030204" pitchFamily="34" charset="0"/>
              </a:rPr>
              <a:t>从频繁项集中生成强关联规则（必须满足最小支持度和置信度）。</a:t>
            </a:r>
            <a:br>
              <a:rPr lang="en-US" altLang="zh-CN" sz="2400" dirty="0">
                <a:latin typeface="Calibri" panose="020F0502020204030204" pitchFamily="34" charset="0"/>
              </a:rPr>
            </a:br>
            <a:br>
              <a:rPr lang="en-US" altLang="zh-CN" sz="2400" dirty="0">
                <a:latin typeface="Calibri" panose="020F0502020204030204" pitchFamily="34" charset="0"/>
              </a:rPr>
            </a:br>
            <a:r>
              <a:rPr lang="zh-CN" altLang="en-US" sz="2400" dirty="0">
                <a:latin typeface="Calibri" panose="020F0502020204030204" pitchFamily="34" charset="0"/>
              </a:rPr>
              <a:t>挑战：组合爆炸问题挖掘频繁项集的主要挑战在于，当阈值较低时，会产生海量的项集。因为如果一个项集是频繁的，它的所有子集也一定是频繁的。一个长度为 </a:t>
            </a:r>
            <a:r>
              <a:rPr lang="en-US" altLang="zh-CN" sz="2400" dirty="0">
                <a:latin typeface="Calibri" panose="020F0502020204030204" pitchFamily="34" charset="0"/>
              </a:rPr>
              <a:t>100 </a:t>
            </a:r>
            <a:r>
              <a:rPr lang="zh-CN" altLang="en-US" sz="2400" dirty="0">
                <a:latin typeface="Calibri" panose="020F0502020204030204" pitchFamily="34" charset="0"/>
              </a:rPr>
              <a:t>的频繁项集 </a:t>
            </a:r>
            <a:r>
              <a:rPr lang="en-US" altLang="zh-CN" sz="2400" dirty="0">
                <a:latin typeface="Calibri" panose="020F0502020204030204" pitchFamily="34" charset="0"/>
              </a:rPr>
              <a:t>{a_1, a_2, ..., a_100}</a:t>
            </a:r>
            <a:r>
              <a:rPr lang="zh-CN" altLang="en-US" sz="2400" dirty="0">
                <a:latin typeface="Calibri" panose="020F0502020204030204" pitchFamily="34" charset="0"/>
              </a:rPr>
              <a:t>，其子集总数高达 </a:t>
            </a:r>
            <a:r>
              <a:rPr lang="en-US" altLang="zh-CN" sz="2400" dirty="0">
                <a:latin typeface="Calibri" panose="020F0502020204030204" pitchFamily="34" charset="0"/>
              </a:rPr>
              <a:t>2^100- 1</a:t>
            </a:r>
            <a:r>
              <a:rPr lang="zh-CN" altLang="en-US" sz="2400" dirty="0">
                <a:latin typeface="Calibri" panose="020F0502020204030204" pitchFamily="34" charset="0"/>
              </a:rPr>
              <a:t>。没有任何计算机能处理这么多数据。</a:t>
            </a:r>
            <a:endParaRPr lang="en-US" altLang="en-US" sz="2400" dirty="0">
              <a:latin typeface="Calibri" panose="020F0502020204030204" pitchFamily="34" charset="0"/>
            </a:endParaRPr>
          </a:p>
        </p:txBody>
      </p:sp>
    </p:spTree>
    <p:extLst>
      <p:ext uri="{BB962C8B-B14F-4D97-AF65-F5344CB8AC3E}">
        <p14:creationId xmlns:p14="http://schemas.microsoft.com/office/powerpoint/2010/main" val="1826584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203200" y="228600"/>
            <a:ext cx="12598400" cy="762000"/>
          </a:xfrm>
        </p:spPr>
        <p:txBody>
          <a:bodyPr>
            <a:normAutofit/>
          </a:bodyPr>
          <a:lstStyle/>
          <a:p>
            <a:pPr>
              <a:tabLst>
                <a:tab pos="2570163" algn="l"/>
              </a:tabLst>
            </a:pPr>
            <a:r>
              <a:rPr lang="en-US" altLang="zh-CN" sz="4000" dirty="0" err="1"/>
              <a:t>Apriori</a:t>
            </a:r>
            <a:r>
              <a:rPr lang="en-US" altLang="zh-CN" sz="4000" dirty="0"/>
              <a:t> Algorithm</a:t>
            </a:r>
            <a:endParaRPr lang="en-US" altLang="en-US" sz="4000" dirty="0"/>
          </a:p>
        </p:txBody>
      </p:sp>
      <p:sp>
        <p:nvSpPr>
          <p:cNvPr id="16388" name="Rectangle 3"/>
          <p:cNvSpPr>
            <a:spLocks noGrp="1" noChangeArrowheads="1"/>
          </p:cNvSpPr>
          <p:nvPr>
            <p:ph idx="1"/>
          </p:nvPr>
        </p:nvSpPr>
        <p:spPr>
          <a:xfrm>
            <a:off x="546100" y="1266825"/>
            <a:ext cx="10217150" cy="5181600"/>
          </a:xfrm>
        </p:spPr>
        <p:txBody>
          <a:bodyPr/>
          <a:lstStyle/>
          <a:p>
            <a:pPr marL="0" indent="0">
              <a:lnSpc>
                <a:spcPct val="120000"/>
              </a:lnSpc>
              <a:buNone/>
            </a:pPr>
            <a:r>
              <a:rPr lang="en-US" altLang="zh-CN" dirty="0" err="1"/>
              <a:t>Apriori</a:t>
            </a:r>
            <a:r>
              <a:rPr lang="en-US" altLang="zh-CN" dirty="0"/>
              <a:t> </a:t>
            </a:r>
            <a:r>
              <a:rPr lang="zh-CN" altLang="en-US" dirty="0"/>
              <a:t>算法：通过受限的候选产生寻找频繁项集</a:t>
            </a:r>
            <a:r>
              <a:rPr lang="en-US" altLang="zh-CN" dirty="0" err="1"/>
              <a:t>Apriori</a:t>
            </a:r>
            <a:r>
              <a:rPr lang="en-US" altLang="zh-CN" dirty="0"/>
              <a:t> </a:t>
            </a:r>
            <a:r>
              <a:rPr lang="zh-CN" altLang="en-US" dirty="0"/>
              <a:t>是 </a:t>
            </a:r>
            <a:r>
              <a:rPr lang="en-US" altLang="zh-CN" dirty="0"/>
              <a:t>R. Agrawal </a:t>
            </a:r>
            <a:r>
              <a:rPr lang="zh-CN" altLang="en-US" dirty="0"/>
              <a:t>和 </a:t>
            </a:r>
            <a:r>
              <a:rPr lang="en-US" altLang="zh-CN" dirty="0"/>
              <a:t>R. Srikant </a:t>
            </a:r>
            <a:r>
              <a:rPr lang="zh-CN" altLang="en-US" dirty="0"/>
              <a:t>在 </a:t>
            </a:r>
            <a:r>
              <a:rPr lang="en-US" altLang="zh-CN" dirty="0"/>
              <a:t>1994 </a:t>
            </a:r>
            <a:r>
              <a:rPr lang="zh-CN" altLang="en-US" dirty="0"/>
              <a:t>年提出的一个开创性算法，用于挖掘布尔关联规则的频繁项集。该算法的名字源于它利用了频繁项集性质的先验（</a:t>
            </a:r>
            <a:r>
              <a:rPr lang="en-US" altLang="zh-CN" dirty="0"/>
              <a:t>prior</a:t>
            </a:r>
            <a:r>
              <a:rPr lang="zh-CN" altLang="en-US" dirty="0"/>
              <a:t>）知识。</a:t>
            </a:r>
            <a:r>
              <a:rPr lang="en-US" altLang="zh-CN" dirty="0" err="1"/>
              <a:t>Apriori</a:t>
            </a:r>
            <a:r>
              <a:rPr lang="en-US" altLang="zh-CN" dirty="0"/>
              <a:t> </a:t>
            </a:r>
            <a:r>
              <a:rPr lang="zh-CN" altLang="en-US" dirty="0"/>
              <a:t>采用一种称为**层级搜索（</a:t>
            </a:r>
            <a:r>
              <a:rPr lang="en-US" altLang="zh-CN" dirty="0"/>
              <a:t>level-wise search</a:t>
            </a:r>
            <a:r>
              <a:rPr lang="zh-CN" altLang="en-US" dirty="0"/>
              <a:t>）**的迭代方法，即通过 </a:t>
            </a:r>
            <a:r>
              <a:rPr lang="en-US" altLang="zh-CN" dirty="0"/>
              <a:t>k-</a:t>
            </a:r>
            <a:r>
              <a:rPr lang="zh-CN" altLang="en-US" dirty="0"/>
              <a:t>项集来探索 </a:t>
            </a:r>
            <a:r>
              <a:rPr lang="en-US" altLang="zh-CN" dirty="0"/>
              <a:t>k+1-</a:t>
            </a:r>
            <a:r>
              <a:rPr lang="zh-CN" altLang="en-US" dirty="0"/>
              <a:t>项集。</a:t>
            </a:r>
            <a:r>
              <a:rPr lang="zh-CN" altLang="en-US" b="1" dirty="0"/>
              <a:t>首先</a:t>
            </a:r>
            <a:r>
              <a:rPr lang="zh-CN" altLang="en-US" dirty="0"/>
              <a:t>，通过扫描数据库累加每个物品的计数，并收集满足最小支持度的物品，找出频繁 </a:t>
            </a:r>
            <a:r>
              <a:rPr lang="en-US" altLang="zh-CN" dirty="0"/>
              <a:t>1-</a:t>
            </a:r>
            <a:r>
              <a:rPr lang="zh-CN" altLang="en-US" dirty="0"/>
              <a:t>项集的集合，记为 </a:t>
            </a:r>
            <a:r>
              <a:rPr lang="en-US" altLang="zh-CN" dirty="0"/>
              <a:t>L_1</a:t>
            </a:r>
            <a:r>
              <a:rPr lang="zh-CN" altLang="en-US" dirty="0"/>
              <a:t>。</a:t>
            </a:r>
            <a:r>
              <a:rPr lang="zh-CN" altLang="en-US" b="1" dirty="0"/>
              <a:t>接着</a:t>
            </a:r>
            <a:r>
              <a:rPr lang="zh-CN" altLang="en-US" dirty="0"/>
              <a:t>，利用 </a:t>
            </a:r>
            <a:r>
              <a:rPr lang="en-US" altLang="zh-CN" dirty="0"/>
              <a:t>L_1 </a:t>
            </a:r>
            <a:r>
              <a:rPr lang="zh-CN" altLang="en-US" dirty="0"/>
              <a:t>找 </a:t>
            </a:r>
            <a:r>
              <a:rPr lang="en-US" altLang="zh-CN" dirty="0"/>
              <a:t>L_2</a:t>
            </a:r>
            <a:r>
              <a:rPr lang="zh-CN" altLang="en-US" dirty="0"/>
              <a:t>（频繁 </a:t>
            </a:r>
            <a:r>
              <a:rPr lang="en-US" altLang="zh-CN" dirty="0"/>
              <a:t>2-</a:t>
            </a:r>
            <a:r>
              <a:rPr lang="zh-CN" altLang="en-US" dirty="0"/>
              <a:t>项集），再利用 </a:t>
            </a:r>
            <a:r>
              <a:rPr lang="en-US" altLang="zh-CN" dirty="0"/>
              <a:t>L_2 </a:t>
            </a:r>
            <a:r>
              <a:rPr lang="zh-CN" altLang="en-US" dirty="0"/>
              <a:t>找 </a:t>
            </a:r>
            <a:r>
              <a:rPr lang="en-US" altLang="zh-CN" dirty="0"/>
              <a:t>L_3</a:t>
            </a:r>
            <a:r>
              <a:rPr lang="zh-CN" altLang="en-US" dirty="0"/>
              <a:t>，如此循环，直到不能再找到频繁 </a:t>
            </a:r>
            <a:r>
              <a:rPr lang="en-US" altLang="zh-CN" dirty="0"/>
              <a:t>k-</a:t>
            </a:r>
            <a:r>
              <a:rPr lang="zh-CN" altLang="en-US" dirty="0"/>
              <a:t>项集为止。找出每个</a:t>
            </a:r>
            <a:r>
              <a:rPr lang="en-US" altLang="zh-CN" dirty="0" err="1"/>
              <a:t>L_k</a:t>
            </a:r>
            <a:r>
              <a:rPr lang="zh-CN" altLang="en-US" dirty="0"/>
              <a:t>都需要对数据库进行一次完整的扫描。</a:t>
            </a:r>
            <a:endParaRPr lang="en-US" altLang="en-US" dirty="0"/>
          </a:p>
        </p:txBody>
      </p:sp>
    </p:spTree>
    <p:extLst>
      <p:ext uri="{BB962C8B-B14F-4D97-AF65-F5344CB8AC3E}">
        <p14:creationId xmlns:p14="http://schemas.microsoft.com/office/powerpoint/2010/main" val="336218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animEffect transition="in" filter="fade">
                                      <p:cBhvr>
                                        <p:cTn id="7" dur="500"/>
                                        <p:tgtEl>
                                          <p:spTgt spid="1638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2A926-710E-706F-A6D9-F9745BEEBF96}"/>
            </a:ext>
          </a:extLst>
        </p:cNvPr>
        <p:cNvGrpSpPr/>
        <p:nvPr/>
      </p:nvGrpSpPr>
      <p:grpSpPr>
        <a:xfrm>
          <a:off x="0" y="0"/>
          <a:ext cx="0" cy="0"/>
          <a:chOff x="0" y="0"/>
          <a:chExt cx="0" cy="0"/>
        </a:xfrm>
      </p:grpSpPr>
      <p:sp>
        <p:nvSpPr>
          <p:cNvPr id="16387" name="Rectangle 2">
            <a:extLst>
              <a:ext uri="{FF2B5EF4-FFF2-40B4-BE49-F238E27FC236}">
                <a16:creationId xmlns:a16="http://schemas.microsoft.com/office/drawing/2014/main" id="{EA43323B-D6ED-084C-7D45-37A032A04DEF}"/>
              </a:ext>
            </a:extLst>
          </p:cNvPr>
          <p:cNvSpPr>
            <a:spLocks noGrp="1" noChangeArrowheads="1"/>
          </p:cNvSpPr>
          <p:nvPr>
            <p:ph type="title"/>
          </p:nvPr>
        </p:nvSpPr>
        <p:spPr>
          <a:xfrm>
            <a:off x="-203200" y="228600"/>
            <a:ext cx="12598400" cy="762000"/>
          </a:xfrm>
        </p:spPr>
        <p:txBody>
          <a:bodyPr>
            <a:normAutofit/>
          </a:bodyPr>
          <a:lstStyle/>
          <a:p>
            <a:pPr>
              <a:tabLst>
                <a:tab pos="2570163" algn="l"/>
              </a:tabLst>
            </a:pPr>
            <a:r>
              <a:rPr lang="en-US" altLang="zh-CN" sz="4000" dirty="0" err="1"/>
              <a:t>Apriori</a:t>
            </a:r>
            <a:r>
              <a:rPr lang="en-US" altLang="zh-CN" sz="4000" dirty="0"/>
              <a:t> Algorithm</a:t>
            </a:r>
            <a:endParaRPr lang="en-US" altLang="en-US" sz="4000" dirty="0"/>
          </a:p>
        </p:txBody>
      </p:sp>
      <p:sp>
        <p:nvSpPr>
          <p:cNvPr id="16388" name="Rectangle 3">
            <a:extLst>
              <a:ext uri="{FF2B5EF4-FFF2-40B4-BE49-F238E27FC236}">
                <a16:creationId xmlns:a16="http://schemas.microsoft.com/office/drawing/2014/main" id="{CC3B25AD-B6A0-FBAC-A2F4-AE3281D25D49}"/>
              </a:ext>
            </a:extLst>
          </p:cNvPr>
          <p:cNvSpPr>
            <a:spLocks noGrp="1" noChangeArrowheads="1"/>
          </p:cNvSpPr>
          <p:nvPr>
            <p:ph idx="1"/>
          </p:nvPr>
        </p:nvSpPr>
        <p:spPr>
          <a:xfrm>
            <a:off x="546100" y="1266825"/>
            <a:ext cx="10217150" cy="5181600"/>
          </a:xfrm>
        </p:spPr>
        <p:txBody>
          <a:bodyPr/>
          <a:lstStyle/>
          <a:p>
            <a:pPr marL="0" indent="0">
              <a:lnSpc>
                <a:spcPct val="120000"/>
              </a:lnSpc>
              <a:buNone/>
            </a:pPr>
            <a:r>
              <a:rPr lang="zh-CN" altLang="en-US" dirty="0"/>
              <a:t>为了从 </a:t>
            </a:r>
            <a:r>
              <a:rPr lang="en-US" altLang="zh-CN" dirty="0"/>
              <a:t>L_k-1 </a:t>
            </a:r>
            <a:r>
              <a:rPr lang="zh-CN" altLang="en-US" dirty="0"/>
              <a:t>找到 </a:t>
            </a:r>
            <a:r>
              <a:rPr lang="en-US" altLang="zh-CN" dirty="0" err="1"/>
              <a:t>L_k</a:t>
            </a:r>
            <a:r>
              <a:rPr lang="zh-CN" altLang="en-US" dirty="0"/>
              <a:t>，需要经过连接（</a:t>
            </a:r>
            <a:r>
              <a:rPr lang="en-US" altLang="zh-CN" dirty="0"/>
              <a:t>Join</a:t>
            </a:r>
            <a:r>
              <a:rPr lang="zh-CN" altLang="en-US" dirty="0"/>
              <a:t>）和剪枝（</a:t>
            </a:r>
            <a:r>
              <a:rPr lang="en-US" altLang="zh-CN" dirty="0"/>
              <a:t>Prune</a:t>
            </a:r>
            <a:r>
              <a:rPr lang="zh-CN" altLang="en-US" dirty="0"/>
              <a:t>）两个步骤：</a:t>
            </a:r>
            <a:endParaRPr lang="en-US" altLang="zh-CN" dirty="0"/>
          </a:p>
          <a:p>
            <a:pPr marL="0" indent="0">
              <a:lnSpc>
                <a:spcPct val="120000"/>
              </a:lnSpc>
              <a:buNone/>
            </a:pPr>
            <a:r>
              <a:rPr lang="zh-CN" altLang="en-US" dirty="0"/>
              <a:t>连接步 </a:t>
            </a:r>
            <a:r>
              <a:rPr lang="en-US" altLang="zh-CN" dirty="0"/>
              <a:t>(The join step)</a:t>
            </a:r>
            <a:r>
              <a:rPr lang="zh-CN" altLang="en-US" dirty="0"/>
              <a:t>：为了找出 </a:t>
            </a:r>
            <a:r>
              <a:rPr lang="en-US" altLang="zh-CN" dirty="0" err="1"/>
              <a:t>L_k</a:t>
            </a:r>
            <a:r>
              <a:rPr lang="zh-CN" altLang="en-US" dirty="0"/>
              <a:t>，通过将 </a:t>
            </a:r>
            <a:r>
              <a:rPr lang="en-US" altLang="zh-CN" dirty="0"/>
              <a:t>L_k-1 </a:t>
            </a:r>
            <a:r>
              <a:rPr lang="zh-CN" altLang="en-US" dirty="0"/>
              <a:t>与自身连接来产生一组候选 </a:t>
            </a:r>
            <a:r>
              <a:rPr lang="en-US" altLang="zh-CN" dirty="0"/>
              <a:t>k-</a:t>
            </a:r>
            <a:r>
              <a:rPr lang="zh-CN" altLang="en-US" dirty="0"/>
              <a:t>项集，记为 </a:t>
            </a:r>
            <a:r>
              <a:rPr lang="en-US" altLang="zh-CN" dirty="0" err="1"/>
              <a:t>C_k</a:t>
            </a:r>
            <a:r>
              <a:rPr lang="zh-CN" altLang="en-US" dirty="0"/>
              <a:t>。</a:t>
            </a:r>
            <a:endParaRPr lang="en-US" altLang="zh-CN" dirty="0"/>
          </a:p>
          <a:p>
            <a:pPr marL="0" indent="0">
              <a:lnSpc>
                <a:spcPct val="120000"/>
              </a:lnSpc>
              <a:buNone/>
            </a:pPr>
            <a:r>
              <a:rPr lang="zh-CN" altLang="en-US" dirty="0"/>
              <a:t>连接规则：如果两个 </a:t>
            </a:r>
            <a:r>
              <a:rPr lang="en-US" altLang="zh-CN" dirty="0"/>
              <a:t>k-1-</a:t>
            </a:r>
            <a:r>
              <a:rPr lang="zh-CN" altLang="en-US" dirty="0"/>
              <a:t>项集的前 </a:t>
            </a:r>
            <a:r>
              <a:rPr lang="en-US" altLang="zh-CN" dirty="0"/>
              <a:t>k-2</a:t>
            </a:r>
            <a:r>
              <a:rPr lang="zh-CN" altLang="en-US" dirty="0"/>
              <a:t>个物品相同，而最后一个物品不同，则它们是可连接的。</a:t>
            </a:r>
            <a:endParaRPr lang="en-US" altLang="zh-CN" dirty="0"/>
          </a:p>
          <a:p>
            <a:pPr marL="0" indent="0">
              <a:lnSpc>
                <a:spcPct val="120000"/>
              </a:lnSpc>
              <a:buNone/>
            </a:pPr>
            <a:r>
              <a:rPr lang="zh-CN" altLang="en-US" dirty="0"/>
              <a:t>利用性质剪枝：如果一个候选 </a:t>
            </a:r>
            <a:r>
              <a:rPr lang="en-US" altLang="zh-CN" dirty="0"/>
              <a:t>k-</a:t>
            </a:r>
            <a:r>
              <a:rPr lang="zh-CN" altLang="en-US" dirty="0"/>
              <a:t>项集的任何 </a:t>
            </a:r>
            <a:r>
              <a:rPr lang="en-US" altLang="zh-CN" dirty="0"/>
              <a:t>k-1-</a:t>
            </a:r>
            <a:r>
              <a:rPr lang="zh-CN" altLang="en-US" dirty="0"/>
              <a:t>子集不在 </a:t>
            </a:r>
            <a:r>
              <a:rPr lang="en-US" altLang="zh-CN" dirty="0"/>
              <a:t>L_k-1 </a:t>
            </a:r>
            <a:r>
              <a:rPr lang="zh-CN" altLang="en-US" dirty="0"/>
              <a:t>中，那么该候选集绝不可能是频繁的，可以直接从 </a:t>
            </a:r>
            <a:r>
              <a:rPr lang="en-US" altLang="zh-CN" dirty="0" err="1"/>
              <a:t>C_k</a:t>
            </a:r>
            <a:r>
              <a:rPr lang="zh-CN" altLang="en-US" dirty="0"/>
              <a:t>中删除。这种子集测试可以通过维护所有频繁项集的哈希树来快速完成。</a:t>
            </a:r>
            <a:endParaRPr lang="en-US" altLang="en-US" dirty="0"/>
          </a:p>
        </p:txBody>
      </p:sp>
    </p:spTree>
    <p:extLst>
      <p:ext uri="{BB962C8B-B14F-4D97-AF65-F5344CB8AC3E}">
        <p14:creationId xmlns:p14="http://schemas.microsoft.com/office/powerpoint/2010/main" val="3624320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animEffect transition="in" filter="fade">
                                      <p:cBhvr>
                                        <p:cTn id="7" dur="500"/>
                                        <p:tgtEl>
                                          <p:spTgt spid="163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388">
                                            <p:txEl>
                                              <p:pRg st="1" end="1"/>
                                            </p:txEl>
                                          </p:spTgt>
                                        </p:tgtEl>
                                        <p:attrNameLst>
                                          <p:attrName>style.visibility</p:attrName>
                                        </p:attrNameLst>
                                      </p:cBhvr>
                                      <p:to>
                                        <p:strVal val="visible"/>
                                      </p:to>
                                    </p:set>
                                    <p:animEffect transition="in" filter="fade">
                                      <p:cBhvr>
                                        <p:cTn id="12" dur="500"/>
                                        <p:tgtEl>
                                          <p:spTgt spid="163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388">
                                            <p:txEl>
                                              <p:pRg st="2" end="2"/>
                                            </p:txEl>
                                          </p:spTgt>
                                        </p:tgtEl>
                                        <p:attrNameLst>
                                          <p:attrName>style.visibility</p:attrName>
                                        </p:attrNameLst>
                                      </p:cBhvr>
                                      <p:to>
                                        <p:strVal val="visible"/>
                                      </p:to>
                                    </p:set>
                                    <p:animEffect transition="in" filter="fade">
                                      <p:cBhvr>
                                        <p:cTn id="17" dur="500"/>
                                        <p:tgtEl>
                                          <p:spTgt spid="1638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388">
                                            <p:txEl>
                                              <p:pRg st="3" end="3"/>
                                            </p:txEl>
                                          </p:spTgt>
                                        </p:tgtEl>
                                        <p:attrNameLst>
                                          <p:attrName>style.visibility</p:attrName>
                                        </p:attrNameLst>
                                      </p:cBhvr>
                                      <p:to>
                                        <p:strVal val="visible"/>
                                      </p:to>
                                    </p:set>
                                    <p:animEffect transition="in" filter="fade">
                                      <p:cBhvr>
                                        <p:cTn id="22" dur="500"/>
                                        <p:tgtEl>
                                          <p:spTgt spid="1638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build="p" bldLvl="2"/>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563034" y="304800"/>
            <a:ext cx="10945284" cy="609600"/>
          </a:xfrm>
        </p:spPr>
        <p:txBody>
          <a:bodyPr>
            <a:normAutofit fontScale="90000"/>
          </a:bodyPr>
          <a:lstStyle/>
          <a:p>
            <a:pPr eaLnBrk="1" hangingPunct="1"/>
            <a:r>
              <a:rPr lang="en-US" altLang="en-US" dirty="0"/>
              <a:t>The </a:t>
            </a:r>
            <a:r>
              <a:rPr lang="en-US" altLang="en-US" dirty="0" err="1"/>
              <a:t>Apriori</a:t>
            </a:r>
            <a:r>
              <a:rPr lang="en-US" altLang="en-US" dirty="0"/>
              <a:t> Algorithm—An Example </a:t>
            </a:r>
          </a:p>
        </p:txBody>
      </p:sp>
      <p:sp>
        <p:nvSpPr>
          <p:cNvPr id="19460" name="Text Box 3"/>
          <p:cNvSpPr txBox="1">
            <a:spLocks noChangeArrowheads="1"/>
          </p:cNvSpPr>
          <p:nvPr/>
        </p:nvSpPr>
        <p:spPr bwMode="auto">
          <a:xfrm>
            <a:off x="362143" y="1369368"/>
            <a:ext cx="19236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spcBef>
                <a:spcPct val="0"/>
              </a:spcBef>
              <a:buClrTx/>
              <a:buSzTx/>
              <a:buFontTx/>
              <a:buNone/>
            </a:pPr>
            <a:r>
              <a:rPr lang="en-US" altLang="en-US">
                <a:solidFill>
                  <a:srgbClr val="000000"/>
                </a:solidFill>
              </a:rPr>
              <a:t>Database TDB</a:t>
            </a:r>
          </a:p>
        </p:txBody>
      </p:sp>
      <p:sp>
        <p:nvSpPr>
          <p:cNvPr id="19461" name="Text Box 4"/>
          <p:cNvSpPr txBox="1">
            <a:spLocks noChangeArrowheads="1"/>
          </p:cNvSpPr>
          <p:nvPr/>
        </p:nvSpPr>
        <p:spPr bwMode="auto">
          <a:xfrm>
            <a:off x="3079035" y="2271068"/>
            <a:ext cx="10999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spcBef>
                <a:spcPct val="0"/>
              </a:spcBef>
              <a:buClrTx/>
              <a:buSzTx/>
              <a:buFontTx/>
              <a:buNone/>
            </a:pPr>
            <a:r>
              <a:rPr lang="en-US" altLang="en-US">
                <a:solidFill>
                  <a:srgbClr val="000000"/>
                </a:solidFill>
                <a:latin typeface="Times New Roman" pitchFamily="18" charset="0"/>
              </a:rPr>
              <a:t>1</a:t>
            </a:r>
            <a:r>
              <a:rPr lang="en-US" altLang="en-US" baseline="30000">
                <a:solidFill>
                  <a:srgbClr val="000000"/>
                </a:solidFill>
                <a:latin typeface="Times New Roman" pitchFamily="18" charset="0"/>
              </a:rPr>
              <a:t>st</a:t>
            </a:r>
            <a:r>
              <a:rPr lang="en-US" altLang="en-US">
                <a:solidFill>
                  <a:srgbClr val="000000"/>
                </a:solidFill>
                <a:latin typeface="Times New Roman" pitchFamily="18" charset="0"/>
              </a:rPr>
              <a:t> scan</a:t>
            </a:r>
          </a:p>
        </p:txBody>
      </p:sp>
      <p:sp>
        <p:nvSpPr>
          <p:cNvPr id="19462" name="Line 5"/>
          <p:cNvSpPr>
            <a:spLocks noChangeShapeType="1"/>
          </p:cNvSpPr>
          <p:nvPr/>
        </p:nvSpPr>
        <p:spPr bwMode="auto">
          <a:xfrm>
            <a:off x="3062818" y="2719388"/>
            <a:ext cx="110913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solidFill>
                <a:srgbClr val="000000"/>
              </a:solidFill>
            </a:endParaRPr>
          </a:p>
        </p:txBody>
      </p:sp>
      <p:sp>
        <p:nvSpPr>
          <p:cNvPr id="19463" name="Text Box 6"/>
          <p:cNvSpPr txBox="1">
            <a:spLocks noChangeArrowheads="1"/>
          </p:cNvSpPr>
          <p:nvPr/>
        </p:nvSpPr>
        <p:spPr bwMode="auto">
          <a:xfrm>
            <a:off x="3758512" y="1718618"/>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spcBef>
                <a:spcPct val="0"/>
              </a:spcBef>
              <a:buClrTx/>
              <a:buSzTx/>
              <a:buFontTx/>
              <a:buNone/>
            </a:pPr>
            <a:r>
              <a:rPr lang="en-US" altLang="en-US" i="1">
                <a:solidFill>
                  <a:srgbClr val="000000"/>
                </a:solidFill>
                <a:latin typeface="Times New Roman" pitchFamily="18" charset="0"/>
              </a:rPr>
              <a:t>C</a:t>
            </a:r>
            <a:r>
              <a:rPr lang="en-US" altLang="en-US" i="1" baseline="-25000">
                <a:solidFill>
                  <a:srgbClr val="000000"/>
                </a:solidFill>
                <a:latin typeface="Times New Roman" pitchFamily="18" charset="0"/>
              </a:rPr>
              <a:t>1</a:t>
            </a:r>
          </a:p>
        </p:txBody>
      </p:sp>
      <p:sp>
        <p:nvSpPr>
          <p:cNvPr id="19464" name="Text Box 7"/>
          <p:cNvSpPr txBox="1">
            <a:spLocks noChangeArrowheads="1"/>
          </p:cNvSpPr>
          <p:nvPr/>
        </p:nvSpPr>
        <p:spPr bwMode="auto">
          <a:xfrm>
            <a:off x="7195271" y="1561455"/>
            <a:ext cx="4748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spcBef>
                <a:spcPct val="0"/>
              </a:spcBef>
              <a:buClrTx/>
              <a:buSzTx/>
              <a:buFontTx/>
              <a:buNone/>
            </a:pPr>
            <a:r>
              <a:rPr lang="en-US" altLang="en-US" i="1">
                <a:solidFill>
                  <a:srgbClr val="000000"/>
                </a:solidFill>
                <a:latin typeface="Times New Roman" pitchFamily="18" charset="0"/>
              </a:rPr>
              <a:t>F</a:t>
            </a:r>
            <a:r>
              <a:rPr lang="en-US" altLang="en-US" i="1" baseline="-25000">
                <a:solidFill>
                  <a:srgbClr val="000000"/>
                </a:solidFill>
                <a:latin typeface="Times New Roman" pitchFamily="18" charset="0"/>
              </a:rPr>
              <a:t>1</a:t>
            </a:r>
          </a:p>
        </p:txBody>
      </p:sp>
      <p:sp>
        <p:nvSpPr>
          <p:cNvPr id="19465" name="Text Box 8"/>
          <p:cNvSpPr txBox="1">
            <a:spLocks noChangeArrowheads="1"/>
          </p:cNvSpPr>
          <p:nvPr/>
        </p:nvSpPr>
        <p:spPr bwMode="auto">
          <a:xfrm>
            <a:off x="468504" y="3726806"/>
            <a:ext cx="4748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spcBef>
                <a:spcPct val="0"/>
              </a:spcBef>
              <a:buClrTx/>
              <a:buSzTx/>
              <a:buFontTx/>
              <a:buNone/>
            </a:pPr>
            <a:r>
              <a:rPr lang="en-US" altLang="en-US" i="1">
                <a:solidFill>
                  <a:srgbClr val="000000"/>
                </a:solidFill>
                <a:latin typeface="Times New Roman" pitchFamily="18" charset="0"/>
              </a:rPr>
              <a:t>F</a:t>
            </a:r>
            <a:r>
              <a:rPr lang="en-US" altLang="en-US" i="1" baseline="-25000">
                <a:solidFill>
                  <a:srgbClr val="000000"/>
                </a:solidFill>
                <a:latin typeface="Times New Roman" pitchFamily="18" charset="0"/>
              </a:rPr>
              <a:t>2</a:t>
            </a:r>
          </a:p>
        </p:txBody>
      </p:sp>
      <p:sp>
        <p:nvSpPr>
          <p:cNvPr id="19466" name="Text Box 9"/>
          <p:cNvSpPr txBox="1">
            <a:spLocks noChangeArrowheads="1"/>
          </p:cNvSpPr>
          <p:nvPr/>
        </p:nvSpPr>
        <p:spPr bwMode="auto">
          <a:xfrm>
            <a:off x="3718296" y="3329931"/>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spcBef>
                <a:spcPct val="0"/>
              </a:spcBef>
              <a:buClrTx/>
              <a:buSzTx/>
              <a:buFontTx/>
              <a:buNone/>
            </a:pPr>
            <a:r>
              <a:rPr lang="en-US" altLang="en-US" i="1">
                <a:solidFill>
                  <a:srgbClr val="000000"/>
                </a:solidFill>
                <a:latin typeface="Times New Roman" pitchFamily="18" charset="0"/>
              </a:rPr>
              <a:t>C</a:t>
            </a:r>
            <a:r>
              <a:rPr lang="en-US" altLang="en-US" i="1" baseline="-25000">
                <a:solidFill>
                  <a:srgbClr val="000000"/>
                </a:solidFill>
                <a:latin typeface="Times New Roman" pitchFamily="18" charset="0"/>
              </a:rPr>
              <a:t>2</a:t>
            </a:r>
          </a:p>
        </p:txBody>
      </p:sp>
      <p:sp>
        <p:nvSpPr>
          <p:cNvPr id="19467" name="Text Box 10"/>
          <p:cNvSpPr txBox="1">
            <a:spLocks noChangeArrowheads="1"/>
          </p:cNvSpPr>
          <p:nvPr/>
        </p:nvSpPr>
        <p:spPr bwMode="auto">
          <a:xfrm>
            <a:off x="8101912" y="3380731"/>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spcBef>
                <a:spcPct val="0"/>
              </a:spcBef>
              <a:buClrTx/>
              <a:buSzTx/>
              <a:buFontTx/>
              <a:buNone/>
            </a:pPr>
            <a:r>
              <a:rPr lang="en-US" altLang="en-US" i="1">
                <a:solidFill>
                  <a:srgbClr val="000000"/>
                </a:solidFill>
                <a:latin typeface="Times New Roman" pitchFamily="18" charset="0"/>
              </a:rPr>
              <a:t>C</a:t>
            </a:r>
            <a:r>
              <a:rPr lang="en-US" altLang="en-US" i="1" baseline="-25000">
                <a:solidFill>
                  <a:srgbClr val="000000"/>
                </a:solidFill>
                <a:latin typeface="Times New Roman" pitchFamily="18" charset="0"/>
              </a:rPr>
              <a:t>2</a:t>
            </a:r>
          </a:p>
        </p:txBody>
      </p:sp>
      <p:sp>
        <p:nvSpPr>
          <p:cNvPr id="19468" name="Line 11"/>
          <p:cNvSpPr>
            <a:spLocks noChangeShapeType="1"/>
          </p:cNvSpPr>
          <p:nvPr/>
        </p:nvSpPr>
        <p:spPr bwMode="auto">
          <a:xfrm flipH="1">
            <a:off x="6836834" y="4648200"/>
            <a:ext cx="149436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solidFill>
                <a:srgbClr val="000000"/>
              </a:solidFill>
            </a:endParaRPr>
          </a:p>
        </p:txBody>
      </p:sp>
      <p:sp>
        <p:nvSpPr>
          <p:cNvPr id="19469" name="Text Box 12"/>
          <p:cNvSpPr txBox="1">
            <a:spLocks noChangeArrowheads="1"/>
          </p:cNvSpPr>
          <p:nvPr/>
        </p:nvSpPr>
        <p:spPr bwMode="auto">
          <a:xfrm>
            <a:off x="6999305" y="4112568"/>
            <a:ext cx="11673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spcBef>
                <a:spcPct val="0"/>
              </a:spcBef>
              <a:buClrTx/>
              <a:buSzTx/>
              <a:buFontTx/>
              <a:buNone/>
            </a:pPr>
            <a:r>
              <a:rPr lang="en-US" altLang="en-US">
                <a:solidFill>
                  <a:srgbClr val="000000"/>
                </a:solidFill>
                <a:latin typeface="Times New Roman" pitchFamily="18" charset="0"/>
              </a:rPr>
              <a:t>2</a:t>
            </a:r>
            <a:r>
              <a:rPr lang="en-US" altLang="en-US" baseline="30000">
                <a:solidFill>
                  <a:srgbClr val="000000"/>
                </a:solidFill>
                <a:latin typeface="Times New Roman" pitchFamily="18" charset="0"/>
              </a:rPr>
              <a:t>nd</a:t>
            </a:r>
            <a:r>
              <a:rPr lang="en-US" altLang="en-US">
                <a:solidFill>
                  <a:srgbClr val="000000"/>
                </a:solidFill>
                <a:latin typeface="Times New Roman" pitchFamily="18" charset="0"/>
              </a:rPr>
              <a:t> scan</a:t>
            </a:r>
          </a:p>
        </p:txBody>
      </p:sp>
      <p:sp>
        <p:nvSpPr>
          <p:cNvPr id="19470" name="AutoShape 13"/>
          <p:cNvSpPr>
            <a:spLocks noChangeArrowheads="1"/>
          </p:cNvSpPr>
          <p:nvPr/>
        </p:nvSpPr>
        <p:spPr bwMode="auto">
          <a:xfrm>
            <a:off x="10481734" y="3267224"/>
            <a:ext cx="836084" cy="461665"/>
          </a:xfrm>
          <a:prstGeom prst="curvedLeftArrow">
            <a:avLst>
              <a:gd name="adj1" fmla="val 27291"/>
              <a:gd name="adj2" fmla="val 54582"/>
              <a:gd name="adj3" fmla="val 33333"/>
            </a:avLst>
          </a:prstGeom>
          <a:solidFill>
            <a:srgbClr val="FFFFFF"/>
          </a:solidFill>
          <a:ln w="9525">
            <a:solidFill>
              <a:srgbClr val="000000"/>
            </a:solidFill>
            <a:miter lim="800000"/>
            <a:headEnd/>
            <a:tailEnd/>
          </a:ln>
        </p:spPr>
        <p:txBody>
          <a:bodyPr anchor="ct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solidFill>
                <a:srgbClr val="000000"/>
              </a:solidFill>
              <a:latin typeface="Tahoma" pitchFamily="34" charset="0"/>
            </a:endParaRPr>
          </a:p>
        </p:txBody>
      </p:sp>
      <p:sp>
        <p:nvSpPr>
          <p:cNvPr id="19471" name="Line 14"/>
          <p:cNvSpPr>
            <a:spLocks noChangeShapeType="1"/>
          </p:cNvSpPr>
          <p:nvPr/>
        </p:nvSpPr>
        <p:spPr bwMode="auto">
          <a:xfrm>
            <a:off x="3380318" y="6299200"/>
            <a:ext cx="225636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solidFill>
                <a:srgbClr val="000000"/>
              </a:solidFill>
            </a:endParaRPr>
          </a:p>
        </p:txBody>
      </p:sp>
      <p:sp>
        <p:nvSpPr>
          <p:cNvPr id="19472" name="Text Box 15"/>
          <p:cNvSpPr txBox="1">
            <a:spLocks noChangeArrowheads="1"/>
          </p:cNvSpPr>
          <p:nvPr/>
        </p:nvSpPr>
        <p:spPr bwMode="auto">
          <a:xfrm>
            <a:off x="1011079" y="5800081"/>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spcBef>
                <a:spcPct val="0"/>
              </a:spcBef>
              <a:buClrTx/>
              <a:buSzTx/>
              <a:buFontTx/>
              <a:buNone/>
            </a:pPr>
            <a:r>
              <a:rPr lang="en-US" altLang="en-US" i="1">
                <a:solidFill>
                  <a:srgbClr val="000000"/>
                </a:solidFill>
                <a:latin typeface="Times New Roman" pitchFamily="18" charset="0"/>
              </a:rPr>
              <a:t>C</a:t>
            </a:r>
            <a:r>
              <a:rPr lang="en-US" altLang="en-US" i="1" baseline="-25000">
                <a:solidFill>
                  <a:srgbClr val="000000"/>
                </a:solidFill>
                <a:latin typeface="Times New Roman" pitchFamily="18" charset="0"/>
              </a:rPr>
              <a:t>3</a:t>
            </a:r>
          </a:p>
        </p:txBody>
      </p:sp>
      <p:sp>
        <p:nvSpPr>
          <p:cNvPr id="19473" name="Text Box 16"/>
          <p:cNvSpPr txBox="1">
            <a:spLocks noChangeArrowheads="1"/>
          </p:cNvSpPr>
          <p:nvPr/>
        </p:nvSpPr>
        <p:spPr bwMode="auto">
          <a:xfrm>
            <a:off x="5552738" y="5788969"/>
            <a:ext cx="4748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spcBef>
                <a:spcPct val="0"/>
              </a:spcBef>
              <a:buClrTx/>
              <a:buSzTx/>
              <a:buFontTx/>
              <a:buNone/>
            </a:pPr>
            <a:r>
              <a:rPr lang="en-US" altLang="en-US" i="1">
                <a:solidFill>
                  <a:srgbClr val="000000"/>
                </a:solidFill>
                <a:latin typeface="Times New Roman" pitchFamily="18" charset="0"/>
              </a:rPr>
              <a:t>F</a:t>
            </a:r>
            <a:r>
              <a:rPr lang="en-US" altLang="en-US" i="1" baseline="-25000">
                <a:solidFill>
                  <a:srgbClr val="000000"/>
                </a:solidFill>
                <a:latin typeface="Times New Roman" pitchFamily="18" charset="0"/>
              </a:rPr>
              <a:t>3</a:t>
            </a:r>
          </a:p>
        </p:txBody>
      </p:sp>
      <p:sp>
        <p:nvSpPr>
          <p:cNvPr id="19474" name="Text Box 17"/>
          <p:cNvSpPr txBox="1">
            <a:spLocks noChangeArrowheads="1"/>
          </p:cNvSpPr>
          <p:nvPr/>
        </p:nvSpPr>
        <p:spPr bwMode="auto">
          <a:xfrm>
            <a:off x="3793511" y="5879456"/>
            <a:ext cx="11336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spcBef>
                <a:spcPct val="0"/>
              </a:spcBef>
              <a:buClrTx/>
              <a:buSzTx/>
              <a:buFontTx/>
              <a:buNone/>
            </a:pPr>
            <a:r>
              <a:rPr lang="en-US" altLang="en-US">
                <a:solidFill>
                  <a:srgbClr val="000000"/>
                </a:solidFill>
                <a:latin typeface="Times New Roman" pitchFamily="18" charset="0"/>
              </a:rPr>
              <a:t>3</a:t>
            </a:r>
            <a:r>
              <a:rPr lang="en-US" altLang="en-US" baseline="30000">
                <a:solidFill>
                  <a:srgbClr val="000000"/>
                </a:solidFill>
                <a:latin typeface="Times New Roman" pitchFamily="18" charset="0"/>
              </a:rPr>
              <a:t>rd</a:t>
            </a:r>
            <a:r>
              <a:rPr lang="en-US" altLang="en-US">
                <a:solidFill>
                  <a:srgbClr val="000000"/>
                </a:solidFill>
                <a:latin typeface="Times New Roman" pitchFamily="18" charset="0"/>
              </a:rPr>
              <a:t> scan</a:t>
            </a:r>
          </a:p>
        </p:txBody>
      </p:sp>
      <p:sp>
        <p:nvSpPr>
          <p:cNvPr id="19475" name="AutoShape 18"/>
          <p:cNvSpPr>
            <a:spLocks noChangeArrowheads="1"/>
          </p:cNvSpPr>
          <p:nvPr/>
        </p:nvSpPr>
        <p:spPr bwMode="auto">
          <a:xfrm>
            <a:off x="468503" y="4648200"/>
            <a:ext cx="381241" cy="1053952"/>
          </a:xfrm>
          <a:prstGeom prst="curvedRightArrow">
            <a:avLst>
              <a:gd name="adj1" fmla="val 56619"/>
              <a:gd name="adj2" fmla="val 50000"/>
              <a:gd name="adj3" fmla="val 0"/>
            </a:avLst>
          </a:prstGeom>
          <a:solidFill>
            <a:srgbClr val="FFFFFF"/>
          </a:solidFill>
          <a:ln w="9525">
            <a:solidFill>
              <a:srgbClr val="000000"/>
            </a:solidFill>
            <a:miter lim="800000"/>
            <a:headEnd/>
            <a:tailEnd/>
          </a:ln>
        </p:spPr>
        <p:txBody>
          <a:bodyPr wrap="square" anchor="ct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solidFill>
                <a:srgbClr val="000000"/>
              </a:solidFill>
              <a:latin typeface="Tahoma" pitchFamily="34" charset="0"/>
            </a:endParaRPr>
          </a:p>
        </p:txBody>
      </p:sp>
      <p:sp>
        <p:nvSpPr>
          <p:cNvPr id="19476" name="Line 19"/>
          <p:cNvSpPr>
            <a:spLocks noChangeShapeType="1"/>
          </p:cNvSpPr>
          <p:nvPr/>
        </p:nvSpPr>
        <p:spPr bwMode="auto">
          <a:xfrm>
            <a:off x="7112000" y="2438400"/>
            <a:ext cx="70273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solidFill>
                <a:srgbClr val="000000"/>
              </a:solidFill>
            </a:endParaRPr>
          </a:p>
        </p:txBody>
      </p:sp>
      <p:sp>
        <p:nvSpPr>
          <p:cNvPr id="19477" name="Line 20"/>
          <p:cNvSpPr>
            <a:spLocks noChangeShapeType="1"/>
          </p:cNvSpPr>
          <p:nvPr/>
        </p:nvSpPr>
        <p:spPr bwMode="auto">
          <a:xfrm flipH="1">
            <a:off x="3556000" y="4648200"/>
            <a:ext cx="5080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solidFill>
                <a:srgbClr val="000000"/>
              </a:solidFill>
            </a:endParaRPr>
          </a:p>
        </p:txBody>
      </p:sp>
      <p:graphicFrame>
        <p:nvGraphicFramePr>
          <p:cNvPr id="1532949" name="Group 21"/>
          <p:cNvGraphicFramePr>
            <a:graphicFrameLocks noGrp="1"/>
          </p:cNvGraphicFramePr>
          <p:nvPr/>
        </p:nvGraphicFramePr>
        <p:xfrm>
          <a:off x="203200" y="1828800"/>
          <a:ext cx="2540000" cy="1554180"/>
        </p:xfrm>
        <a:graphic>
          <a:graphicData uri="http://schemas.openxmlformats.org/drawingml/2006/table">
            <a:tbl>
              <a:tblPr/>
              <a:tblGrid>
                <a:gridCol w="9144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tblGrid>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err="1">
                          <a:ln>
                            <a:noFill/>
                          </a:ln>
                          <a:solidFill>
                            <a:schemeClr val="tx1"/>
                          </a:solidFill>
                          <a:effectLst/>
                          <a:latin typeface="Tahoma" pitchFamily="34" charset="0"/>
                        </a:rPr>
                        <a:t>Tid</a:t>
                      </a:r>
                      <a:endParaRPr kumimoji="0" lang="en-US" sz="1600" b="1" i="0" u="none" strike="noStrike" cap="none" normalizeH="0" baseline="0" dirty="0">
                        <a:ln>
                          <a:noFill/>
                        </a:ln>
                        <a:solidFill>
                          <a:schemeClr val="tx1"/>
                        </a:solidFill>
                        <a:effectLst/>
                        <a:latin typeface="Tahoma" pitchFamily="34" charset="0"/>
                      </a:endParaRP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a:ln>
                            <a:noFill/>
                          </a:ln>
                          <a:solidFill>
                            <a:schemeClr val="tx1"/>
                          </a:solidFill>
                          <a:effectLst/>
                          <a:latin typeface="Tahoma" pitchFamily="34" charset="0"/>
                        </a:rPr>
                        <a:t>Items</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 D</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20</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 E</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B, C, E</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40</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32969" name="Group 41"/>
          <p:cNvGraphicFramePr>
            <a:graphicFrameLocks noGrp="1"/>
          </p:cNvGraphicFramePr>
          <p:nvPr/>
        </p:nvGraphicFramePr>
        <p:xfrm>
          <a:off x="4572000" y="1335088"/>
          <a:ext cx="2336800" cy="1865328"/>
        </p:xfrm>
        <a:graphic>
          <a:graphicData uri="http://schemas.openxmlformats.org/drawingml/2006/table">
            <a:tbl>
              <a:tblPr/>
              <a:tblGrid>
                <a:gridCol w="15240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tblGrid>
              <a:tr h="310885">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err="1">
                          <a:ln>
                            <a:noFill/>
                          </a:ln>
                          <a:solidFill>
                            <a:schemeClr val="tx1"/>
                          </a:solidFill>
                          <a:effectLst/>
                          <a:latin typeface="Tahoma" pitchFamily="34" charset="0"/>
                        </a:rPr>
                        <a:t>Itemset</a:t>
                      </a:r>
                      <a:endParaRPr kumimoji="0" lang="en-US" sz="1600" b="1" i="0" u="none" strike="noStrike" cap="none" normalizeH="0" baseline="0" dirty="0">
                        <a:ln>
                          <a:noFill/>
                        </a:ln>
                        <a:solidFill>
                          <a:schemeClr val="tx1"/>
                        </a:solidFill>
                        <a:effectLst/>
                        <a:latin typeface="Tahoma" pitchFamily="34" charset="0"/>
                      </a:endParaRPr>
                    </a:p>
                  </a:txBody>
                  <a:tcPr marL="121920" marR="121920"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a:ln>
                            <a:noFill/>
                          </a:ln>
                          <a:solidFill>
                            <a:schemeClr val="tx1"/>
                          </a:solidFill>
                          <a:effectLst/>
                          <a:latin typeface="Tahoma" pitchFamily="34" charset="0"/>
                        </a:rPr>
                        <a:t>sup</a:t>
                      </a:r>
                    </a:p>
                  </a:txBody>
                  <a:tcPr marL="121920" marR="121920"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10885">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a:t>
                      </a:r>
                    </a:p>
                  </a:txBody>
                  <a:tcPr marL="121920" marR="121920"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L="121920" marR="121920"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885">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a:t>
                      </a:r>
                    </a:p>
                  </a:txBody>
                  <a:tcPr marL="121920" marR="121920"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L="121920" marR="121920"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885">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a:t>
                      </a:r>
                    </a:p>
                  </a:txBody>
                  <a:tcPr marL="121920" marR="121920"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L="121920" marR="121920"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885">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{D}</a:t>
                      </a:r>
                    </a:p>
                  </a:txBody>
                  <a:tcPr marL="121920" marR="121920"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a:t>
                      </a:r>
                    </a:p>
                  </a:txBody>
                  <a:tcPr marL="121920" marR="121920"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4"/>
                  </a:ext>
                </a:extLst>
              </a:tr>
              <a:tr h="310885">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{E}</a:t>
                      </a:r>
                    </a:p>
                  </a:txBody>
                  <a:tcPr marL="121920" marR="121920"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a:t>
                      </a:r>
                    </a:p>
                  </a:txBody>
                  <a:tcPr marL="121920" marR="121920"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532992" name="Group 64"/>
          <p:cNvGraphicFramePr>
            <a:graphicFrameLocks noGrp="1"/>
          </p:cNvGraphicFramePr>
          <p:nvPr/>
        </p:nvGraphicFramePr>
        <p:xfrm>
          <a:off x="7924800" y="1524000"/>
          <a:ext cx="2336800" cy="1554180"/>
        </p:xfrm>
        <a:graphic>
          <a:graphicData uri="http://schemas.openxmlformats.org/drawingml/2006/table">
            <a:tbl>
              <a:tblPr/>
              <a:tblGrid>
                <a:gridCol w="15240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tblGrid>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err="1">
                          <a:ln>
                            <a:noFill/>
                          </a:ln>
                          <a:solidFill>
                            <a:schemeClr val="tx1"/>
                          </a:solidFill>
                          <a:effectLst/>
                          <a:latin typeface="Tahoma" pitchFamily="34" charset="0"/>
                        </a:rPr>
                        <a:t>Itemset</a:t>
                      </a:r>
                      <a:endParaRPr kumimoji="0" lang="en-US" sz="1600" b="1" i="0" u="none" strike="noStrike" cap="none" normalizeH="0" baseline="0" dirty="0">
                        <a:ln>
                          <a:noFill/>
                        </a:ln>
                        <a:solidFill>
                          <a:schemeClr val="tx1"/>
                        </a:solidFill>
                        <a:effectLst/>
                        <a:latin typeface="Tahoma" pitchFamily="34" charset="0"/>
                      </a:endParaRP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a:ln>
                            <a:noFill/>
                          </a:ln>
                          <a:solidFill>
                            <a:schemeClr val="tx1"/>
                          </a:solidFill>
                          <a:effectLst/>
                          <a:latin typeface="Tahoma" pitchFamily="34" charset="0"/>
                        </a:rPr>
                        <a:t>sup</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{E}</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a:t>
                      </a:r>
                    </a:p>
                  </a:txBody>
                  <a:tcPr marL="121920" marR="121920" marT="45690" marB="4569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33012" name="Group 84"/>
          <p:cNvGraphicFramePr>
            <a:graphicFrameLocks noGrp="1"/>
          </p:cNvGraphicFramePr>
          <p:nvPr/>
        </p:nvGraphicFramePr>
        <p:xfrm>
          <a:off x="8737600" y="3581401"/>
          <a:ext cx="1524000" cy="2176461"/>
        </p:xfrm>
        <a:graphic>
          <a:graphicData uri="http://schemas.openxmlformats.org/drawingml/2006/table">
            <a:tbl>
              <a:tblPr/>
              <a:tblGrid>
                <a:gridCol w="1524000">
                  <a:extLst>
                    <a:ext uri="{9D8B030D-6E8A-4147-A177-3AD203B41FA5}">
                      <a16:colId xmlns:a16="http://schemas.microsoft.com/office/drawing/2014/main" val="20000"/>
                    </a:ext>
                  </a:extLst>
                </a:gridCol>
              </a:tblGrid>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err="1">
                          <a:ln>
                            <a:noFill/>
                          </a:ln>
                          <a:solidFill>
                            <a:schemeClr val="tx1"/>
                          </a:solidFill>
                          <a:effectLst/>
                          <a:latin typeface="Tahoma" pitchFamily="34" charset="0"/>
                        </a:rPr>
                        <a:t>Itemset</a:t>
                      </a:r>
                      <a:endParaRPr kumimoji="0" lang="en-US" sz="1600" b="1" i="0" u="none" strike="noStrike" cap="none" normalizeH="0" baseline="0" dirty="0">
                        <a:ln>
                          <a:noFill/>
                        </a:ln>
                        <a:solidFill>
                          <a:schemeClr val="tx1"/>
                        </a:solidFill>
                        <a:effectLst/>
                        <a:latin typeface="Tahoma" pitchFamily="34" charset="0"/>
                      </a:endParaRPr>
                    </a:p>
                  </a:txBody>
                  <a:tcPr marL="121920" marR="121920"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B}</a:t>
                      </a:r>
                    </a:p>
                  </a:txBody>
                  <a:tcPr marL="121920" marR="121920"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a:t>
                      </a:r>
                    </a:p>
                  </a:txBody>
                  <a:tcPr marL="121920" marR="121920"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E}</a:t>
                      </a:r>
                    </a:p>
                  </a:txBody>
                  <a:tcPr marL="121920" marR="121920"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a:t>
                      </a:r>
                    </a:p>
                  </a:txBody>
                  <a:tcPr marL="121920" marR="121920"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L="121920" marR="121920"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{C, E}</a:t>
                      </a:r>
                    </a:p>
                  </a:txBody>
                  <a:tcPr marL="121920" marR="121920"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1533030" name="Group 102"/>
          <p:cNvGraphicFramePr>
            <a:graphicFrameLocks noGrp="1"/>
          </p:cNvGraphicFramePr>
          <p:nvPr/>
        </p:nvGraphicFramePr>
        <p:xfrm>
          <a:off x="4267200" y="3557588"/>
          <a:ext cx="2336800" cy="2005024"/>
        </p:xfrm>
        <a:graphic>
          <a:graphicData uri="http://schemas.openxmlformats.org/drawingml/2006/table">
            <a:tbl>
              <a:tblPr/>
              <a:tblGrid>
                <a:gridCol w="15240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tblGrid>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err="1">
                          <a:ln>
                            <a:noFill/>
                          </a:ln>
                          <a:solidFill>
                            <a:schemeClr val="tx1"/>
                          </a:solidFill>
                          <a:effectLst/>
                          <a:latin typeface="Tahoma" pitchFamily="34" charset="0"/>
                        </a:rPr>
                        <a:t>Itemset</a:t>
                      </a:r>
                      <a:endParaRPr kumimoji="0" lang="en-US" sz="1600" b="1" i="0" u="none" strike="noStrike" cap="none" normalizeH="0" baseline="0" dirty="0">
                        <a:ln>
                          <a:noFill/>
                        </a:ln>
                        <a:solidFill>
                          <a:schemeClr val="tx1"/>
                        </a:solidFill>
                        <a:effectLst/>
                        <a:latin typeface="Tahoma" pitchFamily="34" charset="0"/>
                      </a:endParaRP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a:ln>
                            <a:noFill/>
                          </a:ln>
                          <a:solidFill>
                            <a:schemeClr val="tx1"/>
                          </a:solidFill>
                          <a:effectLst/>
                          <a:latin typeface="Tahoma" pitchFamily="34" charset="0"/>
                        </a:rPr>
                        <a:t>sup</a:t>
                      </a: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B}</a:t>
                      </a: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a:t>
                      </a: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a:t>
                      </a: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E}</a:t>
                      </a: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a:t>
                      </a: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3"/>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a:t>
                      </a: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 E}</a:t>
                      </a: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a:t>
                      </a:r>
                    </a:p>
                  </a:txBody>
                  <a:tcPr marL="121920" marR="121920" marT="45680" marB="4568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1533056" name="Group 128"/>
          <p:cNvGraphicFramePr>
            <a:graphicFrameLocks noGrp="1"/>
          </p:cNvGraphicFramePr>
          <p:nvPr/>
        </p:nvGraphicFramePr>
        <p:xfrm>
          <a:off x="1016000" y="3862388"/>
          <a:ext cx="2336800" cy="1431940"/>
        </p:xfrm>
        <a:graphic>
          <a:graphicData uri="http://schemas.openxmlformats.org/drawingml/2006/table">
            <a:tbl>
              <a:tblPr/>
              <a:tblGrid>
                <a:gridCol w="15240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tblGrid>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err="1">
                          <a:ln>
                            <a:noFill/>
                          </a:ln>
                          <a:solidFill>
                            <a:schemeClr val="tx1"/>
                          </a:solidFill>
                          <a:effectLst/>
                          <a:latin typeface="Tahoma" pitchFamily="34" charset="0"/>
                        </a:rPr>
                        <a:t>Itemset</a:t>
                      </a:r>
                      <a:endParaRPr kumimoji="0" lang="en-US" sz="1600" b="1" i="0" u="none" strike="noStrike" cap="none" normalizeH="0" baseline="0" dirty="0">
                        <a:ln>
                          <a:noFill/>
                        </a:ln>
                        <a:solidFill>
                          <a:schemeClr val="tx1"/>
                        </a:solidFill>
                        <a:effectLst/>
                        <a:latin typeface="Tahoma" pitchFamily="34" charset="0"/>
                      </a:endParaRPr>
                    </a:p>
                  </a:txBody>
                  <a:tcPr marL="121920" marR="121920"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a:ln>
                            <a:noFill/>
                          </a:ln>
                          <a:solidFill>
                            <a:schemeClr val="tx1"/>
                          </a:solidFill>
                          <a:effectLst/>
                          <a:latin typeface="Tahoma" pitchFamily="34" charset="0"/>
                        </a:rPr>
                        <a:t>sup</a:t>
                      </a:r>
                    </a:p>
                  </a:txBody>
                  <a:tcPr marL="121920" marR="121920"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a:t>
                      </a:r>
                    </a:p>
                  </a:txBody>
                  <a:tcPr marL="121920" marR="121920"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L="121920" marR="121920"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a:t>
                      </a:r>
                    </a:p>
                  </a:txBody>
                  <a:tcPr marL="121920" marR="121920"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L="121920" marR="121920"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L="121920" marR="121920"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L="121920" marR="121920"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 E}</a:t>
                      </a:r>
                    </a:p>
                  </a:txBody>
                  <a:tcPr marL="121920" marR="121920"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a:t>
                      </a:r>
                    </a:p>
                  </a:txBody>
                  <a:tcPr marL="121920" marR="121920"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33076" name="Group 148"/>
          <p:cNvGraphicFramePr>
            <a:graphicFrameLocks noGrp="1"/>
          </p:cNvGraphicFramePr>
          <p:nvPr/>
        </p:nvGraphicFramePr>
        <p:xfrm>
          <a:off x="1524000" y="5867401"/>
          <a:ext cx="1524000" cy="658813"/>
        </p:xfrm>
        <a:graphic>
          <a:graphicData uri="http://schemas.openxmlformats.org/drawingml/2006/table">
            <a:tbl>
              <a:tblPr/>
              <a:tblGrid>
                <a:gridCol w="1524000">
                  <a:extLst>
                    <a:ext uri="{9D8B030D-6E8A-4147-A177-3AD203B41FA5}">
                      <a16:colId xmlns:a16="http://schemas.microsoft.com/office/drawing/2014/main" val="20000"/>
                    </a:ext>
                  </a:extLst>
                </a:gridCol>
              </a:tblGrid>
              <a:tr h="31101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err="1">
                          <a:ln>
                            <a:noFill/>
                          </a:ln>
                          <a:solidFill>
                            <a:schemeClr val="tx1"/>
                          </a:solidFill>
                          <a:effectLst/>
                          <a:latin typeface="Tahoma" pitchFamily="34" charset="0"/>
                        </a:rPr>
                        <a:t>Itemset</a:t>
                      </a:r>
                      <a:endParaRPr kumimoji="0" lang="en-US" sz="1600" b="1" i="0" u="none" strike="noStrike" cap="none" normalizeH="0" baseline="0" dirty="0">
                        <a:ln>
                          <a:noFill/>
                        </a:ln>
                        <a:solidFill>
                          <a:schemeClr val="tx1"/>
                        </a:solidFill>
                        <a:effectLst/>
                        <a:latin typeface="Tahoma" pitchFamily="34" charset="0"/>
                      </a:endParaRPr>
                    </a:p>
                  </a:txBody>
                  <a:tcPr marL="121920" marR="121920" marT="45738" marB="4573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47797">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 E}</a:t>
                      </a:r>
                    </a:p>
                  </a:txBody>
                  <a:tcPr marL="121920" marR="121920" marT="45738" marB="4573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533084" name="Group 156"/>
          <p:cNvGraphicFramePr>
            <a:graphicFrameLocks noGrp="1"/>
          </p:cNvGraphicFramePr>
          <p:nvPr/>
        </p:nvGraphicFramePr>
        <p:xfrm>
          <a:off x="6096000" y="5867400"/>
          <a:ext cx="2336800" cy="619126"/>
        </p:xfrm>
        <a:graphic>
          <a:graphicData uri="http://schemas.openxmlformats.org/drawingml/2006/table">
            <a:tbl>
              <a:tblPr/>
              <a:tblGrid>
                <a:gridCol w="15240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tblGrid>
              <a:tr h="309563">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err="1">
                          <a:ln>
                            <a:noFill/>
                          </a:ln>
                          <a:solidFill>
                            <a:schemeClr val="tx1"/>
                          </a:solidFill>
                          <a:effectLst/>
                          <a:latin typeface="Tahoma" pitchFamily="34" charset="0"/>
                        </a:rPr>
                        <a:t>Itemset</a:t>
                      </a:r>
                      <a:endParaRPr kumimoji="0" lang="en-US" sz="1600" b="1" i="0" u="none" strike="noStrike" cap="none" normalizeH="0" baseline="0" dirty="0">
                        <a:ln>
                          <a:noFill/>
                        </a:ln>
                        <a:solidFill>
                          <a:schemeClr val="tx1"/>
                        </a:solidFill>
                        <a:effectLst/>
                        <a:latin typeface="Tahoma" pitchFamily="34" charset="0"/>
                      </a:endParaRPr>
                    </a:p>
                  </a:txBody>
                  <a:tcPr marL="121920" marR="12192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dirty="0">
                          <a:ln>
                            <a:noFill/>
                          </a:ln>
                          <a:solidFill>
                            <a:schemeClr val="tx1"/>
                          </a:solidFill>
                          <a:effectLst/>
                          <a:latin typeface="Tahoma" pitchFamily="34" charset="0"/>
                        </a:rPr>
                        <a:t>sup</a:t>
                      </a:r>
                    </a:p>
                  </a:txBody>
                  <a:tcPr marL="121920" marR="12192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09563">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 E}</a:t>
                      </a:r>
                    </a:p>
                  </a:txBody>
                  <a:tcPr marL="121920" marR="12192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L="121920" marR="12192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9624" name="Text Box 167"/>
          <p:cNvSpPr txBox="1">
            <a:spLocks noChangeArrowheads="1"/>
          </p:cNvSpPr>
          <p:nvPr/>
        </p:nvSpPr>
        <p:spPr bwMode="auto">
          <a:xfrm>
            <a:off x="2641601" y="1295400"/>
            <a:ext cx="1765300" cy="4000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50000"/>
              </a:spcBef>
              <a:buClrTx/>
              <a:buSzTx/>
              <a:buFontTx/>
              <a:buNone/>
            </a:pPr>
            <a:r>
              <a:rPr lang="en-US" altLang="en-US" sz="2000">
                <a:solidFill>
                  <a:srgbClr val="000000"/>
                </a:solidFill>
              </a:rPr>
              <a:t>minsup = 2</a:t>
            </a:r>
          </a:p>
        </p:txBody>
      </p:sp>
    </p:spTree>
    <p:extLst>
      <p:ext uri="{BB962C8B-B14F-4D97-AF65-F5344CB8AC3E}">
        <p14:creationId xmlns:p14="http://schemas.microsoft.com/office/powerpoint/2010/main" val="532015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4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3296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46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47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3299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46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47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330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46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46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46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330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46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47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3305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47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47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53307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947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47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947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5330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p:bldP spid="19462" grpId="0" animBg="1"/>
      <p:bldP spid="19463" grpId="0"/>
      <p:bldP spid="19464" grpId="0"/>
      <p:bldP spid="19465" grpId="0"/>
      <p:bldP spid="19466" grpId="0"/>
      <p:bldP spid="19467" grpId="0"/>
      <p:bldP spid="19468" grpId="0" animBg="1"/>
      <p:bldP spid="19469" grpId="0"/>
      <p:bldP spid="19470" grpId="0" animBg="1"/>
      <p:bldP spid="19471" grpId="0" animBg="1"/>
      <p:bldP spid="19472" grpId="0"/>
      <p:bldP spid="19473" grpId="0"/>
      <p:bldP spid="19474" grpId="0"/>
      <p:bldP spid="19475" grpId="0" animBg="1"/>
      <p:bldP spid="19476" grpId="0" animBg="1"/>
      <p:bldP spid="1947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5745065" y="1930409"/>
          <a:ext cx="5109633" cy="396875"/>
        </p:xfrm>
        <a:graphic>
          <a:graphicData uri="http://schemas.openxmlformats.org/drawingml/2006/table">
            <a:tbl>
              <a:tblPr/>
              <a:tblGrid>
                <a:gridCol w="1022351">
                  <a:extLst>
                    <a:ext uri="{9D8B030D-6E8A-4147-A177-3AD203B41FA5}">
                      <a16:colId xmlns:a16="http://schemas.microsoft.com/office/drawing/2014/main" val="20000"/>
                    </a:ext>
                  </a:extLst>
                </a:gridCol>
                <a:gridCol w="1022349">
                  <a:extLst>
                    <a:ext uri="{9D8B030D-6E8A-4147-A177-3AD203B41FA5}">
                      <a16:colId xmlns:a16="http://schemas.microsoft.com/office/drawing/2014/main" val="20001"/>
                    </a:ext>
                  </a:extLst>
                </a:gridCol>
                <a:gridCol w="1020233">
                  <a:extLst>
                    <a:ext uri="{9D8B030D-6E8A-4147-A177-3AD203B41FA5}">
                      <a16:colId xmlns:a16="http://schemas.microsoft.com/office/drawing/2014/main" val="20002"/>
                    </a:ext>
                  </a:extLst>
                </a:gridCol>
                <a:gridCol w="1022351">
                  <a:extLst>
                    <a:ext uri="{9D8B030D-6E8A-4147-A177-3AD203B41FA5}">
                      <a16:colId xmlns:a16="http://schemas.microsoft.com/office/drawing/2014/main" val="20003"/>
                    </a:ext>
                  </a:extLst>
                </a:gridCol>
                <a:gridCol w="1022349">
                  <a:extLst>
                    <a:ext uri="{9D8B030D-6E8A-4147-A177-3AD203B41FA5}">
                      <a16:colId xmlns:a16="http://schemas.microsoft.com/office/drawing/2014/main" val="20004"/>
                    </a:ext>
                  </a:extLst>
                </a:gridCol>
              </a:tblGrid>
              <a:tr h="3968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chemeClr val="tx1"/>
                          </a:solidFill>
                          <a:effectLst/>
                          <a:latin typeface="Tahoma" charset="0"/>
                          <a:ea typeface="ＭＳ Ｐゴシック" charset="0"/>
                        </a:rPr>
                        <a:t>abc</a:t>
                      </a:r>
                      <a:endParaRPr kumimoji="0" lang="en-US" sz="2000" b="1" i="0" u="none" strike="noStrike" cap="none" normalizeH="0" baseline="0" dirty="0">
                        <a:ln>
                          <a:noFill/>
                        </a:ln>
                        <a:solidFill>
                          <a:schemeClr val="tx1"/>
                        </a:solidFill>
                        <a:effectLst/>
                        <a:latin typeface="Tahoma" charset="0"/>
                        <a:ea typeface="ＭＳ Ｐゴシック" charset="0"/>
                      </a:endParaRPr>
                    </a:p>
                  </a:txBody>
                  <a:tcPr marL="121901" marR="121901" marT="45793" marB="4579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F5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chemeClr val="tx1"/>
                          </a:solidFill>
                          <a:effectLst/>
                          <a:latin typeface="Tahoma" charset="0"/>
                          <a:ea typeface="ＭＳ Ｐゴシック" charset="0"/>
                        </a:rPr>
                        <a:t>abd</a:t>
                      </a:r>
                      <a:endParaRPr kumimoji="0" lang="en-US" sz="2000" b="1" i="0" u="none" strike="noStrike" cap="none" normalizeH="0" baseline="0" dirty="0">
                        <a:ln>
                          <a:noFill/>
                        </a:ln>
                        <a:solidFill>
                          <a:schemeClr val="tx1"/>
                        </a:solidFill>
                        <a:effectLst/>
                        <a:latin typeface="Tahoma" charset="0"/>
                        <a:ea typeface="ＭＳ Ｐゴシック" charset="0"/>
                      </a:endParaRPr>
                    </a:p>
                  </a:txBody>
                  <a:tcPr marL="121901" marR="121901" marT="45793" marB="4579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F5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ahoma" charset="0"/>
                          <a:ea typeface="ＭＳ Ｐゴシック" charset="0"/>
                        </a:rPr>
                        <a:t>acd</a:t>
                      </a:r>
                    </a:p>
                  </a:txBody>
                  <a:tcPr marL="121901" marR="121901" marT="45793" marB="4579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F5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ahoma" charset="0"/>
                          <a:ea typeface="ＭＳ Ｐゴシック" charset="0"/>
                        </a:rPr>
                        <a:t>ace</a:t>
                      </a:r>
                    </a:p>
                  </a:txBody>
                  <a:tcPr marL="121901" marR="121901" marT="45793" marB="4579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F5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ahoma" charset="0"/>
                          <a:ea typeface="ＭＳ Ｐゴシック" charset="0"/>
                        </a:rPr>
                        <a:t>bcd</a:t>
                      </a:r>
                    </a:p>
                  </a:txBody>
                  <a:tcPr marL="121901" marR="121901" marT="45793" marB="4579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F5CC"/>
                    </a:solidFill>
                  </a:tcPr>
                </a:tc>
                <a:extLst>
                  <a:ext uri="{0D108BD9-81ED-4DB2-BD59-A6C34878D82A}">
                    <a16:rowId xmlns:a16="http://schemas.microsoft.com/office/drawing/2014/main" val="10000"/>
                  </a:ext>
                </a:extLst>
              </a:tr>
            </a:tbl>
          </a:graphicData>
        </a:graphic>
      </p:graphicFrame>
      <p:sp>
        <p:nvSpPr>
          <p:cNvPr id="20496" name="Curved Up Arrow 3"/>
          <p:cNvSpPr>
            <a:spLocks noChangeArrowheads="1"/>
          </p:cNvSpPr>
          <p:nvPr/>
        </p:nvSpPr>
        <p:spPr bwMode="auto">
          <a:xfrm>
            <a:off x="6354664" y="2311408"/>
            <a:ext cx="1117600" cy="152400"/>
          </a:xfrm>
          <a:prstGeom prst="curvedUpArrow">
            <a:avLst>
              <a:gd name="adj1" fmla="val 25005"/>
              <a:gd name="adj2" fmla="val 50009"/>
              <a:gd name="adj3" fmla="val 25000"/>
            </a:avLst>
          </a:prstGeom>
          <a:solidFill>
            <a:schemeClr val="accent1"/>
          </a:solidFill>
          <a:ln w="9525">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solidFill>
                <a:srgbClr val="000000"/>
              </a:solidFill>
              <a:latin typeface="Tahoma" pitchFamily="34" charset="0"/>
            </a:endParaRPr>
          </a:p>
        </p:txBody>
      </p:sp>
      <p:sp>
        <p:nvSpPr>
          <p:cNvPr id="20497" name="Curved Up Arrow 7"/>
          <p:cNvSpPr>
            <a:spLocks noChangeArrowheads="1"/>
          </p:cNvSpPr>
          <p:nvPr/>
        </p:nvSpPr>
        <p:spPr bwMode="auto">
          <a:xfrm>
            <a:off x="8386664" y="2311408"/>
            <a:ext cx="1117600" cy="152400"/>
          </a:xfrm>
          <a:prstGeom prst="curvedUpArrow">
            <a:avLst>
              <a:gd name="adj1" fmla="val 25005"/>
              <a:gd name="adj2" fmla="val 50009"/>
              <a:gd name="adj3" fmla="val 25000"/>
            </a:avLst>
          </a:prstGeom>
          <a:solidFill>
            <a:schemeClr val="accent1"/>
          </a:solidFill>
          <a:ln w="9525">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solidFill>
                <a:srgbClr val="000000"/>
              </a:solidFill>
              <a:latin typeface="Tahoma" pitchFamily="34" charset="0"/>
            </a:endParaRPr>
          </a:p>
        </p:txBody>
      </p:sp>
      <p:sp>
        <p:nvSpPr>
          <p:cNvPr id="5" name="Minus 4"/>
          <p:cNvSpPr/>
          <p:nvPr/>
        </p:nvSpPr>
        <p:spPr bwMode="auto">
          <a:xfrm>
            <a:off x="5846664" y="2235208"/>
            <a:ext cx="508000" cy="76200"/>
          </a:xfrm>
          <a:prstGeom prst="mathMinus">
            <a:avLst/>
          </a:prstGeom>
          <a:solidFill>
            <a:srgbClr val="FF0000"/>
          </a:solidFill>
          <a:ln w="9525" cap="flat" cmpd="sng" algn="ctr">
            <a:solidFill>
              <a:schemeClr val="tx1"/>
            </a:solidFill>
            <a:prstDash val="solid"/>
            <a:miter lim="800000"/>
            <a:headEnd type="none" w="med" len="med"/>
            <a:tailEnd type="none" w="med" len="med"/>
          </a:ln>
          <a:effectLst/>
        </p:spPr>
        <p:txBody>
          <a:bodyPr wrap="none"/>
          <a:lstStyle/>
          <a:p>
            <a:pPr>
              <a:defRPr/>
            </a:pPr>
            <a:endParaRPr lang="en-US">
              <a:solidFill>
                <a:srgbClr val="000000"/>
              </a:solidFill>
            </a:endParaRPr>
          </a:p>
        </p:txBody>
      </p:sp>
      <p:sp>
        <p:nvSpPr>
          <p:cNvPr id="10" name="Minus 9"/>
          <p:cNvSpPr/>
          <p:nvPr/>
        </p:nvSpPr>
        <p:spPr bwMode="auto">
          <a:xfrm>
            <a:off x="6862664" y="2235208"/>
            <a:ext cx="508000" cy="76200"/>
          </a:xfrm>
          <a:prstGeom prst="mathMinus">
            <a:avLst/>
          </a:prstGeom>
          <a:solidFill>
            <a:srgbClr val="FF0000"/>
          </a:solidFill>
          <a:ln w="9525" cap="flat" cmpd="sng" algn="ctr">
            <a:solidFill>
              <a:schemeClr val="tx1"/>
            </a:solidFill>
            <a:prstDash val="solid"/>
            <a:miter lim="800000"/>
            <a:headEnd type="none" w="med" len="med"/>
            <a:tailEnd type="none" w="med" len="med"/>
          </a:ln>
          <a:effectLst/>
        </p:spPr>
        <p:txBody>
          <a:bodyPr wrap="none"/>
          <a:lstStyle/>
          <a:p>
            <a:pPr>
              <a:defRPr/>
            </a:pPr>
            <a:endParaRPr lang="en-US">
              <a:solidFill>
                <a:srgbClr val="000000"/>
              </a:solidFill>
            </a:endParaRPr>
          </a:p>
        </p:txBody>
      </p:sp>
      <p:sp>
        <p:nvSpPr>
          <p:cNvPr id="11" name="Minus 10"/>
          <p:cNvSpPr/>
          <p:nvPr/>
        </p:nvSpPr>
        <p:spPr bwMode="auto">
          <a:xfrm>
            <a:off x="7878664" y="2235208"/>
            <a:ext cx="508000" cy="76200"/>
          </a:xfrm>
          <a:prstGeom prst="mathMinus">
            <a:avLst/>
          </a:prstGeom>
          <a:solidFill>
            <a:schemeClr val="tx2"/>
          </a:solidFill>
          <a:ln w="9525" cap="flat" cmpd="sng" algn="ctr">
            <a:solidFill>
              <a:schemeClr val="tx1"/>
            </a:solidFill>
            <a:prstDash val="solid"/>
            <a:miter lim="800000"/>
            <a:headEnd type="none" w="med" len="med"/>
            <a:tailEnd type="none" w="med" len="med"/>
          </a:ln>
          <a:effectLst/>
        </p:spPr>
        <p:txBody>
          <a:bodyPr wrap="none"/>
          <a:lstStyle/>
          <a:p>
            <a:pPr>
              <a:defRPr/>
            </a:pPr>
            <a:endParaRPr lang="en-US">
              <a:solidFill>
                <a:srgbClr val="000000"/>
              </a:solidFill>
            </a:endParaRPr>
          </a:p>
        </p:txBody>
      </p:sp>
      <p:sp>
        <p:nvSpPr>
          <p:cNvPr id="12" name="Minus 11"/>
          <p:cNvSpPr/>
          <p:nvPr/>
        </p:nvSpPr>
        <p:spPr bwMode="auto">
          <a:xfrm>
            <a:off x="8894664" y="2235208"/>
            <a:ext cx="508000" cy="76200"/>
          </a:xfrm>
          <a:prstGeom prst="mathMinus">
            <a:avLst/>
          </a:prstGeom>
          <a:solidFill>
            <a:schemeClr val="tx2"/>
          </a:solidFill>
          <a:ln w="9525" cap="flat" cmpd="sng" algn="ctr">
            <a:solidFill>
              <a:schemeClr val="tx1"/>
            </a:solidFill>
            <a:prstDash val="solid"/>
            <a:miter lim="800000"/>
            <a:headEnd type="none" w="med" len="med"/>
            <a:tailEnd type="none" w="med" len="med"/>
          </a:ln>
          <a:effectLst/>
        </p:spPr>
        <p:txBody>
          <a:bodyPr wrap="none"/>
          <a:lstStyle/>
          <a:p>
            <a:pPr>
              <a:defRPr/>
            </a:pPr>
            <a:endParaRPr lang="en-US">
              <a:solidFill>
                <a:srgbClr val="000000"/>
              </a:solidFill>
            </a:endParaRPr>
          </a:p>
        </p:txBody>
      </p:sp>
      <p:graphicFrame>
        <p:nvGraphicFramePr>
          <p:cNvPr id="7" name="Table 6"/>
          <p:cNvGraphicFramePr>
            <a:graphicFrameLocks noGrp="1"/>
          </p:cNvGraphicFramePr>
          <p:nvPr/>
        </p:nvGraphicFramePr>
        <p:xfrm>
          <a:off x="6240365" y="2616209"/>
          <a:ext cx="1231900" cy="396875"/>
        </p:xfrm>
        <a:graphic>
          <a:graphicData uri="http://schemas.openxmlformats.org/drawingml/2006/table">
            <a:tbl>
              <a:tblPr/>
              <a:tblGrid>
                <a:gridCol w="1231900">
                  <a:extLst>
                    <a:ext uri="{9D8B030D-6E8A-4147-A177-3AD203B41FA5}">
                      <a16:colId xmlns:a16="http://schemas.microsoft.com/office/drawing/2014/main" val="20000"/>
                    </a:ext>
                  </a:extLst>
                </a:gridCol>
              </a:tblGrid>
              <a:tr h="3968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ahoma" charset="0"/>
                          <a:ea typeface="ＭＳ Ｐゴシック" charset="0"/>
                        </a:rPr>
                        <a:t>abcd</a:t>
                      </a:r>
                    </a:p>
                  </a:txBody>
                  <a:tcPr marL="121920" marR="121920" marT="45793" marB="4579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EC99"/>
                    </a:solidFill>
                  </a:tcPr>
                </a:tc>
                <a:extLst>
                  <a:ext uri="{0D108BD9-81ED-4DB2-BD59-A6C34878D82A}">
                    <a16:rowId xmlns:a16="http://schemas.microsoft.com/office/drawing/2014/main" val="10000"/>
                  </a:ext>
                </a:extLst>
              </a:tr>
            </a:tbl>
          </a:graphicData>
        </a:graphic>
      </p:graphicFrame>
      <p:graphicFrame>
        <p:nvGraphicFramePr>
          <p:cNvPr id="16" name="Table 15"/>
          <p:cNvGraphicFramePr>
            <a:graphicFrameLocks noGrp="1"/>
          </p:cNvGraphicFramePr>
          <p:nvPr/>
        </p:nvGraphicFramePr>
        <p:xfrm>
          <a:off x="8386664" y="2616209"/>
          <a:ext cx="1117600" cy="396875"/>
        </p:xfrm>
        <a:graphic>
          <a:graphicData uri="http://schemas.openxmlformats.org/drawingml/2006/table">
            <a:tbl>
              <a:tblPr/>
              <a:tblGrid>
                <a:gridCol w="1117600">
                  <a:extLst>
                    <a:ext uri="{9D8B030D-6E8A-4147-A177-3AD203B41FA5}">
                      <a16:colId xmlns:a16="http://schemas.microsoft.com/office/drawing/2014/main" val="20000"/>
                    </a:ext>
                  </a:extLst>
                </a:gridCol>
              </a:tblGrid>
              <a:tr h="3968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err="1">
                          <a:ln>
                            <a:noFill/>
                          </a:ln>
                          <a:solidFill>
                            <a:schemeClr val="tx1"/>
                          </a:solidFill>
                          <a:effectLst/>
                          <a:latin typeface="Tahoma" charset="0"/>
                          <a:ea typeface="ＭＳ Ｐゴシック" charset="0"/>
                        </a:rPr>
                        <a:t>acde</a:t>
                      </a:r>
                      <a:endParaRPr kumimoji="0" lang="en-US" sz="2000" b="1" i="0" u="none" strike="noStrike" cap="none" normalizeH="0" baseline="0" dirty="0">
                        <a:ln>
                          <a:noFill/>
                        </a:ln>
                        <a:solidFill>
                          <a:schemeClr val="tx1"/>
                        </a:solidFill>
                        <a:effectLst/>
                        <a:latin typeface="Tahoma" charset="0"/>
                        <a:ea typeface="ＭＳ Ｐゴシック" charset="0"/>
                      </a:endParaRPr>
                    </a:p>
                  </a:txBody>
                  <a:tcPr marL="121920" marR="121920" marT="45793" marB="4579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EC99"/>
                    </a:solidFill>
                  </a:tcPr>
                </a:tc>
                <a:extLst>
                  <a:ext uri="{0D108BD9-81ED-4DB2-BD59-A6C34878D82A}">
                    <a16:rowId xmlns:a16="http://schemas.microsoft.com/office/drawing/2014/main" val="10000"/>
                  </a:ext>
                </a:extLst>
              </a:tr>
            </a:tbl>
          </a:graphicData>
        </a:graphic>
      </p:graphicFrame>
      <p:sp>
        <p:nvSpPr>
          <p:cNvPr id="20514" name="Down Arrow 8"/>
          <p:cNvSpPr>
            <a:spLocks noChangeArrowheads="1"/>
          </p:cNvSpPr>
          <p:nvPr/>
        </p:nvSpPr>
        <p:spPr bwMode="auto">
          <a:xfrm>
            <a:off x="6761064" y="2463808"/>
            <a:ext cx="254000" cy="152400"/>
          </a:xfrm>
          <a:prstGeom prst="downArrow">
            <a:avLst>
              <a:gd name="adj1" fmla="val 50000"/>
              <a:gd name="adj2" fmla="val 50000"/>
            </a:avLst>
          </a:prstGeom>
          <a:solidFill>
            <a:schemeClr val="accent1"/>
          </a:solidFill>
          <a:ln w="9525">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solidFill>
                <a:srgbClr val="000000"/>
              </a:solidFill>
              <a:latin typeface="Tahoma" pitchFamily="34" charset="0"/>
            </a:endParaRPr>
          </a:p>
        </p:txBody>
      </p:sp>
      <p:sp>
        <p:nvSpPr>
          <p:cNvPr id="20515" name="Down Arrow 17"/>
          <p:cNvSpPr>
            <a:spLocks noChangeArrowheads="1"/>
          </p:cNvSpPr>
          <p:nvPr/>
        </p:nvSpPr>
        <p:spPr bwMode="auto">
          <a:xfrm>
            <a:off x="8818464" y="2463808"/>
            <a:ext cx="254000" cy="152400"/>
          </a:xfrm>
          <a:prstGeom prst="downArrow">
            <a:avLst>
              <a:gd name="adj1" fmla="val 50000"/>
              <a:gd name="adj2" fmla="val 50000"/>
            </a:avLst>
          </a:prstGeom>
          <a:solidFill>
            <a:schemeClr val="accent1"/>
          </a:solidFill>
          <a:ln w="9525">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solidFill>
                <a:srgbClr val="000000"/>
              </a:solidFill>
              <a:latin typeface="Tahoma" pitchFamily="34" charset="0"/>
            </a:endParaRPr>
          </a:p>
        </p:txBody>
      </p:sp>
      <p:sp>
        <p:nvSpPr>
          <p:cNvPr id="19" name="Minus 18"/>
          <p:cNvSpPr/>
          <p:nvPr/>
        </p:nvSpPr>
        <p:spPr bwMode="auto">
          <a:xfrm>
            <a:off x="6608664" y="2921008"/>
            <a:ext cx="711200" cy="46038"/>
          </a:xfrm>
          <a:prstGeom prst="mathMinus">
            <a:avLst/>
          </a:prstGeom>
          <a:solidFill>
            <a:schemeClr val="tx2"/>
          </a:solidFill>
          <a:ln w="9525" cap="flat" cmpd="sng" algn="ctr">
            <a:solidFill>
              <a:schemeClr val="tx1"/>
            </a:solidFill>
            <a:prstDash val="solid"/>
            <a:miter lim="800000"/>
            <a:headEnd type="none" w="med" len="med"/>
            <a:tailEnd type="none" w="med" len="med"/>
          </a:ln>
          <a:effectLst/>
        </p:spPr>
        <p:txBody>
          <a:bodyPr wrap="none"/>
          <a:lstStyle/>
          <a:p>
            <a:pPr>
              <a:defRPr/>
            </a:pPr>
            <a:endParaRPr lang="en-US">
              <a:solidFill>
                <a:srgbClr val="000000"/>
              </a:solidFill>
            </a:endParaRPr>
          </a:p>
        </p:txBody>
      </p:sp>
      <p:sp>
        <p:nvSpPr>
          <p:cNvPr id="20517" name="Curved Up Arrow 19"/>
          <p:cNvSpPr>
            <a:spLocks noChangeArrowheads="1"/>
          </p:cNvSpPr>
          <p:nvPr/>
        </p:nvSpPr>
        <p:spPr bwMode="auto">
          <a:xfrm rot="-922558">
            <a:off x="6902882" y="2671771"/>
            <a:ext cx="3702049" cy="654050"/>
          </a:xfrm>
          <a:prstGeom prst="curvedUpArrow">
            <a:avLst>
              <a:gd name="adj1" fmla="val 25019"/>
              <a:gd name="adj2" fmla="val 50057"/>
              <a:gd name="adj3" fmla="val 25000"/>
            </a:avLst>
          </a:prstGeom>
          <a:solidFill>
            <a:schemeClr val="accent1"/>
          </a:solidFill>
          <a:ln w="9525">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solidFill>
                <a:srgbClr val="000000"/>
              </a:solidFill>
              <a:latin typeface="Tahoma" pitchFamily="34" charset="0"/>
            </a:endParaRPr>
          </a:p>
        </p:txBody>
      </p:sp>
      <p:sp>
        <p:nvSpPr>
          <p:cNvPr id="14" name="TextBox 13"/>
          <p:cNvSpPr txBox="1"/>
          <p:nvPr/>
        </p:nvSpPr>
        <p:spPr>
          <a:xfrm>
            <a:off x="6151464" y="1549408"/>
            <a:ext cx="1320800" cy="369888"/>
          </a:xfrm>
          <a:prstGeom prst="rect">
            <a:avLst/>
          </a:prstGeom>
          <a:solidFill>
            <a:schemeClr val="tx2">
              <a:lumMod val="20000"/>
              <a:lumOff val="80000"/>
            </a:schemeClr>
          </a:solidFill>
        </p:spPr>
        <p:txBody>
          <a:bodyPr>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defRPr/>
            </a:pPr>
            <a:r>
              <a:rPr lang="en-US" sz="1800">
                <a:solidFill>
                  <a:srgbClr val="000000"/>
                </a:solidFill>
                <a:latin typeface="Calibri" charset="0"/>
              </a:rPr>
              <a:t>self-join</a:t>
            </a:r>
          </a:p>
        </p:txBody>
      </p:sp>
      <p:sp>
        <p:nvSpPr>
          <p:cNvPr id="22" name="TextBox 21"/>
          <p:cNvSpPr txBox="1"/>
          <p:nvPr/>
        </p:nvSpPr>
        <p:spPr>
          <a:xfrm>
            <a:off x="8285064" y="1549408"/>
            <a:ext cx="1320800" cy="369888"/>
          </a:xfrm>
          <a:prstGeom prst="rect">
            <a:avLst/>
          </a:prstGeom>
          <a:solidFill>
            <a:schemeClr val="tx2">
              <a:lumMod val="20000"/>
              <a:lumOff val="80000"/>
            </a:schemeClr>
          </a:solidFill>
        </p:spPr>
        <p:txBody>
          <a:bodyPr>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defRPr/>
            </a:pPr>
            <a:r>
              <a:rPr lang="en-US" sz="1800">
                <a:solidFill>
                  <a:srgbClr val="000000"/>
                </a:solidFill>
                <a:latin typeface="Calibri" charset="0"/>
              </a:rPr>
              <a:t>self-join</a:t>
            </a:r>
          </a:p>
        </p:txBody>
      </p:sp>
      <p:sp>
        <p:nvSpPr>
          <p:cNvPr id="2" name="Multiply 1"/>
          <p:cNvSpPr/>
          <p:nvPr/>
        </p:nvSpPr>
        <p:spPr bwMode="auto">
          <a:xfrm>
            <a:off x="7971798" y="2511433"/>
            <a:ext cx="548217" cy="609600"/>
          </a:xfrm>
          <a:prstGeom prst="mathMultiply">
            <a:avLst/>
          </a:prstGeom>
          <a:solidFill>
            <a:srgbClr val="D7FDF9"/>
          </a:solidFill>
          <a:ln w="9525" cap="flat" cmpd="sng" algn="ctr">
            <a:solidFill>
              <a:schemeClr val="tx1"/>
            </a:solidFill>
            <a:prstDash val="solid"/>
            <a:miter lim="800000"/>
            <a:headEnd type="none" w="med" len="med"/>
            <a:tailEnd type="none" w="med" len="med"/>
          </a:ln>
          <a:effectLst/>
        </p:spPr>
        <p:txBody>
          <a:bodyPr wrap="none"/>
          <a:lstStyle/>
          <a:p>
            <a:pPr>
              <a:defRPr/>
            </a:pPr>
            <a:endParaRPr lang="en-US">
              <a:solidFill>
                <a:srgbClr val="000000"/>
              </a:solidFill>
            </a:endParaRPr>
          </a:p>
        </p:txBody>
      </p:sp>
      <p:sp>
        <p:nvSpPr>
          <p:cNvPr id="24" name="TextBox 23"/>
          <p:cNvSpPr txBox="1"/>
          <p:nvPr/>
        </p:nvSpPr>
        <p:spPr>
          <a:xfrm>
            <a:off x="8520015" y="3482983"/>
            <a:ext cx="1257300" cy="369888"/>
          </a:xfrm>
          <a:prstGeom prst="rect">
            <a:avLst/>
          </a:prstGeom>
          <a:solidFill>
            <a:schemeClr val="accent1">
              <a:lumMod val="20000"/>
              <a:lumOff val="80000"/>
            </a:schemeClr>
          </a:solidFill>
        </p:spPr>
        <p:txBody>
          <a:bodyPr>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defRPr/>
            </a:pPr>
            <a:r>
              <a:rPr lang="en-US" sz="1800" dirty="0">
                <a:solidFill>
                  <a:srgbClr val="000000"/>
                </a:solidFill>
                <a:latin typeface="Calibri" charset="0"/>
              </a:rPr>
              <a:t>pruned</a:t>
            </a:r>
          </a:p>
        </p:txBody>
      </p:sp>
      <p:sp>
        <p:nvSpPr>
          <p:cNvPr id="4" name="Curved Right Arrow 3"/>
          <p:cNvSpPr/>
          <p:nvPr/>
        </p:nvSpPr>
        <p:spPr bwMode="auto">
          <a:xfrm rot="20251953">
            <a:off x="8141131" y="2832108"/>
            <a:ext cx="412751" cy="901700"/>
          </a:xfrm>
          <a:prstGeom prst="curvedRightArrow">
            <a:avLst>
              <a:gd name="adj1" fmla="val 25000"/>
              <a:gd name="adj2" fmla="val 50000"/>
              <a:gd name="adj3" fmla="val 69957"/>
            </a:avLst>
          </a:prstGeom>
          <a:solidFill>
            <a:schemeClr val="accent1">
              <a:lumMod val="20000"/>
              <a:lumOff val="80000"/>
            </a:schemeClr>
          </a:solidFill>
          <a:ln w="9525" cap="flat" cmpd="sng" algn="ctr">
            <a:solidFill>
              <a:schemeClr val="tx1"/>
            </a:solidFill>
            <a:prstDash val="solid"/>
            <a:miter lim="800000"/>
            <a:headEnd type="none" w="med" len="med"/>
            <a:tailEnd type="none" w="med" len="med"/>
          </a:ln>
          <a:effectLst/>
        </p:spPr>
        <p:txBody>
          <a:bodyPr wrap="none"/>
          <a:lstStyle/>
          <a:p>
            <a:pPr>
              <a:defRPr/>
            </a:pPr>
            <a:endParaRPr lang="en-US">
              <a:solidFill>
                <a:srgbClr val="000000"/>
              </a:solidFill>
            </a:endParaRPr>
          </a:p>
        </p:txBody>
      </p:sp>
      <p:sp>
        <p:nvSpPr>
          <p:cNvPr id="20524" name="Rectangle 2"/>
          <p:cNvSpPr>
            <a:spLocks noGrp="1" noChangeArrowheads="1"/>
          </p:cNvSpPr>
          <p:nvPr>
            <p:ph type="title"/>
          </p:nvPr>
        </p:nvSpPr>
        <p:spPr/>
        <p:txBody>
          <a:bodyPr/>
          <a:lstStyle/>
          <a:p>
            <a:pPr eaLnBrk="1" hangingPunct="1"/>
            <a:r>
              <a:rPr lang="en-US" altLang="en-US"/>
              <a:t>Apriori: Implementation Tricks</a:t>
            </a:r>
          </a:p>
        </p:txBody>
      </p:sp>
      <p:sp>
        <p:nvSpPr>
          <p:cNvPr id="20525" name="Rectangle 3"/>
          <p:cNvSpPr>
            <a:spLocks noGrp="1" noChangeArrowheads="1"/>
          </p:cNvSpPr>
          <p:nvPr>
            <p:ph idx="1"/>
          </p:nvPr>
        </p:nvSpPr>
        <p:spPr>
          <a:xfrm>
            <a:off x="457201" y="1122228"/>
            <a:ext cx="7015063" cy="5181600"/>
          </a:xfrm>
        </p:spPr>
        <p:txBody>
          <a:bodyPr/>
          <a:lstStyle/>
          <a:p>
            <a:pPr eaLnBrk="1" hangingPunct="1">
              <a:lnSpc>
                <a:spcPct val="110000"/>
              </a:lnSpc>
            </a:pPr>
            <a:r>
              <a:rPr lang="en-US" altLang="en-US" sz="2400" dirty="0"/>
              <a:t>How to generate candidates?</a:t>
            </a:r>
          </a:p>
          <a:p>
            <a:pPr lvl="1" eaLnBrk="1" hangingPunct="1">
              <a:lnSpc>
                <a:spcPct val="110000"/>
              </a:lnSpc>
            </a:pPr>
            <a:r>
              <a:rPr lang="en-US" altLang="en-US" sz="2400" dirty="0"/>
              <a:t>Step 1: self-joining </a:t>
            </a:r>
            <a:r>
              <a:rPr lang="en-US" altLang="en-US" sz="2400" i="1" dirty="0" err="1"/>
              <a:t>F</a:t>
            </a:r>
            <a:r>
              <a:rPr lang="en-US" altLang="en-US" sz="2400" i="1" baseline="-25000" dirty="0" err="1"/>
              <a:t>k</a:t>
            </a:r>
            <a:endParaRPr lang="en-US" altLang="en-US" sz="2400" i="1" baseline="-25000" dirty="0"/>
          </a:p>
          <a:p>
            <a:pPr lvl="1" eaLnBrk="1" hangingPunct="1">
              <a:lnSpc>
                <a:spcPct val="110000"/>
              </a:lnSpc>
            </a:pPr>
            <a:r>
              <a:rPr lang="en-US" altLang="en-US" sz="2400" dirty="0"/>
              <a:t>Step 2: pruning</a:t>
            </a:r>
          </a:p>
          <a:p>
            <a:pPr eaLnBrk="1" hangingPunct="1">
              <a:lnSpc>
                <a:spcPct val="110000"/>
              </a:lnSpc>
            </a:pPr>
            <a:r>
              <a:rPr lang="en-US" altLang="en-US" sz="2400" dirty="0"/>
              <a:t>Example of candidate-generation</a:t>
            </a:r>
          </a:p>
          <a:p>
            <a:pPr lvl="1" eaLnBrk="1" hangingPunct="1">
              <a:lnSpc>
                <a:spcPct val="110000"/>
              </a:lnSpc>
            </a:pPr>
            <a:r>
              <a:rPr lang="en-US" altLang="en-US" sz="2400" i="1" dirty="0"/>
              <a:t>F</a:t>
            </a:r>
            <a:r>
              <a:rPr lang="en-US" altLang="en-US" sz="2400" i="1" baseline="-25000" dirty="0"/>
              <a:t>3 </a:t>
            </a:r>
            <a:r>
              <a:rPr lang="en-US" altLang="en-US" sz="2400" dirty="0"/>
              <a:t>=</a:t>
            </a:r>
            <a:r>
              <a:rPr lang="en-US" altLang="en-US" sz="2400" i="1" dirty="0"/>
              <a:t> </a:t>
            </a:r>
            <a:r>
              <a:rPr lang="en-US" altLang="en-US" sz="2400" dirty="0"/>
              <a:t>{</a:t>
            </a:r>
            <a:r>
              <a:rPr lang="en-US" altLang="en-US" sz="2400" i="1" dirty="0" err="1"/>
              <a:t>abc</a:t>
            </a:r>
            <a:r>
              <a:rPr lang="en-US" altLang="en-US" sz="2400" i="1" dirty="0"/>
              <a:t>, </a:t>
            </a:r>
            <a:r>
              <a:rPr lang="en-US" altLang="en-US" sz="2400" i="1" dirty="0" err="1"/>
              <a:t>abd</a:t>
            </a:r>
            <a:r>
              <a:rPr lang="en-US" altLang="en-US" sz="2400" i="1" dirty="0"/>
              <a:t>, </a:t>
            </a:r>
            <a:r>
              <a:rPr lang="en-US" altLang="en-US" sz="2400" i="1" dirty="0" err="1"/>
              <a:t>acd</a:t>
            </a:r>
            <a:r>
              <a:rPr lang="en-US" altLang="en-US" sz="2400" i="1" dirty="0"/>
              <a:t>, ace, </a:t>
            </a:r>
            <a:r>
              <a:rPr lang="en-US" altLang="en-US" sz="2400" i="1" dirty="0" err="1"/>
              <a:t>bcd</a:t>
            </a:r>
            <a:r>
              <a:rPr lang="en-US" altLang="en-US" sz="2400" dirty="0"/>
              <a:t>}</a:t>
            </a:r>
          </a:p>
          <a:p>
            <a:pPr lvl="1" eaLnBrk="1" hangingPunct="1">
              <a:lnSpc>
                <a:spcPct val="110000"/>
              </a:lnSpc>
            </a:pPr>
            <a:r>
              <a:rPr lang="en-US" altLang="en-US" sz="2400" dirty="0"/>
              <a:t>Self-joining: </a:t>
            </a:r>
            <a:r>
              <a:rPr lang="en-US" altLang="en-US" sz="2400" i="1" dirty="0"/>
              <a:t>F</a:t>
            </a:r>
            <a:r>
              <a:rPr lang="en-US" altLang="en-US" sz="2400" i="1" baseline="-25000" dirty="0"/>
              <a:t>3</a:t>
            </a:r>
            <a:r>
              <a:rPr lang="en-US" altLang="en-US" sz="2400" i="1" dirty="0"/>
              <a:t>*F</a:t>
            </a:r>
            <a:r>
              <a:rPr lang="en-US" altLang="en-US" sz="2400" i="1" baseline="-25000" dirty="0"/>
              <a:t>3</a:t>
            </a:r>
            <a:endParaRPr lang="en-US" altLang="en-US" sz="2400" i="1" dirty="0"/>
          </a:p>
          <a:p>
            <a:pPr lvl="2" eaLnBrk="1" hangingPunct="1">
              <a:lnSpc>
                <a:spcPct val="110000"/>
              </a:lnSpc>
            </a:pPr>
            <a:r>
              <a:rPr lang="en-US" altLang="en-US" sz="2400" i="1" dirty="0" err="1"/>
              <a:t>abcd</a:t>
            </a:r>
            <a:r>
              <a:rPr lang="en-US" altLang="en-US" sz="2400" i="1" dirty="0"/>
              <a:t> </a:t>
            </a:r>
            <a:r>
              <a:rPr lang="en-US" altLang="en-US" sz="2400" dirty="0"/>
              <a:t>from </a:t>
            </a:r>
            <a:r>
              <a:rPr lang="en-US" altLang="en-US" sz="2400" i="1" dirty="0" err="1"/>
              <a:t>abc</a:t>
            </a:r>
            <a:r>
              <a:rPr lang="en-US" altLang="en-US" sz="2400" dirty="0"/>
              <a:t> and </a:t>
            </a:r>
            <a:r>
              <a:rPr lang="en-US" altLang="en-US" sz="2400" i="1" dirty="0" err="1"/>
              <a:t>abd</a:t>
            </a:r>
            <a:endParaRPr lang="en-US" altLang="en-US" sz="2400" i="1" dirty="0"/>
          </a:p>
          <a:p>
            <a:pPr lvl="2" eaLnBrk="1" hangingPunct="1">
              <a:lnSpc>
                <a:spcPct val="110000"/>
              </a:lnSpc>
            </a:pPr>
            <a:r>
              <a:rPr lang="en-US" altLang="en-US" sz="2400" i="1" dirty="0" err="1"/>
              <a:t>acde</a:t>
            </a:r>
            <a:r>
              <a:rPr lang="en-US" altLang="en-US" sz="2400" dirty="0"/>
              <a:t> from </a:t>
            </a:r>
            <a:r>
              <a:rPr lang="en-US" altLang="en-US" sz="2400" i="1" dirty="0" err="1"/>
              <a:t>acd</a:t>
            </a:r>
            <a:r>
              <a:rPr lang="en-US" altLang="en-US" sz="2400" dirty="0"/>
              <a:t> and </a:t>
            </a:r>
            <a:r>
              <a:rPr lang="en-US" altLang="en-US" sz="2400" i="1" dirty="0"/>
              <a:t>ace</a:t>
            </a:r>
          </a:p>
          <a:p>
            <a:pPr lvl="1" eaLnBrk="1" hangingPunct="1">
              <a:lnSpc>
                <a:spcPct val="110000"/>
              </a:lnSpc>
            </a:pPr>
            <a:r>
              <a:rPr lang="en-US" altLang="en-US" sz="2400" dirty="0"/>
              <a:t>Pruning:</a:t>
            </a:r>
          </a:p>
          <a:p>
            <a:pPr lvl="2" eaLnBrk="1" hangingPunct="1">
              <a:lnSpc>
                <a:spcPct val="110000"/>
              </a:lnSpc>
            </a:pPr>
            <a:r>
              <a:rPr lang="en-US" altLang="en-US" sz="2400" i="1" dirty="0" err="1"/>
              <a:t>acde</a:t>
            </a:r>
            <a:r>
              <a:rPr lang="en-US" altLang="en-US" sz="2400" dirty="0"/>
              <a:t> is removed because </a:t>
            </a:r>
            <a:r>
              <a:rPr lang="en-US" altLang="en-US" sz="2400" i="1" dirty="0" err="1"/>
              <a:t>ade</a:t>
            </a:r>
            <a:r>
              <a:rPr lang="en-US" altLang="en-US" sz="2400" dirty="0"/>
              <a:t> is not in </a:t>
            </a:r>
            <a:r>
              <a:rPr lang="en-US" altLang="en-US" sz="2400" i="1" dirty="0"/>
              <a:t>F</a:t>
            </a:r>
            <a:r>
              <a:rPr lang="en-US" altLang="en-US" sz="2400" i="1" baseline="-25000" dirty="0"/>
              <a:t>3</a:t>
            </a:r>
          </a:p>
          <a:p>
            <a:pPr lvl="1" eaLnBrk="1" hangingPunct="1">
              <a:lnSpc>
                <a:spcPct val="110000"/>
              </a:lnSpc>
            </a:pPr>
            <a:r>
              <a:rPr lang="en-US" altLang="en-US" sz="2400" i="1" dirty="0"/>
              <a:t>C</a:t>
            </a:r>
            <a:r>
              <a:rPr lang="en-US" altLang="en-US" sz="2400" i="1" baseline="-25000" dirty="0"/>
              <a:t>4 </a:t>
            </a:r>
            <a:r>
              <a:rPr lang="en-US" altLang="en-US" sz="2400" dirty="0"/>
              <a:t>= {</a:t>
            </a:r>
            <a:r>
              <a:rPr lang="en-US" altLang="en-US" sz="2400" i="1" dirty="0" err="1"/>
              <a:t>abcd</a:t>
            </a:r>
            <a:r>
              <a:rPr lang="en-US" altLang="en-US" sz="2400" dirty="0"/>
              <a:t>}</a:t>
            </a:r>
          </a:p>
          <a:p>
            <a:pPr eaLnBrk="1" hangingPunct="1">
              <a:lnSpc>
                <a:spcPct val="110000"/>
              </a:lnSpc>
            </a:pPr>
            <a:endParaRPr lang="en-US" altLang="en-US" sz="1800" dirty="0"/>
          </a:p>
        </p:txBody>
      </p:sp>
      <p:sp>
        <p:nvSpPr>
          <p:cNvPr id="15" name="Right Arrow 14"/>
          <p:cNvSpPr/>
          <p:nvPr/>
        </p:nvSpPr>
        <p:spPr bwMode="auto">
          <a:xfrm rot="19869230">
            <a:off x="5302682" y="3267084"/>
            <a:ext cx="1087967" cy="314325"/>
          </a:xfrm>
          <a:prstGeom prst="rightArrow">
            <a:avLst/>
          </a:prstGeom>
          <a:solidFill>
            <a:schemeClr val="bg2">
              <a:lumMod val="25000"/>
              <a:lumOff val="75000"/>
            </a:schemeClr>
          </a:solidFill>
          <a:ln w="9525" cap="flat" cmpd="sng" algn="ctr">
            <a:solidFill>
              <a:schemeClr val="tx1"/>
            </a:solidFill>
            <a:prstDash val="solid"/>
            <a:miter lim="800000"/>
            <a:headEnd type="none" w="med" len="med"/>
            <a:tailEnd type="none" w="med" len="med"/>
          </a:ln>
          <a:effectLst/>
        </p:spPr>
        <p:txBody>
          <a:bodyPr wrap="none"/>
          <a:lstStyle/>
          <a:p>
            <a:pPr>
              <a:defRPr/>
            </a:pPr>
            <a:endParaRPr lang="en-US">
              <a:solidFill>
                <a:srgbClr val="000000"/>
              </a:solidFill>
            </a:endParaRPr>
          </a:p>
        </p:txBody>
      </p:sp>
    </p:spTree>
    <p:extLst>
      <p:ext uri="{BB962C8B-B14F-4D97-AF65-F5344CB8AC3E}">
        <p14:creationId xmlns:p14="http://schemas.microsoft.com/office/powerpoint/2010/main" val="147786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2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25">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25">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25">
                                            <p:txEl>
                                              <p:pRg st="9" end="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52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normAutofit/>
          </a:bodyPr>
          <a:lstStyle/>
          <a:p>
            <a:pPr eaLnBrk="1" hangingPunct="1"/>
            <a:r>
              <a:rPr lang="en-US" altLang="en-US" sz="4000" dirty="0" err="1"/>
              <a:t>Apriori</a:t>
            </a:r>
            <a:r>
              <a:rPr lang="en-US" altLang="en-US" sz="4000" dirty="0"/>
              <a:t>: Improvements and Alternatives</a:t>
            </a:r>
          </a:p>
        </p:txBody>
      </p:sp>
      <p:sp>
        <p:nvSpPr>
          <p:cNvPr id="22532" name="Rectangle 3"/>
          <p:cNvSpPr>
            <a:spLocks noGrp="1" noChangeArrowheads="1"/>
          </p:cNvSpPr>
          <p:nvPr>
            <p:ph idx="1"/>
          </p:nvPr>
        </p:nvSpPr>
        <p:spPr>
          <a:xfrm>
            <a:off x="609600" y="1154548"/>
            <a:ext cx="10871200" cy="5257800"/>
          </a:xfrm>
        </p:spPr>
        <p:txBody>
          <a:bodyPr/>
          <a:lstStyle/>
          <a:p>
            <a:r>
              <a:rPr lang="zh-CN" altLang="en-US" dirty="0"/>
              <a:t>减少对事务数据库的扫描次数</a:t>
            </a:r>
            <a:endParaRPr lang="en-US" altLang="en-US" dirty="0"/>
          </a:p>
          <a:p>
            <a:pPr lvl="1" eaLnBrk="1" hangingPunct="1">
              <a:spcBef>
                <a:spcPts val="600"/>
              </a:spcBef>
            </a:pPr>
            <a:r>
              <a:rPr lang="en-US" altLang="en-US" b="1" dirty="0"/>
              <a:t>Partitioning</a:t>
            </a:r>
            <a:r>
              <a:rPr lang="en-US" altLang="en-US" dirty="0"/>
              <a:t> (e.g., </a:t>
            </a:r>
            <a:r>
              <a:rPr lang="en-US" altLang="en-US" dirty="0" err="1"/>
              <a:t>Savasere</a:t>
            </a:r>
            <a:r>
              <a:rPr lang="en-US" altLang="en-US" dirty="0"/>
              <a:t>, et al., 1995)</a:t>
            </a:r>
          </a:p>
          <a:p>
            <a:pPr lvl="1" eaLnBrk="1" hangingPunct="1">
              <a:spcBef>
                <a:spcPts val="600"/>
              </a:spcBef>
            </a:pPr>
            <a:r>
              <a:rPr lang="en-US" altLang="en-US" dirty="0"/>
              <a:t>Dynamic </a:t>
            </a:r>
            <a:r>
              <a:rPr lang="en-US" altLang="en-US" dirty="0" err="1"/>
              <a:t>itemset</a:t>
            </a:r>
            <a:r>
              <a:rPr lang="en-US" altLang="en-US" dirty="0"/>
              <a:t> counting (</a:t>
            </a:r>
            <a:r>
              <a:rPr lang="en-US" altLang="en-US" dirty="0" err="1"/>
              <a:t>Brin</a:t>
            </a:r>
            <a:r>
              <a:rPr lang="en-US" altLang="en-US" dirty="0"/>
              <a:t>, et al., 1997)</a:t>
            </a:r>
          </a:p>
          <a:p>
            <a:r>
              <a:rPr lang="zh-CN" altLang="en-US" dirty="0"/>
              <a:t>缩减候选集的数量</a:t>
            </a:r>
            <a:endParaRPr lang="en-US" altLang="en-US" dirty="0"/>
          </a:p>
          <a:p>
            <a:pPr lvl="1" eaLnBrk="1" hangingPunct="1">
              <a:spcBef>
                <a:spcPts val="600"/>
              </a:spcBef>
            </a:pPr>
            <a:r>
              <a:rPr lang="en-US" altLang="en-US" b="1" dirty="0"/>
              <a:t>Hashing</a:t>
            </a:r>
            <a:r>
              <a:rPr lang="en-US" altLang="en-US" dirty="0"/>
              <a:t> (e.g., DHP: Park, et al., 1995)</a:t>
            </a:r>
          </a:p>
          <a:p>
            <a:pPr lvl="1" eaLnBrk="1" hangingPunct="1">
              <a:spcBef>
                <a:spcPts val="600"/>
              </a:spcBef>
            </a:pPr>
            <a:r>
              <a:rPr lang="en-US" altLang="en-US" dirty="0"/>
              <a:t>Pruning by support lower bounding (e.g., </a:t>
            </a:r>
            <a:r>
              <a:rPr lang="en-US" altLang="en-US" dirty="0" err="1"/>
              <a:t>Bayardo</a:t>
            </a:r>
            <a:r>
              <a:rPr lang="en-US" altLang="en-US" dirty="0"/>
              <a:t> 1998)</a:t>
            </a:r>
          </a:p>
          <a:p>
            <a:pPr lvl="1" eaLnBrk="1" hangingPunct="1">
              <a:spcBef>
                <a:spcPts val="600"/>
              </a:spcBef>
            </a:pPr>
            <a:r>
              <a:rPr lang="en-US" altLang="en-US" dirty="0"/>
              <a:t>Sampling (e.g., </a:t>
            </a:r>
            <a:r>
              <a:rPr lang="en-US" altLang="en-US" dirty="0" err="1"/>
              <a:t>Toivonen</a:t>
            </a:r>
            <a:r>
              <a:rPr lang="en-US" altLang="en-US" dirty="0"/>
              <a:t>, 1996)</a:t>
            </a:r>
          </a:p>
          <a:p>
            <a:r>
              <a:rPr lang="zh-CN" altLang="en-US" dirty="0"/>
              <a:t>探索特殊的数据结构</a:t>
            </a:r>
            <a:endParaRPr lang="en-US" altLang="en-US" dirty="0"/>
          </a:p>
          <a:p>
            <a:pPr lvl="1" eaLnBrk="1" hangingPunct="1">
              <a:spcBef>
                <a:spcPts val="600"/>
              </a:spcBef>
            </a:pPr>
            <a:r>
              <a:rPr lang="en-US" altLang="en-US" dirty="0"/>
              <a:t>Tree projection (Agarwal, et al., 2001)</a:t>
            </a:r>
          </a:p>
          <a:p>
            <a:pPr lvl="1" eaLnBrk="1" hangingPunct="1">
              <a:spcBef>
                <a:spcPts val="600"/>
              </a:spcBef>
            </a:pPr>
            <a:r>
              <a:rPr lang="en-US" altLang="en-US" dirty="0"/>
              <a:t>H-miner (Pei, et al., 2001)</a:t>
            </a:r>
          </a:p>
          <a:p>
            <a:pPr lvl="1" eaLnBrk="1" hangingPunct="1">
              <a:spcBef>
                <a:spcPts val="600"/>
              </a:spcBef>
            </a:pPr>
            <a:r>
              <a:rPr lang="en-US" altLang="en-US" dirty="0" err="1"/>
              <a:t>Hypecube</a:t>
            </a:r>
            <a:r>
              <a:rPr lang="en-US" altLang="en-US" dirty="0"/>
              <a:t> decomposition (e.g., LCM: Uno, et al., 2004)</a:t>
            </a:r>
          </a:p>
        </p:txBody>
      </p:sp>
      <p:grpSp>
        <p:nvGrpSpPr>
          <p:cNvPr id="2" name="Group 1"/>
          <p:cNvGrpSpPr/>
          <p:nvPr/>
        </p:nvGrpSpPr>
        <p:grpSpPr>
          <a:xfrm>
            <a:off x="7569391" y="1496566"/>
            <a:ext cx="2813447" cy="707886"/>
            <a:chOff x="7569391" y="1496566"/>
            <a:chExt cx="2813447" cy="707886"/>
          </a:xfrm>
        </p:grpSpPr>
        <p:sp>
          <p:nvSpPr>
            <p:cNvPr id="22537" name="Right Arrow 1"/>
            <p:cNvSpPr>
              <a:spLocks noChangeArrowheads="1"/>
            </p:cNvSpPr>
            <p:nvPr/>
          </p:nvSpPr>
          <p:spPr bwMode="auto">
            <a:xfrm rot="9716294">
              <a:off x="7569391" y="1697918"/>
              <a:ext cx="577758" cy="305182"/>
            </a:xfrm>
            <a:prstGeom prst="rightArrow">
              <a:avLst>
                <a:gd name="adj1" fmla="val 50000"/>
                <a:gd name="adj2" fmla="val 50000"/>
              </a:avLst>
            </a:prstGeom>
            <a:solidFill>
              <a:srgbClr val="FFC000"/>
            </a:solidFill>
            <a:ln w="9525">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solidFill>
                  <a:srgbClr val="000000"/>
                </a:solidFill>
                <a:latin typeface="Tahoma" pitchFamily="34" charset="0"/>
              </a:endParaRPr>
            </a:p>
          </p:txBody>
        </p:sp>
        <p:sp>
          <p:nvSpPr>
            <p:cNvPr id="22538" name="TextBox 2"/>
            <p:cNvSpPr txBox="1">
              <a:spLocks noChangeArrowheads="1"/>
            </p:cNvSpPr>
            <p:nvPr/>
          </p:nvSpPr>
          <p:spPr bwMode="auto">
            <a:xfrm>
              <a:off x="8178769" y="1496566"/>
              <a:ext cx="2204069" cy="707886"/>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eaLnBrk="1" hangingPunct="1">
                <a:spcBef>
                  <a:spcPct val="0"/>
                </a:spcBef>
                <a:buClrTx/>
                <a:buSzTx/>
                <a:buFontTx/>
                <a:buNone/>
              </a:pPr>
              <a:r>
                <a:rPr lang="en-US" altLang="en-US" sz="2000" dirty="0">
                  <a:solidFill>
                    <a:srgbClr val="000000"/>
                  </a:solidFill>
                </a:rPr>
                <a:t>To be discussed in subsequent slides</a:t>
              </a:r>
            </a:p>
          </p:txBody>
        </p:sp>
      </p:grpSp>
      <p:grpSp>
        <p:nvGrpSpPr>
          <p:cNvPr id="12" name="Group 11"/>
          <p:cNvGrpSpPr/>
          <p:nvPr/>
        </p:nvGrpSpPr>
        <p:grpSpPr>
          <a:xfrm>
            <a:off x="7038327" y="2969714"/>
            <a:ext cx="2813447" cy="707886"/>
            <a:chOff x="7569391" y="1496566"/>
            <a:chExt cx="2813447" cy="707886"/>
          </a:xfrm>
        </p:grpSpPr>
        <p:sp>
          <p:nvSpPr>
            <p:cNvPr id="13" name="Right Arrow 1"/>
            <p:cNvSpPr>
              <a:spLocks noChangeArrowheads="1"/>
            </p:cNvSpPr>
            <p:nvPr/>
          </p:nvSpPr>
          <p:spPr bwMode="auto">
            <a:xfrm rot="9716294">
              <a:off x="7569391" y="1697918"/>
              <a:ext cx="577758" cy="305182"/>
            </a:xfrm>
            <a:prstGeom prst="rightArrow">
              <a:avLst>
                <a:gd name="adj1" fmla="val 50000"/>
                <a:gd name="adj2" fmla="val 50000"/>
              </a:avLst>
            </a:prstGeom>
            <a:solidFill>
              <a:srgbClr val="FFC000"/>
            </a:solidFill>
            <a:ln w="9525">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solidFill>
                  <a:srgbClr val="000000"/>
                </a:solidFill>
                <a:latin typeface="Tahoma" pitchFamily="34" charset="0"/>
              </a:endParaRPr>
            </a:p>
          </p:txBody>
        </p:sp>
        <p:sp>
          <p:nvSpPr>
            <p:cNvPr id="14" name="TextBox 2"/>
            <p:cNvSpPr txBox="1">
              <a:spLocks noChangeArrowheads="1"/>
            </p:cNvSpPr>
            <p:nvPr/>
          </p:nvSpPr>
          <p:spPr bwMode="auto">
            <a:xfrm>
              <a:off x="8178769" y="1496566"/>
              <a:ext cx="2204069" cy="707886"/>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eaLnBrk="1" hangingPunct="1">
                <a:spcBef>
                  <a:spcPct val="0"/>
                </a:spcBef>
                <a:buClrTx/>
                <a:buSzTx/>
                <a:buFontTx/>
                <a:buNone/>
              </a:pPr>
              <a:r>
                <a:rPr lang="en-US" altLang="en-US" sz="2000" dirty="0">
                  <a:solidFill>
                    <a:srgbClr val="000000"/>
                  </a:solidFill>
                </a:rPr>
                <a:t>To be discussed in subsequent slides</a:t>
              </a:r>
            </a:p>
          </p:txBody>
        </p:sp>
      </p:grpSp>
    </p:spTree>
    <p:extLst>
      <p:ext uri="{BB962C8B-B14F-4D97-AF65-F5344CB8AC3E}">
        <p14:creationId xmlns:p14="http://schemas.microsoft.com/office/powerpoint/2010/main" val="388727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3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53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53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53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53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532">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532">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532">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53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D06CB-BE9D-D27C-EB54-569526062811}"/>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88CAB908-20B5-B941-ED26-6A868D8BCF51}"/>
              </a:ext>
            </a:extLst>
          </p:cNvPr>
          <p:cNvSpPr>
            <a:spLocks noGrp="1" noChangeArrowheads="1"/>
          </p:cNvSpPr>
          <p:nvPr>
            <p:ph type="title"/>
          </p:nvPr>
        </p:nvSpPr>
        <p:spPr/>
        <p:txBody>
          <a:bodyPr>
            <a:normAutofit/>
          </a:bodyPr>
          <a:lstStyle/>
          <a:p>
            <a:pPr eaLnBrk="1" hangingPunct="1"/>
            <a:r>
              <a:rPr lang="en-US" altLang="en-US" sz="4000" dirty="0" err="1"/>
              <a:t>Apriori</a:t>
            </a:r>
            <a:r>
              <a:rPr lang="en-US" altLang="en-US" sz="4000" dirty="0"/>
              <a:t>: Improvements and Alternatives</a:t>
            </a:r>
          </a:p>
        </p:txBody>
      </p:sp>
      <p:sp>
        <p:nvSpPr>
          <p:cNvPr id="22532" name="Rectangle 3">
            <a:extLst>
              <a:ext uri="{FF2B5EF4-FFF2-40B4-BE49-F238E27FC236}">
                <a16:creationId xmlns:a16="http://schemas.microsoft.com/office/drawing/2014/main" id="{9209341C-2586-1E87-718D-E6D6434FB979}"/>
              </a:ext>
            </a:extLst>
          </p:cNvPr>
          <p:cNvSpPr>
            <a:spLocks noGrp="1" noChangeArrowheads="1"/>
          </p:cNvSpPr>
          <p:nvPr>
            <p:ph idx="1"/>
          </p:nvPr>
        </p:nvSpPr>
        <p:spPr>
          <a:xfrm>
            <a:off x="609600" y="1154548"/>
            <a:ext cx="10871200" cy="5257800"/>
          </a:xfrm>
        </p:spPr>
        <p:txBody>
          <a:bodyPr/>
          <a:lstStyle/>
          <a:p>
            <a:pPr marL="0" indent="0">
              <a:buNone/>
            </a:pPr>
            <a:r>
              <a:rPr lang="zh-CN" altLang="en-US" dirty="0"/>
              <a:t>基于散列（</a:t>
            </a:r>
            <a:r>
              <a:rPr lang="en-US" altLang="zh-CN" dirty="0"/>
              <a:t>Hash</a:t>
            </a:r>
            <a:r>
              <a:rPr lang="zh-CN" altLang="en-US" dirty="0"/>
              <a:t>）的技术（将项集散列到相应的桶中）基于散列的技术可以用来减小候选 </a:t>
            </a:r>
            <a:r>
              <a:rPr lang="en-US" altLang="zh-CN" dirty="0"/>
              <a:t>k-</a:t>
            </a:r>
            <a:r>
              <a:rPr lang="zh-CN" altLang="en-US" dirty="0"/>
              <a:t>项集 </a:t>
            </a:r>
            <a:r>
              <a:rPr lang="en-US" altLang="zh-CN" dirty="0" err="1"/>
              <a:t>C_k</a:t>
            </a:r>
            <a:r>
              <a:rPr lang="zh-CN" altLang="en-US" dirty="0"/>
              <a:t>（当 </a:t>
            </a:r>
            <a:r>
              <a:rPr lang="en-US" altLang="zh-CN" dirty="0"/>
              <a:t>k &gt; 1</a:t>
            </a:r>
            <a:r>
              <a:rPr lang="zh-CN" altLang="en-US" dirty="0"/>
              <a:t>时）的大小。</a:t>
            </a:r>
            <a:endParaRPr lang="en-US" altLang="zh-CN" dirty="0"/>
          </a:p>
          <a:p>
            <a:pPr marL="0" indent="0">
              <a:buNone/>
            </a:pPr>
            <a:r>
              <a:rPr lang="zh-CN" altLang="en-US" dirty="0"/>
              <a:t>操作方式：例如，在扫描数据库中的每笔事务（如 </a:t>
            </a:r>
            <a:r>
              <a:rPr lang="en-US" altLang="zh-CN" dirty="0"/>
              <a:t>t = {i_1, i_2, i_4}</a:t>
            </a:r>
            <a:r>
              <a:rPr lang="zh-CN" altLang="en-US" dirty="0"/>
              <a:t>）以生成频繁 </a:t>
            </a:r>
            <a:r>
              <a:rPr lang="en-US" altLang="zh-CN" dirty="0"/>
              <a:t>1-</a:t>
            </a:r>
            <a:r>
              <a:rPr lang="zh-CN" altLang="en-US" dirty="0"/>
              <a:t>项集 </a:t>
            </a:r>
            <a:r>
              <a:rPr lang="en-US" altLang="zh-CN" dirty="0"/>
              <a:t>L_1</a:t>
            </a:r>
            <a:r>
              <a:rPr lang="zh-CN" altLang="en-US" dirty="0"/>
              <a:t>的同时，我们可以为每笔事务生成所有的 </a:t>
            </a:r>
            <a:r>
              <a:rPr lang="en-US" altLang="zh-CN" dirty="0"/>
              <a:t>2-</a:t>
            </a:r>
            <a:r>
              <a:rPr lang="zh-CN" altLang="en-US" dirty="0"/>
              <a:t>项集（例如事务 </a:t>
            </a:r>
            <a:r>
              <a:rPr lang="en-US" altLang="zh-CN" dirty="0"/>
              <a:t>t</a:t>
            </a:r>
            <a:r>
              <a:rPr lang="zh-CN" altLang="en-US" dirty="0"/>
              <a:t>对应的三个 </a:t>
            </a:r>
            <a:r>
              <a:rPr lang="en-US" altLang="zh-CN" dirty="0"/>
              <a:t>2-</a:t>
            </a:r>
            <a:r>
              <a:rPr lang="zh-CN" altLang="en-US" dirty="0"/>
              <a:t>项集为 </a:t>
            </a:r>
            <a:r>
              <a:rPr lang="en-US" altLang="zh-CN" dirty="0"/>
              <a:t>{i_1, i_2}</a:t>
            </a:r>
            <a:r>
              <a:rPr lang="zh-CN" altLang="en-US" dirty="0"/>
              <a:t>、</a:t>
            </a:r>
            <a:r>
              <a:rPr lang="en-US" altLang="zh-CN" dirty="0"/>
              <a:t>{i_1, i_4}</a:t>
            </a:r>
            <a:r>
              <a:rPr lang="zh-CN" altLang="en-US" dirty="0"/>
              <a:t>和 </a:t>
            </a:r>
            <a:r>
              <a:rPr lang="en-US" altLang="zh-CN" dirty="0"/>
              <a:t>{i_2, i_4}</a:t>
            </a:r>
            <a:r>
              <a:rPr lang="zh-CN" altLang="en-US" dirty="0"/>
              <a:t>）。核心逻辑：将这些 </a:t>
            </a:r>
            <a:r>
              <a:rPr lang="en-US" altLang="zh-CN" dirty="0"/>
              <a:t>2-</a:t>
            </a:r>
            <a:r>
              <a:rPr lang="zh-CN" altLang="en-US" dirty="0"/>
              <a:t>项集散列（</a:t>
            </a:r>
            <a:r>
              <a:rPr lang="en-US" altLang="zh-CN" dirty="0"/>
              <a:t>Hash</a:t>
            </a:r>
            <a:r>
              <a:rPr lang="zh-CN" altLang="en-US" dirty="0"/>
              <a:t>）到散列表结构的不同“桶”（</a:t>
            </a:r>
            <a:r>
              <a:rPr lang="en-US" altLang="zh-CN" dirty="0"/>
              <a:t>Buckets</a:t>
            </a:r>
            <a:r>
              <a:rPr lang="zh-CN" altLang="en-US" dirty="0"/>
              <a:t>）中，并增加相应桶的计数。如果散列表中某个桶的计数低于支持度阈值，那么该桶中的任何 </a:t>
            </a:r>
            <a:r>
              <a:rPr lang="en-US" altLang="zh-CN" dirty="0"/>
              <a:t>2-</a:t>
            </a:r>
            <a:r>
              <a:rPr lang="zh-CN" altLang="en-US" dirty="0"/>
              <a:t>项集都不可能是频繁的，因此应从候选集中移除。</a:t>
            </a:r>
            <a:br>
              <a:rPr lang="en-US" altLang="zh-CN" dirty="0"/>
            </a:br>
            <a:r>
              <a:rPr lang="zh-CN" altLang="en-US" dirty="0"/>
              <a:t>效果：这种技术可以显著减少需要处理的候选 </a:t>
            </a:r>
            <a:r>
              <a:rPr lang="en-US" altLang="zh-CN" dirty="0"/>
              <a:t>k-</a:t>
            </a:r>
            <a:r>
              <a:rPr lang="zh-CN" altLang="en-US" dirty="0"/>
              <a:t>项集的数量（尤其是当 </a:t>
            </a:r>
            <a:r>
              <a:rPr lang="en-US" altLang="zh-CN" dirty="0"/>
              <a:t>k = 2 </a:t>
            </a:r>
            <a:r>
              <a:rPr lang="zh-CN" altLang="en-US" dirty="0"/>
              <a:t>时）。</a:t>
            </a:r>
            <a:endParaRPr lang="en-US" altLang="en-US" dirty="0"/>
          </a:p>
        </p:txBody>
      </p:sp>
    </p:spTree>
    <p:extLst>
      <p:ext uri="{BB962C8B-B14F-4D97-AF65-F5344CB8AC3E}">
        <p14:creationId xmlns:p14="http://schemas.microsoft.com/office/powerpoint/2010/main" val="149588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E3766-C615-040F-7FE5-907E6AD511CA}"/>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5FA595BF-0D73-F9FD-D2FD-FB7A22D2E2C0}"/>
              </a:ext>
            </a:extLst>
          </p:cNvPr>
          <p:cNvSpPr>
            <a:spLocks noGrp="1" noChangeArrowheads="1"/>
          </p:cNvSpPr>
          <p:nvPr>
            <p:ph type="title"/>
          </p:nvPr>
        </p:nvSpPr>
        <p:spPr/>
        <p:txBody>
          <a:bodyPr>
            <a:normAutofit/>
          </a:bodyPr>
          <a:lstStyle/>
          <a:p>
            <a:pPr eaLnBrk="1" hangingPunct="1"/>
            <a:r>
              <a:rPr lang="en-US" altLang="en-US" sz="4000" dirty="0" err="1"/>
              <a:t>Apriori</a:t>
            </a:r>
            <a:r>
              <a:rPr lang="en-US" altLang="en-US" sz="4000" dirty="0"/>
              <a:t>: Improvements and Alternatives</a:t>
            </a:r>
          </a:p>
        </p:txBody>
      </p:sp>
      <p:sp>
        <p:nvSpPr>
          <p:cNvPr id="22532" name="Rectangle 3">
            <a:extLst>
              <a:ext uri="{FF2B5EF4-FFF2-40B4-BE49-F238E27FC236}">
                <a16:creationId xmlns:a16="http://schemas.microsoft.com/office/drawing/2014/main" id="{52010F8E-F79E-6B74-4725-0620402453C1}"/>
              </a:ext>
            </a:extLst>
          </p:cNvPr>
          <p:cNvSpPr>
            <a:spLocks noGrp="1" noChangeArrowheads="1"/>
          </p:cNvSpPr>
          <p:nvPr>
            <p:ph idx="1"/>
          </p:nvPr>
        </p:nvSpPr>
        <p:spPr>
          <a:xfrm>
            <a:off x="609600" y="1154548"/>
            <a:ext cx="10871200" cy="5257800"/>
          </a:xfrm>
        </p:spPr>
        <p:txBody>
          <a:bodyPr/>
          <a:lstStyle/>
          <a:p>
            <a:pPr marL="0" indent="0">
              <a:buNone/>
            </a:pPr>
            <a:r>
              <a:rPr lang="zh-CN" altLang="en-US" dirty="0"/>
              <a:t>事务压缩（减少后续迭代中扫描的事务数量）如果不包含任何频繁 </a:t>
            </a:r>
            <a:r>
              <a:rPr lang="en-US" altLang="zh-CN" dirty="0"/>
              <a:t>k-</a:t>
            </a:r>
            <a:r>
              <a:rPr lang="zh-CN" altLang="en-US" dirty="0"/>
              <a:t>项集的事务，也绝对不可能包含任何频繁 </a:t>
            </a:r>
            <a:r>
              <a:rPr lang="en-US" altLang="zh-CN" dirty="0"/>
              <a:t>k + 1-</a:t>
            </a:r>
            <a:r>
              <a:rPr lang="zh-CN" altLang="en-US" dirty="0"/>
              <a:t>项集。</a:t>
            </a:r>
            <a:br>
              <a:rPr lang="en-US" altLang="zh-CN" dirty="0"/>
            </a:br>
            <a:r>
              <a:rPr lang="zh-CN" altLang="en-US" dirty="0"/>
              <a:t>操作方式：因此，这类事务可以被标记或直接从后续考虑范围中移除。效果：因为后续针对 </a:t>
            </a:r>
            <a:r>
              <a:rPr lang="en-US" altLang="zh-CN" dirty="0"/>
              <a:t>j-</a:t>
            </a:r>
            <a:r>
              <a:rPr lang="zh-CN" altLang="en-US" dirty="0"/>
              <a:t>项集（其中 </a:t>
            </a:r>
            <a:r>
              <a:rPr lang="en-US" altLang="zh-CN" dirty="0"/>
              <a:t>j &gt; k</a:t>
            </a:r>
            <a:r>
              <a:rPr lang="zh-CN" altLang="en-US" dirty="0"/>
              <a:t>）的数据库扫描将不再需要考虑这些事务，从而减少了磁盘 </a:t>
            </a:r>
            <a:r>
              <a:rPr lang="en-US" altLang="zh-CN" dirty="0"/>
              <a:t>I/O </a:t>
            </a:r>
            <a:r>
              <a:rPr lang="zh-CN" altLang="en-US" dirty="0"/>
              <a:t>和计算量。</a:t>
            </a:r>
            <a:endParaRPr lang="en-US" altLang="en-US" dirty="0"/>
          </a:p>
        </p:txBody>
      </p:sp>
    </p:spTree>
    <p:extLst>
      <p:ext uri="{BB962C8B-B14F-4D97-AF65-F5344CB8AC3E}">
        <p14:creationId xmlns:p14="http://schemas.microsoft.com/office/powerpoint/2010/main" val="478088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FCC58-F025-1BED-411F-9BBD3C60ABB9}"/>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C173CEDC-9745-90DA-9898-C7D47A9AF0DC}"/>
              </a:ext>
            </a:extLst>
          </p:cNvPr>
          <p:cNvSpPr>
            <a:spLocks noGrp="1" noChangeArrowheads="1"/>
          </p:cNvSpPr>
          <p:nvPr>
            <p:ph type="title"/>
          </p:nvPr>
        </p:nvSpPr>
        <p:spPr/>
        <p:txBody>
          <a:bodyPr>
            <a:normAutofit/>
          </a:bodyPr>
          <a:lstStyle/>
          <a:p>
            <a:pPr eaLnBrk="1" hangingPunct="1"/>
            <a:r>
              <a:rPr lang="en-US" altLang="en-US" sz="4000" dirty="0" err="1"/>
              <a:t>Apriori</a:t>
            </a:r>
            <a:r>
              <a:rPr lang="en-US" altLang="en-US" sz="4000" dirty="0"/>
              <a:t>: Improvements and Alternatives</a:t>
            </a:r>
          </a:p>
        </p:txBody>
      </p:sp>
      <p:sp>
        <p:nvSpPr>
          <p:cNvPr id="22532" name="Rectangle 3">
            <a:extLst>
              <a:ext uri="{FF2B5EF4-FFF2-40B4-BE49-F238E27FC236}">
                <a16:creationId xmlns:a16="http://schemas.microsoft.com/office/drawing/2014/main" id="{428D7EFC-5C68-DC23-DEA3-F6CA0D08A7C2}"/>
              </a:ext>
            </a:extLst>
          </p:cNvPr>
          <p:cNvSpPr>
            <a:spLocks noGrp="1" noChangeArrowheads="1"/>
          </p:cNvSpPr>
          <p:nvPr>
            <p:ph idx="1"/>
          </p:nvPr>
        </p:nvSpPr>
        <p:spPr>
          <a:xfrm>
            <a:off x="609600" y="1154548"/>
            <a:ext cx="10871200" cy="5257800"/>
          </a:xfrm>
        </p:spPr>
        <p:txBody>
          <a:bodyPr/>
          <a:lstStyle/>
          <a:p>
            <a:pPr marL="0" indent="0">
              <a:buNone/>
            </a:pPr>
            <a:r>
              <a:rPr lang="zh-CN" altLang="en-US" dirty="0"/>
              <a:t>分区（</a:t>
            </a:r>
            <a:r>
              <a:rPr lang="en-US" altLang="zh-CN" dirty="0"/>
              <a:t>Partitioning</a:t>
            </a:r>
            <a:r>
              <a:rPr lang="zh-CN" altLang="en-US" dirty="0"/>
              <a:t>，通过分区数据寻找候选项集）分区技术仅需扫描两次数据库即可挖掘频繁项集。它分为两个阶段：</a:t>
            </a:r>
            <a:endParaRPr lang="en-US" altLang="zh-CN" dirty="0"/>
          </a:p>
          <a:p>
            <a:pPr marL="0" indent="0">
              <a:buNone/>
            </a:pPr>
            <a:r>
              <a:rPr lang="zh-CN" altLang="en-US" dirty="0"/>
              <a:t>阶段 </a:t>
            </a:r>
            <a:r>
              <a:rPr lang="en-US" altLang="zh-CN" dirty="0"/>
              <a:t>I</a:t>
            </a:r>
            <a:r>
              <a:rPr lang="zh-CN" altLang="en-US" dirty="0"/>
              <a:t>：将数据库 </a:t>
            </a:r>
            <a:r>
              <a:rPr lang="en-US" altLang="zh-CN" dirty="0"/>
              <a:t>D</a:t>
            </a:r>
            <a:r>
              <a:rPr lang="zh-CN" altLang="en-US" dirty="0"/>
              <a:t>中的事务划分为 </a:t>
            </a:r>
            <a:r>
              <a:rPr lang="en-US" altLang="zh-CN" dirty="0"/>
              <a:t>n</a:t>
            </a:r>
            <a:r>
              <a:rPr lang="zh-CN" altLang="en-US" dirty="0"/>
              <a:t>个互不重叠的分区。如果 </a:t>
            </a:r>
            <a:r>
              <a:rPr lang="en-US" altLang="zh-CN" dirty="0"/>
              <a:t>D</a:t>
            </a:r>
            <a:r>
              <a:rPr lang="zh-CN" altLang="en-US" dirty="0"/>
              <a:t>的最小相对支持度阈值为 </a:t>
            </a:r>
            <a:r>
              <a:rPr lang="en-US" altLang="zh-CN" dirty="0" err="1"/>
              <a:t>min_sup</a:t>
            </a:r>
            <a:r>
              <a:rPr lang="zh-CN" altLang="en-US" dirty="0"/>
              <a:t>，则分区的最小支持度计数为 </a:t>
            </a:r>
            <a:r>
              <a:rPr lang="en-US" altLang="zh-CN" dirty="0" err="1"/>
              <a:t>min_sup</a:t>
            </a:r>
            <a:r>
              <a:rPr lang="en-US" altLang="zh-CN" dirty="0"/>
              <a:t> * </a:t>
            </a:r>
            <a:r>
              <a:rPr lang="zh-CN" altLang="en-US" dirty="0"/>
              <a:t>该分区内的事务数。对于每个分区，找出所有的</a:t>
            </a:r>
            <a:r>
              <a:rPr lang="zh-CN" altLang="en-US" b="1" dirty="0"/>
              <a:t>局部频繁项集</a:t>
            </a:r>
            <a:r>
              <a:rPr lang="zh-CN" altLang="en-US" dirty="0"/>
              <a:t>。一个局部频繁项集在全局数据库 </a:t>
            </a:r>
            <a:r>
              <a:rPr lang="en-US" altLang="zh-CN" dirty="0"/>
              <a:t>D </a:t>
            </a:r>
            <a:r>
              <a:rPr lang="zh-CN" altLang="en-US" dirty="0"/>
              <a:t>中可能频繁，也可能不频繁。但关键在于：任何在 </a:t>
            </a:r>
            <a:r>
              <a:rPr lang="en-US" altLang="zh-CN" dirty="0"/>
              <a:t>D</a:t>
            </a:r>
            <a:r>
              <a:rPr lang="zh-CN" altLang="en-US" dirty="0"/>
              <a:t>中全局频繁的项集，必须至少在其中一个分区中是局部频繁的。 因此，所有局部频繁项集的并集构成了全局候选集。阶段 </a:t>
            </a:r>
            <a:r>
              <a:rPr lang="en-US" altLang="zh-CN" dirty="0"/>
              <a:t>II</a:t>
            </a:r>
            <a:r>
              <a:rPr lang="zh-CN" altLang="en-US" dirty="0"/>
              <a:t>：对 </a:t>
            </a:r>
            <a:r>
              <a:rPr lang="en-US" altLang="zh-CN" dirty="0"/>
              <a:t>D </a:t>
            </a:r>
            <a:r>
              <a:rPr lang="zh-CN" altLang="en-US" dirty="0"/>
              <a:t>进行第二次扫描，评估每个候选集的实际支持度，以确定全局频繁项集。分区的大小通常设定为能完全放入主内存，从而在每个阶段只需读取一次。</a:t>
            </a:r>
            <a:endParaRPr lang="en-US" altLang="en-US" dirty="0"/>
          </a:p>
        </p:txBody>
      </p:sp>
    </p:spTree>
    <p:extLst>
      <p:ext uri="{BB962C8B-B14F-4D97-AF65-F5344CB8AC3E}">
        <p14:creationId xmlns:p14="http://schemas.microsoft.com/office/powerpoint/2010/main" val="66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idx="1"/>
          </p:nvPr>
        </p:nvSpPr>
        <p:spPr>
          <a:xfrm>
            <a:off x="508000" y="1152525"/>
            <a:ext cx="11277600" cy="771525"/>
          </a:xfrm>
        </p:spPr>
        <p:txBody>
          <a:bodyPr/>
          <a:lstStyle/>
          <a:p>
            <a:r>
              <a:rPr lang="zh-CN" altLang="en-US" sz="2400" dirty="0">
                <a:latin typeface="+mn-ea"/>
              </a:rPr>
              <a:t>定理：在事务数据库 </a:t>
            </a:r>
            <a:r>
              <a:rPr lang="en-US" altLang="zh-CN" sz="2400" dirty="0">
                <a:latin typeface="+mn-ea"/>
              </a:rPr>
              <a:t>TDB </a:t>
            </a:r>
            <a:r>
              <a:rPr lang="zh-CN" altLang="en-US" sz="2400" dirty="0">
                <a:latin typeface="+mn-ea"/>
              </a:rPr>
              <a:t>中任何潜在的频繁项集，必定至少在 </a:t>
            </a:r>
            <a:r>
              <a:rPr lang="en-US" altLang="zh-CN" sz="2400" dirty="0">
                <a:latin typeface="+mn-ea"/>
              </a:rPr>
              <a:t>TDB </a:t>
            </a:r>
            <a:r>
              <a:rPr lang="zh-CN" altLang="en-US" sz="2400" dirty="0">
                <a:latin typeface="+mn-ea"/>
              </a:rPr>
              <a:t>的某一个分区中是频繁的。</a:t>
            </a:r>
            <a:endParaRPr lang="en-US" altLang="en-US" sz="2400" dirty="0">
              <a:latin typeface="+mn-ea"/>
            </a:endParaRPr>
          </a:p>
        </p:txBody>
      </p:sp>
      <p:sp>
        <p:nvSpPr>
          <p:cNvPr id="23555" name="Rectangle 2"/>
          <p:cNvSpPr>
            <a:spLocks noGrp="1" noChangeArrowheads="1"/>
          </p:cNvSpPr>
          <p:nvPr>
            <p:ph type="title"/>
          </p:nvPr>
        </p:nvSpPr>
        <p:spPr>
          <a:xfrm>
            <a:off x="812800" y="304800"/>
            <a:ext cx="10390717" cy="609600"/>
          </a:xfrm>
        </p:spPr>
        <p:txBody>
          <a:bodyPr>
            <a:noAutofit/>
          </a:bodyPr>
          <a:lstStyle/>
          <a:p>
            <a:pPr eaLnBrk="1" hangingPunct="1"/>
            <a:r>
              <a:rPr lang="en-US" altLang="en-US" sz="4000" dirty="0"/>
              <a:t>Partitioning: Scan Database Only Twice</a:t>
            </a:r>
          </a:p>
        </p:txBody>
      </p:sp>
      <p:grpSp>
        <p:nvGrpSpPr>
          <p:cNvPr id="23557" name="Group 2"/>
          <p:cNvGrpSpPr>
            <a:grpSpLocks/>
          </p:cNvGrpSpPr>
          <p:nvPr/>
        </p:nvGrpSpPr>
        <p:grpSpPr bwMode="auto">
          <a:xfrm>
            <a:off x="715224" y="2034955"/>
            <a:ext cx="10749009" cy="1862061"/>
            <a:chOff x="364031" y="4267200"/>
            <a:chExt cx="8703769" cy="2281283"/>
          </a:xfrm>
        </p:grpSpPr>
        <p:sp>
          <p:nvSpPr>
            <p:cNvPr id="23559" name="Rectangle 6"/>
            <p:cNvSpPr>
              <a:spLocks noChangeArrowheads="1"/>
            </p:cNvSpPr>
            <p:nvPr/>
          </p:nvSpPr>
          <p:spPr bwMode="auto">
            <a:xfrm>
              <a:off x="990600" y="4343400"/>
              <a:ext cx="1143000" cy="1447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latin typeface="Tahoma" pitchFamily="34" charset="0"/>
              </a:endParaRPr>
            </a:p>
          </p:txBody>
        </p:sp>
        <p:sp>
          <p:nvSpPr>
            <p:cNvPr id="23560" name="Rectangle 7"/>
            <p:cNvSpPr>
              <a:spLocks noChangeArrowheads="1"/>
            </p:cNvSpPr>
            <p:nvPr/>
          </p:nvSpPr>
          <p:spPr bwMode="auto">
            <a:xfrm>
              <a:off x="2857500" y="4267200"/>
              <a:ext cx="1143000" cy="1447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latin typeface="Tahoma" pitchFamily="34" charset="0"/>
              </a:endParaRPr>
            </a:p>
          </p:txBody>
        </p:sp>
        <p:sp>
          <p:nvSpPr>
            <p:cNvPr id="23561" name="Rectangle 8"/>
            <p:cNvSpPr>
              <a:spLocks noChangeArrowheads="1"/>
            </p:cNvSpPr>
            <p:nvPr/>
          </p:nvSpPr>
          <p:spPr bwMode="auto">
            <a:xfrm>
              <a:off x="5943600" y="4267200"/>
              <a:ext cx="1143000" cy="1371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latin typeface="Tahoma" pitchFamily="34" charset="0"/>
              </a:endParaRPr>
            </a:p>
          </p:txBody>
        </p:sp>
        <p:sp>
          <p:nvSpPr>
            <p:cNvPr id="23562" name="Oval 9"/>
            <p:cNvSpPr>
              <a:spLocks noChangeArrowheads="1"/>
            </p:cNvSpPr>
            <p:nvPr/>
          </p:nvSpPr>
          <p:spPr bwMode="auto">
            <a:xfrm>
              <a:off x="4572000" y="5105400"/>
              <a:ext cx="46038" cy="46038"/>
            </a:xfrm>
            <a:prstGeom prst="ellipse">
              <a:avLst/>
            </a:prstGeom>
            <a:solidFill>
              <a:schemeClr val="accent1"/>
            </a:solidFill>
            <a:ln w="9525">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latin typeface="Tahoma" pitchFamily="34" charset="0"/>
              </a:endParaRPr>
            </a:p>
          </p:txBody>
        </p:sp>
        <p:sp>
          <p:nvSpPr>
            <p:cNvPr id="23563" name="Oval 11"/>
            <p:cNvSpPr>
              <a:spLocks noChangeArrowheads="1"/>
            </p:cNvSpPr>
            <p:nvPr/>
          </p:nvSpPr>
          <p:spPr bwMode="auto">
            <a:xfrm>
              <a:off x="4906963" y="5105400"/>
              <a:ext cx="46037" cy="46038"/>
            </a:xfrm>
            <a:prstGeom prst="ellipse">
              <a:avLst/>
            </a:prstGeom>
            <a:solidFill>
              <a:schemeClr val="accent1"/>
            </a:solidFill>
            <a:ln w="9525">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latin typeface="Tahoma" pitchFamily="34" charset="0"/>
              </a:endParaRPr>
            </a:p>
          </p:txBody>
        </p:sp>
        <p:sp>
          <p:nvSpPr>
            <p:cNvPr id="23564" name="Oval 12"/>
            <p:cNvSpPr>
              <a:spLocks noChangeArrowheads="1"/>
            </p:cNvSpPr>
            <p:nvPr/>
          </p:nvSpPr>
          <p:spPr bwMode="auto">
            <a:xfrm>
              <a:off x="5257800" y="5105400"/>
              <a:ext cx="46038" cy="46038"/>
            </a:xfrm>
            <a:prstGeom prst="ellipse">
              <a:avLst/>
            </a:prstGeom>
            <a:solidFill>
              <a:schemeClr val="accent1"/>
            </a:solidFill>
            <a:ln w="9525">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latin typeface="Tahoma" pitchFamily="34" charset="0"/>
              </a:endParaRPr>
            </a:p>
          </p:txBody>
        </p:sp>
        <p:sp>
          <p:nvSpPr>
            <p:cNvPr id="23565" name="TextBox 13"/>
            <p:cNvSpPr txBox="1">
              <a:spLocks noChangeArrowheads="1"/>
            </p:cNvSpPr>
            <p:nvPr/>
          </p:nvSpPr>
          <p:spPr bwMode="auto">
            <a:xfrm>
              <a:off x="1219200" y="5791200"/>
              <a:ext cx="76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1800">
                  <a:latin typeface="Tahoma" pitchFamily="34" charset="0"/>
                </a:rPr>
                <a:t>TDB</a:t>
              </a:r>
              <a:r>
                <a:rPr lang="en-US" altLang="en-US" sz="1800" baseline="-25000">
                  <a:latin typeface="Tahoma" pitchFamily="34" charset="0"/>
                </a:rPr>
                <a:t>1</a:t>
              </a:r>
            </a:p>
          </p:txBody>
        </p:sp>
        <p:sp>
          <p:nvSpPr>
            <p:cNvPr id="23566" name="TextBox 14"/>
            <p:cNvSpPr txBox="1">
              <a:spLocks noChangeArrowheads="1"/>
            </p:cNvSpPr>
            <p:nvPr/>
          </p:nvSpPr>
          <p:spPr bwMode="auto">
            <a:xfrm>
              <a:off x="3048000" y="5715000"/>
              <a:ext cx="76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1800">
                  <a:latin typeface="Tahoma" pitchFamily="34" charset="0"/>
                </a:rPr>
                <a:t>TDB</a:t>
              </a:r>
              <a:r>
                <a:rPr lang="en-US" altLang="en-US" sz="1800" baseline="-25000">
                  <a:latin typeface="Tahoma" pitchFamily="34" charset="0"/>
                </a:rPr>
                <a:t>2</a:t>
              </a:r>
            </a:p>
          </p:txBody>
        </p:sp>
        <p:sp>
          <p:nvSpPr>
            <p:cNvPr id="23567" name="TextBox 15"/>
            <p:cNvSpPr txBox="1">
              <a:spLocks noChangeArrowheads="1"/>
            </p:cNvSpPr>
            <p:nvPr/>
          </p:nvSpPr>
          <p:spPr bwMode="auto">
            <a:xfrm>
              <a:off x="6172200" y="57150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1800">
                  <a:latin typeface="Tahoma" pitchFamily="34" charset="0"/>
                </a:rPr>
                <a:t>TDB</a:t>
              </a:r>
              <a:r>
                <a:rPr lang="en-US" altLang="en-US" sz="1800" baseline="-25000">
                  <a:latin typeface="Tahoma" pitchFamily="34" charset="0"/>
                </a:rPr>
                <a:t>k</a:t>
              </a:r>
            </a:p>
          </p:txBody>
        </p:sp>
        <p:sp>
          <p:nvSpPr>
            <p:cNvPr id="23568" name="TextBox 16"/>
            <p:cNvSpPr txBox="1">
              <a:spLocks noChangeArrowheads="1"/>
            </p:cNvSpPr>
            <p:nvPr/>
          </p:nvSpPr>
          <p:spPr bwMode="auto">
            <a:xfrm>
              <a:off x="2362200" y="5715000"/>
              <a:ext cx="22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1800">
                  <a:latin typeface="Tahoma" pitchFamily="34" charset="0"/>
                </a:rPr>
                <a:t>+</a:t>
              </a:r>
            </a:p>
          </p:txBody>
        </p:sp>
        <p:sp>
          <p:nvSpPr>
            <p:cNvPr id="23569" name="TextBox 18"/>
            <p:cNvSpPr txBox="1">
              <a:spLocks noChangeArrowheads="1"/>
            </p:cNvSpPr>
            <p:nvPr/>
          </p:nvSpPr>
          <p:spPr bwMode="auto">
            <a:xfrm>
              <a:off x="7350126" y="5715000"/>
              <a:ext cx="1371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1800" dirty="0">
                  <a:latin typeface="Tahoma" pitchFamily="34" charset="0"/>
                </a:rPr>
                <a:t>=       TDB</a:t>
              </a:r>
            </a:p>
          </p:txBody>
        </p:sp>
        <p:sp>
          <p:nvSpPr>
            <p:cNvPr id="23570" name="TextBox 19"/>
            <p:cNvSpPr txBox="1">
              <a:spLocks noChangeArrowheads="1"/>
            </p:cNvSpPr>
            <p:nvPr/>
          </p:nvSpPr>
          <p:spPr bwMode="auto">
            <a:xfrm>
              <a:off x="5638800" y="5715000"/>
              <a:ext cx="22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1800">
                  <a:latin typeface="Tahoma" pitchFamily="34" charset="0"/>
                </a:rPr>
                <a:t>+</a:t>
              </a:r>
            </a:p>
          </p:txBody>
        </p:sp>
        <p:sp>
          <p:nvSpPr>
            <p:cNvPr id="23571" name="TextBox 20"/>
            <p:cNvSpPr txBox="1">
              <a:spLocks noChangeArrowheads="1"/>
            </p:cNvSpPr>
            <p:nvPr/>
          </p:nvSpPr>
          <p:spPr bwMode="auto">
            <a:xfrm>
              <a:off x="4114800" y="5715000"/>
              <a:ext cx="22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1800">
                  <a:latin typeface="Tahoma" pitchFamily="34" charset="0"/>
                </a:rPr>
                <a:t>+</a:t>
              </a:r>
            </a:p>
          </p:txBody>
        </p:sp>
        <p:sp>
          <p:nvSpPr>
            <p:cNvPr id="23572" name="TextBox 21"/>
            <p:cNvSpPr txBox="1">
              <a:spLocks noChangeArrowheads="1"/>
            </p:cNvSpPr>
            <p:nvPr/>
          </p:nvSpPr>
          <p:spPr bwMode="auto">
            <a:xfrm>
              <a:off x="685800" y="6096000"/>
              <a:ext cx="1828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1800" dirty="0">
                  <a:latin typeface="Tahoma" pitchFamily="34" charset="0"/>
                </a:rPr>
                <a:t>sup</a:t>
              </a:r>
              <a:r>
                <a:rPr lang="en-US" altLang="en-US" sz="1800" baseline="-25000" dirty="0">
                  <a:latin typeface="Tahoma" pitchFamily="34" charset="0"/>
                </a:rPr>
                <a:t>1</a:t>
              </a:r>
              <a:r>
                <a:rPr lang="en-US" altLang="en-US" sz="1800" dirty="0">
                  <a:latin typeface="Tahoma" pitchFamily="34" charset="0"/>
                </a:rPr>
                <a:t>(X) &lt; </a:t>
              </a:r>
              <a:r>
                <a:rPr lang="el-GR" altLang="en-US" sz="1800" dirty="0">
                  <a:latin typeface="Tahoma" pitchFamily="34" charset="0"/>
                </a:rPr>
                <a:t>σ</a:t>
              </a:r>
              <a:r>
                <a:rPr lang="en-US" altLang="en-US" sz="1800" dirty="0">
                  <a:latin typeface="Tahoma" pitchFamily="34" charset="0"/>
                </a:rPr>
                <a:t>|TDB</a:t>
              </a:r>
              <a:r>
                <a:rPr lang="en-US" altLang="en-US" sz="1800" baseline="-25000" dirty="0">
                  <a:latin typeface="Tahoma" pitchFamily="34" charset="0"/>
                </a:rPr>
                <a:t>1</a:t>
              </a:r>
              <a:r>
                <a:rPr lang="en-US" altLang="en-US" sz="1800" dirty="0">
                  <a:latin typeface="Tahoma" pitchFamily="34" charset="0"/>
                </a:rPr>
                <a:t>|</a:t>
              </a:r>
              <a:endParaRPr lang="en-US" altLang="en-US" sz="1800" baseline="-25000" dirty="0">
                <a:latin typeface="Tahoma" pitchFamily="34" charset="0"/>
              </a:endParaRPr>
            </a:p>
          </p:txBody>
        </p:sp>
        <p:sp>
          <p:nvSpPr>
            <p:cNvPr id="23573" name="TextBox 22"/>
            <p:cNvSpPr txBox="1">
              <a:spLocks noChangeArrowheads="1"/>
            </p:cNvSpPr>
            <p:nvPr/>
          </p:nvSpPr>
          <p:spPr bwMode="auto">
            <a:xfrm>
              <a:off x="2743200" y="6096000"/>
              <a:ext cx="1828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1800" dirty="0">
                  <a:latin typeface="Tahoma" pitchFamily="34" charset="0"/>
                </a:rPr>
                <a:t>sup</a:t>
              </a:r>
              <a:r>
                <a:rPr lang="en-US" altLang="en-US" sz="1800" baseline="-25000" dirty="0">
                  <a:latin typeface="Tahoma" pitchFamily="34" charset="0"/>
                </a:rPr>
                <a:t>2</a:t>
              </a:r>
              <a:r>
                <a:rPr lang="en-US" altLang="en-US" sz="1800" dirty="0">
                  <a:latin typeface="Tahoma" pitchFamily="34" charset="0"/>
                </a:rPr>
                <a:t>(X) &lt; </a:t>
              </a:r>
              <a:r>
                <a:rPr lang="el-GR" altLang="en-US" sz="1800" dirty="0">
                  <a:latin typeface="Tahoma" pitchFamily="34" charset="0"/>
                </a:rPr>
                <a:t>σ</a:t>
              </a:r>
              <a:r>
                <a:rPr lang="en-US" altLang="en-US" sz="1800" dirty="0">
                  <a:latin typeface="Tahoma" pitchFamily="34" charset="0"/>
                </a:rPr>
                <a:t>|TDB</a:t>
              </a:r>
              <a:r>
                <a:rPr lang="en-US" altLang="en-US" sz="1800" baseline="-25000" dirty="0">
                  <a:latin typeface="Tahoma" pitchFamily="34" charset="0"/>
                </a:rPr>
                <a:t>2</a:t>
              </a:r>
              <a:r>
                <a:rPr lang="en-US" altLang="en-US" sz="1800" dirty="0">
                  <a:latin typeface="Tahoma" pitchFamily="34" charset="0"/>
                </a:rPr>
                <a:t>|</a:t>
              </a:r>
              <a:endParaRPr lang="en-US" altLang="en-US" sz="1800" baseline="-25000" dirty="0">
                <a:latin typeface="Tahoma" pitchFamily="34" charset="0"/>
              </a:endParaRPr>
            </a:p>
          </p:txBody>
        </p:sp>
        <p:sp>
          <p:nvSpPr>
            <p:cNvPr id="23574" name="TextBox 23"/>
            <p:cNvSpPr txBox="1">
              <a:spLocks noChangeArrowheads="1"/>
            </p:cNvSpPr>
            <p:nvPr/>
          </p:nvSpPr>
          <p:spPr bwMode="auto">
            <a:xfrm>
              <a:off x="5595937" y="6096000"/>
              <a:ext cx="1698626" cy="452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1800" dirty="0" err="1">
                  <a:latin typeface="Tahoma" pitchFamily="34" charset="0"/>
                </a:rPr>
                <a:t>sup</a:t>
              </a:r>
              <a:r>
                <a:rPr lang="en-US" altLang="en-US" sz="1800" baseline="-25000" dirty="0" err="1">
                  <a:latin typeface="Tahoma" pitchFamily="34" charset="0"/>
                </a:rPr>
                <a:t>k</a:t>
              </a:r>
              <a:r>
                <a:rPr lang="en-US" altLang="en-US" sz="1800" dirty="0">
                  <a:latin typeface="Tahoma" pitchFamily="34" charset="0"/>
                </a:rPr>
                <a:t>(X) &lt; </a:t>
              </a:r>
              <a:r>
                <a:rPr lang="el-GR" altLang="en-US" sz="1800" dirty="0">
                  <a:latin typeface="Tahoma" pitchFamily="34" charset="0"/>
                </a:rPr>
                <a:t>σ</a:t>
              </a:r>
              <a:r>
                <a:rPr lang="en-US" altLang="en-US" sz="1800" dirty="0">
                  <a:latin typeface="Tahoma" pitchFamily="34" charset="0"/>
                </a:rPr>
                <a:t>|</a:t>
              </a:r>
              <a:r>
                <a:rPr lang="en-US" altLang="en-US" sz="1800" dirty="0" err="1">
                  <a:latin typeface="Tahoma" pitchFamily="34" charset="0"/>
                </a:rPr>
                <a:t>TDB</a:t>
              </a:r>
              <a:r>
                <a:rPr lang="en-US" altLang="en-US" sz="1800" baseline="-25000" dirty="0" err="1">
                  <a:latin typeface="Tahoma" pitchFamily="34" charset="0"/>
                </a:rPr>
                <a:t>k</a:t>
              </a:r>
              <a:r>
                <a:rPr lang="en-US" altLang="en-US" sz="1800" dirty="0">
                  <a:latin typeface="Tahoma" pitchFamily="34" charset="0"/>
                </a:rPr>
                <a:t>|</a:t>
              </a:r>
              <a:endParaRPr lang="en-US" altLang="en-US" sz="1800" baseline="-25000" dirty="0">
                <a:latin typeface="Tahoma" pitchFamily="34" charset="0"/>
              </a:endParaRPr>
            </a:p>
          </p:txBody>
        </p:sp>
        <p:sp>
          <p:nvSpPr>
            <p:cNvPr id="23575" name="TextBox 24"/>
            <p:cNvSpPr txBox="1">
              <a:spLocks noChangeArrowheads="1"/>
            </p:cNvSpPr>
            <p:nvPr/>
          </p:nvSpPr>
          <p:spPr bwMode="auto">
            <a:xfrm>
              <a:off x="7391400" y="6107113"/>
              <a:ext cx="167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1800" dirty="0">
                  <a:latin typeface="Tahoma" pitchFamily="34" charset="0"/>
                </a:rPr>
                <a:t>sup(X) &lt; </a:t>
              </a:r>
              <a:r>
                <a:rPr lang="el-GR" altLang="en-US" sz="1800" dirty="0">
                  <a:latin typeface="Tahoma" pitchFamily="34" charset="0"/>
                </a:rPr>
                <a:t>σ</a:t>
              </a:r>
              <a:r>
                <a:rPr lang="en-US" altLang="en-US" sz="1800" dirty="0">
                  <a:latin typeface="Tahoma" pitchFamily="34" charset="0"/>
                </a:rPr>
                <a:t>|TDB|</a:t>
              </a:r>
              <a:endParaRPr lang="en-US" altLang="en-US" sz="1800" baseline="-25000" dirty="0">
                <a:latin typeface="Tahoma" pitchFamily="34" charset="0"/>
              </a:endParaRPr>
            </a:p>
          </p:txBody>
        </p:sp>
        <p:sp>
          <p:nvSpPr>
            <p:cNvPr id="23576" name="TextBox 21"/>
            <p:cNvSpPr txBox="1">
              <a:spLocks noChangeArrowheads="1"/>
            </p:cNvSpPr>
            <p:nvPr/>
          </p:nvSpPr>
          <p:spPr bwMode="auto">
            <a:xfrm rot="338854">
              <a:off x="364031" y="4905345"/>
              <a:ext cx="1516665" cy="40011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2000" dirty="0"/>
                <a:t>Here is the proof!</a:t>
              </a:r>
            </a:p>
          </p:txBody>
        </p:sp>
        <p:sp>
          <p:nvSpPr>
            <p:cNvPr id="23577" name="TextBox 2"/>
            <p:cNvSpPr txBox="1">
              <a:spLocks noChangeArrowheads="1"/>
            </p:cNvSpPr>
            <p:nvPr/>
          </p:nvSpPr>
          <p:spPr bwMode="auto">
            <a:xfrm>
              <a:off x="4724400" y="5562600"/>
              <a:ext cx="60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a:t>. . .</a:t>
              </a:r>
            </a:p>
          </p:txBody>
        </p:sp>
        <p:sp>
          <p:nvSpPr>
            <p:cNvPr id="23578" name="TextBox 23"/>
            <p:cNvSpPr txBox="1">
              <a:spLocks noChangeArrowheads="1"/>
            </p:cNvSpPr>
            <p:nvPr/>
          </p:nvSpPr>
          <p:spPr bwMode="auto">
            <a:xfrm>
              <a:off x="4703763" y="6015038"/>
              <a:ext cx="609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a:t>. . .</a:t>
              </a:r>
            </a:p>
          </p:txBody>
        </p:sp>
      </p:grpSp>
      <p:sp>
        <p:nvSpPr>
          <p:cNvPr id="25" name="Rectangle 3"/>
          <p:cNvSpPr txBox="1">
            <a:spLocks noChangeArrowheads="1"/>
          </p:cNvSpPr>
          <p:nvPr/>
        </p:nvSpPr>
        <p:spPr>
          <a:xfrm>
            <a:off x="608207" y="3949574"/>
            <a:ext cx="11077185" cy="2645158"/>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en-US" sz="2400" dirty="0"/>
              <a:t>Method: </a:t>
            </a:r>
            <a:r>
              <a:rPr lang="zh-CN" altLang="en-US" sz="2400" dirty="0"/>
              <a:t>扫描数据库两次</a:t>
            </a:r>
            <a:r>
              <a:rPr lang="en-US" altLang="en-US" sz="2400" dirty="0"/>
              <a:t>(A. </a:t>
            </a:r>
            <a:r>
              <a:rPr lang="en-US" altLang="en-US" sz="2400" dirty="0" err="1"/>
              <a:t>Savasere</a:t>
            </a:r>
            <a:r>
              <a:rPr lang="en-US" altLang="en-US" sz="2400" dirty="0"/>
              <a:t>, E. </a:t>
            </a:r>
            <a:r>
              <a:rPr lang="en-US" altLang="en-US" sz="2400" dirty="0" err="1"/>
              <a:t>Omiecinski</a:t>
            </a:r>
            <a:r>
              <a:rPr lang="en-US" altLang="en-US" sz="2400" dirty="0"/>
              <a:t> and S. </a:t>
            </a:r>
            <a:r>
              <a:rPr lang="en-US" altLang="en-US" sz="2400" dirty="0" err="1"/>
              <a:t>Navathe</a:t>
            </a:r>
            <a:r>
              <a:rPr lang="en-US" altLang="en-US" sz="2400" dirty="0"/>
              <a:t>, </a:t>
            </a:r>
            <a:r>
              <a:rPr lang="en-US" altLang="en-US" sz="2400" i="1" dirty="0"/>
              <a:t>VLDB’95</a:t>
            </a:r>
            <a:r>
              <a:rPr lang="en-US" altLang="en-US" sz="2400" i="1" dirty="0">
                <a:solidFill>
                  <a:schemeClr val="tx2"/>
                </a:solidFill>
              </a:rPr>
              <a:t>)</a:t>
            </a:r>
            <a:endParaRPr lang="en-US" altLang="en-US" sz="2400" dirty="0"/>
          </a:p>
          <a:p>
            <a:pPr lvl="1"/>
            <a:r>
              <a:rPr lang="en-US" altLang="en-US" sz="2400" dirty="0"/>
              <a:t>Scan 1:</a:t>
            </a:r>
            <a:r>
              <a:rPr lang="zh-CN" altLang="en-US" sz="2400" dirty="0"/>
              <a:t>对数据库进行分区，使得每个分区都能放入主内存（为什么？）</a:t>
            </a:r>
            <a:endParaRPr lang="en-US" altLang="en-US" sz="2400" dirty="0"/>
          </a:p>
          <a:p>
            <a:pPr lvl="2"/>
            <a:r>
              <a:rPr lang="zh-CN" altLang="en-US" sz="2400" dirty="0"/>
              <a:t>挖掘该分区中的局部频繁模式</a:t>
            </a:r>
            <a:endParaRPr lang="en-US" altLang="en-US" sz="2400" dirty="0"/>
          </a:p>
          <a:p>
            <a:pPr lvl="1"/>
            <a:r>
              <a:rPr lang="en-US" altLang="en-US" sz="2400" dirty="0"/>
              <a:t>Scan 2:</a:t>
            </a:r>
            <a:r>
              <a:rPr lang="zh-CN" altLang="en-US" sz="2400" dirty="0"/>
              <a:t>合并全局频繁模式</a:t>
            </a:r>
            <a:endParaRPr lang="en-US" altLang="en-US" sz="2400" dirty="0"/>
          </a:p>
          <a:p>
            <a:pPr lvl="2"/>
            <a:r>
              <a:rPr lang="zh-CN" altLang="en-US" sz="2400" dirty="0"/>
              <a:t>找出全局频繁项集候选（那些在至少一个分区中是频繁的项集）</a:t>
            </a:r>
          </a:p>
          <a:p>
            <a:pPr lvl="2"/>
            <a:r>
              <a:rPr lang="zh-CN" altLang="en-US" sz="2400" dirty="0"/>
              <a:t>通过再次扫描事务数据库 </a:t>
            </a:r>
            <a:r>
              <a:rPr lang="en-US" altLang="zh-CN" sz="2400" dirty="0"/>
              <a:t>TDB</a:t>
            </a:r>
            <a:r>
              <a:rPr lang="zh-CN" altLang="en-US" sz="2400" dirty="0"/>
              <a:t>，找出这些候选集的真实频率。</a:t>
            </a:r>
            <a:endParaRPr lang="en-US" altLang="en-US" sz="2400" dirty="0"/>
          </a:p>
        </p:txBody>
      </p:sp>
    </p:spTree>
    <p:extLst>
      <p:ext uri="{BB962C8B-B14F-4D97-AF65-F5344CB8AC3E}">
        <p14:creationId xmlns:p14="http://schemas.microsoft.com/office/powerpoint/2010/main" val="279732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5">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203200" y="140852"/>
            <a:ext cx="11684000" cy="736600"/>
          </a:xfrm>
        </p:spPr>
        <p:txBody>
          <a:bodyPr>
            <a:normAutofit/>
          </a:bodyPr>
          <a:lstStyle/>
          <a:p>
            <a:pPr eaLnBrk="1" hangingPunct="1"/>
            <a:r>
              <a:rPr lang="en-US" altLang="en-US" sz="3600" dirty="0"/>
              <a:t>Why Mining Frequent Patterns by Pattern Growth?</a:t>
            </a:r>
          </a:p>
        </p:txBody>
      </p:sp>
      <p:sp>
        <p:nvSpPr>
          <p:cNvPr id="26628" name="Rectangle 3"/>
          <p:cNvSpPr>
            <a:spLocks noGrp="1" noChangeArrowheads="1"/>
          </p:cNvSpPr>
          <p:nvPr>
            <p:ph idx="1"/>
          </p:nvPr>
        </p:nvSpPr>
        <p:spPr>
          <a:xfrm>
            <a:off x="606413" y="1208382"/>
            <a:ext cx="10106614" cy="4517009"/>
          </a:xfrm>
        </p:spPr>
        <p:txBody>
          <a:bodyPr/>
          <a:lstStyle/>
          <a:p>
            <a:pPr eaLnBrk="1" hangingPunct="1">
              <a:spcAft>
                <a:spcPts val="600"/>
              </a:spcAft>
            </a:pPr>
            <a:r>
              <a:rPr lang="en-US" altLang="en-US" sz="2400" dirty="0" err="1"/>
              <a:t>Apriori</a:t>
            </a:r>
            <a:r>
              <a:rPr lang="en-US" altLang="en-US" sz="2400" dirty="0"/>
              <a:t>:  A </a:t>
            </a:r>
            <a:r>
              <a:rPr lang="en-US" altLang="en-US" sz="2400" i="1" dirty="0"/>
              <a:t>breadth-first search </a:t>
            </a:r>
            <a:r>
              <a:rPr lang="en-US" altLang="en-US" sz="2400" dirty="0"/>
              <a:t>mining algorithm</a:t>
            </a:r>
          </a:p>
          <a:p>
            <a:pPr lvl="2">
              <a:spcAft>
                <a:spcPts val="600"/>
              </a:spcAft>
            </a:pPr>
            <a:r>
              <a:rPr lang="en-US" altLang="en-US" sz="2400" dirty="0"/>
              <a:t>First find the complete set of frequent k-</a:t>
            </a:r>
            <a:r>
              <a:rPr lang="en-US" altLang="en-US" sz="2400" dirty="0" err="1"/>
              <a:t>itemsets</a:t>
            </a:r>
            <a:endParaRPr lang="en-US" altLang="en-US" sz="2400" dirty="0"/>
          </a:p>
          <a:p>
            <a:pPr lvl="2">
              <a:spcAft>
                <a:spcPts val="600"/>
              </a:spcAft>
            </a:pPr>
            <a:r>
              <a:rPr lang="en-US" altLang="en-US" sz="2400" dirty="0"/>
              <a:t>Then derive frequent (k+1)-</a:t>
            </a:r>
            <a:r>
              <a:rPr lang="en-US" altLang="en-US" sz="2400" dirty="0" err="1"/>
              <a:t>itemset</a:t>
            </a:r>
            <a:r>
              <a:rPr lang="en-US" altLang="en-US" sz="2400" dirty="0"/>
              <a:t> candidates</a:t>
            </a:r>
          </a:p>
          <a:p>
            <a:pPr lvl="2">
              <a:spcAft>
                <a:spcPts val="600"/>
              </a:spcAft>
            </a:pPr>
            <a:r>
              <a:rPr lang="en-US" altLang="en-US" sz="2400" dirty="0"/>
              <a:t>Scan DB again to find true frequent (k+1)-</a:t>
            </a:r>
            <a:r>
              <a:rPr lang="en-US" altLang="en-US" sz="2400" dirty="0" err="1"/>
              <a:t>itemsets</a:t>
            </a:r>
            <a:r>
              <a:rPr lang="en-US" altLang="en-US" sz="2400" dirty="0"/>
              <a:t> </a:t>
            </a:r>
          </a:p>
          <a:p>
            <a:pPr>
              <a:spcAft>
                <a:spcPts val="600"/>
              </a:spcAft>
            </a:pPr>
            <a:r>
              <a:rPr lang="en-US" altLang="en-US" sz="2400" dirty="0"/>
              <a:t>Motivation for a different mining methodology</a:t>
            </a:r>
          </a:p>
          <a:p>
            <a:pPr lvl="1">
              <a:spcAft>
                <a:spcPts val="600"/>
              </a:spcAft>
            </a:pPr>
            <a:r>
              <a:rPr lang="en-US" altLang="en-US" sz="2400" dirty="0"/>
              <a:t>Can we develop a </a:t>
            </a:r>
            <a:r>
              <a:rPr lang="en-US" altLang="en-US" sz="2400" i="1" dirty="0"/>
              <a:t>depth-first search </a:t>
            </a:r>
            <a:r>
              <a:rPr lang="en-US" altLang="en-US" sz="2400" dirty="0"/>
              <a:t>mining algorithm?</a:t>
            </a:r>
          </a:p>
          <a:p>
            <a:pPr lvl="1">
              <a:spcAft>
                <a:spcPts val="600"/>
              </a:spcAft>
            </a:pPr>
            <a:r>
              <a:rPr lang="en-US" altLang="en-US" sz="2400" dirty="0"/>
              <a:t>For a frequent </a:t>
            </a:r>
            <a:r>
              <a:rPr lang="en-US" altLang="en-US" sz="2400" dirty="0" err="1"/>
              <a:t>itemset</a:t>
            </a:r>
            <a:r>
              <a:rPr lang="en-US" altLang="en-US" sz="2400" dirty="0"/>
              <a:t> </a:t>
            </a:r>
            <a:r>
              <a:rPr lang="el-GR" altLang="en-US" sz="2400" dirty="0"/>
              <a:t>ρ</a:t>
            </a:r>
            <a:r>
              <a:rPr lang="en-US" altLang="en-US" sz="2400" dirty="0"/>
              <a:t>, can subsequent search be confined to only those transactions that containing </a:t>
            </a:r>
            <a:r>
              <a:rPr lang="el-GR" altLang="en-US" sz="2400" dirty="0"/>
              <a:t>ρ</a:t>
            </a:r>
            <a:r>
              <a:rPr lang="en-US" altLang="en-US" sz="2400" dirty="0"/>
              <a:t>?</a:t>
            </a:r>
          </a:p>
          <a:p>
            <a:pPr>
              <a:spcAft>
                <a:spcPts val="600"/>
              </a:spcAft>
            </a:pPr>
            <a:r>
              <a:rPr lang="en-US" altLang="en-US" sz="2400" dirty="0"/>
              <a:t>Such thinking leads to a frequent pattern growth approach: </a:t>
            </a:r>
            <a:r>
              <a:rPr lang="en-US" altLang="en-US" sz="2400" dirty="0" err="1"/>
              <a:t>FPGrowth</a:t>
            </a:r>
            <a:r>
              <a:rPr lang="en-US" altLang="en-US" sz="2400" dirty="0"/>
              <a:t> </a:t>
            </a:r>
          </a:p>
        </p:txBody>
      </p:sp>
      <p:sp>
        <p:nvSpPr>
          <p:cNvPr id="3" name="TextBox 2">
            <a:extLst>
              <a:ext uri="{FF2B5EF4-FFF2-40B4-BE49-F238E27FC236}">
                <a16:creationId xmlns:a16="http://schemas.microsoft.com/office/drawing/2014/main" id="{704E4286-5094-2E57-6F7D-26173C8D660C}"/>
              </a:ext>
            </a:extLst>
          </p:cNvPr>
          <p:cNvSpPr txBox="1"/>
          <p:nvPr/>
        </p:nvSpPr>
        <p:spPr>
          <a:xfrm>
            <a:off x="410441" y="5856492"/>
            <a:ext cx="11371118" cy="400110"/>
          </a:xfrm>
          <a:prstGeom prst="rect">
            <a:avLst/>
          </a:prstGeom>
          <a:solidFill>
            <a:srgbClr val="FFFFCC"/>
          </a:solidFill>
        </p:spPr>
        <p:txBody>
          <a:bodyPr wrap="square" rtlCol="0">
            <a:spAutoFit/>
          </a:bodyPr>
          <a:lstStyle/>
          <a:p>
            <a:pPr algn="ctr">
              <a:spcAft>
                <a:spcPts val="600"/>
              </a:spcAft>
            </a:pPr>
            <a:r>
              <a:rPr lang="en-US" altLang="en-US" sz="2000" dirty="0" err="1"/>
              <a:t>FPGrowth</a:t>
            </a:r>
            <a:r>
              <a:rPr lang="en-US" altLang="en-US" sz="2000" dirty="0"/>
              <a:t> (</a:t>
            </a:r>
            <a:r>
              <a:rPr lang="en-US" sz="2000" dirty="0"/>
              <a:t>J. Han, J. Pei, Y. Yin, “Mining Frequent Patterns without Candidate Generation,” SIGMOD 2000)</a:t>
            </a:r>
            <a:endParaRPr lang="en-US" altLang="en-US" sz="2000" dirty="0"/>
          </a:p>
        </p:txBody>
      </p:sp>
    </p:spTree>
    <p:extLst>
      <p:ext uri="{BB962C8B-B14F-4D97-AF65-F5344CB8AC3E}">
        <p14:creationId xmlns:p14="http://schemas.microsoft.com/office/powerpoint/2010/main" val="535533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62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62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62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62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62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628">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62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85" name="Rectangle 2"/>
          <p:cNvSpPr>
            <a:spLocks noGrp="1" noChangeArrowheads="1"/>
          </p:cNvSpPr>
          <p:nvPr>
            <p:ph type="title"/>
          </p:nvPr>
        </p:nvSpPr>
        <p:spPr>
          <a:xfrm>
            <a:off x="0" y="304800"/>
            <a:ext cx="12192000" cy="685800"/>
          </a:xfrm>
        </p:spPr>
        <p:txBody>
          <a:bodyPr>
            <a:normAutofit/>
          </a:bodyPr>
          <a:lstStyle/>
          <a:p>
            <a:pPr eaLnBrk="1" hangingPunct="1"/>
            <a:r>
              <a:rPr lang="en-US" altLang="en-US" sz="3500" dirty="0"/>
              <a:t>Example: From Transactional DB to Ordered Frequent </a:t>
            </a:r>
            <a:r>
              <a:rPr lang="en-US" altLang="en-US" sz="3500" dirty="0" err="1"/>
              <a:t>Itemlist</a:t>
            </a:r>
            <a:endParaRPr lang="en-US" altLang="en-US" sz="3500" dirty="0"/>
          </a:p>
        </p:txBody>
      </p:sp>
      <p:sp>
        <p:nvSpPr>
          <p:cNvPr id="27688" name="Text Box 41"/>
          <p:cNvSpPr txBox="1">
            <a:spLocks noChangeArrowheads="1"/>
          </p:cNvSpPr>
          <p:nvPr/>
        </p:nvSpPr>
        <p:spPr bwMode="auto">
          <a:xfrm>
            <a:off x="562777" y="3429000"/>
            <a:ext cx="10410024"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ts val="600"/>
              </a:spcBef>
              <a:buClr>
                <a:srgbClr val="0070C0"/>
              </a:buClr>
              <a:buSzPct val="90000"/>
              <a:buFont typeface="Wingdings" panose="05000000000000000000" pitchFamily="2" charset="2"/>
              <a:buChar char="q"/>
            </a:pPr>
            <a:r>
              <a:rPr lang="en-US" altLang="en-US" sz="2200" dirty="0">
                <a:solidFill>
                  <a:srgbClr val="000000"/>
                </a:solidFill>
              </a:rPr>
              <a:t>Scan DB once, find single item frequent pattern: </a:t>
            </a:r>
          </a:p>
          <a:p>
            <a:pPr eaLnBrk="1" hangingPunct="1">
              <a:spcBef>
                <a:spcPts val="600"/>
              </a:spcBef>
              <a:buClr>
                <a:srgbClr val="0070C0"/>
              </a:buClr>
              <a:buSzPct val="90000"/>
              <a:buFont typeface="Wingdings" panose="05000000000000000000" pitchFamily="2" charset="2"/>
              <a:buChar char="q"/>
            </a:pPr>
            <a:r>
              <a:rPr lang="en-US" altLang="en-US" sz="2200" dirty="0">
                <a:solidFill>
                  <a:srgbClr val="000000"/>
                </a:solidFill>
              </a:rPr>
              <a:t>Sort frequent items in frequency descending order, f-list</a:t>
            </a:r>
          </a:p>
          <a:p>
            <a:pPr eaLnBrk="1" hangingPunct="1">
              <a:spcBef>
                <a:spcPts val="600"/>
              </a:spcBef>
              <a:buClr>
                <a:srgbClr val="0070C0"/>
              </a:buClr>
              <a:buSzPct val="90000"/>
              <a:buFont typeface="Wingdings" panose="05000000000000000000" pitchFamily="2" charset="2"/>
              <a:buChar char="q"/>
            </a:pPr>
            <a:r>
              <a:rPr lang="en-US" altLang="en-US" sz="2200" dirty="0">
                <a:solidFill>
                  <a:srgbClr val="000000"/>
                </a:solidFill>
              </a:rPr>
              <a:t>Scan DB again, use the ordered frequent </a:t>
            </a:r>
            <a:r>
              <a:rPr lang="en-US" altLang="en-US" sz="2200" dirty="0" err="1">
                <a:solidFill>
                  <a:srgbClr val="000000"/>
                </a:solidFill>
              </a:rPr>
              <a:t>itemlist</a:t>
            </a:r>
            <a:r>
              <a:rPr lang="en-US" altLang="en-US" sz="2200" dirty="0">
                <a:solidFill>
                  <a:srgbClr val="000000"/>
                </a:solidFill>
              </a:rPr>
              <a:t> for each transaction to construct an FP-tree</a:t>
            </a:r>
          </a:p>
        </p:txBody>
      </p:sp>
      <p:sp>
        <p:nvSpPr>
          <p:cNvPr id="27689" name="Text Box 42"/>
          <p:cNvSpPr txBox="1">
            <a:spLocks noChangeArrowheads="1"/>
          </p:cNvSpPr>
          <p:nvPr/>
        </p:nvSpPr>
        <p:spPr bwMode="auto">
          <a:xfrm>
            <a:off x="7722045" y="3853811"/>
            <a:ext cx="2294282" cy="430887"/>
          </a:xfrm>
          <a:prstGeom prst="rect">
            <a:avLst/>
          </a:prstGeom>
          <a:solidFill>
            <a:srgbClr val="CCFFCC"/>
          </a:solidFill>
          <a:ln>
            <a:noFill/>
          </a:ln>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2200" dirty="0">
                <a:solidFill>
                  <a:srgbClr val="0000CC"/>
                </a:solidFill>
              </a:rPr>
              <a:t>F-list </a:t>
            </a:r>
            <a:r>
              <a:rPr lang="en-US" altLang="en-US" sz="2200" dirty="0">
                <a:solidFill>
                  <a:srgbClr val="000000"/>
                </a:solidFill>
              </a:rPr>
              <a:t>= f-c-a-b-m-p</a:t>
            </a:r>
          </a:p>
        </p:txBody>
      </p:sp>
      <p:graphicFrame>
        <p:nvGraphicFramePr>
          <p:cNvPr id="2" name="Table 1"/>
          <p:cNvGraphicFramePr>
            <a:graphicFrameLocks noGrp="1"/>
          </p:cNvGraphicFramePr>
          <p:nvPr>
            <p:extLst>
              <p:ext uri="{D42A27DB-BD31-4B8C-83A1-F6EECF244321}">
                <p14:modId xmlns:p14="http://schemas.microsoft.com/office/powerpoint/2010/main" val="4219485661"/>
              </p:ext>
            </p:extLst>
          </p:nvPr>
        </p:nvGraphicFramePr>
        <p:xfrm>
          <a:off x="5443131" y="1182572"/>
          <a:ext cx="5417829" cy="2070887"/>
        </p:xfrm>
        <a:graphic>
          <a:graphicData uri="http://schemas.openxmlformats.org/drawingml/2006/table">
            <a:tbl>
              <a:tblPr firstRow="1" bandRow="1">
                <a:tableStyleId>{5C22544A-7EE6-4342-B048-85BDC9FD1C3A}</a:tableStyleId>
              </a:tblPr>
              <a:tblGrid>
                <a:gridCol w="1213913">
                  <a:extLst>
                    <a:ext uri="{9D8B030D-6E8A-4147-A177-3AD203B41FA5}">
                      <a16:colId xmlns:a16="http://schemas.microsoft.com/office/drawing/2014/main" val="20000"/>
                    </a:ext>
                  </a:extLst>
                </a:gridCol>
                <a:gridCol w="4203916">
                  <a:extLst>
                    <a:ext uri="{9D8B030D-6E8A-4147-A177-3AD203B41FA5}">
                      <a16:colId xmlns:a16="http://schemas.microsoft.com/office/drawing/2014/main" val="20001"/>
                    </a:ext>
                  </a:extLst>
                </a:gridCol>
              </a:tblGrid>
              <a:tr h="420910">
                <a:tc>
                  <a:txBody>
                    <a:bodyPr/>
                    <a:lstStyle/>
                    <a:p>
                      <a:pPr algn="ctr"/>
                      <a:r>
                        <a:rPr lang="en-US" sz="2000" dirty="0">
                          <a:solidFill>
                            <a:schemeClr val="tx1"/>
                          </a:solidFill>
                          <a:latin typeface="Calibri" panose="020F0502020204030204" pitchFamily="34" charset="0"/>
                        </a:rPr>
                        <a:t>TID</a:t>
                      </a:r>
                    </a:p>
                  </a:txBody>
                  <a:tcPr marL="121920" marR="121920" marT="40796" marB="40796"/>
                </a:tc>
                <a:tc>
                  <a:txBody>
                    <a:bodyPr/>
                    <a:lstStyle/>
                    <a:p>
                      <a:pPr algn="ctr"/>
                      <a:r>
                        <a:rPr lang="en-US" sz="2000" dirty="0">
                          <a:solidFill>
                            <a:schemeClr val="tx1"/>
                          </a:solidFill>
                          <a:latin typeface="Calibri" panose="020F0502020204030204" pitchFamily="34" charset="0"/>
                        </a:rPr>
                        <a:t>Items in the Transaction</a:t>
                      </a:r>
                    </a:p>
                  </a:txBody>
                  <a:tcPr marL="121920" marR="121920" marT="40796" marB="40796"/>
                </a:tc>
                <a:extLst>
                  <a:ext uri="{0D108BD9-81ED-4DB2-BD59-A6C34878D82A}">
                    <a16:rowId xmlns:a16="http://schemas.microsoft.com/office/drawing/2014/main" val="10000"/>
                  </a:ext>
                </a:extLst>
              </a:tr>
              <a:tr h="330902">
                <a:tc>
                  <a:txBody>
                    <a:bodyPr/>
                    <a:lstStyle/>
                    <a:p>
                      <a:pPr algn="ctr"/>
                      <a:r>
                        <a:rPr lang="en-US" sz="1600" dirty="0">
                          <a:solidFill>
                            <a:schemeClr val="tx1"/>
                          </a:solidFill>
                          <a:latin typeface="Calibri" panose="020F0502020204030204" pitchFamily="34" charset="0"/>
                        </a:rPr>
                        <a:t>100</a:t>
                      </a:r>
                    </a:p>
                  </a:txBody>
                  <a:tcPr marL="121920" marR="121920" marT="40796" marB="40796"/>
                </a:tc>
                <a:tc>
                  <a:txBody>
                    <a:bodyPr/>
                    <a:lstStyle/>
                    <a:p>
                      <a:pPr algn="ctr"/>
                      <a:r>
                        <a:rPr lang="en-US" altLang="en-US" sz="1600" b="1" dirty="0">
                          <a:latin typeface="Times New Roman" pitchFamily="18" charset="0"/>
                        </a:rPr>
                        <a:t>{</a:t>
                      </a:r>
                      <a:r>
                        <a:rPr lang="en-US" altLang="en-US" sz="1600" b="1" i="1" dirty="0">
                          <a:latin typeface="Times New Roman" pitchFamily="18" charset="0"/>
                        </a:rPr>
                        <a:t>f, a, c, d, g, </a:t>
                      </a:r>
                      <a:r>
                        <a:rPr lang="en-US" altLang="en-US" sz="1600" b="1" i="1" dirty="0" err="1">
                          <a:latin typeface="Times New Roman" pitchFamily="18" charset="0"/>
                        </a:rPr>
                        <a:t>i</a:t>
                      </a:r>
                      <a:r>
                        <a:rPr lang="en-US" altLang="en-US" sz="1600" b="1" i="1" dirty="0">
                          <a:latin typeface="Times New Roman" pitchFamily="18" charset="0"/>
                        </a:rPr>
                        <a:t>, m, p</a:t>
                      </a:r>
                      <a:r>
                        <a:rPr lang="en-US" altLang="en-US" sz="1600" b="1" dirty="0">
                          <a:latin typeface="Times New Roman" pitchFamily="18" charset="0"/>
                        </a:rPr>
                        <a:t>}</a:t>
                      </a:r>
                      <a:endParaRPr lang="en-US" sz="1600" dirty="0">
                        <a:solidFill>
                          <a:schemeClr val="tx1"/>
                        </a:solidFill>
                        <a:latin typeface="Calibri" panose="020F0502020204030204" pitchFamily="34" charset="0"/>
                      </a:endParaRPr>
                    </a:p>
                  </a:txBody>
                  <a:tcPr marL="121920" marR="121920" marT="40796" marB="40796"/>
                </a:tc>
                <a:extLst>
                  <a:ext uri="{0D108BD9-81ED-4DB2-BD59-A6C34878D82A}">
                    <a16:rowId xmlns:a16="http://schemas.microsoft.com/office/drawing/2014/main" val="10001"/>
                  </a:ext>
                </a:extLst>
              </a:tr>
              <a:tr h="330902">
                <a:tc>
                  <a:txBody>
                    <a:bodyPr/>
                    <a:lstStyle/>
                    <a:p>
                      <a:pPr algn="ctr"/>
                      <a:r>
                        <a:rPr lang="en-US" sz="1600" dirty="0">
                          <a:solidFill>
                            <a:schemeClr val="tx1"/>
                          </a:solidFill>
                          <a:latin typeface="Calibri" panose="020F0502020204030204" pitchFamily="34" charset="0"/>
                        </a:rPr>
                        <a:t>200</a:t>
                      </a:r>
                    </a:p>
                  </a:txBody>
                  <a:tcPr marL="121920" marR="121920" marT="40796" marB="40796"/>
                </a:tc>
                <a:tc>
                  <a:txBody>
                    <a:bodyPr/>
                    <a:lstStyle/>
                    <a:p>
                      <a:pPr algn="ctr"/>
                      <a:r>
                        <a:rPr lang="en-US" altLang="en-US" sz="1600" b="1" dirty="0">
                          <a:latin typeface="Times New Roman" pitchFamily="18" charset="0"/>
                        </a:rPr>
                        <a:t>{</a:t>
                      </a:r>
                      <a:r>
                        <a:rPr lang="en-US" altLang="en-US" sz="1600" b="1" i="1" dirty="0">
                          <a:latin typeface="Times New Roman" pitchFamily="18" charset="0"/>
                        </a:rPr>
                        <a:t>a, b, c, f, l, m, o</a:t>
                      </a:r>
                      <a:r>
                        <a:rPr lang="en-US" altLang="en-US" sz="1600" b="1" dirty="0">
                          <a:latin typeface="Times New Roman" pitchFamily="18" charset="0"/>
                        </a:rPr>
                        <a:t>}</a:t>
                      </a:r>
                      <a:r>
                        <a:rPr lang="en-US" altLang="en-US" sz="1600" b="1" i="1" dirty="0">
                          <a:latin typeface="Times New Roman" pitchFamily="18" charset="0"/>
                        </a:rPr>
                        <a:t>	</a:t>
                      </a:r>
                      <a:endParaRPr lang="en-US" sz="1600" dirty="0">
                        <a:solidFill>
                          <a:schemeClr val="tx1"/>
                        </a:solidFill>
                        <a:latin typeface="Calibri" panose="020F0502020204030204" pitchFamily="34" charset="0"/>
                      </a:endParaRPr>
                    </a:p>
                  </a:txBody>
                  <a:tcPr marL="121920" marR="121920" marT="40796" marB="40796"/>
                </a:tc>
                <a:extLst>
                  <a:ext uri="{0D108BD9-81ED-4DB2-BD59-A6C34878D82A}">
                    <a16:rowId xmlns:a16="http://schemas.microsoft.com/office/drawing/2014/main" val="10002"/>
                  </a:ext>
                </a:extLst>
              </a:tr>
              <a:tr h="330902">
                <a:tc>
                  <a:txBody>
                    <a:bodyPr/>
                    <a:lstStyle/>
                    <a:p>
                      <a:pPr algn="ctr"/>
                      <a:r>
                        <a:rPr lang="en-US" sz="1600" dirty="0">
                          <a:solidFill>
                            <a:schemeClr val="tx1"/>
                          </a:solidFill>
                          <a:latin typeface="Calibri" panose="020F0502020204030204" pitchFamily="34" charset="0"/>
                        </a:rPr>
                        <a:t>300</a:t>
                      </a:r>
                    </a:p>
                  </a:txBody>
                  <a:tcPr marL="121920" marR="121920" marT="40796" marB="40796"/>
                </a:tc>
                <a:tc>
                  <a:txBody>
                    <a:bodyPr/>
                    <a:lstStyle/>
                    <a:p>
                      <a:pPr algn="ctr"/>
                      <a:r>
                        <a:rPr lang="en-US" altLang="en-US" sz="1600" b="1" dirty="0">
                          <a:latin typeface="Times New Roman" pitchFamily="18" charset="0"/>
                        </a:rPr>
                        <a:t>{</a:t>
                      </a:r>
                      <a:r>
                        <a:rPr lang="en-US" altLang="en-US" sz="1600" b="1" i="1" dirty="0">
                          <a:latin typeface="Times New Roman" pitchFamily="18" charset="0"/>
                        </a:rPr>
                        <a:t>b, f, h, j, o, w</a:t>
                      </a:r>
                      <a:r>
                        <a:rPr lang="en-US" altLang="en-US" sz="1600" b="1" dirty="0">
                          <a:latin typeface="Times New Roman" pitchFamily="18" charset="0"/>
                        </a:rPr>
                        <a:t>}</a:t>
                      </a:r>
                      <a:endParaRPr lang="en-US" sz="1600" dirty="0">
                        <a:solidFill>
                          <a:schemeClr val="tx1"/>
                        </a:solidFill>
                        <a:latin typeface="Calibri" panose="020F0502020204030204" pitchFamily="34" charset="0"/>
                      </a:endParaRPr>
                    </a:p>
                  </a:txBody>
                  <a:tcPr marL="121920" marR="121920" marT="40796" marB="40796"/>
                </a:tc>
                <a:extLst>
                  <a:ext uri="{0D108BD9-81ED-4DB2-BD59-A6C34878D82A}">
                    <a16:rowId xmlns:a16="http://schemas.microsoft.com/office/drawing/2014/main" val="10003"/>
                  </a:ext>
                </a:extLst>
              </a:tr>
              <a:tr h="330902">
                <a:tc>
                  <a:txBody>
                    <a:bodyPr/>
                    <a:lstStyle/>
                    <a:p>
                      <a:pPr algn="ctr"/>
                      <a:r>
                        <a:rPr lang="en-US" sz="1600" dirty="0">
                          <a:solidFill>
                            <a:schemeClr val="tx1"/>
                          </a:solidFill>
                          <a:latin typeface="Calibri" panose="020F0502020204030204" pitchFamily="34" charset="0"/>
                        </a:rPr>
                        <a:t>400</a:t>
                      </a:r>
                    </a:p>
                  </a:txBody>
                  <a:tcPr marL="121920" marR="121920" marT="40796" marB="40796"/>
                </a:tc>
                <a:tc>
                  <a:txBody>
                    <a:bodyPr/>
                    <a:lstStyle/>
                    <a:p>
                      <a:pPr algn="ctr"/>
                      <a:r>
                        <a:rPr lang="en-US" altLang="en-US" sz="1600" b="1" dirty="0">
                          <a:latin typeface="Times New Roman" pitchFamily="18" charset="0"/>
                        </a:rPr>
                        <a:t>{</a:t>
                      </a:r>
                      <a:r>
                        <a:rPr lang="en-US" altLang="en-US" sz="1600" b="1" i="1" dirty="0">
                          <a:latin typeface="Times New Roman" pitchFamily="18" charset="0"/>
                        </a:rPr>
                        <a:t>b, c, k, s, p</a:t>
                      </a:r>
                      <a:r>
                        <a:rPr lang="en-US" altLang="en-US" sz="1600" b="1" dirty="0">
                          <a:latin typeface="Times New Roman" pitchFamily="18" charset="0"/>
                        </a:rPr>
                        <a:t>}</a:t>
                      </a:r>
                      <a:endParaRPr lang="en-US" sz="1600" dirty="0">
                        <a:solidFill>
                          <a:schemeClr val="tx1"/>
                        </a:solidFill>
                        <a:latin typeface="Calibri" panose="020F0502020204030204" pitchFamily="34" charset="0"/>
                      </a:endParaRPr>
                    </a:p>
                  </a:txBody>
                  <a:tcPr marL="121920" marR="121920" marT="40796" marB="40796"/>
                </a:tc>
                <a:extLst>
                  <a:ext uri="{0D108BD9-81ED-4DB2-BD59-A6C34878D82A}">
                    <a16:rowId xmlns:a16="http://schemas.microsoft.com/office/drawing/2014/main" val="10004"/>
                  </a:ext>
                </a:extLst>
              </a:tr>
              <a:tr h="326369">
                <a:tc>
                  <a:txBody>
                    <a:bodyPr/>
                    <a:lstStyle/>
                    <a:p>
                      <a:pPr algn="ctr"/>
                      <a:r>
                        <a:rPr lang="en-US" sz="1600" dirty="0">
                          <a:solidFill>
                            <a:schemeClr val="tx1"/>
                          </a:solidFill>
                          <a:latin typeface="Calibri" panose="020F0502020204030204" pitchFamily="34" charset="0"/>
                        </a:rPr>
                        <a:t>500</a:t>
                      </a:r>
                    </a:p>
                  </a:txBody>
                  <a:tcPr marL="121920" marR="121920" marT="40796" marB="40796"/>
                </a:tc>
                <a:tc>
                  <a:txBody>
                    <a:bodyPr/>
                    <a:lstStyle/>
                    <a:p>
                      <a:pPr algn="ctr"/>
                      <a:r>
                        <a:rPr lang="en-US" altLang="en-US" sz="1600" b="1" dirty="0">
                          <a:latin typeface="Times New Roman" pitchFamily="18" charset="0"/>
                        </a:rPr>
                        <a:t>{</a:t>
                      </a:r>
                      <a:r>
                        <a:rPr lang="en-US" altLang="en-US" sz="1600" b="1" i="1" dirty="0">
                          <a:latin typeface="Times New Roman" pitchFamily="18" charset="0"/>
                        </a:rPr>
                        <a:t>a, f, c, e, l, p, m, n</a:t>
                      </a:r>
                      <a:r>
                        <a:rPr lang="en-US" altLang="en-US" sz="1600" b="1" dirty="0">
                          <a:latin typeface="Times New Roman" pitchFamily="18" charset="0"/>
                        </a:rPr>
                        <a:t>}</a:t>
                      </a:r>
                      <a:endParaRPr lang="en-US" sz="1600" dirty="0">
                        <a:solidFill>
                          <a:schemeClr val="tx1"/>
                        </a:solidFill>
                        <a:latin typeface="Calibri" panose="020F0502020204030204" pitchFamily="34" charset="0"/>
                      </a:endParaRPr>
                    </a:p>
                  </a:txBody>
                  <a:tcPr marL="121920" marR="121920" marT="40796" marB="40796"/>
                </a:tc>
                <a:extLst>
                  <a:ext uri="{0D108BD9-81ED-4DB2-BD59-A6C34878D82A}">
                    <a16:rowId xmlns:a16="http://schemas.microsoft.com/office/drawing/2014/main" val="10005"/>
                  </a:ext>
                </a:extLst>
              </a:tr>
            </a:tbl>
          </a:graphicData>
        </a:graphic>
      </p:graphicFrame>
      <p:sp>
        <p:nvSpPr>
          <p:cNvPr id="27720" name="Text Box 42"/>
          <p:cNvSpPr txBox="1">
            <a:spLocks noChangeArrowheads="1"/>
          </p:cNvSpPr>
          <p:nvPr/>
        </p:nvSpPr>
        <p:spPr bwMode="auto">
          <a:xfrm>
            <a:off x="6916799" y="3389098"/>
            <a:ext cx="3026791" cy="430887"/>
          </a:xfrm>
          <a:prstGeom prst="rect">
            <a:avLst/>
          </a:prstGeom>
          <a:solidFill>
            <a:srgbClr val="CCFFCC"/>
          </a:solidFill>
          <a:ln>
            <a:noFill/>
          </a:ln>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r>
              <a:rPr lang="en-US" altLang="en-US" sz="2200" dirty="0">
                <a:solidFill>
                  <a:srgbClr val="000000"/>
                </a:solidFill>
              </a:rPr>
              <a:t>f:4, a:3, c:4, b:3, m:3, p:3</a:t>
            </a:r>
          </a:p>
        </p:txBody>
      </p:sp>
      <p:sp>
        <p:nvSpPr>
          <p:cNvPr id="27687" name="Text Box 39"/>
          <p:cNvSpPr txBox="1">
            <a:spLocks noChangeArrowheads="1"/>
          </p:cNvSpPr>
          <p:nvPr/>
        </p:nvSpPr>
        <p:spPr bwMode="auto">
          <a:xfrm>
            <a:off x="1643458" y="2976460"/>
            <a:ext cx="2300270" cy="27699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lnSpc>
                <a:spcPct val="60000"/>
              </a:lnSpc>
              <a:spcBef>
                <a:spcPct val="50000"/>
              </a:spcBef>
              <a:buClrTx/>
              <a:buSzTx/>
              <a:buFontTx/>
              <a:buNone/>
            </a:pPr>
            <a:r>
              <a:rPr lang="en-US" altLang="en-US" sz="2000" b="1" dirty="0">
                <a:solidFill>
                  <a:srgbClr val="000000"/>
                </a:solidFill>
              </a:rPr>
              <a:t>Let </a:t>
            </a:r>
            <a:r>
              <a:rPr lang="en-US" altLang="en-US" sz="2000" b="1" dirty="0" err="1">
                <a:solidFill>
                  <a:srgbClr val="000000"/>
                </a:solidFill>
              </a:rPr>
              <a:t>min_support</a:t>
            </a:r>
            <a:r>
              <a:rPr lang="en-US" altLang="en-US" sz="2000" b="1" dirty="0">
                <a:solidFill>
                  <a:srgbClr val="000000"/>
                </a:solidFill>
              </a:rPr>
              <a:t> = 3</a:t>
            </a:r>
            <a:endParaRPr lang="en-US" altLang="en-US" b="1" u="sng" dirty="0">
              <a:solidFill>
                <a:srgbClr val="000000"/>
              </a:solidFill>
            </a:endParaRPr>
          </a:p>
        </p:txBody>
      </p:sp>
      <p:sp>
        <p:nvSpPr>
          <p:cNvPr id="3" name="TextBox 2">
            <a:extLst>
              <a:ext uri="{FF2B5EF4-FFF2-40B4-BE49-F238E27FC236}">
                <a16:creationId xmlns:a16="http://schemas.microsoft.com/office/drawing/2014/main" id="{8488E77A-272D-3B13-9497-2E96B4E774ED}"/>
              </a:ext>
            </a:extLst>
          </p:cNvPr>
          <p:cNvSpPr txBox="1"/>
          <p:nvPr/>
        </p:nvSpPr>
        <p:spPr>
          <a:xfrm>
            <a:off x="562777" y="1182572"/>
            <a:ext cx="4665518" cy="400110"/>
          </a:xfrm>
          <a:prstGeom prst="rect">
            <a:avLst/>
          </a:prstGeom>
          <a:solidFill>
            <a:srgbClr val="CCFFCC"/>
          </a:solidFill>
        </p:spPr>
        <p:txBody>
          <a:bodyPr wrap="square" rtlCol="0">
            <a:spAutoFit/>
          </a:bodyPr>
          <a:lstStyle/>
          <a:p>
            <a:r>
              <a:rPr lang="en-US" altLang="en-US" sz="2000" dirty="0"/>
              <a:t>Example: A Sample Transactional Database</a:t>
            </a:r>
            <a:endParaRPr lang="en-US" dirty="0"/>
          </a:p>
        </p:txBody>
      </p:sp>
      <p:graphicFrame>
        <p:nvGraphicFramePr>
          <p:cNvPr id="4" name="Table 3">
            <a:extLst>
              <a:ext uri="{FF2B5EF4-FFF2-40B4-BE49-F238E27FC236}">
                <a16:creationId xmlns:a16="http://schemas.microsoft.com/office/drawing/2014/main" id="{E812C1BD-98EF-C479-8CC0-CA4F5C7A7AF8}"/>
              </a:ext>
            </a:extLst>
          </p:cNvPr>
          <p:cNvGraphicFramePr>
            <a:graphicFrameLocks noGrp="1"/>
          </p:cNvGraphicFramePr>
          <p:nvPr>
            <p:extLst>
              <p:ext uri="{D42A27DB-BD31-4B8C-83A1-F6EECF244321}">
                <p14:modId xmlns:p14="http://schemas.microsoft.com/office/powerpoint/2010/main" val="742043193"/>
              </p:ext>
            </p:extLst>
          </p:nvPr>
        </p:nvGraphicFramePr>
        <p:xfrm>
          <a:off x="3200145" y="4709509"/>
          <a:ext cx="7144837" cy="2070887"/>
        </p:xfrm>
        <a:graphic>
          <a:graphicData uri="http://schemas.openxmlformats.org/drawingml/2006/table">
            <a:tbl>
              <a:tblPr firstRow="1" bandRow="1">
                <a:tableStyleId>{5C22544A-7EE6-4342-B048-85BDC9FD1C3A}</a:tableStyleId>
              </a:tblPr>
              <a:tblGrid>
                <a:gridCol w="853331">
                  <a:extLst>
                    <a:ext uri="{9D8B030D-6E8A-4147-A177-3AD203B41FA5}">
                      <a16:colId xmlns:a16="http://schemas.microsoft.com/office/drawing/2014/main" val="20000"/>
                    </a:ext>
                  </a:extLst>
                </a:gridCol>
                <a:gridCol w="2955182">
                  <a:extLst>
                    <a:ext uri="{9D8B030D-6E8A-4147-A177-3AD203B41FA5}">
                      <a16:colId xmlns:a16="http://schemas.microsoft.com/office/drawing/2014/main" val="20001"/>
                    </a:ext>
                  </a:extLst>
                </a:gridCol>
                <a:gridCol w="3336324">
                  <a:extLst>
                    <a:ext uri="{9D8B030D-6E8A-4147-A177-3AD203B41FA5}">
                      <a16:colId xmlns:a16="http://schemas.microsoft.com/office/drawing/2014/main" val="20002"/>
                    </a:ext>
                  </a:extLst>
                </a:gridCol>
              </a:tblGrid>
              <a:tr h="420910">
                <a:tc>
                  <a:txBody>
                    <a:bodyPr/>
                    <a:lstStyle/>
                    <a:p>
                      <a:pPr algn="ctr"/>
                      <a:r>
                        <a:rPr lang="en-US" sz="2000" dirty="0">
                          <a:solidFill>
                            <a:schemeClr val="tx1"/>
                          </a:solidFill>
                          <a:latin typeface="Calibri" panose="020F0502020204030204" pitchFamily="34" charset="0"/>
                        </a:rPr>
                        <a:t>TID</a:t>
                      </a:r>
                    </a:p>
                  </a:txBody>
                  <a:tcPr marL="121920" marR="121920" marT="40796" marB="40796"/>
                </a:tc>
                <a:tc>
                  <a:txBody>
                    <a:bodyPr/>
                    <a:lstStyle/>
                    <a:p>
                      <a:pPr algn="ctr"/>
                      <a:r>
                        <a:rPr lang="en-US" sz="2000" dirty="0">
                          <a:solidFill>
                            <a:schemeClr val="tx1"/>
                          </a:solidFill>
                          <a:latin typeface="Calibri" panose="020F0502020204030204" pitchFamily="34" charset="0"/>
                        </a:rPr>
                        <a:t>Items in the Transaction</a:t>
                      </a:r>
                    </a:p>
                  </a:txBody>
                  <a:tcPr marL="121920" marR="121920" marT="40796" marB="40796"/>
                </a:tc>
                <a:tc>
                  <a:txBody>
                    <a:bodyPr/>
                    <a:lstStyle/>
                    <a:p>
                      <a:pPr algn="ctr"/>
                      <a:r>
                        <a:rPr lang="en-US" sz="2000" dirty="0">
                          <a:solidFill>
                            <a:schemeClr val="tx1"/>
                          </a:solidFill>
                          <a:latin typeface="Calibri" panose="020F0502020204030204" pitchFamily="34" charset="0"/>
                        </a:rPr>
                        <a:t>Ordered,</a:t>
                      </a:r>
                      <a:r>
                        <a:rPr lang="en-US" sz="2000" baseline="0" dirty="0">
                          <a:solidFill>
                            <a:schemeClr val="tx1"/>
                          </a:solidFill>
                          <a:latin typeface="Calibri" panose="020F0502020204030204" pitchFamily="34" charset="0"/>
                        </a:rPr>
                        <a:t> frequent </a:t>
                      </a:r>
                      <a:r>
                        <a:rPr lang="en-US" sz="2000" baseline="0" dirty="0" err="1">
                          <a:solidFill>
                            <a:schemeClr val="tx1"/>
                          </a:solidFill>
                          <a:latin typeface="Calibri" panose="020F0502020204030204" pitchFamily="34" charset="0"/>
                        </a:rPr>
                        <a:t>itemlist</a:t>
                      </a:r>
                      <a:endParaRPr lang="en-US" sz="2000" dirty="0">
                        <a:solidFill>
                          <a:schemeClr val="tx1"/>
                        </a:solidFill>
                        <a:latin typeface="Calibri" panose="020F0502020204030204" pitchFamily="34" charset="0"/>
                      </a:endParaRPr>
                    </a:p>
                  </a:txBody>
                  <a:tcPr marL="121920" marR="121920" marT="40796" marB="40796"/>
                </a:tc>
                <a:extLst>
                  <a:ext uri="{0D108BD9-81ED-4DB2-BD59-A6C34878D82A}">
                    <a16:rowId xmlns:a16="http://schemas.microsoft.com/office/drawing/2014/main" val="10000"/>
                  </a:ext>
                </a:extLst>
              </a:tr>
              <a:tr h="330902">
                <a:tc>
                  <a:txBody>
                    <a:bodyPr/>
                    <a:lstStyle/>
                    <a:p>
                      <a:pPr algn="ctr"/>
                      <a:r>
                        <a:rPr lang="en-US" sz="1600" dirty="0">
                          <a:solidFill>
                            <a:schemeClr val="tx1"/>
                          </a:solidFill>
                          <a:latin typeface="Calibri" panose="020F0502020204030204" pitchFamily="34" charset="0"/>
                        </a:rPr>
                        <a:t>100</a:t>
                      </a:r>
                    </a:p>
                  </a:txBody>
                  <a:tcPr marL="121920" marR="121920" marT="40796" marB="40796"/>
                </a:tc>
                <a:tc>
                  <a:txBody>
                    <a:bodyPr/>
                    <a:lstStyle/>
                    <a:p>
                      <a:pPr algn="ctr"/>
                      <a:r>
                        <a:rPr lang="en-US" altLang="en-US" sz="1600" b="1" dirty="0">
                          <a:latin typeface="Times New Roman" pitchFamily="18" charset="0"/>
                        </a:rPr>
                        <a:t>{</a:t>
                      </a:r>
                      <a:r>
                        <a:rPr lang="en-US" altLang="en-US" sz="1600" b="1" i="1" dirty="0">
                          <a:latin typeface="Times New Roman" pitchFamily="18" charset="0"/>
                        </a:rPr>
                        <a:t>f, a, c, d, g, </a:t>
                      </a:r>
                      <a:r>
                        <a:rPr lang="en-US" altLang="en-US" sz="1600" b="1" i="1" dirty="0" err="1">
                          <a:latin typeface="Times New Roman" pitchFamily="18" charset="0"/>
                        </a:rPr>
                        <a:t>i</a:t>
                      </a:r>
                      <a:r>
                        <a:rPr lang="en-US" altLang="en-US" sz="1600" b="1" i="1" dirty="0">
                          <a:latin typeface="Times New Roman" pitchFamily="18" charset="0"/>
                        </a:rPr>
                        <a:t>, m, p</a:t>
                      </a:r>
                      <a:r>
                        <a:rPr lang="en-US" altLang="en-US" sz="1600" b="1" dirty="0">
                          <a:latin typeface="Times New Roman" pitchFamily="18" charset="0"/>
                        </a:rPr>
                        <a:t>}</a:t>
                      </a:r>
                      <a:endParaRPr lang="en-US" sz="1600" dirty="0">
                        <a:solidFill>
                          <a:schemeClr val="tx1"/>
                        </a:solidFill>
                        <a:latin typeface="Calibri" panose="020F0502020204030204" pitchFamily="34" charset="0"/>
                      </a:endParaRPr>
                    </a:p>
                  </a:txBody>
                  <a:tcPr marL="121920" marR="121920" marT="40796" marB="4079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600" b="1" i="1" dirty="0">
                          <a:latin typeface="Times New Roman" pitchFamily="18" charset="0"/>
                        </a:rPr>
                        <a:t>f, c, a, m, p</a:t>
                      </a:r>
                      <a:endParaRPr lang="en-US" altLang="en-US" sz="1600" b="1" dirty="0">
                        <a:latin typeface="Times New Roman" pitchFamily="18" charset="0"/>
                      </a:endParaRPr>
                    </a:p>
                  </a:txBody>
                  <a:tcPr marL="121920" marR="121920" marT="40796" marB="40796"/>
                </a:tc>
                <a:extLst>
                  <a:ext uri="{0D108BD9-81ED-4DB2-BD59-A6C34878D82A}">
                    <a16:rowId xmlns:a16="http://schemas.microsoft.com/office/drawing/2014/main" val="10001"/>
                  </a:ext>
                </a:extLst>
              </a:tr>
              <a:tr h="330902">
                <a:tc>
                  <a:txBody>
                    <a:bodyPr/>
                    <a:lstStyle/>
                    <a:p>
                      <a:pPr algn="ctr"/>
                      <a:r>
                        <a:rPr lang="en-US" sz="1600" dirty="0">
                          <a:solidFill>
                            <a:schemeClr val="tx1"/>
                          </a:solidFill>
                          <a:latin typeface="Calibri" panose="020F0502020204030204" pitchFamily="34" charset="0"/>
                        </a:rPr>
                        <a:t>200</a:t>
                      </a:r>
                    </a:p>
                  </a:txBody>
                  <a:tcPr marL="121920" marR="121920" marT="40796" marB="40796"/>
                </a:tc>
                <a:tc>
                  <a:txBody>
                    <a:bodyPr/>
                    <a:lstStyle/>
                    <a:p>
                      <a:pPr algn="ctr"/>
                      <a:r>
                        <a:rPr lang="en-US" altLang="en-US" sz="1600" b="1" dirty="0">
                          <a:latin typeface="Times New Roman" pitchFamily="18" charset="0"/>
                        </a:rPr>
                        <a:t>{</a:t>
                      </a:r>
                      <a:r>
                        <a:rPr lang="en-US" altLang="en-US" sz="1600" b="1" i="1" dirty="0">
                          <a:latin typeface="Times New Roman" pitchFamily="18" charset="0"/>
                        </a:rPr>
                        <a:t>a, b, c, f, l, m, o</a:t>
                      </a:r>
                      <a:r>
                        <a:rPr lang="en-US" altLang="en-US" sz="1600" b="1" dirty="0">
                          <a:latin typeface="Times New Roman" pitchFamily="18" charset="0"/>
                        </a:rPr>
                        <a:t>}</a:t>
                      </a:r>
                      <a:r>
                        <a:rPr lang="en-US" altLang="en-US" sz="1600" b="1" i="1" dirty="0">
                          <a:latin typeface="Times New Roman" pitchFamily="18" charset="0"/>
                        </a:rPr>
                        <a:t>	</a:t>
                      </a:r>
                      <a:endParaRPr lang="en-US" sz="1600" dirty="0">
                        <a:solidFill>
                          <a:schemeClr val="tx1"/>
                        </a:solidFill>
                        <a:latin typeface="Calibri" panose="020F0502020204030204" pitchFamily="34" charset="0"/>
                      </a:endParaRPr>
                    </a:p>
                  </a:txBody>
                  <a:tcPr marL="121920" marR="121920" marT="40796" marB="40796"/>
                </a:tc>
                <a:tc>
                  <a:txBody>
                    <a:bodyPr/>
                    <a:lstStyle/>
                    <a:p>
                      <a:pPr algn="ctr"/>
                      <a:r>
                        <a:rPr lang="en-US" altLang="en-US" sz="1600" b="1" i="1" dirty="0">
                          <a:latin typeface="Times New Roman" pitchFamily="18" charset="0"/>
                        </a:rPr>
                        <a:t>f, c, a, b, m</a:t>
                      </a:r>
                      <a:endParaRPr lang="en-US" sz="1600" dirty="0">
                        <a:solidFill>
                          <a:schemeClr val="tx1"/>
                        </a:solidFill>
                        <a:latin typeface="Calibri" panose="020F0502020204030204" pitchFamily="34" charset="0"/>
                      </a:endParaRPr>
                    </a:p>
                  </a:txBody>
                  <a:tcPr marL="121920" marR="121920" marT="40796" marB="40796"/>
                </a:tc>
                <a:extLst>
                  <a:ext uri="{0D108BD9-81ED-4DB2-BD59-A6C34878D82A}">
                    <a16:rowId xmlns:a16="http://schemas.microsoft.com/office/drawing/2014/main" val="10002"/>
                  </a:ext>
                </a:extLst>
              </a:tr>
              <a:tr h="330902">
                <a:tc>
                  <a:txBody>
                    <a:bodyPr/>
                    <a:lstStyle/>
                    <a:p>
                      <a:pPr algn="ctr"/>
                      <a:r>
                        <a:rPr lang="en-US" sz="1600" dirty="0">
                          <a:solidFill>
                            <a:schemeClr val="tx1"/>
                          </a:solidFill>
                          <a:latin typeface="Calibri" panose="020F0502020204030204" pitchFamily="34" charset="0"/>
                        </a:rPr>
                        <a:t>300</a:t>
                      </a:r>
                    </a:p>
                  </a:txBody>
                  <a:tcPr marL="121920" marR="121920" marT="40796" marB="40796"/>
                </a:tc>
                <a:tc>
                  <a:txBody>
                    <a:bodyPr/>
                    <a:lstStyle/>
                    <a:p>
                      <a:pPr algn="ctr"/>
                      <a:r>
                        <a:rPr lang="en-US" altLang="en-US" sz="1600" b="1" dirty="0">
                          <a:latin typeface="Times New Roman" pitchFamily="18" charset="0"/>
                        </a:rPr>
                        <a:t>{</a:t>
                      </a:r>
                      <a:r>
                        <a:rPr lang="en-US" altLang="en-US" sz="1600" b="1" i="1" dirty="0">
                          <a:latin typeface="Times New Roman" pitchFamily="18" charset="0"/>
                        </a:rPr>
                        <a:t>b, f, h, j, o, w</a:t>
                      </a:r>
                      <a:r>
                        <a:rPr lang="en-US" altLang="en-US" sz="1600" b="1" dirty="0">
                          <a:latin typeface="Times New Roman" pitchFamily="18" charset="0"/>
                        </a:rPr>
                        <a:t>}</a:t>
                      </a:r>
                      <a:endParaRPr lang="en-US" sz="1600" dirty="0">
                        <a:solidFill>
                          <a:schemeClr val="tx1"/>
                        </a:solidFill>
                        <a:latin typeface="Calibri" panose="020F0502020204030204" pitchFamily="34" charset="0"/>
                      </a:endParaRPr>
                    </a:p>
                  </a:txBody>
                  <a:tcPr marL="121920" marR="121920" marT="40796" marB="4079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600" b="1" i="1" dirty="0">
                          <a:latin typeface="Times New Roman" pitchFamily="18" charset="0"/>
                        </a:rPr>
                        <a:t>f, b</a:t>
                      </a:r>
                      <a:endParaRPr lang="en-US" altLang="en-US" sz="1600" b="1" dirty="0">
                        <a:latin typeface="Times New Roman" pitchFamily="18" charset="0"/>
                      </a:endParaRPr>
                    </a:p>
                  </a:txBody>
                  <a:tcPr marL="121920" marR="121920" marT="40796" marB="40796"/>
                </a:tc>
                <a:extLst>
                  <a:ext uri="{0D108BD9-81ED-4DB2-BD59-A6C34878D82A}">
                    <a16:rowId xmlns:a16="http://schemas.microsoft.com/office/drawing/2014/main" val="10003"/>
                  </a:ext>
                </a:extLst>
              </a:tr>
              <a:tr h="330902">
                <a:tc>
                  <a:txBody>
                    <a:bodyPr/>
                    <a:lstStyle/>
                    <a:p>
                      <a:pPr algn="ctr"/>
                      <a:r>
                        <a:rPr lang="en-US" sz="1600" dirty="0">
                          <a:solidFill>
                            <a:schemeClr val="tx1"/>
                          </a:solidFill>
                          <a:latin typeface="Calibri" panose="020F0502020204030204" pitchFamily="34" charset="0"/>
                        </a:rPr>
                        <a:t>400</a:t>
                      </a:r>
                    </a:p>
                  </a:txBody>
                  <a:tcPr marL="121920" marR="121920" marT="40796" marB="40796"/>
                </a:tc>
                <a:tc>
                  <a:txBody>
                    <a:bodyPr/>
                    <a:lstStyle/>
                    <a:p>
                      <a:pPr algn="ctr"/>
                      <a:r>
                        <a:rPr lang="en-US" altLang="en-US" sz="1600" b="1" dirty="0">
                          <a:latin typeface="Times New Roman" pitchFamily="18" charset="0"/>
                        </a:rPr>
                        <a:t>{</a:t>
                      </a:r>
                      <a:r>
                        <a:rPr lang="en-US" altLang="en-US" sz="1600" b="1" i="1" dirty="0">
                          <a:latin typeface="Times New Roman" pitchFamily="18" charset="0"/>
                        </a:rPr>
                        <a:t>b, c, k, s, p</a:t>
                      </a:r>
                      <a:r>
                        <a:rPr lang="en-US" altLang="en-US" sz="1600" b="1" dirty="0">
                          <a:latin typeface="Times New Roman" pitchFamily="18" charset="0"/>
                        </a:rPr>
                        <a:t>}</a:t>
                      </a:r>
                      <a:endParaRPr lang="en-US" sz="1600" dirty="0">
                        <a:solidFill>
                          <a:schemeClr val="tx1"/>
                        </a:solidFill>
                        <a:latin typeface="Calibri" panose="020F0502020204030204" pitchFamily="34" charset="0"/>
                      </a:endParaRPr>
                    </a:p>
                  </a:txBody>
                  <a:tcPr marL="121920" marR="121920" marT="40796" marB="4079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600" b="1" i="1" dirty="0">
                          <a:latin typeface="Times New Roman" pitchFamily="18" charset="0"/>
                        </a:rPr>
                        <a:t>c, b, p</a:t>
                      </a:r>
                      <a:endParaRPr lang="en-US" altLang="en-US" sz="1600" b="1" dirty="0">
                        <a:latin typeface="Times New Roman" pitchFamily="18" charset="0"/>
                      </a:endParaRPr>
                    </a:p>
                  </a:txBody>
                  <a:tcPr marL="121920" marR="121920" marT="40796" marB="40796"/>
                </a:tc>
                <a:extLst>
                  <a:ext uri="{0D108BD9-81ED-4DB2-BD59-A6C34878D82A}">
                    <a16:rowId xmlns:a16="http://schemas.microsoft.com/office/drawing/2014/main" val="10004"/>
                  </a:ext>
                </a:extLst>
              </a:tr>
              <a:tr h="326369">
                <a:tc>
                  <a:txBody>
                    <a:bodyPr/>
                    <a:lstStyle/>
                    <a:p>
                      <a:pPr algn="ctr"/>
                      <a:r>
                        <a:rPr lang="en-US" sz="1600" dirty="0">
                          <a:solidFill>
                            <a:schemeClr val="tx1"/>
                          </a:solidFill>
                          <a:latin typeface="Calibri" panose="020F0502020204030204" pitchFamily="34" charset="0"/>
                        </a:rPr>
                        <a:t>500</a:t>
                      </a:r>
                    </a:p>
                  </a:txBody>
                  <a:tcPr marL="121920" marR="121920" marT="40796" marB="40796"/>
                </a:tc>
                <a:tc>
                  <a:txBody>
                    <a:bodyPr/>
                    <a:lstStyle/>
                    <a:p>
                      <a:pPr algn="ctr"/>
                      <a:r>
                        <a:rPr lang="en-US" altLang="en-US" sz="1600" b="1" dirty="0">
                          <a:latin typeface="Times New Roman" pitchFamily="18" charset="0"/>
                        </a:rPr>
                        <a:t>{</a:t>
                      </a:r>
                      <a:r>
                        <a:rPr lang="en-US" altLang="en-US" sz="1600" b="1" i="1" dirty="0">
                          <a:latin typeface="Times New Roman" pitchFamily="18" charset="0"/>
                        </a:rPr>
                        <a:t>a, f, c, e, l, p, m, n</a:t>
                      </a:r>
                      <a:r>
                        <a:rPr lang="en-US" altLang="en-US" sz="1600" b="1" dirty="0">
                          <a:latin typeface="Times New Roman" pitchFamily="18" charset="0"/>
                        </a:rPr>
                        <a:t>}</a:t>
                      </a:r>
                      <a:endParaRPr lang="en-US" sz="1600" dirty="0">
                        <a:solidFill>
                          <a:schemeClr val="tx1"/>
                        </a:solidFill>
                        <a:latin typeface="Calibri" panose="020F0502020204030204" pitchFamily="34" charset="0"/>
                      </a:endParaRPr>
                    </a:p>
                  </a:txBody>
                  <a:tcPr marL="121920" marR="121920" marT="40796" marB="4079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600" b="1" i="1" dirty="0">
                          <a:latin typeface="Times New Roman" pitchFamily="18" charset="0"/>
                        </a:rPr>
                        <a:t>f, c, a, m, p</a:t>
                      </a:r>
                      <a:endParaRPr lang="en-US" altLang="en-US" sz="1600" b="1" dirty="0">
                        <a:latin typeface="Times New Roman" pitchFamily="18" charset="0"/>
                      </a:endParaRPr>
                    </a:p>
                  </a:txBody>
                  <a:tcPr marL="121920" marR="121920" marT="40796" marB="40796"/>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0045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8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68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7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8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688">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68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89" grpId="0" animBg="1"/>
      <p:bldP spid="27720" grpId="0" animBg="1"/>
      <p:bldP spid="2768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9" name="Table 27658">
            <a:extLst>
              <a:ext uri="{FF2B5EF4-FFF2-40B4-BE49-F238E27FC236}">
                <a16:creationId xmlns:a16="http://schemas.microsoft.com/office/drawing/2014/main" id="{356A0F27-2A67-C222-CCC5-E8579602564F}"/>
              </a:ext>
            </a:extLst>
          </p:cNvPr>
          <p:cNvGraphicFramePr>
            <a:graphicFrameLocks noGrp="1"/>
          </p:cNvGraphicFramePr>
          <p:nvPr>
            <p:extLst>
              <p:ext uri="{D42A27DB-BD31-4B8C-83A1-F6EECF244321}">
                <p14:modId xmlns:p14="http://schemas.microsoft.com/office/powerpoint/2010/main" val="3332633200"/>
              </p:ext>
            </p:extLst>
          </p:nvPr>
        </p:nvGraphicFramePr>
        <p:xfrm>
          <a:off x="8633803" y="2987739"/>
          <a:ext cx="964210" cy="2495211"/>
        </p:xfrm>
        <a:graphic>
          <a:graphicData uri="http://schemas.openxmlformats.org/drawingml/2006/table">
            <a:tbl>
              <a:tblPr firstRow="1" bandRow="1">
                <a:tableStyleId>{21E4AEA4-8DFA-4A89-87EB-49C32662AFE0}</a:tableStyleId>
              </a:tblPr>
              <a:tblGrid>
                <a:gridCol w="494283">
                  <a:extLst>
                    <a:ext uri="{9D8B030D-6E8A-4147-A177-3AD203B41FA5}">
                      <a16:colId xmlns:a16="http://schemas.microsoft.com/office/drawing/2014/main" val="20000"/>
                    </a:ext>
                  </a:extLst>
                </a:gridCol>
                <a:gridCol w="469927">
                  <a:extLst>
                    <a:ext uri="{9D8B030D-6E8A-4147-A177-3AD203B41FA5}">
                      <a16:colId xmlns:a16="http://schemas.microsoft.com/office/drawing/2014/main" val="20002"/>
                    </a:ext>
                  </a:extLst>
                </a:gridCol>
              </a:tblGrid>
              <a:tr h="300651">
                <a:tc>
                  <a:txBody>
                    <a:bodyPr/>
                    <a:lstStyle/>
                    <a:p>
                      <a:pPr algn="ctr"/>
                      <a:r>
                        <a:rPr lang="en-US" sz="1100" dirty="0" err="1">
                          <a:solidFill>
                            <a:schemeClr val="tx1"/>
                          </a:solidFill>
                          <a:latin typeface="Calibri" panose="020F0502020204030204" pitchFamily="34" charset="0"/>
                        </a:rPr>
                        <a:t>Itm</a:t>
                      </a:r>
                      <a:endParaRPr lang="en-US" sz="1100" dirty="0">
                        <a:solidFill>
                          <a:schemeClr val="tx1"/>
                        </a:solidFill>
                        <a:latin typeface="Calibri" panose="020F0502020204030204" pitchFamily="34" charset="0"/>
                      </a:endParaRPr>
                    </a:p>
                  </a:txBody>
                  <a:tcPr marL="121939" marR="121939"/>
                </a:tc>
                <a:tc>
                  <a:txBody>
                    <a:bodyPr/>
                    <a:lstStyle/>
                    <a:p>
                      <a:r>
                        <a:rPr lang="en-US" sz="1100" dirty="0" err="1">
                          <a:solidFill>
                            <a:schemeClr val="tx1"/>
                          </a:solidFill>
                          <a:latin typeface="Calibri" panose="020F0502020204030204" pitchFamily="34" charset="0"/>
                        </a:rPr>
                        <a:t>hdr</a:t>
                      </a:r>
                      <a:endParaRPr lang="en-US" sz="1100" dirty="0">
                        <a:solidFill>
                          <a:schemeClr val="tx1"/>
                        </a:solidFill>
                        <a:latin typeface="Calibri" panose="020F0502020204030204" pitchFamily="34" charset="0"/>
                      </a:endParaRPr>
                    </a:p>
                  </a:txBody>
                  <a:tcPr marL="121939" marR="121939"/>
                </a:tc>
                <a:extLst>
                  <a:ext uri="{0D108BD9-81ED-4DB2-BD59-A6C34878D82A}">
                    <a16:rowId xmlns:a16="http://schemas.microsoft.com/office/drawing/2014/main" val="10000"/>
                  </a:ext>
                </a:extLst>
              </a:tr>
              <a:tr h="350308">
                <a:tc>
                  <a:txBody>
                    <a:bodyPr/>
                    <a:lstStyle/>
                    <a:p>
                      <a:pPr algn="ctr"/>
                      <a:r>
                        <a:rPr lang="en-US" sz="1800" dirty="0"/>
                        <a:t>f</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1"/>
                  </a:ext>
                </a:extLst>
              </a:tr>
              <a:tr h="350308">
                <a:tc>
                  <a:txBody>
                    <a:bodyPr/>
                    <a:lstStyle/>
                    <a:p>
                      <a:pPr algn="ctr"/>
                      <a:r>
                        <a:rPr lang="en-US" sz="1800" dirty="0"/>
                        <a:t>c</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2"/>
                  </a:ext>
                </a:extLst>
              </a:tr>
              <a:tr h="350308">
                <a:tc>
                  <a:txBody>
                    <a:bodyPr/>
                    <a:lstStyle/>
                    <a:p>
                      <a:pPr algn="ctr"/>
                      <a:r>
                        <a:rPr lang="en-US" sz="1800" dirty="0"/>
                        <a:t>a</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3"/>
                  </a:ext>
                </a:extLst>
              </a:tr>
              <a:tr h="350308">
                <a:tc>
                  <a:txBody>
                    <a:bodyPr/>
                    <a:lstStyle/>
                    <a:p>
                      <a:pPr algn="ctr"/>
                      <a:r>
                        <a:rPr lang="en-US" sz="1800" dirty="0"/>
                        <a:t>b</a:t>
                      </a:r>
                    </a:p>
                  </a:txBody>
                  <a:tcPr marL="121939" marR="121939"/>
                </a:tc>
                <a:tc>
                  <a:txBody>
                    <a:bodyPr/>
                    <a:lstStyle/>
                    <a:p>
                      <a:pPr algn="ctr"/>
                      <a:endParaRPr lang="en-US" sz="1800"/>
                    </a:p>
                  </a:txBody>
                  <a:tcPr marL="121939" marR="121939"/>
                </a:tc>
                <a:extLst>
                  <a:ext uri="{0D108BD9-81ED-4DB2-BD59-A6C34878D82A}">
                    <a16:rowId xmlns:a16="http://schemas.microsoft.com/office/drawing/2014/main" val="10004"/>
                  </a:ext>
                </a:extLst>
              </a:tr>
              <a:tr h="350308">
                <a:tc>
                  <a:txBody>
                    <a:bodyPr/>
                    <a:lstStyle/>
                    <a:p>
                      <a:pPr algn="ctr"/>
                      <a:r>
                        <a:rPr lang="en-US" sz="1800" dirty="0"/>
                        <a:t>m</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5"/>
                  </a:ext>
                </a:extLst>
              </a:tr>
              <a:tr h="350308">
                <a:tc>
                  <a:txBody>
                    <a:bodyPr/>
                    <a:lstStyle/>
                    <a:p>
                      <a:pPr algn="ctr"/>
                      <a:r>
                        <a:rPr lang="en-US" sz="1800" dirty="0"/>
                        <a:t>p</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6"/>
                  </a:ext>
                </a:extLst>
              </a:tr>
            </a:tbl>
          </a:graphicData>
        </a:graphic>
      </p:graphicFrame>
      <p:graphicFrame>
        <p:nvGraphicFramePr>
          <p:cNvPr id="35" name="Table 34">
            <a:extLst>
              <a:ext uri="{FF2B5EF4-FFF2-40B4-BE49-F238E27FC236}">
                <a16:creationId xmlns:a16="http://schemas.microsoft.com/office/drawing/2014/main" id="{C697D233-CADF-CB35-4392-737F091E5F40}"/>
              </a:ext>
            </a:extLst>
          </p:cNvPr>
          <p:cNvGraphicFramePr>
            <a:graphicFrameLocks noGrp="1"/>
          </p:cNvGraphicFramePr>
          <p:nvPr>
            <p:extLst>
              <p:ext uri="{D42A27DB-BD31-4B8C-83A1-F6EECF244321}">
                <p14:modId xmlns:p14="http://schemas.microsoft.com/office/powerpoint/2010/main" val="1068801692"/>
              </p:ext>
            </p:extLst>
          </p:nvPr>
        </p:nvGraphicFramePr>
        <p:xfrm>
          <a:off x="6051990" y="2924075"/>
          <a:ext cx="964210" cy="2497626"/>
        </p:xfrm>
        <a:graphic>
          <a:graphicData uri="http://schemas.openxmlformats.org/drawingml/2006/table">
            <a:tbl>
              <a:tblPr firstRow="1" bandRow="1">
                <a:tableStyleId>{21E4AEA4-8DFA-4A89-87EB-49C32662AFE0}</a:tableStyleId>
              </a:tblPr>
              <a:tblGrid>
                <a:gridCol w="494283">
                  <a:extLst>
                    <a:ext uri="{9D8B030D-6E8A-4147-A177-3AD203B41FA5}">
                      <a16:colId xmlns:a16="http://schemas.microsoft.com/office/drawing/2014/main" val="20000"/>
                    </a:ext>
                  </a:extLst>
                </a:gridCol>
                <a:gridCol w="469927">
                  <a:extLst>
                    <a:ext uri="{9D8B030D-6E8A-4147-A177-3AD203B41FA5}">
                      <a16:colId xmlns:a16="http://schemas.microsoft.com/office/drawing/2014/main" val="20002"/>
                    </a:ext>
                  </a:extLst>
                </a:gridCol>
              </a:tblGrid>
              <a:tr h="303066">
                <a:tc>
                  <a:txBody>
                    <a:bodyPr/>
                    <a:lstStyle/>
                    <a:p>
                      <a:pPr algn="ctr"/>
                      <a:r>
                        <a:rPr lang="en-US" sz="1100" dirty="0" err="1">
                          <a:solidFill>
                            <a:schemeClr val="tx1"/>
                          </a:solidFill>
                          <a:latin typeface="Calibri" panose="020F0502020204030204" pitchFamily="34" charset="0"/>
                        </a:rPr>
                        <a:t>Itm</a:t>
                      </a:r>
                      <a:endParaRPr lang="en-US" sz="1100" dirty="0">
                        <a:solidFill>
                          <a:schemeClr val="tx1"/>
                        </a:solidFill>
                        <a:latin typeface="Calibri" panose="020F0502020204030204" pitchFamily="34" charset="0"/>
                      </a:endParaRPr>
                    </a:p>
                  </a:txBody>
                  <a:tcPr marL="121939" marR="121939"/>
                </a:tc>
                <a:tc>
                  <a:txBody>
                    <a:bodyPr/>
                    <a:lstStyle/>
                    <a:p>
                      <a:r>
                        <a:rPr lang="en-US" sz="1100" dirty="0" err="1">
                          <a:solidFill>
                            <a:schemeClr val="tx1"/>
                          </a:solidFill>
                          <a:latin typeface="Calibri" panose="020F0502020204030204" pitchFamily="34" charset="0"/>
                        </a:rPr>
                        <a:t>hdr</a:t>
                      </a:r>
                      <a:endParaRPr lang="en-US" sz="1100" dirty="0">
                        <a:solidFill>
                          <a:schemeClr val="tx1"/>
                        </a:solidFill>
                        <a:latin typeface="Calibri" panose="020F0502020204030204" pitchFamily="34" charset="0"/>
                      </a:endParaRPr>
                    </a:p>
                  </a:txBody>
                  <a:tcPr marL="121939" marR="121939"/>
                </a:tc>
                <a:extLst>
                  <a:ext uri="{0D108BD9-81ED-4DB2-BD59-A6C34878D82A}">
                    <a16:rowId xmlns:a16="http://schemas.microsoft.com/office/drawing/2014/main" val="10000"/>
                  </a:ext>
                </a:extLst>
              </a:tr>
              <a:tr h="350308">
                <a:tc>
                  <a:txBody>
                    <a:bodyPr/>
                    <a:lstStyle/>
                    <a:p>
                      <a:pPr algn="ctr"/>
                      <a:r>
                        <a:rPr lang="en-US" sz="1800" dirty="0"/>
                        <a:t>f</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1"/>
                  </a:ext>
                </a:extLst>
              </a:tr>
              <a:tr h="350308">
                <a:tc>
                  <a:txBody>
                    <a:bodyPr/>
                    <a:lstStyle/>
                    <a:p>
                      <a:pPr algn="ctr"/>
                      <a:r>
                        <a:rPr lang="en-US" sz="1800" dirty="0"/>
                        <a:t>c</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2"/>
                  </a:ext>
                </a:extLst>
              </a:tr>
              <a:tr h="350308">
                <a:tc>
                  <a:txBody>
                    <a:bodyPr/>
                    <a:lstStyle/>
                    <a:p>
                      <a:pPr algn="ctr"/>
                      <a:r>
                        <a:rPr lang="en-US" sz="1800" dirty="0"/>
                        <a:t>a</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3"/>
                  </a:ext>
                </a:extLst>
              </a:tr>
              <a:tr h="350308">
                <a:tc>
                  <a:txBody>
                    <a:bodyPr/>
                    <a:lstStyle/>
                    <a:p>
                      <a:pPr algn="ctr"/>
                      <a:r>
                        <a:rPr lang="en-US" sz="1800" dirty="0"/>
                        <a:t>b</a:t>
                      </a:r>
                    </a:p>
                  </a:txBody>
                  <a:tcPr marL="121939" marR="121939"/>
                </a:tc>
                <a:tc>
                  <a:txBody>
                    <a:bodyPr/>
                    <a:lstStyle/>
                    <a:p>
                      <a:pPr algn="ctr"/>
                      <a:endParaRPr lang="en-US" sz="1800"/>
                    </a:p>
                  </a:txBody>
                  <a:tcPr marL="121939" marR="121939"/>
                </a:tc>
                <a:extLst>
                  <a:ext uri="{0D108BD9-81ED-4DB2-BD59-A6C34878D82A}">
                    <a16:rowId xmlns:a16="http://schemas.microsoft.com/office/drawing/2014/main" val="10004"/>
                  </a:ext>
                </a:extLst>
              </a:tr>
              <a:tr h="350308">
                <a:tc>
                  <a:txBody>
                    <a:bodyPr/>
                    <a:lstStyle/>
                    <a:p>
                      <a:pPr algn="ctr"/>
                      <a:r>
                        <a:rPr lang="en-US" sz="1800" dirty="0"/>
                        <a:t>m</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5"/>
                  </a:ext>
                </a:extLst>
              </a:tr>
              <a:tr h="350308">
                <a:tc>
                  <a:txBody>
                    <a:bodyPr/>
                    <a:lstStyle/>
                    <a:p>
                      <a:pPr algn="ctr"/>
                      <a:r>
                        <a:rPr lang="en-US" sz="1800" dirty="0"/>
                        <a:t>p</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6"/>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983290897"/>
              </p:ext>
            </p:extLst>
          </p:nvPr>
        </p:nvGraphicFramePr>
        <p:xfrm>
          <a:off x="3020277" y="2941321"/>
          <a:ext cx="1709292" cy="2497626"/>
        </p:xfrm>
        <a:graphic>
          <a:graphicData uri="http://schemas.openxmlformats.org/drawingml/2006/table">
            <a:tbl>
              <a:tblPr firstRow="1" bandRow="1">
                <a:tableStyleId>{21E4AEA4-8DFA-4A89-87EB-49C32662AFE0}</a:tableStyleId>
              </a:tblPr>
              <a:tblGrid>
                <a:gridCol w="543798">
                  <a:extLst>
                    <a:ext uri="{9D8B030D-6E8A-4147-A177-3AD203B41FA5}">
                      <a16:colId xmlns:a16="http://schemas.microsoft.com/office/drawing/2014/main" val="20000"/>
                    </a:ext>
                  </a:extLst>
                </a:gridCol>
                <a:gridCol w="675409">
                  <a:extLst>
                    <a:ext uri="{9D8B030D-6E8A-4147-A177-3AD203B41FA5}">
                      <a16:colId xmlns:a16="http://schemas.microsoft.com/office/drawing/2014/main" val="20001"/>
                    </a:ext>
                  </a:extLst>
                </a:gridCol>
                <a:gridCol w="490085">
                  <a:extLst>
                    <a:ext uri="{9D8B030D-6E8A-4147-A177-3AD203B41FA5}">
                      <a16:colId xmlns:a16="http://schemas.microsoft.com/office/drawing/2014/main" val="20002"/>
                    </a:ext>
                  </a:extLst>
                </a:gridCol>
              </a:tblGrid>
              <a:tr h="303066">
                <a:tc>
                  <a:txBody>
                    <a:bodyPr/>
                    <a:lstStyle/>
                    <a:p>
                      <a:pPr algn="ctr"/>
                      <a:r>
                        <a:rPr lang="en-US" sz="1200" dirty="0">
                          <a:solidFill>
                            <a:schemeClr val="tx1"/>
                          </a:solidFill>
                          <a:latin typeface="Calibri" panose="020F0502020204030204" pitchFamily="34" charset="0"/>
                        </a:rPr>
                        <a:t>Item</a:t>
                      </a:r>
                    </a:p>
                  </a:txBody>
                  <a:tcPr marL="121939" marR="121939"/>
                </a:tc>
                <a:tc>
                  <a:txBody>
                    <a:bodyPr/>
                    <a:lstStyle/>
                    <a:p>
                      <a:r>
                        <a:rPr lang="en-US" sz="1200" dirty="0" err="1">
                          <a:solidFill>
                            <a:schemeClr val="tx1"/>
                          </a:solidFill>
                          <a:latin typeface="Calibri" panose="020F0502020204030204" pitchFamily="34" charset="0"/>
                        </a:rPr>
                        <a:t>Frqncy</a:t>
                      </a:r>
                      <a:endParaRPr lang="en-US" sz="1200" dirty="0">
                        <a:solidFill>
                          <a:schemeClr val="tx1"/>
                        </a:solidFill>
                        <a:latin typeface="Calibri" panose="020F0502020204030204" pitchFamily="34" charset="0"/>
                      </a:endParaRPr>
                    </a:p>
                  </a:txBody>
                  <a:tcPr marL="121939" marR="121939"/>
                </a:tc>
                <a:tc>
                  <a:txBody>
                    <a:bodyPr/>
                    <a:lstStyle/>
                    <a:p>
                      <a:r>
                        <a:rPr lang="en-US" sz="1200" dirty="0" err="1">
                          <a:solidFill>
                            <a:schemeClr val="tx1"/>
                          </a:solidFill>
                          <a:latin typeface="Calibri" panose="020F0502020204030204" pitchFamily="34" charset="0"/>
                        </a:rPr>
                        <a:t>hdr</a:t>
                      </a:r>
                      <a:endParaRPr lang="en-US" sz="1200" dirty="0">
                        <a:solidFill>
                          <a:schemeClr val="tx1"/>
                        </a:solidFill>
                        <a:latin typeface="Calibri" panose="020F0502020204030204" pitchFamily="34" charset="0"/>
                      </a:endParaRPr>
                    </a:p>
                  </a:txBody>
                  <a:tcPr marL="121939" marR="121939"/>
                </a:tc>
                <a:extLst>
                  <a:ext uri="{0D108BD9-81ED-4DB2-BD59-A6C34878D82A}">
                    <a16:rowId xmlns:a16="http://schemas.microsoft.com/office/drawing/2014/main" val="10000"/>
                  </a:ext>
                </a:extLst>
              </a:tr>
              <a:tr h="350308">
                <a:tc>
                  <a:txBody>
                    <a:bodyPr/>
                    <a:lstStyle/>
                    <a:p>
                      <a:pPr algn="ctr"/>
                      <a:r>
                        <a:rPr lang="en-US" sz="1800" dirty="0"/>
                        <a:t>f</a:t>
                      </a:r>
                    </a:p>
                  </a:txBody>
                  <a:tcPr marL="121939" marR="121939"/>
                </a:tc>
                <a:tc>
                  <a:txBody>
                    <a:bodyPr/>
                    <a:lstStyle/>
                    <a:p>
                      <a:pPr algn="ctr"/>
                      <a:r>
                        <a:rPr lang="en-US" sz="1800" dirty="0"/>
                        <a:t>4</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1"/>
                  </a:ext>
                </a:extLst>
              </a:tr>
              <a:tr h="350308">
                <a:tc>
                  <a:txBody>
                    <a:bodyPr/>
                    <a:lstStyle/>
                    <a:p>
                      <a:pPr algn="ctr"/>
                      <a:r>
                        <a:rPr lang="en-US" sz="1800" dirty="0"/>
                        <a:t>c</a:t>
                      </a:r>
                    </a:p>
                  </a:txBody>
                  <a:tcPr marL="121939" marR="121939"/>
                </a:tc>
                <a:tc>
                  <a:txBody>
                    <a:bodyPr/>
                    <a:lstStyle/>
                    <a:p>
                      <a:pPr algn="ctr"/>
                      <a:r>
                        <a:rPr lang="en-US" sz="1800" dirty="0"/>
                        <a:t>4</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2"/>
                  </a:ext>
                </a:extLst>
              </a:tr>
              <a:tr h="350308">
                <a:tc>
                  <a:txBody>
                    <a:bodyPr/>
                    <a:lstStyle/>
                    <a:p>
                      <a:pPr algn="ctr"/>
                      <a:r>
                        <a:rPr lang="en-US" sz="1800" dirty="0"/>
                        <a:t>a</a:t>
                      </a:r>
                    </a:p>
                  </a:txBody>
                  <a:tcPr marL="121939" marR="121939"/>
                </a:tc>
                <a:tc>
                  <a:txBody>
                    <a:bodyPr/>
                    <a:lstStyle/>
                    <a:p>
                      <a:pPr algn="ctr"/>
                      <a:r>
                        <a:rPr lang="en-US" sz="1800" dirty="0"/>
                        <a:t>3</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3"/>
                  </a:ext>
                </a:extLst>
              </a:tr>
              <a:tr h="350308">
                <a:tc>
                  <a:txBody>
                    <a:bodyPr/>
                    <a:lstStyle/>
                    <a:p>
                      <a:pPr algn="ctr"/>
                      <a:r>
                        <a:rPr lang="en-US" sz="1800" dirty="0"/>
                        <a:t>b</a:t>
                      </a:r>
                    </a:p>
                  </a:txBody>
                  <a:tcPr marL="121939" marR="121939"/>
                </a:tc>
                <a:tc>
                  <a:txBody>
                    <a:bodyPr/>
                    <a:lstStyle/>
                    <a:p>
                      <a:pPr algn="ctr"/>
                      <a:r>
                        <a:rPr lang="en-US" sz="1800" dirty="0"/>
                        <a:t>3</a:t>
                      </a:r>
                    </a:p>
                  </a:txBody>
                  <a:tcPr marL="121939" marR="121939"/>
                </a:tc>
                <a:tc>
                  <a:txBody>
                    <a:bodyPr/>
                    <a:lstStyle/>
                    <a:p>
                      <a:pPr algn="ctr"/>
                      <a:endParaRPr lang="en-US" sz="1800"/>
                    </a:p>
                  </a:txBody>
                  <a:tcPr marL="121939" marR="121939"/>
                </a:tc>
                <a:extLst>
                  <a:ext uri="{0D108BD9-81ED-4DB2-BD59-A6C34878D82A}">
                    <a16:rowId xmlns:a16="http://schemas.microsoft.com/office/drawing/2014/main" val="10004"/>
                  </a:ext>
                </a:extLst>
              </a:tr>
              <a:tr h="350308">
                <a:tc>
                  <a:txBody>
                    <a:bodyPr/>
                    <a:lstStyle/>
                    <a:p>
                      <a:pPr algn="ctr"/>
                      <a:r>
                        <a:rPr lang="en-US" sz="1800" dirty="0"/>
                        <a:t>m</a:t>
                      </a:r>
                    </a:p>
                  </a:txBody>
                  <a:tcPr marL="121939" marR="121939"/>
                </a:tc>
                <a:tc>
                  <a:txBody>
                    <a:bodyPr/>
                    <a:lstStyle/>
                    <a:p>
                      <a:pPr algn="ctr"/>
                      <a:r>
                        <a:rPr lang="en-US" sz="1800" dirty="0"/>
                        <a:t>3</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5"/>
                  </a:ext>
                </a:extLst>
              </a:tr>
              <a:tr h="350308">
                <a:tc>
                  <a:txBody>
                    <a:bodyPr/>
                    <a:lstStyle/>
                    <a:p>
                      <a:pPr algn="ctr"/>
                      <a:r>
                        <a:rPr lang="en-US" sz="1800" dirty="0"/>
                        <a:t>p</a:t>
                      </a:r>
                    </a:p>
                  </a:txBody>
                  <a:tcPr marL="121939" marR="121939"/>
                </a:tc>
                <a:tc>
                  <a:txBody>
                    <a:bodyPr/>
                    <a:lstStyle/>
                    <a:p>
                      <a:pPr algn="ctr"/>
                      <a:r>
                        <a:rPr lang="en-US" sz="1800" dirty="0"/>
                        <a:t>3</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6"/>
                  </a:ext>
                </a:extLst>
              </a:tr>
            </a:tbl>
          </a:graphicData>
        </a:graphic>
      </p:graphicFrame>
      <p:sp>
        <p:nvSpPr>
          <p:cNvPr id="27685" name="Rectangle 2"/>
          <p:cNvSpPr>
            <a:spLocks noGrp="1" noChangeArrowheads="1"/>
          </p:cNvSpPr>
          <p:nvPr>
            <p:ph type="title"/>
          </p:nvPr>
        </p:nvSpPr>
        <p:spPr>
          <a:xfrm>
            <a:off x="203200" y="304800"/>
            <a:ext cx="11684000" cy="685800"/>
          </a:xfrm>
        </p:spPr>
        <p:txBody>
          <a:bodyPr>
            <a:normAutofit/>
          </a:bodyPr>
          <a:lstStyle/>
          <a:p>
            <a:pPr eaLnBrk="1" hangingPunct="1"/>
            <a:r>
              <a:rPr lang="en-US" altLang="en-US" sz="4000" dirty="0"/>
              <a:t>Example: Construct FP-tree from Transaction DB</a:t>
            </a:r>
          </a:p>
        </p:txBody>
      </p:sp>
      <p:grpSp>
        <p:nvGrpSpPr>
          <p:cNvPr id="27686" name="Group 6"/>
          <p:cNvGrpSpPr>
            <a:grpSpLocks/>
          </p:cNvGrpSpPr>
          <p:nvPr/>
        </p:nvGrpSpPr>
        <p:grpSpPr bwMode="auto">
          <a:xfrm>
            <a:off x="4303710" y="1770092"/>
            <a:ext cx="1379405" cy="3657813"/>
            <a:chOff x="6449944" y="2898540"/>
            <a:chExt cx="1034378" cy="3657813"/>
          </a:xfrm>
        </p:grpSpPr>
        <p:sp>
          <p:nvSpPr>
            <p:cNvPr id="27723" name="Text Box 4"/>
            <p:cNvSpPr txBox="1">
              <a:spLocks noChangeArrowheads="1"/>
            </p:cNvSpPr>
            <p:nvPr/>
          </p:nvSpPr>
          <p:spPr bwMode="auto">
            <a:xfrm>
              <a:off x="7119587" y="2898540"/>
              <a:ext cx="323591"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dirty="0">
                  <a:solidFill>
                    <a:srgbClr val="000000"/>
                  </a:solidFill>
                  <a:latin typeface="Times New Roman" pitchFamily="18" charset="0"/>
                </a:rPr>
                <a:t>{}</a:t>
              </a:r>
            </a:p>
          </p:txBody>
        </p:sp>
        <p:sp>
          <p:nvSpPr>
            <p:cNvPr id="27724" name="Text Box 5"/>
            <p:cNvSpPr txBox="1">
              <a:spLocks noChangeArrowheads="1"/>
            </p:cNvSpPr>
            <p:nvPr/>
          </p:nvSpPr>
          <p:spPr bwMode="auto">
            <a:xfrm>
              <a:off x="7107797" y="3670345"/>
              <a:ext cx="351239"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solidFill>
                    <a:srgbClr val="000000"/>
                  </a:solidFill>
                  <a:latin typeface="Times New Roman" pitchFamily="18" charset="0"/>
                </a:rPr>
                <a:t>f:1</a:t>
              </a:r>
            </a:p>
          </p:txBody>
        </p:sp>
        <p:cxnSp>
          <p:nvCxnSpPr>
            <p:cNvPr id="27731" name="AutoShape 12"/>
            <p:cNvCxnSpPr>
              <a:cxnSpLocks noChangeShapeType="1"/>
              <a:stCxn id="27723" idx="2"/>
              <a:endCxn id="27724" idx="0"/>
            </p:cNvCxnSpPr>
            <p:nvPr/>
          </p:nvCxnSpPr>
          <p:spPr bwMode="auto">
            <a:xfrm>
              <a:off x="7281382" y="3298650"/>
              <a:ext cx="2034" cy="371695"/>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27733" name="Text Box 14"/>
            <p:cNvSpPr txBox="1">
              <a:spLocks noChangeArrowheads="1"/>
            </p:cNvSpPr>
            <p:nvPr/>
          </p:nvSpPr>
          <p:spPr bwMode="auto">
            <a:xfrm>
              <a:off x="7078897" y="4296176"/>
              <a:ext cx="383694"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solidFill>
                    <a:srgbClr val="000000"/>
                  </a:solidFill>
                  <a:latin typeface="Times New Roman" pitchFamily="18" charset="0"/>
                </a:rPr>
                <a:t>c:1</a:t>
              </a:r>
            </a:p>
          </p:txBody>
        </p:sp>
        <p:cxnSp>
          <p:nvCxnSpPr>
            <p:cNvPr id="27734" name="AutoShape 15"/>
            <p:cNvCxnSpPr>
              <a:cxnSpLocks noChangeShapeType="1"/>
              <a:stCxn id="27724" idx="2"/>
              <a:endCxn id="27733" idx="0"/>
            </p:cNvCxnSpPr>
            <p:nvPr/>
          </p:nvCxnSpPr>
          <p:spPr bwMode="auto">
            <a:xfrm flipH="1">
              <a:off x="7270745" y="4070455"/>
              <a:ext cx="12672"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27736" name="Text Box 17"/>
            <p:cNvSpPr txBox="1">
              <a:spLocks noChangeArrowheads="1"/>
            </p:cNvSpPr>
            <p:nvPr/>
          </p:nvSpPr>
          <p:spPr bwMode="auto">
            <a:xfrm>
              <a:off x="7069505" y="4922007"/>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solidFill>
                    <a:srgbClr val="000000"/>
                  </a:solidFill>
                  <a:latin typeface="Times New Roman" pitchFamily="18" charset="0"/>
                </a:rPr>
                <a:t>a:1</a:t>
              </a:r>
            </a:p>
          </p:txBody>
        </p:sp>
        <p:sp>
          <p:nvSpPr>
            <p:cNvPr id="27738" name="Text Box 19"/>
            <p:cNvSpPr txBox="1">
              <a:spLocks noChangeArrowheads="1"/>
            </p:cNvSpPr>
            <p:nvPr/>
          </p:nvSpPr>
          <p:spPr bwMode="auto">
            <a:xfrm>
              <a:off x="7046536" y="5547838"/>
              <a:ext cx="437786"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solidFill>
                    <a:srgbClr val="000000"/>
                  </a:solidFill>
                  <a:latin typeface="Times New Roman" pitchFamily="18" charset="0"/>
                </a:rPr>
                <a:t>m:1</a:t>
              </a:r>
            </a:p>
          </p:txBody>
        </p:sp>
        <p:sp>
          <p:nvSpPr>
            <p:cNvPr id="27739" name="Text Box 20"/>
            <p:cNvSpPr txBox="1">
              <a:spLocks noChangeArrowheads="1"/>
            </p:cNvSpPr>
            <p:nvPr/>
          </p:nvSpPr>
          <p:spPr bwMode="auto">
            <a:xfrm>
              <a:off x="7073487" y="6156243"/>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solidFill>
                    <a:srgbClr val="000000"/>
                  </a:solidFill>
                  <a:latin typeface="Times New Roman" pitchFamily="18" charset="0"/>
                </a:rPr>
                <a:t>p:1</a:t>
              </a:r>
            </a:p>
          </p:txBody>
        </p:sp>
        <p:cxnSp>
          <p:nvCxnSpPr>
            <p:cNvPr id="27740" name="AutoShape 21"/>
            <p:cNvCxnSpPr>
              <a:cxnSpLocks noChangeShapeType="1"/>
              <a:stCxn id="27733" idx="2"/>
              <a:endCxn id="27736" idx="0"/>
            </p:cNvCxnSpPr>
            <p:nvPr/>
          </p:nvCxnSpPr>
          <p:spPr bwMode="auto">
            <a:xfrm flipH="1">
              <a:off x="7266761" y="4696286"/>
              <a:ext cx="3983"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27741" name="AutoShape 22"/>
            <p:cNvCxnSpPr>
              <a:cxnSpLocks noChangeShapeType="1"/>
              <a:stCxn id="27736" idx="2"/>
              <a:endCxn id="27738" idx="0"/>
            </p:cNvCxnSpPr>
            <p:nvPr/>
          </p:nvCxnSpPr>
          <p:spPr bwMode="auto">
            <a:xfrm flipH="1">
              <a:off x="7265429" y="5322117"/>
              <a:ext cx="1333"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27743" name="AutoShape 24"/>
            <p:cNvCxnSpPr>
              <a:cxnSpLocks noChangeShapeType="1"/>
              <a:stCxn id="27738" idx="2"/>
              <a:endCxn id="27739" idx="0"/>
            </p:cNvCxnSpPr>
            <p:nvPr/>
          </p:nvCxnSpPr>
          <p:spPr bwMode="auto">
            <a:xfrm>
              <a:off x="7265429" y="5947948"/>
              <a:ext cx="5315" cy="208295"/>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27746" name="Freeform 28"/>
            <p:cNvSpPr>
              <a:spLocks/>
            </p:cNvSpPr>
            <p:nvPr/>
          </p:nvSpPr>
          <p:spPr bwMode="auto">
            <a:xfrm>
              <a:off x="6503614" y="3939846"/>
              <a:ext cx="587956" cy="578622"/>
            </a:xfrm>
            <a:custGeom>
              <a:avLst/>
              <a:gdLst>
                <a:gd name="T0" fmla="*/ 0 w 672"/>
                <a:gd name="T1" fmla="*/ 2147483647 h 240"/>
                <a:gd name="T2" fmla="*/ 2147483647 w 672"/>
                <a:gd name="T3" fmla="*/ 2147483647 h 240"/>
                <a:gd name="T4" fmla="*/ 2147483647 w 672"/>
                <a:gd name="T5" fmla="*/ 2147483647 h 240"/>
                <a:gd name="T6" fmla="*/ 2147483647 w 672"/>
                <a:gd name="T7" fmla="*/ 0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cubicBezTo>
                    <a:pt x="108" y="232"/>
                    <a:pt x="216" y="224"/>
                    <a:pt x="288" y="192"/>
                  </a:cubicBezTo>
                  <a:cubicBezTo>
                    <a:pt x="360" y="160"/>
                    <a:pt x="368" y="80"/>
                    <a:pt x="432" y="48"/>
                  </a:cubicBezTo>
                  <a:cubicBezTo>
                    <a:pt x="496" y="16"/>
                    <a:pt x="584" y="8"/>
                    <a:pt x="67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7748" name="Freeform 31"/>
            <p:cNvSpPr>
              <a:spLocks/>
            </p:cNvSpPr>
            <p:nvPr/>
          </p:nvSpPr>
          <p:spPr bwMode="auto">
            <a:xfrm flipV="1">
              <a:off x="6449944" y="5165476"/>
              <a:ext cx="613300" cy="59764"/>
            </a:xfrm>
            <a:custGeom>
              <a:avLst/>
              <a:gdLst>
                <a:gd name="T0" fmla="*/ 0 w 432"/>
                <a:gd name="T1" fmla="*/ 0 h 192"/>
                <a:gd name="T2" fmla="*/ 2147483647 w 432"/>
                <a:gd name="T3" fmla="*/ 2147483647 h 192"/>
                <a:gd name="T4" fmla="*/ 2147483647 w 432"/>
                <a:gd name="T5" fmla="*/ 2147483647 h 192"/>
                <a:gd name="T6" fmla="*/ 2147483647 w 432"/>
                <a:gd name="T7" fmla="*/ 2147483647 h 192"/>
                <a:gd name="T8" fmla="*/ 0 60000 65536"/>
                <a:gd name="T9" fmla="*/ 0 60000 65536"/>
                <a:gd name="T10" fmla="*/ 0 60000 65536"/>
                <a:gd name="T11" fmla="*/ 0 60000 65536"/>
                <a:gd name="T12" fmla="*/ 0 w 432"/>
                <a:gd name="T13" fmla="*/ 0 h 192"/>
                <a:gd name="T14" fmla="*/ 432 w 432"/>
                <a:gd name="T15" fmla="*/ 192 h 192"/>
              </a:gdLst>
              <a:ahLst/>
              <a:cxnLst>
                <a:cxn ang="T8">
                  <a:pos x="T0" y="T1"/>
                </a:cxn>
                <a:cxn ang="T9">
                  <a:pos x="T2" y="T3"/>
                </a:cxn>
                <a:cxn ang="T10">
                  <a:pos x="T4" y="T5"/>
                </a:cxn>
                <a:cxn ang="T11">
                  <a:pos x="T6" y="T7"/>
                </a:cxn>
              </a:cxnLst>
              <a:rect l="T12" t="T13" r="T14" b="T15"/>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7752" name="Freeform 35"/>
            <p:cNvSpPr>
              <a:spLocks/>
            </p:cNvSpPr>
            <p:nvPr/>
          </p:nvSpPr>
          <p:spPr bwMode="auto">
            <a:xfrm flipV="1">
              <a:off x="6460187" y="5814619"/>
              <a:ext cx="613300" cy="208293"/>
            </a:xfrm>
            <a:custGeom>
              <a:avLst/>
              <a:gdLst>
                <a:gd name="T0" fmla="*/ 0 w 288"/>
                <a:gd name="T1" fmla="*/ 0 h 240"/>
                <a:gd name="T2" fmla="*/ 2147483647 w 288"/>
                <a:gd name="T3" fmla="*/ 2147483647 h 240"/>
                <a:gd name="T4" fmla="*/ 2147483647 w 288"/>
                <a:gd name="T5" fmla="*/ 2147483647 h 240"/>
                <a:gd name="T6" fmla="*/ 2147483647 w 288"/>
                <a:gd name="T7" fmla="*/ 2147483647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0" y="0"/>
                  </a:moveTo>
                  <a:cubicBezTo>
                    <a:pt x="56" y="8"/>
                    <a:pt x="112" y="16"/>
                    <a:pt x="144" y="48"/>
                  </a:cubicBezTo>
                  <a:cubicBezTo>
                    <a:pt x="176" y="80"/>
                    <a:pt x="168" y="160"/>
                    <a:pt x="192" y="192"/>
                  </a:cubicBezTo>
                  <a:cubicBezTo>
                    <a:pt x="216" y="224"/>
                    <a:pt x="252" y="232"/>
                    <a:pt x="288" y="24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7754" name="Freeform 37"/>
            <p:cNvSpPr>
              <a:spLocks/>
            </p:cNvSpPr>
            <p:nvPr/>
          </p:nvSpPr>
          <p:spPr bwMode="auto">
            <a:xfrm flipV="1">
              <a:off x="6460187" y="6328966"/>
              <a:ext cx="586349" cy="45719"/>
            </a:xfrm>
            <a:custGeom>
              <a:avLst/>
              <a:gdLst>
                <a:gd name="T0" fmla="*/ 0 w 288"/>
                <a:gd name="T1" fmla="*/ 0 h 432"/>
                <a:gd name="T2" fmla="*/ 2147483647 w 288"/>
                <a:gd name="T3" fmla="*/ 2147483647 h 432"/>
                <a:gd name="T4" fmla="*/ 2147483647 w 288"/>
                <a:gd name="T5" fmla="*/ 2147483647 h 432"/>
                <a:gd name="T6" fmla="*/ 2147483647 w 288"/>
                <a:gd name="T7" fmla="*/ 2147483647 h 432"/>
                <a:gd name="T8" fmla="*/ 0 60000 65536"/>
                <a:gd name="T9" fmla="*/ 0 60000 65536"/>
                <a:gd name="T10" fmla="*/ 0 60000 65536"/>
                <a:gd name="T11" fmla="*/ 0 60000 65536"/>
                <a:gd name="T12" fmla="*/ 0 w 288"/>
                <a:gd name="T13" fmla="*/ 0 h 432"/>
                <a:gd name="T14" fmla="*/ 288 w 288"/>
                <a:gd name="T15" fmla="*/ 432 h 432"/>
              </a:gdLst>
              <a:ahLst/>
              <a:cxnLst>
                <a:cxn ang="T8">
                  <a:pos x="T0" y="T1"/>
                </a:cxn>
                <a:cxn ang="T9">
                  <a:pos x="T2" y="T3"/>
                </a:cxn>
                <a:cxn ang="T10">
                  <a:pos x="T4" y="T5"/>
                </a:cxn>
                <a:cxn ang="T11">
                  <a:pos x="T6" y="T7"/>
                </a:cxn>
              </a:cxnLst>
              <a:rect l="T12" t="T13" r="T14" b="T15"/>
              <a:pathLst>
                <a:path w="288" h="432">
                  <a:moveTo>
                    <a:pt x="0" y="0"/>
                  </a:moveTo>
                  <a:cubicBezTo>
                    <a:pt x="36" y="44"/>
                    <a:pt x="72" y="88"/>
                    <a:pt x="96" y="144"/>
                  </a:cubicBezTo>
                  <a:cubicBezTo>
                    <a:pt x="120" y="200"/>
                    <a:pt x="112" y="288"/>
                    <a:pt x="144" y="336"/>
                  </a:cubicBezTo>
                  <a:cubicBezTo>
                    <a:pt x="176" y="384"/>
                    <a:pt x="232" y="408"/>
                    <a:pt x="288" y="43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grpSp>
      <p:sp>
        <p:nvSpPr>
          <p:cNvPr id="27688" name="Text Box 41"/>
          <p:cNvSpPr txBox="1">
            <a:spLocks noChangeArrowheads="1"/>
          </p:cNvSpPr>
          <p:nvPr/>
        </p:nvSpPr>
        <p:spPr bwMode="auto">
          <a:xfrm>
            <a:off x="146028" y="3916679"/>
            <a:ext cx="2931921" cy="2174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indent="0" eaLnBrk="1" hangingPunct="1">
              <a:spcBef>
                <a:spcPts val="400"/>
              </a:spcBef>
              <a:buClrTx/>
              <a:buSzTx/>
              <a:buNone/>
            </a:pPr>
            <a:r>
              <a:rPr lang="en-US" altLang="en-US" sz="2200" b="1" dirty="0">
                <a:solidFill>
                  <a:srgbClr val="000000"/>
                </a:solidFill>
              </a:rPr>
              <a:t>FP-Tree Construction</a:t>
            </a:r>
            <a:r>
              <a:rPr lang="en-US" altLang="en-US" sz="2200" dirty="0">
                <a:solidFill>
                  <a:srgbClr val="000000"/>
                </a:solidFill>
              </a:rPr>
              <a:t>:</a:t>
            </a:r>
          </a:p>
          <a:p>
            <a:pPr marL="0" indent="0" eaLnBrk="1" hangingPunct="1">
              <a:spcBef>
                <a:spcPts val="400"/>
              </a:spcBef>
              <a:buClrTx/>
              <a:buSzTx/>
              <a:buNone/>
            </a:pPr>
            <a:r>
              <a:rPr lang="zh-CN" altLang="en-US" sz="2200" dirty="0">
                <a:solidFill>
                  <a:srgbClr val="000000"/>
                </a:solidFill>
              </a:rPr>
              <a:t>对于每条事务，将其排序后的频繁项列表插入到 </a:t>
            </a:r>
            <a:r>
              <a:rPr lang="en-US" altLang="zh-CN" sz="2200" dirty="0">
                <a:solidFill>
                  <a:srgbClr val="000000"/>
                </a:solidFill>
              </a:rPr>
              <a:t>FP-</a:t>
            </a:r>
            <a:r>
              <a:rPr lang="zh-CN" altLang="en-US" sz="2200" dirty="0">
                <a:solidFill>
                  <a:srgbClr val="000000"/>
                </a:solidFill>
              </a:rPr>
              <a:t>树中，共享的子分支进行合并，计数进行累加。</a:t>
            </a:r>
            <a:endParaRPr lang="en-US" altLang="en-US" sz="2200" dirty="0">
              <a:solidFill>
                <a:srgbClr val="00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949799428"/>
              </p:ext>
            </p:extLst>
          </p:nvPr>
        </p:nvGraphicFramePr>
        <p:xfrm>
          <a:off x="170362" y="1376678"/>
          <a:ext cx="2832611" cy="2341169"/>
        </p:xfrm>
        <a:graphic>
          <a:graphicData uri="http://schemas.openxmlformats.org/drawingml/2006/table">
            <a:tbl>
              <a:tblPr firstRow="1" bandRow="1">
                <a:tableStyleId>{5C22544A-7EE6-4342-B048-85BDC9FD1C3A}</a:tableStyleId>
              </a:tblPr>
              <a:tblGrid>
                <a:gridCol w="747035">
                  <a:extLst>
                    <a:ext uri="{9D8B030D-6E8A-4147-A177-3AD203B41FA5}">
                      <a16:colId xmlns:a16="http://schemas.microsoft.com/office/drawing/2014/main" val="20000"/>
                    </a:ext>
                  </a:extLst>
                </a:gridCol>
                <a:gridCol w="2085576">
                  <a:extLst>
                    <a:ext uri="{9D8B030D-6E8A-4147-A177-3AD203B41FA5}">
                      <a16:colId xmlns:a16="http://schemas.microsoft.com/office/drawing/2014/main" val="20002"/>
                    </a:ext>
                  </a:extLst>
                </a:gridCol>
              </a:tblGrid>
              <a:tr h="420910">
                <a:tc>
                  <a:txBody>
                    <a:bodyPr/>
                    <a:lstStyle/>
                    <a:p>
                      <a:pPr algn="ctr"/>
                      <a:r>
                        <a:rPr lang="en-US" sz="2000" dirty="0">
                          <a:solidFill>
                            <a:schemeClr val="tx1"/>
                          </a:solidFill>
                          <a:latin typeface="Calibri" panose="020F0502020204030204" pitchFamily="34" charset="0"/>
                        </a:rPr>
                        <a:t>TID</a:t>
                      </a:r>
                    </a:p>
                  </a:txBody>
                  <a:tcPr marL="121920" marR="121920" marT="40796" marB="40796"/>
                </a:tc>
                <a:tc>
                  <a:txBody>
                    <a:bodyPr/>
                    <a:lstStyle/>
                    <a:p>
                      <a:pPr algn="ctr"/>
                      <a:r>
                        <a:rPr lang="en-US" sz="2000" dirty="0">
                          <a:solidFill>
                            <a:schemeClr val="tx1"/>
                          </a:solidFill>
                          <a:latin typeface="Calibri" panose="020F0502020204030204" pitchFamily="34" charset="0"/>
                        </a:rPr>
                        <a:t>Ordered,</a:t>
                      </a:r>
                      <a:r>
                        <a:rPr lang="en-US" sz="2000" baseline="0" dirty="0">
                          <a:solidFill>
                            <a:schemeClr val="tx1"/>
                          </a:solidFill>
                          <a:latin typeface="Calibri" panose="020F0502020204030204" pitchFamily="34" charset="0"/>
                        </a:rPr>
                        <a:t> frequent </a:t>
                      </a:r>
                      <a:r>
                        <a:rPr lang="en-US" sz="2000" baseline="0" dirty="0" err="1">
                          <a:solidFill>
                            <a:schemeClr val="tx1"/>
                          </a:solidFill>
                          <a:latin typeface="Calibri" panose="020F0502020204030204" pitchFamily="34" charset="0"/>
                        </a:rPr>
                        <a:t>itemlist</a:t>
                      </a:r>
                      <a:endParaRPr lang="en-US" sz="2000" dirty="0">
                        <a:solidFill>
                          <a:schemeClr val="tx1"/>
                        </a:solidFill>
                        <a:latin typeface="Calibri" panose="020F0502020204030204" pitchFamily="34" charset="0"/>
                      </a:endParaRPr>
                    </a:p>
                  </a:txBody>
                  <a:tcPr marL="121920" marR="121920" marT="40796" marB="40796"/>
                </a:tc>
                <a:extLst>
                  <a:ext uri="{0D108BD9-81ED-4DB2-BD59-A6C34878D82A}">
                    <a16:rowId xmlns:a16="http://schemas.microsoft.com/office/drawing/2014/main" val="10000"/>
                  </a:ext>
                </a:extLst>
              </a:tr>
              <a:tr h="330902">
                <a:tc>
                  <a:txBody>
                    <a:bodyPr/>
                    <a:lstStyle/>
                    <a:p>
                      <a:pPr algn="ctr"/>
                      <a:r>
                        <a:rPr lang="en-US" sz="1600" dirty="0">
                          <a:solidFill>
                            <a:schemeClr val="tx1"/>
                          </a:solidFill>
                          <a:latin typeface="Calibri" panose="020F0502020204030204" pitchFamily="34" charset="0"/>
                        </a:rPr>
                        <a:t>100</a:t>
                      </a:r>
                    </a:p>
                  </a:txBody>
                  <a:tcPr marL="121920" marR="121920" marT="40796" marB="4079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600" b="1" i="1" dirty="0">
                          <a:latin typeface="Times New Roman" pitchFamily="18" charset="0"/>
                        </a:rPr>
                        <a:t>f, c, a, m, p</a:t>
                      </a:r>
                      <a:endParaRPr lang="en-US" altLang="en-US" sz="1600" b="1" dirty="0">
                        <a:latin typeface="Times New Roman" pitchFamily="18" charset="0"/>
                      </a:endParaRPr>
                    </a:p>
                  </a:txBody>
                  <a:tcPr marL="121920" marR="121920" marT="40796" marB="40796"/>
                </a:tc>
                <a:extLst>
                  <a:ext uri="{0D108BD9-81ED-4DB2-BD59-A6C34878D82A}">
                    <a16:rowId xmlns:a16="http://schemas.microsoft.com/office/drawing/2014/main" val="10001"/>
                  </a:ext>
                </a:extLst>
              </a:tr>
              <a:tr h="330902">
                <a:tc>
                  <a:txBody>
                    <a:bodyPr/>
                    <a:lstStyle/>
                    <a:p>
                      <a:pPr algn="ctr"/>
                      <a:r>
                        <a:rPr lang="en-US" sz="1600" dirty="0">
                          <a:solidFill>
                            <a:schemeClr val="tx1"/>
                          </a:solidFill>
                          <a:latin typeface="Calibri" panose="020F0502020204030204" pitchFamily="34" charset="0"/>
                        </a:rPr>
                        <a:t>200</a:t>
                      </a:r>
                    </a:p>
                  </a:txBody>
                  <a:tcPr marL="121920" marR="121920" marT="40796" marB="40796"/>
                </a:tc>
                <a:tc>
                  <a:txBody>
                    <a:bodyPr/>
                    <a:lstStyle/>
                    <a:p>
                      <a:pPr algn="ctr"/>
                      <a:r>
                        <a:rPr lang="en-US" altLang="en-US" sz="1600" b="1" i="1" dirty="0">
                          <a:latin typeface="Times New Roman" pitchFamily="18" charset="0"/>
                        </a:rPr>
                        <a:t>f, c, a, b, m</a:t>
                      </a:r>
                      <a:endParaRPr lang="en-US" sz="1600" dirty="0">
                        <a:solidFill>
                          <a:schemeClr val="tx1"/>
                        </a:solidFill>
                        <a:latin typeface="Calibri" panose="020F0502020204030204" pitchFamily="34" charset="0"/>
                      </a:endParaRPr>
                    </a:p>
                  </a:txBody>
                  <a:tcPr marL="121920" marR="121920" marT="40796" marB="40796"/>
                </a:tc>
                <a:extLst>
                  <a:ext uri="{0D108BD9-81ED-4DB2-BD59-A6C34878D82A}">
                    <a16:rowId xmlns:a16="http://schemas.microsoft.com/office/drawing/2014/main" val="10002"/>
                  </a:ext>
                </a:extLst>
              </a:tr>
              <a:tr h="330902">
                <a:tc>
                  <a:txBody>
                    <a:bodyPr/>
                    <a:lstStyle/>
                    <a:p>
                      <a:pPr algn="ctr"/>
                      <a:r>
                        <a:rPr lang="en-US" sz="1600" dirty="0">
                          <a:solidFill>
                            <a:schemeClr val="tx1"/>
                          </a:solidFill>
                          <a:latin typeface="Calibri" panose="020F0502020204030204" pitchFamily="34" charset="0"/>
                        </a:rPr>
                        <a:t>300</a:t>
                      </a:r>
                    </a:p>
                  </a:txBody>
                  <a:tcPr marL="121920" marR="121920" marT="40796" marB="4079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600" b="1" i="1" dirty="0">
                          <a:latin typeface="Times New Roman" pitchFamily="18" charset="0"/>
                        </a:rPr>
                        <a:t>f, b</a:t>
                      </a:r>
                      <a:endParaRPr lang="en-US" altLang="en-US" sz="1600" b="1" dirty="0">
                        <a:latin typeface="Times New Roman" pitchFamily="18" charset="0"/>
                      </a:endParaRPr>
                    </a:p>
                  </a:txBody>
                  <a:tcPr marL="121920" marR="121920" marT="40796" marB="40796"/>
                </a:tc>
                <a:extLst>
                  <a:ext uri="{0D108BD9-81ED-4DB2-BD59-A6C34878D82A}">
                    <a16:rowId xmlns:a16="http://schemas.microsoft.com/office/drawing/2014/main" val="10003"/>
                  </a:ext>
                </a:extLst>
              </a:tr>
              <a:tr h="330902">
                <a:tc>
                  <a:txBody>
                    <a:bodyPr/>
                    <a:lstStyle/>
                    <a:p>
                      <a:pPr algn="ctr"/>
                      <a:r>
                        <a:rPr lang="en-US" sz="1600" dirty="0">
                          <a:solidFill>
                            <a:schemeClr val="tx1"/>
                          </a:solidFill>
                          <a:latin typeface="Calibri" panose="020F0502020204030204" pitchFamily="34" charset="0"/>
                        </a:rPr>
                        <a:t>400</a:t>
                      </a:r>
                    </a:p>
                  </a:txBody>
                  <a:tcPr marL="121920" marR="121920" marT="40796" marB="4079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600" b="1" i="1" dirty="0">
                          <a:latin typeface="Times New Roman" pitchFamily="18" charset="0"/>
                        </a:rPr>
                        <a:t>c, b, p</a:t>
                      </a:r>
                      <a:endParaRPr lang="en-US" altLang="en-US" sz="1600" b="1" dirty="0">
                        <a:latin typeface="Times New Roman" pitchFamily="18" charset="0"/>
                      </a:endParaRPr>
                    </a:p>
                  </a:txBody>
                  <a:tcPr marL="121920" marR="121920" marT="40796" marB="40796"/>
                </a:tc>
                <a:extLst>
                  <a:ext uri="{0D108BD9-81ED-4DB2-BD59-A6C34878D82A}">
                    <a16:rowId xmlns:a16="http://schemas.microsoft.com/office/drawing/2014/main" val="10004"/>
                  </a:ext>
                </a:extLst>
              </a:tr>
              <a:tr h="326369">
                <a:tc>
                  <a:txBody>
                    <a:bodyPr/>
                    <a:lstStyle/>
                    <a:p>
                      <a:pPr algn="ctr"/>
                      <a:r>
                        <a:rPr lang="en-US" sz="1600" dirty="0">
                          <a:solidFill>
                            <a:schemeClr val="tx1"/>
                          </a:solidFill>
                          <a:latin typeface="Calibri" panose="020F0502020204030204" pitchFamily="34" charset="0"/>
                        </a:rPr>
                        <a:t>500</a:t>
                      </a:r>
                    </a:p>
                  </a:txBody>
                  <a:tcPr marL="121920" marR="121920" marT="40796" marB="4079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600" b="1" i="1" dirty="0">
                          <a:latin typeface="Times New Roman" pitchFamily="18" charset="0"/>
                        </a:rPr>
                        <a:t>f, c, a, m, p</a:t>
                      </a:r>
                      <a:endParaRPr lang="en-US" altLang="en-US" sz="1600" b="1" dirty="0">
                        <a:latin typeface="Times New Roman" pitchFamily="18" charset="0"/>
                      </a:endParaRPr>
                    </a:p>
                  </a:txBody>
                  <a:tcPr marL="121920" marR="121920" marT="40796" marB="40796"/>
                </a:tc>
                <a:extLst>
                  <a:ext uri="{0D108BD9-81ED-4DB2-BD59-A6C34878D82A}">
                    <a16:rowId xmlns:a16="http://schemas.microsoft.com/office/drawing/2014/main" val="10005"/>
                  </a:ext>
                </a:extLst>
              </a:tr>
            </a:tbl>
          </a:graphicData>
        </a:graphic>
      </p:graphicFrame>
      <p:sp>
        <p:nvSpPr>
          <p:cNvPr id="27721" name="Freeform 31"/>
          <p:cNvSpPr>
            <a:spLocks/>
          </p:cNvSpPr>
          <p:nvPr/>
        </p:nvSpPr>
        <p:spPr bwMode="auto">
          <a:xfrm flipV="1">
            <a:off x="4341486" y="3390020"/>
            <a:ext cx="817872" cy="324409"/>
          </a:xfrm>
          <a:custGeom>
            <a:avLst/>
            <a:gdLst>
              <a:gd name="T0" fmla="*/ 0 w 432"/>
              <a:gd name="T1" fmla="*/ 0 h 192"/>
              <a:gd name="T2" fmla="*/ 2147483647 w 432"/>
              <a:gd name="T3" fmla="*/ 2147483647 h 192"/>
              <a:gd name="T4" fmla="*/ 2147483647 w 432"/>
              <a:gd name="T5" fmla="*/ 2147483647 h 192"/>
              <a:gd name="T6" fmla="*/ 2147483647 w 432"/>
              <a:gd name="T7" fmla="*/ 2147483647 h 192"/>
              <a:gd name="T8" fmla="*/ 0 60000 65536"/>
              <a:gd name="T9" fmla="*/ 0 60000 65536"/>
              <a:gd name="T10" fmla="*/ 0 60000 65536"/>
              <a:gd name="T11" fmla="*/ 0 60000 65536"/>
              <a:gd name="T12" fmla="*/ 0 w 432"/>
              <a:gd name="T13" fmla="*/ 0 h 192"/>
              <a:gd name="T14" fmla="*/ 432 w 432"/>
              <a:gd name="T15" fmla="*/ 192 h 192"/>
            </a:gdLst>
            <a:ahLst/>
            <a:cxnLst>
              <a:cxn ang="T8">
                <a:pos x="T0" y="T1"/>
              </a:cxn>
              <a:cxn ang="T9">
                <a:pos x="T2" y="T3"/>
              </a:cxn>
              <a:cxn ang="T10">
                <a:pos x="T4" y="T5"/>
              </a:cxn>
              <a:cxn ang="T11">
                <a:pos x="T6" y="T7"/>
              </a:cxn>
            </a:cxnLst>
            <a:rect l="T12" t="T13" r="T14" b="T15"/>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4" name="TextBox 3"/>
          <p:cNvSpPr txBox="1"/>
          <p:nvPr/>
        </p:nvSpPr>
        <p:spPr>
          <a:xfrm>
            <a:off x="3108411" y="5909999"/>
            <a:ext cx="1617895" cy="400050"/>
          </a:xfrm>
          <a:prstGeom prst="rect">
            <a:avLst/>
          </a:prstGeom>
          <a:solidFill>
            <a:schemeClr val="accent2">
              <a:lumMod val="40000"/>
              <a:lumOff val="60000"/>
            </a:schemeClr>
          </a:solidFill>
        </p:spPr>
        <p:txBody>
          <a:bodyPr wrap="square">
            <a:spAutoFit/>
          </a:bodyPr>
          <a:lstStyle/>
          <a:p>
            <a:pPr algn="ctr">
              <a:defRPr/>
            </a:pPr>
            <a:r>
              <a:rPr lang="en-US" sz="2000" b="1" dirty="0">
                <a:solidFill>
                  <a:srgbClr val="000000"/>
                </a:solidFill>
              </a:rPr>
              <a:t>Header Table</a:t>
            </a:r>
          </a:p>
        </p:txBody>
      </p:sp>
      <p:sp>
        <p:nvSpPr>
          <p:cNvPr id="14" name="TextBox 13"/>
          <p:cNvSpPr txBox="1"/>
          <p:nvPr/>
        </p:nvSpPr>
        <p:spPr>
          <a:xfrm>
            <a:off x="3043450" y="1228829"/>
            <a:ext cx="1861897" cy="1200329"/>
          </a:xfrm>
          <a:prstGeom prst="rect">
            <a:avLst/>
          </a:prstGeom>
          <a:solidFill>
            <a:srgbClr val="CCFFCC"/>
          </a:solidFill>
        </p:spPr>
        <p:txBody>
          <a:bodyPr wrap="square" rtlCol="0">
            <a:spAutoFit/>
          </a:bodyPr>
          <a:lstStyle/>
          <a:p>
            <a:pPr algn="ctr"/>
            <a:r>
              <a:rPr lang="en-US" sz="1800" dirty="0">
                <a:solidFill>
                  <a:srgbClr val="000000"/>
                </a:solidFill>
              </a:rPr>
              <a:t>After inserting the 1</a:t>
            </a:r>
            <a:r>
              <a:rPr lang="en-US" sz="1800" baseline="30000" dirty="0">
                <a:solidFill>
                  <a:srgbClr val="000000"/>
                </a:solidFill>
              </a:rPr>
              <a:t>st</a:t>
            </a:r>
            <a:r>
              <a:rPr lang="en-US" sz="1800" dirty="0">
                <a:solidFill>
                  <a:srgbClr val="000000"/>
                </a:solidFill>
              </a:rPr>
              <a:t>  frequent </a:t>
            </a:r>
            <a:r>
              <a:rPr lang="en-US" sz="1800" dirty="0" err="1">
                <a:solidFill>
                  <a:srgbClr val="000000"/>
                </a:solidFill>
              </a:rPr>
              <a:t>Itemlist</a:t>
            </a:r>
            <a:r>
              <a:rPr lang="en-US" sz="1800" dirty="0">
                <a:solidFill>
                  <a:srgbClr val="000000"/>
                </a:solidFill>
              </a:rPr>
              <a:t>: </a:t>
            </a:r>
          </a:p>
          <a:p>
            <a:pPr algn="ctr"/>
            <a:r>
              <a:rPr lang="en-US" sz="1800" dirty="0">
                <a:solidFill>
                  <a:srgbClr val="000000"/>
                </a:solidFill>
              </a:rPr>
              <a:t>“</a:t>
            </a:r>
            <a:r>
              <a:rPr lang="en-US" sz="1800" i="1" dirty="0">
                <a:solidFill>
                  <a:srgbClr val="000000"/>
                </a:solidFill>
              </a:rPr>
              <a:t>f, c, a, m, p</a:t>
            </a:r>
            <a:r>
              <a:rPr lang="en-US" sz="1800" dirty="0">
                <a:solidFill>
                  <a:srgbClr val="000000"/>
                </a:solidFill>
              </a:rPr>
              <a:t>”</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80250866-9910-4FBA-BADD-BB1E290FE248}"/>
                  </a:ext>
                </a:extLst>
              </p14:cNvPr>
              <p14:cNvContentPartPr/>
              <p14:nvPr/>
            </p14:nvContentPartPr>
            <p14:xfrm>
              <a:off x="1419840" y="2321521"/>
              <a:ext cx="1126440" cy="55440"/>
            </p14:xfrm>
          </p:contentPart>
        </mc:Choice>
        <mc:Fallback xmlns="">
          <p:pic>
            <p:nvPicPr>
              <p:cNvPr id="5" name="Ink 4">
                <a:extLst>
                  <a:ext uri="{FF2B5EF4-FFF2-40B4-BE49-F238E27FC236}">
                    <a16:creationId xmlns:a16="http://schemas.microsoft.com/office/drawing/2014/main" id="{80250866-9910-4FBA-BADD-BB1E290FE248}"/>
                  </a:ext>
                </a:extLst>
              </p:cNvPr>
              <p:cNvPicPr/>
              <p:nvPr/>
            </p:nvPicPr>
            <p:blipFill>
              <a:blip r:embed="rId4"/>
              <a:stretch>
                <a:fillRect/>
              </a:stretch>
            </p:blipFill>
            <p:spPr>
              <a:xfrm>
                <a:off x="1410480" y="2312161"/>
                <a:ext cx="1145160" cy="74160"/>
              </a:xfrm>
              <a:prstGeom prst="rect">
                <a:avLst/>
              </a:prstGeom>
            </p:spPr>
          </p:pic>
        </mc:Fallback>
      </mc:AlternateContent>
      <p:sp>
        <p:nvSpPr>
          <p:cNvPr id="7" name="TextBox 6">
            <a:extLst>
              <a:ext uri="{FF2B5EF4-FFF2-40B4-BE49-F238E27FC236}">
                <a16:creationId xmlns:a16="http://schemas.microsoft.com/office/drawing/2014/main" id="{764FE323-4F6A-E22E-BD61-B5D00372B5A1}"/>
              </a:ext>
            </a:extLst>
          </p:cNvPr>
          <p:cNvSpPr txBox="1"/>
          <p:nvPr/>
        </p:nvSpPr>
        <p:spPr>
          <a:xfrm>
            <a:off x="5766117" y="1357173"/>
            <a:ext cx="1720015" cy="1200329"/>
          </a:xfrm>
          <a:prstGeom prst="rect">
            <a:avLst/>
          </a:prstGeom>
          <a:solidFill>
            <a:srgbClr val="FFFFCC"/>
          </a:solidFill>
        </p:spPr>
        <p:txBody>
          <a:bodyPr wrap="square" rtlCol="0">
            <a:spAutoFit/>
          </a:bodyPr>
          <a:lstStyle/>
          <a:p>
            <a:pPr algn="ctr"/>
            <a:r>
              <a:rPr lang="en-US" sz="1800" dirty="0">
                <a:solidFill>
                  <a:srgbClr val="000000"/>
                </a:solidFill>
              </a:rPr>
              <a:t>After inserting the 2</a:t>
            </a:r>
            <a:r>
              <a:rPr lang="en-US" sz="1800" baseline="30000" dirty="0">
                <a:solidFill>
                  <a:srgbClr val="000000"/>
                </a:solidFill>
              </a:rPr>
              <a:t>nd</a:t>
            </a:r>
            <a:r>
              <a:rPr lang="en-US" sz="1800" dirty="0">
                <a:solidFill>
                  <a:srgbClr val="000000"/>
                </a:solidFill>
              </a:rPr>
              <a:t> frequent </a:t>
            </a:r>
            <a:r>
              <a:rPr lang="en-US" sz="1800" dirty="0" err="1">
                <a:solidFill>
                  <a:srgbClr val="000000"/>
                </a:solidFill>
              </a:rPr>
              <a:t>itemlist</a:t>
            </a:r>
            <a:r>
              <a:rPr lang="en-US" sz="1800" dirty="0">
                <a:solidFill>
                  <a:srgbClr val="000000"/>
                </a:solidFill>
              </a:rPr>
              <a:t> </a:t>
            </a:r>
          </a:p>
          <a:p>
            <a:pPr algn="ctr"/>
            <a:r>
              <a:rPr lang="en-US" sz="1800" dirty="0">
                <a:solidFill>
                  <a:srgbClr val="000000"/>
                </a:solidFill>
              </a:rPr>
              <a:t>“</a:t>
            </a:r>
            <a:r>
              <a:rPr lang="en-US" sz="1800" i="1" dirty="0">
                <a:solidFill>
                  <a:srgbClr val="000000"/>
                </a:solidFill>
              </a:rPr>
              <a:t>f, c, a, b, m</a:t>
            </a:r>
            <a:r>
              <a:rPr lang="en-US" sz="1800" dirty="0">
                <a:solidFill>
                  <a:srgbClr val="000000"/>
                </a:solidFill>
              </a:rPr>
              <a:t>”</a:t>
            </a:r>
          </a:p>
        </p:txBody>
      </p:sp>
      <p:grpSp>
        <p:nvGrpSpPr>
          <p:cNvPr id="8" name="Group 6">
            <a:extLst>
              <a:ext uri="{FF2B5EF4-FFF2-40B4-BE49-F238E27FC236}">
                <a16:creationId xmlns:a16="http://schemas.microsoft.com/office/drawing/2014/main" id="{2762357A-1DA9-F594-46BD-756F97E826B0}"/>
              </a:ext>
            </a:extLst>
          </p:cNvPr>
          <p:cNvGrpSpPr>
            <a:grpSpLocks/>
          </p:cNvGrpSpPr>
          <p:nvPr/>
        </p:nvGrpSpPr>
        <p:grpSpPr bwMode="auto">
          <a:xfrm>
            <a:off x="6583848" y="1850197"/>
            <a:ext cx="1959930" cy="3632753"/>
            <a:chOff x="6386643" y="2944293"/>
            <a:chExt cx="1469700" cy="3632753"/>
          </a:xfrm>
        </p:grpSpPr>
        <p:sp>
          <p:nvSpPr>
            <p:cNvPr id="9" name="Text Box 4">
              <a:extLst>
                <a:ext uri="{FF2B5EF4-FFF2-40B4-BE49-F238E27FC236}">
                  <a16:creationId xmlns:a16="http://schemas.microsoft.com/office/drawing/2014/main" id="{1D62D240-DB0F-ED86-137F-A013520EE0B7}"/>
                </a:ext>
              </a:extLst>
            </p:cNvPr>
            <p:cNvSpPr txBox="1">
              <a:spLocks noChangeArrowheads="1"/>
            </p:cNvSpPr>
            <p:nvPr/>
          </p:nvSpPr>
          <p:spPr bwMode="auto">
            <a:xfrm>
              <a:off x="7120536" y="2944293"/>
              <a:ext cx="343482"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dirty="0">
                  <a:solidFill>
                    <a:srgbClr val="000000"/>
                  </a:solidFill>
                  <a:latin typeface="Times New Roman" pitchFamily="18" charset="0"/>
                </a:rPr>
                <a:t>{} </a:t>
              </a:r>
            </a:p>
          </p:txBody>
        </p:sp>
        <p:sp>
          <p:nvSpPr>
            <p:cNvPr id="10" name="Text Box 5">
              <a:extLst>
                <a:ext uri="{FF2B5EF4-FFF2-40B4-BE49-F238E27FC236}">
                  <a16:creationId xmlns:a16="http://schemas.microsoft.com/office/drawing/2014/main" id="{503536B6-8167-26DB-FAA6-423133B31E44}"/>
                </a:ext>
              </a:extLst>
            </p:cNvPr>
            <p:cNvSpPr txBox="1">
              <a:spLocks noChangeArrowheads="1"/>
            </p:cNvSpPr>
            <p:nvPr/>
          </p:nvSpPr>
          <p:spPr bwMode="auto">
            <a:xfrm>
              <a:off x="7120536" y="3681012"/>
              <a:ext cx="351239"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solidFill>
                    <a:srgbClr val="000000"/>
                  </a:solidFill>
                  <a:latin typeface="Times New Roman" pitchFamily="18" charset="0"/>
                </a:rPr>
                <a:t>f:2</a:t>
              </a:r>
            </a:p>
          </p:txBody>
        </p:sp>
        <p:cxnSp>
          <p:nvCxnSpPr>
            <p:cNvPr id="11" name="AutoShape 12">
              <a:extLst>
                <a:ext uri="{FF2B5EF4-FFF2-40B4-BE49-F238E27FC236}">
                  <a16:creationId xmlns:a16="http://schemas.microsoft.com/office/drawing/2014/main" id="{65654507-A394-424B-5CEE-629C9039D253}"/>
                </a:ext>
              </a:extLst>
            </p:cNvPr>
            <p:cNvCxnSpPr>
              <a:cxnSpLocks noChangeShapeType="1"/>
              <a:stCxn id="9" idx="2"/>
              <a:endCxn id="10" idx="0"/>
            </p:cNvCxnSpPr>
            <p:nvPr/>
          </p:nvCxnSpPr>
          <p:spPr bwMode="auto">
            <a:xfrm>
              <a:off x="7292277" y="3344403"/>
              <a:ext cx="3878" cy="336609"/>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12" name="Text Box 14">
              <a:extLst>
                <a:ext uri="{FF2B5EF4-FFF2-40B4-BE49-F238E27FC236}">
                  <a16:creationId xmlns:a16="http://schemas.microsoft.com/office/drawing/2014/main" id="{ACFF8117-C6F1-674C-A67F-CAE9B142693F}"/>
                </a:ext>
              </a:extLst>
            </p:cNvPr>
            <p:cNvSpPr txBox="1">
              <a:spLocks noChangeArrowheads="1"/>
            </p:cNvSpPr>
            <p:nvPr/>
          </p:nvSpPr>
          <p:spPr bwMode="auto">
            <a:xfrm>
              <a:off x="7097396" y="4273967"/>
              <a:ext cx="383694"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solidFill>
                    <a:srgbClr val="000000"/>
                  </a:solidFill>
                  <a:latin typeface="Times New Roman" pitchFamily="18" charset="0"/>
                </a:rPr>
                <a:t>c:2</a:t>
              </a:r>
            </a:p>
          </p:txBody>
        </p:sp>
        <p:cxnSp>
          <p:nvCxnSpPr>
            <p:cNvPr id="13" name="AutoShape 15">
              <a:extLst>
                <a:ext uri="{FF2B5EF4-FFF2-40B4-BE49-F238E27FC236}">
                  <a16:creationId xmlns:a16="http://schemas.microsoft.com/office/drawing/2014/main" id="{4B15BA31-7648-DE1B-D62C-723FD22134B4}"/>
                </a:ext>
              </a:extLst>
            </p:cNvPr>
            <p:cNvCxnSpPr>
              <a:cxnSpLocks noChangeShapeType="1"/>
              <a:stCxn id="10" idx="2"/>
              <a:endCxn id="12" idx="0"/>
            </p:cNvCxnSpPr>
            <p:nvPr/>
          </p:nvCxnSpPr>
          <p:spPr bwMode="auto">
            <a:xfrm flipH="1">
              <a:off x="7289243" y="4081122"/>
              <a:ext cx="6912" cy="192845"/>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15" name="Text Box 17">
              <a:extLst>
                <a:ext uri="{FF2B5EF4-FFF2-40B4-BE49-F238E27FC236}">
                  <a16:creationId xmlns:a16="http://schemas.microsoft.com/office/drawing/2014/main" id="{BF5680A2-08FF-FCC5-01D4-257C00FA60CE}"/>
                </a:ext>
              </a:extLst>
            </p:cNvPr>
            <p:cNvSpPr txBox="1">
              <a:spLocks noChangeArrowheads="1"/>
            </p:cNvSpPr>
            <p:nvPr/>
          </p:nvSpPr>
          <p:spPr bwMode="auto">
            <a:xfrm>
              <a:off x="7101029" y="4922007"/>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solidFill>
                    <a:srgbClr val="000000"/>
                  </a:solidFill>
                  <a:latin typeface="Times New Roman" pitchFamily="18" charset="0"/>
                </a:rPr>
                <a:t>a:2</a:t>
              </a:r>
            </a:p>
          </p:txBody>
        </p:sp>
        <p:sp>
          <p:nvSpPr>
            <p:cNvPr id="16" name="Text Box 18">
              <a:extLst>
                <a:ext uri="{FF2B5EF4-FFF2-40B4-BE49-F238E27FC236}">
                  <a16:creationId xmlns:a16="http://schemas.microsoft.com/office/drawing/2014/main" id="{CCDF0BEE-7237-569A-B19D-B39542B371B9}"/>
                </a:ext>
              </a:extLst>
            </p:cNvPr>
            <p:cNvSpPr txBox="1">
              <a:spLocks noChangeArrowheads="1"/>
            </p:cNvSpPr>
            <p:nvPr/>
          </p:nvSpPr>
          <p:spPr bwMode="auto">
            <a:xfrm>
              <a:off x="7446732" y="5551105"/>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solidFill>
                    <a:srgbClr val="000000"/>
                  </a:solidFill>
                  <a:latin typeface="Times New Roman" pitchFamily="18" charset="0"/>
                </a:rPr>
                <a:t>b:1</a:t>
              </a:r>
            </a:p>
          </p:txBody>
        </p:sp>
        <p:sp>
          <p:nvSpPr>
            <p:cNvPr id="17" name="Text Box 19">
              <a:extLst>
                <a:ext uri="{FF2B5EF4-FFF2-40B4-BE49-F238E27FC236}">
                  <a16:creationId xmlns:a16="http://schemas.microsoft.com/office/drawing/2014/main" id="{04ABCF5A-A383-F4D7-5BE7-7261348DB9BF}"/>
                </a:ext>
              </a:extLst>
            </p:cNvPr>
            <p:cNvSpPr txBox="1">
              <a:spLocks noChangeArrowheads="1"/>
            </p:cNvSpPr>
            <p:nvPr/>
          </p:nvSpPr>
          <p:spPr bwMode="auto">
            <a:xfrm>
              <a:off x="6779933" y="5551105"/>
              <a:ext cx="437786"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solidFill>
                    <a:srgbClr val="000000"/>
                  </a:solidFill>
                  <a:latin typeface="Times New Roman" pitchFamily="18" charset="0"/>
                </a:rPr>
                <a:t>m:1</a:t>
              </a:r>
            </a:p>
          </p:txBody>
        </p:sp>
        <p:sp>
          <p:nvSpPr>
            <p:cNvPr id="18" name="Text Box 20">
              <a:extLst>
                <a:ext uri="{FF2B5EF4-FFF2-40B4-BE49-F238E27FC236}">
                  <a16:creationId xmlns:a16="http://schemas.microsoft.com/office/drawing/2014/main" id="{FCE7FA6B-B30F-D0B7-3A1F-847AAFB6739B}"/>
                </a:ext>
              </a:extLst>
            </p:cNvPr>
            <p:cNvSpPr txBox="1">
              <a:spLocks noChangeArrowheads="1"/>
            </p:cNvSpPr>
            <p:nvPr/>
          </p:nvSpPr>
          <p:spPr bwMode="auto">
            <a:xfrm>
              <a:off x="6808107" y="6176936"/>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solidFill>
                    <a:srgbClr val="000000"/>
                  </a:solidFill>
                  <a:latin typeface="Times New Roman" pitchFamily="18" charset="0"/>
                </a:rPr>
                <a:t>p:1</a:t>
              </a:r>
            </a:p>
          </p:txBody>
        </p:sp>
        <p:cxnSp>
          <p:nvCxnSpPr>
            <p:cNvPr id="19" name="AutoShape 21">
              <a:extLst>
                <a:ext uri="{FF2B5EF4-FFF2-40B4-BE49-F238E27FC236}">
                  <a16:creationId xmlns:a16="http://schemas.microsoft.com/office/drawing/2014/main" id="{457ECEF2-5EBB-454D-101D-6390F1216B38}"/>
                </a:ext>
              </a:extLst>
            </p:cNvPr>
            <p:cNvCxnSpPr>
              <a:cxnSpLocks noChangeShapeType="1"/>
              <a:stCxn id="12" idx="2"/>
              <a:endCxn id="15" idx="0"/>
            </p:cNvCxnSpPr>
            <p:nvPr/>
          </p:nvCxnSpPr>
          <p:spPr bwMode="auto">
            <a:xfrm>
              <a:off x="7289243" y="4674077"/>
              <a:ext cx="9042" cy="247930"/>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20" name="AutoShape 22">
              <a:extLst>
                <a:ext uri="{FF2B5EF4-FFF2-40B4-BE49-F238E27FC236}">
                  <a16:creationId xmlns:a16="http://schemas.microsoft.com/office/drawing/2014/main" id="{C69266EF-7871-89B6-C2AA-01769468F722}"/>
                </a:ext>
              </a:extLst>
            </p:cNvPr>
            <p:cNvCxnSpPr>
              <a:cxnSpLocks noChangeShapeType="1"/>
              <a:stCxn id="15" idx="2"/>
              <a:endCxn id="17" idx="0"/>
            </p:cNvCxnSpPr>
            <p:nvPr/>
          </p:nvCxnSpPr>
          <p:spPr bwMode="auto">
            <a:xfrm flipH="1">
              <a:off x="6998826" y="5322117"/>
              <a:ext cx="299459" cy="228988"/>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21" name="AutoShape 23">
              <a:extLst>
                <a:ext uri="{FF2B5EF4-FFF2-40B4-BE49-F238E27FC236}">
                  <a16:creationId xmlns:a16="http://schemas.microsoft.com/office/drawing/2014/main" id="{A9C65DC2-01C0-9A0D-AD78-3907FD1AC17D}"/>
                </a:ext>
              </a:extLst>
            </p:cNvPr>
            <p:cNvCxnSpPr>
              <a:cxnSpLocks noChangeShapeType="1"/>
              <a:stCxn id="15" idx="2"/>
              <a:endCxn id="16" idx="0"/>
            </p:cNvCxnSpPr>
            <p:nvPr/>
          </p:nvCxnSpPr>
          <p:spPr bwMode="auto">
            <a:xfrm>
              <a:off x="7298285" y="5322117"/>
              <a:ext cx="345703" cy="228988"/>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22" name="AutoShape 24">
              <a:extLst>
                <a:ext uri="{FF2B5EF4-FFF2-40B4-BE49-F238E27FC236}">
                  <a16:creationId xmlns:a16="http://schemas.microsoft.com/office/drawing/2014/main" id="{E36C8A08-2F5F-A56E-2504-C77203CB263E}"/>
                </a:ext>
              </a:extLst>
            </p:cNvPr>
            <p:cNvCxnSpPr>
              <a:cxnSpLocks noChangeShapeType="1"/>
              <a:stCxn id="17" idx="2"/>
              <a:endCxn id="18" idx="0"/>
            </p:cNvCxnSpPr>
            <p:nvPr/>
          </p:nvCxnSpPr>
          <p:spPr bwMode="auto">
            <a:xfrm>
              <a:off x="6998826" y="5951215"/>
              <a:ext cx="6537"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23" name="Text Box 25">
              <a:extLst>
                <a:ext uri="{FF2B5EF4-FFF2-40B4-BE49-F238E27FC236}">
                  <a16:creationId xmlns:a16="http://schemas.microsoft.com/office/drawing/2014/main" id="{26748E10-9FC4-8730-24F7-FCB4B460AB78}"/>
                </a:ext>
              </a:extLst>
            </p:cNvPr>
            <p:cNvSpPr txBox="1">
              <a:spLocks noChangeArrowheads="1"/>
            </p:cNvSpPr>
            <p:nvPr/>
          </p:nvSpPr>
          <p:spPr bwMode="auto">
            <a:xfrm>
              <a:off x="7418557" y="6176936"/>
              <a:ext cx="437786"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solidFill>
                    <a:srgbClr val="000000"/>
                  </a:solidFill>
                  <a:latin typeface="Times New Roman" pitchFamily="18" charset="0"/>
                </a:rPr>
                <a:t>m:1</a:t>
              </a:r>
            </a:p>
          </p:txBody>
        </p:sp>
        <p:cxnSp>
          <p:nvCxnSpPr>
            <p:cNvPr id="24" name="AutoShape 26">
              <a:extLst>
                <a:ext uri="{FF2B5EF4-FFF2-40B4-BE49-F238E27FC236}">
                  <a16:creationId xmlns:a16="http://schemas.microsoft.com/office/drawing/2014/main" id="{097E5F48-AEBE-427B-A481-0C8C83A7FAC9}"/>
                </a:ext>
              </a:extLst>
            </p:cNvPr>
            <p:cNvCxnSpPr>
              <a:cxnSpLocks noChangeShapeType="1"/>
              <a:stCxn id="16" idx="2"/>
              <a:endCxn id="23" idx="0"/>
            </p:cNvCxnSpPr>
            <p:nvPr/>
          </p:nvCxnSpPr>
          <p:spPr bwMode="auto">
            <a:xfrm flipH="1">
              <a:off x="7637451" y="5951215"/>
              <a:ext cx="6538"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25" name="Freeform 28">
              <a:extLst>
                <a:ext uri="{FF2B5EF4-FFF2-40B4-BE49-F238E27FC236}">
                  <a16:creationId xmlns:a16="http://schemas.microsoft.com/office/drawing/2014/main" id="{895BB2B3-6B4C-1C3D-1511-5D219EA72266}"/>
                </a:ext>
              </a:extLst>
            </p:cNvPr>
            <p:cNvSpPr>
              <a:spLocks/>
            </p:cNvSpPr>
            <p:nvPr/>
          </p:nvSpPr>
          <p:spPr bwMode="auto">
            <a:xfrm>
              <a:off x="6465398" y="3927708"/>
              <a:ext cx="631998" cy="594190"/>
            </a:xfrm>
            <a:custGeom>
              <a:avLst/>
              <a:gdLst>
                <a:gd name="T0" fmla="*/ 0 w 672"/>
                <a:gd name="T1" fmla="*/ 2147483647 h 240"/>
                <a:gd name="T2" fmla="*/ 2147483647 w 672"/>
                <a:gd name="T3" fmla="*/ 2147483647 h 240"/>
                <a:gd name="T4" fmla="*/ 2147483647 w 672"/>
                <a:gd name="T5" fmla="*/ 2147483647 h 240"/>
                <a:gd name="T6" fmla="*/ 2147483647 w 672"/>
                <a:gd name="T7" fmla="*/ 0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cubicBezTo>
                    <a:pt x="108" y="232"/>
                    <a:pt x="216" y="224"/>
                    <a:pt x="288" y="192"/>
                  </a:cubicBezTo>
                  <a:cubicBezTo>
                    <a:pt x="360" y="160"/>
                    <a:pt x="368" y="80"/>
                    <a:pt x="432" y="48"/>
                  </a:cubicBezTo>
                  <a:cubicBezTo>
                    <a:pt x="496" y="16"/>
                    <a:pt x="584" y="8"/>
                    <a:pt x="67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6" name="Freeform 31">
              <a:extLst>
                <a:ext uri="{FF2B5EF4-FFF2-40B4-BE49-F238E27FC236}">
                  <a16:creationId xmlns:a16="http://schemas.microsoft.com/office/drawing/2014/main" id="{407F8604-60EF-E87A-C5E7-5DEC68FB6E2B}"/>
                </a:ext>
              </a:extLst>
            </p:cNvPr>
            <p:cNvSpPr>
              <a:spLocks/>
            </p:cNvSpPr>
            <p:nvPr/>
          </p:nvSpPr>
          <p:spPr bwMode="auto">
            <a:xfrm flipV="1">
              <a:off x="6465398" y="5165475"/>
              <a:ext cx="597845" cy="105517"/>
            </a:xfrm>
            <a:custGeom>
              <a:avLst/>
              <a:gdLst>
                <a:gd name="T0" fmla="*/ 0 w 432"/>
                <a:gd name="T1" fmla="*/ 0 h 192"/>
                <a:gd name="T2" fmla="*/ 2147483647 w 432"/>
                <a:gd name="T3" fmla="*/ 2147483647 h 192"/>
                <a:gd name="T4" fmla="*/ 2147483647 w 432"/>
                <a:gd name="T5" fmla="*/ 2147483647 h 192"/>
                <a:gd name="T6" fmla="*/ 2147483647 w 432"/>
                <a:gd name="T7" fmla="*/ 2147483647 h 192"/>
                <a:gd name="T8" fmla="*/ 0 60000 65536"/>
                <a:gd name="T9" fmla="*/ 0 60000 65536"/>
                <a:gd name="T10" fmla="*/ 0 60000 65536"/>
                <a:gd name="T11" fmla="*/ 0 60000 65536"/>
                <a:gd name="T12" fmla="*/ 0 w 432"/>
                <a:gd name="T13" fmla="*/ 0 h 192"/>
                <a:gd name="T14" fmla="*/ 432 w 432"/>
                <a:gd name="T15" fmla="*/ 192 h 192"/>
              </a:gdLst>
              <a:ahLst/>
              <a:cxnLst>
                <a:cxn ang="T8">
                  <a:pos x="T0" y="T1"/>
                </a:cxn>
                <a:cxn ang="T9">
                  <a:pos x="T2" y="T3"/>
                </a:cxn>
                <a:cxn ang="T10">
                  <a:pos x="T4" y="T5"/>
                </a:cxn>
                <a:cxn ang="T11">
                  <a:pos x="T6" y="T7"/>
                </a:cxn>
              </a:cxnLst>
              <a:rect l="T12" t="T13" r="T14" b="T15"/>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7" name="Freeform 32">
              <a:extLst>
                <a:ext uri="{FF2B5EF4-FFF2-40B4-BE49-F238E27FC236}">
                  <a16:creationId xmlns:a16="http://schemas.microsoft.com/office/drawing/2014/main" id="{DA9DE410-80EA-575A-9D09-8B5B6D2CAF4F}"/>
                </a:ext>
              </a:extLst>
            </p:cNvPr>
            <p:cNvSpPr>
              <a:spLocks/>
            </p:cNvSpPr>
            <p:nvPr/>
          </p:nvSpPr>
          <p:spPr bwMode="auto">
            <a:xfrm>
              <a:off x="6465398" y="5561580"/>
              <a:ext cx="953159" cy="210392"/>
            </a:xfrm>
            <a:custGeom>
              <a:avLst/>
              <a:gdLst>
                <a:gd name="T0" fmla="*/ 0 w 720"/>
                <a:gd name="T1" fmla="*/ 0 h 384"/>
                <a:gd name="T2" fmla="*/ 2147483647 w 720"/>
                <a:gd name="T3" fmla="*/ 2147483647 h 384"/>
                <a:gd name="T4" fmla="*/ 2147483647 w 720"/>
                <a:gd name="T5" fmla="*/ 2147483647 h 384"/>
                <a:gd name="T6" fmla="*/ 2147483647 w 720"/>
                <a:gd name="T7" fmla="*/ 2147483647 h 384"/>
                <a:gd name="T8" fmla="*/ 0 60000 65536"/>
                <a:gd name="T9" fmla="*/ 0 60000 65536"/>
                <a:gd name="T10" fmla="*/ 0 60000 65536"/>
                <a:gd name="T11" fmla="*/ 0 60000 65536"/>
                <a:gd name="T12" fmla="*/ 0 w 720"/>
                <a:gd name="T13" fmla="*/ 0 h 384"/>
                <a:gd name="T14" fmla="*/ 720 w 720"/>
                <a:gd name="T15" fmla="*/ 384 h 384"/>
              </a:gdLst>
              <a:ahLst/>
              <a:cxnLst>
                <a:cxn ang="T8">
                  <a:pos x="T0" y="T1"/>
                </a:cxn>
                <a:cxn ang="T9">
                  <a:pos x="T2" y="T3"/>
                </a:cxn>
                <a:cxn ang="T10">
                  <a:pos x="T4" y="T5"/>
                </a:cxn>
                <a:cxn ang="T11">
                  <a:pos x="T6" y="T7"/>
                </a:cxn>
              </a:cxnLst>
              <a:rect l="T12" t="T13" r="T14" b="T15"/>
              <a:pathLst>
                <a:path w="720" h="384">
                  <a:moveTo>
                    <a:pt x="0" y="0"/>
                  </a:moveTo>
                  <a:cubicBezTo>
                    <a:pt x="76" y="0"/>
                    <a:pt x="152" y="0"/>
                    <a:pt x="240" y="48"/>
                  </a:cubicBezTo>
                  <a:cubicBezTo>
                    <a:pt x="328" y="96"/>
                    <a:pt x="448" y="232"/>
                    <a:pt x="528" y="288"/>
                  </a:cubicBezTo>
                  <a:cubicBezTo>
                    <a:pt x="608" y="344"/>
                    <a:pt x="664" y="364"/>
                    <a:pt x="720"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 name="Freeform 35">
              <a:extLst>
                <a:ext uri="{FF2B5EF4-FFF2-40B4-BE49-F238E27FC236}">
                  <a16:creationId xmlns:a16="http://schemas.microsoft.com/office/drawing/2014/main" id="{A8C6C01A-2EDC-485D-E1EA-312794ECAF65}"/>
                </a:ext>
              </a:extLst>
            </p:cNvPr>
            <p:cNvSpPr>
              <a:spLocks/>
            </p:cNvSpPr>
            <p:nvPr/>
          </p:nvSpPr>
          <p:spPr bwMode="auto">
            <a:xfrm flipV="1">
              <a:off x="6511838" y="5856557"/>
              <a:ext cx="276919" cy="145783"/>
            </a:xfrm>
            <a:custGeom>
              <a:avLst/>
              <a:gdLst>
                <a:gd name="T0" fmla="*/ 0 w 288"/>
                <a:gd name="T1" fmla="*/ 0 h 240"/>
                <a:gd name="T2" fmla="*/ 2147483647 w 288"/>
                <a:gd name="T3" fmla="*/ 2147483647 h 240"/>
                <a:gd name="T4" fmla="*/ 2147483647 w 288"/>
                <a:gd name="T5" fmla="*/ 2147483647 h 240"/>
                <a:gd name="T6" fmla="*/ 2147483647 w 288"/>
                <a:gd name="T7" fmla="*/ 2147483647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0" y="0"/>
                  </a:moveTo>
                  <a:cubicBezTo>
                    <a:pt x="56" y="8"/>
                    <a:pt x="112" y="16"/>
                    <a:pt x="144" y="48"/>
                  </a:cubicBezTo>
                  <a:cubicBezTo>
                    <a:pt x="176" y="80"/>
                    <a:pt x="168" y="160"/>
                    <a:pt x="192" y="192"/>
                  </a:cubicBezTo>
                  <a:cubicBezTo>
                    <a:pt x="216" y="224"/>
                    <a:pt x="252" y="232"/>
                    <a:pt x="288" y="24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9" name="Freeform 36">
              <a:extLst>
                <a:ext uri="{FF2B5EF4-FFF2-40B4-BE49-F238E27FC236}">
                  <a16:creationId xmlns:a16="http://schemas.microsoft.com/office/drawing/2014/main" id="{FECEB5A4-C729-42D1-E135-0B601CB3DF32}"/>
                </a:ext>
              </a:extLst>
            </p:cNvPr>
            <p:cNvSpPr>
              <a:spLocks/>
            </p:cNvSpPr>
            <p:nvPr/>
          </p:nvSpPr>
          <p:spPr bwMode="auto">
            <a:xfrm>
              <a:off x="7202620" y="5871373"/>
              <a:ext cx="250373" cy="549033"/>
            </a:xfrm>
            <a:custGeom>
              <a:avLst/>
              <a:gdLst>
                <a:gd name="T0" fmla="*/ 0 w 96"/>
                <a:gd name="T1" fmla="*/ 0 h 384"/>
                <a:gd name="T2" fmla="*/ 2147483647 w 96"/>
                <a:gd name="T3" fmla="*/ 2147483647 h 384"/>
                <a:gd name="T4" fmla="*/ 2147483647 w 96"/>
                <a:gd name="T5" fmla="*/ 2147483647 h 384"/>
                <a:gd name="T6" fmla="*/ 2147483647 w 96"/>
                <a:gd name="T7" fmla="*/ 2147483647 h 384"/>
                <a:gd name="T8" fmla="*/ 0 60000 65536"/>
                <a:gd name="T9" fmla="*/ 0 60000 65536"/>
                <a:gd name="T10" fmla="*/ 0 60000 65536"/>
                <a:gd name="T11" fmla="*/ 0 60000 65536"/>
                <a:gd name="T12" fmla="*/ 0 w 96"/>
                <a:gd name="T13" fmla="*/ 0 h 384"/>
                <a:gd name="T14" fmla="*/ 96 w 96"/>
                <a:gd name="T15" fmla="*/ 384 h 384"/>
              </a:gdLst>
              <a:ahLst/>
              <a:cxnLst>
                <a:cxn ang="T8">
                  <a:pos x="T0" y="T1"/>
                </a:cxn>
                <a:cxn ang="T9">
                  <a:pos x="T2" y="T3"/>
                </a:cxn>
                <a:cxn ang="T10">
                  <a:pos x="T4" y="T5"/>
                </a:cxn>
                <a:cxn ang="T11">
                  <a:pos x="T6" y="T7"/>
                </a:cxn>
              </a:cxnLst>
              <a:rect l="T12" t="T13" r="T14" b="T15"/>
              <a:pathLst>
                <a:path w="96" h="384">
                  <a:moveTo>
                    <a:pt x="0" y="0"/>
                  </a:moveTo>
                  <a:cubicBezTo>
                    <a:pt x="20" y="24"/>
                    <a:pt x="40" y="48"/>
                    <a:pt x="48" y="96"/>
                  </a:cubicBezTo>
                  <a:cubicBezTo>
                    <a:pt x="56" y="144"/>
                    <a:pt x="40" y="240"/>
                    <a:pt x="48" y="288"/>
                  </a:cubicBezTo>
                  <a:cubicBezTo>
                    <a:pt x="56" y="336"/>
                    <a:pt x="76" y="360"/>
                    <a:pt x="96"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30" name="Freeform 37">
              <a:extLst>
                <a:ext uri="{FF2B5EF4-FFF2-40B4-BE49-F238E27FC236}">
                  <a16:creationId xmlns:a16="http://schemas.microsoft.com/office/drawing/2014/main" id="{EFC0C83C-6283-3B5A-E85B-3497E21F5B5A}"/>
                </a:ext>
              </a:extLst>
            </p:cNvPr>
            <p:cNvSpPr>
              <a:spLocks/>
            </p:cNvSpPr>
            <p:nvPr/>
          </p:nvSpPr>
          <p:spPr bwMode="auto">
            <a:xfrm>
              <a:off x="6386643" y="6374686"/>
              <a:ext cx="465292" cy="45719"/>
            </a:xfrm>
            <a:custGeom>
              <a:avLst/>
              <a:gdLst>
                <a:gd name="T0" fmla="*/ 0 w 288"/>
                <a:gd name="T1" fmla="*/ 0 h 432"/>
                <a:gd name="T2" fmla="*/ 2147483647 w 288"/>
                <a:gd name="T3" fmla="*/ 2147483647 h 432"/>
                <a:gd name="T4" fmla="*/ 2147483647 w 288"/>
                <a:gd name="T5" fmla="*/ 2147483647 h 432"/>
                <a:gd name="T6" fmla="*/ 2147483647 w 288"/>
                <a:gd name="T7" fmla="*/ 2147483647 h 432"/>
                <a:gd name="T8" fmla="*/ 0 60000 65536"/>
                <a:gd name="T9" fmla="*/ 0 60000 65536"/>
                <a:gd name="T10" fmla="*/ 0 60000 65536"/>
                <a:gd name="T11" fmla="*/ 0 60000 65536"/>
                <a:gd name="T12" fmla="*/ 0 w 288"/>
                <a:gd name="T13" fmla="*/ 0 h 432"/>
                <a:gd name="T14" fmla="*/ 288 w 288"/>
                <a:gd name="T15" fmla="*/ 432 h 432"/>
              </a:gdLst>
              <a:ahLst/>
              <a:cxnLst>
                <a:cxn ang="T8">
                  <a:pos x="T0" y="T1"/>
                </a:cxn>
                <a:cxn ang="T9">
                  <a:pos x="T2" y="T3"/>
                </a:cxn>
                <a:cxn ang="T10">
                  <a:pos x="T4" y="T5"/>
                </a:cxn>
                <a:cxn ang="T11">
                  <a:pos x="T6" y="T7"/>
                </a:cxn>
              </a:cxnLst>
              <a:rect l="T12" t="T13" r="T14" b="T15"/>
              <a:pathLst>
                <a:path w="288" h="432">
                  <a:moveTo>
                    <a:pt x="0" y="0"/>
                  </a:moveTo>
                  <a:cubicBezTo>
                    <a:pt x="36" y="44"/>
                    <a:pt x="72" y="88"/>
                    <a:pt x="96" y="144"/>
                  </a:cubicBezTo>
                  <a:cubicBezTo>
                    <a:pt x="120" y="200"/>
                    <a:pt x="112" y="288"/>
                    <a:pt x="144" y="336"/>
                  </a:cubicBezTo>
                  <a:cubicBezTo>
                    <a:pt x="176" y="384"/>
                    <a:pt x="232" y="408"/>
                    <a:pt x="288" y="43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grpSp>
      <p:sp>
        <p:nvSpPr>
          <p:cNvPr id="31" name="Freeform 28">
            <a:extLst>
              <a:ext uri="{FF2B5EF4-FFF2-40B4-BE49-F238E27FC236}">
                <a16:creationId xmlns:a16="http://schemas.microsoft.com/office/drawing/2014/main" id="{1576CE7C-1225-571D-A1E9-3EC6AE2C8EEB}"/>
              </a:ext>
            </a:extLst>
          </p:cNvPr>
          <p:cNvSpPr>
            <a:spLocks/>
          </p:cNvSpPr>
          <p:nvPr/>
        </p:nvSpPr>
        <p:spPr bwMode="auto">
          <a:xfrm>
            <a:off x="6742088" y="3361660"/>
            <a:ext cx="876951" cy="442890"/>
          </a:xfrm>
          <a:custGeom>
            <a:avLst/>
            <a:gdLst>
              <a:gd name="T0" fmla="*/ 0 w 672"/>
              <a:gd name="T1" fmla="*/ 2147483647 h 240"/>
              <a:gd name="T2" fmla="*/ 2147483647 w 672"/>
              <a:gd name="T3" fmla="*/ 2147483647 h 240"/>
              <a:gd name="T4" fmla="*/ 2147483647 w 672"/>
              <a:gd name="T5" fmla="*/ 2147483647 h 240"/>
              <a:gd name="T6" fmla="*/ 2147483647 w 672"/>
              <a:gd name="T7" fmla="*/ 0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cubicBezTo>
                  <a:pt x="108" y="232"/>
                  <a:pt x="216" y="224"/>
                  <a:pt x="288" y="192"/>
                </a:cubicBezTo>
                <a:cubicBezTo>
                  <a:pt x="360" y="160"/>
                  <a:pt x="368" y="80"/>
                  <a:pt x="432" y="48"/>
                </a:cubicBezTo>
                <a:cubicBezTo>
                  <a:pt x="496" y="16"/>
                  <a:pt x="584" y="8"/>
                  <a:pt x="67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grpSp>
        <p:nvGrpSpPr>
          <p:cNvPr id="36" name="Group 6">
            <a:extLst>
              <a:ext uri="{FF2B5EF4-FFF2-40B4-BE49-F238E27FC236}">
                <a16:creationId xmlns:a16="http://schemas.microsoft.com/office/drawing/2014/main" id="{11DB73B8-53F7-A15A-C015-D8D0E6FFF3AC}"/>
              </a:ext>
            </a:extLst>
          </p:cNvPr>
          <p:cNvGrpSpPr>
            <a:grpSpLocks/>
          </p:cNvGrpSpPr>
          <p:nvPr/>
        </p:nvGrpSpPr>
        <p:grpSpPr bwMode="auto">
          <a:xfrm>
            <a:off x="9324973" y="1851076"/>
            <a:ext cx="2814502" cy="3614233"/>
            <a:chOff x="6550920" y="2962813"/>
            <a:chExt cx="2110519" cy="3614233"/>
          </a:xfrm>
        </p:grpSpPr>
        <p:sp>
          <p:nvSpPr>
            <p:cNvPr id="37" name="Text Box 4">
              <a:extLst>
                <a:ext uri="{FF2B5EF4-FFF2-40B4-BE49-F238E27FC236}">
                  <a16:creationId xmlns:a16="http://schemas.microsoft.com/office/drawing/2014/main" id="{86959063-2CA0-5851-2952-904259834C9B}"/>
                </a:ext>
              </a:extLst>
            </p:cNvPr>
            <p:cNvSpPr txBox="1">
              <a:spLocks noChangeArrowheads="1"/>
            </p:cNvSpPr>
            <p:nvPr/>
          </p:nvSpPr>
          <p:spPr bwMode="auto">
            <a:xfrm>
              <a:off x="7822393" y="2962813"/>
              <a:ext cx="323591"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a:solidFill>
                    <a:srgbClr val="000000"/>
                  </a:solidFill>
                  <a:latin typeface="Times New Roman" pitchFamily="18" charset="0"/>
                </a:rPr>
                <a:t>{}</a:t>
              </a:r>
            </a:p>
          </p:txBody>
        </p:sp>
        <p:sp>
          <p:nvSpPr>
            <p:cNvPr id="38" name="Text Box 5">
              <a:extLst>
                <a:ext uri="{FF2B5EF4-FFF2-40B4-BE49-F238E27FC236}">
                  <a16:creationId xmlns:a16="http://schemas.microsoft.com/office/drawing/2014/main" id="{A4C37A38-E0C5-8237-1BD1-534CD6B816B7}"/>
                </a:ext>
              </a:extLst>
            </p:cNvPr>
            <p:cNvSpPr txBox="1">
              <a:spLocks noChangeArrowheads="1"/>
            </p:cNvSpPr>
            <p:nvPr/>
          </p:nvSpPr>
          <p:spPr bwMode="auto">
            <a:xfrm>
              <a:off x="7371599" y="3670345"/>
              <a:ext cx="351239"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solidFill>
                    <a:srgbClr val="000000"/>
                  </a:solidFill>
                  <a:latin typeface="Times New Roman" pitchFamily="18" charset="0"/>
                </a:rPr>
                <a:t>f:4</a:t>
              </a:r>
            </a:p>
          </p:txBody>
        </p:sp>
        <p:sp>
          <p:nvSpPr>
            <p:cNvPr id="39" name="Text Box 6">
              <a:extLst>
                <a:ext uri="{FF2B5EF4-FFF2-40B4-BE49-F238E27FC236}">
                  <a16:creationId xmlns:a16="http://schemas.microsoft.com/office/drawing/2014/main" id="{E4567C6F-F6E3-CBAE-8D68-F4963D32FF17}"/>
                </a:ext>
              </a:extLst>
            </p:cNvPr>
            <p:cNvSpPr txBox="1">
              <a:spLocks noChangeArrowheads="1"/>
            </p:cNvSpPr>
            <p:nvPr/>
          </p:nvSpPr>
          <p:spPr bwMode="auto">
            <a:xfrm>
              <a:off x="8273187" y="3670345"/>
              <a:ext cx="383694"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solidFill>
                    <a:srgbClr val="000000"/>
                  </a:solidFill>
                  <a:latin typeface="Times New Roman" pitchFamily="18" charset="0"/>
                </a:rPr>
                <a:t>c:1</a:t>
              </a:r>
            </a:p>
          </p:txBody>
        </p:sp>
        <p:sp>
          <p:nvSpPr>
            <p:cNvPr id="40" name="Text Box 7">
              <a:extLst>
                <a:ext uri="{FF2B5EF4-FFF2-40B4-BE49-F238E27FC236}">
                  <a16:creationId xmlns:a16="http://schemas.microsoft.com/office/drawing/2014/main" id="{6F305F49-B7C9-600A-E24D-B8C3A604009A}"/>
                </a:ext>
              </a:extLst>
            </p:cNvPr>
            <p:cNvSpPr txBox="1">
              <a:spLocks noChangeArrowheads="1"/>
            </p:cNvSpPr>
            <p:nvPr/>
          </p:nvSpPr>
          <p:spPr bwMode="auto">
            <a:xfrm>
              <a:off x="8266926" y="4296176"/>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solidFill>
                    <a:srgbClr val="000000"/>
                  </a:solidFill>
                  <a:latin typeface="Times New Roman" pitchFamily="18" charset="0"/>
                </a:rPr>
                <a:t>b:1</a:t>
              </a:r>
            </a:p>
          </p:txBody>
        </p:sp>
        <p:sp>
          <p:nvSpPr>
            <p:cNvPr id="41" name="Text Box 8">
              <a:extLst>
                <a:ext uri="{FF2B5EF4-FFF2-40B4-BE49-F238E27FC236}">
                  <a16:creationId xmlns:a16="http://schemas.microsoft.com/office/drawing/2014/main" id="{2D648F7A-3F36-AAD7-3BB6-E2FAB7D3B368}"/>
                </a:ext>
              </a:extLst>
            </p:cNvPr>
            <p:cNvSpPr txBox="1">
              <a:spLocks noChangeArrowheads="1"/>
            </p:cNvSpPr>
            <p:nvPr/>
          </p:nvSpPr>
          <p:spPr bwMode="auto">
            <a:xfrm>
              <a:off x="8266926" y="4922007"/>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solidFill>
                    <a:srgbClr val="000000"/>
                  </a:solidFill>
                  <a:latin typeface="Times New Roman" pitchFamily="18" charset="0"/>
                </a:rPr>
                <a:t>p:1</a:t>
              </a:r>
            </a:p>
          </p:txBody>
        </p:sp>
        <p:cxnSp>
          <p:nvCxnSpPr>
            <p:cNvPr id="42" name="AutoShape 9">
              <a:extLst>
                <a:ext uri="{FF2B5EF4-FFF2-40B4-BE49-F238E27FC236}">
                  <a16:creationId xmlns:a16="http://schemas.microsoft.com/office/drawing/2014/main" id="{D7BECFE0-F157-94B1-0997-46C037338DC5}"/>
                </a:ext>
              </a:extLst>
            </p:cNvPr>
            <p:cNvCxnSpPr>
              <a:cxnSpLocks noChangeShapeType="1"/>
              <a:stCxn id="39" idx="2"/>
              <a:endCxn id="40" idx="0"/>
            </p:cNvCxnSpPr>
            <p:nvPr/>
          </p:nvCxnSpPr>
          <p:spPr bwMode="auto">
            <a:xfrm flipH="1">
              <a:off x="8464182" y="4070455"/>
              <a:ext cx="853"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3" name="AutoShape 10">
              <a:extLst>
                <a:ext uri="{FF2B5EF4-FFF2-40B4-BE49-F238E27FC236}">
                  <a16:creationId xmlns:a16="http://schemas.microsoft.com/office/drawing/2014/main" id="{70133C9C-CFE0-C3D0-0792-23C4C7495096}"/>
                </a:ext>
              </a:extLst>
            </p:cNvPr>
            <p:cNvCxnSpPr>
              <a:cxnSpLocks noChangeShapeType="1"/>
              <a:stCxn id="40" idx="2"/>
              <a:endCxn id="41" idx="0"/>
            </p:cNvCxnSpPr>
            <p:nvPr/>
          </p:nvCxnSpPr>
          <p:spPr bwMode="auto">
            <a:xfrm>
              <a:off x="8464183" y="4696286"/>
              <a:ext cx="0"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 name="AutoShape 11">
              <a:extLst>
                <a:ext uri="{FF2B5EF4-FFF2-40B4-BE49-F238E27FC236}">
                  <a16:creationId xmlns:a16="http://schemas.microsoft.com/office/drawing/2014/main" id="{DD0D12A3-480D-CD6E-3532-2B2F24491D8B}"/>
                </a:ext>
              </a:extLst>
            </p:cNvPr>
            <p:cNvCxnSpPr>
              <a:cxnSpLocks noChangeShapeType="1"/>
              <a:stCxn id="37" idx="2"/>
              <a:endCxn id="39" idx="0"/>
            </p:cNvCxnSpPr>
            <p:nvPr/>
          </p:nvCxnSpPr>
          <p:spPr bwMode="auto">
            <a:xfrm>
              <a:off x="7984188" y="3362923"/>
              <a:ext cx="480846" cy="30742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5" name="AutoShape 12">
              <a:extLst>
                <a:ext uri="{FF2B5EF4-FFF2-40B4-BE49-F238E27FC236}">
                  <a16:creationId xmlns:a16="http://schemas.microsoft.com/office/drawing/2014/main" id="{1ADB2FBD-EA2C-2F9B-7F95-D90568FFD2B2}"/>
                </a:ext>
              </a:extLst>
            </p:cNvPr>
            <p:cNvCxnSpPr>
              <a:cxnSpLocks noChangeShapeType="1"/>
              <a:stCxn id="37" idx="2"/>
              <a:endCxn id="38" idx="0"/>
            </p:cNvCxnSpPr>
            <p:nvPr/>
          </p:nvCxnSpPr>
          <p:spPr bwMode="auto">
            <a:xfrm flipH="1">
              <a:off x="7547218" y="3362923"/>
              <a:ext cx="436970" cy="30742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6" name="Text Box 13">
              <a:extLst>
                <a:ext uri="{FF2B5EF4-FFF2-40B4-BE49-F238E27FC236}">
                  <a16:creationId xmlns:a16="http://schemas.microsoft.com/office/drawing/2014/main" id="{AF7AB747-7F95-FBEE-E6F5-5855A71228F3}"/>
                </a:ext>
              </a:extLst>
            </p:cNvPr>
            <p:cNvSpPr txBox="1">
              <a:spLocks noChangeArrowheads="1"/>
            </p:cNvSpPr>
            <p:nvPr/>
          </p:nvSpPr>
          <p:spPr bwMode="auto">
            <a:xfrm>
              <a:off x="7672128" y="4296176"/>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solidFill>
                    <a:srgbClr val="000000"/>
                  </a:solidFill>
                  <a:latin typeface="Times New Roman" pitchFamily="18" charset="0"/>
                </a:rPr>
                <a:t>b:1</a:t>
              </a:r>
            </a:p>
          </p:txBody>
        </p:sp>
        <p:sp>
          <p:nvSpPr>
            <p:cNvPr id="47" name="Text Box 14">
              <a:extLst>
                <a:ext uri="{FF2B5EF4-FFF2-40B4-BE49-F238E27FC236}">
                  <a16:creationId xmlns:a16="http://schemas.microsoft.com/office/drawing/2014/main" id="{507D918C-EEF9-528D-42D0-901027C3D2BA}"/>
                </a:ext>
              </a:extLst>
            </p:cNvPr>
            <p:cNvSpPr txBox="1">
              <a:spLocks noChangeArrowheads="1"/>
            </p:cNvSpPr>
            <p:nvPr/>
          </p:nvSpPr>
          <p:spPr bwMode="auto">
            <a:xfrm>
              <a:off x="7078897" y="4296176"/>
              <a:ext cx="383694"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solidFill>
                    <a:srgbClr val="000000"/>
                  </a:solidFill>
                  <a:latin typeface="Times New Roman" pitchFamily="18" charset="0"/>
                </a:rPr>
                <a:t>c:3</a:t>
              </a:r>
            </a:p>
          </p:txBody>
        </p:sp>
        <p:cxnSp>
          <p:nvCxnSpPr>
            <p:cNvPr id="48" name="AutoShape 15">
              <a:extLst>
                <a:ext uri="{FF2B5EF4-FFF2-40B4-BE49-F238E27FC236}">
                  <a16:creationId xmlns:a16="http://schemas.microsoft.com/office/drawing/2014/main" id="{75F405DB-5CB0-85B0-68E7-F0ED3E559D48}"/>
                </a:ext>
              </a:extLst>
            </p:cNvPr>
            <p:cNvCxnSpPr>
              <a:cxnSpLocks noChangeShapeType="1"/>
              <a:stCxn id="38" idx="2"/>
              <a:endCxn id="47" idx="0"/>
            </p:cNvCxnSpPr>
            <p:nvPr/>
          </p:nvCxnSpPr>
          <p:spPr bwMode="auto">
            <a:xfrm flipH="1">
              <a:off x="7270745" y="4070455"/>
              <a:ext cx="276474"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9" name="AutoShape 16">
              <a:extLst>
                <a:ext uri="{FF2B5EF4-FFF2-40B4-BE49-F238E27FC236}">
                  <a16:creationId xmlns:a16="http://schemas.microsoft.com/office/drawing/2014/main" id="{CC612984-F848-7F3A-BEC7-59E77F7E0ED6}"/>
                </a:ext>
              </a:extLst>
            </p:cNvPr>
            <p:cNvCxnSpPr>
              <a:cxnSpLocks noChangeShapeType="1"/>
              <a:stCxn id="38" idx="2"/>
              <a:endCxn id="46" idx="0"/>
            </p:cNvCxnSpPr>
            <p:nvPr/>
          </p:nvCxnSpPr>
          <p:spPr bwMode="auto">
            <a:xfrm>
              <a:off x="7547218" y="4070455"/>
              <a:ext cx="322166"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50" name="Text Box 17">
              <a:extLst>
                <a:ext uri="{FF2B5EF4-FFF2-40B4-BE49-F238E27FC236}">
                  <a16:creationId xmlns:a16="http://schemas.microsoft.com/office/drawing/2014/main" id="{4993281B-33D8-B917-31A9-F21898FD9A3E}"/>
                </a:ext>
              </a:extLst>
            </p:cNvPr>
            <p:cNvSpPr txBox="1">
              <a:spLocks noChangeArrowheads="1"/>
            </p:cNvSpPr>
            <p:nvPr/>
          </p:nvSpPr>
          <p:spPr bwMode="auto">
            <a:xfrm>
              <a:off x="7069505" y="4922007"/>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solidFill>
                    <a:srgbClr val="000000"/>
                  </a:solidFill>
                  <a:latin typeface="Times New Roman" pitchFamily="18" charset="0"/>
                </a:rPr>
                <a:t>a:3</a:t>
              </a:r>
            </a:p>
          </p:txBody>
        </p:sp>
        <p:sp>
          <p:nvSpPr>
            <p:cNvPr id="51" name="Text Box 18">
              <a:extLst>
                <a:ext uri="{FF2B5EF4-FFF2-40B4-BE49-F238E27FC236}">
                  <a16:creationId xmlns:a16="http://schemas.microsoft.com/office/drawing/2014/main" id="{AAFB6DF7-BEB6-642C-E5B7-E7ED57075939}"/>
                </a:ext>
              </a:extLst>
            </p:cNvPr>
            <p:cNvSpPr txBox="1">
              <a:spLocks noChangeArrowheads="1"/>
            </p:cNvSpPr>
            <p:nvPr/>
          </p:nvSpPr>
          <p:spPr bwMode="auto">
            <a:xfrm>
              <a:off x="7446732" y="5551105"/>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solidFill>
                    <a:srgbClr val="000000"/>
                  </a:solidFill>
                  <a:latin typeface="Times New Roman" pitchFamily="18" charset="0"/>
                </a:rPr>
                <a:t>b:1</a:t>
              </a:r>
            </a:p>
          </p:txBody>
        </p:sp>
        <p:sp>
          <p:nvSpPr>
            <p:cNvPr id="52" name="Text Box 19">
              <a:extLst>
                <a:ext uri="{FF2B5EF4-FFF2-40B4-BE49-F238E27FC236}">
                  <a16:creationId xmlns:a16="http://schemas.microsoft.com/office/drawing/2014/main" id="{C0AC327F-CD83-E97E-7179-8FCAF9781181}"/>
                </a:ext>
              </a:extLst>
            </p:cNvPr>
            <p:cNvSpPr txBox="1">
              <a:spLocks noChangeArrowheads="1"/>
            </p:cNvSpPr>
            <p:nvPr/>
          </p:nvSpPr>
          <p:spPr bwMode="auto">
            <a:xfrm>
              <a:off x="6779933" y="5551105"/>
              <a:ext cx="437786"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solidFill>
                    <a:srgbClr val="000000"/>
                  </a:solidFill>
                  <a:latin typeface="Times New Roman" pitchFamily="18" charset="0"/>
                </a:rPr>
                <a:t>m:2</a:t>
              </a:r>
            </a:p>
          </p:txBody>
        </p:sp>
        <p:sp>
          <p:nvSpPr>
            <p:cNvPr id="53" name="Text Box 20">
              <a:extLst>
                <a:ext uri="{FF2B5EF4-FFF2-40B4-BE49-F238E27FC236}">
                  <a16:creationId xmlns:a16="http://schemas.microsoft.com/office/drawing/2014/main" id="{09D3D49D-D8DD-DE34-A314-56927752BFB8}"/>
                </a:ext>
              </a:extLst>
            </p:cNvPr>
            <p:cNvSpPr txBox="1">
              <a:spLocks noChangeArrowheads="1"/>
            </p:cNvSpPr>
            <p:nvPr/>
          </p:nvSpPr>
          <p:spPr bwMode="auto">
            <a:xfrm>
              <a:off x="6808107" y="6176936"/>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solidFill>
                    <a:srgbClr val="000000"/>
                  </a:solidFill>
                  <a:latin typeface="Times New Roman" pitchFamily="18" charset="0"/>
                </a:rPr>
                <a:t>p:2</a:t>
              </a:r>
            </a:p>
          </p:txBody>
        </p:sp>
        <p:cxnSp>
          <p:nvCxnSpPr>
            <p:cNvPr id="54" name="AutoShape 21">
              <a:extLst>
                <a:ext uri="{FF2B5EF4-FFF2-40B4-BE49-F238E27FC236}">
                  <a16:creationId xmlns:a16="http://schemas.microsoft.com/office/drawing/2014/main" id="{0F03DEE2-3D9E-2CCF-3C0C-39D06BFC768A}"/>
                </a:ext>
              </a:extLst>
            </p:cNvPr>
            <p:cNvCxnSpPr>
              <a:cxnSpLocks noChangeShapeType="1"/>
              <a:stCxn id="47" idx="2"/>
              <a:endCxn id="50" idx="0"/>
            </p:cNvCxnSpPr>
            <p:nvPr/>
          </p:nvCxnSpPr>
          <p:spPr bwMode="auto">
            <a:xfrm flipH="1">
              <a:off x="7266761" y="4696286"/>
              <a:ext cx="3983"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55" name="AutoShape 22">
              <a:extLst>
                <a:ext uri="{FF2B5EF4-FFF2-40B4-BE49-F238E27FC236}">
                  <a16:creationId xmlns:a16="http://schemas.microsoft.com/office/drawing/2014/main" id="{39C3C177-B8E8-F6DA-6396-E088CC8B834A}"/>
                </a:ext>
              </a:extLst>
            </p:cNvPr>
            <p:cNvCxnSpPr>
              <a:cxnSpLocks noChangeShapeType="1"/>
              <a:stCxn id="50" idx="2"/>
              <a:endCxn id="52" idx="0"/>
            </p:cNvCxnSpPr>
            <p:nvPr/>
          </p:nvCxnSpPr>
          <p:spPr bwMode="auto">
            <a:xfrm flipH="1">
              <a:off x="6998826" y="5322117"/>
              <a:ext cx="267935" cy="228988"/>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56" name="AutoShape 23">
              <a:extLst>
                <a:ext uri="{FF2B5EF4-FFF2-40B4-BE49-F238E27FC236}">
                  <a16:creationId xmlns:a16="http://schemas.microsoft.com/office/drawing/2014/main" id="{1D4878CB-E066-4D31-04EB-E93378A0A05F}"/>
                </a:ext>
              </a:extLst>
            </p:cNvPr>
            <p:cNvCxnSpPr>
              <a:cxnSpLocks noChangeShapeType="1"/>
              <a:stCxn id="50" idx="2"/>
              <a:endCxn id="51" idx="0"/>
            </p:cNvCxnSpPr>
            <p:nvPr/>
          </p:nvCxnSpPr>
          <p:spPr bwMode="auto">
            <a:xfrm>
              <a:off x="7266761" y="5322117"/>
              <a:ext cx="377227" cy="228988"/>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57" name="AutoShape 24">
              <a:extLst>
                <a:ext uri="{FF2B5EF4-FFF2-40B4-BE49-F238E27FC236}">
                  <a16:creationId xmlns:a16="http://schemas.microsoft.com/office/drawing/2014/main" id="{066A32B0-E2AD-E944-B627-2B1BC9134A40}"/>
                </a:ext>
              </a:extLst>
            </p:cNvPr>
            <p:cNvCxnSpPr>
              <a:cxnSpLocks noChangeShapeType="1"/>
              <a:stCxn id="52" idx="2"/>
              <a:endCxn id="53" idx="0"/>
            </p:cNvCxnSpPr>
            <p:nvPr/>
          </p:nvCxnSpPr>
          <p:spPr bwMode="auto">
            <a:xfrm>
              <a:off x="6998826" y="5951215"/>
              <a:ext cx="6537"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58" name="Text Box 25">
              <a:extLst>
                <a:ext uri="{FF2B5EF4-FFF2-40B4-BE49-F238E27FC236}">
                  <a16:creationId xmlns:a16="http://schemas.microsoft.com/office/drawing/2014/main" id="{1EF45C95-B5FD-C550-E35C-5CDFCF5ADEF3}"/>
                </a:ext>
              </a:extLst>
            </p:cNvPr>
            <p:cNvSpPr txBox="1">
              <a:spLocks noChangeArrowheads="1"/>
            </p:cNvSpPr>
            <p:nvPr/>
          </p:nvSpPr>
          <p:spPr bwMode="auto">
            <a:xfrm>
              <a:off x="7418557" y="6176936"/>
              <a:ext cx="437786"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solidFill>
                    <a:srgbClr val="000000"/>
                  </a:solidFill>
                  <a:latin typeface="Times New Roman" pitchFamily="18" charset="0"/>
                </a:rPr>
                <a:t>m:1</a:t>
              </a:r>
            </a:p>
          </p:txBody>
        </p:sp>
        <p:cxnSp>
          <p:nvCxnSpPr>
            <p:cNvPr id="59" name="AutoShape 26">
              <a:extLst>
                <a:ext uri="{FF2B5EF4-FFF2-40B4-BE49-F238E27FC236}">
                  <a16:creationId xmlns:a16="http://schemas.microsoft.com/office/drawing/2014/main" id="{0D5FAE8A-928C-AAE6-D246-504665B4874C}"/>
                </a:ext>
              </a:extLst>
            </p:cNvPr>
            <p:cNvCxnSpPr>
              <a:cxnSpLocks noChangeShapeType="1"/>
              <a:stCxn id="51" idx="2"/>
              <a:endCxn id="58" idx="0"/>
            </p:cNvCxnSpPr>
            <p:nvPr/>
          </p:nvCxnSpPr>
          <p:spPr bwMode="auto">
            <a:xfrm flipH="1">
              <a:off x="7637451" y="5951215"/>
              <a:ext cx="6538"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60" name="Freeform 28">
              <a:extLst>
                <a:ext uri="{FF2B5EF4-FFF2-40B4-BE49-F238E27FC236}">
                  <a16:creationId xmlns:a16="http://schemas.microsoft.com/office/drawing/2014/main" id="{355465DD-9929-EC65-B477-28B2DC5BA57E}"/>
                </a:ext>
              </a:extLst>
            </p:cNvPr>
            <p:cNvSpPr>
              <a:spLocks/>
            </p:cNvSpPr>
            <p:nvPr/>
          </p:nvSpPr>
          <p:spPr bwMode="auto">
            <a:xfrm>
              <a:off x="6636137" y="3892572"/>
              <a:ext cx="802769" cy="563563"/>
            </a:xfrm>
            <a:custGeom>
              <a:avLst/>
              <a:gdLst>
                <a:gd name="T0" fmla="*/ 0 w 672"/>
                <a:gd name="T1" fmla="*/ 2147483647 h 240"/>
                <a:gd name="T2" fmla="*/ 2147483647 w 672"/>
                <a:gd name="T3" fmla="*/ 2147483647 h 240"/>
                <a:gd name="T4" fmla="*/ 2147483647 w 672"/>
                <a:gd name="T5" fmla="*/ 2147483647 h 240"/>
                <a:gd name="T6" fmla="*/ 2147483647 w 672"/>
                <a:gd name="T7" fmla="*/ 0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cubicBezTo>
                    <a:pt x="108" y="232"/>
                    <a:pt x="216" y="224"/>
                    <a:pt x="288" y="192"/>
                  </a:cubicBezTo>
                  <a:cubicBezTo>
                    <a:pt x="360" y="160"/>
                    <a:pt x="368" y="80"/>
                    <a:pt x="432" y="48"/>
                  </a:cubicBezTo>
                  <a:cubicBezTo>
                    <a:pt x="496" y="16"/>
                    <a:pt x="584" y="8"/>
                    <a:pt x="67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61" name="Freeform 30">
              <a:extLst>
                <a:ext uri="{FF2B5EF4-FFF2-40B4-BE49-F238E27FC236}">
                  <a16:creationId xmlns:a16="http://schemas.microsoft.com/office/drawing/2014/main" id="{FAFAF2A1-F998-DDE4-063C-4B70E6CCF1AE}"/>
                </a:ext>
              </a:extLst>
            </p:cNvPr>
            <p:cNvSpPr>
              <a:spLocks/>
            </p:cNvSpPr>
            <p:nvPr/>
          </p:nvSpPr>
          <p:spPr bwMode="auto">
            <a:xfrm>
              <a:off x="7462592" y="3892572"/>
              <a:ext cx="802769" cy="627465"/>
            </a:xfrm>
            <a:custGeom>
              <a:avLst/>
              <a:gdLst>
                <a:gd name="T0" fmla="*/ 0 w 480"/>
                <a:gd name="T1" fmla="*/ 2147483647 h 384"/>
                <a:gd name="T2" fmla="*/ 2147483647 w 480"/>
                <a:gd name="T3" fmla="*/ 2147483647 h 384"/>
                <a:gd name="T4" fmla="*/ 2147483647 w 480"/>
                <a:gd name="T5" fmla="*/ 2147483647 h 384"/>
                <a:gd name="T6" fmla="*/ 2147483647 w 480"/>
                <a:gd name="T7" fmla="*/ 0 h 384"/>
                <a:gd name="T8" fmla="*/ 0 60000 65536"/>
                <a:gd name="T9" fmla="*/ 0 60000 65536"/>
                <a:gd name="T10" fmla="*/ 0 60000 65536"/>
                <a:gd name="T11" fmla="*/ 0 60000 65536"/>
                <a:gd name="T12" fmla="*/ 0 w 480"/>
                <a:gd name="T13" fmla="*/ 0 h 384"/>
                <a:gd name="T14" fmla="*/ 480 w 480"/>
                <a:gd name="T15" fmla="*/ 384 h 384"/>
              </a:gdLst>
              <a:ahLst/>
              <a:cxnLst>
                <a:cxn ang="T8">
                  <a:pos x="T0" y="T1"/>
                </a:cxn>
                <a:cxn ang="T9">
                  <a:pos x="T2" y="T3"/>
                </a:cxn>
                <a:cxn ang="T10">
                  <a:pos x="T4" y="T5"/>
                </a:cxn>
                <a:cxn ang="T11">
                  <a:pos x="T6" y="T7"/>
                </a:cxn>
              </a:cxnLst>
              <a:rect l="T12" t="T13" r="T14" b="T15"/>
              <a:pathLst>
                <a:path w="480" h="384">
                  <a:moveTo>
                    <a:pt x="0" y="384"/>
                  </a:moveTo>
                  <a:cubicBezTo>
                    <a:pt x="4" y="384"/>
                    <a:pt x="8" y="384"/>
                    <a:pt x="48" y="336"/>
                  </a:cubicBezTo>
                  <a:cubicBezTo>
                    <a:pt x="88" y="288"/>
                    <a:pt x="168" y="152"/>
                    <a:pt x="240" y="96"/>
                  </a:cubicBezTo>
                  <a:cubicBezTo>
                    <a:pt x="312" y="40"/>
                    <a:pt x="396" y="20"/>
                    <a:pt x="480"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62" name="Freeform 31">
              <a:extLst>
                <a:ext uri="{FF2B5EF4-FFF2-40B4-BE49-F238E27FC236}">
                  <a16:creationId xmlns:a16="http://schemas.microsoft.com/office/drawing/2014/main" id="{62069721-3A32-FB01-84D8-995A457190C9}"/>
                </a:ext>
              </a:extLst>
            </p:cNvPr>
            <p:cNvSpPr>
              <a:spLocks/>
            </p:cNvSpPr>
            <p:nvPr/>
          </p:nvSpPr>
          <p:spPr bwMode="auto">
            <a:xfrm flipV="1">
              <a:off x="6707323" y="5165476"/>
              <a:ext cx="355921" cy="45719"/>
            </a:xfrm>
            <a:custGeom>
              <a:avLst/>
              <a:gdLst>
                <a:gd name="T0" fmla="*/ 0 w 432"/>
                <a:gd name="T1" fmla="*/ 0 h 192"/>
                <a:gd name="T2" fmla="*/ 2147483647 w 432"/>
                <a:gd name="T3" fmla="*/ 2147483647 h 192"/>
                <a:gd name="T4" fmla="*/ 2147483647 w 432"/>
                <a:gd name="T5" fmla="*/ 2147483647 h 192"/>
                <a:gd name="T6" fmla="*/ 2147483647 w 432"/>
                <a:gd name="T7" fmla="*/ 2147483647 h 192"/>
                <a:gd name="T8" fmla="*/ 0 60000 65536"/>
                <a:gd name="T9" fmla="*/ 0 60000 65536"/>
                <a:gd name="T10" fmla="*/ 0 60000 65536"/>
                <a:gd name="T11" fmla="*/ 0 60000 65536"/>
                <a:gd name="T12" fmla="*/ 0 w 432"/>
                <a:gd name="T13" fmla="*/ 0 h 192"/>
                <a:gd name="T14" fmla="*/ 432 w 432"/>
                <a:gd name="T15" fmla="*/ 192 h 192"/>
              </a:gdLst>
              <a:ahLst/>
              <a:cxnLst>
                <a:cxn ang="T8">
                  <a:pos x="T0" y="T1"/>
                </a:cxn>
                <a:cxn ang="T9">
                  <a:pos x="T2" y="T3"/>
                </a:cxn>
                <a:cxn ang="T10">
                  <a:pos x="T4" y="T5"/>
                </a:cxn>
                <a:cxn ang="T11">
                  <a:pos x="T6" y="T7"/>
                </a:cxn>
              </a:cxnLst>
              <a:rect l="T12" t="T13" r="T14" b="T15"/>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63" name="Freeform 32">
              <a:extLst>
                <a:ext uri="{FF2B5EF4-FFF2-40B4-BE49-F238E27FC236}">
                  <a16:creationId xmlns:a16="http://schemas.microsoft.com/office/drawing/2014/main" id="{E42DE4CC-B001-2037-5018-A013DAFF970D}"/>
                </a:ext>
              </a:extLst>
            </p:cNvPr>
            <p:cNvSpPr>
              <a:spLocks/>
            </p:cNvSpPr>
            <p:nvPr/>
          </p:nvSpPr>
          <p:spPr bwMode="auto">
            <a:xfrm>
              <a:off x="6636137" y="5606693"/>
              <a:ext cx="835638" cy="45719"/>
            </a:xfrm>
            <a:custGeom>
              <a:avLst/>
              <a:gdLst>
                <a:gd name="T0" fmla="*/ 0 w 720"/>
                <a:gd name="T1" fmla="*/ 0 h 384"/>
                <a:gd name="T2" fmla="*/ 2147483647 w 720"/>
                <a:gd name="T3" fmla="*/ 2147483647 h 384"/>
                <a:gd name="T4" fmla="*/ 2147483647 w 720"/>
                <a:gd name="T5" fmla="*/ 2147483647 h 384"/>
                <a:gd name="T6" fmla="*/ 2147483647 w 720"/>
                <a:gd name="T7" fmla="*/ 2147483647 h 384"/>
                <a:gd name="T8" fmla="*/ 0 60000 65536"/>
                <a:gd name="T9" fmla="*/ 0 60000 65536"/>
                <a:gd name="T10" fmla="*/ 0 60000 65536"/>
                <a:gd name="T11" fmla="*/ 0 60000 65536"/>
                <a:gd name="T12" fmla="*/ 0 w 720"/>
                <a:gd name="T13" fmla="*/ 0 h 384"/>
                <a:gd name="T14" fmla="*/ 720 w 720"/>
                <a:gd name="T15" fmla="*/ 384 h 384"/>
              </a:gdLst>
              <a:ahLst/>
              <a:cxnLst>
                <a:cxn ang="T8">
                  <a:pos x="T0" y="T1"/>
                </a:cxn>
                <a:cxn ang="T9">
                  <a:pos x="T2" y="T3"/>
                </a:cxn>
                <a:cxn ang="T10">
                  <a:pos x="T4" y="T5"/>
                </a:cxn>
                <a:cxn ang="T11">
                  <a:pos x="T6" y="T7"/>
                </a:cxn>
              </a:cxnLst>
              <a:rect l="T12" t="T13" r="T14" b="T15"/>
              <a:pathLst>
                <a:path w="720" h="384">
                  <a:moveTo>
                    <a:pt x="0" y="0"/>
                  </a:moveTo>
                  <a:cubicBezTo>
                    <a:pt x="76" y="0"/>
                    <a:pt x="152" y="0"/>
                    <a:pt x="240" y="48"/>
                  </a:cubicBezTo>
                  <a:cubicBezTo>
                    <a:pt x="328" y="96"/>
                    <a:pt x="448" y="232"/>
                    <a:pt x="528" y="288"/>
                  </a:cubicBezTo>
                  <a:cubicBezTo>
                    <a:pt x="608" y="344"/>
                    <a:pt x="664" y="364"/>
                    <a:pt x="720"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7648" name="Freeform 33">
              <a:extLst>
                <a:ext uri="{FF2B5EF4-FFF2-40B4-BE49-F238E27FC236}">
                  <a16:creationId xmlns:a16="http://schemas.microsoft.com/office/drawing/2014/main" id="{F908289C-E847-68E1-08A7-2A969D3E2521}"/>
                </a:ext>
              </a:extLst>
            </p:cNvPr>
            <p:cNvSpPr>
              <a:spLocks/>
            </p:cNvSpPr>
            <p:nvPr/>
          </p:nvSpPr>
          <p:spPr bwMode="auto">
            <a:xfrm>
              <a:off x="7869384" y="4694877"/>
              <a:ext cx="122056" cy="1056283"/>
            </a:xfrm>
            <a:custGeom>
              <a:avLst/>
              <a:gdLst>
                <a:gd name="T0" fmla="*/ 0 w 56"/>
                <a:gd name="T1" fmla="*/ 2147483647 h 672"/>
                <a:gd name="T2" fmla="*/ 2147483647 w 56"/>
                <a:gd name="T3" fmla="*/ 2147483647 h 672"/>
                <a:gd name="T4" fmla="*/ 2147483647 w 56"/>
                <a:gd name="T5" fmla="*/ 0 h 672"/>
                <a:gd name="T6" fmla="*/ 0 60000 65536"/>
                <a:gd name="T7" fmla="*/ 0 60000 65536"/>
                <a:gd name="T8" fmla="*/ 0 60000 65536"/>
                <a:gd name="T9" fmla="*/ 0 w 56"/>
                <a:gd name="T10" fmla="*/ 0 h 672"/>
                <a:gd name="T11" fmla="*/ 56 w 56"/>
                <a:gd name="T12" fmla="*/ 672 h 672"/>
              </a:gdLst>
              <a:ahLst/>
              <a:cxnLst>
                <a:cxn ang="T6">
                  <a:pos x="T0" y="T1"/>
                </a:cxn>
                <a:cxn ang="T7">
                  <a:pos x="T2" y="T3"/>
                </a:cxn>
                <a:cxn ang="T8">
                  <a:pos x="T4" y="T5"/>
                </a:cxn>
              </a:cxnLst>
              <a:rect l="T9" t="T10" r="T11" b="T12"/>
              <a:pathLst>
                <a:path w="56" h="672">
                  <a:moveTo>
                    <a:pt x="0" y="672"/>
                  </a:moveTo>
                  <a:cubicBezTo>
                    <a:pt x="20" y="608"/>
                    <a:pt x="40" y="544"/>
                    <a:pt x="48" y="432"/>
                  </a:cubicBezTo>
                  <a:cubicBezTo>
                    <a:pt x="56" y="320"/>
                    <a:pt x="52" y="160"/>
                    <a:pt x="4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7649" name="Line 34">
              <a:extLst>
                <a:ext uri="{FF2B5EF4-FFF2-40B4-BE49-F238E27FC236}">
                  <a16:creationId xmlns:a16="http://schemas.microsoft.com/office/drawing/2014/main" id="{B0482E84-E0AE-90FB-EDEC-55FD0044F8AC}"/>
                </a:ext>
              </a:extLst>
            </p:cNvPr>
            <p:cNvSpPr>
              <a:spLocks noChangeShapeType="1"/>
            </p:cNvSpPr>
            <p:nvPr/>
          </p:nvSpPr>
          <p:spPr bwMode="auto">
            <a:xfrm>
              <a:off x="8066642" y="4496231"/>
              <a:ext cx="198719" cy="23806"/>
            </a:xfrm>
            <a:prstGeom prst="line">
              <a:avLst/>
            </a:prstGeom>
            <a:noFill/>
            <a:ln w="12700">
              <a:solidFill>
                <a:schemeClr val="tx2"/>
              </a:solidFill>
              <a:prstDash val="lgDash"/>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US">
                <a:solidFill>
                  <a:srgbClr val="000000"/>
                </a:solidFill>
              </a:endParaRPr>
            </a:p>
          </p:txBody>
        </p:sp>
        <p:sp>
          <p:nvSpPr>
            <p:cNvPr id="27650" name="Freeform 35">
              <a:extLst>
                <a:ext uri="{FF2B5EF4-FFF2-40B4-BE49-F238E27FC236}">
                  <a16:creationId xmlns:a16="http://schemas.microsoft.com/office/drawing/2014/main" id="{CCFDB5ED-678A-132D-09F3-1B2826C9E8FC}"/>
                </a:ext>
              </a:extLst>
            </p:cNvPr>
            <p:cNvSpPr>
              <a:spLocks/>
            </p:cNvSpPr>
            <p:nvPr/>
          </p:nvSpPr>
          <p:spPr bwMode="auto">
            <a:xfrm flipV="1">
              <a:off x="6550920" y="5871372"/>
              <a:ext cx="328815" cy="45719"/>
            </a:xfrm>
            <a:custGeom>
              <a:avLst/>
              <a:gdLst>
                <a:gd name="T0" fmla="*/ 0 w 288"/>
                <a:gd name="T1" fmla="*/ 0 h 240"/>
                <a:gd name="T2" fmla="*/ 2147483647 w 288"/>
                <a:gd name="T3" fmla="*/ 2147483647 h 240"/>
                <a:gd name="T4" fmla="*/ 2147483647 w 288"/>
                <a:gd name="T5" fmla="*/ 2147483647 h 240"/>
                <a:gd name="T6" fmla="*/ 2147483647 w 288"/>
                <a:gd name="T7" fmla="*/ 2147483647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0" y="0"/>
                  </a:moveTo>
                  <a:cubicBezTo>
                    <a:pt x="56" y="8"/>
                    <a:pt x="112" y="16"/>
                    <a:pt x="144" y="48"/>
                  </a:cubicBezTo>
                  <a:cubicBezTo>
                    <a:pt x="176" y="80"/>
                    <a:pt x="168" y="160"/>
                    <a:pt x="192" y="192"/>
                  </a:cubicBezTo>
                  <a:cubicBezTo>
                    <a:pt x="216" y="224"/>
                    <a:pt x="252" y="232"/>
                    <a:pt x="288" y="24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7651" name="Freeform 36">
              <a:extLst>
                <a:ext uri="{FF2B5EF4-FFF2-40B4-BE49-F238E27FC236}">
                  <a16:creationId xmlns:a16="http://schemas.microsoft.com/office/drawing/2014/main" id="{C628572D-464F-98F5-1E28-10FCB1D6FF3E}"/>
                </a:ext>
              </a:extLst>
            </p:cNvPr>
            <p:cNvSpPr>
              <a:spLocks/>
            </p:cNvSpPr>
            <p:nvPr/>
          </p:nvSpPr>
          <p:spPr bwMode="auto">
            <a:xfrm>
              <a:off x="7202620" y="5871373"/>
              <a:ext cx="250373" cy="549033"/>
            </a:xfrm>
            <a:custGeom>
              <a:avLst/>
              <a:gdLst>
                <a:gd name="T0" fmla="*/ 0 w 96"/>
                <a:gd name="T1" fmla="*/ 0 h 384"/>
                <a:gd name="T2" fmla="*/ 2147483647 w 96"/>
                <a:gd name="T3" fmla="*/ 2147483647 h 384"/>
                <a:gd name="T4" fmla="*/ 2147483647 w 96"/>
                <a:gd name="T5" fmla="*/ 2147483647 h 384"/>
                <a:gd name="T6" fmla="*/ 2147483647 w 96"/>
                <a:gd name="T7" fmla="*/ 2147483647 h 384"/>
                <a:gd name="T8" fmla="*/ 0 60000 65536"/>
                <a:gd name="T9" fmla="*/ 0 60000 65536"/>
                <a:gd name="T10" fmla="*/ 0 60000 65536"/>
                <a:gd name="T11" fmla="*/ 0 60000 65536"/>
                <a:gd name="T12" fmla="*/ 0 w 96"/>
                <a:gd name="T13" fmla="*/ 0 h 384"/>
                <a:gd name="T14" fmla="*/ 96 w 96"/>
                <a:gd name="T15" fmla="*/ 384 h 384"/>
              </a:gdLst>
              <a:ahLst/>
              <a:cxnLst>
                <a:cxn ang="T8">
                  <a:pos x="T0" y="T1"/>
                </a:cxn>
                <a:cxn ang="T9">
                  <a:pos x="T2" y="T3"/>
                </a:cxn>
                <a:cxn ang="T10">
                  <a:pos x="T4" y="T5"/>
                </a:cxn>
                <a:cxn ang="T11">
                  <a:pos x="T6" y="T7"/>
                </a:cxn>
              </a:cxnLst>
              <a:rect l="T12" t="T13" r="T14" b="T15"/>
              <a:pathLst>
                <a:path w="96" h="384">
                  <a:moveTo>
                    <a:pt x="0" y="0"/>
                  </a:moveTo>
                  <a:cubicBezTo>
                    <a:pt x="20" y="24"/>
                    <a:pt x="40" y="48"/>
                    <a:pt x="48" y="96"/>
                  </a:cubicBezTo>
                  <a:cubicBezTo>
                    <a:pt x="56" y="144"/>
                    <a:pt x="40" y="240"/>
                    <a:pt x="48" y="288"/>
                  </a:cubicBezTo>
                  <a:cubicBezTo>
                    <a:pt x="56" y="336"/>
                    <a:pt x="76" y="360"/>
                    <a:pt x="96"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7652" name="Freeform 37">
              <a:extLst>
                <a:ext uri="{FF2B5EF4-FFF2-40B4-BE49-F238E27FC236}">
                  <a16:creationId xmlns:a16="http://schemas.microsoft.com/office/drawing/2014/main" id="{82757BAC-3868-E042-E99A-74378799EF70}"/>
                </a:ext>
              </a:extLst>
            </p:cNvPr>
            <p:cNvSpPr>
              <a:spLocks/>
            </p:cNvSpPr>
            <p:nvPr/>
          </p:nvSpPr>
          <p:spPr bwMode="auto">
            <a:xfrm>
              <a:off x="6569218" y="6346714"/>
              <a:ext cx="282717" cy="73692"/>
            </a:xfrm>
            <a:custGeom>
              <a:avLst/>
              <a:gdLst>
                <a:gd name="T0" fmla="*/ 0 w 288"/>
                <a:gd name="T1" fmla="*/ 0 h 432"/>
                <a:gd name="T2" fmla="*/ 2147483647 w 288"/>
                <a:gd name="T3" fmla="*/ 2147483647 h 432"/>
                <a:gd name="T4" fmla="*/ 2147483647 w 288"/>
                <a:gd name="T5" fmla="*/ 2147483647 h 432"/>
                <a:gd name="T6" fmla="*/ 2147483647 w 288"/>
                <a:gd name="T7" fmla="*/ 2147483647 h 432"/>
                <a:gd name="T8" fmla="*/ 0 60000 65536"/>
                <a:gd name="T9" fmla="*/ 0 60000 65536"/>
                <a:gd name="T10" fmla="*/ 0 60000 65536"/>
                <a:gd name="T11" fmla="*/ 0 60000 65536"/>
                <a:gd name="T12" fmla="*/ 0 w 288"/>
                <a:gd name="T13" fmla="*/ 0 h 432"/>
                <a:gd name="T14" fmla="*/ 288 w 288"/>
                <a:gd name="T15" fmla="*/ 432 h 432"/>
              </a:gdLst>
              <a:ahLst/>
              <a:cxnLst>
                <a:cxn ang="T8">
                  <a:pos x="T0" y="T1"/>
                </a:cxn>
                <a:cxn ang="T9">
                  <a:pos x="T2" y="T3"/>
                </a:cxn>
                <a:cxn ang="T10">
                  <a:pos x="T4" y="T5"/>
                </a:cxn>
                <a:cxn ang="T11">
                  <a:pos x="T6" y="T7"/>
                </a:cxn>
              </a:cxnLst>
              <a:rect l="T12" t="T13" r="T14" b="T15"/>
              <a:pathLst>
                <a:path w="288" h="432">
                  <a:moveTo>
                    <a:pt x="0" y="0"/>
                  </a:moveTo>
                  <a:cubicBezTo>
                    <a:pt x="36" y="44"/>
                    <a:pt x="72" y="88"/>
                    <a:pt x="96" y="144"/>
                  </a:cubicBezTo>
                  <a:cubicBezTo>
                    <a:pt x="120" y="200"/>
                    <a:pt x="112" y="288"/>
                    <a:pt x="144" y="336"/>
                  </a:cubicBezTo>
                  <a:cubicBezTo>
                    <a:pt x="176" y="384"/>
                    <a:pt x="232" y="408"/>
                    <a:pt x="288" y="43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7653" name="Freeform 38">
              <a:extLst>
                <a:ext uri="{FF2B5EF4-FFF2-40B4-BE49-F238E27FC236}">
                  <a16:creationId xmlns:a16="http://schemas.microsoft.com/office/drawing/2014/main" id="{02991E36-133A-9EB0-0C75-963219424A73}"/>
                </a:ext>
              </a:extLst>
            </p:cNvPr>
            <p:cNvSpPr>
              <a:spLocks/>
            </p:cNvSpPr>
            <p:nvPr/>
          </p:nvSpPr>
          <p:spPr bwMode="auto">
            <a:xfrm>
              <a:off x="7217719" y="5322342"/>
              <a:ext cx="1287125" cy="1075203"/>
            </a:xfrm>
            <a:custGeom>
              <a:avLst/>
              <a:gdLst>
                <a:gd name="T0" fmla="*/ 0 w 768"/>
                <a:gd name="T1" fmla="*/ 2147483647 h 672"/>
                <a:gd name="T2" fmla="*/ 2147483647 w 768"/>
                <a:gd name="T3" fmla="*/ 2147483647 h 672"/>
                <a:gd name="T4" fmla="*/ 2147483647 w 768"/>
                <a:gd name="T5" fmla="*/ 2147483647 h 672"/>
                <a:gd name="T6" fmla="*/ 2147483647 w 768"/>
                <a:gd name="T7" fmla="*/ 0 h 672"/>
                <a:gd name="T8" fmla="*/ 0 60000 65536"/>
                <a:gd name="T9" fmla="*/ 0 60000 65536"/>
                <a:gd name="T10" fmla="*/ 0 60000 65536"/>
                <a:gd name="T11" fmla="*/ 0 60000 65536"/>
                <a:gd name="T12" fmla="*/ 0 w 768"/>
                <a:gd name="T13" fmla="*/ 0 h 672"/>
                <a:gd name="T14" fmla="*/ 768 w 768"/>
                <a:gd name="T15" fmla="*/ 672 h 672"/>
              </a:gdLst>
              <a:ahLst/>
              <a:cxnLst>
                <a:cxn ang="T8">
                  <a:pos x="T0" y="T1"/>
                </a:cxn>
                <a:cxn ang="T9">
                  <a:pos x="T2" y="T3"/>
                </a:cxn>
                <a:cxn ang="T10">
                  <a:pos x="T4" y="T5"/>
                </a:cxn>
                <a:cxn ang="T11">
                  <a:pos x="T6" y="T7"/>
                </a:cxn>
              </a:cxnLst>
              <a:rect l="T12" t="T13" r="T14" b="T15"/>
              <a:pathLst>
                <a:path w="768" h="672">
                  <a:moveTo>
                    <a:pt x="0" y="672"/>
                  </a:moveTo>
                  <a:cubicBezTo>
                    <a:pt x="4" y="624"/>
                    <a:pt x="8" y="576"/>
                    <a:pt x="96" y="528"/>
                  </a:cubicBezTo>
                  <a:cubicBezTo>
                    <a:pt x="184" y="480"/>
                    <a:pt x="416" y="472"/>
                    <a:pt x="528" y="384"/>
                  </a:cubicBezTo>
                  <a:cubicBezTo>
                    <a:pt x="640" y="296"/>
                    <a:pt x="704" y="148"/>
                    <a:pt x="76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grpSp>
      <p:sp>
        <p:nvSpPr>
          <p:cNvPr id="27654" name="Freeform 31">
            <a:extLst>
              <a:ext uri="{FF2B5EF4-FFF2-40B4-BE49-F238E27FC236}">
                <a16:creationId xmlns:a16="http://schemas.microsoft.com/office/drawing/2014/main" id="{CB5F4F95-908E-0BCC-AB46-1A0CF8A2EEBF}"/>
              </a:ext>
            </a:extLst>
          </p:cNvPr>
          <p:cNvSpPr>
            <a:spLocks/>
          </p:cNvSpPr>
          <p:nvPr/>
        </p:nvSpPr>
        <p:spPr bwMode="auto">
          <a:xfrm flipV="1">
            <a:off x="9533544" y="3438575"/>
            <a:ext cx="514048" cy="293486"/>
          </a:xfrm>
          <a:custGeom>
            <a:avLst/>
            <a:gdLst>
              <a:gd name="T0" fmla="*/ 0 w 432"/>
              <a:gd name="T1" fmla="*/ 0 h 192"/>
              <a:gd name="T2" fmla="*/ 2147483647 w 432"/>
              <a:gd name="T3" fmla="*/ 2147483647 h 192"/>
              <a:gd name="T4" fmla="*/ 2147483647 w 432"/>
              <a:gd name="T5" fmla="*/ 2147483647 h 192"/>
              <a:gd name="T6" fmla="*/ 2147483647 w 432"/>
              <a:gd name="T7" fmla="*/ 2147483647 h 192"/>
              <a:gd name="T8" fmla="*/ 0 60000 65536"/>
              <a:gd name="T9" fmla="*/ 0 60000 65536"/>
              <a:gd name="T10" fmla="*/ 0 60000 65536"/>
              <a:gd name="T11" fmla="*/ 0 60000 65536"/>
              <a:gd name="T12" fmla="*/ 0 w 432"/>
              <a:gd name="T13" fmla="*/ 0 h 192"/>
              <a:gd name="T14" fmla="*/ 432 w 432"/>
              <a:gd name="T15" fmla="*/ 192 h 192"/>
            </a:gdLst>
            <a:ahLst/>
            <a:cxnLst>
              <a:cxn ang="T8">
                <a:pos x="T0" y="T1"/>
              </a:cxn>
              <a:cxn ang="T9">
                <a:pos x="T2" y="T3"/>
              </a:cxn>
              <a:cxn ang="T10">
                <a:pos x="T4" y="T5"/>
              </a:cxn>
              <a:cxn ang="T11">
                <a:pos x="T6" y="T7"/>
              </a:cxn>
            </a:cxnLst>
            <a:rect l="T12" t="T13" r="T14" b="T15"/>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7656" name="TextBox 27655">
            <a:extLst>
              <a:ext uri="{FF2B5EF4-FFF2-40B4-BE49-F238E27FC236}">
                <a16:creationId xmlns:a16="http://schemas.microsoft.com/office/drawing/2014/main" id="{85151413-6F9A-543E-4E53-B4B90314E511}"/>
              </a:ext>
            </a:extLst>
          </p:cNvPr>
          <p:cNvSpPr txBox="1"/>
          <p:nvPr/>
        </p:nvSpPr>
        <p:spPr>
          <a:xfrm>
            <a:off x="8523644" y="1696481"/>
            <a:ext cx="2186739" cy="646331"/>
          </a:xfrm>
          <a:prstGeom prst="rect">
            <a:avLst/>
          </a:prstGeom>
          <a:solidFill>
            <a:srgbClr val="66FFFF"/>
          </a:solidFill>
        </p:spPr>
        <p:txBody>
          <a:bodyPr wrap="square" rtlCol="0">
            <a:spAutoFit/>
          </a:bodyPr>
          <a:lstStyle/>
          <a:p>
            <a:pPr algn="ctr"/>
            <a:r>
              <a:rPr lang="en-US" sz="1800" dirty="0">
                <a:solidFill>
                  <a:srgbClr val="000000"/>
                </a:solidFill>
              </a:rPr>
              <a:t>After inserting all the frequent </a:t>
            </a:r>
            <a:r>
              <a:rPr lang="en-US" sz="1800" dirty="0" err="1">
                <a:solidFill>
                  <a:srgbClr val="000000"/>
                </a:solidFill>
              </a:rPr>
              <a:t>itemlists</a:t>
            </a:r>
            <a:endParaRPr lang="en-US" sz="1800" dirty="0">
              <a:solidFill>
                <a:srgbClr val="000000"/>
              </a:solidFill>
            </a:endParaRPr>
          </a:p>
        </p:txBody>
      </p:sp>
      <mc:AlternateContent xmlns:mc="http://schemas.openxmlformats.org/markup-compatibility/2006" xmlns:p14="http://schemas.microsoft.com/office/powerpoint/2010/main">
        <mc:Choice Requires="p14">
          <p:contentPart p14:bwMode="auto" r:id="rId5">
            <p14:nvContentPartPr>
              <p14:cNvPr id="27657" name="Ink 27656">
                <a:extLst>
                  <a:ext uri="{FF2B5EF4-FFF2-40B4-BE49-F238E27FC236}">
                    <a16:creationId xmlns:a16="http://schemas.microsoft.com/office/drawing/2014/main" id="{2EC17D26-1603-3A35-A4C2-B07151E1986E}"/>
                  </a:ext>
                </a:extLst>
              </p14:cNvPr>
              <p14:cNvContentPartPr/>
              <p14:nvPr/>
            </p14:nvContentPartPr>
            <p14:xfrm>
              <a:off x="1404035" y="2656032"/>
              <a:ext cx="1126440" cy="55440"/>
            </p14:xfrm>
          </p:contentPart>
        </mc:Choice>
        <mc:Fallback xmlns="">
          <p:pic>
            <p:nvPicPr>
              <p:cNvPr id="27657" name="Ink 27656">
                <a:extLst>
                  <a:ext uri="{FF2B5EF4-FFF2-40B4-BE49-F238E27FC236}">
                    <a16:creationId xmlns:a16="http://schemas.microsoft.com/office/drawing/2014/main" id="{2EC17D26-1603-3A35-A4C2-B07151E1986E}"/>
                  </a:ext>
                </a:extLst>
              </p:cNvPr>
              <p:cNvPicPr/>
              <p:nvPr/>
            </p:nvPicPr>
            <p:blipFill>
              <a:blip r:embed="rId4"/>
              <a:stretch>
                <a:fillRect/>
              </a:stretch>
            </p:blipFill>
            <p:spPr>
              <a:xfrm>
                <a:off x="1394675" y="2646672"/>
                <a:ext cx="1145160" cy="74160"/>
              </a:xfrm>
              <a:prstGeom prst="rect">
                <a:avLst/>
              </a:prstGeom>
            </p:spPr>
          </p:pic>
        </mc:Fallback>
      </mc:AlternateContent>
      <p:sp>
        <p:nvSpPr>
          <p:cNvPr id="27660" name="Arrow: Right 27659">
            <a:extLst>
              <a:ext uri="{FF2B5EF4-FFF2-40B4-BE49-F238E27FC236}">
                <a16:creationId xmlns:a16="http://schemas.microsoft.com/office/drawing/2014/main" id="{9459A293-D851-077A-7D14-44372C641C86}"/>
              </a:ext>
            </a:extLst>
          </p:cNvPr>
          <p:cNvSpPr/>
          <p:nvPr/>
        </p:nvSpPr>
        <p:spPr>
          <a:xfrm rot="17706872">
            <a:off x="3574473" y="5629171"/>
            <a:ext cx="405245" cy="1689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7624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68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688">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68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7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6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21" grpId="0" animBg="1"/>
      <p:bldP spid="4"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1387366" y="-82602"/>
            <a:ext cx="9949430" cy="1313793"/>
          </a:xfrm>
        </p:spPr>
        <p:txBody>
          <a:bodyPr>
            <a:noAutofit/>
          </a:bodyPr>
          <a:lstStyle/>
          <a:p>
            <a:pPr eaLnBrk="1" hangingPunct="1">
              <a:lnSpc>
                <a:spcPct val="90000"/>
              </a:lnSpc>
            </a:pPr>
            <a:r>
              <a:rPr lang="en-US" altLang="en-US" sz="4000" dirty="0"/>
              <a:t>Mining FP-Tree: Divide and Conquer </a:t>
            </a:r>
            <a:br>
              <a:rPr lang="en-US" altLang="en-US" sz="4000" dirty="0"/>
            </a:br>
            <a:r>
              <a:rPr lang="en-US" altLang="en-US" sz="4000" dirty="0"/>
              <a:t>Based on Patterns and Data</a:t>
            </a:r>
          </a:p>
        </p:txBody>
      </p:sp>
      <p:sp>
        <p:nvSpPr>
          <p:cNvPr id="28676" name="Rectangle 3"/>
          <p:cNvSpPr>
            <a:spLocks noGrp="1" noChangeArrowheads="1"/>
          </p:cNvSpPr>
          <p:nvPr>
            <p:ph type="body" idx="1"/>
          </p:nvPr>
        </p:nvSpPr>
        <p:spPr>
          <a:xfrm>
            <a:off x="591127" y="1143000"/>
            <a:ext cx="10671384" cy="2258970"/>
          </a:xfrm>
        </p:spPr>
        <p:txBody>
          <a:bodyPr/>
          <a:lstStyle/>
          <a:p>
            <a:pPr>
              <a:spcBef>
                <a:spcPct val="0"/>
              </a:spcBef>
            </a:pPr>
            <a:r>
              <a:rPr lang="zh-CN" altLang="en-US" sz="2400" dirty="0"/>
              <a:t>模式挖掘可以根据当前模式进行划分</a:t>
            </a:r>
            <a:endParaRPr lang="en-US" altLang="en-US" sz="2400" dirty="0"/>
          </a:p>
          <a:p>
            <a:pPr lvl="1">
              <a:spcBef>
                <a:spcPct val="0"/>
              </a:spcBef>
            </a:pPr>
            <a:r>
              <a:rPr lang="zh-CN" altLang="en-US" sz="2400" dirty="0"/>
              <a:t>包含 </a:t>
            </a:r>
            <a:r>
              <a:rPr lang="en-US" altLang="zh-CN" sz="2400" dirty="0"/>
              <a:t>p </a:t>
            </a:r>
            <a:r>
              <a:rPr lang="zh-CN" altLang="en-US" sz="2400" dirty="0"/>
              <a:t>的模式：</a:t>
            </a:r>
            <a:r>
              <a:rPr lang="en-US" altLang="zh-CN" sz="2400" dirty="0"/>
              <a:t>p </a:t>
            </a:r>
            <a:r>
              <a:rPr lang="zh-CN" altLang="en-US" sz="2400" dirty="0"/>
              <a:t>的条件数据库：</a:t>
            </a:r>
            <a:r>
              <a:rPr lang="en-US" altLang="en-US" sz="2400" dirty="0"/>
              <a:t> </a:t>
            </a:r>
            <a:r>
              <a:rPr lang="en-US" altLang="en-US" sz="2400" i="1" dirty="0"/>
              <a:t>fcam:2, cb:1</a:t>
            </a:r>
          </a:p>
          <a:p>
            <a:pPr lvl="2">
              <a:spcBef>
                <a:spcPct val="0"/>
              </a:spcBef>
            </a:pPr>
            <a:r>
              <a:rPr lang="en-US" altLang="zh-CN" sz="2400" dirty="0"/>
              <a:t>p </a:t>
            </a:r>
            <a:r>
              <a:rPr lang="zh-CN" altLang="en-US" sz="2400" dirty="0"/>
              <a:t>的条件数据库（即在 </a:t>
            </a:r>
            <a:r>
              <a:rPr lang="en-US" altLang="zh-CN" sz="2400" dirty="0"/>
              <a:t>p </a:t>
            </a:r>
            <a:r>
              <a:rPr lang="zh-CN" altLang="en-US" sz="2400" dirty="0"/>
              <a:t>存在的条件下的数据库）：</a:t>
            </a:r>
            <a:endParaRPr lang="en-US" altLang="ja-JP" sz="2400" dirty="0"/>
          </a:p>
          <a:p>
            <a:pPr lvl="3">
              <a:spcBef>
                <a:spcPct val="0"/>
              </a:spcBef>
            </a:pPr>
            <a:r>
              <a:rPr lang="zh-CN" altLang="en-US" sz="2400" dirty="0">
                <a:latin typeface="+mn-ea"/>
              </a:rPr>
              <a:t>项 </a:t>
            </a:r>
            <a:r>
              <a:rPr lang="en-US" altLang="zh-CN" sz="2400" dirty="0">
                <a:latin typeface="+mn-ea"/>
              </a:rPr>
              <a:t>p </a:t>
            </a:r>
            <a:r>
              <a:rPr lang="zh-CN" altLang="en-US" sz="2400" dirty="0">
                <a:latin typeface="+mn-ea"/>
              </a:rPr>
              <a:t>的前缀路径转换而来</a:t>
            </a:r>
            <a:endParaRPr lang="en-US" altLang="en-US" sz="2400" dirty="0">
              <a:latin typeface="+mn-ea"/>
            </a:endParaRPr>
          </a:p>
          <a:p>
            <a:pPr lvl="1">
              <a:spcBef>
                <a:spcPct val="0"/>
              </a:spcBef>
            </a:pPr>
            <a:r>
              <a:rPr lang="zh-CN" altLang="en-US" sz="2400" dirty="0">
                <a:latin typeface="+mn-ea"/>
              </a:rPr>
              <a:t>包含 </a:t>
            </a:r>
            <a:r>
              <a:rPr lang="en-US" altLang="zh-CN" sz="2400" dirty="0">
                <a:latin typeface="+mn-ea"/>
              </a:rPr>
              <a:t>m </a:t>
            </a:r>
            <a:r>
              <a:rPr lang="zh-CN" altLang="en-US" sz="2400" dirty="0">
                <a:latin typeface="+mn-ea"/>
              </a:rPr>
              <a:t>但不包含 </a:t>
            </a:r>
            <a:r>
              <a:rPr lang="en-US" altLang="zh-CN" sz="2400" dirty="0">
                <a:latin typeface="+mn-ea"/>
              </a:rPr>
              <a:t>p </a:t>
            </a:r>
            <a:r>
              <a:rPr lang="zh-CN" altLang="en-US" sz="2400" dirty="0">
                <a:latin typeface="+mn-ea"/>
              </a:rPr>
              <a:t>的模式：</a:t>
            </a:r>
            <a:r>
              <a:rPr lang="en-US" altLang="zh-CN" sz="2400" dirty="0">
                <a:latin typeface="+mn-ea"/>
              </a:rPr>
              <a:t>m </a:t>
            </a:r>
            <a:r>
              <a:rPr lang="zh-CN" altLang="en-US" sz="2400" dirty="0">
                <a:latin typeface="+mn-ea"/>
              </a:rPr>
              <a:t>的条件数据库：</a:t>
            </a:r>
            <a:r>
              <a:rPr lang="en-US" altLang="en-US" sz="2400" i="1" dirty="0"/>
              <a:t>fca:2, fcab:1</a:t>
            </a:r>
          </a:p>
          <a:p>
            <a:pPr lvl="1" eaLnBrk="1" hangingPunct="1">
              <a:spcBef>
                <a:spcPct val="0"/>
              </a:spcBef>
            </a:pPr>
            <a:r>
              <a:rPr lang="en-US" altLang="en-US" sz="2400" dirty="0"/>
              <a:t>…… ……</a:t>
            </a:r>
          </a:p>
        </p:txBody>
      </p:sp>
      <p:graphicFrame>
        <p:nvGraphicFramePr>
          <p:cNvPr id="79" name="Table 78"/>
          <p:cNvGraphicFramePr>
            <a:graphicFrameLocks noGrp="1"/>
          </p:cNvGraphicFramePr>
          <p:nvPr/>
        </p:nvGraphicFramePr>
        <p:xfrm>
          <a:off x="591127" y="3928635"/>
          <a:ext cx="2719341" cy="2569095"/>
        </p:xfrm>
        <a:graphic>
          <a:graphicData uri="http://schemas.openxmlformats.org/drawingml/2006/table">
            <a:tbl>
              <a:tblPr firstRow="1" bandRow="1">
                <a:tableStyleId>{21E4AEA4-8DFA-4A89-87EB-49C32662AFE0}</a:tableStyleId>
              </a:tblPr>
              <a:tblGrid>
                <a:gridCol w="667306">
                  <a:extLst>
                    <a:ext uri="{9D8B030D-6E8A-4147-A177-3AD203B41FA5}">
                      <a16:colId xmlns:a16="http://schemas.microsoft.com/office/drawing/2014/main" val="20000"/>
                    </a:ext>
                  </a:extLst>
                </a:gridCol>
                <a:gridCol w="1143178">
                  <a:extLst>
                    <a:ext uri="{9D8B030D-6E8A-4147-A177-3AD203B41FA5}">
                      <a16:colId xmlns:a16="http://schemas.microsoft.com/office/drawing/2014/main" val="20001"/>
                    </a:ext>
                  </a:extLst>
                </a:gridCol>
                <a:gridCol w="908857">
                  <a:extLst>
                    <a:ext uri="{9D8B030D-6E8A-4147-A177-3AD203B41FA5}">
                      <a16:colId xmlns:a16="http://schemas.microsoft.com/office/drawing/2014/main" val="20002"/>
                    </a:ext>
                  </a:extLst>
                </a:gridCol>
              </a:tblGrid>
              <a:tr h="344055">
                <a:tc>
                  <a:txBody>
                    <a:bodyPr/>
                    <a:lstStyle/>
                    <a:p>
                      <a:r>
                        <a:rPr lang="en-US" sz="1600" dirty="0">
                          <a:solidFill>
                            <a:schemeClr val="tx1"/>
                          </a:solidFill>
                          <a:latin typeface="Calibri" panose="020F0502020204030204" pitchFamily="34" charset="0"/>
                        </a:rPr>
                        <a:t>Item</a:t>
                      </a:r>
                      <a:endParaRPr lang="en-US" sz="1400" dirty="0">
                        <a:solidFill>
                          <a:schemeClr val="tx1"/>
                        </a:solidFill>
                        <a:latin typeface="Calibri" panose="020F0502020204030204" pitchFamily="34" charset="0"/>
                      </a:endParaRPr>
                    </a:p>
                  </a:txBody>
                  <a:tcPr marL="121939" marR="121939"/>
                </a:tc>
                <a:tc>
                  <a:txBody>
                    <a:bodyPr/>
                    <a:lstStyle/>
                    <a:p>
                      <a:r>
                        <a:rPr lang="en-US" sz="1600" dirty="0">
                          <a:solidFill>
                            <a:schemeClr val="tx1"/>
                          </a:solidFill>
                          <a:latin typeface="Calibri" panose="020F0502020204030204" pitchFamily="34" charset="0"/>
                        </a:rPr>
                        <a:t>Frequency</a:t>
                      </a:r>
                    </a:p>
                  </a:txBody>
                  <a:tcPr marL="121939" marR="121939"/>
                </a:tc>
                <a:tc>
                  <a:txBody>
                    <a:bodyPr/>
                    <a:lstStyle/>
                    <a:p>
                      <a:r>
                        <a:rPr lang="en-US" sz="1600" dirty="0">
                          <a:solidFill>
                            <a:schemeClr val="tx1"/>
                          </a:solidFill>
                          <a:latin typeface="Calibri" panose="020F0502020204030204" pitchFamily="34" charset="0"/>
                        </a:rPr>
                        <a:t>Header</a:t>
                      </a:r>
                    </a:p>
                  </a:txBody>
                  <a:tcPr marL="121939" marR="121939"/>
                </a:tc>
                <a:extLst>
                  <a:ext uri="{0D108BD9-81ED-4DB2-BD59-A6C34878D82A}">
                    <a16:rowId xmlns:a16="http://schemas.microsoft.com/office/drawing/2014/main" val="10000"/>
                  </a:ext>
                </a:extLst>
              </a:tr>
              <a:tr h="370840">
                <a:tc>
                  <a:txBody>
                    <a:bodyPr/>
                    <a:lstStyle/>
                    <a:p>
                      <a:pPr algn="ctr"/>
                      <a:r>
                        <a:rPr lang="en-US" sz="1800" dirty="0"/>
                        <a:t>f</a:t>
                      </a:r>
                    </a:p>
                  </a:txBody>
                  <a:tcPr marL="121939" marR="121939"/>
                </a:tc>
                <a:tc>
                  <a:txBody>
                    <a:bodyPr/>
                    <a:lstStyle/>
                    <a:p>
                      <a:pPr algn="ctr"/>
                      <a:r>
                        <a:rPr lang="en-US" sz="1800" dirty="0"/>
                        <a:t>4</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1"/>
                  </a:ext>
                </a:extLst>
              </a:tr>
              <a:tr h="370840">
                <a:tc>
                  <a:txBody>
                    <a:bodyPr/>
                    <a:lstStyle/>
                    <a:p>
                      <a:pPr algn="ctr"/>
                      <a:r>
                        <a:rPr lang="en-US" sz="1800" dirty="0"/>
                        <a:t>c</a:t>
                      </a:r>
                    </a:p>
                  </a:txBody>
                  <a:tcPr marL="121939" marR="121939"/>
                </a:tc>
                <a:tc>
                  <a:txBody>
                    <a:bodyPr/>
                    <a:lstStyle/>
                    <a:p>
                      <a:pPr algn="ctr"/>
                      <a:r>
                        <a:rPr lang="en-US" sz="1800" dirty="0"/>
                        <a:t>4</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2"/>
                  </a:ext>
                </a:extLst>
              </a:tr>
              <a:tr h="370840">
                <a:tc>
                  <a:txBody>
                    <a:bodyPr/>
                    <a:lstStyle/>
                    <a:p>
                      <a:pPr algn="ctr"/>
                      <a:r>
                        <a:rPr lang="en-US" sz="1800" dirty="0"/>
                        <a:t>a</a:t>
                      </a:r>
                    </a:p>
                  </a:txBody>
                  <a:tcPr marL="121939" marR="121939"/>
                </a:tc>
                <a:tc>
                  <a:txBody>
                    <a:bodyPr/>
                    <a:lstStyle/>
                    <a:p>
                      <a:pPr algn="ctr"/>
                      <a:r>
                        <a:rPr lang="en-US" sz="1800" dirty="0"/>
                        <a:t>3</a:t>
                      </a:r>
                    </a:p>
                  </a:txBody>
                  <a:tcPr marL="121939" marR="121939"/>
                </a:tc>
                <a:tc>
                  <a:txBody>
                    <a:bodyPr/>
                    <a:lstStyle/>
                    <a:p>
                      <a:pPr algn="ctr"/>
                      <a:endParaRPr lang="en-US" sz="1800"/>
                    </a:p>
                  </a:txBody>
                  <a:tcPr marL="121939" marR="121939"/>
                </a:tc>
                <a:extLst>
                  <a:ext uri="{0D108BD9-81ED-4DB2-BD59-A6C34878D82A}">
                    <a16:rowId xmlns:a16="http://schemas.microsoft.com/office/drawing/2014/main" val="10003"/>
                  </a:ext>
                </a:extLst>
              </a:tr>
              <a:tr h="370840">
                <a:tc>
                  <a:txBody>
                    <a:bodyPr/>
                    <a:lstStyle/>
                    <a:p>
                      <a:pPr algn="ctr"/>
                      <a:r>
                        <a:rPr lang="en-US" sz="1800" dirty="0"/>
                        <a:t>b</a:t>
                      </a:r>
                    </a:p>
                  </a:txBody>
                  <a:tcPr marL="121939" marR="121939"/>
                </a:tc>
                <a:tc>
                  <a:txBody>
                    <a:bodyPr/>
                    <a:lstStyle/>
                    <a:p>
                      <a:pPr algn="ctr"/>
                      <a:r>
                        <a:rPr lang="en-US" sz="1800" dirty="0"/>
                        <a:t>3</a:t>
                      </a:r>
                    </a:p>
                  </a:txBody>
                  <a:tcPr marL="121939" marR="121939"/>
                </a:tc>
                <a:tc>
                  <a:txBody>
                    <a:bodyPr/>
                    <a:lstStyle/>
                    <a:p>
                      <a:pPr algn="ctr"/>
                      <a:endParaRPr lang="en-US" sz="1800"/>
                    </a:p>
                  </a:txBody>
                  <a:tcPr marL="121939" marR="121939"/>
                </a:tc>
                <a:extLst>
                  <a:ext uri="{0D108BD9-81ED-4DB2-BD59-A6C34878D82A}">
                    <a16:rowId xmlns:a16="http://schemas.microsoft.com/office/drawing/2014/main" val="10004"/>
                  </a:ext>
                </a:extLst>
              </a:tr>
              <a:tr h="370840">
                <a:tc>
                  <a:txBody>
                    <a:bodyPr/>
                    <a:lstStyle/>
                    <a:p>
                      <a:pPr algn="ctr"/>
                      <a:r>
                        <a:rPr lang="en-US" sz="1800" dirty="0"/>
                        <a:t>m</a:t>
                      </a:r>
                    </a:p>
                  </a:txBody>
                  <a:tcPr marL="121939" marR="121939"/>
                </a:tc>
                <a:tc>
                  <a:txBody>
                    <a:bodyPr/>
                    <a:lstStyle/>
                    <a:p>
                      <a:pPr algn="ctr"/>
                      <a:r>
                        <a:rPr lang="en-US" sz="1800" dirty="0"/>
                        <a:t>3</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5"/>
                  </a:ext>
                </a:extLst>
              </a:tr>
              <a:tr h="370840">
                <a:tc>
                  <a:txBody>
                    <a:bodyPr/>
                    <a:lstStyle/>
                    <a:p>
                      <a:pPr algn="ctr"/>
                      <a:r>
                        <a:rPr lang="en-US" sz="1800" dirty="0"/>
                        <a:t>p</a:t>
                      </a:r>
                    </a:p>
                  </a:txBody>
                  <a:tcPr marL="121939" marR="121939"/>
                </a:tc>
                <a:tc>
                  <a:txBody>
                    <a:bodyPr/>
                    <a:lstStyle/>
                    <a:p>
                      <a:pPr algn="ctr"/>
                      <a:r>
                        <a:rPr lang="en-US" sz="1800" dirty="0"/>
                        <a:t>3</a:t>
                      </a:r>
                    </a:p>
                  </a:txBody>
                  <a:tcPr marL="121939" marR="121939"/>
                </a:tc>
                <a:tc>
                  <a:txBody>
                    <a:bodyPr/>
                    <a:lstStyle/>
                    <a:p>
                      <a:pPr algn="ctr"/>
                      <a:endParaRPr lang="en-US" sz="1800" dirty="0"/>
                    </a:p>
                  </a:txBody>
                  <a:tcPr marL="121939" marR="121939"/>
                </a:tc>
                <a:extLst>
                  <a:ext uri="{0D108BD9-81ED-4DB2-BD59-A6C34878D82A}">
                    <a16:rowId xmlns:a16="http://schemas.microsoft.com/office/drawing/2014/main" val="10006"/>
                  </a:ext>
                </a:extLst>
              </a:tr>
            </a:tbl>
          </a:graphicData>
        </a:graphic>
      </p:graphicFrame>
      <p:grpSp>
        <p:nvGrpSpPr>
          <p:cNvPr id="28711" name="Group 79"/>
          <p:cNvGrpSpPr>
            <a:grpSpLocks/>
          </p:cNvGrpSpPr>
          <p:nvPr/>
        </p:nvGrpSpPr>
        <p:grpSpPr bwMode="auto">
          <a:xfrm>
            <a:off x="2682761" y="3108499"/>
            <a:ext cx="3319547" cy="3614232"/>
            <a:chOff x="6172200" y="2962813"/>
            <a:chExt cx="2489239" cy="3614233"/>
          </a:xfrm>
        </p:grpSpPr>
        <p:sp>
          <p:nvSpPr>
            <p:cNvPr id="28716" name="Text Box 4"/>
            <p:cNvSpPr txBox="1">
              <a:spLocks noChangeArrowheads="1"/>
            </p:cNvSpPr>
            <p:nvPr/>
          </p:nvSpPr>
          <p:spPr bwMode="auto">
            <a:xfrm>
              <a:off x="7822393" y="2962813"/>
              <a:ext cx="323591"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a:latin typeface="Times New Roman" pitchFamily="18" charset="0"/>
                </a:rPr>
                <a:t>{}</a:t>
              </a:r>
            </a:p>
          </p:txBody>
        </p:sp>
        <p:sp>
          <p:nvSpPr>
            <p:cNvPr id="28717" name="Text Box 5"/>
            <p:cNvSpPr txBox="1">
              <a:spLocks noChangeArrowheads="1"/>
            </p:cNvSpPr>
            <p:nvPr/>
          </p:nvSpPr>
          <p:spPr bwMode="auto">
            <a:xfrm>
              <a:off x="7371599" y="3670345"/>
              <a:ext cx="351239"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f:4</a:t>
              </a:r>
            </a:p>
          </p:txBody>
        </p:sp>
        <p:sp>
          <p:nvSpPr>
            <p:cNvPr id="28718" name="Text Box 6"/>
            <p:cNvSpPr txBox="1">
              <a:spLocks noChangeArrowheads="1"/>
            </p:cNvSpPr>
            <p:nvPr/>
          </p:nvSpPr>
          <p:spPr bwMode="auto">
            <a:xfrm>
              <a:off x="8273187" y="3670345"/>
              <a:ext cx="383694"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c:1</a:t>
              </a:r>
            </a:p>
          </p:txBody>
        </p:sp>
        <p:sp>
          <p:nvSpPr>
            <p:cNvPr id="28719" name="Text Box 7"/>
            <p:cNvSpPr txBox="1">
              <a:spLocks noChangeArrowheads="1"/>
            </p:cNvSpPr>
            <p:nvPr/>
          </p:nvSpPr>
          <p:spPr bwMode="auto">
            <a:xfrm>
              <a:off x="8266926" y="4296176"/>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b:1</a:t>
              </a:r>
            </a:p>
          </p:txBody>
        </p:sp>
        <p:sp>
          <p:nvSpPr>
            <p:cNvPr id="28720" name="Text Box 8"/>
            <p:cNvSpPr txBox="1">
              <a:spLocks noChangeArrowheads="1"/>
            </p:cNvSpPr>
            <p:nvPr/>
          </p:nvSpPr>
          <p:spPr bwMode="auto">
            <a:xfrm>
              <a:off x="8266926" y="4922007"/>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p:1</a:t>
              </a:r>
            </a:p>
          </p:txBody>
        </p:sp>
        <p:cxnSp>
          <p:nvCxnSpPr>
            <p:cNvPr id="28721" name="AutoShape 9"/>
            <p:cNvCxnSpPr>
              <a:cxnSpLocks noChangeShapeType="1"/>
              <a:stCxn id="28718" idx="2"/>
              <a:endCxn id="28719" idx="0"/>
            </p:cNvCxnSpPr>
            <p:nvPr/>
          </p:nvCxnSpPr>
          <p:spPr bwMode="auto">
            <a:xfrm flipH="1">
              <a:off x="8464182" y="4070455"/>
              <a:ext cx="853"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28722" name="AutoShape 10"/>
            <p:cNvCxnSpPr>
              <a:cxnSpLocks noChangeShapeType="1"/>
              <a:stCxn id="28719" idx="2"/>
              <a:endCxn id="28720" idx="0"/>
            </p:cNvCxnSpPr>
            <p:nvPr/>
          </p:nvCxnSpPr>
          <p:spPr bwMode="auto">
            <a:xfrm>
              <a:off x="8464183" y="4696286"/>
              <a:ext cx="0" cy="225720"/>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28723" name="AutoShape 11"/>
            <p:cNvCxnSpPr>
              <a:cxnSpLocks noChangeShapeType="1"/>
              <a:stCxn id="28716" idx="2"/>
              <a:endCxn id="28718" idx="0"/>
            </p:cNvCxnSpPr>
            <p:nvPr/>
          </p:nvCxnSpPr>
          <p:spPr bwMode="auto">
            <a:xfrm>
              <a:off x="7984188" y="3362923"/>
              <a:ext cx="480846" cy="30742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28724" name="AutoShape 12"/>
            <p:cNvCxnSpPr>
              <a:cxnSpLocks noChangeShapeType="1"/>
              <a:stCxn id="28716" idx="2"/>
              <a:endCxn id="28717" idx="0"/>
            </p:cNvCxnSpPr>
            <p:nvPr/>
          </p:nvCxnSpPr>
          <p:spPr bwMode="auto">
            <a:xfrm flipH="1">
              <a:off x="7547218" y="3362923"/>
              <a:ext cx="436970" cy="30742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28725" name="Text Box 13"/>
            <p:cNvSpPr txBox="1">
              <a:spLocks noChangeArrowheads="1"/>
            </p:cNvSpPr>
            <p:nvPr/>
          </p:nvSpPr>
          <p:spPr bwMode="auto">
            <a:xfrm>
              <a:off x="7672128" y="4296176"/>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b:1</a:t>
              </a:r>
            </a:p>
          </p:txBody>
        </p:sp>
        <p:sp>
          <p:nvSpPr>
            <p:cNvPr id="28726" name="Text Box 14"/>
            <p:cNvSpPr txBox="1">
              <a:spLocks noChangeArrowheads="1"/>
            </p:cNvSpPr>
            <p:nvPr/>
          </p:nvSpPr>
          <p:spPr bwMode="auto">
            <a:xfrm>
              <a:off x="7078897" y="4296176"/>
              <a:ext cx="383694"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c:3</a:t>
              </a:r>
            </a:p>
          </p:txBody>
        </p:sp>
        <p:cxnSp>
          <p:nvCxnSpPr>
            <p:cNvPr id="28727" name="AutoShape 15"/>
            <p:cNvCxnSpPr>
              <a:cxnSpLocks noChangeShapeType="1"/>
              <a:stCxn id="28717" idx="2"/>
              <a:endCxn id="28726" idx="0"/>
            </p:cNvCxnSpPr>
            <p:nvPr/>
          </p:nvCxnSpPr>
          <p:spPr bwMode="auto">
            <a:xfrm flipH="1">
              <a:off x="7270745" y="4070455"/>
              <a:ext cx="276474"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28728" name="AutoShape 16"/>
            <p:cNvCxnSpPr>
              <a:cxnSpLocks noChangeShapeType="1"/>
              <a:stCxn id="28717" idx="2"/>
              <a:endCxn id="28725" idx="0"/>
            </p:cNvCxnSpPr>
            <p:nvPr/>
          </p:nvCxnSpPr>
          <p:spPr bwMode="auto">
            <a:xfrm>
              <a:off x="7547218" y="4070455"/>
              <a:ext cx="322166"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28729" name="Text Box 17"/>
            <p:cNvSpPr txBox="1">
              <a:spLocks noChangeArrowheads="1"/>
            </p:cNvSpPr>
            <p:nvPr/>
          </p:nvSpPr>
          <p:spPr bwMode="auto">
            <a:xfrm>
              <a:off x="7069505" y="4922007"/>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a:3</a:t>
              </a:r>
            </a:p>
          </p:txBody>
        </p:sp>
        <p:sp>
          <p:nvSpPr>
            <p:cNvPr id="28730" name="Text Box 18"/>
            <p:cNvSpPr txBox="1">
              <a:spLocks noChangeArrowheads="1"/>
            </p:cNvSpPr>
            <p:nvPr/>
          </p:nvSpPr>
          <p:spPr bwMode="auto">
            <a:xfrm>
              <a:off x="7446732" y="5551105"/>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b:1</a:t>
              </a:r>
            </a:p>
          </p:txBody>
        </p:sp>
        <p:sp>
          <p:nvSpPr>
            <p:cNvPr id="28731" name="Text Box 19"/>
            <p:cNvSpPr txBox="1">
              <a:spLocks noChangeArrowheads="1"/>
            </p:cNvSpPr>
            <p:nvPr/>
          </p:nvSpPr>
          <p:spPr bwMode="auto">
            <a:xfrm>
              <a:off x="6779933" y="5551105"/>
              <a:ext cx="437786"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m:2</a:t>
              </a:r>
            </a:p>
          </p:txBody>
        </p:sp>
        <p:sp>
          <p:nvSpPr>
            <p:cNvPr id="28732" name="Text Box 20"/>
            <p:cNvSpPr txBox="1">
              <a:spLocks noChangeArrowheads="1"/>
            </p:cNvSpPr>
            <p:nvPr/>
          </p:nvSpPr>
          <p:spPr bwMode="auto">
            <a:xfrm>
              <a:off x="6808107" y="6176936"/>
              <a:ext cx="394513"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p:2</a:t>
              </a:r>
            </a:p>
          </p:txBody>
        </p:sp>
        <p:cxnSp>
          <p:nvCxnSpPr>
            <p:cNvPr id="28733" name="AutoShape 21"/>
            <p:cNvCxnSpPr>
              <a:cxnSpLocks noChangeShapeType="1"/>
              <a:stCxn id="28726" idx="2"/>
              <a:endCxn id="28729" idx="0"/>
            </p:cNvCxnSpPr>
            <p:nvPr/>
          </p:nvCxnSpPr>
          <p:spPr bwMode="auto">
            <a:xfrm flipH="1">
              <a:off x="7266761" y="4696286"/>
              <a:ext cx="3983" cy="225720"/>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28734" name="AutoShape 22"/>
            <p:cNvCxnSpPr>
              <a:cxnSpLocks noChangeShapeType="1"/>
              <a:stCxn id="28729" idx="2"/>
              <a:endCxn id="28731" idx="0"/>
            </p:cNvCxnSpPr>
            <p:nvPr/>
          </p:nvCxnSpPr>
          <p:spPr bwMode="auto">
            <a:xfrm flipH="1">
              <a:off x="6998826" y="5322117"/>
              <a:ext cx="267935" cy="228988"/>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28735" name="AutoShape 23"/>
            <p:cNvCxnSpPr>
              <a:cxnSpLocks noChangeShapeType="1"/>
              <a:stCxn id="28729" idx="2"/>
              <a:endCxn id="28730" idx="0"/>
            </p:cNvCxnSpPr>
            <p:nvPr/>
          </p:nvCxnSpPr>
          <p:spPr bwMode="auto">
            <a:xfrm>
              <a:off x="7266761" y="5322117"/>
              <a:ext cx="377227" cy="228988"/>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28736" name="AutoShape 24"/>
            <p:cNvCxnSpPr>
              <a:cxnSpLocks noChangeShapeType="1"/>
              <a:stCxn id="28731" idx="2"/>
              <a:endCxn id="28732" idx="0"/>
            </p:cNvCxnSpPr>
            <p:nvPr/>
          </p:nvCxnSpPr>
          <p:spPr bwMode="auto">
            <a:xfrm>
              <a:off x="6998826" y="5951215"/>
              <a:ext cx="6537"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28737" name="Text Box 25"/>
            <p:cNvSpPr txBox="1">
              <a:spLocks noChangeArrowheads="1"/>
            </p:cNvSpPr>
            <p:nvPr/>
          </p:nvSpPr>
          <p:spPr bwMode="auto">
            <a:xfrm>
              <a:off x="7418557" y="6176936"/>
              <a:ext cx="437786" cy="40011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m:1</a:t>
              </a:r>
            </a:p>
          </p:txBody>
        </p:sp>
        <p:cxnSp>
          <p:nvCxnSpPr>
            <p:cNvPr id="28738" name="AutoShape 26"/>
            <p:cNvCxnSpPr>
              <a:cxnSpLocks noChangeShapeType="1"/>
              <a:stCxn id="28730" idx="2"/>
              <a:endCxn id="28737" idx="0"/>
            </p:cNvCxnSpPr>
            <p:nvPr/>
          </p:nvCxnSpPr>
          <p:spPr bwMode="auto">
            <a:xfrm flipH="1">
              <a:off x="7637451" y="5951215"/>
              <a:ext cx="6538" cy="225721"/>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28739" name="Freeform 28"/>
            <p:cNvSpPr>
              <a:spLocks/>
            </p:cNvSpPr>
            <p:nvPr/>
          </p:nvSpPr>
          <p:spPr bwMode="auto">
            <a:xfrm>
              <a:off x="6248400" y="3892572"/>
              <a:ext cx="1190506" cy="410140"/>
            </a:xfrm>
            <a:custGeom>
              <a:avLst/>
              <a:gdLst>
                <a:gd name="T0" fmla="*/ 0 w 672"/>
                <a:gd name="T1" fmla="*/ 2147483647 h 240"/>
                <a:gd name="T2" fmla="*/ 2147483647 w 672"/>
                <a:gd name="T3" fmla="*/ 2147483647 h 240"/>
                <a:gd name="T4" fmla="*/ 2147483647 w 672"/>
                <a:gd name="T5" fmla="*/ 2147483647 h 240"/>
                <a:gd name="T6" fmla="*/ 2147483647 w 672"/>
                <a:gd name="T7" fmla="*/ 0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cubicBezTo>
                    <a:pt x="108" y="232"/>
                    <a:pt x="216" y="224"/>
                    <a:pt x="288" y="192"/>
                  </a:cubicBezTo>
                  <a:cubicBezTo>
                    <a:pt x="360" y="160"/>
                    <a:pt x="368" y="80"/>
                    <a:pt x="432" y="48"/>
                  </a:cubicBezTo>
                  <a:cubicBezTo>
                    <a:pt x="496" y="16"/>
                    <a:pt x="584" y="8"/>
                    <a:pt x="67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740" name="Freeform 30"/>
            <p:cNvSpPr>
              <a:spLocks/>
            </p:cNvSpPr>
            <p:nvPr/>
          </p:nvSpPr>
          <p:spPr bwMode="auto">
            <a:xfrm>
              <a:off x="7514038" y="3892572"/>
              <a:ext cx="751323" cy="627465"/>
            </a:xfrm>
            <a:custGeom>
              <a:avLst/>
              <a:gdLst>
                <a:gd name="T0" fmla="*/ 0 w 480"/>
                <a:gd name="T1" fmla="*/ 2147483647 h 384"/>
                <a:gd name="T2" fmla="*/ 2147483647 w 480"/>
                <a:gd name="T3" fmla="*/ 2147483647 h 384"/>
                <a:gd name="T4" fmla="*/ 2147483647 w 480"/>
                <a:gd name="T5" fmla="*/ 2147483647 h 384"/>
                <a:gd name="T6" fmla="*/ 2147483647 w 480"/>
                <a:gd name="T7" fmla="*/ 0 h 384"/>
                <a:gd name="T8" fmla="*/ 0 60000 65536"/>
                <a:gd name="T9" fmla="*/ 0 60000 65536"/>
                <a:gd name="T10" fmla="*/ 0 60000 65536"/>
                <a:gd name="T11" fmla="*/ 0 60000 65536"/>
                <a:gd name="T12" fmla="*/ 0 w 480"/>
                <a:gd name="T13" fmla="*/ 0 h 384"/>
                <a:gd name="T14" fmla="*/ 480 w 480"/>
                <a:gd name="T15" fmla="*/ 384 h 384"/>
              </a:gdLst>
              <a:ahLst/>
              <a:cxnLst>
                <a:cxn ang="T8">
                  <a:pos x="T0" y="T1"/>
                </a:cxn>
                <a:cxn ang="T9">
                  <a:pos x="T2" y="T3"/>
                </a:cxn>
                <a:cxn ang="T10">
                  <a:pos x="T4" y="T5"/>
                </a:cxn>
                <a:cxn ang="T11">
                  <a:pos x="T6" y="T7"/>
                </a:cxn>
              </a:cxnLst>
              <a:rect l="T12" t="T13" r="T14" b="T15"/>
              <a:pathLst>
                <a:path w="480" h="384">
                  <a:moveTo>
                    <a:pt x="0" y="384"/>
                  </a:moveTo>
                  <a:cubicBezTo>
                    <a:pt x="4" y="384"/>
                    <a:pt x="8" y="384"/>
                    <a:pt x="48" y="336"/>
                  </a:cubicBezTo>
                  <a:cubicBezTo>
                    <a:pt x="88" y="288"/>
                    <a:pt x="168" y="152"/>
                    <a:pt x="240" y="96"/>
                  </a:cubicBezTo>
                  <a:cubicBezTo>
                    <a:pt x="312" y="40"/>
                    <a:pt x="396" y="20"/>
                    <a:pt x="480"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741" name="Freeform 31"/>
            <p:cNvSpPr>
              <a:spLocks/>
            </p:cNvSpPr>
            <p:nvPr/>
          </p:nvSpPr>
          <p:spPr bwMode="auto">
            <a:xfrm>
              <a:off x="6172200" y="5008610"/>
              <a:ext cx="891044" cy="156866"/>
            </a:xfrm>
            <a:custGeom>
              <a:avLst/>
              <a:gdLst>
                <a:gd name="T0" fmla="*/ 0 w 432"/>
                <a:gd name="T1" fmla="*/ 0 h 192"/>
                <a:gd name="T2" fmla="*/ 2147483647 w 432"/>
                <a:gd name="T3" fmla="*/ 2147483647 h 192"/>
                <a:gd name="T4" fmla="*/ 2147483647 w 432"/>
                <a:gd name="T5" fmla="*/ 2147483647 h 192"/>
                <a:gd name="T6" fmla="*/ 2147483647 w 432"/>
                <a:gd name="T7" fmla="*/ 2147483647 h 192"/>
                <a:gd name="T8" fmla="*/ 0 60000 65536"/>
                <a:gd name="T9" fmla="*/ 0 60000 65536"/>
                <a:gd name="T10" fmla="*/ 0 60000 65536"/>
                <a:gd name="T11" fmla="*/ 0 60000 65536"/>
                <a:gd name="T12" fmla="*/ 0 w 432"/>
                <a:gd name="T13" fmla="*/ 0 h 192"/>
                <a:gd name="T14" fmla="*/ 432 w 432"/>
                <a:gd name="T15" fmla="*/ 192 h 192"/>
              </a:gdLst>
              <a:ahLst/>
              <a:cxnLst>
                <a:cxn ang="T8">
                  <a:pos x="T0" y="T1"/>
                </a:cxn>
                <a:cxn ang="T9">
                  <a:pos x="T2" y="T3"/>
                </a:cxn>
                <a:cxn ang="T10">
                  <a:pos x="T4" y="T5"/>
                </a:cxn>
                <a:cxn ang="T11">
                  <a:pos x="T6" y="T7"/>
                </a:cxn>
              </a:cxnLst>
              <a:rect l="T12" t="T13" r="T14" b="T15"/>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742" name="Freeform 32"/>
            <p:cNvSpPr>
              <a:spLocks/>
            </p:cNvSpPr>
            <p:nvPr/>
          </p:nvSpPr>
          <p:spPr bwMode="auto">
            <a:xfrm>
              <a:off x="6172200" y="5448160"/>
              <a:ext cx="1299575" cy="204253"/>
            </a:xfrm>
            <a:custGeom>
              <a:avLst/>
              <a:gdLst>
                <a:gd name="T0" fmla="*/ 0 w 720"/>
                <a:gd name="T1" fmla="*/ 0 h 384"/>
                <a:gd name="T2" fmla="*/ 2147483647 w 720"/>
                <a:gd name="T3" fmla="*/ 2147483647 h 384"/>
                <a:gd name="T4" fmla="*/ 2147483647 w 720"/>
                <a:gd name="T5" fmla="*/ 2147483647 h 384"/>
                <a:gd name="T6" fmla="*/ 2147483647 w 720"/>
                <a:gd name="T7" fmla="*/ 2147483647 h 384"/>
                <a:gd name="T8" fmla="*/ 0 60000 65536"/>
                <a:gd name="T9" fmla="*/ 0 60000 65536"/>
                <a:gd name="T10" fmla="*/ 0 60000 65536"/>
                <a:gd name="T11" fmla="*/ 0 60000 65536"/>
                <a:gd name="T12" fmla="*/ 0 w 720"/>
                <a:gd name="T13" fmla="*/ 0 h 384"/>
                <a:gd name="T14" fmla="*/ 720 w 720"/>
                <a:gd name="T15" fmla="*/ 384 h 384"/>
              </a:gdLst>
              <a:ahLst/>
              <a:cxnLst>
                <a:cxn ang="T8">
                  <a:pos x="T0" y="T1"/>
                </a:cxn>
                <a:cxn ang="T9">
                  <a:pos x="T2" y="T3"/>
                </a:cxn>
                <a:cxn ang="T10">
                  <a:pos x="T4" y="T5"/>
                </a:cxn>
                <a:cxn ang="T11">
                  <a:pos x="T6" y="T7"/>
                </a:cxn>
              </a:cxnLst>
              <a:rect l="T12" t="T13" r="T14" b="T15"/>
              <a:pathLst>
                <a:path w="720" h="384">
                  <a:moveTo>
                    <a:pt x="0" y="0"/>
                  </a:moveTo>
                  <a:cubicBezTo>
                    <a:pt x="76" y="0"/>
                    <a:pt x="152" y="0"/>
                    <a:pt x="240" y="48"/>
                  </a:cubicBezTo>
                  <a:cubicBezTo>
                    <a:pt x="328" y="96"/>
                    <a:pt x="448" y="232"/>
                    <a:pt x="528" y="288"/>
                  </a:cubicBezTo>
                  <a:cubicBezTo>
                    <a:pt x="608" y="344"/>
                    <a:pt x="664" y="364"/>
                    <a:pt x="720"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743" name="Freeform 33"/>
            <p:cNvSpPr>
              <a:spLocks/>
            </p:cNvSpPr>
            <p:nvPr/>
          </p:nvSpPr>
          <p:spPr bwMode="auto">
            <a:xfrm>
              <a:off x="7903786" y="4694877"/>
              <a:ext cx="87654" cy="1098063"/>
            </a:xfrm>
            <a:custGeom>
              <a:avLst/>
              <a:gdLst>
                <a:gd name="T0" fmla="*/ 0 w 56"/>
                <a:gd name="T1" fmla="*/ 2147483647 h 672"/>
                <a:gd name="T2" fmla="*/ 2147483647 w 56"/>
                <a:gd name="T3" fmla="*/ 2147483647 h 672"/>
                <a:gd name="T4" fmla="*/ 2147483647 w 56"/>
                <a:gd name="T5" fmla="*/ 0 h 672"/>
                <a:gd name="T6" fmla="*/ 0 60000 65536"/>
                <a:gd name="T7" fmla="*/ 0 60000 65536"/>
                <a:gd name="T8" fmla="*/ 0 60000 65536"/>
                <a:gd name="T9" fmla="*/ 0 w 56"/>
                <a:gd name="T10" fmla="*/ 0 h 672"/>
                <a:gd name="T11" fmla="*/ 56 w 56"/>
                <a:gd name="T12" fmla="*/ 672 h 672"/>
              </a:gdLst>
              <a:ahLst/>
              <a:cxnLst>
                <a:cxn ang="T6">
                  <a:pos x="T0" y="T1"/>
                </a:cxn>
                <a:cxn ang="T7">
                  <a:pos x="T2" y="T3"/>
                </a:cxn>
                <a:cxn ang="T8">
                  <a:pos x="T4" y="T5"/>
                </a:cxn>
              </a:cxnLst>
              <a:rect l="T9" t="T10" r="T11" b="T12"/>
              <a:pathLst>
                <a:path w="56" h="672">
                  <a:moveTo>
                    <a:pt x="0" y="672"/>
                  </a:moveTo>
                  <a:cubicBezTo>
                    <a:pt x="20" y="608"/>
                    <a:pt x="40" y="544"/>
                    <a:pt x="48" y="432"/>
                  </a:cubicBezTo>
                  <a:cubicBezTo>
                    <a:pt x="56" y="320"/>
                    <a:pt x="52" y="160"/>
                    <a:pt x="4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744" name="Line 34"/>
            <p:cNvSpPr>
              <a:spLocks noChangeShapeType="1"/>
            </p:cNvSpPr>
            <p:nvPr/>
          </p:nvSpPr>
          <p:spPr bwMode="auto">
            <a:xfrm>
              <a:off x="8115096" y="4520037"/>
              <a:ext cx="150265" cy="0"/>
            </a:xfrm>
            <a:prstGeom prst="line">
              <a:avLst/>
            </a:prstGeom>
            <a:noFill/>
            <a:ln w="12700">
              <a:solidFill>
                <a:schemeClr val="tx2"/>
              </a:solidFill>
              <a:prstDash val="lgDash"/>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745" name="Freeform 35"/>
            <p:cNvSpPr>
              <a:spLocks/>
            </p:cNvSpPr>
            <p:nvPr/>
          </p:nvSpPr>
          <p:spPr bwMode="auto">
            <a:xfrm>
              <a:off x="6172200" y="5747221"/>
              <a:ext cx="679735" cy="45719"/>
            </a:xfrm>
            <a:custGeom>
              <a:avLst/>
              <a:gdLst>
                <a:gd name="T0" fmla="*/ 0 w 288"/>
                <a:gd name="T1" fmla="*/ 0 h 240"/>
                <a:gd name="T2" fmla="*/ 2147483647 w 288"/>
                <a:gd name="T3" fmla="*/ 2147483647 h 240"/>
                <a:gd name="T4" fmla="*/ 2147483647 w 288"/>
                <a:gd name="T5" fmla="*/ 2147483647 h 240"/>
                <a:gd name="T6" fmla="*/ 2147483647 w 288"/>
                <a:gd name="T7" fmla="*/ 2147483647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0" y="0"/>
                  </a:moveTo>
                  <a:cubicBezTo>
                    <a:pt x="56" y="8"/>
                    <a:pt x="112" y="16"/>
                    <a:pt x="144" y="48"/>
                  </a:cubicBezTo>
                  <a:cubicBezTo>
                    <a:pt x="176" y="80"/>
                    <a:pt x="168" y="160"/>
                    <a:pt x="192" y="192"/>
                  </a:cubicBezTo>
                  <a:cubicBezTo>
                    <a:pt x="216" y="224"/>
                    <a:pt x="252" y="232"/>
                    <a:pt x="288" y="24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746" name="Freeform 36"/>
            <p:cNvSpPr>
              <a:spLocks/>
            </p:cNvSpPr>
            <p:nvPr/>
          </p:nvSpPr>
          <p:spPr bwMode="auto">
            <a:xfrm>
              <a:off x="7302728" y="5792941"/>
              <a:ext cx="150265" cy="627465"/>
            </a:xfrm>
            <a:custGeom>
              <a:avLst/>
              <a:gdLst>
                <a:gd name="T0" fmla="*/ 0 w 96"/>
                <a:gd name="T1" fmla="*/ 0 h 384"/>
                <a:gd name="T2" fmla="*/ 2147483647 w 96"/>
                <a:gd name="T3" fmla="*/ 2147483647 h 384"/>
                <a:gd name="T4" fmla="*/ 2147483647 w 96"/>
                <a:gd name="T5" fmla="*/ 2147483647 h 384"/>
                <a:gd name="T6" fmla="*/ 2147483647 w 96"/>
                <a:gd name="T7" fmla="*/ 2147483647 h 384"/>
                <a:gd name="T8" fmla="*/ 0 60000 65536"/>
                <a:gd name="T9" fmla="*/ 0 60000 65536"/>
                <a:gd name="T10" fmla="*/ 0 60000 65536"/>
                <a:gd name="T11" fmla="*/ 0 60000 65536"/>
                <a:gd name="T12" fmla="*/ 0 w 96"/>
                <a:gd name="T13" fmla="*/ 0 h 384"/>
                <a:gd name="T14" fmla="*/ 96 w 96"/>
                <a:gd name="T15" fmla="*/ 384 h 384"/>
              </a:gdLst>
              <a:ahLst/>
              <a:cxnLst>
                <a:cxn ang="T8">
                  <a:pos x="T0" y="T1"/>
                </a:cxn>
                <a:cxn ang="T9">
                  <a:pos x="T2" y="T3"/>
                </a:cxn>
                <a:cxn ang="T10">
                  <a:pos x="T4" y="T5"/>
                </a:cxn>
                <a:cxn ang="T11">
                  <a:pos x="T6" y="T7"/>
                </a:cxn>
              </a:cxnLst>
              <a:rect l="T12" t="T13" r="T14" b="T15"/>
              <a:pathLst>
                <a:path w="96" h="384">
                  <a:moveTo>
                    <a:pt x="0" y="0"/>
                  </a:moveTo>
                  <a:cubicBezTo>
                    <a:pt x="20" y="24"/>
                    <a:pt x="40" y="48"/>
                    <a:pt x="48" y="96"/>
                  </a:cubicBezTo>
                  <a:cubicBezTo>
                    <a:pt x="56" y="144"/>
                    <a:pt x="40" y="240"/>
                    <a:pt x="48" y="288"/>
                  </a:cubicBezTo>
                  <a:cubicBezTo>
                    <a:pt x="56" y="336"/>
                    <a:pt x="76" y="360"/>
                    <a:pt x="96"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747" name="Freeform 37"/>
            <p:cNvSpPr>
              <a:spLocks/>
            </p:cNvSpPr>
            <p:nvPr/>
          </p:nvSpPr>
          <p:spPr bwMode="auto">
            <a:xfrm>
              <a:off x="6172200" y="6176936"/>
              <a:ext cx="679735" cy="243470"/>
            </a:xfrm>
            <a:custGeom>
              <a:avLst/>
              <a:gdLst>
                <a:gd name="T0" fmla="*/ 0 w 288"/>
                <a:gd name="T1" fmla="*/ 0 h 432"/>
                <a:gd name="T2" fmla="*/ 2147483647 w 288"/>
                <a:gd name="T3" fmla="*/ 2147483647 h 432"/>
                <a:gd name="T4" fmla="*/ 2147483647 w 288"/>
                <a:gd name="T5" fmla="*/ 2147483647 h 432"/>
                <a:gd name="T6" fmla="*/ 2147483647 w 288"/>
                <a:gd name="T7" fmla="*/ 2147483647 h 432"/>
                <a:gd name="T8" fmla="*/ 0 60000 65536"/>
                <a:gd name="T9" fmla="*/ 0 60000 65536"/>
                <a:gd name="T10" fmla="*/ 0 60000 65536"/>
                <a:gd name="T11" fmla="*/ 0 60000 65536"/>
                <a:gd name="T12" fmla="*/ 0 w 288"/>
                <a:gd name="T13" fmla="*/ 0 h 432"/>
                <a:gd name="T14" fmla="*/ 288 w 288"/>
                <a:gd name="T15" fmla="*/ 432 h 432"/>
              </a:gdLst>
              <a:ahLst/>
              <a:cxnLst>
                <a:cxn ang="T8">
                  <a:pos x="T0" y="T1"/>
                </a:cxn>
                <a:cxn ang="T9">
                  <a:pos x="T2" y="T3"/>
                </a:cxn>
                <a:cxn ang="T10">
                  <a:pos x="T4" y="T5"/>
                </a:cxn>
                <a:cxn ang="T11">
                  <a:pos x="T6" y="T7"/>
                </a:cxn>
              </a:cxnLst>
              <a:rect l="T12" t="T13" r="T14" b="T15"/>
              <a:pathLst>
                <a:path w="288" h="432">
                  <a:moveTo>
                    <a:pt x="0" y="0"/>
                  </a:moveTo>
                  <a:cubicBezTo>
                    <a:pt x="36" y="44"/>
                    <a:pt x="72" y="88"/>
                    <a:pt x="96" y="144"/>
                  </a:cubicBezTo>
                  <a:cubicBezTo>
                    <a:pt x="120" y="200"/>
                    <a:pt x="112" y="288"/>
                    <a:pt x="144" y="336"/>
                  </a:cubicBezTo>
                  <a:cubicBezTo>
                    <a:pt x="176" y="384"/>
                    <a:pt x="232" y="408"/>
                    <a:pt x="288" y="43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748" name="Freeform 38"/>
            <p:cNvSpPr>
              <a:spLocks/>
            </p:cNvSpPr>
            <p:nvPr/>
          </p:nvSpPr>
          <p:spPr bwMode="auto">
            <a:xfrm>
              <a:off x="7302728" y="5322342"/>
              <a:ext cx="1202116" cy="1098063"/>
            </a:xfrm>
            <a:custGeom>
              <a:avLst/>
              <a:gdLst>
                <a:gd name="T0" fmla="*/ 0 w 768"/>
                <a:gd name="T1" fmla="*/ 2147483647 h 672"/>
                <a:gd name="T2" fmla="*/ 2147483647 w 768"/>
                <a:gd name="T3" fmla="*/ 2147483647 h 672"/>
                <a:gd name="T4" fmla="*/ 2147483647 w 768"/>
                <a:gd name="T5" fmla="*/ 2147483647 h 672"/>
                <a:gd name="T6" fmla="*/ 2147483647 w 768"/>
                <a:gd name="T7" fmla="*/ 0 h 672"/>
                <a:gd name="T8" fmla="*/ 0 60000 65536"/>
                <a:gd name="T9" fmla="*/ 0 60000 65536"/>
                <a:gd name="T10" fmla="*/ 0 60000 65536"/>
                <a:gd name="T11" fmla="*/ 0 60000 65536"/>
                <a:gd name="T12" fmla="*/ 0 w 768"/>
                <a:gd name="T13" fmla="*/ 0 h 672"/>
                <a:gd name="T14" fmla="*/ 768 w 768"/>
                <a:gd name="T15" fmla="*/ 672 h 672"/>
              </a:gdLst>
              <a:ahLst/>
              <a:cxnLst>
                <a:cxn ang="T8">
                  <a:pos x="T0" y="T1"/>
                </a:cxn>
                <a:cxn ang="T9">
                  <a:pos x="T2" y="T3"/>
                </a:cxn>
                <a:cxn ang="T10">
                  <a:pos x="T4" y="T5"/>
                </a:cxn>
                <a:cxn ang="T11">
                  <a:pos x="T6" y="T7"/>
                </a:cxn>
              </a:cxnLst>
              <a:rect l="T12" t="T13" r="T14" b="T15"/>
              <a:pathLst>
                <a:path w="768" h="672">
                  <a:moveTo>
                    <a:pt x="0" y="672"/>
                  </a:moveTo>
                  <a:cubicBezTo>
                    <a:pt x="4" y="624"/>
                    <a:pt x="8" y="576"/>
                    <a:pt x="96" y="528"/>
                  </a:cubicBezTo>
                  <a:cubicBezTo>
                    <a:pt x="184" y="480"/>
                    <a:pt x="416" y="472"/>
                    <a:pt x="528" y="384"/>
                  </a:cubicBezTo>
                  <a:cubicBezTo>
                    <a:pt x="640" y="296"/>
                    <a:pt x="704" y="148"/>
                    <a:pt x="76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8712" name="Freeform 31"/>
          <p:cNvSpPr>
            <a:spLocks/>
          </p:cNvSpPr>
          <p:nvPr/>
        </p:nvSpPr>
        <p:spPr bwMode="auto">
          <a:xfrm flipV="1">
            <a:off x="2781055" y="4591822"/>
            <a:ext cx="1126067" cy="242887"/>
          </a:xfrm>
          <a:custGeom>
            <a:avLst/>
            <a:gdLst>
              <a:gd name="T0" fmla="*/ 0 w 432"/>
              <a:gd name="T1" fmla="*/ 0 h 192"/>
              <a:gd name="T2" fmla="*/ 2147483647 w 432"/>
              <a:gd name="T3" fmla="*/ 2147483647 h 192"/>
              <a:gd name="T4" fmla="*/ 2147483647 w 432"/>
              <a:gd name="T5" fmla="*/ 2147483647 h 192"/>
              <a:gd name="T6" fmla="*/ 2147483647 w 432"/>
              <a:gd name="T7" fmla="*/ 2147483647 h 192"/>
              <a:gd name="T8" fmla="*/ 0 60000 65536"/>
              <a:gd name="T9" fmla="*/ 0 60000 65536"/>
              <a:gd name="T10" fmla="*/ 0 60000 65536"/>
              <a:gd name="T11" fmla="*/ 0 60000 65536"/>
              <a:gd name="T12" fmla="*/ 0 w 432"/>
              <a:gd name="T13" fmla="*/ 0 h 192"/>
              <a:gd name="T14" fmla="*/ 432 w 432"/>
              <a:gd name="T15" fmla="*/ 192 h 192"/>
            </a:gdLst>
            <a:ahLst/>
            <a:cxnLst>
              <a:cxn ang="T8">
                <a:pos x="T0" y="T1"/>
              </a:cxn>
              <a:cxn ang="T9">
                <a:pos x="T2" y="T3"/>
              </a:cxn>
              <a:cxn ang="T10">
                <a:pos x="T4" y="T5"/>
              </a:cxn>
              <a:cxn ang="T11">
                <a:pos x="T6" y="T7"/>
              </a:cxn>
            </a:cxnLst>
            <a:rect l="T12" t="T13" r="T14" b="T15"/>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28713" name="Group 2"/>
          <p:cNvGrpSpPr>
            <a:grpSpLocks/>
          </p:cNvGrpSpPr>
          <p:nvPr/>
        </p:nvGrpSpPr>
        <p:grpSpPr bwMode="auto">
          <a:xfrm>
            <a:off x="6139937" y="3409233"/>
            <a:ext cx="3891304" cy="2796391"/>
            <a:chOff x="4794950" y="3451978"/>
            <a:chExt cx="2977710" cy="2796579"/>
          </a:xfrm>
        </p:grpSpPr>
        <p:sp>
          <p:nvSpPr>
            <p:cNvPr id="28714" name="Rectangle 4"/>
            <p:cNvSpPr>
              <a:spLocks noChangeArrowheads="1"/>
            </p:cNvSpPr>
            <p:nvPr/>
          </p:nvSpPr>
          <p:spPr bwMode="auto">
            <a:xfrm>
              <a:off x="5049994" y="3909298"/>
              <a:ext cx="2660063" cy="2339259"/>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nSpc>
                  <a:spcPct val="80000"/>
                </a:lnSpc>
                <a:spcBef>
                  <a:spcPct val="50000"/>
                </a:spcBef>
                <a:buClrTx/>
                <a:buSzTx/>
                <a:buNone/>
              </a:pPr>
              <a:r>
                <a:rPr lang="en-US" altLang="en-US" sz="2000" b="1" i="1" u="sng" dirty="0"/>
                <a:t>Item 	</a:t>
              </a:r>
              <a:r>
                <a:rPr lang="en-US" altLang="en-US" sz="2000" dirty="0"/>
                <a:t> </a:t>
              </a:r>
              <a:r>
                <a:rPr lang="en-US" altLang="en-US" sz="2000" b="1" i="1" u="sng" dirty="0"/>
                <a:t>Conditional database</a:t>
              </a:r>
            </a:p>
            <a:p>
              <a:pPr>
                <a:lnSpc>
                  <a:spcPct val="80000"/>
                </a:lnSpc>
                <a:spcBef>
                  <a:spcPct val="50000"/>
                </a:spcBef>
                <a:buClrTx/>
                <a:buSzTx/>
                <a:buFontTx/>
                <a:buNone/>
              </a:pPr>
              <a:r>
                <a:rPr lang="en-US" altLang="en-US" sz="2000" b="1" i="1" dirty="0"/>
                <a:t>c	        f:3</a:t>
              </a:r>
            </a:p>
            <a:p>
              <a:pPr>
                <a:lnSpc>
                  <a:spcPct val="80000"/>
                </a:lnSpc>
                <a:spcBef>
                  <a:spcPct val="50000"/>
                </a:spcBef>
                <a:buClrTx/>
                <a:buSzTx/>
                <a:buFontTx/>
                <a:buNone/>
              </a:pPr>
              <a:r>
                <a:rPr lang="en-US" altLang="en-US" sz="2000" b="1" i="1" dirty="0"/>
                <a:t>a	        fc:3</a:t>
              </a:r>
            </a:p>
            <a:p>
              <a:pPr>
                <a:lnSpc>
                  <a:spcPct val="80000"/>
                </a:lnSpc>
                <a:spcBef>
                  <a:spcPct val="50000"/>
                </a:spcBef>
                <a:buClrTx/>
                <a:buSzTx/>
                <a:buFontTx/>
                <a:buNone/>
              </a:pPr>
              <a:r>
                <a:rPr lang="en-US" altLang="en-US" sz="2000" b="1" i="1" dirty="0"/>
                <a:t>b	        fca:1, f:1, c:1</a:t>
              </a:r>
            </a:p>
            <a:p>
              <a:pPr>
                <a:lnSpc>
                  <a:spcPct val="80000"/>
                </a:lnSpc>
                <a:spcBef>
                  <a:spcPct val="50000"/>
                </a:spcBef>
                <a:buClrTx/>
                <a:buSzTx/>
                <a:buFontTx/>
                <a:buNone/>
              </a:pPr>
              <a:r>
                <a:rPr lang="en-US" altLang="en-US" sz="2000" b="1" i="1" dirty="0"/>
                <a:t>m	        fca:2, fcab:1</a:t>
              </a:r>
            </a:p>
            <a:p>
              <a:pPr>
                <a:lnSpc>
                  <a:spcPct val="80000"/>
                </a:lnSpc>
                <a:spcBef>
                  <a:spcPct val="50000"/>
                </a:spcBef>
                <a:buClrTx/>
                <a:buSzTx/>
                <a:buFontTx/>
                <a:buNone/>
              </a:pPr>
              <a:r>
                <a:rPr lang="en-US" altLang="en-US" sz="2000" b="1" i="1" dirty="0"/>
                <a:t>p	        fcam:2, cb:1</a:t>
              </a:r>
            </a:p>
          </p:txBody>
        </p:sp>
        <p:sp>
          <p:nvSpPr>
            <p:cNvPr id="28715" name="TextBox 1"/>
            <p:cNvSpPr txBox="1">
              <a:spLocks noChangeArrowheads="1"/>
            </p:cNvSpPr>
            <p:nvPr/>
          </p:nvSpPr>
          <p:spPr bwMode="auto">
            <a:xfrm>
              <a:off x="4794950" y="3451978"/>
              <a:ext cx="2977710" cy="36935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eaLnBrk="1" hangingPunct="1">
                <a:spcBef>
                  <a:spcPct val="50000"/>
                </a:spcBef>
                <a:buClrTx/>
                <a:buSzTx/>
                <a:buFontTx/>
                <a:buNone/>
              </a:pPr>
              <a:r>
                <a:rPr lang="en-US" altLang="en-US" sz="1800" b="1" i="1" dirty="0"/>
                <a:t>Conditional database of each pattern</a:t>
              </a:r>
            </a:p>
          </p:txBody>
        </p:sp>
      </p:grpSp>
      <p:sp>
        <p:nvSpPr>
          <p:cNvPr id="43" name="Text Box 39"/>
          <p:cNvSpPr txBox="1">
            <a:spLocks noChangeArrowheads="1"/>
          </p:cNvSpPr>
          <p:nvPr/>
        </p:nvSpPr>
        <p:spPr bwMode="auto">
          <a:xfrm>
            <a:off x="955843" y="3528425"/>
            <a:ext cx="1985022" cy="29854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lnSpc>
                <a:spcPct val="60000"/>
              </a:lnSpc>
              <a:spcBef>
                <a:spcPct val="50000"/>
              </a:spcBef>
              <a:buClrTx/>
              <a:buSzTx/>
              <a:buFontTx/>
              <a:buNone/>
            </a:pPr>
            <a:r>
              <a:rPr lang="en-US" altLang="en-US" sz="2000" b="1" dirty="0" err="1"/>
              <a:t>min_support</a:t>
            </a:r>
            <a:r>
              <a:rPr lang="en-US" altLang="en-US" sz="2000" b="1" dirty="0"/>
              <a:t> = 3</a:t>
            </a:r>
            <a:endParaRPr lang="en-US" altLang="en-US" b="1" u="sng" dirty="0"/>
          </a:p>
        </p:txBody>
      </p:sp>
    </p:spTree>
    <p:extLst>
      <p:ext uri="{BB962C8B-B14F-4D97-AF65-F5344CB8AC3E}">
        <p14:creationId xmlns:p14="http://schemas.microsoft.com/office/powerpoint/2010/main" val="264849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7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7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6">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676">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67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7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676">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67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12" grpId="0" animBg="1"/>
      <p:bldP spid="4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3"/>
          <p:cNvSpPr txBox="1">
            <a:spLocks noChangeArrowheads="1"/>
          </p:cNvSpPr>
          <p:nvPr/>
        </p:nvSpPr>
        <p:spPr bwMode="auto">
          <a:xfrm>
            <a:off x="5080000" y="5023940"/>
            <a:ext cx="711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f:3</a:t>
            </a:r>
          </a:p>
        </p:txBody>
      </p:sp>
      <p:sp>
        <p:nvSpPr>
          <p:cNvPr id="29700" name="Rectangle 2"/>
          <p:cNvSpPr>
            <a:spLocks noGrp="1" noChangeArrowheads="1"/>
          </p:cNvSpPr>
          <p:nvPr>
            <p:ph type="title"/>
          </p:nvPr>
        </p:nvSpPr>
        <p:spPr>
          <a:xfrm>
            <a:off x="0" y="333375"/>
            <a:ext cx="12192000" cy="609600"/>
          </a:xfrm>
        </p:spPr>
        <p:txBody>
          <a:bodyPr>
            <a:noAutofit/>
          </a:bodyPr>
          <a:lstStyle/>
          <a:p>
            <a:pPr>
              <a:lnSpc>
                <a:spcPct val="90000"/>
              </a:lnSpc>
            </a:pPr>
            <a:r>
              <a:rPr lang="en-US" altLang="en-US" sz="4000" dirty="0"/>
              <a:t>Mine Each Conditional Database Recursively</a:t>
            </a:r>
            <a:endParaRPr lang="en-US" altLang="en-US" sz="4800" dirty="0"/>
          </a:p>
        </p:txBody>
      </p:sp>
      <p:sp>
        <p:nvSpPr>
          <p:cNvPr id="29701" name="Rectangle 3"/>
          <p:cNvSpPr>
            <a:spLocks noGrp="1" noChangeArrowheads="1"/>
          </p:cNvSpPr>
          <p:nvPr>
            <p:ph type="body" idx="1"/>
          </p:nvPr>
        </p:nvSpPr>
        <p:spPr>
          <a:xfrm>
            <a:off x="4845467" y="1143000"/>
            <a:ext cx="6908800" cy="1347787"/>
          </a:xfrm>
        </p:spPr>
        <p:txBody>
          <a:bodyPr/>
          <a:lstStyle/>
          <a:p>
            <a:pPr eaLnBrk="1" hangingPunct="1"/>
            <a:r>
              <a:rPr lang="en-US" altLang="en-US" sz="2400" dirty="0"/>
              <a:t>For each conditional database</a:t>
            </a:r>
          </a:p>
          <a:p>
            <a:pPr lvl="1" eaLnBrk="1" hangingPunct="1"/>
            <a:r>
              <a:rPr lang="en-US" altLang="en-US" sz="2400" dirty="0"/>
              <a:t>Mine single-item patterns</a:t>
            </a:r>
          </a:p>
          <a:p>
            <a:pPr lvl="1" eaLnBrk="1" hangingPunct="1"/>
            <a:r>
              <a:rPr lang="en-US" altLang="en-US" sz="2400" dirty="0"/>
              <a:t>Construct its FP-tree &amp; mine it</a:t>
            </a:r>
          </a:p>
        </p:txBody>
      </p:sp>
      <p:grpSp>
        <p:nvGrpSpPr>
          <p:cNvPr id="29702" name="Group 5"/>
          <p:cNvGrpSpPr>
            <a:grpSpLocks/>
          </p:cNvGrpSpPr>
          <p:nvPr/>
        </p:nvGrpSpPr>
        <p:grpSpPr bwMode="auto">
          <a:xfrm>
            <a:off x="-424731" y="4398466"/>
            <a:ext cx="1644651" cy="2408238"/>
            <a:chOff x="3264" y="2736"/>
            <a:chExt cx="777" cy="1517"/>
          </a:xfrm>
        </p:grpSpPr>
        <p:grpSp>
          <p:nvGrpSpPr>
            <p:cNvPr id="29730" name="Group 6"/>
            <p:cNvGrpSpPr>
              <a:grpSpLocks/>
            </p:cNvGrpSpPr>
            <p:nvPr/>
          </p:nvGrpSpPr>
          <p:grpSpPr bwMode="auto">
            <a:xfrm>
              <a:off x="3792" y="2736"/>
              <a:ext cx="249" cy="1299"/>
              <a:chOff x="2282" y="2456"/>
              <a:chExt cx="249" cy="1299"/>
            </a:xfrm>
          </p:grpSpPr>
          <p:sp>
            <p:nvSpPr>
              <p:cNvPr id="29732" name="Text Box 7"/>
              <p:cNvSpPr txBox="1">
                <a:spLocks noChangeArrowheads="1"/>
              </p:cNvSpPr>
              <p:nvPr/>
            </p:nvSpPr>
            <p:spPr bwMode="auto">
              <a:xfrm>
                <a:off x="2312" y="2456"/>
                <a:ext cx="2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dirty="0">
                    <a:latin typeface="Times New Roman" pitchFamily="18" charset="0"/>
                  </a:rPr>
                  <a:t>{}</a:t>
                </a:r>
              </a:p>
            </p:txBody>
          </p:sp>
          <p:sp>
            <p:nvSpPr>
              <p:cNvPr id="29733" name="Text Box 8"/>
              <p:cNvSpPr txBox="1">
                <a:spLocks noChangeArrowheads="1"/>
              </p:cNvSpPr>
              <p:nvPr/>
            </p:nvSpPr>
            <p:spPr bwMode="auto">
              <a:xfrm>
                <a:off x="2300" y="2840"/>
                <a:ext cx="2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f:3</a:t>
                </a:r>
              </a:p>
            </p:txBody>
          </p:sp>
          <p:sp>
            <p:nvSpPr>
              <p:cNvPr id="29734" name="Text Box 9"/>
              <p:cNvSpPr txBox="1">
                <a:spLocks noChangeArrowheads="1"/>
              </p:cNvSpPr>
              <p:nvPr/>
            </p:nvSpPr>
            <p:spPr bwMode="auto">
              <a:xfrm>
                <a:off x="2287" y="3167"/>
                <a:ext cx="24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dirty="0">
                    <a:latin typeface="Times New Roman" pitchFamily="18" charset="0"/>
                  </a:rPr>
                  <a:t>c:3</a:t>
                </a:r>
              </a:p>
            </p:txBody>
          </p:sp>
          <p:sp>
            <p:nvSpPr>
              <p:cNvPr id="29735" name="Text Box 10"/>
              <p:cNvSpPr txBox="1">
                <a:spLocks noChangeArrowheads="1"/>
              </p:cNvSpPr>
              <p:nvPr/>
            </p:nvSpPr>
            <p:spPr bwMode="auto">
              <a:xfrm>
                <a:off x="2282" y="3503"/>
                <a:ext cx="24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a:3</a:t>
                </a:r>
              </a:p>
            </p:txBody>
          </p:sp>
          <p:cxnSp>
            <p:nvCxnSpPr>
              <p:cNvPr id="29736" name="AutoShape 11"/>
              <p:cNvCxnSpPr>
                <a:cxnSpLocks noChangeShapeType="1"/>
                <a:stCxn id="29732" idx="2"/>
                <a:endCxn id="29733" idx="0"/>
              </p:cNvCxnSpPr>
              <p:nvPr/>
            </p:nvCxnSpPr>
            <p:spPr bwMode="auto">
              <a:xfrm flipH="1">
                <a:off x="2411" y="2708"/>
                <a:ext cx="3" cy="132"/>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9737" name="AutoShape 12"/>
              <p:cNvCxnSpPr>
                <a:cxnSpLocks noChangeShapeType="1"/>
                <a:stCxn id="29733" idx="2"/>
                <a:endCxn id="29734" idx="0"/>
              </p:cNvCxnSpPr>
              <p:nvPr/>
            </p:nvCxnSpPr>
            <p:spPr bwMode="auto">
              <a:xfrm flipH="1">
                <a:off x="2408" y="3092"/>
                <a:ext cx="3" cy="75"/>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9738" name="AutoShape 13"/>
              <p:cNvCxnSpPr>
                <a:cxnSpLocks noChangeShapeType="1"/>
                <a:stCxn id="29734" idx="2"/>
                <a:endCxn id="29735" idx="0"/>
              </p:cNvCxnSpPr>
              <p:nvPr/>
            </p:nvCxnSpPr>
            <p:spPr bwMode="auto">
              <a:xfrm flipH="1">
                <a:off x="2407" y="3419"/>
                <a:ext cx="2" cy="84"/>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sp>
          <p:nvSpPr>
            <p:cNvPr id="29731" name="Text Box 14"/>
            <p:cNvSpPr txBox="1">
              <a:spLocks noChangeArrowheads="1"/>
            </p:cNvSpPr>
            <p:nvPr/>
          </p:nvSpPr>
          <p:spPr bwMode="auto">
            <a:xfrm>
              <a:off x="3264" y="4020"/>
              <a:ext cx="8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endParaRPr lang="en-US" altLang="en-US" sz="1800" b="1" i="1"/>
            </a:p>
          </p:txBody>
        </p:sp>
      </p:grpSp>
      <p:grpSp>
        <p:nvGrpSpPr>
          <p:cNvPr id="29703" name="Group 53"/>
          <p:cNvGrpSpPr>
            <a:grpSpLocks/>
          </p:cNvGrpSpPr>
          <p:nvPr/>
        </p:nvGrpSpPr>
        <p:grpSpPr bwMode="auto">
          <a:xfrm>
            <a:off x="578696" y="1514233"/>
            <a:ext cx="3406776" cy="2768970"/>
            <a:chOff x="5334000" y="3479244"/>
            <a:chExt cx="2555082" cy="2769156"/>
          </a:xfrm>
        </p:grpSpPr>
        <p:sp>
          <p:nvSpPr>
            <p:cNvPr id="29728" name="Rectangle 4"/>
            <p:cNvSpPr>
              <a:spLocks noChangeArrowheads="1"/>
            </p:cNvSpPr>
            <p:nvPr/>
          </p:nvSpPr>
          <p:spPr bwMode="auto">
            <a:xfrm>
              <a:off x="5334000" y="3909298"/>
              <a:ext cx="2555082" cy="2339102"/>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nSpc>
                  <a:spcPct val="80000"/>
                </a:lnSpc>
                <a:spcBef>
                  <a:spcPct val="50000"/>
                </a:spcBef>
                <a:buClrTx/>
                <a:buSzTx/>
                <a:buFontTx/>
                <a:buNone/>
              </a:pPr>
              <a:r>
                <a:rPr lang="en-US" altLang="en-US" sz="2000" b="1" i="1" u="sng" dirty="0"/>
                <a:t>item	cond. data base</a:t>
              </a:r>
            </a:p>
            <a:p>
              <a:pPr>
                <a:lnSpc>
                  <a:spcPct val="80000"/>
                </a:lnSpc>
                <a:spcBef>
                  <a:spcPct val="50000"/>
                </a:spcBef>
                <a:buClrTx/>
                <a:buSzTx/>
                <a:buFontTx/>
                <a:buNone/>
              </a:pPr>
              <a:r>
                <a:rPr lang="en-US" altLang="en-US" sz="2000" b="1" i="1" dirty="0"/>
                <a:t>c	f:3</a:t>
              </a:r>
            </a:p>
            <a:p>
              <a:pPr>
                <a:lnSpc>
                  <a:spcPct val="80000"/>
                </a:lnSpc>
                <a:spcBef>
                  <a:spcPct val="50000"/>
                </a:spcBef>
                <a:buClrTx/>
                <a:buSzTx/>
                <a:buFontTx/>
                <a:buNone/>
              </a:pPr>
              <a:r>
                <a:rPr lang="en-US" altLang="en-US" sz="2000" b="1" i="1" dirty="0"/>
                <a:t>a	fc:3</a:t>
              </a:r>
            </a:p>
            <a:p>
              <a:pPr>
                <a:lnSpc>
                  <a:spcPct val="80000"/>
                </a:lnSpc>
                <a:spcBef>
                  <a:spcPct val="50000"/>
                </a:spcBef>
                <a:buClrTx/>
                <a:buSzTx/>
                <a:buFontTx/>
                <a:buNone/>
              </a:pPr>
              <a:r>
                <a:rPr lang="en-US" altLang="en-US" sz="2000" b="1" i="1" dirty="0"/>
                <a:t>b	fca:1, f:1, c:1</a:t>
              </a:r>
            </a:p>
            <a:p>
              <a:pPr>
                <a:lnSpc>
                  <a:spcPct val="80000"/>
                </a:lnSpc>
                <a:spcBef>
                  <a:spcPct val="50000"/>
                </a:spcBef>
                <a:buClrTx/>
                <a:buSzTx/>
                <a:buFontTx/>
                <a:buNone/>
              </a:pPr>
              <a:r>
                <a:rPr lang="en-US" altLang="en-US" sz="2000" b="1" i="1" dirty="0"/>
                <a:t>m	fca:2, fcab:1</a:t>
              </a:r>
            </a:p>
            <a:p>
              <a:pPr>
                <a:lnSpc>
                  <a:spcPct val="80000"/>
                </a:lnSpc>
                <a:spcBef>
                  <a:spcPct val="50000"/>
                </a:spcBef>
                <a:buClrTx/>
                <a:buSzTx/>
                <a:buFontTx/>
                <a:buNone/>
              </a:pPr>
              <a:r>
                <a:rPr lang="en-US" altLang="en-US" sz="2000" b="1" i="1" dirty="0"/>
                <a:t>p	fcam:2, cb:1</a:t>
              </a:r>
            </a:p>
          </p:txBody>
        </p:sp>
        <p:sp>
          <p:nvSpPr>
            <p:cNvPr id="29729" name="TextBox 55"/>
            <p:cNvSpPr txBox="1">
              <a:spLocks noChangeArrowheads="1"/>
            </p:cNvSpPr>
            <p:nvPr/>
          </p:nvSpPr>
          <p:spPr bwMode="auto">
            <a:xfrm>
              <a:off x="5621918" y="3479244"/>
              <a:ext cx="2021204" cy="40013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eaLnBrk="1" hangingPunct="1">
                <a:spcBef>
                  <a:spcPct val="50000"/>
                </a:spcBef>
                <a:buClrTx/>
                <a:buSzTx/>
                <a:buFontTx/>
                <a:buNone/>
              </a:pPr>
              <a:r>
                <a:rPr lang="en-US" altLang="en-US" sz="2000" b="1" i="1" dirty="0"/>
                <a:t>Conditional Data Bases</a:t>
              </a:r>
            </a:p>
          </p:txBody>
        </p:sp>
      </p:grpSp>
      <p:sp>
        <p:nvSpPr>
          <p:cNvPr id="29704" name="Rectangle 3"/>
          <p:cNvSpPr txBox="1">
            <a:spLocks noChangeArrowheads="1"/>
          </p:cNvSpPr>
          <p:nvPr/>
        </p:nvSpPr>
        <p:spPr bwMode="auto">
          <a:xfrm>
            <a:off x="5587278" y="2567635"/>
            <a:ext cx="5299075" cy="373063"/>
          </a:xfrm>
          <a:prstGeom prst="rect">
            <a:avLst/>
          </a:prstGeom>
          <a:solidFill>
            <a:srgbClr val="F6E6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buNone/>
            </a:pPr>
            <a:r>
              <a:rPr lang="en-US" altLang="en-US" i="1" dirty="0"/>
              <a:t>p</a:t>
            </a:r>
            <a:r>
              <a:rPr lang="en-US" altLang="en-US" dirty="0"/>
              <a:t>’s conditional DB: </a:t>
            </a:r>
            <a:r>
              <a:rPr lang="en-US" altLang="en-US" b="1" i="1" dirty="0"/>
              <a:t>fcam:2, cb:1 </a:t>
            </a:r>
            <a:r>
              <a:rPr lang="en-US" altLang="en-US" b="1" dirty="0"/>
              <a:t>→</a:t>
            </a:r>
            <a:r>
              <a:rPr lang="en-US" altLang="en-US" b="1" i="1" dirty="0"/>
              <a:t> c: 3</a:t>
            </a:r>
          </a:p>
        </p:txBody>
      </p:sp>
      <p:sp>
        <p:nvSpPr>
          <p:cNvPr id="29705" name="Rectangle 3"/>
          <p:cNvSpPr txBox="1">
            <a:spLocks noChangeArrowheads="1"/>
          </p:cNvSpPr>
          <p:nvPr/>
        </p:nvSpPr>
        <p:spPr bwMode="auto">
          <a:xfrm>
            <a:off x="5587277" y="3028407"/>
            <a:ext cx="5299075" cy="373063"/>
          </a:xfrm>
          <a:prstGeom prst="rect">
            <a:avLst/>
          </a:prstGeom>
          <a:solidFill>
            <a:srgbClr val="F6E6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lvl="1" eaLnBrk="1" hangingPunct="1">
              <a:buClr>
                <a:schemeClr val="folHlink"/>
              </a:buClr>
              <a:buSzPct val="60000"/>
              <a:buNone/>
            </a:pPr>
            <a:r>
              <a:rPr lang="en-US" altLang="en-US" i="1" dirty="0"/>
              <a:t>m</a:t>
            </a:r>
            <a:r>
              <a:rPr lang="en-US" altLang="en-US" dirty="0"/>
              <a:t>’s conditional DB: </a:t>
            </a:r>
            <a:r>
              <a:rPr lang="en-US" altLang="en-US" b="1" i="1" dirty="0"/>
              <a:t>fca:2, fcab:1 </a:t>
            </a:r>
            <a:r>
              <a:rPr lang="en-US" altLang="en-US" b="1" dirty="0"/>
              <a:t>→</a:t>
            </a:r>
            <a:r>
              <a:rPr lang="en-US" altLang="en-US" b="1" i="1" dirty="0"/>
              <a:t> </a:t>
            </a:r>
            <a:r>
              <a:rPr lang="en-US" altLang="en-US" b="1" i="1" dirty="0" err="1"/>
              <a:t>fca</a:t>
            </a:r>
            <a:r>
              <a:rPr lang="en-US" altLang="en-US" b="1" i="1" dirty="0"/>
              <a:t>: 3</a:t>
            </a:r>
          </a:p>
        </p:txBody>
      </p:sp>
      <p:sp>
        <p:nvSpPr>
          <p:cNvPr id="29706" name="Rectangle 3"/>
          <p:cNvSpPr txBox="1">
            <a:spLocks noChangeArrowheads="1"/>
          </p:cNvSpPr>
          <p:nvPr/>
        </p:nvSpPr>
        <p:spPr bwMode="auto">
          <a:xfrm>
            <a:off x="5650329" y="3542102"/>
            <a:ext cx="5299075" cy="373063"/>
          </a:xfrm>
          <a:prstGeom prst="rect">
            <a:avLst/>
          </a:prstGeom>
          <a:solidFill>
            <a:srgbClr val="F6E6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lvl="1" eaLnBrk="1" hangingPunct="1">
              <a:buClr>
                <a:schemeClr val="folHlink"/>
              </a:buClr>
              <a:buSzPct val="60000"/>
              <a:buNone/>
            </a:pPr>
            <a:r>
              <a:rPr lang="en-US" altLang="en-US" i="1" dirty="0"/>
              <a:t>b</a:t>
            </a:r>
            <a:r>
              <a:rPr lang="en-US" altLang="en-US" dirty="0"/>
              <a:t>’s conditional DB: </a:t>
            </a:r>
            <a:r>
              <a:rPr lang="en-US" altLang="en-US" b="1" i="1" dirty="0"/>
              <a:t>fca:1, f:1, c:1 </a:t>
            </a:r>
            <a:r>
              <a:rPr lang="en-US" altLang="en-US" b="1" dirty="0"/>
              <a:t>→</a:t>
            </a:r>
            <a:r>
              <a:rPr lang="en-US" altLang="en-US" b="1" i="1" dirty="0"/>
              <a:t> ɸ</a:t>
            </a:r>
          </a:p>
        </p:txBody>
      </p:sp>
      <p:grpSp>
        <p:nvGrpSpPr>
          <p:cNvPr id="29707" name="Group 14"/>
          <p:cNvGrpSpPr>
            <a:grpSpLocks/>
          </p:cNvGrpSpPr>
          <p:nvPr/>
        </p:nvGrpSpPr>
        <p:grpSpPr bwMode="auto">
          <a:xfrm>
            <a:off x="1523998" y="4376241"/>
            <a:ext cx="1340599" cy="1870075"/>
            <a:chOff x="4393" y="1248"/>
            <a:chExt cx="744" cy="1178"/>
          </a:xfrm>
        </p:grpSpPr>
        <p:sp>
          <p:nvSpPr>
            <p:cNvPr id="29722" name="Text Box 15"/>
            <p:cNvSpPr txBox="1">
              <a:spLocks noChangeArrowheads="1"/>
            </p:cNvSpPr>
            <p:nvPr/>
          </p:nvSpPr>
          <p:spPr bwMode="auto">
            <a:xfrm>
              <a:off x="4878" y="1248"/>
              <a:ext cx="23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a:latin typeface="Times New Roman" pitchFamily="18" charset="0"/>
                </a:rPr>
                <a:t>{}</a:t>
              </a:r>
            </a:p>
          </p:txBody>
        </p:sp>
        <p:sp>
          <p:nvSpPr>
            <p:cNvPr id="29723" name="Text Box 16"/>
            <p:cNvSpPr txBox="1">
              <a:spLocks noChangeArrowheads="1"/>
            </p:cNvSpPr>
            <p:nvPr/>
          </p:nvSpPr>
          <p:spPr bwMode="auto">
            <a:xfrm>
              <a:off x="4866" y="1632"/>
              <a:ext cx="2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f:3</a:t>
              </a:r>
            </a:p>
          </p:txBody>
        </p:sp>
        <p:sp>
          <p:nvSpPr>
            <p:cNvPr id="29724" name="Text Box 17"/>
            <p:cNvSpPr txBox="1">
              <a:spLocks noChangeArrowheads="1"/>
            </p:cNvSpPr>
            <p:nvPr/>
          </p:nvSpPr>
          <p:spPr bwMode="auto">
            <a:xfrm>
              <a:off x="4853" y="1959"/>
              <a:ext cx="28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c:3</a:t>
              </a:r>
            </a:p>
          </p:txBody>
        </p:sp>
        <p:cxnSp>
          <p:nvCxnSpPr>
            <p:cNvPr id="29725" name="AutoShape 18"/>
            <p:cNvCxnSpPr>
              <a:cxnSpLocks noChangeShapeType="1"/>
              <a:stCxn id="29722" idx="2"/>
              <a:endCxn id="29723" idx="0"/>
            </p:cNvCxnSpPr>
            <p:nvPr/>
          </p:nvCxnSpPr>
          <p:spPr bwMode="auto">
            <a:xfrm flipH="1">
              <a:off x="4996" y="1500"/>
              <a:ext cx="1" cy="132"/>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9726" name="AutoShape 19"/>
            <p:cNvCxnSpPr>
              <a:cxnSpLocks noChangeShapeType="1"/>
              <a:stCxn id="29723" idx="2"/>
              <a:endCxn id="29724" idx="0"/>
            </p:cNvCxnSpPr>
            <p:nvPr/>
          </p:nvCxnSpPr>
          <p:spPr bwMode="auto">
            <a:xfrm flipH="1">
              <a:off x="4995" y="1884"/>
              <a:ext cx="1" cy="75"/>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29727" name="Text Box 20"/>
            <p:cNvSpPr txBox="1">
              <a:spLocks noChangeArrowheads="1"/>
            </p:cNvSpPr>
            <p:nvPr/>
          </p:nvSpPr>
          <p:spPr bwMode="auto">
            <a:xfrm>
              <a:off x="4393" y="2193"/>
              <a:ext cx="10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endParaRPr lang="en-US" altLang="en-US" sz="1800" b="1" i="1">
                <a:latin typeface="Times New Roman" pitchFamily="18" charset="0"/>
              </a:endParaRPr>
            </a:p>
          </p:txBody>
        </p:sp>
      </p:grpSp>
      <p:sp>
        <p:nvSpPr>
          <p:cNvPr id="29708" name="Rectangle 2"/>
          <p:cNvSpPr>
            <a:spLocks noChangeArrowheads="1"/>
          </p:cNvSpPr>
          <p:nvPr/>
        </p:nvSpPr>
        <p:spPr bwMode="auto">
          <a:xfrm>
            <a:off x="1948203" y="5949453"/>
            <a:ext cx="1367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eaLnBrk="1" hangingPunct="1">
              <a:spcBef>
                <a:spcPct val="0"/>
              </a:spcBef>
              <a:buClrTx/>
              <a:buSzTx/>
              <a:buFontTx/>
              <a:buNone/>
            </a:pPr>
            <a:r>
              <a:rPr lang="en-US" altLang="en-US" sz="1800" i="1" dirty="0" err="1"/>
              <a:t>am’s</a:t>
            </a:r>
            <a:r>
              <a:rPr lang="en-US" altLang="en-US" sz="1800" i="1" dirty="0"/>
              <a:t> </a:t>
            </a:r>
            <a:r>
              <a:rPr lang="en-US" altLang="en-US" sz="1800" dirty="0"/>
              <a:t>FP-tree</a:t>
            </a:r>
            <a:endParaRPr lang="en-US" altLang="en-US" sz="1800" i="1" dirty="0"/>
          </a:p>
        </p:txBody>
      </p:sp>
      <p:sp>
        <p:nvSpPr>
          <p:cNvPr id="29709" name="Rectangle 3"/>
          <p:cNvSpPr>
            <a:spLocks noChangeArrowheads="1"/>
          </p:cNvSpPr>
          <p:nvPr/>
        </p:nvSpPr>
        <p:spPr bwMode="auto">
          <a:xfrm>
            <a:off x="329367" y="6319341"/>
            <a:ext cx="13436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eaLnBrk="1" hangingPunct="1">
              <a:spcBef>
                <a:spcPct val="0"/>
              </a:spcBef>
              <a:buClrTx/>
              <a:buSzTx/>
              <a:buFontTx/>
              <a:buNone/>
            </a:pPr>
            <a:r>
              <a:rPr lang="en-US" altLang="en-US" sz="2000" i="1" dirty="0"/>
              <a:t>m’s FP-tree</a:t>
            </a:r>
          </a:p>
        </p:txBody>
      </p:sp>
      <p:sp>
        <p:nvSpPr>
          <p:cNvPr id="29710" name="Text Box 22"/>
          <p:cNvSpPr txBox="1">
            <a:spLocks noChangeArrowheads="1"/>
          </p:cNvSpPr>
          <p:nvPr/>
        </p:nvSpPr>
        <p:spPr bwMode="auto">
          <a:xfrm>
            <a:off x="3668185" y="4398466"/>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a:latin typeface="Times New Roman" pitchFamily="18" charset="0"/>
              </a:rPr>
              <a:t>{}</a:t>
            </a:r>
          </a:p>
        </p:txBody>
      </p:sp>
      <p:sp>
        <p:nvSpPr>
          <p:cNvPr id="29711" name="Text Box 23"/>
          <p:cNvSpPr txBox="1">
            <a:spLocks noChangeArrowheads="1"/>
          </p:cNvSpPr>
          <p:nvPr/>
        </p:nvSpPr>
        <p:spPr bwMode="auto">
          <a:xfrm>
            <a:off x="3642785" y="5008066"/>
            <a:ext cx="4683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i="1">
                <a:latin typeface="Times New Roman" pitchFamily="18" charset="0"/>
              </a:rPr>
              <a:t>f:3</a:t>
            </a:r>
          </a:p>
        </p:txBody>
      </p:sp>
      <p:cxnSp>
        <p:nvCxnSpPr>
          <p:cNvPr id="29712" name="AutoShape 24"/>
          <p:cNvCxnSpPr>
            <a:cxnSpLocks noChangeShapeType="1"/>
            <a:stCxn id="29710" idx="2"/>
            <a:endCxn id="29711" idx="0"/>
          </p:cNvCxnSpPr>
          <p:nvPr/>
        </p:nvCxnSpPr>
        <p:spPr bwMode="auto">
          <a:xfrm flipH="1">
            <a:off x="3876984" y="4798576"/>
            <a:ext cx="6965" cy="209490"/>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29713" name="Text Box 25"/>
          <p:cNvSpPr txBox="1">
            <a:spLocks noChangeArrowheads="1"/>
          </p:cNvSpPr>
          <p:nvPr/>
        </p:nvSpPr>
        <p:spPr bwMode="auto">
          <a:xfrm>
            <a:off x="3148608" y="5477846"/>
            <a:ext cx="15397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spcBef>
                <a:spcPct val="0"/>
              </a:spcBef>
              <a:buClrTx/>
              <a:buSzTx/>
              <a:buFontTx/>
              <a:buNone/>
            </a:pPr>
            <a:r>
              <a:rPr lang="en-US" altLang="en-US" sz="1800" i="1" dirty="0"/>
              <a:t>cm’s </a:t>
            </a:r>
            <a:r>
              <a:rPr lang="en-US" altLang="en-US" sz="1800" dirty="0"/>
              <a:t>FP-tree</a:t>
            </a:r>
            <a:endParaRPr lang="en-US" altLang="en-US" sz="1800" i="1" dirty="0"/>
          </a:p>
        </p:txBody>
      </p:sp>
      <p:sp>
        <p:nvSpPr>
          <p:cNvPr id="29714" name="Curved Down Arrow 5"/>
          <p:cNvSpPr>
            <a:spLocks noChangeArrowheads="1"/>
          </p:cNvSpPr>
          <p:nvPr/>
        </p:nvSpPr>
        <p:spPr bwMode="auto">
          <a:xfrm rot="-882105">
            <a:off x="1134534" y="4930278"/>
            <a:ext cx="2478617" cy="493712"/>
          </a:xfrm>
          <a:prstGeom prst="curvedDownArrow">
            <a:avLst>
              <a:gd name="adj1" fmla="val 24980"/>
              <a:gd name="adj2" fmla="val 49942"/>
              <a:gd name="adj3" fmla="val 25000"/>
            </a:avLst>
          </a:prstGeom>
          <a:solidFill>
            <a:schemeClr val="accent1"/>
          </a:solidFill>
          <a:ln w="9525">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latin typeface="Tahoma" pitchFamily="34" charset="0"/>
            </a:endParaRPr>
          </a:p>
        </p:txBody>
      </p:sp>
      <p:sp>
        <p:nvSpPr>
          <p:cNvPr id="29715" name="Curved Up Arrow 6"/>
          <p:cNvSpPr>
            <a:spLocks noChangeArrowheads="1"/>
          </p:cNvSpPr>
          <p:nvPr/>
        </p:nvSpPr>
        <p:spPr bwMode="auto">
          <a:xfrm rot="-929925">
            <a:off x="2969685" y="5571628"/>
            <a:ext cx="2364316" cy="366712"/>
          </a:xfrm>
          <a:prstGeom prst="curvedUpArrow">
            <a:avLst>
              <a:gd name="adj1" fmla="val 24983"/>
              <a:gd name="adj2" fmla="val 50012"/>
              <a:gd name="adj3" fmla="val 0"/>
            </a:avLst>
          </a:prstGeom>
          <a:solidFill>
            <a:srgbClr val="FF0000"/>
          </a:solidFill>
          <a:ln w="9525">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latin typeface="Tahoma" pitchFamily="34" charset="0"/>
            </a:endParaRPr>
          </a:p>
        </p:txBody>
      </p:sp>
      <p:sp>
        <p:nvSpPr>
          <p:cNvPr id="29716" name="Curved Down Arrow 78"/>
          <p:cNvSpPr>
            <a:spLocks noChangeArrowheads="1"/>
          </p:cNvSpPr>
          <p:nvPr/>
        </p:nvSpPr>
        <p:spPr bwMode="auto">
          <a:xfrm rot="-1772547">
            <a:off x="1117601" y="5703391"/>
            <a:ext cx="1299633" cy="282575"/>
          </a:xfrm>
          <a:prstGeom prst="curvedDownArrow">
            <a:avLst>
              <a:gd name="adj1" fmla="val 25088"/>
              <a:gd name="adj2" fmla="val 50161"/>
              <a:gd name="adj3" fmla="val 25000"/>
            </a:avLst>
          </a:prstGeom>
          <a:solidFill>
            <a:schemeClr val="accent1"/>
          </a:solidFill>
          <a:ln w="9525">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eaLnBrk="1" hangingPunct="1">
              <a:spcBef>
                <a:spcPct val="0"/>
              </a:spcBef>
              <a:buClrTx/>
              <a:buSzTx/>
              <a:buFontTx/>
              <a:buNone/>
            </a:pPr>
            <a:endParaRPr lang="en-US" altLang="en-US">
              <a:latin typeface="Tahoma" pitchFamily="34" charset="0"/>
            </a:endParaRPr>
          </a:p>
        </p:txBody>
      </p:sp>
      <p:sp>
        <p:nvSpPr>
          <p:cNvPr id="29717" name="Text Box 22"/>
          <p:cNvSpPr txBox="1">
            <a:spLocks noChangeArrowheads="1"/>
          </p:cNvSpPr>
          <p:nvPr/>
        </p:nvSpPr>
        <p:spPr bwMode="auto">
          <a:xfrm>
            <a:off x="5196418" y="4414341"/>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spcBef>
                <a:spcPct val="0"/>
              </a:spcBef>
              <a:buClrTx/>
              <a:buSzTx/>
              <a:buFontTx/>
              <a:buNone/>
            </a:pPr>
            <a:r>
              <a:rPr lang="en-US" altLang="en-US" sz="2000">
                <a:latin typeface="Times New Roman" pitchFamily="18" charset="0"/>
              </a:rPr>
              <a:t>{}</a:t>
            </a:r>
          </a:p>
        </p:txBody>
      </p:sp>
      <p:cxnSp>
        <p:nvCxnSpPr>
          <p:cNvPr id="29718" name="AutoShape 24"/>
          <p:cNvCxnSpPr>
            <a:cxnSpLocks noChangeShapeType="1"/>
            <a:stCxn id="29717" idx="2"/>
            <a:endCxn id="29698" idx="0"/>
          </p:cNvCxnSpPr>
          <p:nvPr/>
        </p:nvCxnSpPr>
        <p:spPr bwMode="auto">
          <a:xfrm>
            <a:off x="5412182" y="4814451"/>
            <a:ext cx="23418" cy="209489"/>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29719" name="Text Box 25"/>
          <p:cNvSpPr txBox="1">
            <a:spLocks noChangeArrowheads="1"/>
          </p:cNvSpPr>
          <p:nvPr/>
        </p:nvSpPr>
        <p:spPr bwMode="auto">
          <a:xfrm>
            <a:off x="4735948" y="5432300"/>
            <a:ext cx="1577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spcBef>
                <a:spcPct val="0"/>
              </a:spcBef>
              <a:buClrTx/>
              <a:buSzTx/>
              <a:buFontTx/>
              <a:buNone/>
            </a:pPr>
            <a:r>
              <a:rPr lang="en-US" altLang="en-US" sz="1800" i="1" dirty="0"/>
              <a:t>cam’s </a:t>
            </a:r>
            <a:r>
              <a:rPr lang="en-US" altLang="en-US" sz="1800" dirty="0"/>
              <a:t>FP-tree</a:t>
            </a:r>
            <a:endParaRPr lang="en-US" altLang="en-US" sz="1800" i="1" dirty="0"/>
          </a:p>
        </p:txBody>
      </p:sp>
      <p:sp>
        <p:nvSpPr>
          <p:cNvPr id="29720" name="Rectangle 15"/>
          <p:cNvSpPr>
            <a:spLocks noChangeArrowheads="1"/>
          </p:cNvSpPr>
          <p:nvPr/>
        </p:nvSpPr>
        <p:spPr bwMode="auto">
          <a:xfrm>
            <a:off x="6807296" y="5205988"/>
            <a:ext cx="2476500" cy="1415772"/>
          </a:xfrm>
          <a:prstGeom prst="rect">
            <a:avLst/>
          </a:prstGeom>
          <a:solidFill>
            <a:srgbClr val="FFC000"/>
          </a:solidFill>
          <a:ln>
            <a:noFill/>
          </a:ln>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nSpc>
                <a:spcPct val="70000"/>
              </a:lnSpc>
              <a:spcBef>
                <a:spcPct val="50000"/>
              </a:spcBef>
              <a:buClrTx/>
              <a:buSzTx/>
              <a:buFontTx/>
              <a:buNone/>
            </a:pPr>
            <a:r>
              <a:rPr lang="en-US" altLang="en-US" sz="2000" b="1" i="1" dirty="0">
                <a:latin typeface="Times New Roman" pitchFamily="18" charset="0"/>
              </a:rPr>
              <a:t>m: 3</a:t>
            </a:r>
          </a:p>
          <a:p>
            <a:pPr>
              <a:lnSpc>
                <a:spcPct val="70000"/>
              </a:lnSpc>
              <a:spcBef>
                <a:spcPct val="50000"/>
              </a:spcBef>
              <a:buClrTx/>
              <a:buSzTx/>
              <a:buFontTx/>
              <a:buNone/>
            </a:pPr>
            <a:r>
              <a:rPr lang="en-US" altLang="en-US" sz="2000" b="1" i="1" dirty="0" err="1">
                <a:latin typeface="Times New Roman" pitchFamily="18" charset="0"/>
              </a:rPr>
              <a:t>fm</a:t>
            </a:r>
            <a:r>
              <a:rPr lang="en-US" altLang="en-US" sz="2000" b="1" i="1" dirty="0">
                <a:latin typeface="Times New Roman" pitchFamily="18" charset="0"/>
              </a:rPr>
              <a:t>: 3, cm: 3, am: 3 </a:t>
            </a:r>
          </a:p>
          <a:p>
            <a:pPr>
              <a:lnSpc>
                <a:spcPct val="70000"/>
              </a:lnSpc>
              <a:spcBef>
                <a:spcPct val="50000"/>
              </a:spcBef>
              <a:buClrTx/>
              <a:buSzTx/>
              <a:buFontTx/>
              <a:buNone/>
            </a:pPr>
            <a:r>
              <a:rPr lang="en-US" altLang="en-US" sz="2000" b="1" i="1" dirty="0" err="1">
                <a:latin typeface="Times New Roman" pitchFamily="18" charset="0"/>
              </a:rPr>
              <a:t>fcm</a:t>
            </a:r>
            <a:r>
              <a:rPr lang="en-US" altLang="en-US" sz="2000" b="1" i="1" dirty="0">
                <a:latin typeface="Times New Roman" pitchFamily="18" charset="0"/>
              </a:rPr>
              <a:t>: 3, fam:3, cam: 3 </a:t>
            </a:r>
          </a:p>
          <a:p>
            <a:pPr>
              <a:lnSpc>
                <a:spcPct val="70000"/>
              </a:lnSpc>
              <a:spcBef>
                <a:spcPct val="50000"/>
              </a:spcBef>
              <a:buClrTx/>
              <a:buSzTx/>
              <a:buFontTx/>
              <a:buNone/>
            </a:pPr>
            <a:r>
              <a:rPr lang="en-US" altLang="en-US" sz="2000" b="1" i="1" dirty="0" err="1">
                <a:latin typeface="Times New Roman" pitchFamily="18" charset="0"/>
              </a:rPr>
              <a:t>fcam</a:t>
            </a:r>
            <a:r>
              <a:rPr lang="en-US" altLang="en-US" sz="2000" b="1" i="1" dirty="0">
                <a:latin typeface="Times New Roman" pitchFamily="18" charset="0"/>
              </a:rPr>
              <a:t>: 3</a:t>
            </a:r>
          </a:p>
        </p:txBody>
      </p:sp>
      <p:sp>
        <p:nvSpPr>
          <p:cNvPr id="89" name="Rectangle 3"/>
          <p:cNvSpPr txBox="1">
            <a:spLocks noChangeArrowheads="1"/>
          </p:cNvSpPr>
          <p:nvPr/>
        </p:nvSpPr>
        <p:spPr bwMode="auto">
          <a:xfrm>
            <a:off x="5700183" y="4344414"/>
            <a:ext cx="6054084"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Calibri" panose="020F0502020204030204" pitchFamily="34" charset="0"/>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400">
                <a:solidFill>
                  <a:schemeClr val="tx1"/>
                </a:solidFill>
                <a:latin typeface="Calibri" panose="020F0502020204030204" pitchFamily="34" charset="0"/>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400">
                <a:solidFill>
                  <a:schemeClr val="tx1"/>
                </a:solidFill>
                <a:latin typeface="Calibri" panose="020F0502020204030204" pitchFamily="34" charset="0"/>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anose="020F0502020204030204" pitchFamily="34"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eaLnBrk="1" hangingPunct="1">
              <a:buNone/>
              <a:defRPr/>
            </a:pPr>
            <a:r>
              <a:rPr lang="zh-CN" altLang="en-US"/>
              <a:t>实际上，对于单分支 </a:t>
            </a:r>
            <a:r>
              <a:rPr lang="en-US" altLang="zh-CN"/>
              <a:t>FP-</a:t>
            </a:r>
            <a:r>
              <a:rPr lang="zh-CN" altLang="en-US"/>
              <a:t>树，所有频繁模式可以一次性生成。</a:t>
            </a:r>
            <a:endParaRPr lang="en-US" altLang="en-US" dirty="0"/>
          </a:p>
        </p:txBody>
      </p:sp>
      <p:sp>
        <p:nvSpPr>
          <p:cNvPr id="42" name="Text Box 39"/>
          <p:cNvSpPr txBox="1">
            <a:spLocks noChangeArrowheads="1"/>
          </p:cNvSpPr>
          <p:nvPr/>
        </p:nvSpPr>
        <p:spPr bwMode="auto">
          <a:xfrm>
            <a:off x="1295883" y="1161410"/>
            <a:ext cx="1985022" cy="29854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algn="ctr">
              <a:lnSpc>
                <a:spcPct val="60000"/>
              </a:lnSpc>
              <a:spcBef>
                <a:spcPct val="50000"/>
              </a:spcBef>
              <a:buClrTx/>
              <a:buSzTx/>
              <a:buFontTx/>
              <a:buNone/>
            </a:pPr>
            <a:r>
              <a:rPr lang="en-US" altLang="en-US" sz="2000" b="1" dirty="0" err="1"/>
              <a:t>min_support</a:t>
            </a:r>
            <a:r>
              <a:rPr lang="en-US" altLang="en-US" sz="2000" b="1" dirty="0"/>
              <a:t> = 3</a:t>
            </a:r>
            <a:endParaRPr lang="en-US" altLang="en-US" b="1" u="sng" dirty="0"/>
          </a:p>
        </p:txBody>
      </p:sp>
      <p:sp>
        <p:nvSpPr>
          <p:cNvPr id="2" name="TextBox 1"/>
          <p:cNvSpPr txBox="1"/>
          <p:nvPr/>
        </p:nvSpPr>
        <p:spPr>
          <a:xfrm>
            <a:off x="1964362" y="6324590"/>
            <a:ext cx="3259104" cy="384721"/>
          </a:xfrm>
          <a:prstGeom prst="rect">
            <a:avLst/>
          </a:prstGeom>
          <a:solidFill>
            <a:srgbClr val="FFC000"/>
          </a:solidFill>
        </p:spPr>
        <p:txBody>
          <a:bodyPr wrap="square" rtlCol="0">
            <a:spAutoFit/>
          </a:bodyPr>
          <a:lstStyle/>
          <a:p>
            <a:r>
              <a:rPr lang="en-US" dirty="0"/>
              <a:t>Then, mining m’s FP-tree: fca:3</a:t>
            </a:r>
          </a:p>
        </p:txBody>
      </p:sp>
    </p:spTree>
    <p:extLst>
      <p:ext uri="{BB962C8B-B14F-4D97-AF65-F5344CB8AC3E}">
        <p14:creationId xmlns:p14="http://schemas.microsoft.com/office/powerpoint/2010/main" val="1083509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0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701">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701">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70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70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70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70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970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69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70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70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70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7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71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971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71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71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971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971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71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971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97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9">
                                            <p:txEl>
                                              <p:pRg st="0" end="0"/>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97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29704" grpId="0" animBg="1"/>
      <p:bldP spid="29705" grpId="0" animBg="1"/>
      <p:bldP spid="29706" grpId="0" animBg="1"/>
      <p:bldP spid="29708" grpId="0"/>
      <p:bldP spid="29709" grpId="0"/>
      <p:bldP spid="29710" grpId="0"/>
      <p:bldP spid="29711" grpId="0"/>
      <p:bldP spid="29713" grpId="0"/>
      <p:bldP spid="29714" grpId="0" animBg="1"/>
      <p:bldP spid="29715" grpId="0" animBg="1"/>
      <p:bldP spid="29716" grpId="0" animBg="1"/>
      <p:bldP spid="29717" grpId="0"/>
      <p:bldP spid="29719" grpId="0"/>
      <p:bldP spid="29720" grpId="0" animBg="1"/>
      <p:bldP spid="42" grpId="0" animBg="1"/>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203200" y="140852"/>
            <a:ext cx="11684000" cy="736600"/>
          </a:xfrm>
        </p:spPr>
        <p:txBody>
          <a:bodyPr>
            <a:normAutofit/>
          </a:bodyPr>
          <a:lstStyle/>
          <a:p>
            <a:pPr eaLnBrk="1" hangingPunct="1"/>
            <a:r>
              <a:rPr lang="en-US" altLang="en-US" sz="3600" dirty="0" err="1"/>
              <a:t>FPGrowth</a:t>
            </a:r>
            <a:r>
              <a:rPr lang="en-US" altLang="en-US" sz="3600" dirty="0"/>
              <a:t>: Mining Frequent Patterns by Pattern Growth</a:t>
            </a:r>
          </a:p>
        </p:txBody>
      </p:sp>
      <p:sp>
        <p:nvSpPr>
          <p:cNvPr id="26628" name="Rectangle 3"/>
          <p:cNvSpPr>
            <a:spLocks noGrp="1" noChangeArrowheads="1"/>
          </p:cNvSpPr>
          <p:nvPr>
            <p:ph type="body" idx="1"/>
          </p:nvPr>
        </p:nvSpPr>
        <p:spPr>
          <a:xfrm>
            <a:off x="480288" y="1219200"/>
            <a:ext cx="9949587" cy="5412828"/>
          </a:xfrm>
        </p:spPr>
        <p:txBody>
          <a:bodyPr/>
          <a:lstStyle/>
          <a:p>
            <a:pPr>
              <a:spcAft>
                <a:spcPts val="600"/>
              </a:spcAft>
            </a:pPr>
            <a:r>
              <a:rPr lang="zh-CN" altLang="en-US" sz="2400" dirty="0"/>
              <a:t>频繁模式增长（</a:t>
            </a:r>
            <a:r>
              <a:rPr lang="en-US" altLang="en-US" sz="2400" dirty="0"/>
              <a:t>FP-growth）</a:t>
            </a:r>
            <a:r>
              <a:rPr lang="zh-CN" altLang="en-US" sz="2400" dirty="0"/>
              <a:t>方法的精髓</a:t>
            </a:r>
            <a:r>
              <a:rPr lang="en-US" altLang="zh-CN" sz="2400" dirty="0"/>
              <a:t> </a:t>
            </a:r>
            <a:endParaRPr lang="en-US" altLang="en-US" sz="2400" dirty="0"/>
          </a:p>
          <a:p>
            <a:pPr lvl="1">
              <a:spcAft>
                <a:spcPts val="600"/>
              </a:spcAft>
            </a:pPr>
            <a:r>
              <a:rPr lang="zh-CN" altLang="en-US" sz="2400" dirty="0"/>
              <a:t>找出频繁单一项，并根据每个这样的单一项模式对数据库进行划分</a:t>
            </a:r>
            <a:endParaRPr lang="en-US" altLang="en-US" sz="2400" dirty="0"/>
          </a:p>
          <a:p>
            <a:pPr lvl="1">
              <a:spcAft>
                <a:spcPts val="600"/>
              </a:spcAft>
            </a:pPr>
            <a:r>
              <a:rPr lang="zh-CN" altLang="en-US" sz="2400" dirty="0"/>
              <a:t>对每个划分后的数据库（也称为该模式的条件数据库）重复上述操作，递归地增长频繁模式</a:t>
            </a:r>
            <a:endParaRPr lang="en-US" altLang="en-US" sz="2400" dirty="0"/>
          </a:p>
          <a:p>
            <a:pPr lvl="1">
              <a:spcAft>
                <a:spcPts val="600"/>
              </a:spcAft>
            </a:pPr>
            <a:r>
              <a:rPr lang="zh-CN" altLang="en-US" sz="2400" dirty="0"/>
              <a:t>为了便于高效处理，可以构建一种高效的数据结构</a:t>
            </a:r>
            <a:r>
              <a:rPr lang="en-US" altLang="zh-CN" sz="2400" dirty="0"/>
              <a:t>——FP-</a:t>
            </a:r>
            <a:r>
              <a:rPr lang="zh-CN" altLang="en-US" sz="2400" dirty="0"/>
              <a:t>树</a:t>
            </a:r>
            <a:endParaRPr lang="en-US" altLang="en-US" sz="2400" dirty="0"/>
          </a:p>
          <a:p>
            <a:pPr>
              <a:spcAft>
                <a:spcPts val="600"/>
              </a:spcAft>
            </a:pPr>
            <a:r>
              <a:rPr lang="zh-CN" altLang="en-US" sz="2400" dirty="0"/>
              <a:t>挖掘过程变为：</a:t>
            </a:r>
            <a:endParaRPr lang="en-US" altLang="en-US" sz="2400" dirty="0"/>
          </a:p>
          <a:p>
            <a:pPr lvl="1">
              <a:spcAft>
                <a:spcPts val="600"/>
              </a:spcAft>
            </a:pPr>
            <a:r>
              <a:rPr lang="zh-CN" altLang="en-US" sz="2400" dirty="0"/>
              <a:t>递归地构建和挖掘（条件）</a:t>
            </a:r>
            <a:r>
              <a:rPr lang="en-US" altLang="zh-CN" sz="2400" dirty="0"/>
              <a:t>FP-</a:t>
            </a:r>
            <a:r>
              <a:rPr lang="zh-CN" altLang="en-US" sz="2400" dirty="0"/>
              <a:t>树</a:t>
            </a:r>
            <a:endParaRPr lang="en-US" altLang="en-US" sz="2400" dirty="0"/>
          </a:p>
          <a:p>
            <a:pPr lvl="1">
              <a:spcAft>
                <a:spcPts val="600"/>
              </a:spcAft>
            </a:pPr>
            <a:r>
              <a:rPr lang="zh-CN" altLang="en-US" sz="2400" dirty="0"/>
              <a:t>直到得到的 </a:t>
            </a:r>
            <a:r>
              <a:rPr lang="en-US" altLang="zh-CN" sz="2400" dirty="0"/>
              <a:t>FP-</a:t>
            </a:r>
            <a:r>
              <a:rPr lang="zh-CN" altLang="en-US" sz="2400" dirty="0"/>
              <a:t>树为空，或者直到它只包含一条路径</a:t>
            </a:r>
            <a:r>
              <a:rPr lang="en-US" altLang="zh-CN" sz="2400" dirty="0"/>
              <a:t>——</a:t>
            </a:r>
            <a:r>
              <a:rPr lang="zh-CN" altLang="en-US" sz="2400" dirty="0"/>
              <a:t>单条路径将生成其所有子路径的组合，其中每一种组合都是一个频繁模式</a:t>
            </a:r>
            <a:endParaRPr lang="en-US" altLang="en-US" sz="2400" dirty="0"/>
          </a:p>
        </p:txBody>
      </p:sp>
    </p:spTree>
    <p:extLst>
      <p:ext uri="{BB962C8B-B14F-4D97-AF65-F5344CB8AC3E}">
        <p14:creationId xmlns:p14="http://schemas.microsoft.com/office/powerpoint/2010/main" val="4064293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2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62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6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kern="0" dirty="0"/>
              <a:t>CONCLUSION</a:t>
            </a:r>
            <a:endParaRPr lang="en-US" dirty="0"/>
          </a:p>
        </p:txBody>
      </p:sp>
      <p:sp>
        <p:nvSpPr>
          <p:cNvPr id="3" name="Content Placeholder 2"/>
          <p:cNvSpPr>
            <a:spLocks noGrp="1"/>
          </p:cNvSpPr>
          <p:nvPr>
            <p:ph idx="1"/>
          </p:nvPr>
        </p:nvSpPr>
        <p:spPr>
          <a:xfrm>
            <a:off x="582383" y="1200363"/>
            <a:ext cx="9304001" cy="5472042"/>
          </a:xfrm>
        </p:spPr>
        <p:txBody>
          <a:bodyPr/>
          <a:lstStyle/>
          <a:p>
            <a:pPr marL="0" indent="0">
              <a:spcBef>
                <a:spcPts val="300"/>
              </a:spcBef>
              <a:buSzTx/>
              <a:buNone/>
            </a:pPr>
            <a:r>
              <a:rPr lang="en-US" altLang="zh-CN" sz="2000" dirty="0"/>
              <a:t>1.</a:t>
            </a:r>
            <a:r>
              <a:rPr lang="zh-CN" altLang="en-US" sz="2000" dirty="0"/>
              <a:t>关联规则挖掘通过发现频繁项集揭示数据项之间的关系</a:t>
            </a:r>
            <a:endParaRPr lang="en-US" altLang="zh-CN" sz="2000" dirty="0"/>
          </a:p>
          <a:p>
            <a:pPr marL="0" indent="0">
              <a:spcBef>
                <a:spcPts val="300"/>
              </a:spcBef>
              <a:buSzTx/>
              <a:buNone/>
            </a:pPr>
            <a:r>
              <a:rPr lang="en-US" altLang="zh-CN" sz="2000" dirty="0"/>
              <a:t>2.Apriori </a:t>
            </a:r>
            <a:r>
              <a:rPr lang="zh-CN" altLang="en-US" sz="2000" dirty="0"/>
              <a:t>利用反单调性进行逐层搜索，但存在候选爆炸和多次扫描问题</a:t>
            </a:r>
            <a:endParaRPr lang="en-US" altLang="zh-CN" sz="2000" dirty="0"/>
          </a:p>
          <a:p>
            <a:pPr marL="0" indent="0">
              <a:spcBef>
                <a:spcPts val="300"/>
              </a:spcBef>
              <a:buSzTx/>
              <a:buNone/>
            </a:pPr>
            <a:r>
              <a:rPr lang="en-US" altLang="zh-CN" sz="2000" dirty="0"/>
              <a:t>3.FP-growth </a:t>
            </a:r>
            <a:r>
              <a:rPr lang="zh-CN" altLang="en-US" sz="2000" dirty="0"/>
              <a:t>通过 </a:t>
            </a:r>
            <a:r>
              <a:rPr lang="en-US" altLang="zh-CN" sz="2000" dirty="0"/>
              <a:t>FP-tree </a:t>
            </a:r>
            <a:r>
              <a:rPr lang="zh-CN" altLang="en-US" sz="2000" dirty="0"/>
              <a:t>和模式增长策略，避免候选生成，提高了挖掘效率</a:t>
            </a:r>
            <a:endParaRPr lang="en-US" altLang="en-US" sz="2000" kern="0" dirty="0"/>
          </a:p>
        </p:txBody>
      </p:sp>
    </p:spTree>
    <p:extLst>
      <p:ext uri="{BB962C8B-B14F-4D97-AF65-F5344CB8AC3E}">
        <p14:creationId xmlns:p14="http://schemas.microsoft.com/office/powerpoint/2010/main" val="4226410425"/>
      </p:ext>
    </p:extLst>
  </p:cSld>
  <p:clrMapOvr>
    <a:masterClrMapping/>
  </p:clrMapOvr>
</p:sld>
</file>

<file path=ppt/theme/theme1.xml><?xml version="1.0" encoding="utf-8"?>
<a:theme xmlns:a="http://schemas.openxmlformats.org/drawingml/2006/main" name="2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19350</TotalTime>
  <Words>3934</Words>
  <Application>Microsoft Office PowerPoint</Application>
  <PresentationFormat>宽屏</PresentationFormat>
  <Paragraphs>500</Paragraphs>
  <Slides>24</Slides>
  <Notes>23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Arial</vt:lpstr>
      <vt:lpstr>Berlin Sans FB Demi</vt:lpstr>
      <vt:lpstr>Calibri</vt:lpstr>
      <vt:lpstr>Symbol</vt:lpstr>
      <vt:lpstr>Tahoma</vt:lpstr>
      <vt:lpstr>Times New Roman</vt:lpstr>
      <vt:lpstr>Wingdings</vt:lpstr>
      <vt:lpstr>2_Retrospect</vt:lpstr>
      <vt:lpstr>Pattern Mining: Basic Concepts and Methods</vt:lpstr>
      <vt:lpstr>频繁模式挖掘与关联规则是什么？</vt:lpstr>
      <vt:lpstr>频繁模式挖掘与关联规则是什么？</vt:lpstr>
      <vt:lpstr>Basic Concepts: Transactional Database</vt:lpstr>
      <vt:lpstr>Basic Concepts: k-Itemsets and Their Supports</vt:lpstr>
      <vt:lpstr>Basic Concepts: Frequent Itemsets (Patterns)</vt:lpstr>
      <vt:lpstr>Measures of Association Rules</vt:lpstr>
      <vt:lpstr>Challenge: There Are Too Many Frequent Patterns!</vt:lpstr>
      <vt:lpstr>Apriori Algorithm</vt:lpstr>
      <vt:lpstr>Apriori Algorithm</vt:lpstr>
      <vt:lpstr>The Apriori Algorithm—An Example </vt:lpstr>
      <vt:lpstr>Apriori: Implementation Tricks</vt:lpstr>
      <vt:lpstr>Apriori: Improvements and Alternatives</vt:lpstr>
      <vt:lpstr>Apriori: Improvements and Alternatives</vt:lpstr>
      <vt:lpstr>Apriori: Improvements and Alternatives</vt:lpstr>
      <vt:lpstr>Apriori: Improvements and Alternatives</vt:lpstr>
      <vt:lpstr>Partitioning: Scan Database Only Twice</vt:lpstr>
      <vt:lpstr>Why Mining Frequent Patterns by Pattern Growth?</vt:lpstr>
      <vt:lpstr>Example: From Transactional DB to Ordered Frequent Itemlist</vt:lpstr>
      <vt:lpstr>Example: Construct FP-tree from Transaction DB</vt:lpstr>
      <vt:lpstr>Mining FP-Tree: Divide and Conquer  Based on Patterns and Data</vt:lpstr>
      <vt:lpstr>Mine Each Conditional Database Recursively</vt:lpstr>
      <vt:lpstr>FPGrowth: Mining Frequent Patterns by Pattern Growth</vt:lpstr>
      <vt:lpstr>CONCLUSION</vt:lpstr>
    </vt:vector>
  </TitlesOfParts>
  <Company>UIUC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Latent Entity Structures</dc:title>
  <dc:creator>Wang, Chi</dc:creator>
  <cp:lastModifiedBy>俊杰 吴</cp:lastModifiedBy>
  <cp:revision>939</cp:revision>
  <cp:lastPrinted>2022-12-31T17:52:29Z</cp:lastPrinted>
  <dcterms:created xsi:type="dcterms:W3CDTF">2014-06-02T15:06:14Z</dcterms:created>
  <dcterms:modified xsi:type="dcterms:W3CDTF">2026-04-05T13:02:51Z</dcterms:modified>
</cp:coreProperties>
</file>