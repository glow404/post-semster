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1933" r:id="rId3"/>
    <p:sldId id="1814" r:id="rId5"/>
    <p:sldId id="1921" r:id="rId6"/>
    <p:sldId id="1816" r:id="rId7"/>
    <p:sldId id="1935" r:id="rId8"/>
    <p:sldId id="1817" r:id="rId9"/>
    <p:sldId id="1915" r:id="rId10"/>
    <p:sldId id="1818" r:id="rId11"/>
    <p:sldId id="1916" r:id="rId12"/>
    <p:sldId id="1917" r:id="rId13"/>
    <p:sldId id="1821" r:id="rId14"/>
    <p:sldId id="1823" r:id="rId15"/>
    <p:sldId id="1825" r:id="rId16"/>
    <p:sldId id="1826" r:id="rId17"/>
    <p:sldId id="1827" r:id="rId18"/>
    <p:sldId id="1934" r:id="rId19"/>
    <p:sldId id="638" r:id="rId20"/>
    <p:sldId id="653" r:id="rId21"/>
    <p:sldId id="1855" r:id="rId22"/>
    <p:sldId id="1856" r:id="rId23"/>
    <p:sldId id="1857" r:id="rId24"/>
    <p:sldId id="1936" r:id="rId25"/>
    <p:sldId id="1942" r:id="rId26"/>
    <p:sldId id="1937" r:id="rId27"/>
    <p:sldId id="1943" r:id="rId28"/>
    <p:sldId id="1938" r:id="rId29"/>
    <p:sldId id="1939" r:id="rId30"/>
    <p:sldId id="1940" r:id="rId31"/>
    <p:sldId id="1944" r:id="rId32"/>
    <p:sldId id="1941" r:id="rId33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FFFFCC"/>
    <a:srgbClr val="F0CDBC"/>
    <a:srgbClr val="0033CC"/>
    <a:srgbClr val="FFFF00"/>
    <a:srgbClr val="DAD1CE"/>
    <a:srgbClr val="E9D2CD"/>
    <a:srgbClr val="CCFF66"/>
    <a:srgbClr val="008080"/>
    <a:srgbClr val="E48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1348" autoAdjust="0"/>
    <p:restoredTop sz="82491" autoAdjust="0"/>
  </p:normalViewPr>
  <p:slideViewPr>
    <p:cSldViewPr snapToGrid="0" showGuides="1">
      <p:cViewPr varScale="1">
        <p:scale>
          <a:sx n="94" d="100"/>
          <a:sy n="94" d="100"/>
        </p:scale>
        <p:origin x="1440" y="24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-8358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297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commentAuthors" Target="comment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67" tIns="46584" rIns="93167" bIns="4658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7" tIns="46584" rIns="93167" bIns="4658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67" tIns="46584" rIns="93167" bIns="46584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9"/>
            <a:ext cx="3037840" cy="466433"/>
          </a:xfrm>
          <a:prstGeom prst="rect">
            <a:avLst/>
          </a:prstGeom>
        </p:spPr>
        <p:txBody>
          <a:bodyPr vert="horz" lIns="93167" tIns="46584" rIns="93167" bIns="4658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22655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226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226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226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2265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/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056C25-6A07-4D35-B2C0-1EDDC05C55C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056C25-6A07-4D35-B2C0-1EDDC05C55C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1056C25-6A07-4D35-B2C0-1EDDC05C55C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972CC-8499-4EA3-A7EA-6359E458963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972CC-8499-4EA3-A7EA-6359E458963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35C91C8-570A-444C-91C3-C28FBA154BFE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5CA5FF2-DE4C-485B-B3D5-CBB411925B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5CA5FF2-DE4C-485B-B3D5-CBB411925B87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615EB87-E9BF-467A-92AC-7FA50A51926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37C517-9980-4745-8C64-172D51D32C8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383CC2C-4207-4981-B10F-A020C96F6B3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26F6015-ADE1-4284-BFCB-17426266BE7B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02D401-719A-4CB9-9E7B-2B83AA62208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02D401-719A-4CB9-9E7B-2B83AA62208A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64653EAC-1642-4190-A804-140586BE091A}" type="slidenum">
              <a:rPr lang="en-US" altLang="en-US" smtClean="0">
                <a:latin typeface="Tahoma" panose="020B0604030504040204" pitchFamily="34" charset="0"/>
              </a:rPr>
            </a:fld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</a:pPr>
            <a:fld id="{926F6015-ADE1-4284-BFCB-17426266BE7B}" type="slidenum">
              <a:rPr lang="en-US" altLang="en-US" smtClean="0">
                <a:solidFill>
                  <a:prstClr val="black"/>
                </a:solidFill>
                <a:latin typeface="Tahoma" panose="020B0604030504040204" pitchFamily="34" charset="0"/>
              </a:rPr>
            </a:fld>
            <a:endParaRPr lang="en-US" altLang="en-US">
              <a:solidFill>
                <a:prstClr val="black"/>
              </a:solidFill>
              <a:latin typeface="Tahoma" panose="020B0604030504040204" pitchFamily="34" charset="0"/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73954EC-9B3E-4A18-A7C6-A03E830ADDB0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11BE081-8CF4-4D19-9253-8890640D189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34695" indent="-282575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30300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8305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35175" indent="-226060" defTabSz="92202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48729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3941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39153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43655" indent="-226060" defTabSz="92202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algn="r" defTabSz="92202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85AA0BE-B3A9-4D31-ABE4-BECE2843A011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1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645" indent="-461645">
              <a:defRPr sz="2800"/>
            </a:lvl1pPr>
            <a:lvl2pPr marL="737870" indent="-537845">
              <a:defRPr sz="2800"/>
            </a:lvl2pPr>
            <a:lvl3pPr marL="858520" indent="-474345">
              <a:defRPr sz="2800"/>
            </a:lvl3pPr>
            <a:lvl4pPr marL="1144270" indent="-521970">
              <a:defRPr sz="2800"/>
            </a:lvl4pPr>
            <a:lvl5pPr marL="1376045" indent="-508000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 Fourth level</a:t>
            </a:r>
            <a:endParaRPr lang="en-US" dirty="0"/>
          </a:p>
          <a:p>
            <a:pPr lvl="4"/>
            <a:r>
              <a:rPr lang="en-US" dirty="0"/>
              <a:t> 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0FFBA9-6F95-4F70-A0C1-45366D5DB750}" type="datetime4">
              <a:rPr lang="en-US"/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Data Mining: Concepts and Techniques</a:t>
            </a:r>
            <a:endParaRPr lang="en-US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B0B6D57-B021-463B-8D62-09A83E2EE1F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87" y="6459788"/>
            <a:ext cx="4822804" cy="365125"/>
          </a:xfrm>
          <a:prstGeom prst="rect">
            <a:avLst/>
          </a:prstGeom>
        </p:spPr>
        <p:txBody>
          <a:bodyPr lIns="91438" tIns="45719" rIns="91438" bIns="45719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Rectangle 2061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277600" y="6477000"/>
            <a:ext cx="9144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02CC86-93B0-4433-BB82-3B4544800CD0}" type="slidenum">
              <a:rPr lang="en-US"/>
            </a:fld>
            <a:endParaRPr lang="en-US"/>
          </a:p>
        </p:txBody>
      </p:sp>
    </p:spTree>
  </p:cSld>
  <p:clrMapOvr>
    <a:masterClrMapping/>
  </p:clrMapOvr>
  <p:transition spd="med"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>
              <a:defRPr/>
            </a:pPr>
            <a:fld id="{3AA9760E-3788-467D-85DC-649C575C82E4}" type="datetime4">
              <a:rPr lang="en-US"/>
            </a:fld>
            <a:endParaRPr lang="en-US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477000"/>
            <a:ext cx="3860800" cy="381000"/>
          </a:xfrm>
          <a:prstGeom prst="rect">
            <a:avLst/>
          </a:prstGeom>
        </p:spPr>
        <p:txBody>
          <a:bodyPr/>
          <a:lstStyle>
            <a:lvl1pPr>
              <a:defRPr>
                <a:cs typeface="+mn-cs"/>
              </a:defRPr>
            </a:lvl1pPr>
          </a:lstStyle>
          <a:p>
            <a:pPr>
              <a:defRPr/>
            </a:pPr>
            <a:r>
              <a:rPr lang="en-US"/>
              <a:t>Data Mining: Concepts and Techniques</a:t>
            </a:r>
            <a:endParaRPr lang="en-US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77000"/>
            <a:ext cx="25400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9EE68-F450-4F55-BE84-E38F8E734114}" type="slidenum">
              <a:rPr lang="en-US"/>
            </a:fld>
            <a:endParaRPr lang="en-US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01600" y="850022"/>
            <a:ext cx="11887200" cy="673979"/>
          </a:xfrm>
          <a:prstGeom prst="rect">
            <a:avLst/>
          </a:prstGeom>
        </p:spPr>
        <p:txBody>
          <a:bodyPr vert="horz" lIns="91438" tIns="45719" rIns="91438" bIns="45719" rtlCol="0" anchor="b">
            <a:normAutofit/>
          </a:bodyPr>
          <a:lstStyle>
            <a:lvl1pPr>
              <a:defRPr/>
            </a:lvl1pPr>
          </a:lstStyle>
          <a:p>
            <a:r>
              <a:rPr lang="en-US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idx="1" hasCustomPrompt="1"/>
          </p:nvPr>
        </p:nvSpPr>
        <p:spPr>
          <a:xfrm>
            <a:off x="101600" y="1752600"/>
            <a:ext cx="11887200" cy="4675912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>
              <a:defRPr/>
            </a:lvl1pPr>
            <a:lvl2pPr>
              <a:defRPr/>
            </a:lvl2pPr>
          </a:lstStyle>
          <a:p>
            <a:pPr lvl="0"/>
            <a:r>
              <a:rPr lang="en-US" dirty="0"/>
              <a:t>Content 1</a:t>
            </a:r>
            <a:endParaRPr lang="en-US" dirty="0"/>
          </a:p>
          <a:p>
            <a:pPr lvl="1"/>
            <a:r>
              <a:rPr lang="en-US" dirty="0"/>
              <a:t> Content 2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  <a:endParaRPr lang="en-US" dirty="0"/>
          </a:p>
          <a:p>
            <a:pPr lvl="1"/>
            <a:r>
              <a:rPr lang="en-US" dirty="0"/>
              <a:t> Second level</a:t>
            </a:r>
            <a:endParaRPr lang="en-US" dirty="0"/>
          </a:p>
          <a:p>
            <a:pPr lvl="2"/>
            <a:r>
              <a:rPr lang="en-US" dirty="0"/>
              <a:t> Third level</a:t>
            </a:r>
            <a:endParaRPr lang="en-US" dirty="0"/>
          </a:p>
          <a:p>
            <a:pPr lvl="3"/>
            <a:r>
              <a:rPr lang="en-US" dirty="0"/>
              <a:t> Fourth level</a:t>
            </a:r>
            <a:endParaRPr lang="en-US" dirty="0"/>
          </a:p>
          <a:p>
            <a:pPr lvl="4"/>
            <a:r>
              <a:rPr lang="en-US" dirty="0"/>
              <a:t> Fifth level</a:t>
            </a:r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/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b="0" smtClean="0"/>
            </a:fld>
            <a:endParaRPr lang="en-US" sz="1600" b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ft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0995" indent="-34099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2770" indent="-37274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3895" indent="-29972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495" indent="-290195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7432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8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png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oleObject" Target="../embeddings/oleObject4.bin"/><Relationship Id="rId2" Type="http://schemas.openxmlformats.org/officeDocument/2006/relationships/image" Target="../media/image7.png"/><Relationship Id="rId1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050634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altLang="en-US" dirty="0"/>
              <a:t>Pattern Mining: Advanced Methods</a:t>
            </a:r>
            <a:endParaRPr lang="en-US" altLang="en-US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29979" y="1131454"/>
            <a:ext cx="10532282" cy="5574146"/>
          </a:xfrm>
          <a:noFill/>
        </p:spPr>
        <p:txBody>
          <a:bodyPr vert="horz" lIns="92075" tIns="46038" rIns="92075" bIns="46038" rtlCol="0" anchor="t">
            <a:noAutofit/>
          </a:bodyPr>
          <a:lstStyle/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Mining Various Kinds of Patterns 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Mining Compressed or Approximate Patterns  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Constraint-based Pattern Mining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zh-CN" altLang="en-US" b="1" dirty="0"/>
              <a:t>序列模式挖掘</a:t>
            </a:r>
            <a:endParaRPr lang="en-US" b="1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Mining Subgraph Patterns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b="1" i="0" u="none" strike="noStrike" baseline="0" dirty="0"/>
              <a:t>Pattern Mining: Application Examples</a:t>
            </a:r>
            <a:endParaRPr lang="en-US" b="1" i="0" u="none" strike="noStrike" baseline="0" dirty="0"/>
          </a:p>
          <a:p>
            <a:pPr marL="457200" indent="-457200">
              <a:lnSpc>
                <a:spcPct val="200000"/>
              </a:lnSpc>
              <a:buSzTx/>
            </a:pPr>
            <a:r>
              <a:rPr lang="en-US" altLang="en-US" b="1" dirty="0"/>
              <a:t>Summary</a:t>
            </a:r>
            <a:endParaRPr lang="en-US" altLang="en-US" sz="2800" b="1" dirty="0"/>
          </a:p>
        </p:txBody>
      </p:sp>
      <p:sp>
        <p:nvSpPr>
          <p:cNvPr id="2" name="Striped Right Arrow 1"/>
          <p:cNvSpPr/>
          <p:nvPr/>
        </p:nvSpPr>
        <p:spPr>
          <a:xfrm rot="9075611">
            <a:off x="4953780" y="3600410"/>
            <a:ext cx="502920" cy="457200"/>
          </a:xfrm>
          <a:prstGeom prst="stripedRightArrow">
            <a:avLst/>
          </a:prstGeom>
          <a:solidFill>
            <a:srgbClr val="00808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kern="0" dirty="0"/>
              <a:t>序列模式挖掘</a:t>
            </a:r>
            <a:endParaRPr lang="zh-CN" altLang="en-US" kern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" y="901065"/>
            <a:ext cx="12016740" cy="5398135"/>
          </a:xfrm>
        </p:spPr>
        <p:txBody>
          <a:bodyPr/>
          <a:lstStyle/>
          <a:p>
            <a:pPr algn="l" defTabSz="914400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zh-CN" altLang="en-US" sz="2400" dirty="0"/>
              <a:t>序列模式与序列模式挖掘</a:t>
            </a:r>
            <a:r>
              <a:rPr lang="en-US" altLang="en-US" sz="2400" dirty="0"/>
              <a:t> </a:t>
            </a:r>
            <a:endParaRPr lang="en-US" altLang="en-US" sz="2400" dirty="0"/>
          </a:p>
          <a:p>
            <a:pPr algn="l">
              <a:lnSpc>
                <a:spcPct val="200000"/>
              </a:lnSpc>
              <a:defRPr/>
            </a:pPr>
            <a:r>
              <a:rPr lang="en-US" altLang="en-US" sz="2400" dirty="0"/>
              <a:t>基于Apriori算法的序列模式挖掘</a:t>
            </a:r>
            <a:endParaRPr lang="en-US" altLang="en-US" sz="2400" dirty="0"/>
          </a:p>
          <a:p>
            <a:pPr>
              <a:lnSpc>
                <a:spcPct val="200000"/>
              </a:lnSpc>
              <a:defRPr/>
            </a:pPr>
            <a:r>
              <a:rPr lang="zh-CN" altLang="en-US" sz="2400" dirty="0"/>
              <a:t>垂直数据格式的序列模式挖掘</a:t>
            </a:r>
            <a:endParaRPr lang="en-US" altLang="en-US" sz="2400" dirty="0"/>
          </a:p>
          <a:p>
            <a:pPr>
              <a:lnSpc>
                <a:spcPct val="200000"/>
              </a:lnSpc>
              <a:defRPr/>
            </a:pPr>
            <a:r>
              <a:rPr lang="zh-CN" altLang="en-US" sz="2400" dirty="0"/>
              <a:t>基于模式增长的序列模式挖掘</a:t>
            </a:r>
            <a:endParaRPr lang="en-US" altLang="en-US" sz="2400" dirty="0"/>
          </a:p>
          <a:p>
            <a:pPr algn="l">
              <a:lnSpc>
                <a:spcPct val="200000"/>
              </a:lnSpc>
              <a:defRPr/>
            </a:pPr>
            <a:r>
              <a:rPr lang="zh-CN" altLang="en-US" sz="2400" dirty="0"/>
              <a:t>挖掘闭合序列模式</a:t>
            </a:r>
            <a:endParaRPr lang="en-US" altLang="en-US" sz="2400" dirty="0"/>
          </a:p>
          <a:p>
            <a:pPr algn="l">
              <a:lnSpc>
                <a:spcPct val="200000"/>
              </a:lnSpc>
              <a:defRPr/>
            </a:pPr>
            <a:r>
              <a:rPr lang="zh-CN" altLang="en-US" sz="2400" dirty="0"/>
              <a:t>基于约束的序列模式挖掘</a:t>
            </a:r>
            <a:endParaRPr lang="en-US" altLang="en-US" sz="2400" dirty="0"/>
          </a:p>
          <a:p>
            <a:pPr>
              <a:lnSpc>
                <a:spcPct val="200000"/>
              </a:lnSpc>
              <a:defRPr/>
            </a:pPr>
            <a:endParaRPr lang="en-US" altLang="en-US" kern="0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799"/>
            <a:ext cx="12192000" cy="638175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dirty="0"/>
              <a:t>序列模式挖掘</a:t>
            </a:r>
            <a:endParaRPr lang="zh-CN" altLang="en-US" sz="40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72655" y="1203037"/>
            <a:ext cx="10326254" cy="5181600"/>
          </a:xfrm>
        </p:spPr>
        <p:txBody>
          <a:bodyPr/>
          <a:lstStyle/>
          <a:p>
            <a:pPr eaLnBrk="1" hangingPunct="1">
              <a:spcAft>
                <a:spcPts val="100"/>
              </a:spcAft>
            </a:pPr>
            <a:r>
              <a:rPr lang="zh-CN" altLang="en-US" sz="2400" dirty="0"/>
              <a:t>什么样的模式是序列性的</a:t>
            </a:r>
            <a:endParaRPr lang="en-US" altLang="en-US" sz="2400" dirty="0"/>
          </a:p>
          <a:p>
            <a:pPr eaLnBrk="1" hangingPunct="1">
              <a:spcAft>
                <a:spcPts val="100"/>
              </a:spcAft>
            </a:pPr>
            <a:r>
              <a:rPr lang="zh-CN" altLang="en-US" sz="2400" dirty="0"/>
              <a:t>顺序非常重要</a:t>
            </a:r>
            <a:endParaRPr lang="en-US" altLang="en-US" sz="2400" dirty="0"/>
          </a:p>
          <a:p>
            <a:pPr marL="0" lvl="1">
              <a:spcAft>
                <a:spcPts val="100"/>
              </a:spcAft>
            </a:pPr>
            <a:r>
              <a:rPr lang="zh-CN" altLang="en-US" sz="2400" dirty="0">
                <a:sym typeface="+mn-ea"/>
              </a:rPr>
              <a:t>你不能交换序列中的两个项并保持序列不变</a:t>
            </a:r>
            <a:endParaRPr lang="en-US" altLang="en-US" sz="2400" dirty="0"/>
          </a:p>
          <a:p>
            <a:pPr>
              <a:spcAft>
                <a:spcPts val="100"/>
              </a:spcAft>
            </a:pPr>
            <a:r>
              <a:rPr lang="zh-CN" altLang="en-US" sz="2400" dirty="0"/>
              <a:t>例如</a:t>
            </a:r>
            <a:r>
              <a:rPr lang="en-US" altLang="en-US" sz="2400" dirty="0"/>
              <a:t>: The English language is sequential: Subject → Verb → Object</a:t>
            </a:r>
            <a:endParaRPr lang="en-US" altLang="en-US" sz="2400" dirty="0"/>
          </a:p>
          <a:p>
            <a:pPr eaLnBrk="1" hangingPunct="1">
              <a:spcAft>
                <a:spcPts val="100"/>
              </a:spcAft>
            </a:pPr>
            <a:r>
              <a:rPr lang="zh-CN" altLang="en-US" sz="2400" dirty="0"/>
              <a:t>注意点</a:t>
            </a:r>
            <a:r>
              <a:rPr lang="en-US" altLang="en-US" sz="2400" dirty="0"/>
              <a:t>:</a:t>
            </a:r>
            <a:endParaRPr lang="en-US" altLang="en-US" sz="2400" dirty="0"/>
          </a:p>
          <a:p>
            <a:pPr lvl="1">
              <a:spcAft>
                <a:spcPts val="100"/>
              </a:spcAft>
            </a:pPr>
            <a:r>
              <a:rPr lang="zh-CN" altLang="en-US" sz="2400" dirty="0"/>
              <a:t>对于序列模式挖掘，不考虑项发生的时间</a:t>
            </a:r>
            <a:endParaRPr lang="en-US" altLang="en-US" sz="2400" dirty="0"/>
          </a:p>
          <a:p>
            <a:pPr lvl="1">
              <a:spcAft>
                <a:spcPts val="100"/>
              </a:spcAft>
            </a:pPr>
            <a:r>
              <a:rPr lang="zh-CN" altLang="en-US" sz="2400" dirty="0"/>
              <a:t>时间序列分析确实会考虑项发生的</a:t>
            </a:r>
            <a:r>
              <a:rPr lang="zh-CN" altLang="en-US" sz="2400" dirty="0"/>
              <a:t>时间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799"/>
            <a:ext cx="12192000" cy="638175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dirty="0"/>
              <a:t>序列模式</a:t>
            </a:r>
            <a:r>
              <a:rPr lang="zh-CN" altLang="en-US" sz="4000" dirty="0"/>
              <a:t>示例</a:t>
            </a:r>
            <a:endParaRPr lang="zh-CN" altLang="en-US" sz="40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03325"/>
            <a:ext cx="11247755" cy="5181600"/>
          </a:xfrm>
        </p:spPr>
        <p:txBody>
          <a:bodyPr/>
          <a:lstStyle/>
          <a:p>
            <a:pPr eaLnBrk="1" hangingPunct="1">
              <a:spcAft>
                <a:spcPts val="100"/>
              </a:spcAft>
            </a:pPr>
            <a:r>
              <a:rPr lang="en-US" altLang="en-US" sz="2400" dirty="0"/>
              <a:t> </a:t>
            </a:r>
            <a:r>
              <a:rPr lang="zh-CN" altLang="en-US" sz="2400" dirty="0"/>
              <a:t>序列模式的应用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400" dirty="0"/>
              <a:t>顾客购物：先买笔记本电脑，然后是数码相机，最后是智能手机</a:t>
            </a:r>
            <a:endParaRPr lang="zh-CN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400" dirty="0"/>
              <a:t>医疗治疗：看医生，拿药，医生监测进度，医生做出相应反应</a:t>
            </a:r>
            <a:r>
              <a:rPr lang="en-US" altLang="zh-CN" sz="2400" dirty="0"/>
              <a:t> </a:t>
            </a:r>
            <a:r>
              <a:rPr lang="en-US" altLang="en-US" sz="2400" dirty="0"/>
              <a:t>→</a:t>
            </a:r>
            <a:r>
              <a:rPr lang="en-US" altLang="zh-CN" sz="2400" dirty="0"/>
              <a:t> </a:t>
            </a:r>
            <a:r>
              <a:rPr lang="zh-CN" altLang="en-US" sz="2400" dirty="0"/>
              <a:t>增加</a:t>
            </a:r>
            <a:r>
              <a:rPr lang="en-US" altLang="zh-CN" sz="2400" dirty="0"/>
              <a:t>/</a:t>
            </a:r>
            <a:r>
              <a:rPr lang="zh-CN" altLang="en-US" sz="2400" dirty="0"/>
              <a:t>减少药量</a:t>
            </a:r>
            <a:endParaRPr lang="zh-CN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400" dirty="0"/>
              <a:t>自然灾害：灾前、灾中、灾后</a:t>
            </a:r>
            <a:endParaRPr lang="zh-CN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400" dirty="0"/>
              <a:t>科学实验：步骤</a:t>
            </a:r>
            <a:r>
              <a:rPr lang="en-US" altLang="zh-CN" sz="2400" dirty="0"/>
              <a:t> 1</a:t>
            </a:r>
            <a:r>
              <a:rPr lang="zh-CN" altLang="en-US" sz="2400" dirty="0"/>
              <a:t>，步骤</a:t>
            </a:r>
            <a:r>
              <a:rPr lang="en-US" altLang="zh-CN" sz="2400" dirty="0"/>
              <a:t> 2</a:t>
            </a:r>
            <a:r>
              <a:rPr lang="zh-CN" altLang="en-US" sz="2400" dirty="0"/>
              <a:t>，步骤</a:t>
            </a:r>
            <a:r>
              <a:rPr lang="en-US" altLang="zh-CN" sz="2400" dirty="0"/>
              <a:t> 3</a:t>
            </a:r>
            <a:endParaRPr lang="en-US" altLang="zh-CN" sz="24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400" b="1" dirty="0"/>
              <a:t>股票市场</a:t>
            </a:r>
            <a:r>
              <a:rPr lang="en-US" altLang="en-US" sz="2400" b="1" dirty="0"/>
              <a:t>:</a:t>
            </a:r>
            <a:r>
              <a:rPr lang="zh-CN" altLang="en-US" sz="2400" dirty="0">
                <a:sym typeface="Wingdings" panose="05000000000000000000" pitchFamily="2" charset="2"/>
              </a:rPr>
              <a:t>一组股票共同涨跌</a:t>
            </a:r>
            <a:endParaRPr lang="en-US" altLang="en-US" sz="24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400" b="1" dirty="0"/>
              <a:t>生物序列</a:t>
            </a:r>
            <a:r>
              <a:rPr lang="en-US" altLang="en-US" sz="2400" b="1" dirty="0"/>
              <a:t>, DNA /</a:t>
            </a:r>
            <a:r>
              <a:rPr lang="zh-CN" altLang="en-US" sz="2400" b="1" dirty="0"/>
              <a:t>蛋白质</a:t>
            </a:r>
            <a:r>
              <a:rPr lang="en-US" altLang="en-US" sz="2400" b="1" dirty="0"/>
              <a:t>:  </a:t>
            </a:r>
            <a:r>
              <a:rPr lang="zh-CN" altLang="en-US" sz="2400" dirty="0">
                <a:sym typeface="Wingdings" panose="05000000000000000000" pitchFamily="2" charset="2"/>
              </a:rPr>
              <a:t>如果你改变蛋白质的顺序，很可能导致不同的</a:t>
            </a:r>
            <a:r>
              <a:rPr lang="zh-CN" altLang="en-US" sz="2400" dirty="0">
                <a:sym typeface="Wingdings" panose="05000000000000000000" pitchFamily="2" charset="2"/>
              </a:rPr>
              <a:t>基因</a:t>
            </a:r>
            <a:endParaRPr lang="zh-CN" altLang="en-US" sz="24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799"/>
            <a:ext cx="12192000" cy="638175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dirty="0"/>
              <a:t>序列模式</a:t>
            </a:r>
            <a:r>
              <a:rPr lang="zh-CN" altLang="en-US" sz="4000" dirty="0"/>
              <a:t>示例</a:t>
            </a:r>
            <a:endParaRPr lang="zh-CN" altLang="en-US" sz="400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03325"/>
            <a:ext cx="11247755" cy="1442085"/>
          </a:xfrm>
        </p:spPr>
        <p:txBody>
          <a:bodyPr/>
          <a:lstStyle/>
          <a:p>
            <a:pPr eaLnBrk="1" hangingPunct="1">
              <a:spcAft>
                <a:spcPts val="100"/>
              </a:spcAft>
            </a:pPr>
            <a:r>
              <a:rPr lang="en-US" altLang="en-US" sz="2400" dirty="0"/>
              <a:t> </a:t>
            </a:r>
            <a:r>
              <a:rPr lang="zh-CN" altLang="en-US" sz="2400" dirty="0"/>
              <a:t>深入逻辑：</a:t>
            </a:r>
            <a:r>
              <a:rPr lang="en-US" altLang="zh-CN" sz="2400" dirty="0"/>
              <a:t> </a:t>
            </a:r>
            <a:r>
              <a:rPr lang="zh-CN" altLang="en-US" sz="2400" dirty="0"/>
              <a:t>通过挖掘用户点击流（</a:t>
            </a:r>
            <a:r>
              <a:rPr lang="en-US" altLang="zh-CN" sz="2400" dirty="0"/>
              <a:t>Clickstream</a:t>
            </a:r>
            <a:r>
              <a:rPr lang="zh-CN" altLang="en-US" sz="2400" dirty="0"/>
              <a:t>），发现导致高转化率的特定浏览路径。这通常结合了正则表达式约束</a:t>
            </a:r>
            <a:r>
              <a:rPr lang="en-US" altLang="zh-CN" sz="2400" dirty="0"/>
              <a:t> </a:t>
            </a:r>
            <a:r>
              <a:rPr lang="zh-CN" altLang="en-US" sz="2400" dirty="0"/>
              <a:t>，</a:t>
            </a:r>
            <a:endParaRPr lang="zh-CN" altLang="en-US" sz="2400" dirty="0"/>
          </a:p>
          <a:p>
            <a:pPr marL="657225" lvl="2" indent="0" eaLnBrk="1" hangingPunct="1">
              <a:spcAft>
                <a:spcPts val="100"/>
              </a:spcAft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例如：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marL="200025" lvl="1" indent="0" eaLnBrk="1" hangingPunct="1">
              <a:spcAft>
                <a:spcPts val="600"/>
              </a:spcAft>
              <a:buNone/>
            </a:pP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821055" y="2538095"/>
            <a:ext cx="5316855" cy="52197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浏览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电子产品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" name="Line 27"/>
          <p:cNvSpPr>
            <a:spLocks noChangeShapeType="1"/>
          </p:cNvSpPr>
          <p:nvPr/>
        </p:nvSpPr>
        <p:spPr bwMode="auto">
          <a:xfrm flipH="1">
            <a:off x="3591560" y="3060700"/>
            <a:ext cx="1270" cy="45148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821055" y="3512185"/>
            <a:ext cx="5316855" cy="52197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点击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详情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821055" y="4486275"/>
            <a:ext cx="5316855" cy="52197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加入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购物车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21055" y="5460365"/>
            <a:ext cx="5316855" cy="52197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支付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Line 27"/>
          <p:cNvSpPr>
            <a:spLocks noChangeShapeType="1"/>
          </p:cNvSpPr>
          <p:nvPr/>
        </p:nvSpPr>
        <p:spPr bwMode="auto">
          <a:xfrm flipH="1">
            <a:off x="3592830" y="4034790"/>
            <a:ext cx="1270" cy="45148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ine 27"/>
          <p:cNvSpPr>
            <a:spLocks noChangeShapeType="1"/>
          </p:cNvSpPr>
          <p:nvPr/>
        </p:nvSpPr>
        <p:spPr bwMode="auto">
          <a:xfrm flipH="1">
            <a:off x="3590290" y="5008245"/>
            <a:ext cx="1270" cy="45148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68920" y="3728720"/>
            <a:ext cx="29864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这种模式能直接指导</a:t>
            </a:r>
            <a:r>
              <a:rPr lang="en-US" altLang="zh-CN" sz="2400" dirty="0">
                <a:highlight>
                  <a:srgbClr val="FFFF00"/>
                </a:highlight>
                <a:sym typeface="+mn-ea"/>
              </a:rPr>
              <a:t> UI/UX </a:t>
            </a:r>
            <a:r>
              <a:rPr lang="zh-CN" altLang="en-US" sz="2400" dirty="0">
                <a:highlight>
                  <a:srgbClr val="FFFF00"/>
                </a:highlight>
                <a:sym typeface="+mn-ea"/>
              </a:rPr>
              <a:t>的优化。</a:t>
            </a:r>
            <a:endParaRPr lang="zh-CN" altLang="en-US" sz="2400" dirty="0">
              <a:highlight>
                <a:srgbClr val="FFFF00"/>
              </a:highlight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6" grpId="0" bldLvl="0" animBg="1"/>
      <p:bldP spid="7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-304800" y="341314"/>
            <a:ext cx="12801600" cy="573087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800" dirty="0"/>
              <a:t>序列模式与序列模式挖掘</a:t>
            </a:r>
            <a:r>
              <a:rPr lang="en-US" altLang="en-US" sz="2800" dirty="0"/>
              <a:t> </a:t>
            </a:r>
            <a:endParaRPr lang="en-US" altLang="en-US" sz="2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95400"/>
            <a:ext cx="11277600" cy="809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序列模式挖掘</a:t>
            </a:r>
            <a:r>
              <a:rPr lang="en-US" altLang="en-US" sz="2400" dirty="0"/>
              <a:t>: </a:t>
            </a:r>
            <a:r>
              <a:rPr lang="zh-CN" altLang="en-US" sz="2400" dirty="0">
                <a:sym typeface="+mn-ea"/>
              </a:rPr>
              <a:t>给定一组序列，找出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完整的频繁子序列集合</a:t>
            </a:r>
            <a:r>
              <a:rPr lang="zh-CN" altLang="en-US" sz="2400" dirty="0">
                <a:sym typeface="+mn-ea"/>
              </a:rPr>
              <a:t>（即满足最小支持度阈值的子序列）</a:t>
            </a:r>
            <a:endParaRPr lang="en-US" altLang="en-US" sz="2400" dirty="0"/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400" dirty="0"/>
          </a:p>
        </p:txBody>
      </p:sp>
      <p:sp>
        <p:nvSpPr>
          <p:cNvPr id="797700" name="Text Box 4"/>
          <p:cNvSpPr txBox="1">
            <a:spLocks noChangeArrowheads="1"/>
          </p:cNvSpPr>
          <p:nvPr/>
        </p:nvSpPr>
        <p:spPr bwMode="auto">
          <a:xfrm>
            <a:off x="8020684" y="3317134"/>
            <a:ext cx="231648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一个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序列数据库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797702" name="Text Box 6"/>
          <p:cNvSpPr txBox="1">
            <a:spLocks noChangeArrowheads="1"/>
          </p:cNvSpPr>
          <p:nvPr/>
        </p:nvSpPr>
        <p:spPr bwMode="auto">
          <a:xfrm>
            <a:off x="530860" y="4669790"/>
            <a:ext cx="7132320" cy="82994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981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一个元素可能包含一组项（或者称为事件）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0981"/>
              </a:buClr>
              <a:buSzPct val="80000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* </a:t>
            </a:r>
            <a:r>
              <a:rPr kumimoji="0" 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zh-CN" altLang="en-US" sz="240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元素内的项是</a:t>
            </a:r>
            <a:r>
              <a:rPr kumimoji="0" lang="zh-CN" altLang="en-US" sz="2400" b="1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无序</a:t>
            </a:r>
            <a:r>
              <a:rPr kumimoji="0" lang="zh-CN" altLang="en-US" sz="240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的，我们按字母顺序列出它们</a:t>
            </a:r>
            <a:endParaRPr kumimoji="0" lang="zh-CN" altLang="en-US" sz="2400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1135987" y="3317134"/>
            <a:ext cx="5316701" cy="521970"/>
            <a:chOff x="1494646" y="2358258"/>
            <a:chExt cx="5316701" cy="521970"/>
          </a:xfrm>
        </p:grpSpPr>
        <p:sp>
          <p:nvSpPr>
            <p:cNvPr id="5125" name="Text Box 5"/>
            <p:cNvSpPr txBox="1">
              <a:spLocks noChangeArrowheads="1"/>
            </p:cNvSpPr>
            <p:nvPr/>
          </p:nvSpPr>
          <p:spPr bwMode="auto">
            <a:xfrm>
              <a:off x="1494646" y="2358258"/>
              <a:ext cx="5316701" cy="52197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一个序列</a:t>
              </a:r>
              <a:r>
                <a:rPr kumimoji="0" lang="en-US" altLang="en-US" sz="2800" b="0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:    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 &lt; (</a:t>
              </a:r>
              <a:r>
                <a:rPr kumimoji="0" lang="en-US" alt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ef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) (ab)  (</a:t>
              </a:r>
              <a:r>
                <a:rPr kumimoji="0" lang="en-US" altLang="en-US" sz="2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df</a:t>
              </a: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)  c   b &gt;</a:t>
              </a:r>
              <a:endPara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5127" name="Rectangle 7"/>
            <p:cNvSpPr>
              <a:spLocks noChangeArrowheads="1"/>
            </p:cNvSpPr>
            <p:nvPr/>
          </p:nvSpPr>
          <p:spPr bwMode="auto">
            <a:xfrm>
              <a:off x="3735508" y="2434459"/>
              <a:ext cx="545731" cy="38417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5128" name="Rectangle 8"/>
            <p:cNvSpPr>
              <a:spLocks noChangeArrowheads="1"/>
            </p:cNvSpPr>
            <p:nvPr/>
          </p:nvSpPr>
          <p:spPr bwMode="auto">
            <a:xfrm>
              <a:off x="4341565" y="2434458"/>
              <a:ext cx="638173" cy="381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5129" name="Rectangle 9"/>
            <p:cNvSpPr>
              <a:spLocks noChangeArrowheads="1"/>
            </p:cNvSpPr>
            <p:nvPr/>
          </p:nvSpPr>
          <p:spPr bwMode="auto">
            <a:xfrm>
              <a:off x="5084582" y="2443737"/>
              <a:ext cx="556311" cy="381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5130" name="Rectangle 10"/>
            <p:cNvSpPr>
              <a:spLocks noChangeArrowheads="1"/>
            </p:cNvSpPr>
            <p:nvPr/>
          </p:nvSpPr>
          <p:spPr bwMode="auto">
            <a:xfrm>
              <a:off x="5700534" y="2443737"/>
              <a:ext cx="304800" cy="381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5136" name="Rectangle 37"/>
            <p:cNvSpPr>
              <a:spLocks noChangeArrowheads="1"/>
            </p:cNvSpPr>
            <p:nvPr/>
          </p:nvSpPr>
          <p:spPr bwMode="auto">
            <a:xfrm>
              <a:off x="6110177" y="2443737"/>
              <a:ext cx="304800" cy="381000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</p:grp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662636" y="3881639"/>
          <a:ext cx="3989916" cy="2286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40315"/>
                <a:gridCol w="3149601"/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</a:rPr>
                        <a:t>10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kumimoji="0" lang="en-US" sz="24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</a:t>
                      </a: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)d(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</a:rPr>
                        <a:t>20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&lt;(ad)c(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)(ae)&gt;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</a:rPr>
                        <a:t>30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24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</a:rPr>
                        <a:t>40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</a:tbl>
          </a:graphicData>
        </a:graphic>
      </p:graphicFrame>
      <p:sp>
        <p:nvSpPr>
          <p:cNvPr id="15" name="Line 27"/>
          <p:cNvSpPr>
            <a:spLocks noChangeShapeType="1"/>
          </p:cNvSpPr>
          <p:nvPr/>
        </p:nvSpPr>
        <p:spPr bwMode="auto">
          <a:xfrm flipH="1">
            <a:off x="3708938" y="3079696"/>
            <a:ext cx="564703" cy="313637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29617" y="2706729"/>
            <a:ext cx="74803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i="1" dirty="0">
                <a:latin typeface="Calibri" panose="020F0502020204030204" pitchFamily="34" charset="0"/>
              </a:rPr>
              <a:t>元素</a:t>
            </a:r>
            <a:r>
              <a:rPr lang="en-US" sz="2000" i="1" dirty="0">
                <a:latin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18" name="Line 27"/>
          <p:cNvSpPr>
            <a:spLocks noChangeShapeType="1"/>
          </p:cNvSpPr>
          <p:nvPr/>
        </p:nvSpPr>
        <p:spPr bwMode="auto">
          <a:xfrm flipH="1">
            <a:off x="4375808" y="3079697"/>
            <a:ext cx="111475" cy="33060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>
            <a:off x="4621079" y="3079696"/>
            <a:ext cx="392902" cy="33060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/>
        </p:nvSpPr>
        <p:spPr bwMode="auto">
          <a:xfrm>
            <a:off x="4834721" y="3031600"/>
            <a:ext cx="655855" cy="379659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Line 27"/>
          <p:cNvSpPr>
            <a:spLocks noChangeShapeType="1"/>
          </p:cNvSpPr>
          <p:nvPr/>
        </p:nvSpPr>
        <p:spPr bwMode="auto">
          <a:xfrm>
            <a:off x="4944845" y="2956933"/>
            <a:ext cx="912140" cy="43640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00" grpId="0" bldLvl="0" animBg="1"/>
      <p:bldP spid="797702" grpId="0" bldLvl="0" animBg="1"/>
      <p:bldP spid="15" grpId="0" bldLvl="0" animBg="1"/>
      <p:bldP spid="18" grpId="0" bldLvl="0" animBg="1"/>
      <p:bldP spid="19" grpId="0" bldLvl="0" animBg="1"/>
      <p:bldP spid="20" grpId="0" bldLvl="0" animBg="1"/>
      <p:bldP spid="21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-304800" y="341314"/>
            <a:ext cx="12801600" cy="573087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4000" dirty="0">
                <a:sym typeface="+mn-ea"/>
              </a:rPr>
              <a:t>序列模式与序列模式挖掘</a:t>
            </a:r>
            <a:endParaRPr lang="en-US" altLang="en-US" sz="40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95400"/>
            <a:ext cx="11277600" cy="809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b="1" dirty="0"/>
              <a:t>序列模式挖掘</a:t>
            </a:r>
            <a:r>
              <a:rPr lang="en-US" altLang="en-US" sz="2400" dirty="0"/>
              <a:t>: </a:t>
            </a:r>
            <a:r>
              <a:rPr lang="zh-CN" altLang="en-US" sz="2400" dirty="0">
                <a:sym typeface="+mn-ea"/>
              </a:rPr>
              <a:t>给定一组序列，找出</a:t>
            </a:r>
            <a:r>
              <a:rPr lang="zh-CN" altLang="en-US" sz="2400" dirty="0">
                <a:solidFill>
                  <a:srgbClr val="FF0000"/>
                </a:solidFill>
                <a:sym typeface="+mn-ea"/>
              </a:rPr>
              <a:t>完整的频繁子序列集合</a:t>
            </a:r>
            <a:r>
              <a:rPr lang="zh-CN" altLang="en-US" sz="2400" dirty="0">
                <a:sym typeface="+mn-ea"/>
              </a:rPr>
              <a:t>（即满足最小支持度阈值的子序列）</a:t>
            </a:r>
            <a:endParaRPr lang="en-US" altLang="en-US" sz="2400" dirty="0"/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508000" y="2672589"/>
            <a:ext cx="6156325" cy="460375"/>
          </a:xfrm>
          <a:prstGeom prst="rect">
            <a:avLst/>
          </a:prstGeom>
          <a:solidFill>
            <a:srgbClr val="F6E6EA"/>
          </a:solidFill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&lt;a(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)dc&gt;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&lt;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</a:t>
            </a:r>
            <a:r>
              <a:rPr kumimoji="0" lang="en-US" sz="2400" b="0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bc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)(ac)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</a:t>
            </a:r>
            <a:r>
              <a:rPr kumimoji="0" lang="en-US" sz="2400" b="0" i="0" u="sng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f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子序列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508001" y="3537176"/>
            <a:ext cx="6353110" cy="1432929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endParaRPr kumimoji="0" lang="en-US" sz="2400" b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给定支持度阈值</a:t>
            </a:r>
            <a:r>
              <a:rPr kumimoji="0" lang="en-US" altLang="zh-CN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min_sup = 2</a:t>
            </a:r>
            <a:r>
              <a:rPr kumimoji="0" lang="zh-CN" altLang="en-US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</a:t>
            </a:r>
            <a:r>
              <a:rPr kumimoji="0" lang="en-US" altLang="zh-CN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&lt;(</a:t>
            </a:r>
            <a:r>
              <a:rPr kumimoji="0" lang="en-US" altLang="zh-CN" sz="2400" b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</a:t>
            </a:r>
            <a:r>
              <a:rPr kumimoji="0" lang="en-US" altLang="zh-CN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US" altLang="zh-CN" sz="2400" b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en-US" altLang="zh-CN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</a:t>
            </a:r>
            <a:r>
              <a:rPr kumimoji="0" lang="zh-CN" altLang="en-US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</a:t>
            </a:r>
            <a:r>
              <a:rPr kumimoji="0" lang="zh-CN" altLang="en-US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</a:t>
            </a:r>
            <a:endParaRPr kumimoji="0" lang="zh-CN" altLang="en-US" sz="2400" b="0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zh-CN" altLang="en-US" sz="2400" b="0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r>
              <a:rPr kumimoji="0" lang="zh-CN" altLang="en-US" sz="2400" b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序列模式</a:t>
            </a:r>
            <a:endParaRPr kumimoji="0" lang="zh-CN" altLang="en-US" sz="2400" b="0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571351" y="3134254"/>
          <a:ext cx="3989916" cy="2286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840315"/>
                <a:gridCol w="3149601"/>
              </a:tblGrid>
              <a:tr h="355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</a:rPr>
                        <a:t>10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kumimoji="0" lang="en-US" sz="24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</a:t>
                      </a: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)d(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</a:rPr>
                        <a:t>20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&lt;(ad)c(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)(ae)&gt;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</a:rPr>
                        <a:t>30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2400" b="0" i="0" u="sng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</a:rPr>
                        <a:t>40</a:t>
                      </a:r>
                      <a:endParaRPr lang="en-US" sz="24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cbc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</a:tbl>
          </a:graphicData>
        </a:graphic>
      </p:graphicFrame>
      <p:sp>
        <p:nvSpPr>
          <p:cNvPr id="17" name="Text Box 4"/>
          <p:cNvSpPr txBox="1">
            <a:spLocks noChangeArrowheads="1"/>
          </p:cNvSpPr>
          <p:nvPr/>
        </p:nvSpPr>
        <p:spPr bwMode="auto">
          <a:xfrm>
            <a:off x="7997824" y="2600854"/>
            <a:ext cx="2316480" cy="4603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一个序列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数据库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9" name="Curved Right Arrow 13"/>
          <p:cNvSpPr>
            <a:spLocks noChangeArrowheads="1"/>
          </p:cNvSpPr>
          <p:nvPr/>
        </p:nvSpPr>
        <p:spPr bwMode="auto">
          <a:xfrm rot="5400000" flipH="1">
            <a:off x="2501796" y="1292243"/>
            <a:ext cx="350728" cy="3911600"/>
          </a:xfrm>
          <a:prstGeom prst="curvedRightArrow">
            <a:avLst>
              <a:gd name="adj1" fmla="val 25003"/>
              <a:gd name="adj2" fmla="val 50005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0" name="Curved Right Arrow 13"/>
          <p:cNvSpPr>
            <a:spLocks noChangeArrowheads="1"/>
          </p:cNvSpPr>
          <p:nvPr/>
        </p:nvSpPr>
        <p:spPr bwMode="auto">
          <a:xfrm rot="5400000">
            <a:off x="2906398" y="598804"/>
            <a:ext cx="323844" cy="4064000"/>
          </a:xfrm>
          <a:prstGeom prst="curvedRightArrow">
            <a:avLst>
              <a:gd name="adj1" fmla="val 25003"/>
              <a:gd name="adj2" fmla="val 50005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1" name="Curved Right Arrow 13"/>
          <p:cNvSpPr>
            <a:spLocks noChangeArrowheads="1"/>
          </p:cNvSpPr>
          <p:nvPr/>
        </p:nvSpPr>
        <p:spPr bwMode="auto">
          <a:xfrm rot="5400000">
            <a:off x="3456937" y="353062"/>
            <a:ext cx="334965" cy="4525962"/>
          </a:xfrm>
          <a:prstGeom prst="curvedRightArrow">
            <a:avLst>
              <a:gd name="adj1" fmla="val 25003"/>
              <a:gd name="adj2" fmla="val 50005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2" name="Curved Right Arrow 13"/>
          <p:cNvSpPr>
            <a:spLocks noChangeArrowheads="1"/>
          </p:cNvSpPr>
          <p:nvPr/>
        </p:nvSpPr>
        <p:spPr bwMode="auto">
          <a:xfrm rot="5400000" flipH="1">
            <a:off x="3554962" y="995047"/>
            <a:ext cx="473565" cy="4608509"/>
          </a:xfrm>
          <a:prstGeom prst="curvedRightArrow">
            <a:avLst>
              <a:gd name="adj1" fmla="val 25003"/>
              <a:gd name="adj2" fmla="val 50005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ldLvl="0" animBg="1"/>
      <p:bldP spid="15" grpId="0"/>
      <p:bldP spid="17" grpId="0" bldLvl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381000"/>
            <a:ext cx="10797117" cy="579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sz="3555"/>
              <a:t>序列模式挖掘算法</a:t>
            </a:r>
            <a:endParaRPr lang="zh-CN" altLang="en-US" sz="3555"/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69775" y="1201093"/>
            <a:ext cx="10530186" cy="5244974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zh-CN" altLang="en-US" sz="2000" dirty="0"/>
              <a:t>算法的要求</a:t>
            </a:r>
            <a:r>
              <a:rPr lang="en-US" altLang="en-US" sz="2000" dirty="0"/>
              <a:t>: </a:t>
            </a:r>
            <a:r>
              <a:rPr lang="zh-CN" altLang="en-US" sz="2000" dirty="0">
                <a:solidFill>
                  <a:srgbClr val="FF0000"/>
                </a:solidFill>
              </a:rPr>
              <a:t>高效、可扩展、发现完整集合、结合各种用户特定的约束</a:t>
            </a:r>
            <a:endParaRPr lang="zh-CN" altLang="en-US" sz="2000" dirty="0">
              <a:solidFill>
                <a:srgbClr val="FF0000"/>
              </a:solidFill>
            </a:endParaRPr>
          </a:p>
          <a:p>
            <a:pPr eaLnBrk="1" hangingPunct="1">
              <a:spcAft>
                <a:spcPts val="600"/>
              </a:spcAft>
            </a:pPr>
            <a:r>
              <a:rPr lang="zh-CN" altLang="en-US" sz="2000" dirty="0">
                <a:sym typeface="Wingdings" panose="05000000000000000000" pitchFamily="2" charset="2"/>
              </a:rPr>
              <a:t>先验性质依然成立：若子序列</a:t>
            </a:r>
            <a:r>
              <a:rPr lang="en-US" altLang="zh-CN" sz="2000" dirty="0">
                <a:sym typeface="Wingdings" panose="05000000000000000000" pitchFamily="2" charset="2"/>
              </a:rPr>
              <a:t> s1 </a:t>
            </a:r>
            <a:r>
              <a:rPr lang="zh-CN" altLang="en-US" sz="2000" dirty="0">
                <a:sym typeface="Wingdings" panose="05000000000000000000" pitchFamily="2" charset="2"/>
              </a:rPr>
              <a:t>为非频繁序列，则</a:t>
            </a:r>
            <a:r>
              <a:rPr lang="en-US" altLang="zh-CN" sz="2000" dirty="0">
                <a:sym typeface="Wingdings" panose="05000000000000000000" pitchFamily="2" charset="2"/>
              </a:rPr>
              <a:t> s1 </a:t>
            </a:r>
            <a:r>
              <a:rPr lang="zh-CN" altLang="en-US" sz="2000" dirty="0">
                <a:sym typeface="Wingdings" panose="05000000000000000000" pitchFamily="2" charset="2"/>
              </a:rPr>
              <a:t>的所有超序列均不可能为频繁序列</a:t>
            </a:r>
            <a:endParaRPr lang="zh-CN" altLang="en-US" sz="2000" dirty="0">
              <a:sym typeface="Wingdings" panose="05000000000000000000" pitchFamily="2" charset="2"/>
            </a:endParaRPr>
          </a:p>
          <a:p>
            <a:pPr algn="l" eaLnBrk="1" hangingPunct="1">
              <a:spcAft>
                <a:spcPts val="600"/>
              </a:spcAft>
            </a:pPr>
            <a:r>
              <a:rPr lang="en-US" altLang="en-US" sz="2000" dirty="0"/>
              <a:t>代表性算法</a:t>
            </a:r>
            <a:endParaRPr lang="en-US" altLang="en-US" sz="2000" dirty="0"/>
          </a:p>
          <a:p>
            <a:pPr lvl="1" eaLnBrk="1" hangingPunct="1">
              <a:spcAft>
                <a:spcPts val="600"/>
              </a:spcAft>
            </a:pPr>
            <a:r>
              <a:rPr lang="en-US" altLang="en-US" sz="2000" dirty="0">
                <a:solidFill>
                  <a:srgbClr val="FF0000"/>
                </a:solidFill>
              </a:rPr>
              <a:t>GSP </a:t>
            </a:r>
            <a:r>
              <a:rPr lang="en-US" altLang="en-US" sz="2000" dirty="0"/>
              <a:t>(广义序列模式): Srikant &amp; Agrawal @ EDBT’96)</a:t>
            </a:r>
            <a:endParaRPr lang="en-US" altLang="en-US" sz="20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000" dirty="0"/>
              <a:t>基于垂直格式的挖掘</a:t>
            </a:r>
            <a:r>
              <a:rPr lang="en-US" altLang="en-US" sz="2000" dirty="0"/>
              <a:t>: SPADE (Zaki@Machine Leanining’00)</a:t>
            </a:r>
            <a:endParaRPr lang="en-US" altLang="en-US" sz="20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000" dirty="0"/>
              <a:t>模式增长方法</a:t>
            </a:r>
            <a:r>
              <a:rPr lang="en-US" altLang="en-US" sz="2000" dirty="0"/>
              <a:t>: </a:t>
            </a:r>
            <a:r>
              <a:rPr lang="en-US" altLang="en-US" sz="2000" dirty="0" err="1">
                <a:solidFill>
                  <a:srgbClr val="FF0000"/>
                </a:solidFill>
              </a:rPr>
              <a:t>PrefixSpan</a:t>
            </a:r>
            <a:r>
              <a:rPr lang="en-US" altLang="en-US" sz="2000" dirty="0"/>
              <a:t> (Pei, et al. @TKDE’04)</a:t>
            </a:r>
            <a:endParaRPr lang="en-US" altLang="en-US" sz="2000" dirty="0"/>
          </a:p>
          <a:p>
            <a:pPr algn="l" eaLnBrk="1" hangingPunct="1">
              <a:spcAft>
                <a:spcPts val="600"/>
              </a:spcAft>
            </a:pPr>
            <a:r>
              <a:rPr lang="zh-CN" altLang="en-US" sz="2000" dirty="0"/>
              <a:t>挖掘闭合序列模型</a:t>
            </a:r>
            <a:r>
              <a:rPr lang="en-US" altLang="en-US" sz="2000" dirty="0"/>
              <a:t>: CloSpan (Yan, et al. @SDM’03)</a:t>
            </a:r>
            <a:endParaRPr lang="en-US" altLang="en-US" sz="2000" dirty="0"/>
          </a:p>
          <a:p>
            <a:pPr algn="l">
              <a:spcAft>
                <a:spcPts val="600"/>
              </a:spcAft>
            </a:pPr>
            <a:r>
              <a:rPr lang="zh-CN" altLang="en-US" sz="2000" dirty="0"/>
              <a:t>基于约束的</a:t>
            </a:r>
            <a:r>
              <a:rPr lang="zh-CN" altLang="en-US" sz="2000" dirty="0"/>
              <a:t>序列模式挖掘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dirty="0"/>
              <a:t>GSP: </a:t>
            </a:r>
            <a:r>
              <a:rPr lang="zh-CN" altLang="en-US" sz="2800" dirty="0"/>
              <a:t>基于</a:t>
            </a:r>
            <a:r>
              <a:rPr lang="en-US" altLang="zh-CN" sz="2800" dirty="0"/>
              <a:t> Apriori </a:t>
            </a:r>
            <a:r>
              <a:rPr lang="zh-CN" altLang="en-US" sz="2800" dirty="0"/>
              <a:t>的序列模式挖掘</a:t>
            </a:r>
            <a:endParaRPr lang="zh-CN" altLang="en-US" sz="28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63955"/>
            <a:ext cx="11452860" cy="167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初始候选对象</a:t>
            </a:r>
            <a:r>
              <a:rPr lang="en-US" altLang="en-US" sz="2000" dirty="0"/>
              <a:t>: </a:t>
            </a:r>
            <a:r>
              <a:rPr lang="zh-CN" altLang="en-US" sz="2000" dirty="0"/>
              <a:t>所有</a:t>
            </a:r>
            <a:r>
              <a:rPr lang="en-US" altLang="zh-CN" sz="2000" dirty="0"/>
              <a:t>8</a:t>
            </a:r>
            <a:r>
              <a:rPr lang="zh-CN" altLang="en-US" sz="2000" dirty="0"/>
              <a:t>个单项序列</a:t>
            </a:r>
            <a:endParaRPr lang="en-US" altLang="en-US" sz="2000" dirty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&lt;a&gt;, &lt;b&gt;, &lt;c&gt;, &lt;d&gt;, &lt;e&gt;, &lt;f&gt;, &lt;g&gt;, &lt;h&gt;</a:t>
            </a:r>
            <a:endParaRPr lang="en-US" altLang="en-US" sz="20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000" dirty="0"/>
              <a:t>扫描一次数据库，计算每个候选的支持度</a:t>
            </a:r>
            <a:endParaRPr lang="zh-CN" altLang="en-US" sz="200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01137" y="3133727"/>
          <a:ext cx="3048000" cy="2124073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11200"/>
                <a:gridCol w="2336800"/>
              </a:tblGrid>
              <a:tr h="3658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  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</a:tr>
              <a:tr h="35570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10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(ac)&gt;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</a:tr>
              <a:tr h="35570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20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&lt;(bf)(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)b(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fg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</a:tr>
              <a:tr h="35570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30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&lt;(ah)(bf)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abf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</a:tr>
              <a:tr h="33538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40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&lt;(be)(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)d&gt;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</a:tr>
              <a:tr h="355706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50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ade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734" marB="45734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094775" y="2677743"/>
            <a:ext cx="139887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96128" y="3353384"/>
          <a:ext cx="1297518" cy="2987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88347"/>
                <a:gridCol w="609171"/>
              </a:tblGrid>
              <a:tr h="3048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Cand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.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sup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&lt;a&gt;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&lt;b&gt;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5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&lt;c&gt;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4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&lt;d&gt;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&lt;e&gt;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&lt;f&gt;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2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&lt;g&gt;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&lt;h&gt;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</a:tbl>
          </a:graphicData>
        </a:graphic>
      </p:graphicFrame>
      <p:cxnSp>
        <p:nvCxnSpPr>
          <p:cNvPr id="7362" name="Straight Connector 5"/>
          <p:cNvCxnSpPr>
            <a:cxnSpLocks noChangeShapeType="1"/>
          </p:cNvCxnSpPr>
          <p:nvPr/>
        </p:nvCxnSpPr>
        <p:spPr bwMode="auto">
          <a:xfrm>
            <a:off x="5196128" y="5687008"/>
            <a:ext cx="7112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3" name="Straight Connector 44"/>
          <p:cNvCxnSpPr>
            <a:cxnSpLocks noChangeShapeType="1"/>
          </p:cNvCxnSpPr>
          <p:nvPr/>
        </p:nvCxnSpPr>
        <p:spPr bwMode="auto">
          <a:xfrm flipV="1">
            <a:off x="5208829" y="5687008"/>
            <a:ext cx="6985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4" name="Straight Connector 48"/>
          <p:cNvCxnSpPr>
            <a:cxnSpLocks noChangeShapeType="1"/>
          </p:cNvCxnSpPr>
          <p:nvPr/>
        </p:nvCxnSpPr>
        <p:spPr bwMode="auto">
          <a:xfrm>
            <a:off x="5196128" y="5991808"/>
            <a:ext cx="7112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5" name="Straight Connector 49"/>
          <p:cNvCxnSpPr>
            <a:cxnSpLocks noChangeShapeType="1"/>
          </p:cNvCxnSpPr>
          <p:nvPr/>
        </p:nvCxnSpPr>
        <p:spPr bwMode="auto">
          <a:xfrm flipV="1">
            <a:off x="5208829" y="5991808"/>
            <a:ext cx="6985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66" name="Curved Right Arrow 13"/>
          <p:cNvSpPr>
            <a:spLocks noChangeArrowheads="1"/>
          </p:cNvSpPr>
          <p:nvPr/>
        </p:nvSpPr>
        <p:spPr bwMode="auto">
          <a:xfrm flipH="1">
            <a:off x="6964101" y="2224348"/>
            <a:ext cx="382089" cy="1438564"/>
          </a:xfrm>
          <a:prstGeom prst="curvedRightArrow">
            <a:avLst>
              <a:gd name="adj1" fmla="val 25003"/>
              <a:gd name="adj2" fmla="val 50005"/>
              <a:gd name="adj3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x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367" name="Oval 14"/>
          <p:cNvSpPr>
            <a:spLocks noChangeArrowheads="1"/>
          </p:cNvSpPr>
          <p:nvPr/>
        </p:nvSpPr>
        <p:spPr bwMode="auto">
          <a:xfrm>
            <a:off x="6008928" y="5687008"/>
            <a:ext cx="4064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368" name="Oval 52"/>
          <p:cNvSpPr>
            <a:spLocks noChangeArrowheads="1"/>
          </p:cNvSpPr>
          <p:nvPr/>
        </p:nvSpPr>
        <p:spPr bwMode="auto">
          <a:xfrm>
            <a:off x="6008928" y="5991808"/>
            <a:ext cx="4064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816645" y="5267235"/>
            <a:ext cx="4061501" cy="829945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altLang="en-US" sz="2400" dirty="0">
                <a:solidFill>
                  <a:srgbClr val="FF0000"/>
                </a:solidFill>
              </a:rPr>
              <a:t>GSP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(</a:t>
            </a:r>
            <a:r>
              <a:rPr lang="en-US" altLang="en-US" sz="2400" dirty="0">
                <a:sym typeface="+mn-ea"/>
              </a:rPr>
              <a:t>广义序列模式</a:t>
            </a:r>
            <a:r>
              <a:rPr lang="en-US" altLang="en-US" sz="2400" dirty="0"/>
              <a:t>): </a:t>
            </a:r>
            <a:r>
              <a:rPr lang="en-US" altLang="en-US" sz="2400" dirty="0" err="1"/>
              <a:t>Srikant</a:t>
            </a:r>
            <a:r>
              <a:rPr lang="en-US" altLang="en-US" sz="2400" dirty="0"/>
              <a:t> &amp; Agrawal @ EDBT’96)</a:t>
            </a:r>
            <a:endParaRPr lang="en-US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366" grpId="0" animBg="1"/>
      <p:bldP spid="7367" grpId="0" animBg="1"/>
      <p:bldP spid="7368" grpId="0" animBg="1"/>
      <p:bldP spid="2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>
                <a:sym typeface="+mn-ea"/>
              </a:rPr>
              <a:t>GSP: </a:t>
            </a:r>
            <a:r>
              <a:rPr lang="zh-CN" altLang="en-US" sz="4000" dirty="0">
                <a:sym typeface="+mn-ea"/>
              </a:rPr>
              <a:t>基于</a:t>
            </a:r>
            <a:r>
              <a:rPr lang="en-US" altLang="zh-CN" sz="4000" dirty="0">
                <a:sym typeface="+mn-ea"/>
              </a:rPr>
              <a:t> Apriori </a:t>
            </a:r>
            <a:r>
              <a:rPr lang="zh-CN" altLang="en-US" sz="4000" dirty="0">
                <a:sym typeface="+mn-ea"/>
              </a:rPr>
              <a:t>的序列模式挖掘</a:t>
            </a:r>
            <a:endParaRPr lang="en-US" altLang="en-US" sz="4000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111250"/>
            <a:ext cx="11214735" cy="41465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 dirty="0"/>
              <a:t>示例</a:t>
            </a:r>
            <a:r>
              <a:rPr lang="en-US" altLang="en-US" sz="2400" dirty="0"/>
              <a:t>: </a:t>
            </a:r>
            <a:r>
              <a:rPr lang="zh-CN" altLang="en-US" sz="2400" dirty="0"/>
              <a:t>生成长度为</a:t>
            </a:r>
            <a:r>
              <a:rPr lang="en-US" altLang="zh-CN" sz="2400" dirty="0"/>
              <a:t>2</a:t>
            </a:r>
            <a:r>
              <a:rPr lang="zh-CN" altLang="en-US" sz="2400" dirty="0"/>
              <a:t>的</a:t>
            </a:r>
            <a:r>
              <a:rPr lang="zh-CN" altLang="en-US" sz="2400" dirty="0"/>
              <a:t>候选序列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227385" y="2277400"/>
            <a:ext cx="139887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4684" y="2949058"/>
          <a:ext cx="1297518" cy="298767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88347"/>
                <a:gridCol w="609171"/>
              </a:tblGrid>
              <a:tr h="304865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Cand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.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sup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&lt;a&gt;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&lt;b&gt;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5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&lt;c&gt;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4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&lt;d&gt;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&lt;e&gt;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&lt;f&gt;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2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&lt;g&gt;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  <a:tr h="33535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&lt;h&gt;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835" marR="121835" marT="45730" marB="45730"/>
                </a:tc>
              </a:tr>
            </a:tbl>
          </a:graphicData>
        </a:graphic>
      </p:graphicFrame>
      <p:graphicFrame>
        <p:nvGraphicFramePr>
          <p:cNvPr id="35" name="Group 3"/>
          <p:cNvGraphicFramePr>
            <a:graphicFrameLocks noGrp="1"/>
          </p:cNvGraphicFramePr>
          <p:nvPr/>
        </p:nvGraphicFramePr>
        <p:xfrm>
          <a:off x="2521339" y="2001984"/>
          <a:ext cx="5892800" cy="2039688"/>
        </p:xfrm>
        <a:graphic>
          <a:graphicData uri="http://schemas.openxmlformats.org/drawingml/2006/table">
            <a:tbl>
              <a:tblPr/>
              <a:tblGrid>
                <a:gridCol w="767889"/>
                <a:gridCol w="863204"/>
                <a:gridCol w="863204"/>
                <a:gridCol w="861403"/>
                <a:gridCol w="863204"/>
                <a:gridCol w="865005"/>
                <a:gridCol w="808891"/>
              </a:tblGrid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&lt;aa&gt;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&lt;ab&gt;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&lt;ac&gt;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&lt;ad&gt;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&lt;ae&gt;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&lt;af&gt;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ba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&lt;bb&gt;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&lt;bd&gt;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&lt;be&gt;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&lt;bf&gt;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&lt;ca&gt;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&lt;cc&gt;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&lt;cd&gt;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&lt;ce&gt;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&lt;cf&gt;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&lt;da&gt;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&lt;db&gt;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&lt;dc&gt;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&lt;de&gt;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&lt;df&gt;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&lt;ea&gt;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&lt;eb&gt;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ee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&lt;ef&gt;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66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&lt;fa&gt;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&lt;fb&gt;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&lt;fc&gt;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fd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fe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ff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3" marB="4574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36" name="Group 69"/>
          <p:cNvGraphicFramePr>
            <a:graphicFrameLocks noGrp="1"/>
          </p:cNvGraphicFramePr>
          <p:nvPr/>
        </p:nvGraphicFramePr>
        <p:xfrm>
          <a:off x="2521339" y="4611180"/>
          <a:ext cx="5994400" cy="1952604"/>
        </p:xfrm>
        <a:graphic>
          <a:graphicData uri="http://schemas.openxmlformats.org/drawingml/2006/table">
            <a:tbl>
              <a:tblPr/>
              <a:tblGrid>
                <a:gridCol w="699541"/>
                <a:gridCol w="621259"/>
                <a:gridCol w="914400"/>
                <a:gridCol w="914400"/>
                <a:gridCol w="1016000"/>
                <a:gridCol w="914400"/>
                <a:gridCol w="914400"/>
              </a:tblGrid>
              <a:tr h="2790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&lt;(ab)&gt;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&lt;(ac)&gt;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&lt;(ae)&gt;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&lt;b&gt;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bd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&lt;(be)&gt;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&lt;(bf)&gt;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&lt;c&gt;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&lt;(cd)&gt;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ce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&lt;d&gt;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&lt;(de)&gt;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&lt;e&gt;</a:t>
                      </a: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5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&lt;f&gt;</a:t>
                      </a: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en-US" sz="1500" b="0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40" marB="4574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7362" name="Straight Connector 5"/>
          <p:cNvCxnSpPr>
            <a:cxnSpLocks noChangeShapeType="1"/>
          </p:cNvCxnSpPr>
          <p:nvPr/>
        </p:nvCxnSpPr>
        <p:spPr bwMode="auto">
          <a:xfrm>
            <a:off x="214684" y="5282682"/>
            <a:ext cx="7112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3" name="Straight Connector 44"/>
          <p:cNvCxnSpPr>
            <a:cxnSpLocks noChangeShapeType="1"/>
          </p:cNvCxnSpPr>
          <p:nvPr/>
        </p:nvCxnSpPr>
        <p:spPr bwMode="auto">
          <a:xfrm flipV="1">
            <a:off x="227385" y="5282682"/>
            <a:ext cx="6985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4" name="Straight Connector 48"/>
          <p:cNvCxnSpPr>
            <a:cxnSpLocks noChangeShapeType="1"/>
          </p:cNvCxnSpPr>
          <p:nvPr/>
        </p:nvCxnSpPr>
        <p:spPr bwMode="auto">
          <a:xfrm>
            <a:off x="214684" y="5587482"/>
            <a:ext cx="7112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365" name="Straight Connector 49"/>
          <p:cNvCxnSpPr>
            <a:cxnSpLocks noChangeShapeType="1"/>
          </p:cNvCxnSpPr>
          <p:nvPr/>
        </p:nvCxnSpPr>
        <p:spPr bwMode="auto">
          <a:xfrm flipV="1">
            <a:off x="227385" y="5587482"/>
            <a:ext cx="698500" cy="304800"/>
          </a:xfrm>
          <a:prstGeom prst="line">
            <a:avLst/>
          </a:prstGeom>
          <a:noFill/>
          <a:ln w="19050" algn="ctr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367" name="Oval 14"/>
          <p:cNvSpPr>
            <a:spLocks noChangeArrowheads="1"/>
          </p:cNvSpPr>
          <p:nvPr/>
        </p:nvSpPr>
        <p:spPr bwMode="auto">
          <a:xfrm>
            <a:off x="1027484" y="5282682"/>
            <a:ext cx="4064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368" name="Oval 52"/>
          <p:cNvSpPr>
            <a:spLocks noChangeArrowheads="1"/>
          </p:cNvSpPr>
          <p:nvPr/>
        </p:nvSpPr>
        <p:spPr bwMode="auto">
          <a:xfrm>
            <a:off x="1027484" y="5587482"/>
            <a:ext cx="406400" cy="304800"/>
          </a:xfrm>
          <a:prstGeom prst="ellipse">
            <a:avLst/>
          </a:prstGeom>
          <a:noFill/>
          <a:ln w="1905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>
          <a:xfrm>
            <a:off x="8686800" y="3155315"/>
            <a:ext cx="3505200" cy="278130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0" indent="-46228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不带剪枝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zh-CN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包括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g </a:t>
            </a:r>
            <a:r>
              <a:rPr kumimoji="0" lang="zh-CN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和</a:t>
            </a:r>
            <a:r>
              <a:rPr kumimoji="0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h):</a:t>
            </a:r>
            <a:endParaRPr kumimoji="0" lang="en-US" altLang="en-US" sz="20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00025" marR="0" lvl="1" indent="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8*8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8*7/2 = 92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sym typeface="+mn-ea"/>
              </a:rPr>
              <a:t>长度为</a:t>
            </a:r>
            <a:r>
              <a:rPr lang="en-US" altLang="zh-CN" sz="2000" dirty="0">
                <a:solidFill>
                  <a:srgbClr val="000000"/>
                </a:solidFill>
                <a:sym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sym typeface="+mn-ea"/>
              </a:rPr>
              <a:t>的候选值</a:t>
            </a:r>
            <a:endParaRPr lang="zh-CN" altLang="en-US" sz="2000" dirty="0">
              <a:solidFill>
                <a:srgbClr val="000000"/>
              </a:solidFill>
            </a:endParaRPr>
          </a:p>
          <a:p>
            <a:pPr marL="462280" marR="0" lvl="0" indent="-46228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带剪枝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r>
              <a:rPr lang="en-US" altLang="en-US" sz="2000" dirty="0">
                <a:solidFill>
                  <a:srgbClr val="000000"/>
                </a:solidFill>
              </a:rPr>
              <a:t>6*6 </a:t>
            </a:r>
            <a:r>
              <a:rPr lang="en-US" altLang="en-US" sz="2000" dirty="0">
                <a:solidFill>
                  <a:srgbClr val="FF0000"/>
                </a:solidFill>
              </a:rPr>
              <a:t>+</a:t>
            </a:r>
            <a:r>
              <a:rPr lang="en-US" altLang="en-US" sz="2000" dirty="0">
                <a:solidFill>
                  <a:srgbClr val="000000"/>
                </a:solidFill>
              </a:rPr>
              <a:t> 6*5/2 = 51</a:t>
            </a:r>
            <a:r>
              <a:rPr lang="zh-CN" altLang="en-US" sz="2000" dirty="0">
                <a:solidFill>
                  <a:srgbClr val="000000"/>
                </a:solidFill>
              </a:rPr>
              <a:t>，长度为</a:t>
            </a:r>
            <a:r>
              <a:rPr lang="en-US" altLang="zh-CN" sz="2000" dirty="0">
                <a:solidFill>
                  <a:srgbClr val="000000"/>
                </a:solidFill>
              </a:rPr>
              <a:t>2</a:t>
            </a:r>
            <a:r>
              <a:rPr lang="zh-CN" altLang="en-US" sz="2000" dirty="0">
                <a:solidFill>
                  <a:srgbClr val="000000"/>
                </a:solidFill>
              </a:rPr>
              <a:t>的候选值</a:t>
            </a:r>
            <a:endParaRPr lang="zh-CN" altLang="en-US" sz="2000" dirty="0">
              <a:solidFill>
                <a:srgbClr val="000000"/>
              </a:solidFill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1738159" y="4042120"/>
            <a:ext cx="426543" cy="33704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684762" y="1525094"/>
            <a:ext cx="400635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singleton * singleton – </a:t>
            </a:r>
            <a:r>
              <a:rPr lang="en-US" i="1" dirty="0"/>
              <a:t>Total: </a:t>
            </a:r>
            <a:r>
              <a:rPr lang="en-US" dirty="0"/>
              <a:t>(6 * 6)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735562" y="4186806"/>
            <a:ext cx="357963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Sets (unordered) – </a:t>
            </a:r>
            <a:r>
              <a:rPr lang="en-US" i="1" dirty="0"/>
              <a:t>Total</a:t>
            </a:r>
            <a:r>
              <a:rPr lang="en-US" dirty="0"/>
              <a:t>: (6*5) / 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9141272" y="2637331"/>
            <a:ext cx="1943496" cy="3835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Apriori</a:t>
            </a:r>
            <a:r>
              <a:rPr lang="en-US" dirty="0"/>
              <a:t> </a:t>
            </a:r>
            <a:r>
              <a:rPr lang="zh-CN" altLang="en-US" dirty="0"/>
              <a:t>剪枝</a:t>
            </a:r>
            <a:endParaRPr lang="zh-CN" altLang="en-US" dirty="0"/>
          </a:p>
        </p:txBody>
      </p:sp>
      <p:sp>
        <p:nvSpPr>
          <p:cNvPr id="2" name="Oval 1"/>
          <p:cNvSpPr/>
          <p:nvPr/>
        </p:nvSpPr>
        <p:spPr>
          <a:xfrm>
            <a:off x="5151120" y="2606168"/>
            <a:ext cx="619760" cy="223523"/>
          </a:xfrm>
          <a:prstGeom prst="ellipse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4287520" y="2915656"/>
            <a:ext cx="619760" cy="223523"/>
          </a:xfrm>
          <a:prstGeom prst="ellipse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367" grpId="0" animBg="1"/>
      <p:bldP spid="7368" grpId="0" animBg="1"/>
      <p:bldP spid="18" grpId="0"/>
      <p:bldP spid="5" grpId="0" animBg="1"/>
      <p:bldP spid="6" grpId="0"/>
      <p:bldP spid="20" grpId="0"/>
      <p:bldP spid="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1" y="381000"/>
            <a:ext cx="11681884" cy="5715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GSP Mining and Pruning</a:t>
            </a:r>
            <a:endParaRPr lang="en-US" alt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626081" y="1232131"/>
            <a:ext cx="10252097" cy="2786024"/>
            <a:chOff x="147109" y="1373626"/>
            <a:chExt cx="10252097" cy="2786024"/>
          </a:xfrm>
        </p:grpSpPr>
        <p:sp>
          <p:nvSpPr>
            <p:cNvPr id="8222" name="Text Box 4"/>
            <p:cNvSpPr txBox="1">
              <a:spLocks noChangeArrowheads="1"/>
            </p:cNvSpPr>
            <p:nvPr/>
          </p:nvSpPr>
          <p:spPr bwMode="auto">
            <a:xfrm>
              <a:off x="4778651" y="3821512"/>
              <a:ext cx="38481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&lt;a&gt; &lt;b&gt; &lt;c&gt; &lt;d&gt; &lt;e&gt; &lt;f&gt; </a:t>
              </a:r>
              <a:r>
                <a:rPr kumimoji="0" lang="en-US" altLang="en-US" sz="1600" b="0" i="0" u="none" strike="sngStrike" kern="1200" cap="none" spc="0" normalizeH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&lt;g&gt; &lt;h&gt;</a:t>
              </a:r>
              <a:endParaRPr kumimoji="0" lang="en-US" altLang="en-US" sz="1600" b="0" i="0" u="none" strike="sngStrike" kern="1200" cap="none" spc="0" normalizeH="0" noProof="0" dirty="0">
                <a:ln>
                  <a:noFill/>
                </a:ln>
                <a:solidFill>
                  <a:srgbClr val="0000C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223" name="Text Box 5"/>
            <p:cNvSpPr txBox="1">
              <a:spLocks noChangeArrowheads="1"/>
            </p:cNvSpPr>
            <p:nvPr/>
          </p:nvSpPr>
          <p:spPr bwMode="auto">
            <a:xfrm>
              <a:off x="4777339" y="3275024"/>
              <a:ext cx="562186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&lt;aa&gt; &lt;ab&gt; …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af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ba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 &lt;bb&gt; … 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ff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&lt;(ab)&gt;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…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ef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)&gt;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224" name="Text Box 6"/>
            <p:cNvSpPr txBox="1">
              <a:spLocks noChangeArrowheads="1"/>
            </p:cNvSpPr>
            <p:nvPr/>
          </p:nvSpPr>
          <p:spPr bwMode="auto">
            <a:xfrm>
              <a:off x="4777339" y="2625369"/>
              <a:ext cx="3820583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abb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 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aab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 &lt;aba&gt;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&lt;baa&gt;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bab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…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225" name="Text Box 7"/>
            <p:cNvSpPr txBox="1">
              <a:spLocks noChangeArrowheads="1"/>
            </p:cNvSpPr>
            <p:nvPr/>
          </p:nvSpPr>
          <p:spPr bwMode="auto">
            <a:xfrm>
              <a:off x="4777339" y="1944693"/>
              <a:ext cx="2112433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abba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CC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 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bd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)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bc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 …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226" name="Text Box 8"/>
            <p:cNvSpPr txBox="1">
              <a:spLocks noChangeArrowheads="1"/>
            </p:cNvSpPr>
            <p:nvPr/>
          </p:nvSpPr>
          <p:spPr bwMode="auto">
            <a:xfrm>
              <a:off x="4777339" y="1408552"/>
              <a:ext cx="1183217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&lt;(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bd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)</a:t>
              </a:r>
              <a:r>
                <a:rPr kumimoji="0" lang="en-US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cba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+mn-ea"/>
                  <a:cs typeface="+mn-cs"/>
                </a:rPr>
                <a:t>&gt;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endParaRPr>
            </a:p>
          </p:txBody>
        </p:sp>
        <p:sp>
          <p:nvSpPr>
            <p:cNvPr id="8227" name="Text Box 9"/>
            <p:cNvSpPr txBox="1">
              <a:spLocks noChangeArrowheads="1"/>
            </p:cNvSpPr>
            <p:nvPr/>
          </p:nvSpPr>
          <p:spPr bwMode="auto">
            <a:xfrm>
              <a:off x="147109" y="3821552"/>
              <a:ext cx="4389967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第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1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次扫描：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8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个候选，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6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个长度为</a:t>
              </a:r>
              <a:r>
                <a:rPr kumimoji="0" lang="en-US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1</a:t>
              </a: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rPr>
                <a:t>的序列模式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8228" name="Text Box 10"/>
            <p:cNvSpPr txBox="1">
              <a:spLocks noChangeArrowheads="1"/>
            </p:cNvSpPr>
            <p:nvPr/>
          </p:nvSpPr>
          <p:spPr bwMode="auto">
            <a:xfrm>
              <a:off x="155576" y="3154802"/>
              <a:ext cx="4491567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第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2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次扫描：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51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个候选，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19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个长度为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2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的序列模式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8229" name="Text Box 11"/>
            <p:cNvSpPr txBox="1">
              <a:spLocks noChangeArrowheads="1"/>
            </p:cNvSpPr>
            <p:nvPr/>
          </p:nvSpPr>
          <p:spPr bwMode="auto">
            <a:xfrm>
              <a:off x="155576" y="2440426"/>
              <a:ext cx="4491567" cy="583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第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3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次扫描：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46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个候选，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20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个长度为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3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的序列模式，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20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个候选值不在数据库</a:t>
              </a:r>
              <a:endParaRPr lang="zh-CN" altLang="en-US" sz="16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8230" name="Text Box 12"/>
            <p:cNvSpPr txBox="1">
              <a:spLocks noChangeArrowheads="1"/>
            </p:cNvSpPr>
            <p:nvPr/>
          </p:nvSpPr>
          <p:spPr bwMode="auto">
            <a:xfrm>
              <a:off x="155364" y="1916551"/>
              <a:ext cx="4427855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第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4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次扫描：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8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个候选，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7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个长度为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4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的序列模式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8231" name="Text Box 13"/>
            <p:cNvSpPr txBox="1">
              <a:spLocks noChangeArrowheads="1"/>
            </p:cNvSpPr>
            <p:nvPr/>
          </p:nvSpPr>
          <p:spPr bwMode="auto">
            <a:xfrm>
              <a:off x="155576" y="1373626"/>
              <a:ext cx="4491567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ts val="6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 eaLnBrk="0" hangingPunct="0">
                <a:spcBef>
                  <a:spcPts val="6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 eaLnBrk="0" hangingPunct="0">
                <a:spcBef>
                  <a:spcPts val="6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 eaLnBrk="0" hangingPunct="0">
                <a:spcBef>
                  <a:spcPts val="6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 eaLnBrk="0" hangingPunct="0">
                <a:spcBef>
                  <a:spcPts val="6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ts val="6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第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5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次扫描：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1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个候选，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1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个长度为</a:t>
              </a:r>
              <a:r>
                <a:rPr lang="en-US" altLang="zh-CN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5</a:t>
              </a:r>
              <a:r>
                <a:rPr lang="zh-CN" altLang="en-US" sz="16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sym typeface="+mn-ea"/>
                </a:rPr>
                <a:t>的序列模式</a:t>
              </a:r>
              <a:endPara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graphicFrame>
        <p:nvGraphicFramePr>
          <p:cNvPr id="65" name="Table 64"/>
          <p:cNvGraphicFramePr>
            <a:graphicFrameLocks noGrp="1"/>
          </p:cNvGraphicFramePr>
          <p:nvPr/>
        </p:nvGraphicFramePr>
        <p:xfrm>
          <a:off x="8742893" y="4489023"/>
          <a:ext cx="2603500" cy="21224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84200"/>
                <a:gridCol w="2019300"/>
              </a:tblGrid>
              <a:tr h="36570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   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10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(ac)&gt;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20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&lt;(bf)(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)b(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fg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30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&lt;(ah)(bf)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abf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</a:tr>
              <a:tr h="335224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40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algn="ctr" ea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buFont typeface="Wingdings" panose="05000000000000000000" pitchFamily="2" charset="2"/>
                        <a:buNone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&lt;(be)(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ce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)d&gt;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</a:tr>
              <a:tr h="35539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50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bd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bcb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(</a:t>
                      </a:r>
                      <a:r>
                        <a:rPr lang="en-US" altLang="en-US" sz="1800" dirty="0" err="1">
                          <a:latin typeface="Calibri" panose="020F0502020204030204" pitchFamily="34" charset="0"/>
                        </a:rPr>
                        <a:t>ade</a:t>
                      </a:r>
                      <a:r>
                        <a:rPr lang="en-US" altLang="en-US" sz="1800" dirty="0">
                          <a:latin typeface="Calibri" panose="020F0502020204030204" pitchFamily="34" charset="0"/>
                        </a:rPr>
                        <a:t>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 marT="45693" marB="45693"/>
                </a:tc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9340947" y="4083062"/>
            <a:ext cx="1445491" cy="400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7181850" y="952500"/>
            <a:ext cx="3322320" cy="1069975"/>
          </a:xfrm>
          <a:prstGeom prst="rect">
            <a:avLst/>
          </a:prstGeom>
          <a:solidFill>
            <a:srgbClr val="CCFFCC"/>
          </a:solidFill>
        </p:spPr>
        <p:txBody>
          <a:bodyPr/>
          <a:lstStyle>
            <a:lvl1pPr marL="340995" indent="-34099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2770" indent="-37274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495" indent="-29019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3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1800" dirty="0">
                <a:solidFill>
                  <a:srgbClr val="0033CC"/>
                </a:solidFill>
              </a:rPr>
              <a:t>移除</a:t>
            </a:r>
            <a:r>
              <a:rPr lang="zh-CN" altLang="en-US" sz="1800" dirty="0">
                <a:solidFill>
                  <a:srgbClr val="FF0000"/>
                </a:solidFill>
              </a:rPr>
              <a:t>不在数据库中</a:t>
            </a:r>
            <a:r>
              <a:rPr lang="zh-CN" altLang="en-US" sz="1800" dirty="0">
                <a:solidFill>
                  <a:srgbClr val="0033CC"/>
                </a:solidFill>
              </a:rPr>
              <a:t>或支持度小于</a:t>
            </a:r>
            <a:r>
              <a:rPr lang="en-US" altLang="zh-CN" sz="1800" dirty="0">
                <a:solidFill>
                  <a:srgbClr val="0033CC"/>
                </a:solidFill>
              </a:rPr>
              <a:t> min_sup </a:t>
            </a:r>
            <a:r>
              <a:rPr lang="zh-CN" altLang="en-US" sz="1800" dirty="0">
                <a:solidFill>
                  <a:srgbClr val="0033CC"/>
                </a:solidFill>
              </a:rPr>
              <a:t>的候选</a:t>
            </a:r>
            <a:endParaRPr lang="zh-CN" altLang="en-US" sz="1800" dirty="0">
              <a:solidFill>
                <a:srgbClr val="0033CC"/>
              </a:solidFill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48343" y="1432156"/>
            <a:ext cx="0" cy="2416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Line 27"/>
          <p:cNvSpPr>
            <a:spLocks noChangeShapeType="1"/>
          </p:cNvSpPr>
          <p:nvPr/>
        </p:nvSpPr>
        <p:spPr bwMode="auto">
          <a:xfrm flipV="1">
            <a:off x="5498297" y="3471668"/>
            <a:ext cx="130344" cy="20994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Line 27"/>
          <p:cNvSpPr>
            <a:spLocks noChangeShapeType="1"/>
          </p:cNvSpPr>
          <p:nvPr/>
        </p:nvSpPr>
        <p:spPr bwMode="auto">
          <a:xfrm flipV="1">
            <a:off x="5511200" y="3471668"/>
            <a:ext cx="655920" cy="199944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Line 27"/>
          <p:cNvSpPr>
            <a:spLocks noChangeShapeType="1"/>
          </p:cNvSpPr>
          <p:nvPr/>
        </p:nvSpPr>
        <p:spPr bwMode="auto">
          <a:xfrm flipV="1">
            <a:off x="5498296" y="3463263"/>
            <a:ext cx="1451144" cy="216753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Line 27"/>
          <p:cNvSpPr>
            <a:spLocks noChangeShapeType="1"/>
          </p:cNvSpPr>
          <p:nvPr/>
        </p:nvSpPr>
        <p:spPr bwMode="auto">
          <a:xfrm flipV="1">
            <a:off x="6000823" y="3463259"/>
            <a:ext cx="1487097" cy="25807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Line 27"/>
          <p:cNvSpPr>
            <a:spLocks noChangeShapeType="1"/>
          </p:cNvSpPr>
          <p:nvPr/>
        </p:nvSpPr>
        <p:spPr bwMode="auto">
          <a:xfrm flipV="1">
            <a:off x="6078936" y="3463259"/>
            <a:ext cx="1988104" cy="25679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Line 27"/>
          <p:cNvSpPr>
            <a:spLocks noChangeShapeType="1"/>
          </p:cNvSpPr>
          <p:nvPr/>
        </p:nvSpPr>
        <p:spPr bwMode="auto">
          <a:xfrm flipH="1">
            <a:off x="1661795" y="3310890"/>
            <a:ext cx="278765" cy="88265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79144" y="4134159"/>
            <a:ext cx="2484976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0025" lvl="1" indent="0">
              <a:lnSpc>
                <a:spcPct val="90000"/>
              </a:lnSpc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6*6 </a:t>
            </a:r>
            <a:r>
              <a:rPr lang="en-US" altLang="en-US" sz="2400" dirty="0">
                <a:solidFill>
                  <a:srgbClr val="FF0000"/>
                </a:solidFill>
              </a:rPr>
              <a:t>+</a:t>
            </a:r>
            <a:r>
              <a:rPr lang="en-US" altLang="en-US" sz="2400" dirty="0">
                <a:solidFill>
                  <a:srgbClr val="000000"/>
                </a:solidFill>
              </a:rPr>
              <a:t> 6*5/2 = 51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>
            <a:off x="10741029" y="1031033"/>
            <a:ext cx="87471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000" b="1" u="sng" dirty="0">
                <a:solidFill>
                  <a:srgbClr val="000000"/>
                </a:solidFill>
              </a:rPr>
              <a:t>length</a:t>
            </a:r>
            <a:endParaRPr kumimoji="0" lang="en-US" altLang="en-US" sz="20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6" name="Text Box 13"/>
          <p:cNvSpPr txBox="1">
            <a:spLocks noChangeArrowheads="1"/>
          </p:cNvSpPr>
          <p:nvPr/>
        </p:nvSpPr>
        <p:spPr bwMode="auto">
          <a:xfrm>
            <a:off x="11010375" y="1259677"/>
            <a:ext cx="336018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5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4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3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</a:t>
            </a:r>
            <a:endParaRPr kumimoji="0" lang="en-US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799860" y="3068915"/>
            <a:ext cx="319135" cy="242207"/>
          </a:xfrm>
          <a:prstGeom prst="ellipse">
            <a:avLst/>
          </a:prstGeom>
          <a:solidFill>
            <a:srgbClr val="FF0000">
              <a:alpha val="32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-635" y="4478655"/>
            <a:ext cx="8743950" cy="209296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 k = 1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开始重复，直到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 k &lt;=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长度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扫描数据库以查找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长度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-k”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的频繁序列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使用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 Apriori 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从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长度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-k”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的频繁序列生成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“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长度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-(k+1)”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的候选序列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set k = k+1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rPr>
              <a:t>直到找不到频繁序列或候选序列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71465" y="4076519"/>
            <a:ext cx="2157176" cy="38354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GPS </a:t>
            </a:r>
            <a:r>
              <a:rPr lang="zh-CN" altLang="en-US" dirty="0"/>
              <a:t>算法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76200"/>
            <a:ext cx="11176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555" dirty="0"/>
              <a:t>垂直数据格式中的序列模式挖掘：</a:t>
            </a:r>
            <a:r>
              <a:rPr lang="en-US" altLang="zh-CN" sz="3555" dirty="0"/>
              <a:t>SPADE </a:t>
            </a:r>
            <a:r>
              <a:rPr lang="zh-CN" altLang="en-US" sz="3555" dirty="0"/>
              <a:t>算法</a:t>
            </a:r>
            <a:endParaRPr lang="zh-CN" altLang="en-US" sz="3555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06400" y="1219200"/>
            <a:ext cx="11277600" cy="820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1494" y="2363443"/>
          <a:ext cx="2178867" cy="16764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03975"/>
                <a:gridCol w="1674892"/>
              </a:tblGrid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1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)d(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2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&lt;(ad)c(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)(ae)&gt;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3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6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6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alibri" panose="020F0502020204030204" pitchFamily="34" charset="0"/>
                        </a:rPr>
                        <a:t>4</a:t>
                      </a:r>
                      <a:endParaRPr lang="en-US" sz="16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cbc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</a:tbl>
          </a:graphicData>
        </a:graphic>
      </p:graphicFrame>
      <p:sp>
        <p:nvSpPr>
          <p:cNvPr id="9242" name="TextBox 1"/>
          <p:cNvSpPr txBox="1">
            <a:spLocks noChangeArrowheads="1"/>
          </p:cNvSpPr>
          <p:nvPr/>
        </p:nvSpPr>
        <p:spPr bwMode="auto">
          <a:xfrm>
            <a:off x="423400" y="4811084"/>
            <a:ext cx="2607399" cy="1170305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Ref: SPADE (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使用等价类进行序列模式发现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 [M.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Zaki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2001]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2311" y="4036006"/>
            <a:ext cx="1828800" cy="369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06400" y="1182370"/>
            <a:ext cx="11277600" cy="1049655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1" indent="-4622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序列数据库被映射为：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&lt;SID, EID&gt;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2280" marR="0" lvl="1" indent="-46228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通过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Apriori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候选生成，一次增加一个项来扩展子序列（模式）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9649" y="2311528"/>
            <a:ext cx="2091343" cy="448266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420" y="2311528"/>
            <a:ext cx="3341453" cy="193290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420" y="4288329"/>
            <a:ext cx="5414829" cy="135298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420" y="5747135"/>
            <a:ext cx="4680168" cy="1058563"/>
          </a:xfrm>
          <a:prstGeom prst="rect">
            <a:avLst/>
          </a:prstGeom>
        </p:spPr>
      </p:pic>
      <p:sp>
        <p:nvSpPr>
          <p:cNvPr id="12" name="Line 27"/>
          <p:cNvSpPr>
            <a:spLocks noChangeShapeType="1"/>
          </p:cNvSpPr>
          <p:nvPr/>
        </p:nvSpPr>
        <p:spPr bwMode="auto">
          <a:xfrm flipH="1">
            <a:off x="9916160" y="4108976"/>
            <a:ext cx="439938" cy="72434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Line 27"/>
          <p:cNvSpPr>
            <a:spLocks noChangeShapeType="1"/>
          </p:cNvSpPr>
          <p:nvPr/>
        </p:nvSpPr>
        <p:spPr bwMode="auto">
          <a:xfrm>
            <a:off x="10309314" y="4108976"/>
            <a:ext cx="331287" cy="72434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9703733" y="3277980"/>
            <a:ext cx="1843405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EID (b) &lt; EID (a):</a:t>
            </a:r>
            <a:endParaRPr lang="en-US" altLang="en-US" sz="16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对应于</a:t>
            </a:r>
            <a:r>
              <a:rPr lang="en-US" alt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:</a:t>
            </a:r>
            <a:endParaRPr lang="en-US" altLang="en-US" sz="16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defTabSz="457200" eaLnBrk="1" hangingPunct="1">
              <a:spcBef>
                <a:spcPct val="0"/>
              </a:spcBef>
              <a:buClrTx/>
              <a:buSzTx/>
              <a:buNone/>
              <a:defRPr/>
            </a:pPr>
            <a:r>
              <a:rPr lang="en-US" sz="1600" dirty="0"/>
              <a:t>&lt;a(</a:t>
            </a:r>
            <a:r>
              <a:rPr lang="en-US" sz="1600" u="sng" dirty="0" err="1"/>
              <a:t>a</a:t>
            </a:r>
            <a:r>
              <a:rPr lang="en-US" sz="1600" u="sng" dirty="0" err="1">
                <a:solidFill>
                  <a:srgbClr val="FF0000"/>
                </a:solidFill>
              </a:rPr>
              <a:t>b</a:t>
            </a:r>
            <a:r>
              <a:rPr lang="en-US" sz="1600" dirty="0" err="1"/>
              <a:t>c</a:t>
            </a:r>
            <a:r>
              <a:rPr lang="en-US" sz="1600" dirty="0"/>
              <a:t>)(</a:t>
            </a:r>
            <a:r>
              <a:rPr lang="en-US" sz="1600" dirty="0">
                <a:solidFill>
                  <a:srgbClr val="FF0000"/>
                </a:solidFill>
              </a:rPr>
              <a:t>a</a:t>
            </a:r>
            <a:r>
              <a:rPr lang="en-US" sz="1600" u="sng" dirty="0"/>
              <a:t>c</a:t>
            </a:r>
            <a:r>
              <a:rPr lang="en-US" sz="1600" dirty="0"/>
              <a:t>)d(</a:t>
            </a:r>
            <a:r>
              <a:rPr lang="en-US" sz="1600" dirty="0" err="1"/>
              <a:t>cf</a:t>
            </a:r>
            <a:r>
              <a:rPr lang="en-US" sz="1600" dirty="0"/>
              <a:t>)&gt;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42" grpId="0" bldLvl="0" animBg="1"/>
      <p:bldP spid="9" grpId="0" bldLvl="0" animBg="1"/>
      <p:bldP spid="12" grpId="0" bldLvl="0" animBg="1"/>
      <p:bldP spid="13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271318"/>
            <a:ext cx="11785600" cy="75738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555" dirty="0"/>
              <a:t>PrefixSpan</a:t>
            </a:r>
            <a:r>
              <a:rPr lang="zh-CN" altLang="en-US" sz="3555" dirty="0"/>
              <a:t>：一种模式增长方法</a:t>
            </a:r>
            <a:endParaRPr lang="zh-CN" altLang="en-US" sz="3555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0" y="3200400"/>
            <a:ext cx="7784465" cy="3352800"/>
          </a:xfrm>
        </p:spPr>
        <p:txBody>
          <a:bodyPr/>
          <a:lstStyle/>
          <a:p>
            <a:pPr eaLnBrk="1" hangingPunct="1">
              <a:spcBef>
                <a:spcPts val="300"/>
              </a:spcBef>
            </a:pPr>
            <a:r>
              <a:rPr lang="zh-CN" altLang="en-US" sz="2000" dirty="0"/>
              <a:t>挖掘：前缀投影</a:t>
            </a:r>
            <a:endParaRPr lang="zh-CN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zh-CN" altLang="en-US" sz="2000" dirty="0"/>
              <a:t>第</a:t>
            </a:r>
            <a:r>
              <a:rPr lang="en-US" altLang="zh-CN" sz="2000" dirty="0"/>
              <a:t> 1 </a:t>
            </a:r>
            <a:r>
              <a:rPr lang="zh-CN" altLang="en-US" sz="2000" dirty="0"/>
              <a:t>步：找出长度为</a:t>
            </a:r>
            <a:r>
              <a:rPr lang="en-US" altLang="zh-CN" sz="2000" dirty="0"/>
              <a:t> 1 </a:t>
            </a:r>
            <a:r>
              <a:rPr lang="zh-CN" altLang="en-US" sz="2000" dirty="0"/>
              <a:t>的序列模式</a:t>
            </a:r>
            <a:endParaRPr lang="zh-CN" altLang="en-US" sz="2000" dirty="0"/>
          </a:p>
          <a:p>
            <a:pPr lvl="2" eaLnBrk="1" hangingPunct="1">
              <a:spcBef>
                <a:spcPts val="300"/>
              </a:spcBef>
            </a:pPr>
            <a:r>
              <a:rPr lang="en-US" altLang="en-US" sz="2000" dirty="0"/>
              <a:t>&lt;a&gt;, &lt;b&gt;, &lt;c&gt;, &lt;d&gt;, &lt;e&gt;, &lt;f&gt;</a:t>
            </a:r>
            <a:endParaRPr lang="en-US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zh-CN" altLang="en-US" sz="2000" dirty="0"/>
              <a:t>第</a:t>
            </a:r>
            <a:r>
              <a:rPr lang="en-US" altLang="zh-CN" sz="2000" dirty="0"/>
              <a:t> 2 </a:t>
            </a:r>
            <a:r>
              <a:rPr lang="zh-CN" altLang="en-US" sz="2000" dirty="0"/>
              <a:t>步：划分搜索空间并挖掘每个投影数据库</a:t>
            </a:r>
            <a:endParaRPr lang="zh-CN" altLang="en-US" sz="2000" dirty="0"/>
          </a:p>
          <a:p>
            <a:pPr lvl="2" eaLnBrk="1" hangingPunct="1">
              <a:spcBef>
                <a:spcPts val="300"/>
              </a:spcBef>
            </a:pPr>
            <a:r>
              <a:rPr lang="en-US" altLang="en-US" sz="2000" dirty="0"/>
              <a:t>&lt;a&gt;-projected DB,</a:t>
            </a:r>
            <a:endParaRPr lang="en-US" altLang="en-US" sz="2000" dirty="0"/>
          </a:p>
          <a:p>
            <a:pPr lvl="2" eaLnBrk="1" hangingPunct="1">
              <a:spcBef>
                <a:spcPts val="300"/>
              </a:spcBef>
            </a:pPr>
            <a:r>
              <a:rPr lang="en-US" altLang="en-US" sz="2000" dirty="0"/>
              <a:t>&lt;b&gt;-projected DB,</a:t>
            </a:r>
            <a:endParaRPr lang="en-US" altLang="en-US" sz="2000" dirty="0"/>
          </a:p>
          <a:p>
            <a:pPr lvl="2" eaLnBrk="1" hangingPunct="1">
              <a:spcBef>
                <a:spcPts val="300"/>
              </a:spcBef>
            </a:pPr>
            <a:r>
              <a:rPr lang="en-US" altLang="en-US" sz="2000" dirty="0"/>
              <a:t>…</a:t>
            </a:r>
            <a:endParaRPr lang="en-US" altLang="en-US" sz="2000" dirty="0"/>
          </a:p>
          <a:p>
            <a:pPr lvl="2" eaLnBrk="1" hangingPunct="1">
              <a:spcBef>
                <a:spcPts val="300"/>
              </a:spcBef>
            </a:pPr>
            <a:r>
              <a:rPr lang="en-US" altLang="en-US" sz="2000" dirty="0"/>
              <a:t>&lt;f&gt;-projected DB, …</a:t>
            </a:r>
            <a:endParaRPr lang="en-US" altLang="en-US" sz="200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438991" y="1297191"/>
            <a:ext cx="4470400" cy="213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8000" y="1295400"/>
          <a:ext cx="3048000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6545"/>
                <a:gridCol w="2401455"/>
              </a:tblGrid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)d(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20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&lt;(ad)c(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)(ae)&gt;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30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40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759200" y="1549281"/>
          <a:ext cx="3657600" cy="14777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016000"/>
                <a:gridCol w="2641600"/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前缀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后缀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(</a:t>
                      </a:r>
                      <a:r>
                        <a:rPr kumimoji="0" lang="zh-CN" altLang="en-US" sz="180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投影</a:t>
                      </a:r>
                      <a:r>
                        <a:rPr kumimoji="0" lang="en-US" sz="180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)</a:t>
                      </a:r>
                      <a:endParaRPr kumimoji="0" lang="en-US" sz="1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&lt;a&gt;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&lt;(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abc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)(ac)d(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cf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&lt;aa&gt;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&lt;(_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bc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)(ac)d(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cf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</a:tr>
              <a:tr h="37068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&lt;ab&gt;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&lt;(_c)(ac)d(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cf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700" marB="45700"/>
                </a:tc>
              </a:tr>
            </a:tbl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7439025" y="1270000"/>
            <a:ext cx="4549775" cy="252349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前缀和后缀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给出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&lt;a(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abc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)(ac)d(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cf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)&gt;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前缀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&lt;a&gt;, &lt;aa&gt;, &lt;a(ab)&gt;, &lt;a(</a:t>
            </a: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abc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)&gt;, …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后缀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基于前缀的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投影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52556" y="5222789"/>
            <a:ext cx="3739081" cy="119888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PrefixSpan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前缀投影序列模式挖掘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Pei, et al. @TKDE’04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ight Arrow 9"/>
          <p:cNvSpPr/>
          <p:nvPr/>
        </p:nvSpPr>
        <p:spPr>
          <a:xfrm rot="1450729">
            <a:off x="3393829" y="1782764"/>
            <a:ext cx="374563" cy="25224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59200" y="1187915"/>
            <a:ext cx="1342421" cy="369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2" name="Line 27"/>
          <p:cNvSpPr>
            <a:spLocks noChangeShapeType="1"/>
          </p:cNvSpPr>
          <p:nvPr/>
        </p:nvSpPr>
        <p:spPr bwMode="auto">
          <a:xfrm>
            <a:off x="5101621" y="3027044"/>
            <a:ext cx="2813019" cy="1038628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7931150" y="3896360"/>
            <a:ext cx="3660775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dirty="0"/>
              <a:t>“_” </a:t>
            </a:r>
            <a:r>
              <a:rPr lang="zh-CN" altLang="en-US" sz="1600" dirty="0"/>
              <a:t>是前缀的占位符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8"/>
          <p:cNvSpPr txBox="1">
            <a:spLocks noChangeArrowheads="1"/>
          </p:cNvSpPr>
          <p:nvPr/>
        </p:nvSpPr>
        <p:spPr bwMode="auto">
          <a:xfrm>
            <a:off x="1009651" y="3135314"/>
            <a:ext cx="1028065" cy="3683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前缀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&lt;a&gt;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555"/>
              <a:t>PrefixSpan: </a:t>
            </a:r>
            <a:r>
              <a:rPr lang="zh-CN" altLang="en-US" sz="3555"/>
              <a:t>挖掘前缀投影数据库</a:t>
            </a:r>
            <a:endParaRPr lang="zh-CN" altLang="en-US" sz="3555"/>
          </a:p>
        </p:txBody>
      </p:sp>
      <p:sp>
        <p:nvSpPr>
          <p:cNvPr id="11268" name="Text Box 24"/>
          <p:cNvSpPr txBox="1">
            <a:spLocks noChangeArrowheads="1"/>
          </p:cNvSpPr>
          <p:nvPr/>
        </p:nvSpPr>
        <p:spPr bwMode="auto">
          <a:xfrm>
            <a:off x="7518401" y="1784351"/>
            <a:ext cx="3002280" cy="706755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长度为</a:t>
            </a:r>
            <a:r>
              <a:rPr kumimoji="0" lang="en-US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</a:t>
            </a:r>
            <a:r>
              <a: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的序列模式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&lt;a&gt;, &lt;b&gt;, &lt;c&gt;, &lt;d&gt;, &lt;e&gt;, &lt;f&gt;</a:t>
            </a: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270" name="Line 27"/>
          <p:cNvSpPr>
            <a:spLocks noChangeShapeType="1"/>
          </p:cNvSpPr>
          <p:nvPr/>
        </p:nvSpPr>
        <p:spPr bwMode="auto">
          <a:xfrm flipH="1">
            <a:off x="2133600" y="2830286"/>
            <a:ext cx="1828800" cy="63840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271" name="Text Box 29"/>
          <p:cNvSpPr txBox="1">
            <a:spLocks noChangeArrowheads="1"/>
          </p:cNvSpPr>
          <p:nvPr/>
        </p:nvSpPr>
        <p:spPr bwMode="auto">
          <a:xfrm>
            <a:off x="323851" y="5410200"/>
            <a:ext cx="1708149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前缀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&lt;aa&gt;</a:t>
            </a: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272" name="Text Box 32"/>
          <p:cNvSpPr txBox="1">
            <a:spLocks noChangeArrowheads="1"/>
          </p:cNvSpPr>
          <p:nvPr/>
        </p:nvSpPr>
        <p:spPr bwMode="auto">
          <a:xfrm>
            <a:off x="2571752" y="5791200"/>
            <a:ext cx="436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…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1273" name="Text Box 35"/>
          <p:cNvSpPr txBox="1">
            <a:spLocks noChangeArrowheads="1"/>
          </p:cNvSpPr>
          <p:nvPr/>
        </p:nvSpPr>
        <p:spPr bwMode="auto">
          <a:xfrm>
            <a:off x="3751731" y="5402851"/>
            <a:ext cx="1096010" cy="3683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前缀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&lt;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af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&gt;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274" name="Text Box 37"/>
          <p:cNvSpPr txBox="1">
            <a:spLocks noChangeArrowheads="1"/>
          </p:cNvSpPr>
          <p:nvPr/>
        </p:nvSpPr>
        <p:spPr bwMode="auto">
          <a:xfrm>
            <a:off x="10049781" y="3656173"/>
            <a:ext cx="43633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…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1275" name="Text Box 40"/>
          <p:cNvSpPr txBox="1">
            <a:spLocks noChangeArrowheads="1"/>
          </p:cNvSpPr>
          <p:nvPr/>
        </p:nvSpPr>
        <p:spPr bwMode="auto">
          <a:xfrm>
            <a:off x="5348897" y="3101897"/>
            <a:ext cx="1524000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前缀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&lt;b&gt;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276" name="Text Box 41"/>
          <p:cNvSpPr txBox="1">
            <a:spLocks noChangeArrowheads="1"/>
          </p:cNvSpPr>
          <p:nvPr/>
        </p:nvSpPr>
        <p:spPr bwMode="auto">
          <a:xfrm>
            <a:off x="9220374" y="3286841"/>
            <a:ext cx="1687830" cy="3683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前缀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&lt;c&gt;, …, &lt;f&gt;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1279" name="Text Box 44"/>
          <p:cNvSpPr txBox="1">
            <a:spLocks noChangeArrowheads="1"/>
          </p:cNvSpPr>
          <p:nvPr/>
        </p:nvSpPr>
        <p:spPr bwMode="auto">
          <a:xfrm>
            <a:off x="7143751" y="4343400"/>
            <a:ext cx="7841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… …</a:t>
            </a: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064000" y="1295400"/>
          <a:ext cx="3048000" cy="1828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46545"/>
                <a:gridCol w="2401455"/>
              </a:tblGrid>
              <a:tr h="3200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&lt;a(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)d(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20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&lt;(ad)c(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)(ae)&gt;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30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800" b="0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40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)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cbc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95300" y="3505200"/>
          <a:ext cx="2590800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0800"/>
              </a:tblGrid>
              <a:tr h="344519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&lt;a&gt;-</a:t>
                      </a:r>
                      <a:r>
                        <a:rPr lang="zh-CN" altLang="en-US" sz="1800" u="sng" dirty="0">
                          <a:solidFill>
                            <a:schemeClr val="tx1"/>
                          </a:solidFill>
                          <a:sym typeface="+mn-ea"/>
                        </a:rPr>
                        <a:t>投影数据库</a:t>
                      </a:r>
                      <a:endParaRPr lang="en-US" altLang="en-US" sz="18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/>
                        <a:t>&lt;(</a:t>
                      </a:r>
                      <a:r>
                        <a:rPr lang="en-US" altLang="en-US" sz="1800" dirty="0" err="1"/>
                        <a:t>abc</a:t>
                      </a:r>
                      <a:r>
                        <a:rPr lang="en-US" altLang="en-US" sz="1800" dirty="0"/>
                        <a:t>)(ac)d(</a:t>
                      </a:r>
                      <a:r>
                        <a:rPr lang="en-US" altLang="en-US" sz="1800" dirty="0" err="1"/>
                        <a:t>cf</a:t>
                      </a:r>
                      <a:r>
                        <a:rPr lang="en-US" altLang="en-US" sz="1800" dirty="0"/>
                        <a:t>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/>
                        <a:t>&lt;(_d)c(</a:t>
                      </a:r>
                      <a:r>
                        <a:rPr lang="en-US" altLang="en-US" sz="1800" dirty="0" err="1"/>
                        <a:t>bc</a:t>
                      </a:r>
                      <a:r>
                        <a:rPr lang="en-US" altLang="en-US" sz="1800" dirty="0"/>
                        <a:t>)(ae)&gt;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/>
                        <a:t>&lt;(_b)(</a:t>
                      </a:r>
                      <a:r>
                        <a:rPr lang="en-US" altLang="en-US" sz="1800" dirty="0" err="1"/>
                        <a:t>df</a:t>
                      </a:r>
                      <a:r>
                        <a:rPr lang="en-US" altLang="en-US" sz="1800" dirty="0"/>
                        <a:t>)</a:t>
                      </a:r>
                      <a:r>
                        <a:rPr lang="en-US" altLang="en-US" sz="1800" dirty="0" err="1"/>
                        <a:t>cb</a:t>
                      </a:r>
                      <a:r>
                        <a:rPr lang="en-US" altLang="en-US" sz="1800" dirty="0"/>
                        <a:t>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/>
                        <a:t>&lt;(_f)</a:t>
                      </a:r>
                      <a:r>
                        <a:rPr lang="en-US" altLang="en-US" sz="1800" dirty="0" err="1"/>
                        <a:t>cbc</a:t>
                      </a:r>
                      <a:r>
                        <a:rPr lang="en-US" altLang="en-US" sz="1800" dirty="0"/>
                        <a:t>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</a:tbl>
          </a:graphicData>
        </a:graphic>
      </p:graphicFrame>
      <p:sp>
        <p:nvSpPr>
          <p:cNvPr id="11321" name="Line 27"/>
          <p:cNvSpPr>
            <a:spLocks noChangeShapeType="1"/>
          </p:cNvSpPr>
          <p:nvPr/>
        </p:nvSpPr>
        <p:spPr bwMode="auto">
          <a:xfrm>
            <a:off x="5072485" y="3045207"/>
            <a:ext cx="349623" cy="282437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22" name="Line 27"/>
          <p:cNvSpPr>
            <a:spLocks noChangeShapeType="1"/>
          </p:cNvSpPr>
          <p:nvPr/>
        </p:nvSpPr>
        <p:spPr bwMode="auto">
          <a:xfrm>
            <a:off x="7448550" y="2895600"/>
            <a:ext cx="2180642" cy="282437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137584" y="5894388"/>
          <a:ext cx="2590800" cy="3653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0800"/>
              </a:tblGrid>
              <a:tr h="3651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&lt;aa&gt;-</a:t>
                      </a:r>
                      <a:r>
                        <a:rPr lang="zh-CN" altLang="en-US" sz="1800" u="sng" dirty="0">
                          <a:solidFill>
                            <a:schemeClr val="tx1"/>
                          </a:solidFill>
                          <a:sym typeface="+mn-ea"/>
                        </a:rPr>
                        <a:t>投影数据库</a:t>
                      </a:r>
                      <a:endParaRPr lang="en-US" altLang="en-US" sz="18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503" marB="45503"/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3048000" y="5897563"/>
          <a:ext cx="2590800" cy="36532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90800"/>
              </a:tblGrid>
              <a:tr h="36512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&lt;</a:t>
                      </a:r>
                      <a:r>
                        <a:rPr lang="en-US" altLang="en-US" sz="1800" u="sng" dirty="0" err="1">
                          <a:solidFill>
                            <a:schemeClr val="tx1"/>
                          </a:solidFill>
                        </a:rPr>
                        <a:t>af</a:t>
                      </a: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&gt;-</a:t>
                      </a:r>
                      <a:r>
                        <a:rPr lang="zh-CN" altLang="en-US" sz="1800" u="sng" dirty="0">
                          <a:solidFill>
                            <a:schemeClr val="tx1"/>
                          </a:solidFill>
                          <a:sym typeface="+mn-ea"/>
                        </a:rPr>
                        <a:t>投影数据库</a:t>
                      </a:r>
                      <a:endParaRPr lang="en-US" altLang="en-US" sz="1800" b="0" u="sng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503" marB="45503"/>
                </a:tc>
              </a:tr>
            </a:tbl>
          </a:graphicData>
        </a:graphic>
      </p:graphicFrame>
      <p:sp>
        <p:nvSpPr>
          <p:cNvPr id="11335" name="Line 27"/>
          <p:cNvSpPr>
            <a:spLocks noChangeShapeType="1"/>
          </p:cNvSpPr>
          <p:nvPr/>
        </p:nvSpPr>
        <p:spPr bwMode="auto">
          <a:xfrm flipH="1">
            <a:off x="1524000" y="5286375"/>
            <a:ext cx="304800" cy="611188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36" name="Line 27"/>
          <p:cNvSpPr>
            <a:spLocks noChangeShapeType="1"/>
          </p:cNvSpPr>
          <p:nvPr/>
        </p:nvSpPr>
        <p:spPr bwMode="auto">
          <a:xfrm>
            <a:off x="2184400" y="5286375"/>
            <a:ext cx="2237317" cy="611188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 bwMode="auto">
          <a:xfrm>
            <a:off x="7143750" y="4884420"/>
            <a:ext cx="4610735" cy="1842135"/>
          </a:xfrm>
          <a:prstGeom prst="rect">
            <a:avLst/>
          </a:prstGeom>
          <a:solidFill>
            <a:srgbClr val="CCFFCC"/>
          </a:solidFill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PrefixSpan</a:t>
            </a:r>
            <a:r>
              <a:rPr kumimoji="0" lang="zh-CN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的优势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无需生成候选子序列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8C8C8C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投影数据库不断缩小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18400" y="1337710"/>
            <a:ext cx="1342421" cy="369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min_sup</a:t>
            </a: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= 2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4940933" y="3480629"/>
          <a:ext cx="2177924" cy="18288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177924"/>
              </a:tblGrid>
              <a:tr h="3593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u="sng" dirty="0">
                          <a:solidFill>
                            <a:schemeClr val="tx1"/>
                          </a:solidFill>
                        </a:rPr>
                        <a:t>&lt;b&gt;-</a:t>
                      </a:r>
                      <a:r>
                        <a:rPr lang="zh-CN" altLang="en-US" sz="1800" u="sng" dirty="0">
                          <a:solidFill>
                            <a:schemeClr val="tx1"/>
                          </a:solidFill>
                        </a:rPr>
                        <a:t>投影数据库</a:t>
                      </a:r>
                      <a:endParaRPr lang="zh-CN" altLang="en-US" sz="1800" u="sng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/>
                </a:tc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/>
                        <a:t>&lt;(_c)(ac)d(</a:t>
                      </a:r>
                      <a:r>
                        <a:rPr lang="en-US" altLang="en-US" sz="1800" dirty="0" err="1"/>
                        <a:t>cf</a:t>
                      </a:r>
                      <a:r>
                        <a:rPr lang="en-US" altLang="en-US" sz="1800" dirty="0"/>
                        <a:t>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/>
                        <a:t>&lt;(_c)(ae)&gt;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/>
                        <a:t>&lt;(</a:t>
                      </a:r>
                      <a:r>
                        <a:rPr lang="en-US" altLang="en-US" sz="1800" dirty="0" err="1"/>
                        <a:t>df</a:t>
                      </a:r>
                      <a:r>
                        <a:rPr lang="en-US" altLang="en-US" sz="1800" dirty="0"/>
                        <a:t>)</a:t>
                      </a:r>
                      <a:r>
                        <a:rPr lang="en-US" altLang="en-US" sz="1800" dirty="0" err="1"/>
                        <a:t>cb</a:t>
                      </a:r>
                      <a:r>
                        <a:rPr lang="en-US" altLang="en-US" sz="1800" dirty="0"/>
                        <a:t>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445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800" dirty="0"/>
                        <a:t>&lt;c&gt;</a:t>
                      </a:r>
                      <a:endParaRPr lang="en-US" alt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</a:tbl>
          </a:graphicData>
        </a:graphic>
      </p:graphicFrame>
      <p:sp>
        <p:nvSpPr>
          <p:cNvPr id="2" name="Text Box 26"/>
          <p:cNvSpPr txBox="1">
            <a:spLocks noChangeArrowheads="1"/>
          </p:cNvSpPr>
          <p:nvPr/>
        </p:nvSpPr>
        <p:spPr bwMode="auto">
          <a:xfrm>
            <a:off x="2469515" y="4144010"/>
            <a:ext cx="2184400" cy="922020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/>
              <a:t>长度为</a:t>
            </a:r>
            <a:r>
              <a:rPr lang="en-US" altLang="zh-CN" sz="1800" dirty="0"/>
              <a:t>2</a:t>
            </a:r>
            <a:r>
              <a:rPr lang="zh-CN" altLang="en-US" sz="1800" dirty="0"/>
              <a:t>的序列模式</a:t>
            </a:r>
            <a:r>
              <a:rPr lang="en-US" altLang="en-US" sz="1800" dirty="0"/>
              <a:t>&lt;aa&gt;, &lt;ab&gt;, &lt;(ab)&gt;,</a:t>
            </a: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&lt;ac&gt;, &lt;ad&gt;, &lt;</a:t>
            </a:r>
            <a:r>
              <a:rPr lang="en-US" altLang="en-US" sz="1800" dirty="0" err="1"/>
              <a:t>af</a:t>
            </a:r>
            <a:r>
              <a:rPr lang="en-US" altLang="en-US" sz="1800" dirty="0"/>
              <a:t>&gt;</a:t>
            </a:r>
            <a:endParaRPr lang="en-US" alt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/>
      <p:bldP spid="11268" grpId="0" bldLvl="0" animBg="1"/>
      <p:bldP spid="11270" grpId="0" animBg="1"/>
      <p:bldP spid="11271" grpId="0"/>
      <p:bldP spid="11272" grpId="0"/>
      <p:bldP spid="11273" grpId="0"/>
      <p:bldP spid="11274" grpId="0"/>
      <p:bldP spid="11275" grpId="0"/>
      <p:bldP spid="11276" grpId="0"/>
      <p:bldP spid="11279" grpId="0"/>
      <p:bldP spid="11321" grpId="0" animBg="1"/>
      <p:bldP spid="11322" grpId="0" animBg="1"/>
      <p:bldP spid="11335" grpId="0" animBg="1"/>
      <p:bldP spid="11336" grpId="0" animBg="1"/>
      <p:bldP spid="37" grpId="0" bldLvl="0" animBg="1"/>
      <p:bldP spid="26" grpId="0" animBg="1"/>
      <p:bldP spid="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20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/>
              <a:t>现</a:t>
            </a:r>
            <a:r>
              <a:rPr lang="zh-CN" altLang="en-US"/>
              <a:t>实考量：伪投影</a:t>
            </a:r>
            <a:r>
              <a:rPr lang="en-US" altLang="zh-CN"/>
              <a:t> vs. </a:t>
            </a:r>
            <a:r>
              <a:rPr lang="zh-CN" altLang="en-US"/>
              <a:t>物理投影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151255"/>
            <a:ext cx="11706225" cy="144780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000" dirty="0" err="1"/>
              <a:t>PrefixSpan</a:t>
            </a:r>
            <a:r>
              <a:rPr lang="zh-CN" altLang="en-US" sz="2000" dirty="0"/>
              <a:t>的主要成本：构建投影数据库</a:t>
            </a:r>
            <a:endParaRPr lang="zh-CN" altLang="en-US" sz="20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000" dirty="0"/>
              <a:t>后缀在递归投影数据库中大量重复</a:t>
            </a:r>
            <a:endParaRPr lang="zh-CN" altLang="en-US" sz="2000" dirty="0"/>
          </a:p>
          <a:p>
            <a:pPr eaLnBrk="1" hangingPunct="1">
              <a:spcAft>
                <a:spcPts val="600"/>
              </a:spcAft>
            </a:pPr>
            <a:r>
              <a:rPr lang="en-US" altLang="en-US" sz="2000" dirty="0"/>
              <a:t> </a:t>
            </a:r>
            <a:r>
              <a:rPr lang="zh-CN" altLang="en-US" sz="2000" dirty="0"/>
              <a:t>当数据库可以放入主内存时，使用伪投影</a:t>
            </a:r>
            <a:endParaRPr lang="zh-CN" altLang="en-US" sz="2000" dirty="0"/>
          </a:p>
        </p:txBody>
      </p:sp>
      <p:grpSp>
        <p:nvGrpSpPr>
          <p:cNvPr id="2" name="Group 1"/>
          <p:cNvGrpSpPr/>
          <p:nvPr/>
        </p:nvGrpSpPr>
        <p:grpSpPr>
          <a:xfrm>
            <a:off x="6494865" y="3294624"/>
            <a:ext cx="5251056" cy="2662943"/>
            <a:chOff x="4038600" y="3634921"/>
            <a:chExt cx="3938292" cy="2700688"/>
          </a:xfrm>
          <a:solidFill>
            <a:schemeClr val="accent2">
              <a:lumMod val="20000"/>
              <a:lumOff val="80000"/>
            </a:schemeClr>
          </a:solidFill>
        </p:grpSpPr>
        <p:grpSp>
          <p:nvGrpSpPr>
            <p:cNvPr id="17412" name="Group 1"/>
            <p:cNvGrpSpPr/>
            <p:nvPr/>
          </p:nvGrpSpPr>
          <p:grpSpPr bwMode="auto">
            <a:xfrm>
              <a:off x="4038600" y="3962400"/>
              <a:ext cx="3938292" cy="2373209"/>
              <a:chOff x="4038600" y="3962400"/>
              <a:chExt cx="3938292" cy="2373209"/>
            </a:xfrm>
            <a:grpFill/>
          </p:grpSpPr>
          <p:sp>
            <p:nvSpPr>
              <p:cNvPr id="17413" name="Text Box 4"/>
              <p:cNvSpPr txBox="1">
                <a:spLocks noChangeArrowheads="1"/>
              </p:cNvSpPr>
              <p:nvPr/>
            </p:nvSpPr>
            <p:spPr bwMode="auto">
              <a:xfrm>
                <a:off x="5791200" y="3962400"/>
                <a:ext cx="2037817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s = &lt;a(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abc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)(ac)d(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cf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)&gt;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14" name="Text Box 5"/>
              <p:cNvSpPr txBox="1">
                <a:spLocks noChangeArrowheads="1"/>
              </p:cNvSpPr>
              <p:nvPr/>
            </p:nvSpPr>
            <p:spPr bwMode="auto">
              <a:xfrm>
                <a:off x="6096000" y="4876800"/>
                <a:ext cx="1618232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&lt;(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abc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)(ac)d(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cf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)&gt;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15" name="Text Box 6"/>
              <p:cNvSpPr txBox="1">
                <a:spLocks noChangeArrowheads="1"/>
              </p:cNvSpPr>
              <p:nvPr/>
            </p:nvSpPr>
            <p:spPr bwMode="auto">
              <a:xfrm>
                <a:off x="6172200" y="5867400"/>
                <a:ext cx="1501613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&lt;(_c)(ac)d(</a:t>
                </a:r>
                <a:r>
                  <a:rPr kumimoji="0" lang="en-US" altLang="en-US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cf</a:t>
                </a: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)&gt;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16" name="Line 7"/>
              <p:cNvSpPr>
                <a:spLocks noChangeShapeType="1"/>
              </p:cNvSpPr>
              <p:nvPr/>
            </p:nvSpPr>
            <p:spPr bwMode="auto">
              <a:xfrm>
                <a:off x="7315200" y="4495800"/>
                <a:ext cx="0" cy="38100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miter lim="800000"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17" name="Line 8"/>
              <p:cNvSpPr>
                <a:spLocks noChangeShapeType="1"/>
              </p:cNvSpPr>
              <p:nvPr/>
            </p:nvSpPr>
            <p:spPr bwMode="auto">
              <a:xfrm>
                <a:off x="7315200" y="5486400"/>
                <a:ext cx="0" cy="381000"/>
              </a:xfrm>
              <a:prstGeom prst="line">
                <a:avLst/>
              </a:prstGeom>
              <a:grpFill/>
              <a:ln w="9525">
                <a:solidFill>
                  <a:schemeClr val="tx1"/>
                </a:solidFill>
                <a:miter lim="800000"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18" name="Text Box 9"/>
              <p:cNvSpPr txBox="1">
                <a:spLocks noChangeArrowheads="1"/>
              </p:cNvSpPr>
              <p:nvPr/>
            </p:nvSpPr>
            <p:spPr bwMode="auto">
              <a:xfrm>
                <a:off x="7385050" y="4376738"/>
                <a:ext cx="479939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&lt;a&gt;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19" name="Text Box 10"/>
              <p:cNvSpPr txBox="1">
                <a:spLocks noChangeArrowheads="1"/>
              </p:cNvSpPr>
              <p:nvPr/>
            </p:nvSpPr>
            <p:spPr bwMode="auto">
              <a:xfrm>
                <a:off x="7375525" y="5367338"/>
                <a:ext cx="601367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&lt;ab&gt;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20" name="Text Box 11"/>
              <p:cNvSpPr txBox="1">
                <a:spLocks noChangeArrowheads="1"/>
              </p:cNvSpPr>
              <p:nvPr/>
            </p:nvSpPr>
            <p:spPr bwMode="auto">
              <a:xfrm>
                <a:off x="4191000" y="4876800"/>
                <a:ext cx="1206100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s|&lt;a&gt;: ( , 2)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21" name="Line 12"/>
              <p:cNvSpPr>
                <a:spLocks noChangeShapeType="1"/>
              </p:cNvSpPr>
              <p:nvPr/>
            </p:nvSpPr>
            <p:spPr bwMode="auto">
              <a:xfrm flipV="1">
                <a:off x="5486400" y="4376738"/>
                <a:ext cx="457200" cy="728662"/>
              </a:xfrm>
              <a:prstGeom prst="line">
                <a:avLst/>
              </a:prstGeom>
              <a:grpFill/>
              <a:ln w="9525">
                <a:solidFill>
                  <a:schemeClr val="hlink"/>
                </a:solidFill>
                <a:miter lim="800000"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22" name="Text Box 13"/>
              <p:cNvSpPr txBox="1">
                <a:spLocks noChangeArrowheads="1"/>
              </p:cNvSpPr>
              <p:nvPr/>
            </p:nvSpPr>
            <p:spPr bwMode="auto">
              <a:xfrm>
                <a:off x="4038600" y="5867400"/>
                <a:ext cx="1327527" cy="46820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ts val="6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 eaLnBrk="0" hangingPunct="0">
                  <a:spcBef>
                    <a:spcPts val="6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 eaLnBrk="0" hangingPunct="0">
                  <a:spcBef>
                    <a:spcPts val="6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 eaLnBrk="0" hangingPunct="0">
                  <a:spcBef>
                    <a:spcPts val="6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 eaLnBrk="0" hangingPunct="0">
                  <a:spcBef>
                    <a:spcPts val="6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+mn-ea"/>
                    <a:cs typeface="+mn-cs"/>
                  </a:rPr>
                  <a:t>s|&lt;ab&gt;: ( , 5)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  <p:sp>
            <p:nvSpPr>
              <p:cNvPr id="17423" name="Line 14"/>
              <p:cNvSpPr>
                <a:spLocks noChangeShapeType="1"/>
              </p:cNvSpPr>
              <p:nvPr/>
            </p:nvSpPr>
            <p:spPr bwMode="auto">
              <a:xfrm flipV="1">
                <a:off x="5486400" y="4376738"/>
                <a:ext cx="457200" cy="1795462"/>
              </a:xfrm>
              <a:prstGeom prst="line">
                <a:avLst/>
              </a:prstGeom>
              <a:grpFill/>
              <a:ln w="9525">
                <a:solidFill>
                  <a:srgbClr val="00B050"/>
                </a:solidFill>
                <a:miter lim="800000"/>
                <a:tailEnd type="triangle" w="med" len="med"/>
              </a:ln>
            </p:spPr>
            <p:txBody>
              <a:bodyPr/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+mn-ea"/>
                  <a:cs typeface="+mn-cs"/>
                </a:endParaRPr>
              </a:p>
            </p:txBody>
          </p:sp>
        </p:grp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6434965" y="3634921"/>
              <a:ext cx="0" cy="414338"/>
            </a:xfrm>
            <a:prstGeom prst="line">
              <a:avLst/>
            </a:prstGeom>
            <a:grpFill/>
            <a:ln w="9525">
              <a:solidFill>
                <a:schemeClr val="hlink"/>
              </a:solidFill>
              <a:miter lim="800000"/>
              <a:tailEnd type="triangle" w="med" len="med"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  <p:sp>
          <p:nvSpPr>
            <p:cNvPr id="18" name="Line 12"/>
            <p:cNvSpPr>
              <a:spLocks noChangeShapeType="1"/>
            </p:cNvSpPr>
            <p:nvPr/>
          </p:nvSpPr>
          <p:spPr bwMode="auto">
            <a:xfrm>
              <a:off x="6747644" y="3666898"/>
              <a:ext cx="0" cy="414338"/>
            </a:xfrm>
            <a:prstGeom prst="line">
              <a:avLst/>
            </a:prstGeom>
            <a:grpFill/>
            <a:ln w="9525">
              <a:solidFill>
                <a:srgbClr val="00B050"/>
              </a:solidFill>
              <a:miter lim="800000"/>
              <a:tailEnd type="triangle" w="med" len="med"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469976" y="2621540"/>
            <a:ext cx="8652277" cy="389536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不物理复制后缀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使用指向序列的指针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后缀的偏移量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如果不适合放入内存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则使用物理投影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建议的方法：</a:t>
            </a: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物理和伪投影的集成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当数据可容纳在内存中时，切换到伪投影器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Box 41"/>
          <p:cNvSpPr txBox="1">
            <a:spLocks noChangeArrowheads="1"/>
          </p:cNvSpPr>
          <p:nvPr/>
        </p:nvSpPr>
        <p:spPr bwMode="auto">
          <a:xfrm>
            <a:off x="9536430" y="2988822"/>
            <a:ext cx="853439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2      5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9472739" y="2749837"/>
            <a:ext cx="1402080" cy="33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指针节省</a:t>
            </a:r>
            <a:r>
              <a:rPr lang="zh-CN" altLang="en-US" sz="1600" dirty="0">
                <a:solidFill>
                  <a:srgbClr val="000000"/>
                </a:solidFill>
                <a:latin typeface="Tahoma" panose="020B0604030504040204" pitchFamily="34" charset="0"/>
              </a:rPr>
              <a:t>内存</a:t>
            </a:r>
            <a:endParaRPr lang="zh-CN" altLang="en-US" sz="16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121920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/>
              <a:t>GSP</a:t>
            </a:r>
            <a:r>
              <a:rPr lang="zh-CN" altLang="en-US"/>
              <a:t>与</a:t>
            </a:r>
            <a:r>
              <a:rPr lang="en-US" altLang="zh-CN"/>
              <a:t>PrefixSpan</a:t>
            </a:r>
            <a:r>
              <a:rPr lang="zh-CN" altLang="en-US"/>
              <a:t>的</a:t>
            </a:r>
            <a:r>
              <a:rPr lang="zh-CN" altLang="en-US"/>
              <a:t>对比</a:t>
            </a: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151255"/>
            <a:ext cx="11706225" cy="1031240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sz="2000" dirty="0" err="1"/>
              <a:t>GSP</a:t>
            </a:r>
            <a:r>
              <a:rPr lang="zh-CN" altLang="en-US" sz="2000" dirty="0" err="1"/>
              <a:t>的本质</a:t>
            </a:r>
            <a:r>
              <a:rPr lang="zh-CN" altLang="en-US" sz="2000" dirty="0"/>
              <a:t>：基于水平布局的宽度优先搜索（</a:t>
            </a:r>
            <a:r>
              <a:rPr lang="en-US" altLang="zh-CN" sz="2000" dirty="0"/>
              <a:t>BFS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pPr lvl="1" eaLnBrk="1" hangingPunct="1">
              <a:spcAft>
                <a:spcPts val="600"/>
              </a:spcAft>
            </a:pPr>
            <a:r>
              <a:rPr lang="zh-CN" altLang="en-US" sz="2000" dirty="0">
                <a:sym typeface="+mn-ea"/>
              </a:rPr>
              <a:t>瓶颈在于多次扫描数据库和生成海量候选集</a:t>
            </a:r>
            <a:endParaRPr lang="zh-CN" altLang="en-US" sz="2000" dirty="0"/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469900" y="2621280"/>
            <a:ext cx="5865495" cy="389509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2280" indent="-4622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505" indent="-5384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9155" indent="-4749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905" indent="-52260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680" indent="-508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0" lvl="0" indent="-4622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PrefixSpan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的本质：深度优先搜索（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DFS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738505" marR="0" lvl="1" indent="-53848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通过投影数据库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，它将搜索空间物理或逻辑地划分为不相交的子集，这在本质上是一种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分而治之</a:t>
            </a: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的递归策略。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建议的方法：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14" name="Object 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7518400" y="4576764"/>
          <a:ext cx="4470400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hoto Editor Photo" r:id="rId1" imgW="11001375" imgH="5457825" progId="MSPhotoEd.3">
                  <p:embed/>
                </p:oleObj>
              </mc:Choice>
              <mc:Fallback>
                <p:oleObj name="Photo Editor Photo" r:id="rId1" imgW="11001375" imgH="5457825" progId="MSPhotoEd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18400" y="4576764"/>
                        <a:ext cx="4470400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414685" y="2590800"/>
          <a:ext cx="4777316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Photo Editor Photo" r:id="rId3" imgW="10487025" imgH="5400675" progId="MSPhotoEd.3">
                  <p:embed/>
                </p:oleObj>
              </mc:Choice>
              <mc:Fallback>
                <p:oleObj name="Photo Editor Photo" r:id="rId3" imgW="10487025" imgH="5400675" progId="MSPhotoEd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4685" y="2590800"/>
                        <a:ext cx="4777316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09600"/>
          </a:xfrm>
          <a:noFill/>
        </p:spPr>
        <p:txBody>
          <a:bodyPr lIns="92075" tIns="46038" rIns="92075" bIns="46038" anchor="ctr">
            <a:normAutofit/>
          </a:bodyPr>
          <a:lstStyle/>
          <a:p>
            <a:pPr eaLnBrk="1" hangingPunct="1"/>
            <a:r>
              <a:rPr lang="en-US" altLang="en-US" sz="3555" dirty="0" err="1"/>
              <a:t>CloSpan</a:t>
            </a:r>
            <a:r>
              <a:rPr lang="en-US" altLang="en-US" sz="3555" dirty="0"/>
              <a:t>: </a:t>
            </a:r>
            <a:r>
              <a:rPr lang="zh-CN" altLang="en-US" sz="3555" dirty="0"/>
              <a:t>挖掘闭合序列模式</a:t>
            </a:r>
            <a:endParaRPr lang="zh-CN" altLang="en-US" sz="3555" dirty="0"/>
          </a:p>
        </p:txBody>
      </p:sp>
      <p:sp>
        <p:nvSpPr>
          <p:cNvPr id="1331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171072"/>
            <a:ext cx="11277600" cy="14478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dirty="0"/>
              <a:t> </a:t>
            </a:r>
            <a:r>
              <a:rPr lang="zh-CN" altLang="en-US" dirty="0">
                <a:solidFill>
                  <a:srgbClr val="FF0000"/>
                </a:solidFill>
              </a:rPr>
              <a:t>闭合序列模式</a:t>
            </a:r>
            <a:r>
              <a:rPr lang="en-US" altLang="zh-CN" dirty="0"/>
              <a:t> s</a:t>
            </a:r>
            <a:r>
              <a:rPr lang="zh-CN" altLang="en-US" dirty="0"/>
              <a:t>：不存在超模式</a:t>
            </a:r>
            <a:r>
              <a:rPr lang="en-US" altLang="zh-CN" dirty="0"/>
              <a:t> s' </a:t>
            </a:r>
            <a:r>
              <a:rPr lang="zh-CN" altLang="en-US" dirty="0"/>
              <a:t>使得</a:t>
            </a:r>
            <a:r>
              <a:rPr lang="en-US" altLang="zh-CN" dirty="0"/>
              <a:t> s' </a:t>
            </a:r>
            <a:r>
              <a:rPr lang="zh-CN" altLang="en-US" dirty="0"/>
              <a:t>包含</a:t>
            </a:r>
            <a:r>
              <a:rPr lang="en-US" altLang="zh-CN" dirty="0"/>
              <a:t> s</a:t>
            </a:r>
            <a:r>
              <a:rPr lang="zh-CN" altLang="en-US" dirty="0"/>
              <a:t>，且</a:t>
            </a:r>
            <a:r>
              <a:rPr lang="en-US" altLang="zh-CN" dirty="0"/>
              <a:t> s' </a:t>
            </a:r>
            <a:r>
              <a:rPr lang="zh-CN" altLang="en-US" dirty="0"/>
              <a:t>与</a:t>
            </a:r>
            <a:r>
              <a:rPr lang="en-US" altLang="zh-CN" dirty="0"/>
              <a:t> s </a:t>
            </a:r>
            <a:r>
              <a:rPr lang="zh-CN" altLang="en-US" dirty="0"/>
              <a:t>具有相同的支持度</a:t>
            </a:r>
            <a:endParaRPr lang="zh-CN" altLang="en-US" dirty="0"/>
          </a:p>
          <a:p>
            <a:pPr eaLnBrk="1" hangingPunct="1">
              <a:lnSpc>
                <a:spcPct val="110000"/>
              </a:lnSpc>
            </a:pPr>
            <a:r>
              <a:rPr lang="zh-CN" altLang="en-US" dirty="0"/>
              <a:t>哪一个是闭合序列</a:t>
            </a:r>
            <a:r>
              <a:rPr lang="en-US" altLang="en-US" dirty="0"/>
              <a:t>?  &lt;</a:t>
            </a:r>
            <a:r>
              <a:rPr lang="en-US" altLang="en-US" dirty="0" err="1"/>
              <a:t>abc</a:t>
            </a:r>
            <a:r>
              <a:rPr lang="en-US" altLang="en-US" dirty="0"/>
              <a:t>&gt;: 20, &lt;</a:t>
            </a:r>
            <a:r>
              <a:rPr lang="en-US" altLang="en-US" dirty="0" err="1"/>
              <a:t>abcd</a:t>
            </a:r>
            <a:r>
              <a:rPr lang="en-US" altLang="en-US" dirty="0"/>
              <a:t>&gt;:20, &lt;</a:t>
            </a:r>
            <a:r>
              <a:rPr lang="en-US" altLang="en-US" dirty="0" err="1"/>
              <a:t>abcde</a:t>
            </a:r>
            <a:r>
              <a:rPr lang="en-US" altLang="en-US" dirty="0"/>
              <a:t>&gt;: 15 </a:t>
            </a:r>
            <a:endParaRPr lang="en-US" altLang="en-US" dirty="0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06400" y="2461895"/>
            <a:ext cx="7247890" cy="4246880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630" indent="-3416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405" indent="-3733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3130" indent="-2908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95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dirty="0">
                <a:sym typeface="+mn-ea"/>
              </a:rPr>
              <a:t>为什么要直接挖掘闭合序列模式？</a:t>
            </a:r>
            <a:endParaRPr lang="en-US" altLang="en-US" kern="0" dirty="0"/>
          </a:p>
          <a:p>
            <a:pPr lvl="1">
              <a:defRPr/>
            </a:pPr>
            <a:r>
              <a:rPr lang="zh-CN" altLang="en-US" kern="0" dirty="0"/>
              <a:t>减少（冗余）模式的数量</a:t>
            </a:r>
            <a:endParaRPr lang="zh-CN" altLang="en-US" kern="0" dirty="0"/>
          </a:p>
          <a:p>
            <a:pPr lvl="1">
              <a:defRPr/>
            </a:pPr>
            <a:r>
              <a:rPr lang="zh-CN" altLang="en-US" kern="0" dirty="0"/>
              <a:t>达到相同的表达能力</a:t>
            </a:r>
            <a:endParaRPr lang="zh-CN" altLang="en-US" kern="0" dirty="0"/>
          </a:p>
          <a:p>
            <a:pPr>
              <a:defRPr/>
            </a:pPr>
            <a:r>
              <a:rPr lang="zh-CN" altLang="en-US" kern="0" dirty="0">
                <a:solidFill>
                  <a:schemeClr val="tx1"/>
                </a:solidFill>
              </a:rPr>
              <a:t>性质</a:t>
            </a:r>
            <a:r>
              <a:rPr lang="en-US" altLang="zh-CN" kern="0" dirty="0">
                <a:solidFill>
                  <a:schemeClr val="tx1"/>
                </a:solidFill>
              </a:rPr>
              <a:t> P</a:t>
            </a:r>
            <a:r>
              <a:rPr lang="zh-CN" altLang="en-US" kern="0" dirty="0">
                <a:solidFill>
                  <a:schemeClr val="tx1"/>
                </a:solidFill>
              </a:rPr>
              <a:t>：如果</a:t>
            </a:r>
            <a:r>
              <a:rPr lang="en-US" altLang="zh-CN" kern="0" dirty="0">
                <a:solidFill>
                  <a:schemeClr val="tx1"/>
                </a:solidFill>
              </a:rPr>
              <a:t> s </a:t>
            </a:r>
            <a:r>
              <a:rPr lang="zh-CN" altLang="en-US" kern="0" dirty="0">
                <a:solidFill>
                  <a:schemeClr val="tx1"/>
                </a:solidFill>
              </a:rPr>
              <a:t>是</a:t>
            </a:r>
            <a:r>
              <a:rPr lang="en-US" altLang="zh-CN" kern="0" dirty="0">
                <a:solidFill>
                  <a:schemeClr val="tx1"/>
                </a:solidFill>
              </a:rPr>
              <a:t> s' </a:t>
            </a:r>
            <a:r>
              <a:rPr lang="zh-CN" altLang="en-US" kern="0" dirty="0">
                <a:solidFill>
                  <a:schemeClr val="tx1"/>
                </a:solidFill>
              </a:rPr>
              <a:t>的子序列，当且仅当两个投影数据库的大小时，</a:t>
            </a:r>
            <a:r>
              <a:rPr lang="en-US" altLang="zh-CN" kern="0" dirty="0">
                <a:solidFill>
                  <a:schemeClr val="tx1"/>
                </a:solidFill>
              </a:rPr>
              <a:t>s </a:t>
            </a:r>
            <a:r>
              <a:rPr lang="zh-CN" altLang="en-US" kern="0" dirty="0">
                <a:solidFill>
                  <a:schemeClr val="tx1"/>
                </a:solidFill>
              </a:rPr>
              <a:t>的投影数据库</a:t>
            </a:r>
            <a:r>
              <a:rPr lang="en-US" altLang="zh-CN" kern="0" dirty="0">
                <a:solidFill>
                  <a:schemeClr val="tx1"/>
                </a:solidFill>
              </a:rPr>
              <a:t> = s' </a:t>
            </a:r>
            <a:r>
              <a:rPr lang="zh-CN" altLang="en-US" kern="0" dirty="0">
                <a:solidFill>
                  <a:schemeClr val="tx1"/>
                </a:solidFill>
              </a:rPr>
              <a:t>的投影数据库</a:t>
            </a:r>
            <a:endParaRPr lang="zh-CN" altLang="en-US" kern="0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zh-CN" altLang="en-US" kern="0" dirty="0"/>
              <a:t>探索后向子模式和后向超模式剪枝以减少冗余搜索空间</a:t>
            </a:r>
            <a:endParaRPr lang="zh-CN" altLang="en-US" kern="0" dirty="0"/>
          </a:p>
          <a:p>
            <a:pPr>
              <a:defRPr/>
            </a:pPr>
            <a:r>
              <a:rPr lang="zh-CN" altLang="en-US" kern="0" dirty="0"/>
              <a:t>显著提高效率</a:t>
            </a:r>
            <a:r>
              <a:rPr lang="en-US" altLang="en-US" kern="0" dirty="0"/>
              <a:t> </a:t>
            </a:r>
            <a:r>
              <a:rPr lang="en-US" altLang="en-US" dirty="0"/>
              <a:t>(Yan, et al., SDM’03)</a:t>
            </a:r>
            <a:endParaRPr lang="en-US" altLang="en-US" dirty="0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41379" y="3119691"/>
          <a:ext cx="132461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4618"/>
              </a:tblGrid>
              <a:tr h="2420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efbcg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CCFF66"/>
                    </a:solidFill>
                  </a:tcPr>
                </a:tc>
              </a:tr>
              <a:tr h="327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fegb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CCFF66"/>
                    </a:solidFill>
                  </a:tcPr>
                </a:tc>
              </a:tr>
              <a:tr h="255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fea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CCFF6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6"/>
          <p:cNvGraphicFramePr>
            <a:graphicFrameLocks noGrp="1" noChangeAspect="1"/>
          </p:cNvGraphicFramePr>
          <p:nvPr/>
        </p:nvGraphicFramePr>
        <p:xfrm>
          <a:off x="681527" y="4875334"/>
          <a:ext cx="4060854" cy="197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hoto Editor Photo" r:id="rId1" imgW="11001375" imgH="5457825" progId="MSPhotoEd.3">
                  <p:embed/>
                </p:oleObj>
              </mc:Choice>
              <mc:Fallback>
                <p:oleObj name="Photo Editor Photo" r:id="rId1" imgW="11001375" imgH="5457825" progId="MSPhotoEd.3">
                  <p:embed/>
                  <p:pic>
                    <p:nvPicPr>
                      <p:cNvPr id="0" name="Object 6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527" y="4875334"/>
                        <a:ext cx="4060854" cy="197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40"/>
          <p:cNvSpPr txBox="1">
            <a:spLocks noChangeArrowheads="1"/>
          </p:cNvSpPr>
          <p:nvPr/>
        </p:nvSpPr>
        <p:spPr bwMode="auto">
          <a:xfrm>
            <a:off x="9213798" y="2777459"/>
            <a:ext cx="560914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&lt;e&gt;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11266" name="Text Box 28"/>
          <p:cNvSpPr txBox="1">
            <a:spLocks noChangeArrowheads="1"/>
          </p:cNvSpPr>
          <p:nvPr/>
        </p:nvSpPr>
        <p:spPr bwMode="auto">
          <a:xfrm>
            <a:off x="7419646" y="2789829"/>
            <a:ext cx="526106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&lt;a&gt;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-6402" y="206191"/>
            <a:ext cx="12192000" cy="762000"/>
          </a:xfrm>
        </p:spPr>
        <p:txBody>
          <a:bodyPr>
            <a:normAutofit/>
          </a:bodyPr>
          <a:lstStyle/>
          <a:p>
            <a:r>
              <a:rPr lang="en-US" altLang="en-US" dirty="0" err="1"/>
              <a:t>CloSpan</a:t>
            </a:r>
            <a:r>
              <a:rPr lang="en-US" altLang="en-US" dirty="0"/>
              <a:t>: </a:t>
            </a:r>
            <a:r>
              <a:rPr lang="zh-CN" altLang="en-US" dirty="0"/>
              <a:t>当两个投影数据库具有相同大小时</a:t>
            </a:r>
            <a:r>
              <a:rPr lang="en-US" altLang="en-US" dirty="0"/>
              <a:t> </a:t>
            </a:r>
            <a:endParaRPr lang="en-US" altLang="en-US" dirty="0"/>
          </a:p>
        </p:txBody>
      </p:sp>
      <p:sp>
        <p:nvSpPr>
          <p:cNvPr id="11270" name="Line 27"/>
          <p:cNvSpPr>
            <a:spLocks noChangeShapeType="1"/>
          </p:cNvSpPr>
          <p:nvPr/>
        </p:nvSpPr>
        <p:spPr bwMode="auto">
          <a:xfrm flipH="1">
            <a:off x="7765997" y="2650543"/>
            <a:ext cx="918027" cy="458818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271" name="Text Box 29"/>
          <p:cNvSpPr txBox="1">
            <a:spLocks noChangeArrowheads="1"/>
          </p:cNvSpPr>
          <p:nvPr/>
        </p:nvSpPr>
        <p:spPr bwMode="auto">
          <a:xfrm>
            <a:off x="5436456" y="3919145"/>
            <a:ext cx="653142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&lt;f&gt;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11275" name="Text Box 40"/>
          <p:cNvSpPr txBox="1">
            <a:spLocks noChangeArrowheads="1"/>
          </p:cNvSpPr>
          <p:nvPr/>
        </p:nvSpPr>
        <p:spPr bwMode="auto">
          <a:xfrm>
            <a:off x="8498212" y="2782374"/>
            <a:ext cx="620486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&lt;b&gt;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8228486" y="1168173"/>
          <a:ext cx="1840442" cy="1463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6275"/>
                <a:gridCol w="1404167"/>
              </a:tblGrid>
              <a:tr h="3383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ID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Sequence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3838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1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aefbcg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3838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2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afegb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  <a:tr h="338385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alibri" panose="020F0502020204030204" pitchFamily="34" charset="0"/>
                        </a:rPr>
                        <a:t>3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afea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</a:tr>
            </a:tbl>
          </a:graphicData>
        </a:graphic>
      </p:graphicFrame>
      <p:sp>
        <p:nvSpPr>
          <p:cNvPr id="11321" name="Line 27"/>
          <p:cNvSpPr>
            <a:spLocks noChangeShapeType="1"/>
          </p:cNvSpPr>
          <p:nvPr/>
        </p:nvSpPr>
        <p:spPr bwMode="auto">
          <a:xfrm>
            <a:off x="8808455" y="2699806"/>
            <a:ext cx="0" cy="540992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1335" name="Line 27"/>
          <p:cNvSpPr>
            <a:spLocks noChangeShapeType="1"/>
          </p:cNvSpPr>
          <p:nvPr/>
        </p:nvSpPr>
        <p:spPr bwMode="auto">
          <a:xfrm flipH="1">
            <a:off x="5889076" y="3823854"/>
            <a:ext cx="676816" cy="48377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226766" y="4318845"/>
          <a:ext cx="118940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403"/>
              </a:tblGrid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8207854" y="3240798"/>
          <a:ext cx="91084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844"/>
              </a:tblGrid>
              <a:tr h="287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&lt;cg&gt;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FF00"/>
                    </a:solidFill>
                  </a:tcPr>
                </a:tc>
              </a:tr>
              <a:tr h="2879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&lt;(ac)&gt;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32" name="Line 27"/>
          <p:cNvSpPr>
            <a:spLocks noChangeShapeType="1"/>
          </p:cNvSpPr>
          <p:nvPr/>
        </p:nvSpPr>
        <p:spPr bwMode="auto">
          <a:xfrm>
            <a:off x="9118698" y="2707261"/>
            <a:ext cx="468086" cy="4519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9259153" y="3191197"/>
          <a:ext cx="1138159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8159"/>
              </a:tblGrid>
              <a:tr h="327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0CDBC"/>
                    </a:solidFill>
                  </a:tcPr>
                </a:tc>
              </a:tr>
              <a:tr h="3277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0CDBC"/>
                    </a:solidFill>
                  </a:tcPr>
                </a:tc>
              </a:tr>
              <a:tr h="255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&lt;a&gt;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0CDBC"/>
                    </a:solidFill>
                  </a:tcPr>
                </a:tc>
              </a:tr>
            </a:tbl>
          </a:graphicData>
        </a:graphic>
      </p:graphicFrame>
      <p:sp>
        <p:nvSpPr>
          <p:cNvPr id="38" name="Text Box 40"/>
          <p:cNvSpPr txBox="1">
            <a:spLocks noChangeArrowheads="1"/>
          </p:cNvSpPr>
          <p:nvPr/>
        </p:nvSpPr>
        <p:spPr bwMode="auto">
          <a:xfrm>
            <a:off x="10174270" y="4307625"/>
            <a:ext cx="560914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&lt;b&gt;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sp>
        <p:nvSpPr>
          <p:cNvPr id="39" name="Line 27"/>
          <p:cNvSpPr>
            <a:spLocks noChangeShapeType="1"/>
          </p:cNvSpPr>
          <p:nvPr/>
        </p:nvSpPr>
        <p:spPr bwMode="auto">
          <a:xfrm>
            <a:off x="10068928" y="4232423"/>
            <a:ext cx="468086" cy="45190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0044585" y="4709003"/>
          <a:ext cx="910844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0844"/>
              </a:tblGrid>
              <a:tr h="2538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&lt;cg&gt;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FF00"/>
                    </a:solidFill>
                  </a:tcPr>
                </a:tc>
              </a:tr>
              <a:tr h="35545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&lt;(ac)&gt;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41" name="Line 27"/>
          <p:cNvSpPr>
            <a:spLocks noChangeShapeType="1"/>
          </p:cNvSpPr>
          <p:nvPr/>
        </p:nvSpPr>
        <p:spPr bwMode="auto">
          <a:xfrm>
            <a:off x="9398856" y="2707260"/>
            <a:ext cx="1698170" cy="43953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Text Box 40"/>
          <p:cNvSpPr txBox="1">
            <a:spLocks noChangeArrowheads="1"/>
          </p:cNvSpPr>
          <p:nvPr/>
        </p:nvSpPr>
        <p:spPr bwMode="auto">
          <a:xfrm>
            <a:off x="10174270" y="2748545"/>
            <a:ext cx="560914" cy="369332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&lt;f&gt;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10583428" y="3155272"/>
          <a:ext cx="1189403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403"/>
              </a:tblGrid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bcg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egb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(ac)&gt;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</a:tr>
              <a:tr h="36455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&lt;</a:t>
                      </a:r>
                      <a:r>
                        <a:rPr kumimoji="0" lang="en-US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ea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&gt;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>
                    <a:solidFill>
                      <a:srgbClr val="FFC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Object 5"/>
          <p:cNvGraphicFramePr>
            <a:graphicFrameLocks noGrp="1" noChangeAspect="1"/>
          </p:cNvGraphicFramePr>
          <p:nvPr/>
        </p:nvGraphicFramePr>
        <p:xfrm>
          <a:off x="179621" y="2997419"/>
          <a:ext cx="448503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Photo Editor Photo" r:id="rId3" imgW="10487025" imgH="5400675" progId="MSPhotoEd.3">
                  <p:embed/>
                </p:oleObj>
              </mc:Choice>
              <mc:Fallback>
                <p:oleObj name="Photo Editor Photo" r:id="rId3" imgW="10487025" imgH="5400675" progId="MSPhotoEd.3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621" y="2997419"/>
                        <a:ext cx="4485030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3"/>
          <p:cNvSpPr txBox="1">
            <a:spLocks noChangeArrowheads="1"/>
          </p:cNvSpPr>
          <p:nvPr/>
        </p:nvSpPr>
        <p:spPr>
          <a:xfrm>
            <a:off x="541780" y="1194565"/>
            <a:ext cx="7698908" cy="1367364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630" indent="-3416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405" indent="-3733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3130" indent="-2908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95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kern="0" dirty="0">
                <a:solidFill>
                  <a:srgbClr val="000000"/>
                </a:solidFill>
              </a:rPr>
              <a:t>探索性质</a:t>
            </a:r>
            <a:r>
              <a:rPr lang="en-US" altLang="zh-CN" kern="0" dirty="0">
                <a:solidFill>
                  <a:srgbClr val="000000"/>
                </a:solidFill>
              </a:rPr>
              <a:t> P </a:t>
            </a:r>
            <a:r>
              <a:rPr lang="zh-CN" altLang="en-US" kern="0" dirty="0">
                <a:solidFill>
                  <a:srgbClr val="000000"/>
                </a:solidFill>
              </a:rPr>
              <a:t>用于闭合模式挖掘</a:t>
            </a:r>
            <a:endParaRPr lang="zh-CN" altLang="en-US" kern="0" dirty="0">
              <a:solidFill>
                <a:srgbClr val="000000"/>
              </a:solidFill>
            </a:endParaRPr>
          </a:p>
          <a:p>
            <a:pPr>
              <a:defRPr/>
            </a:pPr>
            <a:r>
              <a:rPr lang="zh-CN" altLang="en-US" kern="0" dirty="0">
                <a:solidFill>
                  <a:srgbClr val="000000"/>
                </a:solidFill>
              </a:rPr>
              <a:t>什么时候两个投影序列数据库具有相同大小</a:t>
            </a:r>
            <a:r>
              <a:rPr lang="en-US" altLang="zh-CN" kern="0" dirty="0">
                <a:solidFill>
                  <a:srgbClr val="000000"/>
                </a:solidFill>
              </a:rPr>
              <a:t>?</a:t>
            </a:r>
            <a:endParaRPr lang="en-US" altLang="zh-CN" kern="0" dirty="0">
              <a:solidFill>
                <a:srgbClr val="000000"/>
              </a:solidFill>
            </a:endParaRPr>
          </a:p>
          <a:p>
            <a:pPr lvl="2">
              <a:defRPr/>
            </a:pPr>
            <a:r>
              <a:rPr lang="zh-CN" altLang="en-US" kern="0" dirty="0">
                <a:solidFill>
                  <a:srgbClr val="000000"/>
                </a:solidFill>
              </a:rPr>
              <a:t>示例</a:t>
            </a:r>
            <a:r>
              <a:rPr lang="en-US" altLang="en-US" kern="0" dirty="0">
                <a:solidFill>
                  <a:srgbClr val="000000"/>
                </a:solidFill>
              </a:rPr>
              <a:t>: </a:t>
            </a:r>
            <a:endParaRPr lang="en-US" altLang="en-US" kern="0" dirty="0">
              <a:solidFill>
                <a:srgbClr val="000000"/>
              </a:solidFill>
            </a:endParaRPr>
          </a:p>
        </p:txBody>
      </p:sp>
      <p:sp>
        <p:nvSpPr>
          <p:cNvPr id="45" name="Rectangle 3"/>
          <p:cNvSpPr txBox="1">
            <a:spLocks noChangeArrowheads="1"/>
          </p:cNvSpPr>
          <p:nvPr/>
        </p:nvSpPr>
        <p:spPr>
          <a:xfrm>
            <a:off x="1320101" y="328619"/>
            <a:ext cx="2952612" cy="87130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630" indent="-3416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405" indent="-37338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3895" indent="-29972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3130" indent="-29083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95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82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84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87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895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 altLang="en-US" kern="0" dirty="0">
              <a:solidFill>
                <a:srgbClr val="000000"/>
              </a:solidFill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16169" y="4492985"/>
            <a:ext cx="1978971" cy="64516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zh-CN" altLang="en-US" sz="1800" dirty="0">
                <a:solidFill>
                  <a:srgbClr val="000000"/>
                </a:solidFill>
              </a:rPr>
              <a:t>只需保留大小为</a:t>
            </a:r>
            <a:r>
              <a:rPr lang="en-US" altLang="zh-CN" sz="1800" dirty="0">
                <a:solidFill>
                  <a:srgbClr val="000000"/>
                </a:solidFill>
              </a:rPr>
              <a:t>12(</a:t>
            </a:r>
            <a:r>
              <a:rPr lang="zh-CN" altLang="en-US" sz="1800" dirty="0">
                <a:solidFill>
                  <a:srgbClr val="000000"/>
                </a:solidFill>
              </a:rPr>
              <a:t>包括括号</a:t>
            </a:r>
            <a:r>
              <a:rPr lang="en-US" altLang="zh-CN" sz="1800" dirty="0">
                <a:solidFill>
                  <a:srgbClr val="000000"/>
                </a:solidFill>
              </a:rPr>
              <a:t>)</a:t>
            </a:r>
            <a:endParaRPr lang="en-US" altLang="zh-CN" sz="1800" dirty="0">
              <a:solidFill>
                <a:srgbClr val="0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00525" y="4030973"/>
            <a:ext cx="98948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defTabSz="457200"/>
            <a:r>
              <a:rPr lang="en-US" sz="1800" dirty="0">
                <a:solidFill>
                  <a:srgbClr val="000000"/>
                </a:solidFill>
              </a:rPr>
              <a:t>size = 6</a:t>
            </a: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1061428" y="4441498"/>
            <a:ext cx="3211285" cy="3835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kern="0" dirty="0">
                <a:solidFill>
                  <a:srgbClr val="000000"/>
                </a:solidFill>
              </a:rPr>
              <a:t>后向子模式剪枝</a:t>
            </a:r>
            <a:endParaRPr lang="zh-CN" altLang="en-US" kern="0" dirty="0">
              <a:solidFill>
                <a:srgbClr val="0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21088" y="6244612"/>
            <a:ext cx="3526972" cy="3835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zh-CN" altLang="en-US" kern="0" dirty="0">
                <a:solidFill>
                  <a:srgbClr val="000000"/>
                </a:solidFill>
              </a:rPr>
              <a:t>后向超模式剪枝</a:t>
            </a:r>
            <a:endParaRPr lang="zh-CN" altLang="en-US" kern="0" dirty="0">
              <a:solidFill>
                <a:srgbClr val="000000"/>
              </a:solidFill>
            </a:endParaRPr>
          </a:p>
        </p:txBody>
      </p:sp>
      <p:sp>
        <p:nvSpPr>
          <p:cNvPr id="9" name="Right Arrow 3"/>
          <p:cNvSpPr/>
          <p:nvPr/>
        </p:nvSpPr>
        <p:spPr>
          <a:xfrm rot="2027556">
            <a:off x="4850398" y="2515879"/>
            <a:ext cx="607073" cy="349258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5064419" y="4216971"/>
            <a:ext cx="1430746" cy="13692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10435710" y="3004457"/>
            <a:ext cx="1430746" cy="136927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0152101" y="1224103"/>
            <a:ext cx="1342421" cy="36988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i="1" dirty="0" err="1">
                <a:latin typeface="Calibri" panose="020F0502020204030204" pitchFamily="34" charset="0"/>
              </a:rPr>
              <a:t>min_sup</a:t>
            </a:r>
            <a:r>
              <a:rPr lang="en-US" sz="1800" i="1" dirty="0">
                <a:latin typeface="Calibri" panose="020F0502020204030204" pitchFamily="34" charset="0"/>
              </a:rPr>
              <a:t> </a:t>
            </a:r>
            <a:r>
              <a:rPr lang="en-US" sz="1800" dirty="0">
                <a:latin typeface="Calibri" panose="020F0502020204030204" pitchFamily="34" charset="0"/>
              </a:rPr>
              <a:t>= 2</a:t>
            </a:r>
            <a:endParaRPr lang="en-US" sz="1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1266" grpId="0" animBg="1"/>
      <p:bldP spid="11270" grpId="0" animBg="1"/>
      <p:bldP spid="11271" grpId="0" animBg="1"/>
      <p:bldP spid="11275" grpId="0" animBg="1"/>
      <p:bldP spid="11321" grpId="0" animBg="1"/>
      <p:bldP spid="11335" grpId="0" animBg="1"/>
      <p:bldP spid="32" grpId="0" animBg="1"/>
      <p:bldP spid="38" grpId="0" animBg="1"/>
      <p:bldP spid="39" grpId="0" animBg="1"/>
      <p:bldP spid="41" grpId="0" animBg="1"/>
      <p:bldP spid="42" grpId="0" animBg="1"/>
      <p:bldP spid="27" grpId="0" animBg="1"/>
      <p:bldP spid="30" grpId="0" bldLvl="0" animBg="1"/>
      <p:bldP spid="4" grpId="0" bldLvl="0" animBg="1"/>
      <p:bldP spid="34" grpId="0" animBg="1"/>
      <p:bldP spid="37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838200"/>
          </a:xfrm>
          <a:noFill/>
        </p:spPr>
        <p:txBody>
          <a:bodyPr lIns="92075" tIns="46038" rIns="92075" bIns="46038" anchor="ctr">
            <a:normAutofit/>
          </a:bodyPr>
          <a:lstStyle/>
          <a:p>
            <a:pPr eaLnBrk="1" hangingPunct="1"/>
            <a:r>
              <a:rPr lang="zh-CN" altLang="en-US" sz="3110" dirty="0"/>
              <a:t>基于约束的序列模式挖掘</a:t>
            </a:r>
            <a:endParaRPr lang="zh-CN" altLang="en-US" sz="3110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581660" y="1160780"/>
            <a:ext cx="11419205" cy="52578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300"/>
              </a:spcBef>
            </a:pPr>
            <a:r>
              <a:rPr lang="zh-CN" altLang="en-US" sz="2000" dirty="0"/>
              <a:t>与基于约束的项目集挖掘有许多相似之处</a:t>
            </a:r>
            <a:endParaRPr lang="zh-CN" altLang="en-US" sz="2000" dirty="0"/>
          </a:p>
          <a:p>
            <a:pPr eaLnBrk="1" hangingPunct="1">
              <a:spcBef>
                <a:spcPts val="300"/>
              </a:spcBef>
            </a:pP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反单调性</a:t>
            </a:r>
            <a:r>
              <a:rPr lang="zh-CN" altLang="en-US" sz="2000" dirty="0">
                <a:sym typeface="+mn-ea"/>
              </a:rPr>
              <a:t>：如果</a:t>
            </a:r>
            <a:r>
              <a:rPr lang="en-US" altLang="zh-CN" sz="2000" dirty="0">
                <a:sym typeface="+mn-ea"/>
              </a:rPr>
              <a:t> S </a:t>
            </a:r>
            <a:r>
              <a:rPr lang="zh-CN" altLang="en-US" sz="2000" dirty="0">
                <a:sym typeface="+mn-ea"/>
              </a:rPr>
              <a:t>违反</a:t>
            </a:r>
            <a:r>
              <a:rPr lang="en-US" altLang="zh-CN" sz="2000" dirty="0">
                <a:sym typeface="+mn-ea"/>
              </a:rPr>
              <a:t> c</a:t>
            </a:r>
            <a:r>
              <a:rPr lang="zh-CN" altLang="en-US" sz="2000" dirty="0">
                <a:sym typeface="+mn-ea"/>
              </a:rPr>
              <a:t>，则</a:t>
            </a:r>
            <a:r>
              <a:rPr lang="en-US" altLang="zh-CN" sz="2000" dirty="0">
                <a:sym typeface="+mn-ea"/>
              </a:rPr>
              <a:t> S </a:t>
            </a:r>
            <a:r>
              <a:rPr lang="zh-CN" altLang="en-US" sz="2000" dirty="0">
                <a:sym typeface="+mn-ea"/>
              </a:rPr>
              <a:t>的超序列也违反</a:t>
            </a:r>
            <a:r>
              <a:rPr lang="en-US" altLang="zh-CN" sz="2000" dirty="0">
                <a:sym typeface="+mn-ea"/>
              </a:rPr>
              <a:t> c </a:t>
            </a:r>
            <a:r>
              <a:rPr lang="en-US" altLang="en-US" sz="2000" dirty="0"/>
              <a:t> </a:t>
            </a:r>
            <a:endParaRPr lang="en-US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sum(</a:t>
            </a:r>
            <a:r>
              <a:rPr lang="en-US" altLang="en-US" sz="2000" dirty="0" err="1"/>
              <a:t>S.price</a:t>
            </a:r>
            <a:r>
              <a:rPr lang="en-US" altLang="en-US" sz="2000" dirty="0"/>
              <a:t>) &lt; 150; min(</a:t>
            </a:r>
            <a:r>
              <a:rPr lang="en-US" altLang="en-US" sz="2000" dirty="0" err="1"/>
              <a:t>S.value</a:t>
            </a:r>
            <a:r>
              <a:rPr lang="en-US" altLang="en-US" sz="2000" dirty="0"/>
              <a:t>) &gt; 10 </a:t>
            </a:r>
            <a:endParaRPr lang="en-US" altLang="zh-CN" sz="2000" dirty="0"/>
          </a:p>
          <a:p>
            <a:pPr eaLnBrk="1" hangingPunct="1">
              <a:spcBef>
                <a:spcPts val="300"/>
              </a:spcBef>
            </a:pPr>
            <a:r>
              <a:rPr lang="zh-CN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单调性</a:t>
            </a:r>
            <a:r>
              <a:rPr lang="zh-CN" altLang="en-US" sz="2000" dirty="0">
                <a:sym typeface="Symbol" panose="05050102010706020507" pitchFamily="18" charset="2"/>
              </a:rPr>
              <a:t>：如果</a:t>
            </a:r>
            <a:r>
              <a:rPr lang="en-US" altLang="zh-CN" sz="2000" dirty="0">
                <a:sym typeface="Symbol" panose="05050102010706020507" pitchFamily="18" charset="2"/>
              </a:rPr>
              <a:t> S </a:t>
            </a:r>
            <a:r>
              <a:rPr lang="zh-CN" altLang="en-US" sz="2000" dirty="0">
                <a:sym typeface="Symbol" panose="05050102010706020507" pitchFamily="18" charset="2"/>
              </a:rPr>
              <a:t>满足</a:t>
            </a:r>
            <a:r>
              <a:rPr lang="en-US" altLang="zh-CN" sz="2000" dirty="0">
                <a:sym typeface="Symbol" panose="05050102010706020507" pitchFamily="18" charset="2"/>
              </a:rPr>
              <a:t> c</a:t>
            </a:r>
            <a:r>
              <a:rPr lang="zh-CN" altLang="en-US" sz="2000" dirty="0">
                <a:sym typeface="Symbol" panose="05050102010706020507" pitchFamily="18" charset="2"/>
              </a:rPr>
              <a:t>，则</a:t>
            </a:r>
            <a:r>
              <a:rPr lang="en-US" altLang="zh-CN" sz="2000" dirty="0">
                <a:sym typeface="Symbol" panose="05050102010706020507" pitchFamily="18" charset="2"/>
              </a:rPr>
              <a:t> S </a:t>
            </a:r>
            <a:r>
              <a:rPr lang="zh-CN" altLang="en-US" sz="2000" dirty="0">
                <a:sym typeface="Symbol" panose="05050102010706020507" pitchFamily="18" charset="2"/>
              </a:rPr>
              <a:t>的超序列也满足</a:t>
            </a:r>
            <a:endParaRPr lang="en-US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 err="1"/>
              <a:t>element_count</a:t>
            </a:r>
            <a:r>
              <a:rPr lang="en-US" altLang="en-US" sz="2000" dirty="0"/>
              <a:t> (S) &gt; 5; S</a:t>
            </a:r>
            <a:r>
              <a:rPr lang="en-US" altLang="en-US" sz="2000" dirty="0">
                <a:sym typeface="Symbol" panose="05050102010706020507" pitchFamily="18" charset="2"/>
              </a:rPr>
              <a:t>  {PC, </a:t>
            </a:r>
            <a:r>
              <a:rPr lang="en-US" altLang="en-US" sz="2000" dirty="0" err="1">
                <a:sym typeface="Symbol" panose="05050102010706020507" pitchFamily="18" charset="2"/>
              </a:rPr>
              <a:t>digital_camera</a:t>
            </a:r>
            <a:r>
              <a:rPr lang="en-US" altLang="en-US" sz="2000" dirty="0">
                <a:sym typeface="Symbol" panose="05050102010706020507" pitchFamily="18" charset="2"/>
              </a:rPr>
              <a:t>}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marL="461645" lvl="0" indent="-461645" eaLnBrk="1" hangingPunct="1">
              <a:spcBef>
                <a:spcPts val="300"/>
              </a:spcBef>
              <a:buFont typeface="Wingdings" panose="05000000000000000000" charset="0"/>
              <a:buChar char="q"/>
            </a:pP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数据反单调性</a:t>
            </a:r>
            <a:r>
              <a:rPr lang="zh-CN" altLang="en-US" sz="2000" dirty="0">
                <a:sym typeface="+mn-ea"/>
              </a:rPr>
              <a:t>：如果关于</a:t>
            </a:r>
            <a:r>
              <a:rPr lang="en-US" altLang="zh-CN" sz="2000" dirty="0">
                <a:sym typeface="+mn-ea"/>
              </a:rPr>
              <a:t> S </a:t>
            </a:r>
            <a:r>
              <a:rPr lang="zh-CN" altLang="en-US" sz="2000" dirty="0">
                <a:sym typeface="+mn-ea"/>
              </a:rPr>
              <a:t>的序列</a:t>
            </a:r>
            <a:r>
              <a:rPr lang="en-US" altLang="zh-CN" sz="2000" dirty="0">
                <a:sym typeface="+mn-ea"/>
              </a:rPr>
              <a:t> s1 </a:t>
            </a:r>
            <a:r>
              <a:rPr lang="zh-CN" altLang="en-US" sz="2000" dirty="0">
                <a:sym typeface="+mn-ea"/>
              </a:rPr>
              <a:t>违反</a:t>
            </a:r>
            <a:r>
              <a:rPr lang="en-US" altLang="zh-CN" sz="2000" dirty="0">
                <a:sym typeface="+mn-ea"/>
              </a:rPr>
              <a:t> c3</a:t>
            </a:r>
            <a:r>
              <a:rPr lang="zh-CN" altLang="en-US" sz="2000" dirty="0">
                <a:sym typeface="+mn-ea"/>
              </a:rPr>
              <a:t>，则可以移除</a:t>
            </a:r>
            <a:r>
              <a:rPr lang="en-US" altLang="zh-CN" sz="2000" dirty="0">
                <a:sym typeface="+mn-ea"/>
              </a:rPr>
              <a:t> s1</a:t>
            </a:r>
            <a:endParaRPr lang="en-US" altLang="zh-CN" sz="2000" dirty="0"/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c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: sum(</a:t>
            </a:r>
            <a:r>
              <a:rPr lang="en-US" altLang="en-US" sz="2000" dirty="0" err="1"/>
              <a:t>S.price</a:t>
            </a:r>
            <a:r>
              <a:rPr lang="en-US" altLang="en-US" sz="2000" dirty="0"/>
              <a:t>) ≥ v</a:t>
            </a:r>
            <a:endParaRPr lang="zh-CN" altLang="en-US" sz="2000" dirty="0">
              <a:solidFill>
                <a:srgbClr val="FF0000"/>
              </a:solidFill>
              <a:sym typeface="+mn-ea"/>
            </a:endParaRPr>
          </a:p>
          <a:p>
            <a:pPr marL="461645" lvl="0" indent="-461645">
              <a:spcBef>
                <a:spcPts val="300"/>
              </a:spcBef>
              <a:buFont typeface="Wingdings" panose="05000000000000000000" charset="0"/>
              <a:buChar char="q"/>
            </a:pPr>
            <a:r>
              <a:rPr lang="zh-CN" altLang="en-US" sz="2000" dirty="0">
                <a:solidFill>
                  <a:srgbClr val="FF0000"/>
                </a:solidFill>
                <a:sym typeface="+mn-ea"/>
              </a:rPr>
              <a:t>简洁性</a:t>
            </a:r>
            <a:r>
              <a:rPr lang="zh-CN" altLang="en-US" sz="2000" dirty="0">
                <a:sym typeface="+mn-ea"/>
              </a:rPr>
              <a:t>：通过显式操作数据来强制执行约束</a:t>
            </a:r>
            <a:r>
              <a:rPr lang="en-US" altLang="zh-CN" sz="2000" dirty="0">
                <a:sym typeface="+mn-ea"/>
              </a:rPr>
              <a:t> </a:t>
            </a:r>
            <a:endParaRPr lang="en-US" altLang="zh-CN" sz="2000" dirty="0">
              <a:sym typeface="+mn-ea"/>
            </a:endParaRPr>
          </a:p>
          <a:p>
            <a:pPr marL="737870" lvl="1" indent="-537845">
              <a:spcBef>
                <a:spcPts val="300"/>
              </a:spcBef>
              <a:buFont typeface="Wingdings" panose="05000000000000000000" charset="0"/>
              <a:buChar char="q"/>
            </a:pPr>
            <a:r>
              <a:rPr lang="en-US" altLang="en-US" sz="2000" dirty="0">
                <a:solidFill>
                  <a:schemeClr val="tx1"/>
                </a:solidFill>
                <a:sym typeface="Symbol" panose="05050102010706020507" pitchFamily="18" charset="2"/>
              </a:rPr>
              <a:t>S   {</a:t>
            </a:r>
            <a:r>
              <a:rPr lang="en-US" altLang="en-US" sz="2000" dirty="0" err="1"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sym typeface="Symbol" panose="05050102010706020507" pitchFamily="18" charset="2"/>
              </a:rPr>
              <a:t>-phone, </a:t>
            </a:r>
            <a:r>
              <a:rPr lang="en-US" altLang="en-US" sz="2000" dirty="0" err="1">
                <a:sym typeface="Symbol" panose="05050102010706020507" pitchFamily="18" charset="2"/>
              </a:rPr>
              <a:t>MacAir</a:t>
            </a:r>
            <a:r>
              <a:rPr lang="en-US" altLang="en-US" sz="2000" dirty="0">
                <a:sym typeface="Symbol" panose="05050102010706020507" pitchFamily="18" charset="2"/>
              </a:rPr>
              <a:t>} </a:t>
            </a:r>
            <a:endParaRPr lang="en-US" altLang="zh-CN" sz="2000" dirty="0"/>
          </a:p>
          <a:p>
            <a:pPr eaLnBrk="1" hangingPunct="1">
              <a:spcBef>
                <a:spcPts val="3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可转换性</a:t>
            </a:r>
            <a:r>
              <a:rPr lang="zh-CN" altLang="en-US" sz="2000" dirty="0"/>
              <a:t>：基于排序值而非序列顺序进行投影</a:t>
            </a:r>
            <a:endParaRPr lang="zh-CN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 err="1"/>
              <a:t>value_avg</a:t>
            </a:r>
            <a:r>
              <a:rPr lang="en-US" altLang="en-US" sz="2000" dirty="0"/>
              <a:t>(S) &lt; 25; </a:t>
            </a:r>
            <a:r>
              <a:rPr lang="en-US" altLang="en-US" sz="2000" dirty="0" err="1"/>
              <a:t>profit_sum</a:t>
            </a:r>
            <a:r>
              <a:rPr lang="en-US" altLang="en-US" sz="2000" dirty="0"/>
              <a:t> (S) &gt; 160</a:t>
            </a:r>
            <a:endParaRPr lang="en-US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max(S)/</a:t>
            </a:r>
            <a:r>
              <a:rPr lang="en-US" altLang="en-US" sz="2000" dirty="0" err="1"/>
              <a:t>avg</a:t>
            </a:r>
            <a:r>
              <a:rPr lang="en-US" altLang="en-US" sz="2000" dirty="0"/>
              <a:t>(S) &lt; 2; median(S) – min(S) &gt; 5</a:t>
            </a:r>
            <a:endParaRPr lang="en-US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838200"/>
          </a:xfrm>
          <a:noFill/>
        </p:spPr>
        <p:txBody>
          <a:bodyPr lIns="92075" tIns="46038" rIns="92075" bIns="46038" anchor="ctr">
            <a:normAutofit/>
          </a:bodyPr>
          <a:lstStyle/>
          <a:p>
            <a:pPr eaLnBrk="1" hangingPunct="1"/>
            <a:r>
              <a:rPr lang="zh-CN" altLang="en-US" sz="3555" dirty="0"/>
              <a:t>序列模式挖掘中的时间约束</a:t>
            </a:r>
            <a:endParaRPr lang="zh-CN" altLang="en-US" sz="3555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498475" y="1203325"/>
            <a:ext cx="11693525" cy="52578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3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顺序约束</a:t>
            </a:r>
            <a:r>
              <a:rPr lang="zh-CN" altLang="en-US" sz="2000" dirty="0"/>
              <a:t>：某些项必须在其他项之前发生</a:t>
            </a:r>
            <a:endParaRPr lang="zh-CN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{</a:t>
            </a:r>
            <a:r>
              <a:rPr lang="zh-CN" altLang="en-US" sz="2000" dirty="0"/>
              <a:t>代数</a:t>
            </a:r>
            <a:r>
              <a:rPr lang="en-US" altLang="en-US" sz="2000" dirty="0"/>
              <a:t>, </a:t>
            </a:r>
            <a:r>
              <a:rPr lang="zh-CN" altLang="en-US" sz="2000" dirty="0"/>
              <a:t>几何</a:t>
            </a:r>
            <a:r>
              <a:rPr lang="en-US" altLang="en-US" sz="2000" dirty="0"/>
              <a:t>} </a:t>
            </a:r>
            <a:r>
              <a:rPr lang="en-US" altLang="en-US" sz="2000" dirty="0">
                <a:sym typeface="Symbol" panose="05050102010706020507" pitchFamily="18" charset="2"/>
              </a:rPr>
              <a:t>→ {</a:t>
            </a:r>
            <a:r>
              <a:rPr lang="zh-CN" altLang="en-US" sz="2000" dirty="0">
                <a:sym typeface="Symbol" panose="05050102010706020507" pitchFamily="18" charset="2"/>
              </a:rPr>
              <a:t>计算</a:t>
            </a:r>
            <a:r>
              <a:rPr lang="en-US" altLang="en-US" sz="2000" dirty="0">
                <a:sym typeface="Symbol" panose="05050102010706020507" pitchFamily="18" charset="2"/>
              </a:rPr>
              <a:t>} ( “→” </a:t>
            </a:r>
            <a:r>
              <a:rPr lang="zh-CN" altLang="en-US" sz="2000" dirty="0">
                <a:sym typeface="Symbol" panose="05050102010706020507" pitchFamily="18" charset="2"/>
              </a:rPr>
              <a:t>表示顺序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  <a:endParaRPr lang="en-US" altLang="en-US" sz="2000" dirty="0">
              <a:sym typeface="Symbol" panose="05050102010706020507" pitchFamily="18" charset="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2000" dirty="0">
                <a:sym typeface="Symbol" panose="05050102010706020507" pitchFamily="18" charset="2"/>
              </a:rPr>
              <a:t>反单调性</a:t>
            </a:r>
            <a:r>
              <a:rPr lang="en-US" altLang="zh-CN" sz="2000" dirty="0">
                <a:sym typeface="Symbol" panose="05050102010706020507" pitchFamily="18" charset="2"/>
              </a:rPr>
              <a:t>:</a:t>
            </a:r>
            <a:r>
              <a:rPr lang="zh-CN" altLang="en-US" sz="2000" dirty="0">
                <a:sym typeface="Symbol" panose="05050102010706020507" pitchFamily="18" charset="2"/>
              </a:rPr>
              <a:t>违反约束的子模式被剪枝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最小间隔</a:t>
            </a:r>
            <a:r>
              <a:rPr lang="en-US" altLang="zh-CN" sz="2000" dirty="0">
                <a:solidFill>
                  <a:srgbClr val="FF0000"/>
                </a:solidFill>
              </a:rPr>
              <a:t>/</a:t>
            </a:r>
            <a:r>
              <a:rPr lang="zh-CN" altLang="en-US" sz="2000" dirty="0">
                <a:solidFill>
                  <a:srgbClr val="FF0000"/>
                </a:solidFill>
              </a:rPr>
              <a:t>最大间隔约束</a:t>
            </a:r>
            <a:r>
              <a:rPr lang="zh-CN" altLang="en-US" sz="2000" dirty="0"/>
              <a:t>：限制模式中两个元素之间的距离</a:t>
            </a:r>
            <a:endParaRPr lang="zh-CN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zh-CN" altLang="en-US" sz="2000" dirty="0"/>
              <a:t>例如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mingap</a:t>
            </a:r>
            <a:r>
              <a:rPr lang="en-US" altLang="en-US" sz="2000" dirty="0"/>
              <a:t> = 1, </a:t>
            </a:r>
            <a:r>
              <a:rPr lang="en-US" altLang="en-US" sz="2000" dirty="0" err="1"/>
              <a:t>maxgap</a:t>
            </a:r>
            <a:r>
              <a:rPr lang="en-US" altLang="en-US" sz="2000" dirty="0"/>
              <a:t> = 4</a:t>
            </a:r>
            <a:endParaRPr lang="en-US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zh-CN" altLang="en-US" sz="2000" dirty="0"/>
              <a:t>简洁性约束</a:t>
            </a:r>
            <a:r>
              <a:rPr lang="en-US" altLang="zh-CN" sz="2000" dirty="0"/>
              <a:t>:</a:t>
            </a:r>
            <a:r>
              <a:rPr lang="zh-CN" altLang="en-US" sz="2000" dirty="0"/>
              <a:t>在模式生长过程中直接强制执行</a:t>
            </a:r>
            <a:endParaRPr lang="zh-CN" altLang="en-US" sz="2000" dirty="0"/>
          </a:p>
          <a:p>
            <a:pPr eaLnBrk="1" hangingPunct="1">
              <a:spcBef>
                <a:spcPts val="300"/>
              </a:spcBef>
            </a:pPr>
            <a:r>
              <a:rPr lang="zh-CN" altLang="en-US" sz="2000" dirty="0">
                <a:solidFill>
                  <a:srgbClr val="FF0000"/>
                </a:solidFill>
              </a:rPr>
              <a:t>最大跨度约束</a:t>
            </a:r>
            <a:r>
              <a:rPr lang="zh-CN" altLang="en-US" sz="2000" dirty="0"/>
              <a:t>：模式中第一个和最后一个元素之间允许的最大时间差</a:t>
            </a:r>
            <a:endParaRPr lang="zh-CN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en-US" altLang="en-US" sz="2000" dirty="0"/>
              <a:t>E.g., </a:t>
            </a:r>
            <a:r>
              <a:rPr lang="en-US" altLang="en-US" sz="2000" dirty="0" err="1"/>
              <a:t>maxspan</a:t>
            </a:r>
            <a:r>
              <a:rPr lang="en-US" altLang="en-US" sz="2000" dirty="0"/>
              <a:t> (S) = 60 (days)</a:t>
            </a:r>
            <a:endParaRPr lang="en-US" altLang="en-US" sz="2000" dirty="0"/>
          </a:p>
          <a:p>
            <a:pPr lvl="1" eaLnBrk="1" hangingPunct="1">
              <a:spcBef>
                <a:spcPts val="300"/>
              </a:spcBef>
            </a:pPr>
            <a:r>
              <a:rPr lang="zh-CN" altLang="en-US" sz="2000" dirty="0">
                <a:sym typeface="Symbol" panose="05050102010706020507" pitchFamily="18" charset="2"/>
              </a:rPr>
              <a:t>简洁性约束</a:t>
            </a:r>
            <a:r>
              <a:rPr lang="en-US" altLang="zh-CN" sz="2000" dirty="0">
                <a:sym typeface="Symbol" panose="05050102010706020507" pitchFamily="18" charset="2"/>
              </a:rPr>
              <a:t>:</a:t>
            </a:r>
            <a:r>
              <a:rPr lang="zh-CN" altLang="en-US" sz="2000" dirty="0">
                <a:sym typeface="Symbol" panose="05050102010706020507" pitchFamily="18" charset="2"/>
              </a:rPr>
              <a:t>在确定第一个元素时直接强制执行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eaLnBrk="1" hangingPunct="1">
              <a:spcBef>
                <a:spcPts val="300"/>
              </a:spcBef>
            </a:pPr>
            <a:r>
              <a:rPr lang="zh-CN" altLang="en-US" sz="2000" dirty="0">
                <a:solidFill>
                  <a:srgbClr val="FF0000"/>
                </a:solidFill>
                <a:sym typeface="Symbol" panose="05050102010706020507" pitchFamily="18" charset="2"/>
              </a:rPr>
              <a:t>窗口大小约束</a:t>
            </a:r>
            <a:r>
              <a:rPr lang="zh-CN" altLang="en-US" sz="2000" dirty="0">
                <a:sym typeface="Symbol" panose="05050102010706020507" pitchFamily="18" charset="2"/>
              </a:rPr>
              <a:t>：一个元素中的事件不必同时发生：强制执行允许的最大时间差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1" eaLnBrk="1" hangingPunct="1">
              <a:spcBef>
                <a:spcPts val="300"/>
              </a:spcBef>
            </a:pPr>
            <a:r>
              <a:rPr lang="zh-CN" altLang="en-US" sz="2000" dirty="0"/>
              <a:t>例如，窗口大小</a:t>
            </a:r>
            <a:r>
              <a:rPr lang="en-US" altLang="zh-CN" sz="2000" dirty="0"/>
              <a:t>=2:</a:t>
            </a:r>
            <a:r>
              <a:rPr lang="zh-CN" altLang="en-US" sz="2000" dirty="0"/>
              <a:t>将事件合并为元素的多种方式</a:t>
            </a:r>
            <a:endParaRPr lang="zh-CN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sz="3555" dirty="0"/>
              <a:t>剧情和剧情模式挖掘</a:t>
            </a:r>
            <a:endParaRPr lang="zh-CN" altLang="en-US" sz="3555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05765" y="1200785"/>
            <a:ext cx="11730990" cy="55575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剧情和正则表达式：序列模式的替代方案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/>
              <a:t>串行剧情</a:t>
            </a:r>
            <a:r>
              <a:rPr lang="en-US" altLang="en-US" sz="2400" dirty="0"/>
              <a:t>:  </a:t>
            </a:r>
            <a:r>
              <a:rPr lang="en-US" altLang="en-US" sz="2400" dirty="0">
                <a:sym typeface="Symbol" panose="05050102010706020507" pitchFamily="18" charset="2"/>
              </a:rPr>
              <a:t>AB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并行剧情</a:t>
            </a:r>
            <a:r>
              <a:rPr lang="en-US" altLang="en-US" sz="2400" dirty="0">
                <a:sym typeface="Symbol" panose="05050102010706020507" pitchFamily="18" charset="2"/>
              </a:rPr>
              <a:t>: A|B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正则表达式</a:t>
            </a:r>
            <a:r>
              <a:rPr lang="en-US" altLang="en-US" sz="2400" dirty="0">
                <a:sym typeface="Symbol" panose="05050102010706020507" pitchFamily="18" charset="2"/>
              </a:rPr>
              <a:t>: (A|B)C*(DE)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E.g.   </a:t>
            </a:r>
            <a:r>
              <a:rPr lang="zh-CN" altLang="en-US" sz="2000" dirty="0">
                <a:sym typeface="Symbol" panose="05050102010706020507" pitchFamily="18" charset="2"/>
              </a:rPr>
              <a:t>给定一个大型购物序列数据库，人们可能希望发现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2">
              <a:lnSpc>
                <a:spcPct val="120000"/>
              </a:lnSpc>
            </a:pPr>
            <a:r>
              <a:rPr lang="zh-CN" altLang="en-US" sz="2000" dirty="0">
                <a:sym typeface="Symbol" panose="05050102010706020507" pitchFamily="18" charset="2"/>
              </a:rPr>
              <a:t>假设模式顺序遵循模板</a:t>
            </a:r>
            <a:r>
              <a:rPr lang="en-US" altLang="zh-CN" sz="2000" dirty="0">
                <a:sym typeface="Symbol" panose="05050102010706020507" pitchFamily="18" charset="2"/>
              </a:rPr>
              <a:t> (A|B) C*(D E)</a:t>
            </a:r>
            <a:r>
              <a:rPr lang="zh-CN" altLang="en-US" sz="2000" dirty="0">
                <a:sym typeface="Symbol" panose="05050102010706020507" pitchFamily="18" charset="2"/>
              </a:rPr>
              <a:t>，且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2">
              <a:lnSpc>
                <a:spcPct val="120000"/>
              </a:lnSpc>
            </a:pPr>
            <a:r>
              <a:rPr lang="en-US" altLang="zh-CN" sz="2000" dirty="0">
                <a:sym typeface="Symbol" panose="05050102010706020507" pitchFamily="18" charset="2"/>
              </a:rPr>
              <a:t>A</a:t>
            </a:r>
            <a:r>
              <a:rPr lang="zh-CN" altLang="en-US" sz="2000" dirty="0">
                <a:sym typeface="Symbol" panose="05050102010706020507" pitchFamily="18" charset="2"/>
              </a:rPr>
              <a:t>、</a:t>
            </a:r>
            <a:r>
              <a:rPr lang="en-US" altLang="zh-CN" sz="2000" dirty="0">
                <a:sym typeface="Symbol" panose="05050102010706020507" pitchFamily="18" charset="2"/>
              </a:rPr>
              <a:t>B</a:t>
            </a:r>
            <a:r>
              <a:rPr lang="zh-CN" altLang="en-US" sz="2000" dirty="0">
                <a:sym typeface="Symbol" panose="05050102010706020507" pitchFamily="18" charset="2"/>
              </a:rPr>
              <a:t>、</a:t>
            </a:r>
            <a:r>
              <a:rPr lang="en-US" altLang="zh-CN" sz="2000" dirty="0">
                <a:sym typeface="Symbol" panose="05050102010706020507" pitchFamily="18" charset="2"/>
              </a:rPr>
              <a:t>C*</a:t>
            </a:r>
            <a:r>
              <a:rPr lang="zh-CN" altLang="en-US" sz="2000" dirty="0">
                <a:sym typeface="Symbol" panose="05050102010706020507" pitchFamily="18" charset="2"/>
              </a:rPr>
              <a:t>、</a:t>
            </a:r>
            <a:r>
              <a:rPr lang="en-US" altLang="zh-CN" sz="2000" dirty="0">
                <a:sym typeface="Symbol" panose="05050102010706020507" pitchFamily="18" charset="2"/>
              </a:rPr>
              <a:t>D </a:t>
            </a:r>
            <a:r>
              <a:rPr lang="zh-CN" altLang="en-US" sz="2000" dirty="0">
                <a:sym typeface="Symbol" panose="05050102010706020507" pitchFamily="18" charset="2"/>
              </a:rPr>
              <a:t>和</a:t>
            </a:r>
            <a:r>
              <a:rPr lang="en-US" altLang="zh-CN" sz="2000" dirty="0">
                <a:sym typeface="Symbol" panose="05050102010706020507" pitchFamily="18" charset="2"/>
              </a:rPr>
              <a:t> E </a:t>
            </a:r>
            <a:r>
              <a:rPr lang="zh-CN" altLang="en-US" sz="2000" dirty="0">
                <a:sym typeface="Symbol" panose="05050102010706020507" pitchFamily="18" charset="2"/>
              </a:rPr>
              <a:t>的价格总和大于</a:t>
            </a:r>
            <a:r>
              <a:rPr lang="en-US" altLang="zh-CN" sz="2000" dirty="0">
                <a:sym typeface="Symbol" panose="05050102010706020507" pitchFamily="18" charset="2"/>
              </a:rPr>
              <a:t> 100 </a:t>
            </a:r>
            <a:r>
              <a:rPr lang="zh-CN" altLang="en-US" sz="2000" dirty="0">
                <a:sym typeface="Symbol" panose="05050102010706020507" pitchFamily="18" charset="2"/>
              </a:rPr>
              <a:t>美元，其中</a:t>
            </a:r>
            <a:r>
              <a:rPr lang="en-US" altLang="zh-CN" sz="2000" dirty="0">
                <a:sym typeface="Symbol" panose="05050102010706020507" pitchFamily="18" charset="2"/>
              </a:rPr>
              <a:t> C* </a:t>
            </a:r>
            <a:r>
              <a:rPr lang="zh-CN" altLang="en-US" sz="2000" dirty="0">
                <a:sym typeface="Symbol" panose="05050102010706020507" pitchFamily="18" charset="2"/>
              </a:rPr>
              <a:t>表示</a:t>
            </a:r>
            <a:r>
              <a:rPr lang="en-US" altLang="zh-CN" sz="2000" dirty="0">
                <a:sym typeface="Symbol" panose="05050102010706020507" pitchFamily="18" charset="2"/>
              </a:rPr>
              <a:t> C </a:t>
            </a:r>
            <a:r>
              <a:rPr lang="zh-CN" altLang="en-US" sz="2000" dirty="0">
                <a:sym typeface="Symbol" panose="05050102010706020507" pitchFamily="18" charset="2"/>
              </a:rPr>
              <a:t>出现任意次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</a:pPr>
            <a:r>
              <a:rPr lang="zh-CN" altLang="en-US" sz="2000" dirty="0">
                <a:sym typeface="Symbol" panose="05050102010706020507" pitchFamily="18" charset="2"/>
              </a:rPr>
              <a:t>如何高效挖掘这类情节模式？</a:t>
            </a:r>
            <a:endParaRPr lang="zh-CN" altLang="en-US" sz="2000" dirty="0">
              <a:sym typeface="Symbol" panose="05050102010706020507" pitchFamily="18" charset="2"/>
            </a:endParaRPr>
          </a:p>
        </p:txBody>
      </p:sp>
      <p:sp>
        <p:nvSpPr>
          <p:cNvPr id="16389" name="TextBox 1"/>
          <p:cNvSpPr txBox="1">
            <a:spLocks noChangeArrowheads="1"/>
          </p:cNvSpPr>
          <p:nvPr/>
        </p:nvSpPr>
        <p:spPr bwMode="auto">
          <a:xfrm>
            <a:off x="3797300" y="2299970"/>
            <a:ext cx="6939915" cy="398780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偏序关系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 A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和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B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可以任意交换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顺序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6" name="TextBox 1"/>
          <p:cNvSpPr txBox="1">
            <a:spLocks noChangeArrowheads="1"/>
          </p:cNvSpPr>
          <p:nvPr/>
        </p:nvSpPr>
        <p:spPr bwMode="auto">
          <a:xfrm>
            <a:off x="3638842" y="1762485"/>
            <a:ext cx="2174240" cy="398780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全序关系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:</a:t>
            </a:r>
            <a:r>
              <a:rPr kumimoji="0" lang="en-US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先</a:t>
            </a:r>
            <a:r>
              <a:rPr kumimoji="0" lang="en-US" altLang="zh-CN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A</a:t>
            </a:r>
            <a:r>
              <a:rPr kumimoji="0" lang="zh-CN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后</a:t>
            </a:r>
            <a:r>
              <a:rPr kumimoji="0" lang="en-US" alt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B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2" name="Right Arrow 1"/>
          <p:cNvSpPr/>
          <p:nvPr/>
        </p:nvSpPr>
        <p:spPr>
          <a:xfrm rot="10800000">
            <a:off x="3127756" y="1929275"/>
            <a:ext cx="469811" cy="131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 rot="10800000">
            <a:off x="3168441" y="2433110"/>
            <a:ext cx="469811" cy="1318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1"/>
          <p:cNvSpPr txBox="1">
            <a:spLocks noChangeArrowheads="1"/>
          </p:cNvSpPr>
          <p:nvPr/>
        </p:nvSpPr>
        <p:spPr bwMode="auto">
          <a:xfrm>
            <a:off x="4853940" y="2865755"/>
            <a:ext cx="5378450" cy="398780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ts val="6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ts val="6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ts val="6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ts val="6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ts val="6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(DE)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意味着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、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E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在同时间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发生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sp>
        <p:nvSpPr>
          <p:cNvPr id="10" name="Right Arrow 9"/>
          <p:cNvSpPr/>
          <p:nvPr/>
        </p:nvSpPr>
        <p:spPr>
          <a:xfrm rot="10800000">
            <a:off x="4526280" y="2995930"/>
            <a:ext cx="327660" cy="1384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bldLvl="0" animBg="1"/>
      <p:bldP spid="6" grpId="0" bldLvl="0" animBg="1"/>
      <p:bldP spid="9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555" dirty="0"/>
              <a:t>MEU-miner</a:t>
            </a:r>
            <a:r>
              <a:rPr lang="zh-CN" altLang="en-US" sz="3555" dirty="0"/>
              <a:t>：基于位图引导与自适应</a:t>
            </a:r>
            <a:r>
              <a:rPr lang="en-US" altLang="zh-CN" sz="3555" dirty="0"/>
              <a:t>Top-k</a:t>
            </a:r>
            <a:r>
              <a:rPr lang="zh-CN" altLang="en-US" sz="3555" dirty="0"/>
              <a:t>的并行多维高实用性序列模式挖掘</a:t>
            </a:r>
            <a:endParaRPr lang="zh-CN" altLang="en-US" sz="3555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795" y="1524000"/>
            <a:ext cx="9629775" cy="381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555" dirty="0"/>
              <a:t>MEU-miner</a:t>
            </a:r>
            <a:r>
              <a:rPr lang="zh-CN" altLang="en-US" sz="3555" dirty="0"/>
              <a:t>：基于位图引导与自适应</a:t>
            </a:r>
            <a:r>
              <a:rPr lang="en-US" altLang="zh-CN" sz="3555" dirty="0"/>
              <a:t>Top-k</a:t>
            </a:r>
            <a:r>
              <a:rPr lang="zh-CN" altLang="en-US" sz="3555" dirty="0"/>
              <a:t>的并行多维高实用性序列模式挖掘</a:t>
            </a:r>
            <a:endParaRPr lang="zh-CN" altLang="en-US" sz="3555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05765" y="1200785"/>
            <a:ext cx="11730990" cy="55575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核心目标：</a:t>
            </a:r>
            <a:r>
              <a:rPr lang="en-US" altLang="zh-CN" sz="2400" dirty="0"/>
              <a:t> </a:t>
            </a:r>
            <a:r>
              <a:rPr lang="zh-CN" altLang="en-US" sz="2400" dirty="0"/>
              <a:t>从带有上下文信息（如设备、区域、用户画像等）的序列数据中，挖掘出具有高价值（高实用性）的行为模式</a:t>
            </a:r>
            <a:r>
              <a:rPr lang="en-US" altLang="zh-CN" sz="2400" dirty="0"/>
              <a:t> </a:t>
            </a:r>
            <a:r>
              <a:rPr lang="zh-CN" altLang="en-US" sz="2400" dirty="0"/>
              <a:t>。</a:t>
            </a:r>
            <a:endParaRPr lang="zh-CN" altLang="en-US" sz="2400" dirty="0"/>
          </a:p>
          <a:p>
            <a:pPr lvl="0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应用场景：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电子商务推荐、精准营销、业务流程管理等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lvl="0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现有方法的痛点：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sym typeface="Symbol" panose="05050102010706020507" pitchFamily="18" charset="2"/>
              </a:rPr>
              <a:t>搜索空间爆炸：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上下文无关的剪枝策略导致候选集过度膨胀，严重拖慢运行速度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。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sym typeface="Symbol" panose="05050102010706020507" pitchFamily="18" charset="2"/>
              </a:rPr>
              <a:t>内存消耗极高：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随着维度增加，传统的基于列表（</a:t>
            </a:r>
            <a:r>
              <a:rPr lang="en-US" altLang="zh-CN" sz="2000" dirty="0">
                <a:sym typeface="Symbol" panose="05050102010706020507" pitchFamily="18" charset="2"/>
              </a:rPr>
              <a:t>list-based</a:t>
            </a:r>
            <a:r>
              <a:rPr lang="zh-CN" altLang="en-US" sz="2000" dirty="0">
                <a:sym typeface="Symbol" panose="05050102010706020507" pitchFamily="18" charset="2"/>
              </a:rPr>
              <a:t>）的存储结构会导致内存占用激增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。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 dirty="0">
                <a:sym typeface="Symbol" panose="05050102010706020507" pitchFamily="18" charset="2"/>
              </a:rPr>
              <a:t>缺乏扩展性：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缺乏并行执行能力与自适应的</a:t>
            </a:r>
            <a:r>
              <a:rPr lang="en-US" altLang="zh-CN" sz="2000" dirty="0">
                <a:sym typeface="Symbol" panose="05050102010706020507" pitchFamily="18" charset="2"/>
              </a:rPr>
              <a:t> Top-k </a:t>
            </a:r>
            <a:r>
              <a:rPr lang="zh-CN" altLang="en-US" sz="2000" dirty="0">
                <a:sym typeface="Symbol" panose="05050102010706020507" pitchFamily="18" charset="2"/>
              </a:rPr>
              <a:t>控制机制，难以应对大规模数据集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zh-CN" altLang="en-US" sz="2000" dirty="0">
                <a:sym typeface="Symbol" panose="05050102010706020507" pitchFamily="18" charset="2"/>
              </a:rPr>
              <a:t>。</a:t>
            </a:r>
            <a:endParaRPr lang="zh-CN" altLang="en-US" sz="2000" dirty="0">
              <a:sym typeface="Symbol" panose="05050102010706020507" pitchFamily="18" charset="2"/>
            </a:endParaRPr>
          </a:p>
          <a:p>
            <a:pPr lvl="2">
              <a:lnSpc>
                <a:spcPct val="120000"/>
              </a:lnSpc>
            </a:pPr>
            <a:endParaRPr lang="zh-CN" altLang="en-US" sz="2000" dirty="0">
              <a:sym typeface="Symbol" panose="05050102010706020507" pitchFamily="18" charset="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965" y="4498975"/>
            <a:ext cx="7418070" cy="2301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555" dirty="0"/>
              <a:t>MEU-miner</a:t>
            </a:r>
            <a:r>
              <a:rPr lang="zh-CN" altLang="en-US" sz="3555" dirty="0"/>
              <a:t>：基于位图引导与自适应</a:t>
            </a:r>
            <a:r>
              <a:rPr lang="en-US" altLang="zh-CN" sz="3555" dirty="0"/>
              <a:t>Top-k</a:t>
            </a:r>
            <a:r>
              <a:rPr lang="zh-CN" altLang="en-US" sz="3555" dirty="0"/>
              <a:t>的并行多维高实用性序列模式挖掘</a:t>
            </a:r>
            <a:endParaRPr lang="zh-CN" altLang="en-US" sz="3555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05765" y="1200785"/>
            <a:ext cx="11730990" cy="55575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为了解决上述挑战，本文提出了一个名为</a:t>
            </a:r>
            <a:r>
              <a:rPr lang="en-US" altLang="zh-CN" sz="2400" dirty="0">
                <a:sym typeface="Symbol" panose="05050102010706020507" pitchFamily="18" charset="2"/>
              </a:rPr>
              <a:t> MEU-Miner </a:t>
            </a:r>
            <a:r>
              <a:rPr lang="zh-CN" altLang="en-US" sz="2400" dirty="0">
                <a:sym typeface="Symbol" panose="05050102010706020507" pitchFamily="18" charset="2"/>
              </a:rPr>
              <a:t>家族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的模块化算法框架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：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MEU-Miner</a:t>
            </a:r>
            <a:r>
              <a:rPr lang="zh-CN" altLang="en-US" sz="2400" dirty="0">
                <a:sym typeface="Symbol" panose="05050102010706020507" pitchFamily="18" charset="2"/>
              </a:rPr>
              <a:t>（基础模型）：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引入维度级实用性边界与位图匹配，实现安全剪枝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PMEU-Miner</a:t>
            </a:r>
            <a:r>
              <a:rPr lang="zh-CN" altLang="en-US" sz="2400" dirty="0">
                <a:sym typeface="Symbol" panose="05050102010706020507" pitchFamily="18" charset="2"/>
              </a:rPr>
              <a:t>（并行版本）：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采用共享内存架构，实现多核并发计算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TKMEU-Miner</a:t>
            </a:r>
            <a:r>
              <a:rPr lang="zh-CN" altLang="en-US" sz="2400" dirty="0">
                <a:sym typeface="Symbol" panose="05050102010706020507" pitchFamily="18" charset="2"/>
              </a:rPr>
              <a:t>（</a:t>
            </a:r>
            <a:r>
              <a:rPr lang="en-US" altLang="zh-CN" sz="2400" dirty="0">
                <a:sym typeface="Symbol" panose="05050102010706020507" pitchFamily="18" charset="2"/>
              </a:rPr>
              <a:t>Top-k </a:t>
            </a:r>
            <a:r>
              <a:rPr lang="zh-CN" altLang="en-US" sz="2400" dirty="0">
                <a:sym typeface="Symbol" panose="05050102010706020507" pitchFamily="18" charset="2"/>
              </a:rPr>
              <a:t>版本）：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无需预设阈值，通过自适应堆结构直接挖掘最有价值的前</a:t>
            </a:r>
            <a:r>
              <a:rPr lang="en-US" altLang="zh-CN" sz="2400" dirty="0">
                <a:sym typeface="Symbol" panose="05050102010706020507" pitchFamily="18" charset="2"/>
              </a:rPr>
              <a:t> k </a:t>
            </a:r>
            <a:r>
              <a:rPr lang="zh-CN" altLang="en-US" sz="2400" dirty="0">
                <a:sym typeface="Symbol" panose="05050102010706020507" pitchFamily="18" charset="2"/>
              </a:rPr>
              <a:t>个模式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marL="384175" lvl="2" indent="0">
              <a:lnSpc>
                <a:spcPct val="120000"/>
              </a:lnSpc>
              <a:buNone/>
            </a:pPr>
            <a:endParaRPr lang="zh-CN" altLang="en-US" sz="20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740" y="0"/>
            <a:ext cx="61925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555" dirty="0"/>
              <a:t>MEU-miner</a:t>
            </a:r>
            <a:r>
              <a:rPr lang="zh-CN" altLang="en-US" sz="3555" dirty="0"/>
              <a:t>：基于位图引导与自适应</a:t>
            </a:r>
            <a:r>
              <a:rPr lang="en-US" altLang="zh-CN" sz="3555" dirty="0"/>
              <a:t>Top-k</a:t>
            </a:r>
            <a:r>
              <a:rPr lang="zh-CN" altLang="en-US" sz="3555" dirty="0"/>
              <a:t>的并行多维高实用性序列模式挖掘</a:t>
            </a:r>
            <a:endParaRPr lang="zh-CN" altLang="en-US" sz="3555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05765" y="1200785"/>
            <a:ext cx="11730990" cy="55575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两大关键技术突破</a:t>
            </a:r>
            <a:r>
              <a:rPr lang="en-US" altLang="zh-CN" sz="2400" dirty="0">
                <a:sym typeface="Symbol" panose="05050102010706020507" pitchFamily="18" charset="2"/>
              </a:rPr>
              <a:t> (Key Innovations)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技术一：维度级实用性上界</a:t>
            </a:r>
            <a:r>
              <a:rPr lang="en-US" altLang="zh-CN" sz="2400" dirty="0">
                <a:sym typeface="Symbol" panose="05050102010706020507" pitchFamily="18" charset="2"/>
              </a:rPr>
              <a:t> (DUB)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利用上下文晶格的抗单调性，提供安全的实用性上限评估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确保在剪枝大量无效组合的同时，绝对不会漏掉任何有效的高价值模式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技术二：位图引导的上下文匹配</a:t>
            </a:r>
            <a:r>
              <a:rPr lang="en-US" altLang="zh-CN" sz="2400" dirty="0">
                <a:sym typeface="Symbol" panose="05050102010706020507" pitchFamily="18" charset="2"/>
              </a:rPr>
              <a:t> (Bitset-guided Matching)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采用向量化存储架构压缩实用性数据，替代笨重的指针列表结构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支持匹配向量和边界的增量更新与缓存，大幅提升匹配效率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marL="384175" lvl="2" indent="0">
              <a:lnSpc>
                <a:spcPct val="120000"/>
              </a:lnSpc>
              <a:buNone/>
            </a:pPr>
            <a:endParaRPr lang="zh-CN" altLang="en-US" sz="2000" dirty="0"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31125" y="4764405"/>
            <a:ext cx="3479165" cy="19119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" y="4764405"/>
            <a:ext cx="3593465" cy="1911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555" dirty="0"/>
              <a:t>MEU-miner</a:t>
            </a:r>
            <a:r>
              <a:rPr lang="zh-CN" altLang="en-US" sz="3555" dirty="0"/>
              <a:t>：基于位图引导与自适应</a:t>
            </a:r>
            <a:r>
              <a:rPr lang="en-US" altLang="zh-CN" sz="3555" dirty="0"/>
              <a:t>Top-k</a:t>
            </a:r>
            <a:r>
              <a:rPr lang="zh-CN" altLang="en-US" sz="3555" dirty="0"/>
              <a:t>的并行多维高实用性序列模式挖掘</a:t>
            </a:r>
            <a:endParaRPr lang="zh-CN" altLang="en-US" sz="3555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05765" y="1200785"/>
            <a:ext cx="11730990" cy="55575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进阶扩展：并行化与自适应挖掘</a:t>
            </a:r>
            <a:r>
              <a:rPr lang="en-US" altLang="zh-CN" sz="2400" dirty="0">
                <a:sym typeface="Symbol" panose="05050102010706020507" pitchFamily="18" charset="2"/>
              </a:rPr>
              <a:t> (Advanced Extensions)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PMEU-Miner</a:t>
            </a:r>
            <a:r>
              <a:rPr lang="zh-CN" altLang="en-US" sz="2400" dirty="0">
                <a:sym typeface="Symbol" panose="05050102010706020507" pitchFamily="18" charset="2"/>
              </a:rPr>
              <a:t>（追求极致速度）：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采用线程池与工作窃取（</a:t>
            </a:r>
            <a:r>
              <a:rPr lang="en-US" altLang="zh-CN" sz="2400" dirty="0">
                <a:sym typeface="Symbol" panose="05050102010706020507" pitchFamily="18" charset="2"/>
              </a:rPr>
              <a:t>work stealing</a:t>
            </a:r>
            <a:r>
              <a:rPr lang="zh-CN" altLang="en-US" sz="2400" dirty="0">
                <a:sym typeface="Symbol" panose="05050102010706020507" pitchFamily="18" charset="2"/>
              </a:rPr>
              <a:t>）机制平衡负载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结合细粒度的临界区设计，在多核处理器上获得显著的加速效果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TKMEU-Miner</a:t>
            </a:r>
            <a:r>
              <a:rPr lang="zh-CN" altLang="en-US" sz="2400" dirty="0">
                <a:sym typeface="Symbol" panose="05050102010706020507" pitchFamily="18" charset="2"/>
              </a:rPr>
              <a:t>（告别繁琐调参）：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提供无阈值的</a:t>
            </a:r>
            <a:r>
              <a:rPr lang="en-US" altLang="zh-CN" sz="2400" dirty="0">
                <a:sym typeface="Symbol" panose="05050102010706020507" pitchFamily="18" charset="2"/>
              </a:rPr>
              <a:t> Top-k </a:t>
            </a:r>
            <a:r>
              <a:rPr lang="zh-CN" altLang="en-US" sz="2400" dirty="0">
                <a:sym typeface="Symbol" panose="05050102010706020507" pitchFamily="18" charset="2"/>
              </a:rPr>
              <a:t>挖掘功能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通过自适应堆和边界引导的提前终止机制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marL="384175" lvl="2" indent="0" eaLnBrk="1" hangingPunct="1">
              <a:lnSpc>
                <a:spcPct val="120000"/>
              </a:lnSpc>
              <a:buNone/>
            </a:pPr>
            <a:r>
              <a:rPr lang="zh-CN" altLang="en-US" sz="2400" dirty="0">
                <a:sym typeface="Symbol" panose="05050102010706020507" pitchFamily="18" charset="2"/>
              </a:rPr>
              <a:t>，确保挖掘过程的稳定与高效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7105" y="3294380"/>
            <a:ext cx="4125595" cy="3378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555" dirty="0"/>
              <a:t>MEU-miner</a:t>
            </a:r>
            <a:r>
              <a:rPr lang="zh-CN" altLang="en-US" sz="3555" dirty="0"/>
              <a:t>：基于位图引导与自适应</a:t>
            </a:r>
            <a:r>
              <a:rPr lang="en-US" altLang="zh-CN" sz="3555" dirty="0"/>
              <a:t>Top-k</a:t>
            </a:r>
            <a:r>
              <a:rPr lang="zh-CN" altLang="en-US" sz="3555" dirty="0"/>
              <a:t>的并行多维高实用性序列模式挖掘</a:t>
            </a:r>
            <a:endParaRPr lang="zh-CN" altLang="en-US" sz="3555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05765" y="1200785"/>
            <a:ext cx="11730990" cy="55575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实验结果与性能表现</a:t>
            </a:r>
            <a:r>
              <a:rPr lang="en-US" altLang="zh-CN" sz="2400" dirty="0">
                <a:sym typeface="Symbol" panose="05050102010706020507" pitchFamily="18" charset="2"/>
              </a:rPr>
              <a:t> (Experimental Results)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实验基础：在</a:t>
            </a:r>
            <a:r>
              <a:rPr lang="en-US" altLang="zh-CN" sz="2400" dirty="0">
                <a:sym typeface="Symbol" panose="05050102010706020507" pitchFamily="18" charset="2"/>
              </a:rPr>
              <a:t> 19 </a:t>
            </a:r>
            <a:r>
              <a:rPr lang="zh-CN" altLang="en-US" sz="2400" dirty="0">
                <a:sym typeface="Symbol" panose="05050102010706020507" pitchFamily="18" charset="2"/>
              </a:rPr>
              <a:t>个数据集（包含</a:t>
            </a:r>
            <a:r>
              <a:rPr lang="en-US" altLang="zh-CN" sz="2400" dirty="0">
                <a:sym typeface="Symbol" panose="05050102010706020507" pitchFamily="18" charset="2"/>
              </a:rPr>
              <a:t> 13 </a:t>
            </a:r>
            <a:r>
              <a:rPr lang="zh-CN" altLang="en-US" sz="2400" dirty="0">
                <a:sym typeface="Symbol" panose="05050102010706020507" pitchFamily="18" charset="2"/>
              </a:rPr>
              <a:t>个真实数据集和</a:t>
            </a:r>
            <a:r>
              <a:rPr lang="en-US" altLang="zh-CN" sz="2400" dirty="0">
                <a:sym typeface="Symbol" panose="05050102010706020507" pitchFamily="18" charset="2"/>
              </a:rPr>
              <a:t> 6 </a:t>
            </a:r>
            <a:r>
              <a:rPr lang="zh-CN" altLang="en-US" sz="2400" dirty="0">
                <a:sym typeface="Symbol" panose="05050102010706020507" pitchFamily="18" charset="2"/>
              </a:rPr>
              <a:t>个合成数据集）上进行了广泛测试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运行速度：</a:t>
            </a:r>
            <a:r>
              <a:rPr lang="en-US" altLang="zh-CN" sz="2400" dirty="0">
                <a:sym typeface="Symbol" panose="05050102010706020507" pitchFamily="18" charset="2"/>
              </a:rPr>
              <a:t> MEU-Miner </a:t>
            </a:r>
            <a:r>
              <a:rPr lang="zh-CN" altLang="en-US" sz="2400" dirty="0">
                <a:sym typeface="Symbol" panose="05050102010706020507" pitchFamily="18" charset="2"/>
              </a:rPr>
              <a:t>的速度比现有基线算法快最高达</a:t>
            </a:r>
            <a:r>
              <a:rPr lang="en-US" altLang="zh-CN" sz="2400" dirty="0">
                <a:sym typeface="Symbol" panose="05050102010706020507" pitchFamily="18" charset="2"/>
              </a:rPr>
              <a:t> 66</a:t>
            </a:r>
            <a:r>
              <a:rPr lang="zh-CN" altLang="en-US" sz="2400" dirty="0">
                <a:sym typeface="Symbol" panose="05050102010706020507" pitchFamily="18" charset="2"/>
              </a:rPr>
              <a:t>倍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r>
              <a:rPr lang="en-US" altLang="zh-CN" sz="2400" dirty="0">
                <a:sym typeface="Symbol" panose="05050102010706020507" pitchFamily="18" charset="2"/>
              </a:rPr>
              <a:t>PMEU-Miner </a:t>
            </a:r>
            <a:r>
              <a:rPr lang="zh-CN" altLang="en-US" sz="2400" dirty="0">
                <a:sym typeface="Symbol" panose="05050102010706020507" pitchFamily="18" charset="2"/>
              </a:rPr>
              <a:t>通过多线程加速，最高可达</a:t>
            </a:r>
            <a:r>
              <a:rPr lang="en-US" altLang="zh-CN" sz="2400" dirty="0">
                <a:sym typeface="Symbol" panose="05050102010706020507" pitchFamily="18" charset="2"/>
              </a:rPr>
              <a:t> 180</a:t>
            </a:r>
            <a:r>
              <a:rPr lang="zh-CN" altLang="en-US" sz="2400" dirty="0">
                <a:sym typeface="Symbol" panose="05050102010706020507" pitchFamily="18" charset="2"/>
              </a:rPr>
              <a:t>倍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空间优化：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成功减少了高达</a:t>
            </a:r>
            <a:r>
              <a:rPr lang="en-US" altLang="zh-CN" sz="2400" dirty="0">
                <a:sym typeface="Symbol" panose="05050102010706020507" pitchFamily="18" charset="2"/>
              </a:rPr>
              <a:t> 80% </a:t>
            </a:r>
            <a:r>
              <a:rPr lang="zh-CN" altLang="en-US" sz="2400" dirty="0">
                <a:sym typeface="Symbol" panose="05050102010706020507" pitchFamily="18" charset="2"/>
              </a:rPr>
              <a:t>的冗余候选模式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，内存消耗降低了</a:t>
            </a:r>
            <a:r>
              <a:rPr lang="en-US" altLang="zh-CN" sz="2400" dirty="0">
                <a:sym typeface="Symbol" panose="05050102010706020507" pitchFamily="18" charset="2"/>
              </a:rPr>
              <a:t> 60% </a:t>
            </a:r>
            <a:r>
              <a:rPr lang="zh-CN" altLang="en-US" sz="2400" dirty="0">
                <a:sym typeface="Symbol" panose="05050102010706020507" pitchFamily="18" charset="2"/>
              </a:rPr>
              <a:t>以上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ym typeface="Symbol" panose="05050102010706020507" pitchFamily="18" charset="2"/>
              </a:rPr>
              <a:t>Top-k </a:t>
            </a:r>
            <a:r>
              <a:rPr lang="zh-CN" altLang="en-US" sz="2400" dirty="0">
                <a:sym typeface="Symbol" panose="05050102010706020507" pitchFamily="18" charset="2"/>
              </a:rPr>
              <a:t>表现：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在不同</a:t>
            </a:r>
            <a:r>
              <a:rPr lang="en-US" altLang="zh-CN" sz="2400" dirty="0">
                <a:sym typeface="Symbol" panose="05050102010706020507" pitchFamily="18" charset="2"/>
              </a:rPr>
              <a:t> k </a:t>
            </a:r>
            <a:r>
              <a:rPr lang="zh-CN" altLang="en-US" sz="2400" dirty="0">
                <a:sym typeface="Symbol" panose="05050102010706020507" pitchFamily="18" charset="2"/>
              </a:rPr>
              <a:t>值下，</a:t>
            </a:r>
            <a:r>
              <a:rPr lang="en-US" altLang="zh-CN" sz="2400" dirty="0">
                <a:sym typeface="Symbol" panose="05050102010706020507" pitchFamily="18" charset="2"/>
              </a:rPr>
              <a:t>TKMEU-Miner </a:t>
            </a:r>
            <a:r>
              <a:rPr lang="zh-CN" altLang="en-US" sz="2400" dirty="0">
                <a:sym typeface="Symbol" panose="05050102010706020507" pitchFamily="18" charset="2"/>
              </a:rPr>
              <a:t>均优于同类算法</a:t>
            </a:r>
            <a:r>
              <a:rPr lang="en-US" altLang="zh-CN" sz="2400" dirty="0">
                <a:sym typeface="Symbol" panose="05050102010706020507" pitchFamily="18" charset="2"/>
              </a:rPr>
              <a:t> 10 </a:t>
            </a:r>
            <a:r>
              <a:rPr lang="zh-CN" altLang="en-US" sz="2400" dirty="0">
                <a:sym typeface="Symbol" panose="05050102010706020507" pitchFamily="18" charset="2"/>
              </a:rPr>
              <a:t>到</a:t>
            </a:r>
            <a:r>
              <a:rPr lang="en-US" altLang="zh-CN" sz="2400" dirty="0">
                <a:sym typeface="Symbol" panose="05050102010706020507" pitchFamily="18" charset="2"/>
              </a:rPr>
              <a:t> 40 </a:t>
            </a:r>
            <a:r>
              <a:rPr lang="zh-CN" altLang="en-US" sz="2400" dirty="0">
                <a:sym typeface="Symbol" panose="05050102010706020507" pitchFamily="18" charset="2"/>
              </a:rPr>
              <a:t>倍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7330" y="527050"/>
            <a:ext cx="5743575" cy="25895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330" y="3429000"/>
            <a:ext cx="5760085" cy="27978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81000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555" dirty="0"/>
              <a:t>MEU-miner</a:t>
            </a:r>
            <a:r>
              <a:rPr lang="zh-CN" altLang="en-US" sz="3555" dirty="0"/>
              <a:t>：基于位图引导与自适应</a:t>
            </a:r>
            <a:r>
              <a:rPr lang="en-US" altLang="zh-CN" sz="3555" dirty="0"/>
              <a:t>Top-k</a:t>
            </a:r>
            <a:r>
              <a:rPr lang="zh-CN" altLang="en-US" sz="3555" dirty="0"/>
              <a:t>的并行多维高实用性序列模式挖掘</a:t>
            </a:r>
            <a:endParaRPr lang="zh-CN" altLang="en-US" sz="3555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405765" y="1200785"/>
            <a:ext cx="11730990" cy="555752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总结与展望</a:t>
            </a:r>
            <a:r>
              <a:rPr lang="en-US" altLang="zh-CN" sz="2400" dirty="0">
                <a:sym typeface="Symbol" panose="05050102010706020507" pitchFamily="18" charset="2"/>
              </a:rPr>
              <a:t> (Conclusion)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总结：</a:t>
            </a:r>
            <a:r>
              <a:rPr lang="en-US" altLang="zh-CN" sz="2400" dirty="0">
                <a:sym typeface="Symbol" panose="05050102010706020507" pitchFamily="18" charset="2"/>
              </a:rPr>
              <a:t> MEU-Miner </a:t>
            </a:r>
            <a:r>
              <a:rPr lang="zh-CN" altLang="en-US" sz="2400" dirty="0">
                <a:sym typeface="Symbol" panose="05050102010706020507" pitchFamily="18" charset="2"/>
              </a:rPr>
              <a:t>框架成功解决了多维高实用性序列模式挖掘中的剪枝失效、内存过载及扩展性差三大难题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价值：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即使维度增加，也能保持稳定的内存使用率，推动了该领域的技术边界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400" dirty="0">
                <a:sym typeface="Symbol" panose="05050102010706020507" pitchFamily="18" charset="2"/>
              </a:rPr>
              <a:t>展望：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为海量、富含上下文的序列数据提供了快速且可复现的模式发现工具，赋能商业决策与数据分析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zh-CN" altLang="en-US" sz="2400" dirty="0">
                <a:sym typeface="Symbol" panose="05050102010706020507" pitchFamily="18" charset="2"/>
              </a:rPr>
              <a:t>。</a:t>
            </a:r>
            <a:endParaRPr lang="zh-CN" altLang="en-US" sz="24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7090</Words>
  <Application>WPS 演示</Application>
  <PresentationFormat>Widescreen</PresentationFormat>
  <Paragraphs>876</Paragraphs>
  <Slides>30</Slides>
  <Notes>81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30</vt:i4>
      </vt:variant>
    </vt:vector>
  </HeadingPairs>
  <TitlesOfParts>
    <vt:vector size="47" baseType="lpstr">
      <vt:lpstr>Arial</vt:lpstr>
      <vt:lpstr>宋体</vt:lpstr>
      <vt:lpstr>Wingdings</vt:lpstr>
      <vt:lpstr>Berlin Sans FB Demi</vt:lpstr>
      <vt:lpstr>Calibri</vt:lpstr>
      <vt:lpstr>Times New Roman</vt:lpstr>
      <vt:lpstr>Tahoma</vt:lpstr>
      <vt:lpstr>Calibri</vt:lpstr>
      <vt:lpstr>微软雅黑</vt:lpstr>
      <vt:lpstr>Arial Unicode MS</vt:lpstr>
      <vt:lpstr>Symbol</vt:lpstr>
      <vt:lpstr>Wingdings</vt:lpstr>
      <vt:lpstr>Retrospect</vt:lpstr>
      <vt:lpstr>MSPhotoEd.3</vt:lpstr>
      <vt:lpstr>MSPhotoEd.3</vt:lpstr>
      <vt:lpstr>MSPhotoEd.3</vt:lpstr>
      <vt:lpstr>MSPhotoEd.3</vt:lpstr>
      <vt:lpstr>Pattern Mining: Advanced Methods</vt:lpstr>
      <vt:lpstr>序列模式挖掘</vt:lpstr>
      <vt:lpstr>序列模式挖掘</vt:lpstr>
      <vt:lpstr>序列模式示例</vt:lpstr>
      <vt:lpstr>序列模式示例</vt:lpstr>
      <vt:lpstr>序列模式与序列模式挖掘 </vt:lpstr>
      <vt:lpstr>序列模式与序列模式挖掘</vt:lpstr>
      <vt:lpstr>序列模式挖掘算法</vt:lpstr>
      <vt:lpstr>GSP: 基于 Apriori 的序列模式挖掘</vt:lpstr>
      <vt:lpstr>GSP: 基于 Apriori 的序列模式挖掘</vt:lpstr>
      <vt:lpstr>GSP Mining and Pruning</vt:lpstr>
      <vt:lpstr>垂直数据格式中的序列模式挖掘：SPADE 算法</vt:lpstr>
      <vt:lpstr>PrefixSpan：一种模式增长方法</vt:lpstr>
      <vt:lpstr>PrefixSpan: 挖掘前缀投影数据库</vt:lpstr>
      <vt:lpstr>现实考量：伪投影 vs. 物理投影</vt:lpstr>
      <vt:lpstr>GSP与PrefixSpan的对比</vt:lpstr>
      <vt:lpstr>CloSpan: 挖掘闭合序列模式</vt:lpstr>
      <vt:lpstr>CloSpan: 当两个投影数据库具有相同大小时 </vt:lpstr>
      <vt:lpstr>基于约束的序列模式挖掘</vt:lpstr>
      <vt:lpstr>序列模式挖掘中的时间约束</vt:lpstr>
      <vt:lpstr>剧情和剧情模式挖掘</vt:lpstr>
      <vt:lpstr>剧情和剧情模式挖掘</vt:lpstr>
      <vt:lpstr>MEU-miner：基于位图引导与自适应Top-k的并行多维高实用性序列模式挖掘</vt:lpstr>
      <vt:lpstr>MEU-miner：基于位图引导与自适应Top-k的并行多维高实用性序列模式挖掘</vt:lpstr>
      <vt:lpstr>PowerPoint 演示文稿</vt:lpstr>
      <vt:lpstr>MEU-miner：基于位图引导与自适应Top-k的并行多维高实用性序列模式挖掘</vt:lpstr>
      <vt:lpstr>MEU-miner：基于位图引导与自适应Top-k的并行多维高实用性序列模式挖掘</vt:lpstr>
      <vt:lpstr>MEU-miner：基于位图引导与自适应Top-k的并行多维高实用性序列模式挖掘</vt:lpstr>
      <vt:lpstr>PowerPoint 演示文稿</vt:lpstr>
      <vt:lpstr>MEU-miner：基于位图引导与自适应Top-k的并行多维高实用性序列模式挖掘</vt:lpstr>
    </vt:vector>
  </TitlesOfParts>
  <Company>UIUC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Jiawei Han</dc:creator>
  <cp:lastModifiedBy>M</cp:lastModifiedBy>
  <cp:revision>1176</cp:revision>
  <cp:lastPrinted>2017-09-26T19:57:00Z</cp:lastPrinted>
  <dcterms:created xsi:type="dcterms:W3CDTF">2014-06-02T15:06:00Z</dcterms:created>
  <dcterms:modified xsi:type="dcterms:W3CDTF">2026-04-09T11:55:40Z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899C0831443343CD8B5E702A19518DDE_13</vt:lpwstr>
  </property>
</Properties>
</file>