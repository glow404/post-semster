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1934" r:id="rId3"/>
    <p:sldId id="1907" r:id="rId5"/>
    <p:sldId id="1869" r:id="rId6"/>
    <p:sldId id="1870" r:id="rId7"/>
    <p:sldId id="1871" r:id="rId8"/>
    <p:sldId id="1873" r:id="rId9"/>
    <p:sldId id="1874" r:id="rId10"/>
    <p:sldId id="1876" r:id="rId11"/>
    <p:sldId id="1877" r:id="rId12"/>
    <p:sldId id="1935" r:id="rId13"/>
    <p:sldId id="1936" r:id="rId14"/>
    <p:sldId id="1937" r:id="rId15"/>
    <p:sldId id="1938" r:id="rId16"/>
    <p:sldId id="1879" r:id="rId17"/>
    <p:sldId id="1880" r:id="rId18"/>
    <p:sldId id="1881" r:id="rId19"/>
    <p:sldId id="662" r:id="rId20"/>
    <p:sldId id="663" r:id="rId21"/>
    <p:sldId id="706" r:id="rId22"/>
    <p:sldId id="707" r:id="rId23"/>
    <p:sldId id="1940" r:id="rId24"/>
    <p:sldId id="1939" r:id="rId25"/>
    <p:sldId id="1941" r:id="rId26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CC"/>
    <a:srgbClr val="F0CDBC"/>
    <a:srgbClr val="0033CC"/>
    <a:srgbClr val="FFFF00"/>
    <a:srgbClr val="DAD1CE"/>
    <a:srgbClr val="E9D2CD"/>
    <a:srgbClr val="CCFF66"/>
    <a:srgbClr val="008080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27" autoAdjust="0"/>
    <p:restoredTop sz="95013" autoAdjust="0"/>
  </p:normalViewPr>
  <p:slideViewPr>
    <p:cSldViewPr snapToGrid="0" showGuides="1">
      <p:cViewPr varScale="1">
        <p:scale>
          <a:sx n="82" d="100"/>
          <a:sy n="82" d="100"/>
        </p:scale>
        <p:origin x="427" y="48"/>
      </p:cViewPr>
      <p:guideLst>
        <p:guide orient="horz" pos="2160"/>
        <p:guide pos="3847"/>
      </p:guideLst>
    </p:cSldViewPr>
  </p:slideViewPr>
  <p:outlineViewPr>
    <p:cViewPr>
      <p:scale>
        <a:sx n="33" d="100"/>
        <a:sy n="33" d="100"/>
      </p:scale>
      <p:origin x="0" y="-8358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6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6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6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6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/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FA10A0E-8F5B-481C-BDBE-16C9C6DB6C7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00209C-82AF-421F-8B3B-5A18AC94DC6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FA10A0E-8F5B-481C-BDBE-16C9C6DB6C7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3EB366-7893-42BA-845C-8FEEB7AD074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E076DA-754C-4194-94D4-80623A0BF2C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F33FDD-6126-4EDC-BA1F-2885C93518A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206D95-AEFE-4A27-910C-CA7763A5D30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000" dirty="0" err="1"/>
              <a:t>Apriori</a:t>
            </a:r>
            <a:r>
              <a:rPr lang="en-US" altLang="en-US" sz="1000" dirty="0"/>
              <a:t>: </a:t>
            </a:r>
            <a:endParaRPr lang="en-US" altLang="en-US" sz="1000" dirty="0"/>
          </a:p>
          <a:p>
            <a:r>
              <a:rPr lang="en-US" altLang="en-US" sz="1000" dirty="0"/>
              <a:t>    Step1: Join two k-1 edge graphs (these two graphs share a same k-2 edge subgraph) to generate a k-edge graph</a:t>
            </a:r>
            <a:endParaRPr lang="en-US" altLang="en-US" sz="1000" dirty="0"/>
          </a:p>
          <a:p>
            <a:r>
              <a:rPr lang="en-US" altLang="en-US" sz="1000" dirty="0"/>
              <a:t>    Step2:  Join the </a:t>
            </a:r>
            <a:r>
              <a:rPr lang="en-US" altLang="en-US" sz="1000" dirty="0" err="1"/>
              <a:t>tid</a:t>
            </a:r>
            <a:r>
              <a:rPr lang="en-US" altLang="en-US" sz="1000" dirty="0"/>
              <a:t>-list of these two k-1 edge graphs, then see whether its count is larger than the minimum support</a:t>
            </a:r>
            <a:endParaRPr lang="en-US" altLang="en-US" sz="1000" dirty="0"/>
          </a:p>
          <a:p>
            <a:r>
              <a:rPr lang="en-US" altLang="en-US" sz="1000" dirty="0"/>
              <a:t>    Step3:  Check all k-1 subgraph of this k-edge graph to see whether all of them are frequent</a:t>
            </a:r>
            <a:endParaRPr lang="en-US" altLang="en-US" sz="1000" dirty="0"/>
          </a:p>
          <a:p>
            <a:r>
              <a:rPr lang="en-US" altLang="en-US" sz="1000" dirty="0"/>
              <a:t>    Step4:  After G successfully pass Step1-3, do support computation of G in the graph dataset, See whether it is really frequent.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 err="1"/>
              <a:t>gSpan</a:t>
            </a:r>
            <a:r>
              <a:rPr lang="en-US" altLang="en-US" sz="1000" dirty="0"/>
              <a:t>:</a:t>
            </a:r>
            <a:endParaRPr lang="en-US" altLang="en-US" sz="1000" dirty="0"/>
          </a:p>
          <a:p>
            <a:r>
              <a:rPr lang="en-US" altLang="en-US" sz="1000" dirty="0"/>
              <a:t>    Step1: Right-most extend a k-1 edge graph to several k edge graphs.</a:t>
            </a:r>
            <a:endParaRPr lang="en-US" altLang="en-US" sz="1000" dirty="0"/>
          </a:p>
          <a:p>
            <a:r>
              <a:rPr lang="en-US" altLang="en-US" sz="1000" dirty="0"/>
              <a:t>    Step2: Enumerate the occurrence of this k-1 edge graph in the graph dataset, meanwhile, counting these k edge graphs.</a:t>
            </a:r>
            <a:endParaRPr lang="en-US" altLang="en-US" sz="1000" dirty="0"/>
          </a:p>
          <a:p>
            <a:r>
              <a:rPr lang="en-US" altLang="en-US" sz="1000" dirty="0"/>
              <a:t>    Step3: Output those k edge graphs whose support is larger than the minimum support.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/>
              <a:t>Pros:</a:t>
            </a:r>
            <a:endParaRPr lang="en-US" altLang="en-US" sz="1000" dirty="0"/>
          </a:p>
          <a:p>
            <a:r>
              <a:rPr lang="en-US" altLang="en-US" sz="1000" dirty="0"/>
              <a:t>   1: </a:t>
            </a:r>
            <a:r>
              <a:rPr lang="en-US" altLang="en-US" sz="1000" dirty="0" err="1"/>
              <a:t>gSpan</a:t>
            </a:r>
            <a:r>
              <a:rPr lang="en-US" altLang="en-US" sz="1000" dirty="0"/>
              <a:t> avoid the costly candidate generation and testing some infrequent subgraphs.</a:t>
            </a:r>
            <a:endParaRPr lang="en-US" altLang="en-US" sz="1000" dirty="0"/>
          </a:p>
          <a:p>
            <a:r>
              <a:rPr lang="en-US" altLang="en-US" sz="1000" dirty="0"/>
              <a:t>   2: No complicated graph operations, like joining two graphs and calculating its k-1 subgraphs.</a:t>
            </a:r>
            <a:endParaRPr lang="en-US" altLang="en-US" sz="1000" dirty="0"/>
          </a:p>
          <a:p>
            <a:r>
              <a:rPr lang="en-US" altLang="en-US" sz="1000" dirty="0"/>
              <a:t>   3. </a:t>
            </a:r>
            <a:r>
              <a:rPr lang="en-US" altLang="en-US" sz="1000" dirty="0" err="1"/>
              <a:t>gSpan</a:t>
            </a:r>
            <a:r>
              <a:rPr lang="en-US" altLang="en-US" sz="1000" dirty="0"/>
              <a:t> is very simple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/>
              <a:t>The key is how to do right most extension efficiently in graph. We invented DFS code for graph.</a:t>
            </a:r>
            <a:endParaRPr lang="en-US" altLang="en-US" sz="10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FA4362-77A9-46FA-B4FA-FA91103C846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206D95-AEFE-4A27-910C-CA7763A5D30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000" dirty="0" err="1"/>
              <a:t>Apriori</a:t>
            </a:r>
            <a:r>
              <a:rPr lang="en-US" altLang="en-US" sz="1000" dirty="0"/>
              <a:t>: </a:t>
            </a:r>
            <a:endParaRPr lang="en-US" altLang="en-US" sz="1000" dirty="0"/>
          </a:p>
          <a:p>
            <a:r>
              <a:rPr lang="en-US" altLang="en-US" sz="1000" dirty="0"/>
              <a:t>    Step1: Join two k-1 edge graphs (these two graphs share a same k-2 edge subgraph) to generate a k-edge graph</a:t>
            </a:r>
            <a:endParaRPr lang="en-US" altLang="en-US" sz="1000" dirty="0"/>
          </a:p>
          <a:p>
            <a:r>
              <a:rPr lang="en-US" altLang="en-US" sz="1000" dirty="0"/>
              <a:t>    Step2:  Join the </a:t>
            </a:r>
            <a:r>
              <a:rPr lang="en-US" altLang="en-US" sz="1000" dirty="0" err="1"/>
              <a:t>tid</a:t>
            </a:r>
            <a:r>
              <a:rPr lang="en-US" altLang="en-US" sz="1000" dirty="0"/>
              <a:t>-list of these two k-1 edge graphs, then see whether its count is larger than the minimum support</a:t>
            </a:r>
            <a:endParaRPr lang="en-US" altLang="en-US" sz="1000" dirty="0"/>
          </a:p>
          <a:p>
            <a:r>
              <a:rPr lang="en-US" altLang="en-US" sz="1000" dirty="0"/>
              <a:t>    Step3:  Check all k-1 subgraph of this k-edge graph to see whether all of them are frequent</a:t>
            </a:r>
            <a:endParaRPr lang="en-US" altLang="en-US" sz="1000" dirty="0"/>
          </a:p>
          <a:p>
            <a:r>
              <a:rPr lang="en-US" altLang="en-US" sz="1000" dirty="0"/>
              <a:t>    Step4:  After G successfully pass Step1-3, do support computation of G in the graph dataset, See whether it is really frequent.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 err="1"/>
              <a:t>gSpan</a:t>
            </a:r>
            <a:r>
              <a:rPr lang="en-US" altLang="en-US" sz="1000" dirty="0"/>
              <a:t>:</a:t>
            </a:r>
            <a:endParaRPr lang="en-US" altLang="en-US" sz="1000" dirty="0"/>
          </a:p>
          <a:p>
            <a:r>
              <a:rPr lang="en-US" altLang="en-US" sz="1000" dirty="0"/>
              <a:t>    Step1: Right-most extend a k-1 edge graph to several k edge graphs.</a:t>
            </a:r>
            <a:endParaRPr lang="en-US" altLang="en-US" sz="1000" dirty="0"/>
          </a:p>
          <a:p>
            <a:r>
              <a:rPr lang="en-US" altLang="en-US" sz="1000" dirty="0"/>
              <a:t>    Step2: Enumerate the occurrence of this k-1 edge graph in the graph dataset, meanwhile, counting these k edge graphs.</a:t>
            </a:r>
            <a:endParaRPr lang="en-US" altLang="en-US" sz="1000" dirty="0"/>
          </a:p>
          <a:p>
            <a:r>
              <a:rPr lang="en-US" altLang="en-US" sz="1000" dirty="0"/>
              <a:t>    Step3: Output those k edge graphs whose support is larger than the minimum support.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/>
              <a:t>Pros:</a:t>
            </a:r>
            <a:endParaRPr lang="en-US" altLang="en-US" sz="1000" dirty="0"/>
          </a:p>
          <a:p>
            <a:r>
              <a:rPr lang="en-US" altLang="en-US" sz="1000" dirty="0"/>
              <a:t>   1: </a:t>
            </a:r>
            <a:r>
              <a:rPr lang="en-US" altLang="en-US" sz="1000" dirty="0" err="1"/>
              <a:t>gSpan</a:t>
            </a:r>
            <a:r>
              <a:rPr lang="en-US" altLang="en-US" sz="1000" dirty="0"/>
              <a:t> avoid the costly candidate generation and testing some infrequent subgraphs.</a:t>
            </a:r>
            <a:endParaRPr lang="en-US" altLang="en-US" sz="1000" dirty="0"/>
          </a:p>
          <a:p>
            <a:r>
              <a:rPr lang="en-US" altLang="en-US" sz="1000" dirty="0"/>
              <a:t>   2: No complicated graph operations, like joining two graphs and calculating its k-1 subgraphs.</a:t>
            </a:r>
            <a:endParaRPr lang="en-US" altLang="en-US" sz="1000" dirty="0"/>
          </a:p>
          <a:p>
            <a:r>
              <a:rPr lang="en-US" altLang="en-US" sz="1000" dirty="0"/>
              <a:t>   3. </a:t>
            </a:r>
            <a:r>
              <a:rPr lang="en-US" altLang="en-US" sz="1000" dirty="0" err="1"/>
              <a:t>gSpan</a:t>
            </a:r>
            <a:r>
              <a:rPr lang="en-US" altLang="en-US" sz="1000" dirty="0"/>
              <a:t> is very simple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/>
              <a:t>The key is how to do right most extension efficiently in graph. We invented DFS code for graph.</a:t>
            </a:r>
            <a:endParaRPr lang="en-US" altLang="en-US" sz="10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FA4362-77A9-46FA-B4FA-FA91103C846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206D95-AEFE-4A27-910C-CA7763A5D30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000" dirty="0" err="1"/>
              <a:t>Apriori</a:t>
            </a:r>
            <a:r>
              <a:rPr lang="en-US" altLang="en-US" sz="1000" dirty="0"/>
              <a:t>: </a:t>
            </a:r>
            <a:endParaRPr lang="en-US" altLang="en-US" sz="1000" dirty="0"/>
          </a:p>
          <a:p>
            <a:r>
              <a:rPr lang="en-US" altLang="en-US" sz="1000" dirty="0"/>
              <a:t>    Step1: Join two k-1 edge graphs (these two graphs share a same k-2 edge subgraph) to generate a k-edge graph</a:t>
            </a:r>
            <a:endParaRPr lang="en-US" altLang="en-US" sz="1000" dirty="0"/>
          </a:p>
          <a:p>
            <a:r>
              <a:rPr lang="en-US" altLang="en-US" sz="1000" dirty="0"/>
              <a:t>    Step2:  Join the </a:t>
            </a:r>
            <a:r>
              <a:rPr lang="en-US" altLang="en-US" sz="1000" dirty="0" err="1"/>
              <a:t>tid</a:t>
            </a:r>
            <a:r>
              <a:rPr lang="en-US" altLang="en-US" sz="1000" dirty="0"/>
              <a:t>-list of these two k-1 edge graphs, then see whether its count is larger than the minimum support</a:t>
            </a:r>
            <a:endParaRPr lang="en-US" altLang="en-US" sz="1000" dirty="0"/>
          </a:p>
          <a:p>
            <a:r>
              <a:rPr lang="en-US" altLang="en-US" sz="1000" dirty="0"/>
              <a:t>    Step3:  Check all k-1 subgraph of this k-edge graph to see whether all of them are frequent</a:t>
            </a:r>
            <a:endParaRPr lang="en-US" altLang="en-US" sz="1000" dirty="0"/>
          </a:p>
          <a:p>
            <a:r>
              <a:rPr lang="en-US" altLang="en-US" sz="1000" dirty="0"/>
              <a:t>    Step4:  After G successfully pass Step1-3, do support computation of G in the graph dataset, See whether it is really frequent.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 err="1"/>
              <a:t>gSpan</a:t>
            </a:r>
            <a:r>
              <a:rPr lang="en-US" altLang="en-US" sz="1000" dirty="0"/>
              <a:t>:</a:t>
            </a:r>
            <a:endParaRPr lang="en-US" altLang="en-US" sz="1000" dirty="0"/>
          </a:p>
          <a:p>
            <a:r>
              <a:rPr lang="en-US" altLang="en-US" sz="1000" dirty="0"/>
              <a:t>    Step1: Right-most extend a k-1 edge graph to several k edge graphs.</a:t>
            </a:r>
            <a:endParaRPr lang="en-US" altLang="en-US" sz="1000" dirty="0"/>
          </a:p>
          <a:p>
            <a:r>
              <a:rPr lang="en-US" altLang="en-US" sz="1000" dirty="0"/>
              <a:t>    Step2: Enumerate the occurrence of this k-1 edge graph in the graph dataset, meanwhile, counting these k edge graphs.</a:t>
            </a:r>
            <a:endParaRPr lang="en-US" altLang="en-US" sz="1000" dirty="0"/>
          </a:p>
          <a:p>
            <a:r>
              <a:rPr lang="en-US" altLang="en-US" sz="1000" dirty="0"/>
              <a:t>    Step3: Output those k edge graphs whose support is larger than the minimum support.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/>
              <a:t>Pros:</a:t>
            </a:r>
            <a:endParaRPr lang="en-US" altLang="en-US" sz="1000" dirty="0"/>
          </a:p>
          <a:p>
            <a:r>
              <a:rPr lang="en-US" altLang="en-US" sz="1000" dirty="0"/>
              <a:t>   1: </a:t>
            </a:r>
            <a:r>
              <a:rPr lang="en-US" altLang="en-US" sz="1000" dirty="0" err="1"/>
              <a:t>gSpan</a:t>
            </a:r>
            <a:r>
              <a:rPr lang="en-US" altLang="en-US" sz="1000" dirty="0"/>
              <a:t> avoid the costly candidate generation and testing some infrequent subgraphs.</a:t>
            </a:r>
            <a:endParaRPr lang="en-US" altLang="en-US" sz="1000" dirty="0"/>
          </a:p>
          <a:p>
            <a:r>
              <a:rPr lang="en-US" altLang="en-US" sz="1000" dirty="0"/>
              <a:t>   2: No complicated graph operations, like joining two graphs and calculating its k-1 subgraphs.</a:t>
            </a:r>
            <a:endParaRPr lang="en-US" altLang="en-US" sz="1000" dirty="0"/>
          </a:p>
          <a:p>
            <a:r>
              <a:rPr lang="en-US" altLang="en-US" sz="1000" dirty="0"/>
              <a:t>   3. </a:t>
            </a:r>
            <a:r>
              <a:rPr lang="en-US" altLang="en-US" sz="1000" dirty="0" err="1"/>
              <a:t>gSpan</a:t>
            </a:r>
            <a:r>
              <a:rPr lang="en-US" altLang="en-US" sz="1000" dirty="0"/>
              <a:t> is very simple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/>
              <a:t>The key is how to do right most extension efficiently in graph. We invented DFS code for graph.</a:t>
            </a:r>
            <a:endParaRPr lang="en-US" altLang="en-US" sz="10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FA4362-77A9-46FA-B4FA-FA91103C846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7D8E18-B4B6-498E-8CB9-1AFFACD2C0B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200" dirty="0"/>
              <a:t>- Challenge: An </a:t>
            </a:r>
            <a:r>
              <a:rPr lang="en-US" altLang="en-US" sz="1200" b="1" dirty="0"/>
              <a:t>n</a:t>
            </a:r>
            <a:r>
              <a:rPr lang="en-US" altLang="en-US" sz="1200" dirty="0"/>
              <a:t>-edge frequent graph may have 2</a:t>
            </a:r>
            <a:r>
              <a:rPr lang="en-US" altLang="en-US" sz="1200" b="1" baseline="30000" dirty="0"/>
              <a:t>n</a:t>
            </a:r>
            <a:r>
              <a:rPr lang="en-US" altLang="en-US" sz="1200" dirty="0"/>
              <a:t> subgraphs</a:t>
            </a:r>
            <a:endParaRPr lang="en-US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7E5CE05-D201-49E7-A292-5AEC5701B5D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000" dirty="0" err="1"/>
              <a:t>Apriori</a:t>
            </a:r>
            <a:r>
              <a:rPr lang="en-US" altLang="en-US" sz="1000" dirty="0"/>
              <a:t>: </a:t>
            </a:r>
            <a:endParaRPr lang="en-US" altLang="en-US" sz="1000" dirty="0"/>
          </a:p>
          <a:p>
            <a:r>
              <a:rPr lang="en-US" altLang="en-US" sz="1000" dirty="0"/>
              <a:t>    Step1: Join two k-1 edge graphs (these two graphs share a same k-2 edge subgraph) to generate a k-edge graph</a:t>
            </a:r>
            <a:endParaRPr lang="en-US" altLang="en-US" sz="1000" dirty="0"/>
          </a:p>
          <a:p>
            <a:r>
              <a:rPr lang="en-US" altLang="en-US" sz="1000" dirty="0"/>
              <a:t>    Step2:  Join the </a:t>
            </a:r>
            <a:r>
              <a:rPr lang="en-US" altLang="en-US" sz="1000" dirty="0" err="1"/>
              <a:t>tid</a:t>
            </a:r>
            <a:r>
              <a:rPr lang="en-US" altLang="en-US" sz="1000" dirty="0"/>
              <a:t>-list of these two k-1 edge graphs, then see whether its count is larger than the minimum support</a:t>
            </a:r>
            <a:endParaRPr lang="en-US" altLang="en-US" sz="1000" dirty="0"/>
          </a:p>
          <a:p>
            <a:r>
              <a:rPr lang="en-US" altLang="en-US" sz="1000" dirty="0"/>
              <a:t>    Step3:  Check all k-1 subgraph of this k-edge graph to see whether all of them are frequent</a:t>
            </a:r>
            <a:endParaRPr lang="en-US" altLang="en-US" sz="1000" dirty="0"/>
          </a:p>
          <a:p>
            <a:r>
              <a:rPr lang="en-US" altLang="en-US" sz="1000" dirty="0"/>
              <a:t>    Step4:  After G successfully pass Step1-3, do support computation of G in the graph dataset, See whether it is really frequent.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 err="1"/>
              <a:t>gSpan</a:t>
            </a:r>
            <a:r>
              <a:rPr lang="en-US" altLang="en-US" sz="1000" dirty="0"/>
              <a:t>:</a:t>
            </a:r>
            <a:endParaRPr lang="en-US" altLang="en-US" sz="1000" dirty="0"/>
          </a:p>
          <a:p>
            <a:r>
              <a:rPr lang="en-US" altLang="en-US" sz="1000" dirty="0"/>
              <a:t>    Step1: Right-most extend a k-1 edge graph to several k edge graphs.</a:t>
            </a:r>
            <a:endParaRPr lang="en-US" altLang="en-US" sz="1000" dirty="0"/>
          </a:p>
          <a:p>
            <a:r>
              <a:rPr lang="en-US" altLang="en-US" sz="1000" dirty="0"/>
              <a:t>    Step2: Enumerate the occurrence of this k-1 edge graph in the graph dataset, meanwhile, counting these k edge graphs.</a:t>
            </a:r>
            <a:endParaRPr lang="en-US" altLang="en-US" sz="1000" dirty="0"/>
          </a:p>
          <a:p>
            <a:r>
              <a:rPr lang="en-US" altLang="en-US" sz="1000" dirty="0"/>
              <a:t>    Step3: Output those k edge graphs whose support is larger than the minimum support.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/>
              <a:t>Pros:</a:t>
            </a:r>
            <a:endParaRPr lang="en-US" altLang="en-US" sz="1000" dirty="0"/>
          </a:p>
          <a:p>
            <a:r>
              <a:rPr lang="en-US" altLang="en-US" sz="1000" dirty="0"/>
              <a:t>   1: </a:t>
            </a:r>
            <a:r>
              <a:rPr lang="en-US" altLang="en-US" sz="1000" dirty="0" err="1"/>
              <a:t>gSpan</a:t>
            </a:r>
            <a:r>
              <a:rPr lang="en-US" altLang="en-US" sz="1000" dirty="0"/>
              <a:t> avoid the costly candidate generation and testing some infrequent subgraphs.</a:t>
            </a:r>
            <a:endParaRPr lang="en-US" altLang="en-US" sz="1000" dirty="0"/>
          </a:p>
          <a:p>
            <a:r>
              <a:rPr lang="en-US" altLang="en-US" sz="1000" dirty="0"/>
              <a:t>   2: No complicated graph operations, like joining two graphs and calculating its k-1 subgraphs.</a:t>
            </a:r>
            <a:endParaRPr lang="en-US" altLang="en-US" sz="1000" dirty="0"/>
          </a:p>
          <a:p>
            <a:r>
              <a:rPr lang="en-US" altLang="en-US" sz="1000" dirty="0"/>
              <a:t>   3. </a:t>
            </a:r>
            <a:r>
              <a:rPr lang="en-US" altLang="en-US" sz="1000" dirty="0" err="1"/>
              <a:t>gSpan</a:t>
            </a:r>
            <a:r>
              <a:rPr lang="en-US" altLang="en-US" sz="1000" dirty="0"/>
              <a:t> is very simple</a:t>
            </a:r>
            <a:endParaRPr lang="en-US" altLang="en-US" sz="1000" dirty="0"/>
          </a:p>
          <a:p>
            <a:endParaRPr lang="en-US" altLang="en-US" sz="1000" dirty="0"/>
          </a:p>
          <a:p>
            <a:r>
              <a:rPr lang="en-US" altLang="en-US" sz="1000" dirty="0"/>
              <a:t>The key is how to do right most extension efficiently in graph. We invented DFS code for graph.</a:t>
            </a:r>
            <a:endParaRPr lang="en-US" altLang="en-US" sz="10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7DACA5D-7DCA-4736-AD9C-7B4D4DCCD41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FSG</a:t>
            </a:r>
            <a:r>
              <a:rPr lang="zh-CN" altLang="en-US" dirty="0"/>
              <a:t>：：</a:t>
            </a:r>
            <a:r>
              <a:rPr lang="en-US" altLang="zh-CN" dirty="0" err="1"/>
              <a:t>Apriori</a:t>
            </a:r>
            <a:r>
              <a:rPr lang="zh-CN" altLang="en-US" dirty="0"/>
              <a:t>：广度优先，边扩展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CF603-38CA-474C-9726-069E767283EC}" type="slidenum">
              <a:rPr lang="en-US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BACFCC-2ED6-4484-AE4F-FB556DD8C581}" type="slidenum">
              <a:rPr lang="en-US" altLang="en-US" smtClean="0">
                <a:cs typeface="Arial" panose="020B0604020202020204" pitchFamily="34" charset="0"/>
              </a:rPr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21" y="4344025"/>
            <a:ext cx="5485158" cy="4114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CF603-38CA-474C-9726-069E767283EC}" type="slidenum">
              <a:rPr lang="en-US" altLang="en-US" smtClean="0">
                <a:solidFill>
                  <a:prstClr val="black"/>
                </a:solidFill>
                <a:cs typeface="Arial" panose="020B0604020202020204" pitchFamily="34" charset="0"/>
              </a:rPr>
            </a:fld>
            <a:endParaRPr lang="en-US" alt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CF603-38CA-474C-9726-069E767283EC}" type="slidenum">
              <a:rPr lang="en-US" altLang="en-US" smtClean="0">
                <a:solidFill>
                  <a:prstClr val="black"/>
                </a:solidFill>
                <a:cs typeface="Arial" panose="020B0604020202020204" pitchFamily="34" charset="0"/>
              </a:rPr>
            </a:fld>
            <a:endParaRPr lang="en-US" alt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CF603-38CA-474C-9726-069E767283EC}" type="slidenum">
              <a:rPr lang="en-US" altLang="en-US" smtClean="0">
                <a:solidFill>
                  <a:prstClr val="black"/>
                </a:solidFill>
                <a:cs typeface="Arial" panose="020B0604020202020204" pitchFamily="34" charset="0"/>
              </a:rPr>
            </a:fld>
            <a:endParaRPr lang="en-US" alt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CF603-38CA-474C-9726-069E767283EC}" type="slidenum">
              <a:rPr lang="en-US" altLang="en-US" smtClean="0">
                <a:solidFill>
                  <a:prstClr val="black"/>
                </a:solidFill>
                <a:cs typeface="Arial" panose="020B0604020202020204" pitchFamily="34" charset="0"/>
              </a:rPr>
            </a:fld>
            <a:endParaRPr lang="en-US" alt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8980" indent="-280670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1410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035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8665" indent="-224155" defTabSz="9144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676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592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64865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810" indent="-224155" defTabSz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CF603-38CA-474C-9726-069E767283EC}" type="slidenum">
              <a:rPr lang="en-US" altLang="en-US" smtClean="0">
                <a:solidFill>
                  <a:prstClr val="black"/>
                </a:solidFill>
                <a:cs typeface="Arial" panose="020B0604020202020204" pitchFamily="34" charset="0"/>
              </a:rPr>
            </a:fld>
            <a:endParaRPr lang="en-US" alt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1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645" indent="-461645">
              <a:defRPr sz="2800"/>
            </a:lvl1pPr>
            <a:lvl2pPr marL="737870" indent="-537845">
              <a:defRPr sz="2800"/>
            </a:lvl2pPr>
            <a:lvl3pPr marL="858520" indent="-474345">
              <a:defRPr sz="2800"/>
            </a:lvl3pPr>
            <a:lvl4pPr marL="1144270" indent="-521970">
              <a:defRPr sz="2800"/>
            </a:lvl4pPr>
            <a:lvl5pPr marL="1376045" indent="-508000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  <a:p>
            <a:pPr lvl="3"/>
            <a:r>
              <a:rPr lang="en-US" dirty="0"/>
              <a:t> Fourth level</a:t>
            </a:r>
            <a:endParaRPr lang="en-US" dirty="0"/>
          </a:p>
          <a:p>
            <a:pPr lvl="4"/>
            <a:r>
              <a:rPr lang="en-US" dirty="0"/>
              <a:t> 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FFBA9-6F95-4F70-A0C1-45366D5DB750}" type="datetime4">
              <a:rPr lang="en-US"/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  <a:endParaRPr lang="en-US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B0B6D57-B021-463B-8D62-09A83E2EE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  <a:endParaRPr lang="en-US" dirty="0"/>
          </a:p>
          <a:p>
            <a:pPr lvl="1"/>
            <a:r>
              <a:rPr lang="en-US" dirty="0"/>
              <a:t> 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  <a:p>
            <a:pPr lvl="3"/>
            <a:r>
              <a:rPr lang="en-US" dirty="0"/>
              <a:t> Fourth level</a:t>
            </a:r>
            <a:endParaRPr lang="en-US" dirty="0"/>
          </a:p>
          <a:p>
            <a:pPr lvl="4"/>
            <a:r>
              <a:rPr lang="en-US" dirty="0"/>
              <a:t> 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/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0995" indent="-34099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2770" indent="-37274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indent="-29972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495" indent="-29019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7432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emf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3.e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21.wmf"/><Relationship Id="rId2" Type="http://schemas.openxmlformats.org/officeDocument/2006/relationships/image" Target="../media/image19.wmf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050634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dirty="0"/>
              <a:t>Pattern Mining: Advanced Methods</a:t>
            </a:r>
            <a:endParaRPr lang="en-US" alt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9979" y="1131454"/>
            <a:ext cx="10532282" cy="5574146"/>
          </a:xfrm>
          <a:noFill/>
        </p:spPr>
        <p:txBody>
          <a:bodyPr vert="horz" lIns="92075" tIns="46038" rIns="92075" bIns="46038" rtlCol="0" anchor="t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Mining Various Kinds of Patterns 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Mining Compressed or Approximate Patterns  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Constraint-based Pattern Mining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Mining Sequential Patterns</a:t>
            </a:r>
            <a:endParaRPr lang="en-US" b="1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Mining Subgraph Patterns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Pattern Mining: Application Examples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b="1" dirty="0"/>
              <a:t>Summary</a:t>
            </a:r>
            <a:endParaRPr lang="en-US" altLang="en-US" sz="2800" b="1" dirty="0"/>
          </a:p>
        </p:txBody>
      </p:sp>
      <p:sp>
        <p:nvSpPr>
          <p:cNvPr id="2" name="Striped Right Arrow 1"/>
          <p:cNvSpPr/>
          <p:nvPr/>
        </p:nvSpPr>
        <p:spPr>
          <a:xfrm rot="9075611">
            <a:off x="4902980" y="4403050"/>
            <a:ext cx="502920" cy="457200"/>
          </a:xfrm>
          <a:prstGeom prst="stripedRightArrow">
            <a:avLst/>
          </a:prstGeom>
          <a:solidFill>
            <a:srgbClr val="00808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1368" y="5527453"/>
            <a:ext cx="3625961" cy="8726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767" y="4174723"/>
            <a:ext cx="4706233" cy="2045059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581025"/>
            <a:ext cx="11684000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什么是图模式挖掘?</a:t>
            </a:r>
            <a:endParaRPr lang="en-US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35709" y="1219200"/>
            <a:ext cx="7147136" cy="5257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dirty="0"/>
              <a:t>化学信息学</a:t>
            </a:r>
            <a:r>
              <a:rPr lang="en-US" altLang="en-US" sz="2400" dirty="0"/>
              <a:t>: 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zh-CN" altLang="en-US" sz="2400" dirty="0"/>
              <a:t>挖掘频繁出现的化合物结构</a:t>
            </a:r>
            <a:endParaRPr lang="zh-CN" altLang="en-US" sz="2400" dirty="0"/>
          </a:p>
          <a:p>
            <a:pPr eaLnBrk="1" hangingPunct="1">
              <a:spcAft>
                <a:spcPts val="600"/>
              </a:spcAft>
            </a:pPr>
            <a:endParaRPr lang="en-US" altLang="en-US" sz="2400" dirty="0"/>
          </a:p>
          <a:p>
            <a:pPr eaLnBrk="1" hangingPunct="1">
              <a:spcAft>
                <a:spcPts val="600"/>
              </a:spcAft>
            </a:pPr>
            <a:endParaRPr lang="en-US" altLang="en-US" sz="2400" dirty="0"/>
          </a:p>
          <a:p>
            <a:pPr eaLnBrk="1" hangingPunct="1">
              <a:spcAft>
                <a:spcPts val="600"/>
              </a:spcAft>
            </a:pPr>
            <a:endParaRPr lang="en-US" altLang="en-US" sz="2400" dirty="0"/>
          </a:p>
          <a:p>
            <a:pPr eaLnBrk="1" hangingPunct="1">
              <a:spcAft>
                <a:spcPts val="600"/>
              </a:spcAft>
            </a:pPr>
            <a:endParaRPr lang="en-US" altLang="en-US" sz="2400" dirty="0"/>
          </a:p>
          <a:p>
            <a:pPr eaLnBrk="1" hangingPunct="1">
              <a:spcAft>
                <a:spcPts val="600"/>
              </a:spcAft>
            </a:pPr>
            <a:r>
              <a:rPr lang="zh-CN" altLang="en-US" sz="2400" dirty="0"/>
              <a:t>社交网络、网络社区、推文等</a:t>
            </a:r>
            <a:r>
              <a:rPr lang="en-US" altLang="en-US" sz="2400" dirty="0"/>
              <a:t>, …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zh-CN" altLang="en-US" sz="2400" dirty="0"/>
              <a:t>挖掘频繁出现的科研合作子图</a:t>
            </a:r>
            <a:endParaRPr lang="zh-CN" altLang="en-US" sz="2400" dirty="0"/>
          </a:p>
        </p:txBody>
      </p:sp>
      <p:pic>
        <p:nvPicPr>
          <p:cNvPr id="4" name="Picture 2" descr="caffe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253" y="2333189"/>
            <a:ext cx="1605765" cy="1523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 descr="diurobrom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628" y="2299677"/>
            <a:ext cx="163830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0" descr="viagr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846" y="1509276"/>
            <a:ext cx="3048000" cy="241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4" descr="quer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3878" y="2613065"/>
            <a:ext cx="1611596" cy="1125192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308" y="5527453"/>
            <a:ext cx="3584736" cy="9025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517525"/>
            <a:ext cx="10289117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/>
              <a:t>频繁（子）图模式</a:t>
            </a: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14352" y="1156860"/>
            <a:ext cx="11474449" cy="25146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zh-CN" altLang="en-US" sz="2400" dirty="0"/>
              <a:t>给定带标记图数据集</a:t>
            </a:r>
            <a:r>
              <a:rPr lang="en-US" altLang="en-US" sz="2400" dirty="0"/>
              <a:t> D = {G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G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dirty="0" err="1"/>
              <a:t>G</a:t>
            </a:r>
            <a:r>
              <a:rPr lang="en-US" altLang="en-US" sz="2400" baseline="-25000" dirty="0" err="1"/>
              <a:t>n</a:t>
            </a:r>
            <a:r>
              <a:rPr lang="en-US" altLang="en-US" sz="2400" dirty="0"/>
              <a:t>), </a:t>
            </a:r>
            <a:r>
              <a:rPr lang="zh-CN" altLang="en-US" sz="2400" dirty="0"/>
              <a:t>子图</a:t>
            </a:r>
            <a:r>
              <a:rPr lang="en-US" altLang="zh-CN" sz="2400" dirty="0"/>
              <a:t> g</a:t>
            </a:r>
            <a:r>
              <a:rPr lang="zh-CN" altLang="en-US" sz="2400" dirty="0"/>
              <a:t>的支撑图集为</a:t>
            </a:r>
            <a:r>
              <a:rPr lang="en-US" altLang="en-US" sz="2400" dirty="0"/>
              <a:t> D</a:t>
            </a:r>
            <a:r>
              <a:rPr lang="en-US" altLang="en-US" sz="2400" i="1" baseline="-25000" dirty="0"/>
              <a:t>g</a:t>
            </a:r>
            <a:r>
              <a:rPr lang="en-US" altLang="en-US" sz="2400" dirty="0"/>
              <a:t> = {</a:t>
            </a:r>
            <a:r>
              <a:rPr lang="en-US" altLang="en-US" sz="2400" dirty="0" err="1"/>
              <a:t>G</a:t>
            </a:r>
            <a:r>
              <a:rPr lang="en-US" altLang="en-US" sz="2400" i="1" baseline="-25000" dirty="0" err="1"/>
              <a:t>i</a:t>
            </a:r>
            <a:r>
              <a:rPr lang="en-US" altLang="en-US" sz="2400" dirty="0"/>
              <a:t> | </a:t>
            </a:r>
            <a:r>
              <a:rPr lang="en-US" altLang="en-US" sz="2400" i="1" dirty="0"/>
              <a:t>g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dirty="0" err="1"/>
              <a:t>G</a:t>
            </a:r>
            <a:r>
              <a:rPr lang="en-US" altLang="en-US" sz="2400" i="1" baseline="-25000" dirty="0" err="1"/>
              <a:t>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G</a:t>
            </a:r>
            <a:r>
              <a:rPr lang="en-US" altLang="en-US" sz="2400" i="1" baseline="-25000" dirty="0" err="1"/>
              <a:t>i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</a:t>
            </a:r>
            <a:r>
              <a:rPr lang="en-US" altLang="en-US" sz="2400" dirty="0"/>
              <a:t>D}</a:t>
            </a:r>
            <a:endParaRPr lang="en-US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400" b="1" dirty="0"/>
              <a:t>支持度：</a:t>
            </a:r>
            <a:r>
              <a:rPr lang="en-US" altLang="en-US" sz="2400" b="1" dirty="0"/>
              <a:t>support(</a:t>
            </a:r>
            <a:r>
              <a:rPr lang="en-US" altLang="en-US" sz="2400" b="1" i="1" dirty="0"/>
              <a:t>g</a:t>
            </a:r>
            <a:r>
              <a:rPr lang="en-US" altLang="en-US" sz="2400" b="1" dirty="0"/>
              <a:t>) = |D</a:t>
            </a:r>
            <a:r>
              <a:rPr lang="en-US" altLang="en-US" sz="2400" b="1" baseline="-25000" dirty="0"/>
              <a:t>g</a:t>
            </a:r>
            <a:r>
              <a:rPr lang="en-US" altLang="en-US" sz="2400" b="1" dirty="0"/>
              <a:t>|/ |D|</a:t>
            </a:r>
            <a:endParaRPr lang="en-US" altLang="en-US" sz="2400" b="1" dirty="0"/>
          </a:p>
          <a:p>
            <a:pPr eaLnBrk="1" hangingPunct="1">
              <a:spcAft>
                <a:spcPts val="600"/>
              </a:spcAft>
            </a:pPr>
            <a:r>
              <a:rPr lang="zh-CN" altLang="en-US" sz="2400" dirty="0"/>
              <a:t>若</a:t>
            </a:r>
            <a:r>
              <a:rPr lang="en-US" altLang="zh-CN" sz="2400" dirty="0"/>
              <a:t> support(g)≥min_sup</a:t>
            </a:r>
            <a:r>
              <a:rPr lang="zh-CN" altLang="en-US" sz="2400" dirty="0"/>
              <a:t>则称（子）图</a:t>
            </a:r>
            <a:r>
              <a:rPr lang="en-US" altLang="zh-CN" sz="2400" dirty="0"/>
              <a:t> g</a:t>
            </a:r>
            <a:r>
              <a:rPr lang="zh-CN" altLang="en-US" sz="2400" dirty="0"/>
              <a:t>为频繁子图。</a:t>
            </a:r>
            <a:endParaRPr lang="zh-CN" altLang="en-US" sz="2400" dirty="0"/>
          </a:p>
          <a:p>
            <a:pPr eaLnBrk="1" hangingPunct="1">
              <a:spcAft>
                <a:spcPts val="600"/>
              </a:spcAft>
            </a:pPr>
            <a:endParaRPr lang="zh-CN" altLang="en-US" sz="2400" dirty="0"/>
          </a:p>
          <a:p>
            <a:pPr eaLnBrk="1" hangingPunct="1">
              <a:spcAft>
                <a:spcPts val="600"/>
              </a:spcAft>
            </a:pPr>
            <a:r>
              <a:rPr lang="zh-CN" altLang="en-US" sz="2400" dirty="0"/>
              <a:t>例：化学结构</a:t>
            </a:r>
            <a:endParaRPr lang="zh-CN" altLang="en-US" sz="2400" dirty="0"/>
          </a:p>
        </p:txBody>
      </p:sp>
      <p:grpSp>
        <p:nvGrpSpPr>
          <p:cNvPr id="5124" name="Group 3"/>
          <p:cNvGrpSpPr/>
          <p:nvPr/>
        </p:nvGrpSpPr>
        <p:grpSpPr bwMode="auto">
          <a:xfrm>
            <a:off x="5144901" y="2789120"/>
            <a:ext cx="6428666" cy="3503730"/>
            <a:chOff x="685800" y="1469790"/>
            <a:chExt cx="7945274" cy="4635023"/>
          </a:xfrm>
        </p:grpSpPr>
        <p:sp>
          <p:nvSpPr>
            <p:cNvPr id="5" name="Text Box 10"/>
            <p:cNvSpPr txBox="1">
              <a:spLocks noChangeArrowheads="1"/>
            </p:cNvSpPr>
            <p:nvPr/>
          </p:nvSpPr>
          <p:spPr bwMode="auto">
            <a:xfrm>
              <a:off x="6494464" y="1469790"/>
              <a:ext cx="2136610" cy="5292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Graph Dataset</a:t>
              </a:r>
              <a:endPara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" name="Text Box 11"/>
            <p:cNvSpPr txBox="1">
              <a:spLocks noChangeArrowheads="1"/>
            </p:cNvSpPr>
            <p:nvPr/>
          </p:nvSpPr>
          <p:spPr bwMode="auto">
            <a:xfrm>
              <a:off x="4253820" y="4040666"/>
              <a:ext cx="3444646" cy="5292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Frequent Graph Patterns</a:t>
              </a:r>
              <a:endPara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5133" name="Picture 21" descr="mol1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969948"/>
              <a:ext cx="2137820" cy="1301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4" name="Picture 22" descr="mol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1900099"/>
              <a:ext cx="2914648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5" name="Picture 23" descr="mol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7399" y="1941374"/>
              <a:ext cx="2743201" cy="133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6" name="Text Box 24"/>
            <p:cNvSpPr txBox="1">
              <a:spLocks noChangeArrowheads="1"/>
            </p:cNvSpPr>
            <p:nvPr/>
          </p:nvSpPr>
          <p:spPr bwMode="auto">
            <a:xfrm>
              <a:off x="1143000" y="3200400"/>
              <a:ext cx="523008" cy="566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(A)</a:t>
              </a: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37" name="Text Box 25"/>
            <p:cNvSpPr txBox="1">
              <a:spLocks noChangeArrowheads="1"/>
            </p:cNvSpPr>
            <p:nvPr/>
          </p:nvSpPr>
          <p:spPr bwMode="auto">
            <a:xfrm>
              <a:off x="3866849" y="3200400"/>
              <a:ext cx="512759" cy="566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(B)</a:t>
              </a: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38" name="Text Box 26"/>
            <p:cNvSpPr txBox="1">
              <a:spLocks noChangeArrowheads="1"/>
            </p:cNvSpPr>
            <p:nvPr/>
          </p:nvSpPr>
          <p:spPr bwMode="auto">
            <a:xfrm>
              <a:off x="6823939" y="3200400"/>
              <a:ext cx="509343" cy="566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(C)</a:t>
              </a: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5139" name="Picture 28" descr="freq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6711" y="5167365"/>
              <a:ext cx="1710268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40" name="Picture 29" descr="freq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9512" y="4692649"/>
              <a:ext cx="1105715" cy="1412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1" name="Text Box 30"/>
            <p:cNvSpPr txBox="1">
              <a:spLocks noChangeArrowheads="1"/>
            </p:cNvSpPr>
            <p:nvPr/>
          </p:nvSpPr>
          <p:spPr bwMode="auto">
            <a:xfrm>
              <a:off x="2338387" y="4921250"/>
              <a:ext cx="502511" cy="566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(1)</a:t>
              </a: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42" name="Text Box 31"/>
            <p:cNvSpPr txBox="1">
              <a:spLocks noChangeArrowheads="1"/>
            </p:cNvSpPr>
            <p:nvPr/>
          </p:nvSpPr>
          <p:spPr bwMode="auto">
            <a:xfrm>
              <a:off x="5614987" y="4921250"/>
              <a:ext cx="502511" cy="566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(2)</a:t>
              </a: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486400" y="4857750"/>
            <a:ext cx="2065867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= 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40501" y="6165850"/>
            <a:ext cx="2088353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support = 67%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129" name="Curved Up Arrow 1"/>
          <p:cNvSpPr>
            <a:spLocks noChangeArrowheads="1"/>
          </p:cNvSpPr>
          <p:nvPr/>
        </p:nvSpPr>
        <p:spPr bwMode="auto">
          <a:xfrm rot="-754235">
            <a:off x="8839201" y="6202363"/>
            <a:ext cx="971551" cy="303212"/>
          </a:xfrm>
          <a:prstGeom prst="curvedUpArrow">
            <a:avLst>
              <a:gd name="adj1" fmla="val 24866"/>
              <a:gd name="adj2" fmla="val 65297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130" name="Curved Up Arrow 23"/>
          <p:cNvSpPr>
            <a:spLocks noChangeArrowheads="1"/>
          </p:cNvSpPr>
          <p:nvPr/>
        </p:nvSpPr>
        <p:spPr bwMode="auto">
          <a:xfrm rot="17543092" flipV="1">
            <a:off x="5983817" y="5852055"/>
            <a:ext cx="482600" cy="452967"/>
          </a:xfrm>
          <a:prstGeom prst="curvedUpArrow">
            <a:avLst>
              <a:gd name="adj1" fmla="val 25110"/>
              <a:gd name="adj2" fmla="val 50206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09825" y="3803233"/>
            <a:ext cx="4427350" cy="1858555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另一种方式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从单个大型图或网络中挖掘频繁子图模式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3" grpId="0" animBg="1"/>
      <p:bldP spid="5129" grpId="0" animBg="1"/>
      <p:bldP spid="5130" grpId="0" animBg="1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542925"/>
            <a:ext cx="11684000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/>
              <a:t>图模式挖掘的应用</a:t>
            </a:r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35709" y="1219200"/>
            <a:ext cx="10386291" cy="5257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Aft>
                <a:spcPts val="600"/>
              </a:spcAft>
            </a:pPr>
            <a:r>
              <a:rPr lang="zh-CN" altLang="en-US" sz="2400" b="1" dirty="0"/>
              <a:t>生物信息学</a:t>
            </a:r>
            <a:r>
              <a:rPr lang="zh-CN" altLang="en-US" sz="2400" dirty="0"/>
              <a:t>：基因网络、蛋白质相互作用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spcAft>
                <a:spcPts val="600"/>
              </a:spcAft>
            </a:pPr>
            <a:r>
              <a:rPr lang="zh-CN" altLang="en-US" sz="2400" b="1" dirty="0"/>
              <a:t>化学信息学</a:t>
            </a:r>
            <a:r>
              <a:rPr lang="zh-CN" altLang="en-US" sz="2400" dirty="0"/>
              <a:t>：挖掘化合物结构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spcAft>
                <a:spcPts val="600"/>
              </a:spcAft>
            </a:pPr>
            <a:r>
              <a:rPr lang="zh-CN" altLang="en-US" sz="2400" b="1" dirty="0"/>
              <a:t>社交网络</a:t>
            </a:r>
            <a:r>
              <a:rPr lang="zh-CN" altLang="en-US" sz="2400" dirty="0"/>
              <a:t>、</a:t>
            </a:r>
            <a:r>
              <a:rPr lang="zh-CN" altLang="en-US" sz="2400" b="1" dirty="0"/>
              <a:t>网络社区</a:t>
            </a:r>
            <a:r>
              <a:rPr lang="zh-CN" altLang="en-US" sz="2400" dirty="0"/>
              <a:t>、</a:t>
            </a:r>
            <a:r>
              <a:rPr lang="zh-CN" altLang="en-US" sz="2400" b="1" dirty="0"/>
              <a:t>推文</a:t>
            </a:r>
            <a:r>
              <a:rPr lang="zh-CN" altLang="en-US" sz="2400" dirty="0"/>
              <a:t>等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spcAft>
                <a:spcPts val="600"/>
              </a:spcAft>
            </a:pPr>
            <a:r>
              <a:rPr lang="zh-CN" altLang="en-US" sz="2400" b="1" dirty="0"/>
              <a:t>网页图</a:t>
            </a:r>
            <a:r>
              <a:rPr lang="zh-CN" altLang="en-US" sz="2400" dirty="0"/>
              <a:t>、</a:t>
            </a:r>
            <a:r>
              <a:rPr lang="en-US" altLang="zh-CN" sz="2400" b="1" dirty="0"/>
              <a:t>XML </a:t>
            </a:r>
            <a:r>
              <a:rPr lang="zh-CN" altLang="en-US" sz="2400" b="1" dirty="0"/>
              <a:t>结构</a:t>
            </a:r>
            <a:r>
              <a:rPr lang="zh-CN" altLang="en-US" sz="2400" dirty="0"/>
              <a:t>、</a:t>
            </a:r>
            <a:r>
              <a:rPr lang="zh-CN" altLang="en-US" sz="2400" b="1" dirty="0"/>
              <a:t>信息网络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spcAft>
                <a:spcPts val="600"/>
              </a:spcAft>
            </a:pPr>
            <a:r>
              <a:rPr lang="zh-CN" altLang="en-US" sz="2400" b="1" dirty="0"/>
              <a:t>软件工程</a:t>
            </a:r>
            <a:r>
              <a:rPr lang="zh-CN" altLang="en-US" sz="2400" dirty="0"/>
              <a:t>：程序执行流分析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spcAft>
                <a:spcPts val="600"/>
              </a:spcAft>
            </a:pPr>
            <a:r>
              <a:rPr lang="zh-CN" altLang="en-US" sz="2400" dirty="0"/>
              <a:t>可作为</a:t>
            </a:r>
            <a:r>
              <a:rPr lang="zh-CN" altLang="en-US" sz="2400" b="1" dirty="0"/>
              <a:t>图分类</a:t>
            </a:r>
            <a:r>
              <a:rPr lang="zh-CN" altLang="en-US" sz="2400" dirty="0"/>
              <a:t>、</a:t>
            </a:r>
            <a:r>
              <a:rPr lang="zh-CN" altLang="en-US" sz="2400" b="1" dirty="0"/>
              <a:t>聚类</a:t>
            </a:r>
            <a:r>
              <a:rPr lang="zh-CN" altLang="en-US" sz="2400" dirty="0"/>
              <a:t>、</a:t>
            </a:r>
            <a:r>
              <a:rPr lang="zh-CN" altLang="en-US" sz="2400" b="1" dirty="0"/>
              <a:t>压缩</a:t>
            </a:r>
            <a:r>
              <a:rPr lang="zh-CN" altLang="en-US" sz="2400" dirty="0"/>
              <a:t>、</a:t>
            </a:r>
            <a:r>
              <a:rPr lang="zh-CN" altLang="en-US" sz="2400" b="1" dirty="0"/>
              <a:t>比较</a:t>
            </a:r>
            <a:r>
              <a:rPr lang="zh-CN" altLang="en-US" sz="2400" dirty="0"/>
              <a:t>及</a:t>
            </a:r>
            <a:r>
              <a:rPr lang="zh-CN" altLang="en-US" sz="2400" b="1" dirty="0"/>
              <a:t>相关性分析</a:t>
            </a:r>
            <a:r>
              <a:rPr lang="zh-CN" altLang="en-US" sz="2400" dirty="0"/>
              <a:t>的基础模块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spcAft>
                <a:spcPts val="600"/>
              </a:spcAft>
            </a:pPr>
            <a:r>
              <a:rPr lang="zh-CN" altLang="en-US" sz="2400" b="1" dirty="0"/>
              <a:t>图索引</a:t>
            </a:r>
            <a:r>
              <a:rPr lang="zh-CN" altLang="en-US" sz="2400" dirty="0"/>
              <a:t>与</a:t>
            </a:r>
            <a:r>
              <a:rPr lang="zh-CN" altLang="en-US" sz="2400" b="1" dirty="0"/>
              <a:t>图相似性搜索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113144"/>
            <a:ext cx="11887200" cy="1032164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图模式挖掘算法：不同方法体系</a:t>
            </a:r>
            <a:endParaRPr lang="en-US" altLang="en-US" sz="40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12426" y="1219203"/>
            <a:ext cx="10266410" cy="4724400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候选子图生成</a:t>
            </a:r>
            <a:endParaRPr lang="en-US" altLang="en-US" sz="2400" b="1" dirty="0"/>
          </a:p>
          <a:p>
            <a:pPr lvl="1"/>
            <a:r>
              <a:rPr lang="zh-CN" altLang="en-US" sz="2400" dirty="0"/>
              <a:t>通过特定策略生成潜在子图集</a:t>
            </a:r>
            <a:endParaRPr lang="en-US" altLang="zh-CN" sz="2400" dirty="0"/>
          </a:p>
          <a:p>
            <a:pPr eaLnBrk="1" hangingPunct="1"/>
            <a:r>
              <a:rPr lang="zh-CN" altLang="en-US" sz="2400" b="1" dirty="0"/>
              <a:t>搜索次序</a:t>
            </a:r>
            <a:endParaRPr lang="en-US" altLang="en-US" sz="2400" b="1" dirty="0"/>
          </a:p>
          <a:p>
            <a:pPr lvl="1" eaLnBrk="1" hangingPunct="1"/>
            <a:r>
              <a:rPr lang="zh-CN" altLang="en-US" sz="2400" dirty="0"/>
              <a:t>广度优先</a:t>
            </a:r>
            <a:r>
              <a:rPr lang="en-US" altLang="zh-CN" sz="2400" dirty="0"/>
              <a:t> vs </a:t>
            </a:r>
            <a:r>
              <a:rPr lang="zh-CN" altLang="en-US" sz="2400" dirty="0"/>
              <a:t>深度优先</a:t>
            </a:r>
            <a:endParaRPr lang="en-US" altLang="en-US" sz="2400" dirty="0"/>
          </a:p>
          <a:p>
            <a:pPr eaLnBrk="1" hangingPunct="1"/>
            <a:r>
              <a:rPr lang="zh-CN" altLang="en-US" sz="2400" b="1" dirty="0"/>
              <a:t>重复子图消除</a:t>
            </a:r>
            <a:endParaRPr lang="en-US" altLang="en-US" sz="2400" b="1" dirty="0"/>
          </a:p>
          <a:p>
            <a:pPr lvl="1"/>
            <a:r>
              <a:rPr lang="zh-CN" altLang="en-US" sz="2400" dirty="0"/>
              <a:t>去除过程中生成的相同子图</a:t>
            </a:r>
            <a:endParaRPr lang="en-US" altLang="zh-CN" sz="2400" dirty="0"/>
          </a:p>
          <a:p>
            <a:pPr eaLnBrk="1" hangingPunct="1"/>
            <a:r>
              <a:rPr lang="zh-CN" altLang="en-US" sz="2400" b="1" dirty="0"/>
              <a:t>支持度计算</a:t>
            </a:r>
            <a:endParaRPr lang="en-US" altLang="en-US" sz="2400" b="1" dirty="0"/>
          </a:p>
          <a:p>
            <a:pPr lvl="1"/>
            <a:r>
              <a:rPr lang="zh-CN" altLang="en-US" sz="2400" dirty="0"/>
              <a:t>用于衡量子图出现频率的指标</a:t>
            </a:r>
            <a:endParaRPr lang="en-US" altLang="zh-CN" sz="2400" dirty="0"/>
          </a:p>
          <a:p>
            <a:pPr eaLnBrk="1" hangingPunct="1"/>
            <a:r>
              <a:rPr lang="zh-CN" altLang="en-US" sz="2400" b="1" dirty="0"/>
              <a:t>模式发现次序</a:t>
            </a:r>
            <a:endParaRPr lang="en-US" altLang="en-US" sz="2400" b="1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/>
              <a:t> “</a:t>
            </a:r>
            <a:r>
              <a:rPr lang="zh-CN" altLang="en-US" sz="2400" dirty="0"/>
              <a:t>路径</a:t>
            </a:r>
            <a:r>
              <a:rPr lang="en-US" altLang="en-US" sz="2400" dirty="0"/>
              <a:t>→</a:t>
            </a:r>
            <a:r>
              <a:rPr lang="zh-CN" altLang="en-US" sz="2400" dirty="0"/>
              <a:t>树</a:t>
            </a:r>
            <a:r>
              <a:rPr lang="en-US" altLang="en-US" sz="2400" dirty="0"/>
              <a:t>→</a:t>
            </a:r>
            <a:r>
              <a:rPr lang="zh-CN" altLang="en-US" sz="2400" dirty="0"/>
              <a:t>图</a:t>
            </a:r>
            <a:r>
              <a:rPr lang="en-US" altLang="zh-CN" sz="2400" dirty="0"/>
              <a:t>” </a:t>
            </a:r>
            <a:r>
              <a:rPr lang="zh-CN" altLang="en-US" sz="2400" dirty="0"/>
              <a:t>由简单到复杂的顺序挖掘子图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-711200" y="452120"/>
            <a:ext cx="139192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基于先验原理的方法</a:t>
            </a:r>
            <a:endParaRPr lang="en-US" altLang="en-US" dirty="0"/>
          </a:p>
        </p:txBody>
      </p:sp>
      <p:grpSp>
        <p:nvGrpSpPr>
          <p:cNvPr id="7171" name="Group 2"/>
          <p:cNvGrpSpPr/>
          <p:nvPr/>
        </p:nvGrpSpPr>
        <p:grpSpPr bwMode="auto">
          <a:xfrm>
            <a:off x="7781925" y="1209675"/>
            <a:ext cx="3372853" cy="4375666"/>
            <a:chOff x="5539510" y="2057400"/>
            <a:chExt cx="2836458" cy="4375666"/>
          </a:xfrm>
        </p:grpSpPr>
        <p:grpSp>
          <p:nvGrpSpPr>
            <p:cNvPr id="7174" name="Group 1"/>
            <p:cNvGrpSpPr/>
            <p:nvPr/>
          </p:nvGrpSpPr>
          <p:grpSpPr bwMode="auto">
            <a:xfrm>
              <a:off x="5539510" y="2057400"/>
              <a:ext cx="2836458" cy="3962400"/>
              <a:chOff x="2428875" y="1295400"/>
              <a:chExt cx="2836458" cy="3962400"/>
            </a:xfrm>
          </p:grpSpPr>
          <p:sp>
            <p:nvSpPr>
              <p:cNvPr id="7176" name="Text Box 3"/>
              <p:cNvSpPr txBox="1">
                <a:spLocks noChangeArrowheads="1"/>
              </p:cNvSpPr>
              <p:nvPr/>
            </p:nvSpPr>
            <p:spPr bwMode="auto">
              <a:xfrm>
                <a:off x="4562475" y="3886200"/>
                <a:ext cx="35843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+mn-ea"/>
                    <a:cs typeface="Arial" panose="020B0604020202020204" pitchFamily="34" charset="0"/>
                  </a:rPr>
                  <a:t>…</a:t>
                </a: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77" name="Oval 4"/>
              <p:cNvSpPr>
                <a:spLocks noChangeArrowheads="1"/>
              </p:cNvSpPr>
              <p:nvPr/>
            </p:nvSpPr>
            <p:spPr bwMode="auto">
              <a:xfrm>
                <a:off x="2581275" y="2438400"/>
                <a:ext cx="685800" cy="685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+mn-ea"/>
                    <a:cs typeface="+mn-cs"/>
                  </a:rPr>
                  <a:t>G</a:t>
                </a: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178" name="Oval 5"/>
              <p:cNvSpPr>
                <a:spLocks noChangeArrowheads="1"/>
              </p:cNvSpPr>
              <p:nvPr/>
            </p:nvSpPr>
            <p:spPr bwMode="auto">
              <a:xfrm>
                <a:off x="4486275" y="1905000"/>
                <a:ext cx="685800" cy="685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E3D5C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+mn-ea"/>
                    <a:cs typeface="+mn-cs"/>
                  </a:rPr>
                  <a:t>G</a:t>
                </a:r>
                <a:r>
                  <a:rPr kumimoji="0" lang="en-US" altLang="en-US" sz="24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+mn-ea"/>
                    <a:cs typeface="+mn-cs"/>
                  </a:rPr>
                  <a:t>1</a:t>
                </a: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179" name="Oval 6"/>
              <p:cNvSpPr>
                <a:spLocks noChangeArrowheads="1"/>
              </p:cNvSpPr>
              <p:nvPr/>
            </p:nvSpPr>
            <p:spPr bwMode="auto">
              <a:xfrm>
                <a:off x="4486275" y="2819400"/>
                <a:ext cx="685800" cy="685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E3D5C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+mn-ea"/>
                    <a:cs typeface="+mn-cs"/>
                  </a:rPr>
                  <a:t>G</a:t>
                </a:r>
                <a:r>
                  <a:rPr kumimoji="0" lang="en-US" altLang="en-US" sz="24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+mn-ea"/>
                    <a:cs typeface="+mn-cs"/>
                  </a:rPr>
                  <a:t>2</a:t>
                </a: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180" name="Oval 7"/>
              <p:cNvSpPr>
                <a:spLocks noChangeArrowheads="1"/>
              </p:cNvSpPr>
              <p:nvPr/>
            </p:nvSpPr>
            <p:spPr bwMode="auto">
              <a:xfrm>
                <a:off x="4486275" y="4572000"/>
                <a:ext cx="685800" cy="685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E3D5C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+mn-ea"/>
                    <a:cs typeface="+mn-cs"/>
                  </a:rPr>
                  <a:t>G</a:t>
                </a:r>
                <a:r>
                  <a:rPr kumimoji="0" lang="en-US" altLang="en-US" sz="24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+mn-ea"/>
                    <a:cs typeface="+mn-cs"/>
                  </a:rPr>
                  <a:t>n</a:t>
                </a:r>
                <a:endPara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181" name="Line 8"/>
              <p:cNvSpPr>
                <a:spLocks noChangeShapeType="1"/>
              </p:cNvSpPr>
              <p:nvPr/>
            </p:nvSpPr>
            <p:spPr bwMode="auto">
              <a:xfrm flipV="1">
                <a:off x="3343275" y="2362200"/>
                <a:ext cx="1066800" cy="381000"/>
              </a:xfrm>
              <a:prstGeom prst="line">
                <a:avLst/>
              </a:prstGeom>
              <a:noFill/>
              <a:ln w="28575">
                <a:solidFill>
                  <a:srgbClr val="339966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82" name="Line 9"/>
              <p:cNvSpPr>
                <a:spLocks noChangeShapeType="1"/>
              </p:cNvSpPr>
              <p:nvPr/>
            </p:nvSpPr>
            <p:spPr bwMode="auto">
              <a:xfrm>
                <a:off x="3343275" y="3886200"/>
                <a:ext cx="1066800" cy="91440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83" name="Line 10"/>
              <p:cNvSpPr>
                <a:spLocks noChangeShapeType="1"/>
              </p:cNvSpPr>
              <p:nvPr/>
            </p:nvSpPr>
            <p:spPr bwMode="auto">
              <a:xfrm>
                <a:off x="3343275" y="2895600"/>
                <a:ext cx="1066800" cy="304800"/>
              </a:xfrm>
              <a:prstGeom prst="line">
                <a:avLst/>
              </a:prstGeom>
              <a:noFill/>
              <a:ln w="28575">
                <a:solidFill>
                  <a:srgbClr val="339966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84" name="Text Box 11"/>
              <p:cNvSpPr txBox="1">
                <a:spLocks noChangeArrowheads="1"/>
              </p:cNvSpPr>
              <p:nvPr/>
            </p:nvSpPr>
            <p:spPr bwMode="auto">
              <a:xfrm>
                <a:off x="2428875" y="1600200"/>
                <a:ext cx="7838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17098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k-edge</a:t>
                </a:r>
                <a:endPara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85" name="Text Box 12"/>
              <p:cNvSpPr txBox="1">
                <a:spLocks noChangeArrowheads="1"/>
              </p:cNvSpPr>
              <p:nvPr/>
            </p:nvSpPr>
            <p:spPr bwMode="auto">
              <a:xfrm>
                <a:off x="4105275" y="1295400"/>
                <a:ext cx="116005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17098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(k+1)-edge</a:t>
                </a:r>
                <a:endPara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86" name="Oval 13"/>
              <p:cNvSpPr>
                <a:spLocks noChangeArrowheads="1"/>
              </p:cNvSpPr>
              <p:nvPr/>
            </p:nvSpPr>
            <p:spPr bwMode="auto">
              <a:xfrm>
                <a:off x="2581275" y="3505200"/>
                <a:ext cx="685800" cy="685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+mn-ea"/>
                    <a:cs typeface="+mn-cs"/>
                  </a:rPr>
                  <a:t>G’</a:t>
                </a: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187" name="Line 14"/>
              <p:cNvSpPr>
                <a:spLocks noChangeShapeType="1"/>
              </p:cNvSpPr>
              <p:nvPr/>
            </p:nvSpPr>
            <p:spPr bwMode="auto">
              <a:xfrm flipV="1">
                <a:off x="3343275" y="2514600"/>
                <a:ext cx="1143000" cy="121920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88" name="Oval 15"/>
              <p:cNvSpPr>
                <a:spLocks noChangeArrowheads="1"/>
              </p:cNvSpPr>
              <p:nvPr/>
            </p:nvSpPr>
            <p:spPr bwMode="auto">
              <a:xfrm>
                <a:off x="2581275" y="4572000"/>
                <a:ext cx="685800" cy="685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+mn-ea"/>
                    <a:cs typeface="+mn-cs"/>
                  </a:rPr>
                  <a:t>G’’</a:t>
                </a: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189" name="Line 16"/>
              <p:cNvSpPr>
                <a:spLocks noChangeShapeType="1"/>
              </p:cNvSpPr>
              <p:nvPr/>
            </p:nvSpPr>
            <p:spPr bwMode="auto">
              <a:xfrm flipV="1">
                <a:off x="3343275" y="4953000"/>
                <a:ext cx="106680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90" name="Line 17"/>
              <p:cNvSpPr>
                <a:spLocks noChangeShapeType="1"/>
              </p:cNvSpPr>
              <p:nvPr/>
            </p:nvSpPr>
            <p:spPr bwMode="auto">
              <a:xfrm flipV="1">
                <a:off x="3343275" y="3352800"/>
                <a:ext cx="1066800" cy="144780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175" name="Text Box 18"/>
            <p:cNvSpPr txBox="1">
              <a:spLocks noChangeArrowheads="1"/>
            </p:cNvSpPr>
            <p:nvPr/>
          </p:nvSpPr>
          <p:spPr bwMode="auto">
            <a:xfrm>
              <a:off x="6551805" y="5786735"/>
              <a:ext cx="79698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C5A88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Join</a:t>
              </a:r>
              <a:endPara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C5A8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495300" y="1219200"/>
            <a:ext cx="6970819" cy="472440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先验性质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：一个大小为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的子图是频繁子图，当且仅当其所有子图均为频繁子图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若对应的两个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/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顶点子图是频繁的，则生成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候选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(k+1)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/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顶点子图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迭代挖掘过程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 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候选生成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候选剪枝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支持度计数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候选剔除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737" y="1859280"/>
            <a:ext cx="9561427" cy="2608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0"/>
            <a:ext cx="11176000" cy="1114697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000" dirty="0">
                <a:sym typeface="+mn-ea"/>
              </a:rPr>
              <a:t>候选生成：顶点增长</a:t>
            </a:r>
            <a:r>
              <a:rPr lang="en-US" altLang="zh-CN" sz="4000" dirty="0">
                <a:sym typeface="+mn-ea"/>
              </a:rPr>
              <a:t> </a:t>
            </a:r>
            <a:r>
              <a:rPr lang="zh-CN" altLang="en-US" sz="4000" dirty="0">
                <a:sym typeface="+mn-ea"/>
              </a:rPr>
              <a:t>与</a:t>
            </a:r>
            <a:r>
              <a:rPr lang="en-US" altLang="zh-CN" sz="4000" dirty="0">
                <a:sym typeface="+mn-ea"/>
              </a:rPr>
              <a:t> </a:t>
            </a:r>
            <a:r>
              <a:rPr lang="zh-CN" altLang="en-US" sz="4000" dirty="0">
                <a:sym typeface="+mn-ea"/>
              </a:rPr>
              <a:t>边增长</a:t>
            </a:r>
            <a:endParaRPr lang="en-US" altLang="en-US" sz="4000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70563" y="4228002"/>
            <a:ext cx="7602580" cy="2325198"/>
          </a:xfrm>
        </p:spPr>
        <p:txBody>
          <a:bodyPr/>
          <a:lstStyle/>
          <a:p>
            <a:pPr eaLnBrk="1" hangingPunct="1"/>
            <a:r>
              <a:rPr lang="en-US" altLang="zh-CN" dirty="0"/>
              <a:t>1. </a:t>
            </a:r>
            <a:r>
              <a:rPr lang="zh-CN" altLang="en-US" dirty="0"/>
              <a:t>增加一个</a:t>
            </a:r>
            <a:r>
              <a:rPr lang="zh-CN" altLang="en-US" dirty="0">
                <a:solidFill>
                  <a:srgbClr val="FF0000"/>
                </a:solidFill>
              </a:rPr>
              <a:t>顶点</a:t>
            </a:r>
            <a:r>
              <a:rPr lang="zh-CN" altLang="en-US" dirty="0"/>
              <a:t>生成新图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增加一条</a:t>
            </a:r>
            <a:r>
              <a:rPr lang="zh-CN" altLang="en-US" dirty="0">
                <a:solidFill>
                  <a:srgbClr val="FF0000"/>
                </a:solidFill>
              </a:rPr>
              <a:t>边</a:t>
            </a:r>
            <a:r>
              <a:rPr lang="zh-CN" altLang="en-US" dirty="0"/>
              <a:t>生成新图</a:t>
            </a:r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实验结果表明，边增长的方式效率更高。</a:t>
            </a:r>
            <a:endParaRPr lang="en-US" altLang="en-US" b="1" dirty="0"/>
          </a:p>
        </p:txBody>
      </p:sp>
      <p:sp>
        <p:nvSpPr>
          <p:cNvPr id="8197" name="Rectangle 9"/>
          <p:cNvSpPr>
            <a:spLocks noChangeArrowheads="1"/>
          </p:cNvSpPr>
          <p:nvPr/>
        </p:nvSpPr>
        <p:spPr bwMode="auto">
          <a:xfrm>
            <a:off x="546101" y="1371600"/>
            <a:ext cx="111379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C8C8C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198" name="Rectangle 10"/>
          <p:cNvSpPr>
            <a:spLocks noChangeArrowheads="1"/>
          </p:cNvSpPr>
          <p:nvPr/>
        </p:nvSpPr>
        <p:spPr bwMode="auto">
          <a:xfrm>
            <a:off x="711200" y="5562600"/>
            <a:ext cx="10972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8C8C8C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711200" y="1251856"/>
            <a:ext cx="10363200" cy="940526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630" indent="-3416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405" indent="-3733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3130" indent="-2908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95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0000"/>
                </a:solidFill>
              </a:rPr>
              <a:t>生成大小为</a:t>
            </a:r>
            <a:r>
              <a:rPr lang="en-US" altLang="zh-CN" dirty="0">
                <a:solidFill>
                  <a:srgbClr val="000000"/>
                </a:solidFill>
              </a:rPr>
              <a:t> (k+1) </a:t>
            </a:r>
            <a:r>
              <a:rPr lang="zh-CN" altLang="en-US" dirty="0">
                <a:solidFill>
                  <a:srgbClr val="000000"/>
                </a:solidFill>
              </a:rPr>
              <a:t>的候选图有两种方式</a:t>
            </a:r>
            <a:endParaRPr lang="zh-CN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407035"/>
            <a:ext cx="107696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模式增长方法</a:t>
            </a:r>
            <a:endParaRPr lang="en-US" altLang="en-US" dirty="0"/>
          </a:p>
        </p:txBody>
      </p:sp>
      <p:grpSp>
        <p:nvGrpSpPr>
          <p:cNvPr id="9219" name="Group 3"/>
          <p:cNvGrpSpPr/>
          <p:nvPr/>
        </p:nvGrpSpPr>
        <p:grpSpPr bwMode="auto">
          <a:xfrm>
            <a:off x="5752251" y="2034405"/>
            <a:ext cx="6043911" cy="4030663"/>
            <a:chOff x="1088249" y="1385888"/>
            <a:chExt cx="6584192" cy="4786312"/>
          </a:xfrm>
        </p:grpSpPr>
        <p:sp>
          <p:nvSpPr>
            <p:cNvPr id="9223" name="Text Box 3"/>
            <p:cNvSpPr txBox="1">
              <a:spLocks noChangeArrowheads="1"/>
            </p:cNvSpPr>
            <p:nvPr/>
          </p:nvSpPr>
          <p:spPr bwMode="auto">
            <a:xfrm>
              <a:off x="3200400" y="4572000"/>
              <a:ext cx="460831" cy="671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Arial" panose="020B0604020202020204" pitchFamily="34" charset="0"/>
                </a:rPr>
                <a:t>…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224" name="Oval 4"/>
            <p:cNvSpPr>
              <a:spLocks noChangeArrowheads="1"/>
            </p:cNvSpPr>
            <p:nvPr/>
          </p:nvSpPr>
          <p:spPr bwMode="auto">
            <a:xfrm>
              <a:off x="1219200" y="39624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rPr>
                <a:t>G</a:t>
              </a:r>
              <a:endPara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9225" name="Oval 5"/>
            <p:cNvSpPr>
              <a:spLocks noChangeArrowheads="1"/>
            </p:cNvSpPr>
            <p:nvPr/>
          </p:nvSpPr>
          <p:spPr bwMode="auto">
            <a:xfrm>
              <a:off x="3124200" y="25908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1E3D5C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rPr>
                <a:t>G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9226" name="Oval 6"/>
            <p:cNvSpPr>
              <a:spLocks noChangeArrowheads="1"/>
            </p:cNvSpPr>
            <p:nvPr/>
          </p:nvSpPr>
          <p:spPr bwMode="auto">
            <a:xfrm>
              <a:off x="3124200" y="35052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1E3D5C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rPr>
                <a:t>G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rPr>
                <a:t>2</a:t>
              </a:r>
              <a:endPara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9227" name="Oval 7"/>
            <p:cNvSpPr>
              <a:spLocks noChangeArrowheads="1"/>
            </p:cNvSpPr>
            <p:nvPr/>
          </p:nvSpPr>
          <p:spPr bwMode="auto">
            <a:xfrm>
              <a:off x="3124200" y="52578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1E3D5C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rPr>
                <a:t>G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rPr>
                <a:t>n</a:t>
              </a:r>
              <a:endPara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9228" name="Line 8"/>
            <p:cNvSpPr>
              <a:spLocks noChangeShapeType="1"/>
            </p:cNvSpPr>
            <p:nvPr/>
          </p:nvSpPr>
          <p:spPr bwMode="auto">
            <a:xfrm flipV="1">
              <a:off x="1905000" y="3124200"/>
              <a:ext cx="1143000" cy="914400"/>
            </a:xfrm>
            <a:prstGeom prst="line">
              <a:avLst/>
            </a:prstGeom>
            <a:noFill/>
            <a:ln w="28575">
              <a:solidFill>
                <a:srgbClr val="2C5A88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29" name="Line 9"/>
            <p:cNvSpPr>
              <a:spLocks noChangeShapeType="1"/>
            </p:cNvSpPr>
            <p:nvPr/>
          </p:nvSpPr>
          <p:spPr bwMode="auto">
            <a:xfrm>
              <a:off x="1981200" y="4495800"/>
              <a:ext cx="1143000" cy="914400"/>
            </a:xfrm>
            <a:prstGeom prst="line">
              <a:avLst/>
            </a:prstGeom>
            <a:noFill/>
            <a:ln w="28575">
              <a:solidFill>
                <a:srgbClr val="2C5A88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30" name="Line 10"/>
            <p:cNvSpPr>
              <a:spLocks noChangeShapeType="1"/>
            </p:cNvSpPr>
            <p:nvPr/>
          </p:nvSpPr>
          <p:spPr bwMode="auto">
            <a:xfrm flipV="1">
              <a:off x="1981200" y="3886200"/>
              <a:ext cx="1066800" cy="381000"/>
            </a:xfrm>
            <a:prstGeom prst="line">
              <a:avLst/>
            </a:prstGeom>
            <a:noFill/>
            <a:ln w="28575">
              <a:solidFill>
                <a:srgbClr val="2C5A88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31" name="Text Box 11"/>
            <p:cNvSpPr txBox="1">
              <a:spLocks noChangeArrowheads="1"/>
            </p:cNvSpPr>
            <p:nvPr/>
          </p:nvSpPr>
          <p:spPr bwMode="auto">
            <a:xfrm>
              <a:off x="1088249" y="3429000"/>
              <a:ext cx="1007769" cy="592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1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k</a:t>
              </a:r>
              <a:r>
                <a: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-edge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17098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232" name="Text Box 12"/>
            <p:cNvSpPr txBox="1">
              <a:spLocks noChangeArrowheads="1"/>
            </p:cNvSpPr>
            <p:nvPr/>
          </p:nvSpPr>
          <p:spPr bwMode="auto">
            <a:xfrm>
              <a:off x="2667000" y="1981200"/>
              <a:ext cx="1491470" cy="592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(</a:t>
              </a:r>
              <a:r>
                <a:rPr kumimoji="0" lang="en-US" altLang="en-US" sz="2400" b="1" i="1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k</a:t>
              </a:r>
              <a:r>
                <a: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+1)-edge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17098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9233" name="Group 13"/>
            <p:cNvGrpSpPr/>
            <p:nvPr/>
          </p:nvGrpSpPr>
          <p:grpSpPr bwMode="auto">
            <a:xfrm>
              <a:off x="5029200" y="1905000"/>
              <a:ext cx="381000" cy="1447800"/>
              <a:chOff x="3744" y="2016"/>
              <a:chExt cx="240" cy="912"/>
            </a:xfrm>
          </p:grpSpPr>
          <p:sp>
            <p:nvSpPr>
              <p:cNvPr id="9250" name="Text Box 14"/>
              <p:cNvSpPr txBox="1">
                <a:spLocks noChangeArrowheads="1"/>
              </p:cNvSpPr>
              <p:nvPr/>
            </p:nvSpPr>
            <p:spPr bwMode="auto">
              <a:xfrm>
                <a:off x="3744" y="2400"/>
                <a:ext cx="240" cy="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+mn-ea"/>
                    <a:cs typeface="Arial" panose="020B0604020202020204" pitchFamily="34" charset="0"/>
                  </a:rPr>
                  <a:t>…</a:t>
                </a: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251" name="Oval 15"/>
              <p:cNvSpPr>
                <a:spLocks noChangeArrowheads="1"/>
              </p:cNvSpPr>
              <p:nvPr/>
            </p:nvSpPr>
            <p:spPr bwMode="auto">
              <a:xfrm>
                <a:off x="3784" y="2016"/>
                <a:ext cx="167" cy="178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E3D5C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252" name="Oval 16"/>
              <p:cNvSpPr>
                <a:spLocks noChangeArrowheads="1"/>
              </p:cNvSpPr>
              <p:nvPr/>
            </p:nvSpPr>
            <p:spPr bwMode="auto">
              <a:xfrm>
                <a:off x="3784" y="2254"/>
                <a:ext cx="167" cy="178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E3D5C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253" name="Oval 17"/>
              <p:cNvSpPr>
                <a:spLocks noChangeArrowheads="1"/>
              </p:cNvSpPr>
              <p:nvPr/>
            </p:nvSpPr>
            <p:spPr bwMode="auto">
              <a:xfrm>
                <a:off x="3784" y="2750"/>
                <a:ext cx="167" cy="178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E3D5C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234" name="Text Box 18"/>
            <p:cNvSpPr txBox="1">
              <a:spLocks noChangeArrowheads="1"/>
            </p:cNvSpPr>
            <p:nvPr/>
          </p:nvSpPr>
          <p:spPr bwMode="auto">
            <a:xfrm>
              <a:off x="4867275" y="1385888"/>
              <a:ext cx="1491470" cy="592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(</a:t>
              </a:r>
              <a:r>
                <a:rPr kumimoji="0" lang="en-US" altLang="en-US" sz="2400" b="1" i="1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k</a:t>
              </a:r>
              <a:r>
                <a: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17098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+2)-edge</a:t>
              </a: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17098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9235" name="Group 19"/>
            <p:cNvGrpSpPr/>
            <p:nvPr/>
          </p:nvGrpSpPr>
          <p:grpSpPr bwMode="auto">
            <a:xfrm>
              <a:off x="5029200" y="4724400"/>
              <a:ext cx="381000" cy="1447800"/>
              <a:chOff x="3744" y="2016"/>
              <a:chExt cx="240" cy="912"/>
            </a:xfrm>
          </p:grpSpPr>
          <p:sp>
            <p:nvSpPr>
              <p:cNvPr id="9246" name="Text Box 20"/>
              <p:cNvSpPr txBox="1">
                <a:spLocks noChangeArrowheads="1"/>
              </p:cNvSpPr>
              <p:nvPr/>
            </p:nvSpPr>
            <p:spPr bwMode="auto">
              <a:xfrm>
                <a:off x="3744" y="2400"/>
                <a:ext cx="240" cy="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+mn-ea"/>
                    <a:cs typeface="Arial" panose="020B0604020202020204" pitchFamily="34" charset="0"/>
                  </a:rPr>
                  <a:t>…</a:t>
                </a: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247" name="Oval 21"/>
              <p:cNvSpPr>
                <a:spLocks noChangeArrowheads="1"/>
              </p:cNvSpPr>
              <p:nvPr/>
            </p:nvSpPr>
            <p:spPr bwMode="auto">
              <a:xfrm>
                <a:off x="3784" y="2016"/>
                <a:ext cx="167" cy="178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E3D5C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248" name="Oval 22"/>
              <p:cNvSpPr>
                <a:spLocks noChangeArrowheads="1"/>
              </p:cNvSpPr>
              <p:nvPr/>
            </p:nvSpPr>
            <p:spPr bwMode="auto">
              <a:xfrm>
                <a:off x="3784" y="2254"/>
                <a:ext cx="167" cy="178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E3D5C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249" name="Oval 23"/>
              <p:cNvSpPr>
                <a:spLocks noChangeArrowheads="1"/>
              </p:cNvSpPr>
              <p:nvPr/>
            </p:nvSpPr>
            <p:spPr bwMode="auto">
              <a:xfrm>
                <a:off x="3784" y="2750"/>
                <a:ext cx="167" cy="178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E3D5C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236" name="Line 24"/>
            <p:cNvSpPr>
              <a:spLocks noChangeShapeType="1"/>
            </p:cNvSpPr>
            <p:nvPr/>
          </p:nvSpPr>
          <p:spPr bwMode="auto">
            <a:xfrm flipV="1">
              <a:off x="3886200" y="2133600"/>
              <a:ext cx="1066800" cy="60960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37" name="Line 25"/>
            <p:cNvSpPr>
              <a:spLocks noChangeShapeType="1"/>
            </p:cNvSpPr>
            <p:nvPr/>
          </p:nvSpPr>
          <p:spPr bwMode="auto">
            <a:xfrm flipV="1">
              <a:off x="3886200" y="2438400"/>
              <a:ext cx="990600" cy="38100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38" name="Line 26"/>
            <p:cNvSpPr>
              <a:spLocks noChangeShapeType="1"/>
            </p:cNvSpPr>
            <p:nvPr/>
          </p:nvSpPr>
          <p:spPr bwMode="auto">
            <a:xfrm>
              <a:off x="3886200" y="2895600"/>
              <a:ext cx="990600" cy="30480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39" name="Line 27"/>
            <p:cNvSpPr>
              <a:spLocks noChangeShapeType="1"/>
            </p:cNvSpPr>
            <p:nvPr/>
          </p:nvSpPr>
          <p:spPr bwMode="auto">
            <a:xfrm flipV="1">
              <a:off x="3886200" y="4876800"/>
              <a:ext cx="1066800" cy="60960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40" name="Line 28"/>
            <p:cNvSpPr>
              <a:spLocks noChangeShapeType="1"/>
            </p:cNvSpPr>
            <p:nvPr/>
          </p:nvSpPr>
          <p:spPr bwMode="auto">
            <a:xfrm flipV="1">
              <a:off x="3886200" y="5181600"/>
              <a:ext cx="990600" cy="38100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41" name="Line 29"/>
            <p:cNvSpPr>
              <a:spLocks noChangeShapeType="1"/>
            </p:cNvSpPr>
            <p:nvPr/>
          </p:nvSpPr>
          <p:spPr bwMode="auto">
            <a:xfrm>
              <a:off x="3886200" y="5638800"/>
              <a:ext cx="990600" cy="30480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42" name="Line 30"/>
            <p:cNvSpPr>
              <a:spLocks noChangeShapeType="1"/>
            </p:cNvSpPr>
            <p:nvPr/>
          </p:nvSpPr>
          <p:spPr bwMode="auto">
            <a:xfrm>
              <a:off x="6019800" y="2438400"/>
              <a:ext cx="0" cy="28194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43" name="Line 31"/>
            <p:cNvSpPr>
              <a:spLocks noChangeShapeType="1"/>
            </p:cNvSpPr>
            <p:nvPr/>
          </p:nvSpPr>
          <p:spPr bwMode="auto">
            <a:xfrm>
              <a:off x="5562600" y="2438400"/>
              <a:ext cx="4572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44" name="Line 32"/>
            <p:cNvSpPr>
              <a:spLocks noChangeShapeType="1"/>
            </p:cNvSpPr>
            <p:nvPr/>
          </p:nvSpPr>
          <p:spPr bwMode="auto">
            <a:xfrm>
              <a:off x="5562600" y="5257800"/>
              <a:ext cx="4572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45" name="Text Box 33"/>
            <p:cNvSpPr txBox="1">
              <a:spLocks noChangeArrowheads="1"/>
            </p:cNvSpPr>
            <p:nvPr/>
          </p:nvSpPr>
          <p:spPr bwMode="auto">
            <a:xfrm>
              <a:off x="6109642" y="3409950"/>
              <a:ext cx="1562799" cy="986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duplicate </a:t>
              </a:r>
              <a:endPara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4572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graphs</a:t>
              </a:r>
              <a:endPara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478368" y="1354138"/>
            <a:ext cx="11002433" cy="85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 bwMode="auto">
          <a:xfrm>
            <a:off x="493184" y="2209801"/>
            <a:ext cx="5806016" cy="403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9" name="Rectangle 3"/>
          <p:cNvSpPr txBox="1">
            <a:spLocks noChangeArrowheads="1"/>
          </p:cNvSpPr>
          <p:nvPr/>
        </p:nvSpPr>
        <p:spPr>
          <a:xfrm>
            <a:off x="578500" y="1227908"/>
            <a:ext cx="10363200" cy="748937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630" indent="-3416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405" indent="-3733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3130" indent="-2908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95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子图从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条边深度优先扩展至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k+1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条边，再进一步扩展为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k+2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条边的子图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>
          <a:xfrm>
            <a:off x="486769" y="2735058"/>
            <a:ext cx="5534917" cy="387120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630" indent="-3416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405" indent="-3733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3130" indent="-2908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95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主要挑战：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3405" marR="0" lvl="1" indent="-37338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lang="zh-CN" altLang="en-US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会生成大量重复子图</a:t>
            </a:r>
            <a:endParaRPr lang="zh-CN" altLang="en-US" b="1" kern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sym typeface="+mn-ea"/>
            </a:endParaRPr>
          </a:p>
          <a:p>
            <a:pPr marL="573405" marR="0" lvl="1" indent="-3733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1630" marR="0" lvl="0" indent="-34163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解决该问题的核心思路：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lnSpc>
                <a:spcPct val="120000"/>
              </a:lnSpc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定义一种生成子图的次序：以统一且不重复的顺序生成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426085"/>
            <a:ext cx="11176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g</a:t>
            </a:r>
            <a:r>
              <a:rPr lang="en-US" altLang="zh-CN" dirty="0"/>
              <a:t>SPAN</a:t>
            </a:r>
            <a:r>
              <a:rPr lang="zh-CN" altLang="en-US" dirty="0"/>
              <a:t>：有序图模式增长</a:t>
            </a:r>
            <a:endParaRPr lang="en-US" altLang="en-US" sz="32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295400"/>
            <a:ext cx="6356352" cy="51054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子图模式扩展中的</a:t>
            </a:r>
            <a:r>
              <a:rPr lang="zh-CN" altLang="en-US" sz="2400" b="1" dirty="0"/>
              <a:t>最右路径扩展</a:t>
            </a:r>
            <a:endParaRPr lang="en-US" altLang="en-US" sz="2400" b="1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dirty="0"/>
              <a:t>最右路径：从根节点到最右叶子节点的路径（每一步选择索引最小的顶点）</a:t>
            </a:r>
            <a:endParaRPr lang="zh-CN" altLang="en-US" sz="2400" dirty="0"/>
          </a:p>
          <a:p>
            <a:pPr lvl="1">
              <a:lnSpc>
                <a:spcPct val="140000"/>
              </a:lnSpc>
            </a:pPr>
            <a:r>
              <a:rPr lang="zh-CN" altLang="en-US" sz="2400" dirty="0"/>
              <a:t>减少重复子图的生成</a:t>
            </a:r>
            <a:endParaRPr lang="zh-CN" altLang="en-US" sz="2400" dirty="0"/>
          </a:p>
          <a:p>
            <a:pPr marL="200025" lvl="1" indent="0" eaLnBrk="1" hangingPunct="1">
              <a:lnSpc>
                <a:spcPct val="140000"/>
              </a:lnSpc>
              <a:buNone/>
            </a:pPr>
            <a:endParaRPr lang="en-US" altLang="en-US" sz="2400" dirty="0"/>
          </a:p>
          <a:p>
            <a:pPr>
              <a:lnSpc>
                <a:spcPct val="140000"/>
              </a:lnSpc>
              <a:defRPr/>
            </a:pPr>
            <a:r>
              <a:rPr lang="zh-CN" altLang="en-US" sz="2400" b="1" dirty="0"/>
              <a:t>完备性</a:t>
            </a:r>
            <a:r>
              <a:rPr lang="zh-CN" altLang="en-US" sz="2400" dirty="0"/>
              <a:t>：基于最右路径扩展的图枚举是完备的</a:t>
            </a:r>
            <a:endParaRPr lang="zh-CN" altLang="en-US" sz="2400" dirty="0"/>
          </a:p>
        </p:txBody>
      </p:sp>
      <p:grpSp>
        <p:nvGrpSpPr>
          <p:cNvPr id="10245" name="Group 40"/>
          <p:cNvGrpSpPr/>
          <p:nvPr/>
        </p:nvGrpSpPr>
        <p:grpSpPr bwMode="auto">
          <a:xfrm>
            <a:off x="7521837" y="1295400"/>
            <a:ext cx="2176952" cy="2207926"/>
            <a:chOff x="1401763" y="2609850"/>
            <a:chExt cx="1676400" cy="2590800"/>
          </a:xfrm>
        </p:grpSpPr>
        <p:sp>
          <p:nvSpPr>
            <p:cNvPr id="10280" name="Oval 4"/>
            <p:cNvSpPr>
              <a:spLocks noChangeArrowheads="1"/>
            </p:cNvSpPr>
            <p:nvPr/>
          </p:nvSpPr>
          <p:spPr bwMode="auto">
            <a:xfrm>
              <a:off x="1858963" y="260985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0281" name="Oval 5"/>
            <p:cNvSpPr>
              <a:spLocks noChangeArrowheads="1"/>
            </p:cNvSpPr>
            <p:nvPr/>
          </p:nvSpPr>
          <p:spPr bwMode="auto">
            <a:xfrm>
              <a:off x="1858963" y="329565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0282" name="Oval 6"/>
            <p:cNvSpPr>
              <a:spLocks noChangeArrowheads="1"/>
            </p:cNvSpPr>
            <p:nvPr/>
          </p:nvSpPr>
          <p:spPr bwMode="auto">
            <a:xfrm>
              <a:off x="1858963" y="405765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2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0283" name="Oval 7"/>
            <p:cNvSpPr>
              <a:spLocks noChangeArrowheads="1"/>
            </p:cNvSpPr>
            <p:nvPr/>
          </p:nvSpPr>
          <p:spPr bwMode="auto">
            <a:xfrm>
              <a:off x="1858963" y="481965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3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0284" name="Oval 8"/>
            <p:cNvSpPr>
              <a:spLocks noChangeArrowheads="1"/>
            </p:cNvSpPr>
            <p:nvPr/>
          </p:nvSpPr>
          <p:spPr bwMode="auto">
            <a:xfrm>
              <a:off x="2697163" y="459105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4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0285" name="Line 9"/>
            <p:cNvSpPr>
              <a:spLocks noChangeShapeType="1"/>
            </p:cNvSpPr>
            <p:nvPr/>
          </p:nvSpPr>
          <p:spPr bwMode="auto">
            <a:xfrm>
              <a:off x="2043113" y="2990850"/>
              <a:ext cx="0" cy="3048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6" name="Line 10"/>
            <p:cNvSpPr>
              <a:spLocks noChangeShapeType="1"/>
            </p:cNvSpPr>
            <p:nvPr/>
          </p:nvSpPr>
          <p:spPr bwMode="auto">
            <a:xfrm>
              <a:off x="2043113" y="3676650"/>
              <a:ext cx="0" cy="3810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7" name="Line 11"/>
            <p:cNvSpPr>
              <a:spLocks noChangeShapeType="1"/>
            </p:cNvSpPr>
            <p:nvPr/>
          </p:nvSpPr>
          <p:spPr bwMode="auto">
            <a:xfrm>
              <a:off x="2043113" y="4438650"/>
              <a:ext cx="0" cy="3810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8" name="Line 12"/>
            <p:cNvSpPr>
              <a:spLocks noChangeShapeType="1"/>
            </p:cNvSpPr>
            <p:nvPr/>
          </p:nvSpPr>
          <p:spPr bwMode="auto">
            <a:xfrm>
              <a:off x="2239963" y="4286250"/>
              <a:ext cx="533400" cy="3810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9" name="Freeform 13"/>
            <p:cNvSpPr/>
            <p:nvPr/>
          </p:nvSpPr>
          <p:spPr bwMode="auto">
            <a:xfrm>
              <a:off x="1401763" y="2900363"/>
              <a:ext cx="457200" cy="1995487"/>
            </a:xfrm>
            <a:custGeom>
              <a:avLst/>
              <a:gdLst>
                <a:gd name="T0" fmla="*/ 2147483647 w 336"/>
                <a:gd name="T1" fmla="*/ 2147483647 h 1296"/>
                <a:gd name="T2" fmla="*/ 0 w 336"/>
                <a:gd name="T3" fmla="*/ 2147483647 h 1296"/>
                <a:gd name="T4" fmla="*/ 2147483647 w 336"/>
                <a:gd name="T5" fmla="*/ 0 h 1296"/>
                <a:gd name="T6" fmla="*/ 0 60000 65536"/>
                <a:gd name="T7" fmla="*/ 0 60000 65536"/>
                <a:gd name="T8" fmla="*/ 0 60000 65536"/>
                <a:gd name="T9" fmla="*/ 0 w 336"/>
                <a:gd name="T10" fmla="*/ 0 h 1296"/>
                <a:gd name="T11" fmla="*/ 336 w 336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1296">
                  <a:moveTo>
                    <a:pt x="336" y="1296"/>
                  </a:moveTo>
                  <a:cubicBezTo>
                    <a:pt x="168" y="1044"/>
                    <a:pt x="0" y="792"/>
                    <a:pt x="0" y="576"/>
                  </a:cubicBezTo>
                  <a:cubicBezTo>
                    <a:pt x="0" y="360"/>
                    <a:pt x="280" y="96"/>
                    <a:pt x="336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246" name="Group 52"/>
          <p:cNvGrpSpPr/>
          <p:nvPr/>
        </p:nvGrpSpPr>
        <p:grpSpPr bwMode="auto">
          <a:xfrm>
            <a:off x="7122408" y="3935228"/>
            <a:ext cx="3926592" cy="2625633"/>
            <a:chOff x="3644900" y="2362200"/>
            <a:chExt cx="3308353" cy="3201988"/>
          </a:xfrm>
        </p:grpSpPr>
        <p:grpSp>
          <p:nvGrpSpPr>
            <p:cNvPr id="10248" name="Group 15"/>
            <p:cNvGrpSpPr/>
            <p:nvPr/>
          </p:nvGrpSpPr>
          <p:grpSpPr bwMode="auto">
            <a:xfrm>
              <a:off x="4221163" y="2362200"/>
              <a:ext cx="2636838" cy="1390650"/>
              <a:chOff x="2064" y="1332"/>
              <a:chExt cx="1661" cy="876"/>
            </a:xfrm>
          </p:grpSpPr>
          <p:sp>
            <p:nvSpPr>
              <p:cNvPr id="10274" name="Oval 16"/>
              <p:cNvSpPr>
                <a:spLocks noChangeArrowheads="1"/>
              </p:cNvSpPr>
              <p:nvPr/>
            </p:nvSpPr>
            <p:spPr bwMode="auto">
              <a:xfrm>
                <a:off x="2208" y="1536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10275" name="Group 17"/>
              <p:cNvGrpSpPr/>
              <p:nvPr/>
            </p:nvGrpSpPr>
            <p:grpSpPr bwMode="auto">
              <a:xfrm>
                <a:off x="2064" y="1680"/>
                <a:ext cx="384" cy="528"/>
                <a:chOff x="2064" y="1680"/>
                <a:chExt cx="384" cy="528"/>
              </a:xfrm>
            </p:grpSpPr>
            <p:sp>
              <p:nvSpPr>
                <p:cNvPr id="10277" name="Oval 18"/>
                <p:cNvSpPr>
                  <a:spLocks noChangeArrowheads="1"/>
                </p:cNvSpPr>
                <p:nvPr/>
              </p:nvSpPr>
              <p:spPr bwMode="auto">
                <a:xfrm>
                  <a:off x="2208" y="1968"/>
                  <a:ext cx="240" cy="24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ts val="6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 eaLnBrk="0" hangingPunct="0">
                    <a:spcBef>
                      <a:spcPts val="6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 eaLnBrk="0" hangingPunct="0">
                    <a:spcBef>
                      <a:spcPts val="6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 eaLnBrk="0" hangingPunct="0">
                    <a:spcBef>
                      <a:spcPts val="6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 eaLnBrk="0" hangingPunct="0">
                    <a:spcBef>
                      <a:spcPts val="6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278" name="Line 19"/>
                <p:cNvSpPr>
                  <a:spLocks noChangeShapeType="1"/>
                </p:cNvSpPr>
                <p:nvPr/>
              </p:nvSpPr>
              <p:spPr bwMode="auto">
                <a:xfrm>
                  <a:off x="2324" y="1776"/>
                  <a:ext cx="0" cy="192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79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064" y="1680"/>
                  <a:ext cx="109" cy="4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ts val="6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 eaLnBrk="0" hangingPunct="0">
                    <a:spcBef>
                      <a:spcPts val="6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 eaLnBrk="0" hangingPunct="0">
                    <a:spcBef>
                      <a:spcPts val="6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 eaLnBrk="0" hangingPunct="0">
                    <a:spcBef>
                      <a:spcPts val="6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 eaLnBrk="0" hangingPunct="0">
                    <a:spcBef>
                      <a:spcPts val="6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276" name="Text Box 21"/>
              <p:cNvSpPr txBox="1">
                <a:spLocks noChangeArrowheads="1"/>
              </p:cNvSpPr>
              <p:nvPr/>
            </p:nvSpPr>
            <p:spPr bwMode="auto">
              <a:xfrm>
                <a:off x="3034" y="1332"/>
                <a:ext cx="691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e</a:t>
                </a:r>
                <a:r>
                  <a:rPr kumimoji="0" lang="en-US" altLang="en-US" sz="24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0</a:t>
                </a: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: (0,1)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249" name="Group 22"/>
            <p:cNvGrpSpPr/>
            <p:nvPr/>
          </p:nvGrpSpPr>
          <p:grpSpPr bwMode="auto">
            <a:xfrm>
              <a:off x="4297363" y="3009900"/>
              <a:ext cx="2573338" cy="1504950"/>
              <a:chOff x="2112" y="1740"/>
              <a:chExt cx="1621" cy="948"/>
            </a:xfrm>
          </p:grpSpPr>
          <p:grpSp>
            <p:nvGrpSpPr>
              <p:cNvPr id="10269" name="Group 23"/>
              <p:cNvGrpSpPr/>
              <p:nvPr/>
            </p:nvGrpSpPr>
            <p:grpSpPr bwMode="auto">
              <a:xfrm>
                <a:off x="2112" y="2121"/>
                <a:ext cx="336" cy="567"/>
                <a:chOff x="2112" y="2121"/>
                <a:chExt cx="336" cy="567"/>
              </a:xfrm>
            </p:grpSpPr>
            <p:sp>
              <p:nvSpPr>
                <p:cNvPr id="10271" name="Oval 24"/>
                <p:cNvSpPr>
                  <a:spLocks noChangeArrowheads="1"/>
                </p:cNvSpPr>
                <p:nvPr/>
              </p:nvSpPr>
              <p:spPr bwMode="auto">
                <a:xfrm>
                  <a:off x="2208" y="2448"/>
                  <a:ext cx="240" cy="24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ts val="6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 eaLnBrk="0" hangingPunct="0">
                    <a:spcBef>
                      <a:spcPts val="6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 eaLnBrk="0" hangingPunct="0">
                    <a:spcBef>
                      <a:spcPts val="6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 eaLnBrk="0" hangingPunct="0">
                    <a:spcBef>
                      <a:spcPts val="6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 eaLnBrk="0" hangingPunct="0">
                    <a:spcBef>
                      <a:spcPts val="6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272" name="Line 25"/>
                <p:cNvSpPr>
                  <a:spLocks noChangeShapeType="1"/>
                </p:cNvSpPr>
                <p:nvPr/>
              </p:nvSpPr>
              <p:spPr bwMode="auto">
                <a:xfrm>
                  <a:off x="2324" y="2208"/>
                  <a:ext cx="0" cy="240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7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112" y="2121"/>
                  <a:ext cx="109" cy="4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ts val="6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 eaLnBrk="0" hangingPunct="0">
                    <a:spcBef>
                      <a:spcPts val="6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 eaLnBrk="0" hangingPunct="0">
                    <a:spcBef>
                      <a:spcPts val="6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 eaLnBrk="0" hangingPunct="0">
                    <a:spcBef>
                      <a:spcPts val="6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 eaLnBrk="0" hangingPunct="0">
                    <a:spcBef>
                      <a:spcPts val="6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270" name="Text Box 27"/>
              <p:cNvSpPr txBox="1">
                <a:spLocks noChangeArrowheads="1"/>
              </p:cNvSpPr>
              <p:nvPr/>
            </p:nvSpPr>
            <p:spPr bwMode="auto">
              <a:xfrm>
                <a:off x="3042" y="1740"/>
                <a:ext cx="691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e</a:t>
                </a:r>
                <a:r>
                  <a:rPr kumimoji="0" lang="en-US" altLang="en-US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1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: (1,2)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268" name="Text Box 31"/>
            <p:cNvSpPr txBox="1">
              <a:spLocks noChangeArrowheads="1"/>
            </p:cNvSpPr>
            <p:nvPr/>
          </p:nvSpPr>
          <p:spPr bwMode="auto">
            <a:xfrm>
              <a:off x="5211776" y="2990851"/>
              <a:ext cx="173038" cy="700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0251" name="Group 33"/>
            <p:cNvGrpSpPr/>
            <p:nvPr/>
          </p:nvGrpSpPr>
          <p:grpSpPr bwMode="auto">
            <a:xfrm>
              <a:off x="4297363" y="3675065"/>
              <a:ext cx="2598738" cy="1601788"/>
              <a:chOff x="2112" y="2159"/>
              <a:chExt cx="1637" cy="1009"/>
            </a:xfrm>
          </p:grpSpPr>
          <p:sp>
            <p:nvSpPr>
              <p:cNvPr id="10261" name="Oval 34"/>
              <p:cNvSpPr>
                <a:spLocks noChangeArrowheads="1"/>
              </p:cNvSpPr>
              <p:nvPr/>
            </p:nvSpPr>
            <p:spPr bwMode="auto">
              <a:xfrm>
                <a:off x="2208" y="2928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262" name="Line 35"/>
              <p:cNvSpPr>
                <a:spLocks noChangeShapeType="1"/>
              </p:cNvSpPr>
              <p:nvPr/>
            </p:nvSpPr>
            <p:spPr bwMode="auto">
              <a:xfrm>
                <a:off x="2324" y="2688"/>
                <a:ext cx="0" cy="24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63" name="Text Box 36"/>
              <p:cNvSpPr txBox="1">
                <a:spLocks noChangeArrowheads="1"/>
              </p:cNvSpPr>
              <p:nvPr/>
            </p:nvSpPr>
            <p:spPr bwMode="auto">
              <a:xfrm>
                <a:off x="2112" y="2640"/>
                <a:ext cx="109" cy="4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264" name="Text Box 37"/>
              <p:cNvSpPr txBox="1">
                <a:spLocks noChangeArrowheads="1"/>
              </p:cNvSpPr>
              <p:nvPr/>
            </p:nvSpPr>
            <p:spPr bwMode="auto">
              <a:xfrm>
                <a:off x="3058" y="2159"/>
                <a:ext cx="691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e</a:t>
                </a:r>
                <a:r>
                  <a:rPr kumimoji="0" lang="en-US" altLang="en-US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2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: (2,3)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252" name="Group 38"/>
            <p:cNvGrpSpPr/>
            <p:nvPr/>
          </p:nvGrpSpPr>
          <p:grpSpPr bwMode="auto">
            <a:xfrm>
              <a:off x="3644900" y="3067049"/>
              <a:ext cx="3282951" cy="1981200"/>
              <a:chOff x="1701" y="1776"/>
              <a:chExt cx="2068" cy="1248"/>
            </a:xfrm>
          </p:grpSpPr>
          <p:sp>
            <p:nvSpPr>
              <p:cNvPr id="10258" name="Freeform 39"/>
              <p:cNvSpPr/>
              <p:nvPr/>
            </p:nvSpPr>
            <p:spPr bwMode="auto">
              <a:xfrm>
                <a:off x="1920" y="1776"/>
                <a:ext cx="288" cy="1248"/>
              </a:xfrm>
              <a:custGeom>
                <a:avLst/>
                <a:gdLst>
                  <a:gd name="T0" fmla="*/ 18 w 336"/>
                  <a:gd name="T1" fmla="*/ 634 h 1296"/>
                  <a:gd name="T2" fmla="*/ 0 w 336"/>
                  <a:gd name="T3" fmla="*/ 280 h 1296"/>
                  <a:gd name="T4" fmla="*/ 18 w 336"/>
                  <a:gd name="T5" fmla="*/ 0 h 1296"/>
                  <a:gd name="T6" fmla="*/ 0 60000 65536"/>
                  <a:gd name="T7" fmla="*/ 0 60000 65536"/>
                  <a:gd name="T8" fmla="*/ 0 60000 65536"/>
                  <a:gd name="T9" fmla="*/ 0 w 336"/>
                  <a:gd name="T10" fmla="*/ 0 h 1296"/>
                  <a:gd name="T11" fmla="*/ 336 w 336"/>
                  <a:gd name="T12" fmla="*/ 1296 h 12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6" h="1296">
                    <a:moveTo>
                      <a:pt x="336" y="1296"/>
                    </a:moveTo>
                    <a:cubicBezTo>
                      <a:pt x="168" y="1044"/>
                      <a:pt x="0" y="792"/>
                      <a:pt x="0" y="576"/>
                    </a:cubicBezTo>
                    <a:cubicBezTo>
                      <a:pt x="0" y="360"/>
                      <a:pt x="280" y="96"/>
                      <a:pt x="336" y="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9" name="Text Box 40"/>
              <p:cNvSpPr txBox="1">
                <a:spLocks noChangeArrowheads="1"/>
              </p:cNvSpPr>
              <p:nvPr/>
            </p:nvSpPr>
            <p:spPr bwMode="auto">
              <a:xfrm>
                <a:off x="1701" y="2160"/>
                <a:ext cx="109" cy="4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260" name="Text Box 41"/>
              <p:cNvSpPr txBox="1">
                <a:spLocks noChangeArrowheads="1"/>
              </p:cNvSpPr>
              <p:nvPr/>
            </p:nvSpPr>
            <p:spPr bwMode="auto">
              <a:xfrm>
                <a:off x="3078" y="2557"/>
                <a:ext cx="691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e</a:t>
                </a:r>
                <a:r>
                  <a:rPr kumimoji="0" lang="en-US" altLang="en-US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3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: (3,0)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253" name="Group 42"/>
            <p:cNvGrpSpPr/>
            <p:nvPr/>
          </p:nvGrpSpPr>
          <p:grpSpPr bwMode="auto">
            <a:xfrm>
              <a:off x="4830765" y="4133850"/>
              <a:ext cx="2122488" cy="1430338"/>
              <a:chOff x="2448" y="2448"/>
              <a:chExt cx="1337" cy="901"/>
            </a:xfrm>
          </p:grpSpPr>
          <p:sp>
            <p:nvSpPr>
              <p:cNvPr id="10254" name="Oval 43"/>
              <p:cNvSpPr>
                <a:spLocks noChangeArrowheads="1"/>
              </p:cNvSpPr>
              <p:nvPr/>
            </p:nvSpPr>
            <p:spPr bwMode="auto">
              <a:xfrm>
                <a:off x="2784" y="2784"/>
                <a:ext cx="240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255" name="Line 44"/>
              <p:cNvSpPr>
                <a:spLocks noChangeShapeType="1"/>
              </p:cNvSpPr>
              <p:nvPr/>
            </p:nvSpPr>
            <p:spPr bwMode="auto">
              <a:xfrm>
                <a:off x="2448" y="2592"/>
                <a:ext cx="336" cy="24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6" name="Text Box 45"/>
              <p:cNvSpPr txBox="1">
                <a:spLocks noChangeArrowheads="1"/>
              </p:cNvSpPr>
              <p:nvPr/>
            </p:nvSpPr>
            <p:spPr bwMode="auto">
              <a:xfrm>
                <a:off x="2544" y="2448"/>
                <a:ext cx="109" cy="4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257" name="Text Box 46"/>
              <p:cNvSpPr txBox="1">
                <a:spLocks noChangeArrowheads="1"/>
              </p:cNvSpPr>
              <p:nvPr/>
            </p:nvSpPr>
            <p:spPr bwMode="auto">
              <a:xfrm>
                <a:off x="3094" y="2960"/>
                <a:ext cx="691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e</a:t>
                </a:r>
                <a:r>
                  <a:rPr kumimoji="0" lang="en-US" altLang="en-US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4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Arial" panose="020B0604020202020204" pitchFamily="34" charset="0"/>
                  </a:rPr>
                  <a:t>: (2,4)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81000"/>
            <a:ext cx="10769600" cy="6858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基于约束的方法</a:t>
            </a:r>
            <a:endParaRPr lang="en-US" altLang="zh-CN" sz="4000" dirty="0"/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>
          <a:xfrm>
            <a:off x="493184" y="1493399"/>
            <a:ext cx="11089216" cy="387120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630" indent="-3416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405" indent="-3733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3130" indent="-2908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95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主要挑战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lnSpc>
                <a:spcPct val="130000"/>
              </a:lnSpc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枚举并存储所有子图出现情况，会导致内存激增与计算量爆炸，尤其在大型图上。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1630" marR="0" lvl="0" indent="-34163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解决思路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kern="0" dirty="0">
                <a:solidFill>
                  <a:srgbClr val="000000"/>
                </a:solidFill>
                <a:latin typeface="Calibri" panose="020F0502020204030204"/>
              </a:rPr>
              <a:t>将频率计算建模为约束满足问题（</a:t>
            </a:r>
            <a:r>
              <a:rPr lang="en-US" altLang="zh-CN" kern="0" dirty="0">
                <a:solidFill>
                  <a:srgbClr val="000000"/>
                </a:solidFill>
                <a:latin typeface="Calibri" panose="020F0502020204030204"/>
              </a:rPr>
              <a:t>CSP</a:t>
            </a:r>
            <a:r>
              <a:rPr lang="zh-CN" altLang="en-US" kern="0" dirty="0">
                <a:solidFill>
                  <a:srgbClr val="000000"/>
                </a:solidFill>
                <a:latin typeface="Calibri" panose="020F0502020204030204"/>
              </a:rPr>
              <a:t>）。</a:t>
            </a:r>
            <a:endParaRPr lang="zh-CN" altLang="en-US" kern="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93184" y="4751305"/>
            <a:ext cx="10912771" cy="1052335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sz="2400" b="1" kern="0" dirty="0">
                <a:solidFill>
                  <a:srgbClr val="000000"/>
                </a:solidFill>
              </a:rPr>
              <a:t>剪枝策略</a:t>
            </a:r>
            <a:r>
              <a:rPr lang="en-US" altLang="en-US" sz="2400" kern="0" dirty="0">
                <a:solidFill>
                  <a:srgbClr val="000000"/>
                </a:solidFill>
              </a:rPr>
              <a:t>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一旦找到满足阈值的最小出现次数，即可确定频度，从而实现剪枝。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514350"/>
            <a:ext cx="11176000" cy="609600"/>
          </a:xfrm>
        </p:spPr>
        <p:txBody>
          <a:bodyPr>
            <a:normAutofit fontScale="90000"/>
          </a:bodyPr>
          <a:lstStyle/>
          <a:p>
            <a:r>
              <a:rPr lang="en-US" altLang="en-US" sz="4400" dirty="0"/>
              <a:t>GRAMI：模板–约束驱动</a:t>
            </a:r>
            <a:endParaRPr lang="en-US" altLang="en-US" sz="44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295400"/>
            <a:ext cx="7600950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400" dirty="0"/>
              <a:t>通过</a:t>
            </a:r>
            <a:r>
              <a:rPr lang="zh-CN" altLang="en-US" sz="2400" b="1" dirty="0"/>
              <a:t>单节点过滤</a:t>
            </a:r>
            <a:r>
              <a:rPr lang="zh-CN" altLang="en-US" sz="2400" dirty="0"/>
              <a:t>得到初始化模板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/>
              <a:t>查找所有出现次数超过阈值</a:t>
            </a:r>
            <a:r>
              <a:rPr lang="en-US" altLang="zh-CN" sz="2400" dirty="0"/>
              <a:t> τ </a:t>
            </a:r>
            <a:r>
              <a:rPr lang="zh-CN" altLang="en-US" sz="2400" dirty="0"/>
              <a:t>的节点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  <a:defRPr/>
            </a:pPr>
            <a:r>
              <a:rPr lang="zh-CN" altLang="en-US" sz="2400" dirty="0"/>
              <a:t>迭代扩展与频度评估</a:t>
            </a:r>
            <a:r>
              <a:rPr lang="en-US" altLang="zh-CN" sz="2400" dirty="0"/>
              <a:t>  </a:t>
            </a:r>
            <a:endParaRPr lang="en-US" altLang="zh-CN" sz="2400" dirty="0"/>
          </a:p>
          <a:p>
            <a:pPr lvl="1" algn="l">
              <a:lnSpc>
                <a:spcPct val="110000"/>
              </a:lnSpc>
            </a:pPr>
            <a:r>
              <a:rPr lang="zh-CN" altLang="en-US" sz="2400" dirty="0"/>
              <a:t>找到</a:t>
            </a:r>
            <a:r>
              <a:rPr lang="en-US" altLang="zh-CN" sz="2400" dirty="0"/>
              <a:t> τ </a:t>
            </a:r>
            <a:r>
              <a:rPr lang="zh-CN" altLang="en-US" sz="2400" dirty="0"/>
              <a:t>个映射后即可剪枝并停止。</a:t>
            </a:r>
            <a:endParaRPr lang="zh-CN" altLang="en-US" sz="2400" dirty="0"/>
          </a:p>
          <a:p>
            <a:pPr lvl="1" algn="l">
              <a:lnSpc>
                <a:spcPct val="110000"/>
              </a:lnSpc>
            </a:pPr>
            <a:endParaRPr lang="zh-CN" altLang="en-US" sz="2400" dirty="0"/>
          </a:p>
          <a:p>
            <a:pPr>
              <a:lnSpc>
                <a:spcPct val="110000"/>
              </a:lnSpc>
              <a:defRPr/>
            </a:pPr>
            <a:r>
              <a:rPr lang="zh-CN" altLang="en-US" sz="2400" dirty="0">
                <a:sym typeface="+mn-ea"/>
              </a:rPr>
              <a:t>启发式搜索与优化</a:t>
            </a:r>
            <a:r>
              <a:rPr lang="en-US" altLang="zh-CN" sz="2400" dirty="0">
                <a:sym typeface="+mn-ea"/>
              </a:rPr>
              <a:t> </a:t>
            </a:r>
            <a:endParaRPr lang="en-US" altLang="zh-CN" sz="2400" dirty="0"/>
          </a:p>
          <a:p>
            <a:pPr lvl="1" algn="l">
              <a:lnSpc>
                <a:spcPct val="110000"/>
              </a:lnSpc>
            </a:pPr>
            <a:r>
              <a:rPr lang="zh-CN" altLang="en-US" sz="2400" dirty="0"/>
              <a:t>优先处理</a:t>
            </a:r>
            <a:r>
              <a:rPr lang="en-US" altLang="zh-CN" sz="2400" dirty="0"/>
              <a:t> “</a:t>
            </a:r>
            <a:r>
              <a:rPr lang="zh-CN" altLang="en-US" sz="2400" dirty="0"/>
              <a:t>快速</a:t>
            </a:r>
            <a:r>
              <a:rPr lang="en-US" altLang="zh-CN" sz="2400" dirty="0"/>
              <a:t>” </a:t>
            </a:r>
            <a:r>
              <a:rPr lang="zh-CN" altLang="en-US" sz="2400" dirty="0"/>
              <a:t>路径</a:t>
            </a:r>
            <a:r>
              <a:rPr lang="en-US" altLang="zh-CN" sz="2400" dirty="0"/>
              <a:t> —— </a:t>
            </a:r>
            <a:r>
              <a:rPr lang="zh-CN" altLang="en-US" sz="2400" dirty="0"/>
              <a:t>即能快速判定为非频繁的路径，以实现早期剪枝；推迟处理</a:t>
            </a:r>
            <a:r>
              <a:rPr lang="en-US" altLang="zh-CN" sz="2400" dirty="0"/>
              <a:t> “</a:t>
            </a:r>
            <a:r>
              <a:rPr lang="zh-CN" altLang="en-US" sz="2400" dirty="0"/>
              <a:t>缓慢</a:t>
            </a:r>
            <a:r>
              <a:rPr lang="en-US" altLang="zh-CN" sz="2400" dirty="0"/>
              <a:t>” </a:t>
            </a:r>
            <a:r>
              <a:rPr lang="zh-CN" altLang="en-US" sz="2400" dirty="0"/>
              <a:t>且开销大的分支，直至必要时再执行。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6070" y="1295400"/>
            <a:ext cx="2863215" cy="5360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90525"/>
            <a:ext cx="10769600" cy="685800"/>
          </a:xfrm>
        </p:spPr>
        <p:txBody>
          <a:bodyPr>
            <a:normAutofit fontScale="90000"/>
          </a:bodyPr>
          <a:lstStyle/>
          <a:p>
            <a:r>
              <a:rPr lang="zh-CN" altLang="en-US" sz="4400" dirty="0"/>
              <a:t>基于神经网络的方法</a:t>
            </a:r>
            <a:endParaRPr lang="en-US" altLang="zh-CN" sz="4400" dirty="0"/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>
          <a:xfrm>
            <a:off x="493184" y="1493399"/>
            <a:ext cx="11089216" cy="387120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630" indent="-3416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405" indent="-3733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3130" indent="-2908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95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一种基于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神经网络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近似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频繁子图挖掘方法：无需穷举枚举，即可高效识别频繁子图。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1630" marR="0" lvl="0" indent="-34163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1630" marR="0" lvl="0" indent="-34163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ym typeface="+mn-ea"/>
              </a:rPr>
              <a:t>两个阶段</a:t>
            </a:r>
            <a:r>
              <a:rPr lang="en-US" altLang="zh-CN" dirty="0">
                <a:sym typeface="+mn-ea"/>
              </a:rPr>
              <a:t>:  </a:t>
            </a:r>
            <a:endParaRPr lang="en-US" altLang="zh-CN" dirty="0"/>
          </a:p>
          <a:p>
            <a:pPr lvl="1" algn="l">
              <a:lnSpc>
                <a:spcPct val="120000"/>
              </a:lnSpc>
            </a:pPr>
            <a:r>
              <a:rPr lang="zh-CN" altLang="en-US" b="1" dirty="0">
                <a:sym typeface="+mn-ea"/>
              </a:rPr>
              <a:t>预处理</a:t>
            </a:r>
            <a:r>
              <a:rPr lang="zh-CN" altLang="en-US" dirty="0">
                <a:sym typeface="+mn-ea"/>
              </a:rPr>
              <a:t>：将原始图数据及候选子图通过神经网络映射至</a:t>
            </a:r>
            <a:r>
              <a:rPr lang="zh-CN" altLang="en-US" b="1" dirty="0">
                <a:sym typeface="+mn-ea"/>
              </a:rPr>
              <a:t>低维有序嵌入空间</a:t>
            </a:r>
            <a:endParaRPr lang="zh-CN" altLang="en-US" b="1" dirty="0">
              <a:sym typeface="+mn-ea"/>
            </a:endParaRPr>
          </a:p>
          <a:p>
            <a:pPr lvl="1" algn="l">
              <a:lnSpc>
                <a:spcPct val="120000"/>
              </a:lnSpc>
            </a:pPr>
            <a:r>
              <a:rPr lang="en-US" altLang="zh-CN" b="1" dirty="0">
                <a:sym typeface="+mn-ea"/>
              </a:rPr>
              <a:t>搜索</a:t>
            </a:r>
            <a:r>
              <a:rPr lang="en-US" altLang="zh-CN" dirty="0">
                <a:sym typeface="+mn-ea"/>
              </a:rPr>
              <a:t>：通过在嵌入空间内搜索，</a:t>
            </a:r>
            <a:r>
              <a:rPr kumimoji="0" lang="zh-CN" altLang="en-US" i="0" u="none" strike="noStrike" kern="1200" cap="none" spc="0" normalizeH="0" baseline="0" dirty="0">
                <a:ea typeface="+mn-ea"/>
                <a:cs typeface="+mn-cs"/>
              </a:rPr>
              <a:t>直接定位高频出现的嵌入簇，反向推导并识别出数据集中的</a:t>
            </a:r>
            <a:r>
              <a:rPr kumimoji="0" lang="zh-CN" altLang="en-US" b="1" i="0" u="none" strike="noStrike" kern="1200" cap="none" spc="0" normalizeH="0" baseline="0" dirty="0">
                <a:ea typeface="+mn-ea"/>
                <a:cs typeface="+mn-cs"/>
              </a:rPr>
              <a:t>频繁子图</a:t>
            </a:r>
            <a:endParaRPr kumimoji="0" lang="zh-CN" altLang="en-US" b="1" i="0" u="none" strike="noStrike" kern="1200" cap="none" spc="0" normalizeH="0" baseline="0" dirty="0">
              <a:ea typeface="+mn-ea"/>
              <a:cs typeface="+mn-cs"/>
            </a:endParaRPr>
          </a:p>
          <a:p>
            <a:pPr lvl="1" algn="l">
              <a:lnSpc>
                <a:spcPct val="120000"/>
              </a:lnSpc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kern="0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485775"/>
            <a:ext cx="11176000" cy="609600"/>
          </a:xfrm>
        </p:spPr>
        <p:txBody>
          <a:bodyPr>
            <a:normAutofit fontScale="90000"/>
          </a:bodyPr>
          <a:lstStyle/>
          <a:p>
            <a:r>
              <a:rPr lang="en-US" altLang="zh-CN" sz="4400" dirty="0"/>
              <a:t>SPMiner</a:t>
            </a:r>
            <a:r>
              <a:rPr lang="zh-CN" altLang="en-US" sz="4400" dirty="0"/>
              <a:t>：基于图神经网络（</a:t>
            </a:r>
            <a:r>
              <a:rPr lang="en-US" altLang="zh-CN" sz="4400" dirty="0"/>
              <a:t>GNN</a:t>
            </a:r>
            <a:r>
              <a:rPr lang="zh-CN" altLang="en-US" sz="4400" dirty="0"/>
              <a:t>）的嵌入表示</a:t>
            </a:r>
            <a:endParaRPr lang="zh-CN" altLang="en-US" sz="4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45" y="1666240"/>
            <a:ext cx="5551805" cy="30346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980" y="1666240"/>
            <a:ext cx="4521835" cy="30346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159375" y="1843405"/>
            <a:ext cx="93662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parent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75710" y="3314700"/>
            <a:ext cx="119380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subgraph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26390" y="4700905"/>
            <a:ext cx="5130800" cy="1052195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对子图与父图之间的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偏序关系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进行编码（左下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--&gt;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右上）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6096000" y="4700905"/>
            <a:ext cx="5588000" cy="1466215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找到一个规模为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的子图，使其包含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尽可能多的真实邻域子图。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504825"/>
            <a:ext cx="10289117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为何挖掘闭合图模式？</a:t>
            </a:r>
            <a:endParaRPr lang="zh-CN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510117" y="1295400"/>
            <a:ext cx="10020723" cy="5105400"/>
          </a:xfrm>
        </p:spPr>
        <p:txBody>
          <a:bodyPr/>
          <a:lstStyle/>
          <a:p>
            <a:r>
              <a:rPr lang="zh-CN" altLang="en-US" sz="2400" dirty="0"/>
              <a:t>挑战：一个含</a:t>
            </a:r>
            <a:r>
              <a:rPr lang="en-US" altLang="zh-CN" sz="2400" dirty="0"/>
              <a:t> n </a:t>
            </a:r>
            <a:r>
              <a:rPr lang="zh-CN" altLang="en-US" sz="2400" dirty="0"/>
              <a:t>条边的频繁图可能存在</a:t>
            </a:r>
            <a:r>
              <a:rPr lang="en-US" altLang="zh-CN" sz="2400" dirty="0"/>
              <a:t> 2</a:t>
            </a:r>
            <a:r>
              <a:rPr lang="en-US" altLang="en-US" sz="2400" dirty="0"/>
              <a:t>ⁿ</a:t>
            </a:r>
            <a:r>
              <a:rPr lang="zh-CN" altLang="en-US" sz="2400" dirty="0"/>
              <a:t>个子图</a:t>
            </a:r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i="1" dirty="0"/>
          </a:p>
          <a:p>
            <a:pPr eaLnBrk="1" hangingPunct="1"/>
            <a:endParaRPr lang="en-US" altLang="en-US" sz="2400" i="1" dirty="0"/>
          </a:p>
          <a:p>
            <a:pPr eaLnBrk="1" hangingPunct="1"/>
            <a:r>
              <a:rPr lang="zh-CN" altLang="en-US" sz="2400" b="1" dirty="0"/>
              <a:t>无损压缩：不包含非闭合图，同时仍保证挖掘结果完备</a:t>
            </a:r>
            <a:endParaRPr lang="zh-CN" altLang="en-US" sz="2400" b="1" dirty="0"/>
          </a:p>
          <a:p>
            <a:pPr eaLnBrk="1" hangingPunct="1"/>
            <a:endParaRPr lang="zh-CN" altLang="en-US" sz="2400" b="1" dirty="0"/>
          </a:p>
          <a:p>
            <a:pPr eaLnBrk="1" hangingPunct="1"/>
            <a:r>
              <a:rPr lang="en-US" altLang="zh-CN" sz="2400" dirty="0"/>
              <a:t>CloseGraph </a:t>
            </a:r>
            <a:r>
              <a:rPr lang="zh-CN" altLang="en-US" sz="2400" dirty="0"/>
              <a:t>算法：直接挖掘闭合图模式</a:t>
            </a:r>
            <a:endParaRPr lang="zh-CN" altLang="en-US" sz="2400" dirty="0"/>
          </a:p>
        </p:txBody>
      </p:sp>
      <p:pic>
        <p:nvPicPr>
          <p:cNvPr id="11269" name="Picture 4" descr="mol_ca_4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92" y="2326618"/>
            <a:ext cx="5259934" cy="220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Box 2"/>
          <p:cNvSpPr txBox="1">
            <a:spLocks noChangeArrowheads="1"/>
          </p:cNvSpPr>
          <p:nvPr/>
        </p:nvSpPr>
        <p:spPr bwMode="auto">
          <a:xfrm>
            <a:off x="6096000" y="2529840"/>
            <a:ext cx="4770120" cy="1476375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若该子图在图数据集中是闭合的，则意味着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其任意频繁超图均不具有相同的支持度。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285" y="212090"/>
            <a:ext cx="12168716" cy="84037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CloseGraph</a:t>
            </a:r>
            <a:r>
              <a:rPr lang="zh-CN" altLang="en-US" dirty="0"/>
              <a:t>：直接挖掘闭合图模式</a:t>
            </a:r>
            <a:endParaRPr lang="en-US" altLang="en-US" sz="2800" dirty="0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657601" y="4495801"/>
            <a:ext cx="4780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t>…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292" name="Oval 5"/>
          <p:cNvSpPr>
            <a:spLocks noChangeArrowheads="1"/>
          </p:cNvSpPr>
          <p:nvPr/>
        </p:nvSpPr>
        <p:spPr bwMode="auto">
          <a:xfrm>
            <a:off x="1016000" y="3886200"/>
            <a:ext cx="914400" cy="685800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G</a:t>
            </a:r>
            <a:endParaRPr kumimoji="0" lang="en-US" altLang="en-US" sz="2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293" name="Oval 6"/>
          <p:cNvSpPr>
            <a:spLocks noChangeArrowheads="1"/>
          </p:cNvSpPr>
          <p:nvPr/>
        </p:nvSpPr>
        <p:spPr bwMode="auto">
          <a:xfrm>
            <a:off x="3556000" y="2528888"/>
            <a:ext cx="914400" cy="685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3D5C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G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294" name="Oval 7"/>
          <p:cNvSpPr>
            <a:spLocks noChangeArrowheads="1"/>
          </p:cNvSpPr>
          <p:nvPr/>
        </p:nvSpPr>
        <p:spPr bwMode="auto">
          <a:xfrm>
            <a:off x="3556000" y="3429000"/>
            <a:ext cx="914400" cy="685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3D5C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G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2</a:t>
            </a:r>
            <a:endParaRPr kumimoji="0" lang="en-US" altLang="en-US" sz="2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295" name="Oval 8"/>
          <p:cNvSpPr>
            <a:spLocks noChangeArrowheads="1"/>
          </p:cNvSpPr>
          <p:nvPr/>
        </p:nvSpPr>
        <p:spPr bwMode="auto">
          <a:xfrm>
            <a:off x="3556000" y="5181600"/>
            <a:ext cx="914400" cy="685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3D5C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G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</a:t>
            </a:r>
            <a:endParaRPr kumimoji="0" lang="en-US" altLang="en-US" sz="2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296" name="Line 9"/>
          <p:cNvSpPr>
            <a:spLocks noChangeShapeType="1"/>
          </p:cNvSpPr>
          <p:nvPr/>
        </p:nvSpPr>
        <p:spPr bwMode="auto">
          <a:xfrm flipV="1">
            <a:off x="1930400" y="3048000"/>
            <a:ext cx="1524000" cy="914400"/>
          </a:xfrm>
          <a:prstGeom prst="line">
            <a:avLst/>
          </a:prstGeom>
          <a:noFill/>
          <a:ln w="28575">
            <a:solidFill>
              <a:srgbClr val="2C5A8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97" name="Line 10"/>
          <p:cNvSpPr>
            <a:spLocks noChangeShapeType="1"/>
          </p:cNvSpPr>
          <p:nvPr/>
        </p:nvSpPr>
        <p:spPr bwMode="auto">
          <a:xfrm>
            <a:off x="2032000" y="4419600"/>
            <a:ext cx="1524000" cy="914400"/>
          </a:xfrm>
          <a:prstGeom prst="line">
            <a:avLst/>
          </a:prstGeom>
          <a:noFill/>
          <a:ln w="28575">
            <a:solidFill>
              <a:srgbClr val="2C5A8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98" name="Line 11"/>
          <p:cNvSpPr>
            <a:spLocks noChangeShapeType="1"/>
          </p:cNvSpPr>
          <p:nvPr/>
        </p:nvSpPr>
        <p:spPr bwMode="auto">
          <a:xfrm flipV="1">
            <a:off x="2032000" y="3810000"/>
            <a:ext cx="1422400" cy="381000"/>
          </a:xfrm>
          <a:prstGeom prst="line">
            <a:avLst/>
          </a:prstGeom>
          <a:noFill/>
          <a:ln w="28575">
            <a:solidFill>
              <a:srgbClr val="2C5A8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99" name="Text Box 12"/>
          <p:cNvSpPr txBox="1">
            <a:spLocks noChangeArrowheads="1"/>
          </p:cNvSpPr>
          <p:nvPr/>
        </p:nvSpPr>
        <p:spPr bwMode="auto">
          <a:xfrm>
            <a:off x="609600" y="3429001"/>
            <a:ext cx="10823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70981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  <a:t>k-edge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170981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300" name="Text Box 13"/>
          <p:cNvSpPr txBox="1">
            <a:spLocks noChangeArrowheads="1"/>
          </p:cNvSpPr>
          <p:nvPr/>
        </p:nvSpPr>
        <p:spPr bwMode="auto">
          <a:xfrm>
            <a:off x="2832101" y="5957888"/>
            <a:ext cx="224155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0981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  <a:t>(k+1)-edge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170981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302" name="AutoShape 15"/>
          <p:cNvCxnSpPr>
            <a:cxnSpLocks noChangeShapeType="1"/>
            <a:stCxn id="12301" idx="1"/>
            <a:endCxn id="12293" idx="6"/>
          </p:cNvCxnSpPr>
          <p:nvPr/>
        </p:nvCxnSpPr>
        <p:spPr bwMode="auto">
          <a:xfrm flipH="1">
            <a:off x="4470400" y="2864644"/>
            <a:ext cx="711200" cy="7144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3" name="AutoShape 16"/>
          <p:cNvCxnSpPr>
            <a:cxnSpLocks noChangeShapeType="1"/>
            <a:stCxn id="12301" idx="1"/>
            <a:endCxn id="12294" idx="6"/>
          </p:cNvCxnSpPr>
          <p:nvPr/>
        </p:nvCxnSpPr>
        <p:spPr bwMode="auto">
          <a:xfrm flipH="1">
            <a:off x="4470400" y="2864644"/>
            <a:ext cx="711200" cy="907256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4" name="AutoShape 17"/>
          <p:cNvCxnSpPr>
            <a:cxnSpLocks noChangeShapeType="1"/>
            <a:stCxn id="12301" idx="1"/>
            <a:endCxn id="12295" idx="6"/>
          </p:cNvCxnSpPr>
          <p:nvPr/>
        </p:nvCxnSpPr>
        <p:spPr bwMode="auto">
          <a:xfrm flipH="1">
            <a:off x="4470400" y="2864644"/>
            <a:ext cx="711200" cy="2659856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471508" y="1249839"/>
            <a:ext cx="10912771" cy="809738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CloseGraph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：通过扩展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gSpan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（有序图模式增长）挖掘闭合图模式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>
          <a:xfrm>
            <a:off x="5181602" y="4147185"/>
            <a:ext cx="6310627" cy="2710933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en-US" altLang="en-US" sz="2400" b="0" i="0" u="none" strike="noStrike" kern="1200" cap="none" spc="0" normalizeH="0" dirty="0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rPr>
              <a:t>假设图 G 和 G1 都是频繁的，且 G 是 G1 的子图</a:t>
            </a:r>
            <a:endParaRPr kumimoji="0" lang="en-US" altLang="en-US" sz="2400" b="0" i="0" u="none" strike="noStrike" kern="1200" cap="none" spc="0" normalizeH="0" dirty="0">
              <a:solidFill>
                <a:srgbClr val="000000"/>
              </a:solidFill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altLang="en-US" sz="2400" b="0" i="0" u="none" strike="noStrike" kern="1200" cap="none" spc="0" normalizeH="0" dirty="0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rPr>
              <a:t>如果在数据集中所有出现 G 的图片段中，G1 也同时出现，这就说明</a:t>
            </a:r>
            <a:r>
              <a:rPr kumimoji="0" lang="en-US" altLang="en-US" sz="2400" b="1" i="0" u="none" strike="noStrike" kern="1200" cap="none" spc="0" normalizeH="0" dirty="0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rPr>
              <a:t> G 不可能是闭图</a:t>
            </a:r>
            <a:r>
              <a:rPr kumimoji="0" lang="en-US" altLang="en-US" sz="2400" b="0" i="0" u="none" strike="noStrike" kern="1200" cap="none" spc="0" normalizeH="0" dirty="0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rPr>
              <a:t>，那么我们就无需再对 G 进行扩展。</a:t>
            </a:r>
            <a:endParaRPr kumimoji="0" lang="en-US" altLang="en-US" sz="2400" b="0" i="0" u="none" strike="noStrike" kern="1200" cap="none" spc="0" normalizeH="0" dirty="0">
              <a:solidFill>
                <a:srgbClr val="00000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82895" y="2372995"/>
            <a:ext cx="46863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在什么条件下我们可以</a:t>
            </a:r>
            <a:r>
              <a:rPr lang="zh-CN" altLang="en-US" sz="2400" b="1"/>
              <a:t>停止搜索它们的子节点</a:t>
            </a:r>
            <a:r>
              <a:rPr lang="zh-CN" altLang="en-US" sz="2400"/>
              <a:t>，即提前终止？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12292" grpId="0" animBg="1"/>
      <p:bldP spid="12293" grpId="0" animBg="1"/>
      <p:bldP spid="12294" grpId="0" animBg="1"/>
      <p:bldP spid="12295" grpId="0" animBg="1"/>
      <p:bldP spid="12296" grpId="0" animBg="1"/>
      <p:bldP spid="12297" grpId="0" animBg="1"/>
      <p:bldP spid="12298" grpId="0" animBg="1"/>
      <p:bldP spid="12299" grpId="0"/>
      <p:bldP spid="1230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476885"/>
            <a:ext cx="123952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/>
              <a:t>实验与性能对比</a:t>
            </a: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147347"/>
            <a:ext cx="10917646" cy="17526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zh-CN" altLang="en-US" sz="2400" b="1" dirty="0"/>
              <a:t>美国国立卫生研究院的艾滋病抗病毒筛选化合物数据集</a:t>
            </a:r>
            <a:endParaRPr lang="zh-CN" altLang="en-US" sz="2400" b="1" dirty="0"/>
          </a:p>
          <a:p>
            <a:pPr eaLnBrk="1" hangingPunct="1">
              <a:spcAft>
                <a:spcPts val="600"/>
              </a:spcAft>
            </a:pPr>
            <a:endParaRPr lang="zh-CN" altLang="en-US" sz="2400" b="1" dirty="0"/>
          </a:p>
          <a:p>
            <a:pPr eaLnBrk="1" hangingPunct="1"/>
            <a:r>
              <a:rPr lang="zh-CN" altLang="en-US" dirty="0"/>
              <a:t>发现的模式：最小支持度越小，发现的子图模式越大、也越有意义</a:t>
            </a:r>
            <a:endParaRPr lang="zh-CN" altLang="en-US" dirty="0"/>
          </a:p>
        </p:txBody>
      </p:sp>
      <p:pic>
        <p:nvPicPr>
          <p:cNvPr id="14341" name="Picture 3" descr="mol_ca_2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234" y="2821575"/>
            <a:ext cx="3932767" cy="130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4" descr="mol_ca_4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1" y="2960914"/>
            <a:ext cx="2266949" cy="111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5" descr="mol_ca_8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0" y="3057525"/>
            <a:ext cx="1718733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4" name="Text Box 6"/>
          <p:cNvSpPr txBox="1">
            <a:spLocks noChangeArrowheads="1"/>
          </p:cNvSpPr>
          <p:nvPr/>
        </p:nvSpPr>
        <p:spPr bwMode="auto">
          <a:xfrm>
            <a:off x="1439333" y="3057525"/>
            <a:ext cx="6319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C5A8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20%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2C5A88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345" name="Text Box 7"/>
          <p:cNvSpPr txBox="1">
            <a:spLocks noChangeArrowheads="1"/>
          </p:cNvSpPr>
          <p:nvPr/>
        </p:nvSpPr>
        <p:spPr bwMode="auto">
          <a:xfrm>
            <a:off x="4076700" y="3040063"/>
            <a:ext cx="6319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C5A8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10%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2C5A88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346" name="Text Box 8"/>
          <p:cNvSpPr txBox="1">
            <a:spLocks noChangeArrowheads="1"/>
          </p:cNvSpPr>
          <p:nvPr/>
        </p:nvSpPr>
        <p:spPr bwMode="auto">
          <a:xfrm>
            <a:off x="7291917" y="3040063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C5A88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5%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2C5A88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4347" name="Object 4"/>
          <p:cNvGraphicFramePr>
            <a:graphicFrameLocks noChangeAspect="1"/>
          </p:cNvGraphicFramePr>
          <p:nvPr/>
        </p:nvGraphicFramePr>
        <p:xfrm>
          <a:off x="1219201" y="4495801"/>
          <a:ext cx="4042833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Chart" r:id="rId4" imgW="8572500" imgH="6184900" progId="MSGraph.Chart.8">
                  <p:embed followColorScheme="full"/>
                </p:oleObj>
              </mc:Choice>
              <mc:Fallback>
                <p:oleObj name="Chart" r:id="rId4" imgW="8572500" imgH="6184900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1" y="4495801"/>
                        <a:ext cx="4042833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Text Box 5"/>
          <p:cNvSpPr txBox="1">
            <a:spLocks noChangeArrowheads="1"/>
          </p:cNvSpPr>
          <p:nvPr/>
        </p:nvSpPr>
        <p:spPr bwMode="auto">
          <a:xfrm>
            <a:off x="2438400" y="6553200"/>
            <a:ext cx="17331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E3D5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Minimum support</a:t>
            </a: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1E3D5C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349" name="Text Box 6"/>
          <p:cNvSpPr txBox="1">
            <a:spLocks noChangeArrowheads="1"/>
          </p:cNvSpPr>
          <p:nvPr/>
        </p:nvSpPr>
        <p:spPr bwMode="auto">
          <a:xfrm rot="-5400000">
            <a:off x="2939" y="5498892"/>
            <a:ext cx="18673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E3D5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Number of patterns</a:t>
            </a: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1E3D5C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11200" y="4114800"/>
            <a:ext cx="53848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# of Patterns: Frequent vs. Closed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4351" name="Object 2"/>
          <p:cNvGraphicFramePr>
            <a:graphicFrameLocks noChangeAspect="1"/>
          </p:cNvGraphicFramePr>
          <p:nvPr/>
        </p:nvGraphicFramePr>
        <p:xfrm>
          <a:off x="7010400" y="4495801"/>
          <a:ext cx="4064000" cy="211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Chart" r:id="rId6" imgW="14452600" imgH="10020300" progId="MSGraph.Chart.8">
                  <p:embed followColorScheme="full"/>
                </p:oleObj>
              </mc:Choice>
              <mc:Fallback>
                <p:oleObj name="Chart" r:id="rId6" imgW="14452600" imgH="10020300" progId="MSGraph.Chart.8">
                  <p:embed followColorScheme="full"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495801"/>
                        <a:ext cx="4064000" cy="211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Text Box 6"/>
          <p:cNvSpPr txBox="1">
            <a:spLocks noChangeArrowheads="1"/>
          </p:cNvSpPr>
          <p:nvPr/>
        </p:nvSpPr>
        <p:spPr bwMode="auto">
          <a:xfrm rot="-5400000">
            <a:off x="6185103" y="5332205"/>
            <a:ext cx="14029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E3D5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Run time (sec)</a:t>
            </a: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1E3D5C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7379208" y="4191000"/>
            <a:ext cx="335584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+mj-cs"/>
              </a:rPr>
              <a:t>Runtime: Frequent vs. Closed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j-ea"/>
              <a:cs typeface="+mj-cs"/>
            </a:endParaRPr>
          </a:p>
        </p:txBody>
      </p:sp>
      <p:sp>
        <p:nvSpPr>
          <p:cNvPr id="14354" name="Text Box 5"/>
          <p:cNvSpPr txBox="1">
            <a:spLocks noChangeArrowheads="1"/>
          </p:cNvSpPr>
          <p:nvPr/>
        </p:nvSpPr>
        <p:spPr bwMode="auto">
          <a:xfrm>
            <a:off x="8411633" y="6518276"/>
            <a:ext cx="17331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E3D5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Minimum support</a:t>
            </a: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1E3D5C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/>
      <p:bldP spid="14345" grpId="0"/>
      <p:bldP spid="14346" grpId="0"/>
      <p:bldOleChart spid="14347" grpId="0"/>
      <p:bldP spid="14348" grpId="0"/>
      <p:bldP spid="14349" grpId="0"/>
      <p:bldP spid="18" grpId="0"/>
      <p:bldOleChart spid="14351" grpId="0"/>
      <p:bldP spid="14352" grpId="0"/>
      <p:bldP spid="21" grpId="0"/>
      <p:bldP spid="143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14960"/>
            <a:ext cx="12192000" cy="77597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dirty="0"/>
              <a:t>模式挖掘应用（一）：图索引</a:t>
            </a:r>
            <a:endParaRPr lang="zh-CN" altLang="en-US" sz="40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557" y="1173481"/>
            <a:ext cx="11305117" cy="5334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图查询：在图数据库中查找包含给定查询图的所有图</a:t>
            </a:r>
            <a:endParaRPr lang="zh-CN" altLang="en-US" sz="2400" dirty="0"/>
          </a:p>
        </p:txBody>
      </p:sp>
      <p:grpSp>
        <p:nvGrpSpPr>
          <p:cNvPr id="15364" name="Group 16"/>
          <p:cNvGrpSpPr/>
          <p:nvPr/>
        </p:nvGrpSpPr>
        <p:grpSpPr bwMode="auto">
          <a:xfrm>
            <a:off x="6822835" y="1778705"/>
            <a:ext cx="4509445" cy="1844061"/>
            <a:chOff x="315968" y="2128838"/>
            <a:chExt cx="3794070" cy="1681162"/>
          </a:xfrm>
        </p:grpSpPr>
        <p:sp>
          <p:nvSpPr>
            <p:cNvPr id="15379" name="Text Box 3"/>
            <p:cNvSpPr txBox="1">
              <a:spLocks noChangeArrowheads="1"/>
            </p:cNvSpPr>
            <p:nvPr/>
          </p:nvSpPr>
          <p:spPr bwMode="auto">
            <a:xfrm>
              <a:off x="3008250" y="3243290"/>
              <a:ext cx="9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cs typeface="Arial" panose="020B0604020202020204" pitchFamily="34" charset="0"/>
                </a:rPr>
                <a:t>Graph (G)</a:t>
              </a:r>
              <a:endParaRPr lang="en-US" altLang="en-US" sz="2000">
                <a:cs typeface="Arial" panose="020B0604020202020204" pitchFamily="34" charset="0"/>
              </a:endParaRPr>
            </a:p>
          </p:txBody>
        </p:sp>
        <p:sp>
          <p:nvSpPr>
            <p:cNvPr id="15380" name="Text Box 4"/>
            <p:cNvSpPr txBox="1">
              <a:spLocks noChangeArrowheads="1"/>
            </p:cNvSpPr>
            <p:nvPr/>
          </p:nvSpPr>
          <p:spPr bwMode="auto">
            <a:xfrm>
              <a:off x="315968" y="3371468"/>
              <a:ext cx="11435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cs typeface="Arial" panose="020B0604020202020204" pitchFamily="34" charset="0"/>
                </a:rPr>
                <a:t>Substructure</a:t>
              </a:r>
              <a:endParaRPr lang="en-US" altLang="en-US" sz="2000" dirty="0">
                <a:cs typeface="Arial" panose="020B0604020202020204" pitchFamily="34" charset="0"/>
              </a:endParaRPr>
            </a:p>
          </p:txBody>
        </p:sp>
        <p:sp>
          <p:nvSpPr>
            <p:cNvPr id="15381" name="Text Box 5"/>
            <p:cNvSpPr txBox="1">
              <a:spLocks noChangeArrowheads="1"/>
            </p:cNvSpPr>
            <p:nvPr/>
          </p:nvSpPr>
          <p:spPr bwMode="auto">
            <a:xfrm>
              <a:off x="1138191" y="2199450"/>
              <a:ext cx="152880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cs typeface="Arial" panose="020B0604020202020204" pitchFamily="34" charset="0"/>
                </a:rPr>
                <a:t>Query graph (Q)</a:t>
              </a:r>
              <a:endParaRPr lang="en-US" altLang="en-US" sz="2000" dirty="0">
                <a:cs typeface="Arial" panose="020B0604020202020204" pitchFamily="34" charset="0"/>
              </a:endParaRPr>
            </a:p>
          </p:txBody>
        </p:sp>
        <p:grpSp>
          <p:nvGrpSpPr>
            <p:cNvPr id="15382" name="Group 6"/>
            <p:cNvGrpSpPr/>
            <p:nvPr/>
          </p:nvGrpSpPr>
          <p:grpSpPr bwMode="auto">
            <a:xfrm>
              <a:off x="685800" y="2128838"/>
              <a:ext cx="3424238" cy="1681162"/>
              <a:chOff x="819" y="1262"/>
              <a:chExt cx="1700" cy="853"/>
            </a:xfrm>
          </p:grpSpPr>
          <p:sp>
            <p:nvSpPr>
              <p:cNvPr id="15383" name="Oval 7"/>
              <p:cNvSpPr>
                <a:spLocks noChangeArrowheads="1"/>
              </p:cNvSpPr>
              <p:nvPr/>
            </p:nvSpPr>
            <p:spPr bwMode="auto">
              <a:xfrm>
                <a:off x="955" y="1382"/>
                <a:ext cx="62" cy="58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384" name="Oval 8"/>
              <p:cNvSpPr>
                <a:spLocks noChangeArrowheads="1"/>
              </p:cNvSpPr>
              <p:nvPr/>
            </p:nvSpPr>
            <p:spPr bwMode="auto">
              <a:xfrm>
                <a:off x="1091" y="1657"/>
                <a:ext cx="61" cy="57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385" name="Oval 9"/>
              <p:cNvSpPr>
                <a:spLocks noChangeArrowheads="1"/>
              </p:cNvSpPr>
              <p:nvPr/>
            </p:nvSpPr>
            <p:spPr bwMode="auto">
              <a:xfrm>
                <a:off x="820" y="1657"/>
                <a:ext cx="62" cy="57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386" name="Oval 10"/>
              <p:cNvSpPr>
                <a:spLocks noChangeArrowheads="1"/>
              </p:cNvSpPr>
              <p:nvPr/>
            </p:nvSpPr>
            <p:spPr bwMode="auto">
              <a:xfrm>
                <a:off x="953" y="1544"/>
                <a:ext cx="61" cy="57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387" name="Oval 11"/>
              <p:cNvSpPr>
                <a:spLocks noChangeArrowheads="1"/>
              </p:cNvSpPr>
              <p:nvPr/>
            </p:nvSpPr>
            <p:spPr bwMode="auto">
              <a:xfrm>
                <a:off x="819" y="1292"/>
                <a:ext cx="61" cy="5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cxnSp>
            <p:nvCxnSpPr>
              <p:cNvPr id="15388" name="AutoShape 12"/>
              <p:cNvCxnSpPr>
                <a:cxnSpLocks noChangeShapeType="1"/>
                <a:stCxn id="15387" idx="5"/>
                <a:endCxn id="15383" idx="1"/>
              </p:cNvCxnSpPr>
              <p:nvPr/>
            </p:nvCxnSpPr>
            <p:spPr bwMode="auto">
              <a:xfrm>
                <a:off x="871" y="1340"/>
                <a:ext cx="93" cy="5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9" name="AutoShape 13"/>
              <p:cNvCxnSpPr>
                <a:cxnSpLocks noChangeShapeType="1"/>
                <a:stCxn id="15383" idx="4"/>
                <a:endCxn id="15386" idx="0"/>
              </p:cNvCxnSpPr>
              <p:nvPr/>
            </p:nvCxnSpPr>
            <p:spPr bwMode="auto">
              <a:xfrm flipH="1">
                <a:off x="984" y="1440"/>
                <a:ext cx="1" cy="10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0" name="AutoShape 14"/>
              <p:cNvCxnSpPr>
                <a:cxnSpLocks noChangeShapeType="1"/>
                <a:stCxn id="15386" idx="3"/>
              </p:cNvCxnSpPr>
              <p:nvPr/>
            </p:nvCxnSpPr>
            <p:spPr bwMode="auto">
              <a:xfrm flipH="1">
                <a:off x="872" y="1593"/>
                <a:ext cx="90" cy="7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1" name="AutoShape 15"/>
              <p:cNvCxnSpPr>
                <a:cxnSpLocks noChangeShapeType="1"/>
                <a:stCxn id="15386" idx="5"/>
                <a:endCxn id="15384" idx="1"/>
              </p:cNvCxnSpPr>
              <p:nvPr/>
            </p:nvCxnSpPr>
            <p:spPr bwMode="auto">
              <a:xfrm>
                <a:off x="1006" y="1592"/>
                <a:ext cx="94" cy="7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92" name="Oval 16"/>
              <p:cNvSpPr>
                <a:spLocks noChangeArrowheads="1"/>
              </p:cNvSpPr>
              <p:nvPr/>
            </p:nvSpPr>
            <p:spPr bwMode="auto">
              <a:xfrm>
                <a:off x="2204" y="1487"/>
                <a:ext cx="61" cy="5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393" name="Oval 17"/>
              <p:cNvSpPr>
                <a:spLocks noChangeArrowheads="1"/>
              </p:cNvSpPr>
              <p:nvPr/>
            </p:nvSpPr>
            <p:spPr bwMode="auto">
              <a:xfrm>
                <a:off x="2339" y="1743"/>
                <a:ext cx="61" cy="5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394" name="Oval 18"/>
              <p:cNvSpPr>
                <a:spLocks noChangeArrowheads="1"/>
              </p:cNvSpPr>
              <p:nvPr/>
            </p:nvSpPr>
            <p:spPr bwMode="auto">
              <a:xfrm>
                <a:off x="2069" y="1737"/>
                <a:ext cx="61" cy="5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395" name="Oval 19"/>
              <p:cNvSpPr>
                <a:spLocks noChangeArrowheads="1"/>
              </p:cNvSpPr>
              <p:nvPr/>
            </p:nvSpPr>
            <p:spPr bwMode="auto">
              <a:xfrm>
                <a:off x="2201" y="1648"/>
                <a:ext cx="62" cy="5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396" name="Oval 20"/>
              <p:cNvSpPr>
                <a:spLocks noChangeArrowheads="1"/>
              </p:cNvSpPr>
              <p:nvPr/>
            </p:nvSpPr>
            <p:spPr bwMode="auto">
              <a:xfrm>
                <a:off x="2067" y="1397"/>
                <a:ext cx="61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397" name="Oval 21"/>
              <p:cNvSpPr>
                <a:spLocks noChangeArrowheads="1"/>
              </p:cNvSpPr>
              <p:nvPr/>
            </p:nvSpPr>
            <p:spPr bwMode="auto">
              <a:xfrm>
                <a:off x="2332" y="1394"/>
                <a:ext cx="61" cy="5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cxnSp>
            <p:nvCxnSpPr>
              <p:cNvPr id="15398" name="AutoShape 22"/>
              <p:cNvCxnSpPr>
                <a:cxnSpLocks noChangeShapeType="1"/>
                <a:stCxn id="15396" idx="5"/>
                <a:endCxn id="15392" idx="1"/>
              </p:cNvCxnSpPr>
              <p:nvPr/>
            </p:nvCxnSpPr>
            <p:spPr bwMode="auto">
              <a:xfrm>
                <a:off x="2120" y="1444"/>
                <a:ext cx="93" cy="5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9" name="AutoShape 23"/>
              <p:cNvCxnSpPr>
                <a:cxnSpLocks noChangeShapeType="1"/>
                <a:stCxn id="15392" idx="7"/>
                <a:endCxn id="15397" idx="3"/>
              </p:cNvCxnSpPr>
              <p:nvPr/>
            </p:nvCxnSpPr>
            <p:spPr bwMode="auto">
              <a:xfrm flipV="1">
                <a:off x="2257" y="1442"/>
                <a:ext cx="84" cy="5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00" name="AutoShape 24"/>
              <p:cNvCxnSpPr>
                <a:cxnSpLocks noChangeShapeType="1"/>
                <a:stCxn id="15392" idx="4"/>
                <a:endCxn id="15395" idx="0"/>
              </p:cNvCxnSpPr>
              <p:nvPr/>
            </p:nvCxnSpPr>
            <p:spPr bwMode="auto">
              <a:xfrm flipH="1">
                <a:off x="2232" y="1544"/>
                <a:ext cx="2" cy="10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01" name="AutoShape 25"/>
              <p:cNvCxnSpPr>
                <a:cxnSpLocks noChangeShapeType="1"/>
                <a:stCxn id="15395" idx="3"/>
                <a:endCxn id="15394" idx="7"/>
              </p:cNvCxnSpPr>
              <p:nvPr/>
            </p:nvCxnSpPr>
            <p:spPr bwMode="auto">
              <a:xfrm flipH="1">
                <a:off x="2120" y="1697"/>
                <a:ext cx="91" cy="4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02" name="AutoShape 26"/>
              <p:cNvCxnSpPr>
                <a:cxnSpLocks noChangeShapeType="1"/>
                <a:stCxn id="15395" idx="5"/>
                <a:endCxn id="15393" idx="1"/>
              </p:cNvCxnSpPr>
              <p:nvPr/>
            </p:nvCxnSpPr>
            <p:spPr bwMode="auto">
              <a:xfrm>
                <a:off x="2254" y="1697"/>
                <a:ext cx="94" cy="5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403" name="Oval 27"/>
              <p:cNvSpPr>
                <a:spLocks noChangeArrowheads="1"/>
              </p:cNvSpPr>
              <p:nvPr/>
            </p:nvSpPr>
            <p:spPr bwMode="auto">
              <a:xfrm>
                <a:off x="1942" y="1476"/>
                <a:ext cx="62" cy="5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404" name="Oval 28"/>
              <p:cNvSpPr>
                <a:spLocks noChangeArrowheads="1"/>
              </p:cNvSpPr>
              <p:nvPr/>
            </p:nvSpPr>
            <p:spPr bwMode="auto">
              <a:xfrm>
                <a:off x="1937" y="1645"/>
                <a:ext cx="61" cy="5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405" name="Oval 29"/>
              <p:cNvSpPr>
                <a:spLocks noChangeArrowheads="1"/>
              </p:cNvSpPr>
              <p:nvPr/>
            </p:nvSpPr>
            <p:spPr bwMode="auto">
              <a:xfrm>
                <a:off x="2458" y="1516"/>
                <a:ext cx="61" cy="5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cxnSp>
            <p:nvCxnSpPr>
              <p:cNvPr id="15406" name="AutoShape 30"/>
              <p:cNvCxnSpPr>
                <a:cxnSpLocks noChangeShapeType="1"/>
                <a:stCxn id="15403" idx="7"/>
                <a:endCxn id="15396" idx="3"/>
              </p:cNvCxnSpPr>
              <p:nvPr/>
            </p:nvCxnSpPr>
            <p:spPr bwMode="auto">
              <a:xfrm flipV="1">
                <a:off x="1995" y="1444"/>
                <a:ext cx="81" cy="4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07" name="AutoShape 31"/>
              <p:cNvCxnSpPr>
                <a:cxnSpLocks noChangeShapeType="1"/>
                <a:stCxn id="15404" idx="5"/>
                <a:endCxn id="15394" idx="1"/>
              </p:cNvCxnSpPr>
              <p:nvPr/>
            </p:nvCxnSpPr>
            <p:spPr bwMode="auto">
              <a:xfrm>
                <a:off x="1990" y="1694"/>
                <a:ext cx="88" cy="5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08" name="AutoShape 32"/>
              <p:cNvCxnSpPr>
                <a:cxnSpLocks noChangeShapeType="1"/>
                <a:stCxn id="15403" idx="4"/>
                <a:endCxn id="15404" idx="0"/>
              </p:cNvCxnSpPr>
              <p:nvPr/>
            </p:nvCxnSpPr>
            <p:spPr bwMode="auto">
              <a:xfrm flipH="1">
                <a:off x="1968" y="1533"/>
                <a:ext cx="4" cy="11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09" name="AutoShape 33"/>
              <p:cNvCxnSpPr>
                <a:cxnSpLocks noChangeShapeType="1"/>
                <a:stCxn id="15397" idx="5"/>
                <a:endCxn id="15405" idx="1"/>
              </p:cNvCxnSpPr>
              <p:nvPr/>
            </p:nvCxnSpPr>
            <p:spPr bwMode="auto">
              <a:xfrm>
                <a:off x="2384" y="1442"/>
                <a:ext cx="83" cy="8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410" name="Oval 34"/>
              <p:cNvSpPr>
                <a:spLocks noChangeArrowheads="1"/>
              </p:cNvSpPr>
              <p:nvPr/>
            </p:nvSpPr>
            <p:spPr bwMode="auto">
              <a:xfrm>
                <a:off x="1526" y="1785"/>
                <a:ext cx="61" cy="56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411" name="Oval 35"/>
              <p:cNvSpPr>
                <a:spLocks noChangeArrowheads="1"/>
              </p:cNvSpPr>
              <p:nvPr/>
            </p:nvSpPr>
            <p:spPr bwMode="auto">
              <a:xfrm>
                <a:off x="1661" y="2059"/>
                <a:ext cx="62" cy="56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412" name="Oval 36"/>
              <p:cNvSpPr>
                <a:spLocks noChangeArrowheads="1"/>
              </p:cNvSpPr>
              <p:nvPr/>
            </p:nvSpPr>
            <p:spPr bwMode="auto">
              <a:xfrm>
                <a:off x="1391" y="2059"/>
                <a:ext cx="61" cy="56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sp>
            <p:nvSpPr>
              <p:cNvPr id="15413" name="Oval 37"/>
              <p:cNvSpPr>
                <a:spLocks noChangeArrowheads="1"/>
              </p:cNvSpPr>
              <p:nvPr/>
            </p:nvSpPr>
            <p:spPr bwMode="auto">
              <a:xfrm>
                <a:off x="1524" y="1945"/>
                <a:ext cx="61" cy="57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cxnSp>
            <p:nvCxnSpPr>
              <p:cNvPr id="15414" name="AutoShape 38"/>
              <p:cNvCxnSpPr>
                <a:cxnSpLocks noChangeShapeType="1"/>
                <a:stCxn id="15410" idx="4"/>
                <a:endCxn id="15413" idx="0"/>
              </p:cNvCxnSpPr>
              <p:nvPr/>
            </p:nvCxnSpPr>
            <p:spPr bwMode="auto">
              <a:xfrm flipH="1">
                <a:off x="1554" y="1841"/>
                <a:ext cx="3" cy="10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15" name="AutoShape 39"/>
              <p:cNvCxnSpPr>
                <a:cxnSpLocks noChangeShapeType="1"/>
                <a:stCxn id="15413" idx="3"/>
              </p:cNvCxnSpPr>
              <p:nvPr/>
            </p:nvCxnSpPr>
            <p:spPr bwMode="auto">
              <a:xfrm flipH="1">
                <a:off x="1445" y="1994"/>
                <a:ext cx="88" cy="7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16" name="AutoShape 40"/>
              <p:cNvCxnSpPr>
                <a:cxnSpLocks noChangeShapeType="1"/>
                <a:stCxn id="15413" idx="5"/>
                <a:endCxn id="15411" idx="1"/>
              </p:cNvCxnSpPr>
              <p:nvPr/>
            </p:nvCxnSpPr>
            <p:spPr bwMode="auto">
              <a:xfrm>
                <a:off x="1576" y="1994"/>
                <a:ext cx="94" cy="7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417" name="Line 41"/>
              <p:cNvSpPr>
                <a:spLocks noChangeShapeType="1"/>
              </p:cNvSpPr>
              <p:nvPr/>
            </p:nvSpPr>
            <p:spPr bwMode="auto">
              <a:xfrm>
                <a:off x="1211" y="1815"/>
                <a:ext cx="122" cy="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8" name="Line 42"/>
              <p:cNvSpPr>
                <a:spLocks noChangeShapeType="1"/>
              </p:cNvSpPr>
              <p:nvPr/>
            </p:nvSpPr>
            <p:spPr bwMode="auto">
              <a:xfrm flipV="1">
                <a:off x="1771" y="1820"/>
                <a:ext cx="153" cy="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9" name="Oval 43"/>
              <p:cNvSpPr>
                <a:spLocks noChangeArrowheads="1"/>
              </p:cNvSpPr>
              <p:nvPr/>
            </p:nvSpPr>
            <p:spPr bwMode="auto">
              <a:xfrm>
                <a:off x="2216" y="1262"/>
                <a:ext cx="62" cy="5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000">
                  <a:cs typeface="Arial" panose="020B0604020202020204" pitchFamily="34" charset="0"/>
                </a:endParaRPr>
              </a:p>
            </p:txBody>
          </p:sp>
          <p:cxnSp>
            <p:nvCxnSpPr>
              <p:cNvPr id="15420" name="AutoShape 44"/>
              <p:cNvCxnSpPr>
                <a:cxnSpLocks noChangeShapeType="1"/>
                <a:stCxn id="15419" idx="5"/>
                <a:endCxn id="15397" idx="1"/>
              </p:cNvCxnSpPr>
              <p:nvPr/>
            </p:nvCxnSpPr>
            <p:spPr bwMode="auto">
              <a:xfrm>
                <a:off x="2268" y="1310"/>
                <a:ext cx="73" cy="9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pic>
        <p:nvPicPr>
          <p:cNvPr id="1536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118" y="4208403"/>
            <a:ext cx="1932516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3756916"/>
            <a:ext cx="2245784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01" y="3895667"/>
            <a:ext cx="3280833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8" name="Text Box 6"/>
          <p:cNvSpPr txBox="1">
            <a:spLocks noChangeArrowheads="1"/>
          </p:cNvSpPr>
          <p:nvPr/>
        </p:nvSpPr>
        <p:spPr bwMode="auto">
          <a:xfrm>
            <a:off x="4140200" y="4011553"/>
            <a:ext cx="11622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cs typeface="Arial" panose="020B0604020202020204" pitchFamily="34" charset="0"/>
              </a:rPr>
              <a:t>Graph DB:</a:t>
            </a:r>
            <a:endParaRPr lang="en-US" altLang="en-US" sz="1800" b="1">
              <a:cs typeface="Arial" panose="020B0604020202020204" pitchFamily="34" charset="0"/>
            </a:endParaRPr>
          </a:p>
        </p:txBody>
      </p:sp>
      <p:sp>
        <p:nvSpPr>
          <p:cNvPr id="15369" name="Text Box 7"/>
          <p:cNvSpPr txBox="1">
            <a:spLocks noChangeArrowheads="1"/>
          </p:cNvSpPr>
          <p:nvPr/>
        </p:nvSpPr>
        <p:spPr bwMode="auto">
          <a:xfrm>
            <a:off x="4783667" y="4875153"/>
            <a:ext cx="4651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(a)</a:t>
            </a:r>
            <a:endParaRPr lang="en-US" altLang="en-US" sz="2000">
              <a:cs typeface="Arial" panose="020B0604020202020204" pitchFamily="34" charset="0"/>
            </a:endParaRPr>
          </a:p>
        </p:txBody>
      </p:sp>
      <p:sp>
        <p:nvSpPr>
          <p:cNvPr id="15370" name="Text Box 8"/>
          <p:cNvSpPr txBox="1">
            <a:spLocks noChangeArrowheads="1"/>
          </p:cNvSpPr>
          <p:nvPr/>
        </p:nvSpPr>
        <p:spPr bwMode="auto">
          <a:xfrm>
            <a:off x="7086600" y="4894203"/>
            <a:ext cx="4764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(b)</a:t>
            </a:r>
            <a:endParaRPr lang="en-US" altLang="en-US" sz="2000">
              <a:cs typeface="Arial" panose="020B0604020202020204" pitchFamily="34" charset="0"/>
            </a:endParaRPr>
          </a:p>
        </p:txBody>
      </p:sp>
      <p:sp>
        <p:nvSpPr>
          <p:cNvPr id="15371" name="Text Box 9"/>
          <p:cNvSpPr txBox="1">
            <a:spLocks noChangeArrowheads="1"/>
          </p:cNvSpPr>
          <p:nvPr/>
        </p:nvSpPr>
        <p:spPr bwMode="auto">
          <a:xfrm>
            <a:off x="9749367" y="4875153"/>
            <a:ext cx="4507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(c)</a:t>
            </a:r>
            <a:endParaRPr lang="en-US" altLang="en-US" sz="2000">
              <a:cs typeface="Arial" panose="020B0604020202020204" pitchFamily="34" charset="0"/>
            </a:endParaRPr>
          </a:p>
        </p:txBody>
      </p:sp>
      <p:sp>
        <p:nvSpPr>
          <p:cNvPr id="15372" name="Rectangle 11"/>
          <p:cNvSpPr>
            <a:spLocks noChangeArrowheads="1"/>
          </p:cNvSpPr>
          <p:nvPr/>
        </p:nvSpPr>
        <p:spPr bwMode="auto">
          <a:xfrm>
            <a:off x="4165600" y="5427603"/>
            <a:ext cx="6130309" cy="400110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Path-indices: C, C-C, C-C-C, C-C-C-C </a:t>
            </a:r>
            <a:r>
              <a:rPr lang="en-US" altLang="en-US" sz="2000" b="1" dirty="0">
                <a:cs typeface="Arial" panose="020B0604020202020204" pitchFamily="34" charset="0"/>
              </a:rPr>
              <a:t>cannot prune </a:t>
            </a:r>
            <a:r>
              <a:rPr lang="en-US" altLang="en-US" sz="2000" dirty="0">
                <a:cs typeface="Arial" panose="020B0604020202020204" pitchFamily="34" charset="0"/>
              </a:rPr>
              <a:t>(a) &amp; (b)</a:t>
            </a:r>
            <a:endParaRPr lang="en-US" altLang="en-US" sz="2000" dirty="0">
              <a:cs typeface="Arial" panose="020B0604020202020204" pitchFamily="34" charset="0"/>
            </a:endParaRPr>
          </a:p>
        </p:txBody>
      </p:sp>
      <p:pic>
        <p:nvPicPr>
          <p:cNvPr id="15373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734" y="4213166"/>
            <a:ext cx="1765300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5" name="TextBox 1"/>
          <p:cNvSpPr txBox="1">
            <a:spLocks noChangeArrowheads="1"/>
          </p:cNvSpPr>
          <p:nvPr/>
        </p:nvSpPr>
        <p:spPr bwMode="auto">
          <a:xfrm>
            <a:off x="772551" y="5373493"/>
            <a:ext cx="2885050" cy="400110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Only graph (</a:t>
            </a:r>
            <a:r>
              <a:rPr lang="en-US" altLang="en-US" sz="2000" b="1" dirty="0"/>
              <a:t>c</a:t>
            </a:r>
            <a:r>
              <a:rPr lang="en-US" altLang="en-US" sz="2000" dirty="0"/>
              <a:t>) contains Q</a:t>
            </a:r>
            <a:endParaRPr lang="en-US" altLang="en-US" sz="2000" dirty="0"/>
          </a:p>
        </p:txBody>
      </p:sp>
      <p:sp>
        <p:nvSpPr>
          <p:cNvPr id="15376" name="Text Box 10"/>
          <p:cNvSpPr txBox="1">
            <a:spLocks noChangeArrowheads="1"/>
          </p:cNvSpPr>
          <p:nvPr/>
        </p:nvSpPr>
        <p:spPr bwMode="auto">
          <a:xfrm>
            <a:off x="1519768" y="3979803"/>
            <a:ext cx="10497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cs typeface="Arial" panose="020B0604020202020204" pitchFamily="34" charset="0"/>
              </a:rPr>
              <a:t>Query Q:</a:t>
            </a:r>
            <a:endParaRPr lang="en-US" altLang="en-US" sz="1800" b="1">
              <a:cs typeface="Arial" panose="020B0604020202020204" pitchFamily="34" charset="0"/>
            </a:endParaRPr>
          </a:p>
        </p:txBody>
      </p:sp>
      <p:sp>
        <p:nvSpPr>
          <p:cNvPr id="61" name="Rectangle 3"/>
          <p:cNvSpPr txBox="1">
            <a:spLocks noChangeArrowheads="1"/>
          </p:cNvSpPr>
          <p:nvPr/>
        </p:nvSpPr>
        <p:spPr>
          <a:xfrm>
            <a:off x="479919" y="1784842"/>
            <a:ext cx="5171943" cy="1972074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endParaRPr lang="en-US" altLang="en-US" sz="2400" kern="0" dirty="0"/>
          </a:p>
          <a:p>
            <a:pPr>
              <a:spcAft>
                <a:spcPts val="600"/>
              </a:spcAft>
              <a:defRPr/>
            </a:pPr>
            <a:r>
              <a:rPr lang="zh-CN" altLang="en-US" sz="2400" b="1" kern="0" dirty="0"/>
              <a:t>路径索引</a:t>
            </a:r>
            <a:r>
              <a:rPr lang="zh-CN" altLang="en-US" sz="2400" kern="0" dirty="0"/>
              <a:t>效果可能不佳</a:t>
            </a:r>
            <a:endParaRPr lang="zh-CN" altLang="en-US" sz="2400" kern="0" dirty="0"/>
          </a:p>
          <a:p>
            <a:pPr>
              <a:spcAft>
                <a:spcPts val="600"/>
              </a:spcAft>
              <a:defRPr/>
            </a:pPr>
            <a:r>
              <a:rPr lang="zh-CN" altLang="en-US" sz="2400" kern="0" dirty="0"/>
              <a:t>解决方案：直接基于子结构（即图）建立索引</a:t>
            </a:r>
            <a:endParaRPr lang="zh-CN" altLang="en-US" sz="2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/>
      <p:bldP spid="15369" grpId="0"/>
      <p:bldP spid="15370" grpId="0"/>
      <p:bldP spid="15371" grpId="0"/>
      <p:bldP spid="15372" grpId="0" animBg="1"/>
      <p:bldP spid="15375" grpId="0" animBg="1"/>
      <p:bldP spid="1537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69545"/>
            <a:ext cx="12192000" cy="895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/>
              <a:t>gIndex</a:t>
            </a:r>
            <a:r>
              <a:rPr lang="zh-CN" altLang="en-US" dirty="0"/>
              <a:t>：基于频繁且具有区分度的子结构建立索引</a:t>
            </a:r>
            <a:endParaRPr lang="zh-CN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13" y="1219200"/>
            <a:ext cx="8026400" cy="2514600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zh-CN" altLang="en-US" sz="2400" dirty="0"/>
              <a:t>为什么是频繁子结构</a:t>
            </a:r>
            <a:r>
              <a:rPr lang="en-US" altLang="en-US" sz="2400" dirty="0"/>
              <a:t>?</a:t>
            </a:r>
            <a:endParaRPr lang="en-US" altLang="en-US" sz="2400" dirty="0"/>
          </a:p>
          <a:p>
            <a:pPr lvl="1" eaLnBrk="1" hangingPunct="1">
              <a:spcBef>
                <a:spcPts val="300"/>
              </a:spcBef>
            </a:pPr>
            <a:r>
              <a:rPr lang="zh-CN" altLang="en-US" sz="2400" dirty="0"/>
              <a:t>需要索引的子结构数量过多</a:t>
            </a:r>
            <a:endParaRPr lang="zh-CN" altLang="en-US" sz="2400" dirty="0"/>
          </a:p>
          <a:p>
            <a:pPr lvl="1" eaLnBrk="1" hangingPunct="1">
              <a:spcBef>
                <a:spcPts val="300"/>
              </a:spcBef>
            </a:pPr>
            <a:r>
              <a:rPr lang="zh-CN" altLang="en-US" sz="2400" dirty="0"/>
              <a:t>尺寸递增的支持度阈值</a:t>
            </a:r>
            <a:endParaRPr lang="zh-CN" altLang="en-US" sz="2400" dirty="0"/>
          </a:p>
          <a:p>
            <a:pPr eaLnBrk="1" hangingPunct="1">
              <a:spcBef>
                <a:spcPts val="300"/>
              </a:spcBef>
            </a:pPr>
            <a:endParaRPr lang="en-US" altLang="en-US" sz="2400" dirty="0"/>
          </a:p>
          <a:p>
            <a:pPr eaLnBrk="1" hangingPunct="1">
              <a:spcBef>
                <a:spcPts val="300"/>
              </a:spcBef>
            </a:pPr>
            <a:endParaRPr lang="en-US" altLang="en-US" sz="2400" dirty="0"/>
          </a:p>
          <a:p>
            <a:pPr eaLnBrk="1" hangingPunct="1">
              <a:spcBef>
                <a:spcPts val="300"/>
              </a:spcBef>
            </a:pPr>
            <a:r>
              <a:rPr lang="zh-CN" altLang="en-US" sz="2400" dirty="0"/>
              <a:t>为什么是区分性子结构？</a:t>
            </a:r>
            <a:endParaRPr lang="zh-CN" altLang="en-US" sz="2400" dirty="0"/>
          </a:p>
        </p:txBody>
      </p:sp>
      <p:grpSp>
        <p:nvGrpSpPr>
          <p:cNvPr id="16388" name="Group 5"/>
          <p:cNvGrpSpPr/>
          <p:nvPr/>
        </p:nvGrpSpPr>
        <p:grpSpPr bwMode="auto">
          <a:xfrm>
            <a:off x="7040880" y="1291306"/>
            <a:ext cx="4497959" cy="2716813"/>
            <a:chOff x="2328319" y="3505200"/>
            <a:chExt cx="3081881" cy="2492975"/>
          </a:xfrm>
        </p:grpSpPr>
        <p:sp>
          <p:nvSpPr>
            <p:cNvPr id="16391" name="Line 4"/>
            <p:cNvSpPr>
              <a:spLocks noChangeShapeType="1"/>
            </p:cNvSpPr>
            <p:nvPr/>
          </p:nvSpPr>
          <p:spPr bwMode="auto">
            <a:xfrm>
              <a:off x="2743200" y="5562600"/>
              <a:ext cx="2667000" cy="0"/>
            </a:xfrm>
            <a:prstGeom prst="line">
              <a:avLst/>
            </a:prstGeom>
            <a:noFill/>
            <a:ln w="38100">
              <a:solidFill>
                <a:srgbClr val="2C5A88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392" name="Line 5"/>
            <p:cNvSpPr>
              <a:spLocks noChangeShapeType="1"/>
            </p:cNvSpPr>
            <p:nvPr/>
          </p:nvSpPr>
          <p:spPr bwMode="auto">
            <a:xfrm flipV="1">
              <a:off x="2743200" y="3505200"/>
              <a:ext cx="0" cy="2057400"/>
            </a:xfrm>
            <a:prstGeom prst="line">
              <a:avLst/>
            </a:prstGeom>
            <a:noFill/>
            <a:ln w="38100">
              <a:solidFill>
                <a:srgbClr val="2C5A88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393" name="Arc 6"/>
            <p:cNvSpPr/>
            <p:nvPr/>
          </p:nvSpPr>
          <p:spPr bwMode="auto">
            <a:xfrm flipV="1">
              <a:off x="2743200" y="3733800"/>
              <a:ext cx="2325688" cy="1828800"/>
            </a:xfrm>
            <a:custGeom>
              <a:avLst/>
              <a:gdLst>
                <a:gd name="T0" fmla="*/ 0 w 19983"/>
                <a:gd name="T1" fmla="*/ 0 h 21600"/>
                <a:gd name="T2" fmla="*/ 2147483647 w 19983"/>
                <a:gd name="T3" fmla="*/ 2147483647 h 21600"/>
                <a:gd name="T4" fmla="*/ 0 w 19983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9983"/>
                <a:gd name="T10" fmla="*/ 0 h 21600"/>
                <a:gd name="T11" fmla="*/ 19983 w 1998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83" h="21600" fill="none" extrusionOk="0">
                  <a:moveTo>
                    <a:pt x="-1" y="0"/>
                  </a:moveTo>
                  <a:cubicBezTo>
                    <a:pt x="8762" y="0"/>
                    <a:pt x="16655" y="5293"/>
                    <a:pt x="19982" y="13399"/>
                  </a:cubicBezTo>
                </a:path>
                <a:path w="19983" h="21600" stroke="0" extrusionOk="0">
                  <a:moveTo>
                    <a:pt x="-1" y="0"/>
                  </a:moveTo>
                  <a:cubicBezTo>
                    <a:pt x="8762" y="0"/>
                    <a:pt x="16655" y="5293"/>
                    <a:pt x="19982" y="133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4" name="Text Box 7"/>
            <p:cNvSpPr txBox="1">
              <a:spLocks noChangeArrowheads="1"/>
            </p:cNvSpPr>
            <p:nvPr/>
          </p:nvSpPr>
          <p:spPr bwMode="auto">
            <a:xfrm>
              <a:off x="3733800" y="5562601"/>
              <a:ext cx="448181" cy="435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2C5A88"/>
                  </a:solidFill>
                  <a:cs typeface="Arial" panose="020B0604020202020204" pitchFamily="34" charset="0"/>
                </a:rPr>
                <a:t>size</a:t>
              </a:r>
              <a:endParaRPr lang="en-US" altLang="en-US" sz="2000">
                <a:solidFill>
                  <a:srgbClr val="2C5A8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395" name="Text Box 8"/>
            <p:cNvSpPr txBox="1">
              <a:spLocks noChangeArrowheads="1"/>
            </p:cNvSpPr>
            <p:nvPr/>
          </p:nvSpPr>
          <p:spPr bwMode="auto">
            <a:xfrm rot="16200000">
              <a:off x="1941414" y="4407680"/>
              <a:ext cx="1089282" cy="315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2C5A88"/>
                  </a:solidFill>
                  <a:cs typeface="Arial" panose="020B0604020202020204" pitchFamily="34" charset="0"/>
                </a:rPr>
                <a:t>support</a:t>
              </a:r>
              <a:endParaRPr lang="en-US" altLang="en-US" sz="2000">
                <a:solidFill>
                  <a:srgbClr val="2C5A8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396" name="Text Box 9"/>
            <p:cNvSpPr txBox="1">
              <a:spLocks noChangeArrowheads="1"/>
            </p:cNvSpPr>
            <p:nvPr/>
          </p:nvSpPr>
          <p:spPr bwMode="auto">
            <a:xfrm>
              <a:off x="2994818" y="4465677"/>
              <a:ext cx="1814110" cy="402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2C5A88"/>
                  </a:solidFill>
                  <a:cs typeface="Arial" panose="020B0604020202020204" pitchFamily="34" charset="0"/>
                </a:rPr>
                <a:t>min-support threshold</a:t>
              </a:r>
              <a:endParaRPr lang="en-US" altLang="en-US" sz="1800">
                <a:solidFill>
                  <a:srgbClr val="2C5A88"/>
                </a:solidFill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6390" name="Object 1"/>
          <p:cNvGraphicFramePr>
            <a:graphicFrameLocks noChangeAspect="1"/>
          </p:cNvGraphicFramePr>
          <p:nvPr/>
        </p:nvGraphicFramePr>
        <p:xfrm>
          <a:off x="2783840" y="4844960"/>
          <a:ext cx="40640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473200" imgH="254000" progId="Equation.3">
                  <p:embed/>
                </p:oleObj>
              </mc:Choice>
              <mc:Fallback>
                <p:oleObj name="Equation" r:id="rId1" imgW="1473200" imgH="2540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840" y="4844960"/>
                        <a:ext cx="40640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482613" y="3674231"/>
            <a:ext cx="8280387" cy="299612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zh-CN" altLang="en-US" sz="2400" kern="0" dirty="0"/>
              <a:t>将索引规模降低一个数量级</a:t>
            </a:r>
            <a:endParaRPr lang="zh-CN" altLang="en-US" sz="2400" kern="0" dirty="0"/>
          </a:p>
          <a:p>
            <a:pPr>
              <a:defRPr/>
            </a:pPr>
            <a:r>
              <a:rPr lang="zh-CN" altLang="en-US" sz="2400" dirty="0"/>
              <a:t>选择策略：给定一组已选结构</a:t>
            </a:r>
            <a:r>
              <a:rPr lang="en-US" altLang="zh-CN" sz="2400" dirty="0"/>
              <a:t> f1</a:t>
            </a:r>
            <a:r>
              <a:rPr lang="zh-CN" altLang="en-US" sz="2400" dirty="0"/>
              <a:t>、</a:t>
            </a:r>
            <a:r>
              <a:rPr lang="en-US" altLang="zh-CN" sz="2400" dirty="0"/>
              <a:t>f2</a:t>
            </a:r>
            <a:r>
              <a:rPr lang="zh-CN" altLang="en-US" sz="2400" dirty="0"/>
              <a:t>、</a:t>
            </a:r>
            <a:r>
              <a:rPr lang="en-US" altLang="zh-CN" sz="2400" dirty="0"/>
              <a:t>…</a:t>
            </a:r>
            <a:r>
              <a:rPr lang="zh-CN" altLang="en-US" sz="2400" dirty="0"/>
              <a:t>、</a:t>
            </a:r>
            <a:r>
              <a:rPr lang="en-US" altLang="zh-CN" sz="2400" dirty="0"/>
              <a:t>fn </a:t>
            </a:r>
            <a:r>
              <a:rPr lang="zh-CN" altLang="en-US" sz="2400" dirty="0"/>
              <a:t>以及一个新结构</a:t>
            </a:r>
            <a:r>
              <a:rPr lang="en-US" altLang="zh-CN" sz="2400" dirty="0"/>
              <a:t> x</a:t>
            </a:r>
            <a:r>
              <a:rPr lang="zh-CN" altLang="en-US" sz="2400" dirty="0"/>
              <a:t>，其额外索引能力通过以下方式衡量：</a:t>
            </a:r>
            <a:endParaRPr lang="zh-CN" altLang="en-US" sz="2400" dirty="0"/>
          </a:p>
          <a:p>
            <a:pPr>
              <a:defRPr/>
            </a:pPr>
            <a:endParaRPr lang="zh-CN" altLang="en-US" sz="2400" dirty="0"/>
          </a:p>
          <a:p>
            <a:pPr>
              <a:defRPr/>
            </a:pPr>
            <a:r>
              <a:rPr lang="en-US" altLang="en-US" sz="2400" dirty="0"/>
              <a:t>   </a:t>
            </a:r>
            <a:r>
              <a:rPr lang="zh-CN" altLang="en-US" sz="2400" dirty="0"/>
              <a:t>当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Pr</a:t>
            </a:r>
            <a:r>
              <a:rPr lang="en-US" altLang="en-US" sz="2400" dirty="0"/>
              <a:t>(x|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1</a:t>
            </a:r>
            <a:r>
              <a:rPr lang="en-US" altLang="en-US" sz="2400" i="1" dirty="0"/>
              <a:t>, f</a:t>
            </a:r>
            <a:r>
              <a:rPr lang="en-US" altLang="en-US" sz="2400" i="1" baseline="-25000" dirty="0"/>
              <a:t>2</a:t>
            </a:r>
            <a:r>
              <a:rPr lang="en-US" altLang="en-US" sz="2400" i="1" dirty="0"/>
              <a:t>, …,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n</a:t>
            </a:r>
            <a:r>
              <a:rPr lang="en-US" altLang="en-US" sz="2400" dirty="0"/>
              <a:t>) i</a:t>
            </a:r>
            <a:r>
              <a:rPr lang="zh-CN" altLang="en-US" sz="2400" kern="0" dirty="0"/>
              <a:t>足够小时，</a:t>
            </a:r>
            <a:r>
              <a:rPr lang="en-US" altLang="zh-CN" sz="2400" kern="0" dirty="0"/>
              <a:t>x </a:t>
            </a:r>
            <a:r>
              <a:rPr lang="zh-CN" altLang="en-US" sz="2400" kern="0" dirty="0"/>
              <a:t>为具有区分性的结构，应加入索引</a:t>
            </a:r>
            <a:endParaRPr lang="zh-CN" altLang="en-US" sz="2400" kern="0" dirty="0"/>
          </a:p>
          <a:p>
            <a:pPr>
              <a:defRPr/>
            </a:pPr>
            <a:r>
              <a:rPr lang="zh-CN" altLang="en-US" sz="2400" kern="0" dirty="0"/>
              <a:t>实验表明，</a:t>
            </a:r>
            <a:r>
              <a:rPr lang="en-US" altLang="zh-CN" sz="2400" kern="0" dirty="0"/>
              <a:t>gIndex </a:t>
            </a:r>
            <a:r>
              <a:rPr lang="zh-CN" altLang="en-US" sz="2400" kern="0" dirty="0"/>
              <a:t>规模小、高效且稳定</a:t>
            </a:r>
            <a:endParaRPr lang="zh-CN" altLang="en-US" sz="2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0" descr="viagr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120" y="2325671"/>
            <a:ext cx="3048000" cy="241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Rectangle 13"/>
          <p:cNvSpPr>
            <a:spLocks noChangeArrowheads="1"/>
          </p:cNvSpPr>
          <p:nvPr/>
        </p:nvSpPr>
        <p:spPr bwMode="auto">
          <a:xfrm>
            <a:off x="9284267" y="2258087"/>
            <a:ext cx="1129027" cy="132378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40598"/>
            <a:ext cx="12192000" cy="74349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应用二：支持子结构相似性搜索</a:t>
            </a:r>
            <a:endParaRPr lang="zh-CN" altLang="en-US" sz="40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674" y="1176226"/>
            <a:ext cx="11305117" cy="457711"/>
          </a:xfrm>
        </p:spPr>
        <p:txBody>
          <a:bodyPr/>
          <a:lstStyle/>
          <a:p>
            <a:r>
              <a:rPr lang="zh-CN" altLang="en-US" sz="2400" dirty="0"/>
              <a:t>在图数据库中查找包含与给定查询图</a:t>
            </a:r>
            <a:r>
              <a:rPr lang="zh-CN" altLang="en-US" sz="2400" b="1" dirty="0"/>
              <a:t>相似</a:t>
            </a:r>
            <a:r>
              <a:rPr lang="zh-CN" altLang="en-US" sz="2400" dirty="0"/>
              <a:t>的子结构的所有图</a:t>
            </a:r>
            <a:endParaRPr lang="zh-CN" altLang="en-US" sz="2400" dirty="0"/>
          </a:p>
        </p:txBody>
      </p:sp>
      <p:sp>
        <p:nvSpPr>
          <p:cNvPr id="15369" name="Text Box 7"/>
          <p:cNvSpPr txBox="1">
            <a:spLocks noChangeArrowheads="1"/>
          </p:cNvSpPr>
          <p:nvPr/>
        </p:nvSpPr>
        <p:spPr bwMode="auto">
          <a:xfrm>
            <a:off x="5490124" y="3754110"/>
            <a:ext cx="4651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(a)</a:t>
            </a:r>
            <a:endParaRPr lang="en-US" alt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370" name="Text Box 8"/>
          <p:cNvSpPr txBox="1">
            <a:spLocks noChangeArrowheads="1"/>
          </p:cNvSpPr>
          <p:nvPr/>
        </p:nvSpPr>
        <p:spPr bwMode="auto">
          <a:xfrm>
            <a:off x="7226644" y="3760019"/>
            <a:ext cx="4764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(b)</a:t>
            </a:r>
            <a:endParaRPr lang="en-US" alt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371" name="Text Box 9"/>
          <p:cNvSpPr txBox="1">
            <a:spLocks noChangeArrowheads="1"/>
          </p:cNvSpPr>
          <p:nvPr/>
        </p:nvSpPr>
        <p:spPr bwMode="auto">
          <a:xfrm>
            <a:off x="9787100" y="4261813"/>
            <a:ext cx="4507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(c)</a:t>
            </a:r>
            <a:endParaRPr lang="en-US" alt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1" name="Rectangle 3"/>
          <p:cNvSpPr txBox="1">
            <a:spLocks noChangeArrowheads="1"/>
          </p:cNvSpPr>
          <p:nvPr/>
        </p:nvSpPr>
        <p:spPr>
          <a:xfrm>
            <a:off x="491208" y="1633937"/>
            <a:ext cx="5171943" cy="1123062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zh-CN" altLang="en-US" sz="2400" dirty="0"/>
              <a:t>示例：</a:t>
            </a:r>
            <a:r>
              <a:rPr lang="en-US" altLang="en-US" sz="2400" dirty="0"/>
              <a:t>: </a:t>
            </a:r>
            <a:r>
              <a:rPr lang="zh-CN" altLang="en-US" sz="2400" dirty="0"/>
              <a:t>数据：化合物数据库</a:t>
            </a:r>
            <a:endParaRPr lang="zh-CN" altLang="en-US" sz="2400" dirty="0"/>
          </a:p>
          <a:p>
            <a:pPr lvl="1">
              <a:spcAft>
                <a:spcPts val="600"/>
              </a:spcAft>
              <a:defRPr/>
            </a:pPr>
            <a:r>
              <a:rPr lang="zh-CN" altLang="en-US" sz="2400" kern="0" dirty="0">
                <a:solidFill>
                  <a:srgbClr val="000000"/>
                </a:solidFill>
              </a:rPr>
              <a:t>查询图</a:t>
            </a:r>
            <a:r>
              <a:rPr lang="en-US" altLang="zh-CN" sz="2400" kern="0" dirty="0">
                <a:solidFill>
                  <a:srgbClr val="000000"/>
                </a:solidFill>
              </a:rPr>
              <a:t> q</a:t>
            </a:r>
            <a:r>
              <a:rPr lang="zh-CN" altLang="en-US" sz="2400" kern="0" dirty="0">
                <a:solidFill>
                  <a:srgbClr val="000000"/>
                </a:solidFill>
              </a:rPr>
              <a:t>：</a:t>
            </a:r>
            <a:endParaRPr lang="zh-CN" altLang="en-US" sz="2400" kern="0" dirty="0">
              <a:solidFill>
                <a:srgbClr val="000000"/>
              </a:solidFill>
            </a:endParaRPr>
          </a:p>
        </p:txBody>
      </p:sp>
      <p:pic>
        <p:nvPicPr>
          <p:cNvPr id="59" name="Picture 2" descr="caffe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440" y="2190699"/>
            <a:ext cx="1605765" cy="1523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9" descr="diurobrom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700" y="2192225"/>
            <a:ext cx="163830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Rectangle 11"/>
          <p:cNvSpPr>
            <a:spLocks noChangeArrowheads="1"/>
          </p:cNvSpPr>
          <p:nvPr/>
        </p:nvSpPr>
        <p:spPr bwMode="auto">
          <a:xfrm>
            <a:off x="4663160" y="2497684"/>
            <a:ext cx="1768980" cy="844589"/>
          </a:xfrm>
          <a:prstGeom prst="rect">
            <a:avLst/>
          </a:prstGeom>
          <a:noFill/>
          <a:ln w="38100">
            <a:solidFill>
              <a:srgbClr val="33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3" name="Rectangle 12"/>
          <p:cNvSpPr>
            <a:spLocks noChangeArrowheads="1"/>
          </p:cNvSpPr>
          <p:nvPr/>
        </p:nvSpPr>
        <p:spPr bwMode="auto">
          <a:xfrm>
            <a:off x="6529420" y="2494706"/>
            <a:ext cx="1983138" cy="870227"/>
          </a:xfrm>
          <a:prstGeom prst="rect">
            <a:avLst/>
          </a:prstGeom>
          <a:noFill/>
          <a:ln w="38100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66" name="Picture 14" descr="quer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65583" y="2868641"/>
            <a:ext cx="1611596" cy="1125192"/>
          </a:xfrm>
          <a:prstGeom prst="rect">
            <a:avLst/>
          </a:prstGeom>
          <a:noFill/>
        </p:spPr>
      </p:pic>
      <p:sp>
        <p:nvSpPr>
          <p:cNvPr id="67" name="Rectangle 3"/>
          <p:cNvSpPr txBox="1">
            <a:spLocks noChangeArrowheads="1"/>
          </p:cNvSpPr>
          <p:nvPr/>
        </p:nvSpPr>
        <p:spPr>
          <a:xfrm>
            <a:off x="475263" y="4298741"/>
            <a:ext cx="8052113" cy="765164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</a:rPr>
              <a:t>如何高效进行相似性搜索？</a:t>
            </a:r>
            <a:endParaRPr lang="zh-CN" altLang="en-US" sz="2400" kern="0" dirty="0">
              <a:solidFill>
                <a:srgbClr val="000000"/>
              </a:solidFill>
            </a:endParaRPr>
          </a:p>
        </p:txBody>
      </p:sp>
      <p:sp>
        <p:nvSpPr>
          <p:cNvPr id="68" name="Rectangle 3"/>
          <p:cNvSpPr txBox="1">
            <a:spLocks noChangeArrowheads="1"/>
          </p:cNvSpPr>
          <p:nvPr/>
        </p:nvSpPr>
        <p:spPr>
          <a:xfrm>
            <a:off x="476674" y="4890742"/>
            <a:ext cx="11057604" cy="1807635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一种简洁的解决方案：</a:t>
            </a:r>
            <a:r>
              <a:rPr lang="en-US" altLang="en-US" sz="2400" dirty="0"/>
              <a:t>  </a:t>
            </a:r>
            <a:endParaRPr lang="en-US" altLang="en-US" sz="2400" dirty="0"/>
          </a:p>
          <a:p>
            <a:pPr lvl="1"/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保留图索引结构，并在查询过程中选取具有区分性的特征，以确保高效且准确的相似性搜索。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15369" grpId="0"/>
      <p:bldP spid="15370" grpId="0"/>
      <p:bldP spid="15371" grpId="0"/>
      <p:bldP spid="62" grpId="0" animBg="1"/>
      <p:bldP spid="6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72221"/>
            <a:ext cx="12192000" cy="74349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基于特征的相似性搜索</a:t>
            </a:r>
            <a:endParaRPr lang="zh-CN" altLang="en-US" sz="40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081" y="1176118"/>
            <a:ext cx="6560580" cy="457711"/>
          </a:xfrm>
        </p:spPr>
        <p:txBody>
          <a:bodyPr/>
          <a:lstStyle/>
          <a:p>
            <a:r>
              <a:rPr lang="zh-CN" altLang="en-US" sz="2400" dirty="0"/>
              <a:t>将查询图分解为一组特征</a:t>
            </a:r>
            <a:endParaRPr lang="zh-CN" altLang="en-US" sz="2400" dirty="0"/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>
          <a:xfrm>
            <a:off x="566657" y="1656168"/>
            <a:ext cx="6556888" cy="2292693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b="1" dirty="0"/>
              <a:t>基于特征的相似性度量</a:t>
            </a:r>
            <a:endParaRPr lang="zh-CN" altLang="en-US" sz="2400" b="1" dirty="0"/>
          </a:p>
          <a:p>
            <a:pPr marL="669925" lvl="1" indent="-325755">
              <a:lnSpc>
                <a:spcPct val="110000"/>
              </a:lnSpc>
            </a:pPr>
            <a:r>
              <a:rPr lang="zh-CN" altLang="en-US" sz="2400" b="1" dirty="0"/>
              <a:t>将每个图表示为特征向量</a:t>
            </a:r>
            <a:r>
              <a:rPr lang="en-US" altLang="en-US" sz="2400" b="1" dirty="0"/>
              <a:t> </a:t>
            </a:r>
            <a:r>
              <a:rPr lang="en-US" altLang="en-US" sz="2400" dirty="0"/>
              <a:t>X = {x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x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dirty="0" err="1"/>
              <a:t>x</a:t>
            </a:r>
            <a:r>
              <a:rPr lang="en-US" altLang="en-US" sz="2400" baseline="-25000" dirty="0" err="1"/>
              <a:t>n</a:t>
            </a:r>
            <a:r>
              <a:rPr lang="en-US" altLang="en-US" sz="2400" dirty="0"/>
              <a:t>}</a:t>
            </a:r>
            <a:endParaRPr lang="en-US" altLang="en-US" sz="2400" dirty="0"/>
          </a:p>
          <a:p>
            <a:pPr marL="669925" lvl="1" indent="-325755">
              <a:lnSpc>
                <a:spcPct val="110000"/>
              </a:lnSpc>
            </a:pPr>
            <a:r>
              <a:rPr lang="zh-CN" altLang="en-US" sz="2400" dirty="0"/>
              <a:t>通过其对应向量的距离来定义相似性</a:t>
            </a:r>
            <a:endParaRPr lang="zh-CN" altLang="en-US" sz="2400" dirty="0"/>
          </a:p>
        </p:txBody>
      </p:sp>
      <p:sp>
        <p:nvSpPr>
          <p:cNvPr id="68" name="Rectangle 3"/>
          <p:cNvSpPr txBox="1">
            <a:spLocks noChangeArrowheads="1"/>
          </p:cNvSpPr>
          <p:nvPr/>
        </p:nvSpPr>
        <p:spPr>
          <a:xfrm>
            <a:off x="621848" y="3858087"/>
            <a:ext cx="7330505" cy="1606569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如果图</a:t>
            </a:r>
            <a:r>
              <a:rPr lang="en-US" altLang="zh-CN" sz="2400" dirty="0"/>
              <a:t> G </a:t>
            </a:r>
            <a:r>
              <a:rPr lang="zh-CN" altLang="en-US" sz="2400" dirty="0"/>
              <a:t>包含了查询图</a:t>
            </a:r>
            <a:r>
              <a:rPr lang="en-US" altLang="zh-CN" sz="2400" dirty="0"/>
              <a:t> q </a:t>
            </a:r>
            <a:r>
              <a:rPr lang="zh-CN" altLang="en-US" sz="2400" dirty="0"/>
              <a:t>的主要部分，那么</a:t>
            </a:r>
            <a:r>
              <a:rPr lang="en-US" altLang="zh-CN" sz="2400" dirty="0"/>
              <a:t> G </a:t>
            </a:r>
            <a:r>
              <a:rPr lang="zh-CN" altLang="en-US" sz="2400" dirty="0"/>
              <a:t>应当与</a:t>
            </a:r>
            <a:r>
              <a:rPr lang="en-US" altLang="zh-CN" sz="2400" dirty="0"/>
              <a:t> q </a:t>
            </a:r>
            <a:r>
              <a:rPr lang="zh-CN" altLang="en-US" sz="2400" dirty="0"/>
              <a:t>共享大量共同特征。</a:t>
            </a:r>
            <a:endParaRPr lang="zh-CN" altLang="en-US" sz="2400" dirty="0"/>
          </a:p>
          <a:p>
            <a:pPr lvl="1"/>
            <a:r>
              <a:rPr lang="zh-CN" altLang="en-US" sz="2400" dirty="0"/>
              <a:t>给定一个松弛比例（</a:t>
            </a:r>
            <a:r>
              <a:rPr lang="en-US" altLang="zh-CN" sz="2400" dirty="0"/>
              <a:t>relaxation ratio</a:t>
            </a:r>
            <a:r>
              <a:rPr lang="zh-CN" altLang="en-US" sz="2400" dirty="0"/>
              <a:t>），就可以计算出最大可缺失的特征数量。</a:t>
            </a:r>
            <a:endParaRPr lang="zh-CN" altLang="en-US" sz="24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8440357" y="1176118"/>
            <a:ext cx="1525226" cy="2682477"/>
            <a:chOff x="8440357" y="1176118"/>
            <a:chExt cx="1525226" cy="2682477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8440357" y="3458485"/>
              <a:ext cx="1525226" cy="400110"/>
            </a:xfrm>
            <a:prstGeom prst="rect">
              <a:avLst/>
            </a:prstGeom>
            <a:solidFill>
              <a:srgbClr val="FFFF00"/>
            </a:solidFill>
            <a:ln w="12700">
              <a:noFill/>
              <a:miter lim="800000"/>
            </a:ln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dirty="0">
                  <a:solidFill>
                    <a:srgbClr val="000000"/>
                  </a:solidFill>
                  <a:latin typeface="+mn-lt"/>
                </a:rPr>
                <a:t>Substructure</a:t>
              </a:r>
              <a:endParaRPr lang="en-US" altLang="en-US" sz="2000" dirty="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8771541" y="2512023"/>
              <a:ext cx="668339" cy="650875"/>
              <a:chOff x="8473426" y="3390573"/>
              <a:chExt cx="668339" cy="650875"/>
            </a:xfrm>
          </p:grpSpPr>
          <p:sp>
            <p:nvSpPr>
              <p:cNvPr id="77" name="Oval 28"/>
              <p:cNvSpPr>
                <a:spLocks noChangeArrowheads="1"/>
              </p:cNvSpPr>
              <p:nvPr/>
            </p:nvSpPr>
            <p:spPr bwMode="auto">
              <a:xfrm>
                <a:off x="8744890" y="3390573"/>
                <a:ext cx="122237" cy="111125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8" name="Oval 29"/>
              <p:cNvSpPr>
                <a:spLocks noChangeArrowheads="1"/>
              </p:cNvSpPr>
              <p:nvPr/>
            </p:nvSpPr>
            <p:spPr bwMode="auto">
              <a:xfrm>
                <a:off x="9016352" y="3930323"/>
                <a:ext cx="125413" cy="111125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Oval 30"/>
              <p:cNvSpPr>
                <a:spLocks noChangeArrowheads="1"/>
              </p:cNvSpPr>
              <p:nvPr/>
            </p:nvSpPr>
            <p:spPr bwMode="auto">
              <a:xfrm>
                <a:off x="8473426" y="3930323"/>
                <a:ext cx="122238" cy="111125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80" name="Oval 31"/>
              <p:cNvSpPr>
                <a:spLocks noChangeArrowheads="1"/>
              </p:cNvSpPr>
              <p:nvPr/>
            </p:nvSpPr>
            <p:spPr bwMode="auto">
              <a:xfrm>
                <a:off x="8741715" y="3706485"/>
                <a:ext cx="122237" cy="112712"/>
              </a:xfrm>
              <a:prstGeom prst="ellipse">
                <a:avLst/>
              </a:prstGeom>
              <a:solidFill>
                <a:srgbClr val="339966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81" name="AutoShape 32"/>
              <p:cNvCxnSpPr>
                <a:cxnSpLocks noChangeShapeType="1"/>
                <a:stCxn id="77" idx="4"/>
                <a:endCxn id="80" idx="0"/>
              </p:cNvCxnSpPr>
              <p:nvPr/>
            </p:nvCxnSpPr>
            <p:spPr bwMode="auto">
              <a:xfrm flipH="1">
                <a:off x="8803627" y="3501697"/>
                <a:ext cx="3175" cy="2047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AutoShape 33"/>
              <p:cNvCxnSpPr>
                <a:cxnSpLocks noChangeShapeType="1"/>
                <a:stCxn id="80" idx="3"/>
              </p:cNvCxnSpPr>
              <p:nvPr/>
            </p:nvCxnSpPr>
            <p:spPr bwMode="auto">
              <a:xfrm flipH="1">
                <a:off x="8581376" y="3803323"/>
                <a:ext cx="177800" cy="1428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AutoShape 34"/>
              <p:cNvCxnSpPr>
                <a:cxnSpLocks noChangeShapeType="1"/>
                <a:stCxn id="80" idx="5"/>
                <a:endCxn id="78" idx="1"/>
              </p:cNvCxnSpPr>
              <p:nvPr/>
            </p:nvCxnSpPr>
            <p:spPr bwMode="auto">
              <a:xfrm>
                <a:off x="8844901" y="3803322"/>
                <a:ext cx="190500" cy="1460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84" name="Line 35"/>
            <p:cNvSpPr>
              <a:spLocks noChangeShapeType="1"/>
            </p:cNvSpPr>
            <p:nvPr/>
          </p:nvSpPr>
          <p:spPr bwMode="auto">
            <a:xfrm>
              <a:off x="8509526" y="2742210"/>
              <a:ext cx="246062" cy="171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5" name="Line 36"/>
            <p:cNvSpPr>
              <a:spLocks noChangeShapeType="1"/>
            </p:cNvSpPr>
            <p:nvPr/>
          </p:nvSpPr>
          <p:spPr bwMode="auto">
            <a:xfrm>
              <a:off x="9570992" y="2915910"/>
              <a:ext cx="295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8" name="Line 51"/>
            <p:cNvSpPr>
              <a:spLocks noChangeShapeType="1"/>
            </p:cNvSpPr>
            <p:nvPr/>
          </p:nvSpPr>
          <p:spPr bwMode="auto">
            <a:xfrm flipV="1">
              <a:off x="8472519" y="1761179"/>
              <a:ext cx="3048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8901203" y="1400259"/>
              <a:ext cx="398464" cy="831849"/>
              <a:chOff x="8619476" y="1374448"/>
              <a:chExt cx="398464" cy="831849"/>
            </a:xfrm>
          </p:grpSpPr>
          <p:sp>
            <p:nvSpPr>
              <p:cNvPr id="99" name="Oval 52"/>
              <p:cNvSpPr>
                <a:spLocks noChangeArrowheads="1"/>
              </p:cNvSpPr>
              <p:nvPr/>
            </p:nvSpPr>
            <p:spPr bwMode="auto">
              <a:xfrm>
                <a:off x="8894115" y="1552247"/>
                <a:ext cx="123825" cy="114300"/>
              </a:xfrm>
              <a:prstGeom prst="ellipse">
                <a:avLst/>
              </a:prstGeom>
              <a:solidFill>
                <a:srgbClr val="339966"/>
              </a:solidFill>
              <a:ln w="12700" algn="ctr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Oval 53"/>
              <p:cNvSpPr>
                <a:spLocks noChangeArrowheads="1"/>
              </p:cNvSpPr>
              <p:nvPr/>
            </p:nvSpPr>
            <p:spPr bwMode="auto">
              <a:xfrm>
                <a:off x="8621064" y="2093585"/>
                <a:ext cx="125412" cy="112712"/>
              </a:xfrm>
              <a:prstGeom prst="ellipse">
                <a:avLst/>
              </a:prstGeom>
              <a:solidFill>
                <a:srgbClr val="339966"/>
              </a:solidFill>
              <a:ln w="12700" algn="ctr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Oval 54"/>
              <p:cNvSpPr>
                <a:spLocks noChangeArrowheads="1"/>
              </p:cNvSpPr>
              <p:nvPr/>
            </p:nvSpPr>
            <p:spPr bwMode="auto">
              <a:xfrm>
                <a:off x="8889351" y="1871335"/>
                <a:ext cx="122238" cy="112712"/>
              </a:xfrm>
              <a:prstGeom prst="ellipse">
                <a:avLst/>
              </a:prstGeom>
              <a:solidFill>
                <a:srgbClr val="339966"/>
              </a:solidFill>
              <a:ln w="12700" algn="ctr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Oval 55"/>
              <p:cNvSpPr>
                <a:spLocks noChangeArrowheads="1"/>
              </p:cNvSpPr>
              <p:nvPr/>
            </p:nvSpPr>
            <p:spPr bwMode="auto">
              <a:xfrm>
                <a:off x="8619476" y="1374448"/>
                <a:ext cx="122238" cy="112713"/>
              </a:xfrm>
              <a:prstGeom prst="ellipse">
                <a:avLst/>
              </a:prstGeom>
              <a:solidFill>
                <a:srgbClr val="339966"/>
              </a:solidFill>
              <a:ln w="12700" algn="ctr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03" name="AutoShape 56"/>
              <p:cNvCxnSpPr>
                <a:cxnSpLocks noChangeShapeType="1"/>
                <a:stCxn id="102" idx="5"/>
                <a:endCxn id="99" idx="1"/>
              </p:cNvCxnSpPr>
              <p:nvPr/>
            </p:nvCxnSpPr>
            <p:spPr bwMode="auto">
              <a:xfrm>
                <a:off x="8724252" y="1471286"/>
                <a:ext cx="187325" cy="984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" name="AutoShape 57"/>
              <p:cNvCxnSpPr>
                <a:cxnSpLocks noChangeShapeType="1"/>
                <a:stCxn id="99" idx="4"/>
                <a:endCxn id="101" idx="0"/>
              </p:cNvCxnSpPr>
              <p:nvPr/>
            </p:nvCxnSpPr>
            <p:spPr bwMode="auto">
              <a:xfrm flipH="1">
                <a:off x="8951264" y="1666547"/>
                <a:ext cx="4762" cy="2047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5" name="AutoShape 58"/>
              <p:cNvCxnSpPr>
                <a:cxnSpLocks noChangeShapeType="1"/>
                <a:stCxn id="101" idx="3"/>
              </p:cNvCxnSpPr>
              <p:nvPr/>
            </p:nvCxnSpPr>
            <p:spPr bwMode="auto">
              <a:xfrm flipH="1">
                <a:off x="8725840" y="1968173"/>
                <a:ext cx="180975" cy="14446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6" name="Line 59"/>
            <p:cNvSpPr>
              <a:spLocks noChangeShapeType="1"/>
            </p:cNvSpPr>
            <p:nvPr/>
          </p:nvSpPr>
          <p:spPr bwMode="auto">
            <a:xfrm>
              <a:off x="9570991" y="1710878"/>
              <a:ext cx="295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07" name="AutoShape 64"/>
            <p:cNvSpPr>
              <a:spLocks noChangeArrowheads="1"/>
            </p:cNvSpPr>
            <p:nvPr/>
          </p:nvSpPr>
          <p:spPr bwMode="auto">
            <a:xfrm>
              <a:off x="8625825" y="1176118"/>
              <a:ext cx="992180" cy="2235994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967770" y="1317297"/>
            <a:ext cx="1750407" cy="2413367"/>
            <a:chOff x="9967770" y="1317297"/>
            <a:chExt cx="1750407" cy="2413367"/>
          </a:xfrm>
        </p:grpSpPr>
        <p:sp>
          <p:nvSpPr>
            <p:cNvPr id="42" name="Text Box 3"/>
            <p:cNvSpPr txBox="1">
              <a:spLocks noChangeArrowheads="1"/>
            </p:cNvSpPr>
            <p:nvPr/>
          </p:nvSpPr>
          <p:spPr bwMode="auto">
            <a:xfrm>
              <a:off x="10422548" y="2057012"/>
              <a:ext cx="1287084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dirty="0">
                  <a:solidFill>
                    <a:srgbClr val="000000"/>
                  </a:solidFill>
                  <a:latin typeface="+mn-lt"/>
                </a:rPr>
                <a:t>Graph (G</a:t>
              </a:r>
              <a:r>
                <a:rPr lang="en-US" altLang="en-US" sz="2000" baseline="-25000" dirty="0">
                  <a:solidFill>
                    <a:srgbClr val="000000"/>
                  </a:solidFill>
                  <a:latin typeface="+mn-lt"/>
                </a:rPr>
                <a:t>1</a:t>
              </a:r>
              <a:r>
                <a:rPr lang="en-US" altLang="en-US" sz="2000" dirty="0">
                  <a:solidFill>
                    <a:srgbClr val="000000"/>
                  </a:solidFill>
                  <a:latin typeface="+mn-lt"/>
                </a:rPr>
                <a:t>)</a:t>
              </a:r>
              <a:endParaRPr lang="en-US" altLang="en-US" sz="2000" dirty="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9967770" y="2485697"/>
              <a:ext cx="931862" cy="793750"/>
              <a:chOff x="10037115" y="3304847"/>
              <a:chExt cx="931862" cy="793750"/>
            </a:xfrm>
          </p:grpSpPr>
          <p:sp>
            <p:nvSpPr>
              <p:cNvPr id="54" name="Oval 15"/>
              <p:cNvSpPr>
                <a:spLocks noChangeArrowheads="1"/>
              </p:cNvSpPr>
              <p:nvPr/>
            </p:nvSpPr>
            <p:spPr bwMode="auto">
              <a:xfrm>
                <a:off x="10573690" y="3481060"/>
                <a:ext cx="123825" cy="112712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Oval 16"/>
              <p:cNvSpPr>
                <a:spLocks noChangeArrowheads="1"/>
              </p:cNvSpPr>
              <p:nvPr/>
            </p:nvSpPr>
            <p:spPr bwMode="auto">
              <a:xfrm>
                <a:off x="10846740" y="3985885"/>
                <a:ext cx="122237" cy="112712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Oval 17"/>
              <p:cNvSpPr>
                <a:spLocks noChangeArrowheads="1"/>
              </p:cNvSpPr>
              <p:nvPr/>
            </p:nvSpPr>
            <p:spPr bwMode="auto">
              <a:xfrm>
                <a:off x="10302226" y="3974773"/>
                <a:ext cx="122238" cy="11112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7" name="Oval 18"/>
              <p:cNvSpPr>
                <a:spLocks noChangeArrowheads="1"/>
              </p:cNvSpPr>
              <p:nvPr/>
            </p:nvSpPr>
            <p:spPr bwMode="auto">
              <a:xfrm>
                <a:off x="10568927" y="3798560"/>
                <a:ext cx="123825" cy="112712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Oval 19"/>
              <p:cNvSpPr>
                <a:spLocks noChangeArrowheads="1"/>
              </p:cNvSpPr>
              <p:nvPr/>
            </p:nvSpPr>
            <p:spPr bwMode="auto">
              <a:xfrm>
                <a:off x="10297465" y="3304847"/>
                <a:ext cx="123825" cy="10795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69" name="AutoShape 20"/>
              <p:cNvCxnSpPr>
                <a:cxnSpLocks noChangeShapeType="1"/>
                <a:stCxn id="54" idx="4"/>
                <a:endCxn id="57" idx="0"/>
              </p:cNvCxnSpPr>
              <p:nvPr/>
            </p:nvCxnSpPr>
            <p:spPr bwMode="auto">
              <a:xfrm flipH="1">
                <a:off x="10630840" y="3593772"/>
                <a:ext cx="3175" cy="2047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0" name="AutoShape 21"/>
              <p:cNvCxnSpPr>
                <a:cxnSpLocks noChangeShapeType="1"/>
                <a:stCxn id="57" idx="3"/>
                <a:endCxn id="56" idx="7"/>
              </p:cNvCxnSpPr>
              <p:nvPr/>
            </p:nvCxnSpPr>
            <p:spPr bwMode="auto">
              <a:xfrm flipH="1">
                <a:off x="10407001" y="3895397"/>
                <a:ext cx="179388" cy="952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" name="AutoShape 22"/>
              <p:cNvCxnSpPr>
                <a:cxnSpLocks noChangeShapeType="1"/>
                <a:stCxn id="57" idx="5"/>
                <a:endCxn id="55" idx="1"/>
              </p:cNvCxnSpPr>
              <p:nvPr/>
            </p:nvCxnSpPr>
            <p:spPr bwMode="auto">
              <a:xfrm>
                <a:off x="10675289" y="3895397"/>
                <a:ext cx="188912" cy="1079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" name="Oval 23"/>
              <p:cNvSpPr>
                <a:spLocks noChangeArrowheads="1"/>
              </p:cNvSpPr>
              <p:nvPr/>
            </p:nvSpPr>
            <p:spPr bwMode="auto">
              <a:xfrm>
                <a:off x="10046639" y="3460423"/>
                <a:ext cx="125412" cy="11112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3" name="Oval 24"/>
              <p:cNvSpPr>
                <a:spLocks noChangeArrowheads="1"/>
              </p:cNvSpPr>
              <p:nvPr/>
            </p:nvSpPr>
            <p:spPr bwMode="auto">
              <a:xfrm>
                <a:off x="10037115" y="3792210"/>
                <a:ext cx="122237" cy="11271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74" name="AutoShape 25"/>
              <p:cNvCxnSpPr>
                <a:cxnSpLocks noChangeShapeType="1"/>
                <a:stCxn id="72" idx="7"/>
                <a:endCxn id="58" idx="3"/>
              </p:cNvCxnSpPr>
              <p:nvPr/>
            </p:nvCxnSpPr>
            <p:spPr bwMode="auto">
              <a:xfrm flipV="1">
                <a:off x="10153002" y="3396923"/>
                <a:ext cx="163513" cy="793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5" name="AutoShape 26"/>
              <p:cNvCxnSpPr>
                <a:cxnSpLocks noChangeShapeType="1"/>
                <a:stCxn id="73" idx="5"/>
                <a:endCxn id="56" idx="1"/>
              </p:cNvCxnSpPr>
              <p:nvPr/>
            </p:nvCxnSpPr>
            <p:spPr bwMode="auto">
              <a:xfrm>
                <a:off x="10143477" y="3889047"/>
                <a:ext cx="176213" cy="10160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AutoShape 27"/>
              <p:cNvCxnSpPr>
                <a:cxnSpLocks noChangeShapeType="1"/>
                <a:stCxn id="72" idx="4"/>
                <a:endCxn id="73" idx="0"/>
              </p:cNvCxnSpPr>
              <p:nvPr/>
            </p:nvCxnSpPr>
            <p:spPr bwMode="auto">
              <a:xfrm flipH="1">
                <a:off x="10099026" y="3571548"/>
                <a:ext cx="7938" cy="22066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" name="Group 9"/>
            <p:cNvGrpSpPr/>
            <p:nvPr/>
          </p:nvGrpSpPr>
          <p:grpSpPr>
            <a:xfrm>
              <a:off x="10003776" y="1317297"/>
              <a:ext cx="660401" cy="781051"/>
              <a:chOff x="10003776" y="1317297"/>
              <a:chExt cx="660401" cy="781051"/>
            </a:xfrm>
          </p:grpSpPr>
          <p:sp>
            <p:nvSpPr>
              <p:cNvPr id="86" name="Oval 39"/>
              <p:cNvSpPr>
                <a:spLocks noChangeArrowheads="1"/>
              </p:cNvSpPr>
              <p:nvPr/>
            </p:nvSpPr>
            <p:spPr bwMode="auto">
              <a:xfrm>
                <a:off x="10540352" y="1493510"/>
                <a:ext cx="123825" cy="112712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Oval 40"/>
              <p:cNvSpPr>
                <a:spLocks noChangeArrowheads="1"/>
              </p:cNvSpPr>
              <p:nvPr/>
            </p:nvSpPr>
            <p:spPr bwMode="auto">
              <a:xfrm>
                <a:off x="10268890" y="1987223"/>
                <a:ext cx="122237" cy="11112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Oval 41"/>
              <p:cNvSpPr>
                <a:spLocks noChangeArrowheads="1"/>
              </p:cNvSpPr>
              <p:nvPr/>
            </p:nvSpPr>
            <p:spPr bwMode="auto">
              <a:xfrm>
                <a:off x="10535590" y="1811010"/>
                <a:ext cx="123825" cy="112712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Oval 42"/>
              <p:cNvSpPr>
                <a:spLocks noChangeArrowheads="1"/>
              </p:cNvSpPr>
              <p:nvPr/>
            </p:nvSpPr>
            <p:spPr bwMode="auto">
              <a:xfrm>
                <a:off x="10264127" y="1317297"/>
                <a:ext cx="123825" cy="10795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90" name="AutoShape 43"/>
              <p:cNvCxnSpPr>
                <a:cxnSpLocks noChangeShapeType="1"/>
                <a:stCxn id="86" idx="4"/>
                <a:endCxn id="88" idx="0"/>
              </p:cNvCxnSpPr>
              <p:nvPr/>
            </p:nvCxnSpPr>
            <p:spPr bwMode="auto">
              <a:xfrm flipH="1">
                <a:off x="10597502" y="1606222"/>
                <a:ext cx="3175" cy="2047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AutoShape 44"/>
              <p:cNvCxnSpPr>
                <a:cxnSpLocks noChangeShapeType="1"/>
                <a:stCxn id="88" idx="3"/>
                <a:endCxn id="87" idx="7"/>
              </p:cNvCxnSpPr>
              <p:nvPr/>
            </p:nvCxnSpPr>
            <p:spPr bwMode="auto">
              <a:xfrm flipH="1">
                <a:off x="10373665" y="1907847"/>
                <a:ext cx="179387" cy="952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AutoShape 45"/>
              <p:cNvCxnSpPr>
                <a:cxnSpLocks noChangeShapeType="1"/>
              </p:cNvCxnSpPr>
              <p:nvPr/>
            </p:nvCxnSpPr>
            <p:spPr bwMode="auto">
              <a:xfrm>
                <a:off x="10376839" y="1420485"/>
                <a:ext cx="188912" cy="10636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3" name="Oval 46"/>
              <p:cNvSpPr>
                <a:spLocks noChangeArrowheads="1"/>
              </p:cNvSpPr>
              <p:nvPr/>
            </p:nvSpPr>
            <p:spPr bwMode="auto">
              <a:xfrm>
                <a:off x="10013302" y="1472873"/>
                <a:ext cx="125413" cy="11112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Oval 47"/>
              <p:cNvSpPr>
                <a:spLocks noChangeArrowheads="1"/>
              </p:cNvSpPr>
              <p:nvPr/>
            </p:nvSpPr>
            <p:spPr bwMode="auto">
              <a:xfrm>
                <a:off x="10003776" y="1804660"/>
                <a:ext cx="122238" cy="11271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95" name="AutoShape 48"/>
              <p:cNvCxnSpPr>
                <a:cxnSpLocks noChangeShapeType="1"/>
                <a:stCxn id="93" idx="7"/>
                <a:endCxn id="89" idx="3"/>
              </p:cNvCxnSpPr>
              <p:nvPr/>
            </p:nvCxnSpPr>
            <p:spPr bwMode="auto">
              <a:xfrm flipV="1">
                <a:off x="10119664" y="1409373"/>
                <a:ext cx="163512" cy="793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6" name="AutoShape 49"/>
              <p:cNvCxnSpPr>
                <a:cxnSpLocks noChangeShapeType="1"/>
                <a:stCxn id="94" idx="5"/>
                <a:endCxn id="87" idx="1"/>
              </p:cNvCxnSpPr>
              <p:nvPr/>
            </p:nvCxnSpPr>
            <p:spPr bwMode="auto">
              <a:xfrm>
                <a:off x="10110139" y="1901497"/>
                <a:ext cx="176212" cy="10160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7" name="AutoShape 50"/>
              <p:cNvCxnSpPr>
                <a:cxnSpLocks noChangeShapeType="1"/>
                <a:stCxn id="93" idx="4"/>
                <a:endCxn id="94" idx="0"/>
              </p:cNvCxnSpPr>
              <p:nvPr/>
            </p:nvCxnSpPr>
            <p:spPr bwMode="auto">
              <a:xfrm flipH="1">
                <a:off x="10065690" y="1583998"/>
                <a:ext cx="7937" cy="22066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8" name="Rectangle 65"/>
            <p:cNvSpPr>
              <a:spLocks noChangeArrowheads="1"/>
            </p:cNvSpPr>
            <p:nvPr/>
          </p:nvSpPr>
          <p:spPr bwMode="auto">
            <a:xfrm>
              <a:off x="10431094" y="3330554"/>
              <a:ext cx="1287083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dirty="0">
                  <a:solidFill>
                    <a:srgbClr val="000000"/>
                  </a:solidFill>
                  <a:latin typeface="+mn-lt"/>
                </a:rPr>
                <a:t>Graph (G</a:t>
              </a:r>
              <a:r>
                <a:rPr lang="en-US" altLang="en-US" sz="2000" baseline="-25000" dirty="0">
                  <a:solidFill>
                    <a:srgbClr val="000000"/>
                  </a:solidFill>
                  <a:latin typeface="+mn-lt"/>
                </a:rPr>
                <a:t>2</a:t>
              </a:r>
              <a:r>
                <a:rPr lang="en-US" altLang="en-US" sz="2000" dirty="0">
                  <a:solidFill>
                    <a:srgbClr val="000000"/>
                  </a:solidFill>
                  <a:latin typeface="+mn-lt"/>
                </a:rPr>
                <a:t>)</a:t>
              </a:r>
              <a:endParaRPr lang="en-US" altLang="en-US" sz="2000" dirty="0">
                <a:solidFill>
                  <a:srgbClr val="000000"/>
                </a:solidFill>
                <a:latin typeface="+mn-l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372784" y="1423660"/>
            <a:ext cx="1225597" cy="1265299"/>
            <a:chOff x="7372784" y="1423660"/>
            <a:chExt cx="1225597" cy="1265299"/>
          </a:xfrm>
        </p:grpSpPr>
        <p:sp>
          <p:nvSpPr>
            <p:cNvPr id="44" name="Text Box 5"/>
            <p:cNvSpPr txBox="1">
              <a:spLocks noChangeArrowheads="1"/>
            </p:cNvSpPr>
            <p:nvPr/>
          </p:nvSpPr>
          <p:spPr bwMode="auto">
            <a:xfrm>
              <a:off x="7372784" y="1423660"/>
              <a:ext cx="1225597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dirty="0">
                  <a:solidFill>
                    <a:srgbClr val="000000"/>
                  </a:solidFill>
                  <a:latin typeface="+mn-lt"/>
                </a:rPr>
                <a:t>Query (q)</a:t>
              </a:r>
              <a:endParaRPr lang="en-US" altLang="en-US" sz="2000" dirty="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792386" y="1857110"/>
              <a:ext cx="671514" cy="831849"/>
              <a:chOff x="7320901" y="2419023"/>
              <a:chExt cx="671514" cy="831849"/>
            </a:xfrm>
          </p:grpSpPr>
          <p:sp>
            <p:nvSpPr>
              <p:cNvPr id="45" name="Oval 6"/>
              <p:cNvSpPr>
                <a:spLocks noChangeArrowheads="1"/>
              </p:cNvSpPr>
              <p:nvPr/>
            </p:nvSpPr>
            <p:spPr bwMode="auto">
              <a:xfrm>
                <a:off x="7595540" y="2596822"/>
                <a:ext cx="123825" cy="1143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Oval 7"/>
              <p:cNvSpPr>
                <a:spLocks noChangeArrowheads="1"/>
              </p:cNvSpPr>
              <p:nvPr/>
            </p:nvSpPr>
            <p:spPr bwMode="auto">
              <a:xfrm>
                <a:off x="7868590" y="3138160"/>
                <a:ext cx="123825" cy="11271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Oval 8"/>
              <p:cNvSpPr>
                <a:spLocks noChangeArrowheads="1"/>
              </p:cNvSpPr>
              <p:nvPr/>
            </p:nvSpPr>
            <p:spPr bwMode="auto">
              <a:xfrm>
                <a:off x="7322489" y="3138160"/>
                <a:ext cx="125412" cy="11271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Oval 9"/>
              <p:cNvSpPr>
                <a:spLocks noChangeArrowheads="1"/>
              </p:cNvSpPr>
              <p:nvPr/>
            </p:nvSpPr>
            <p:spPr bwMode="auto">
              <a:xfrm>
                <a:off x="7590776" y="2915910"/>
                <a:ext cx="122238" cy="11271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Oval 10"/>
              <p:cNvSpPr>
                <a:spLocks noChangeArrowheads="1"/>
              </p:cNvSpPr>
              <p:nvPr/>
            </p:nvSpPr>
            <p:spPr bwMode="auto">
              <a:xfrm>
                <a:off x="7320901" y="2419023"/>
                <a:ext cx="122238" cy="112713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50" name="AutoShape 11"/>
              <p:cNvCxnSpPr>
                <a:cxnSpLocks noChangeShapeType="1"/>
                <a:stCxn id="49" idx="5"/>
                <a:endCxn id="45" idx="1"/>
              </p:cNvCxnSpPr>
              <p:nvPr/>
            </p:nvCxnSpPr>
            <p:spPr bwMode="auto">
              <a:xfrm>
                <a:off x="7425677" y="2514272"/>
                <a:ext cx="187325" cy="101600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AutoShape 12"/>
              <p:cNvCxnSpPr>
                <a:cxnSpLocks noChangeShapeType="1"/>
                <a:stCxn id="45" idx="4"/>
                <a:endCxn id="48" idx="0"/>
              </p:cNvCxnSpPr>
              <p:nvPr/>
            </p:nvCxnSpPr>
            <p:spPr bwMode="auto">
              <a:xfrm flipH="1">
                <a:off x="7652690" y="2711122"/>
                <a:ext cx="3175" cy="2047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AutoShape 13"/>
              <p:cNvCxnSpPr>
                <a:cxnSpLocks noChangeShapeType="1"/>
                <a:stCxn id="48" idx="3"/>
              </p:cNvCxnSpPr>
              <p:nvPr/>
            </p:nvCxnSpPr>
            <p:spPr bwMode="auto">
              <a:xfrm flipH="1">
                <a:off x="7427265" y="3012748"/>
                <a:ext cx="180975" cy="144463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AutoShape 14"/>
              <p:cNvCxnSpPr>
                <a:cxnSpLocks noChangeShapeType="1"/>
                <a:stCxn id="48" idx="5"/>
                <a:endCxn id="46" idx="1"/>
              </p:cNvCxnSpPr>
              <p:nvPr/>
            </p:nvCxnSpPr>
            <p:spPr bwMode="auto">
              <a:xfrm>
                <a:off x="7697139" y="3011161"/>
                <a:ext cx="190500" cy="142875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9" name="AutoShape 11"/>
              <p:cNvCxnSpPr>
                <a:cxnSpLocks noChangeShapeType="1"/>
              </p:cNvCxnSpPr>
              <p:nvPr/>
            </p:nvCxnSpPr>
            <p:spPr bwMode="auto">
              <a:xfrm flipH="1">
                <a:off x="7655304" y="2703370"/>
                <a:ext cx="7939" cy="220292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5" name="Group 4"/>
          <p:cNvGrpSpPr/>
          <p:nvPr/>
        </p:nvGrpSpPr>
        <p:grpSpPr>
          <a:xfrm>
            <a:off x="8378374" y="3862719"/>
            <a:ext cx="3297156" cy="2944456"/>
            <a:chOff x="8378374" y="3862719"/>
            <a:chExt cx="3297156" cy="2944456"/>
          </a:xfrm>
        </p:grpSpPr>
        <p:graphicFrame>
          <p:nvGraphicFramePr>
            <p:cNvPr id="110" name="Group 3"/>
            <p:cNvGraphicFramePr/>
            <p:nvPr/>
          </p:nvGraphicFramePr>
          <p:xfrm>
            <a:off x="8837620" y="4314511"/>
            <a:ext cx="2837910" cy="2048256"/>
          </p:xfrm>
          <a:graphic>
            <a:graphicData uri="http://schemas.openxmlformats.org/drawingml/2006/table">
              <a:tbl>
                <a:tblPr/>
                <a:tblGrid>
                  <a:gridCol w="473372"/>
                  <a:gridCol w="472598"/>
                  <a:gridCol w="473372"/>
                  <a:gridCol w="472598"/>
                  <a:gridCol w="473372"/>
                  <a:gridCol w="472598"/>
                </a:tblGrid>
                <a:tr h="304881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G</a:t>
                        </a:r>
                        <a:r>
                          <a:rPr kumimoji="0" lang="en-US" sz="20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G</a:t>
                        </a:r>
                        <a:r>
                          <a:rPr kumimoji="0" lang="en-US" sz="2000" b="0" i="0" u="none" strike="noStrike" cap="none" normalizeH="0" baseline="-250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2</a:t>
                        </a:r>
                        <a:endPara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G</a:t>
                        </a:r>
                        <a:r>
                          <a:rPr kumimoji="0" lang="en-US" sz="2000" b="0" i="0" u="none" strike="noStrike" cap="none" normalizeH="0" baseline="-250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3</a:t>
                        </a:r>
                        <a:endPara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G</a:t>
                        </a:r>
                        <a:r>
                          <a:rPr kumimoji="0" lang="en-US" sz="2000" b="0" i="0" u="none" strike="noStrike" cap="none" normalizeH="0" baseline="-250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4</a:t>
                        </a:r>
                        <a:endPara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G</a:t>
                        </a:r>
                        <a:r>
                          <a:rPr kumimoji="0" lang="en-US" sz="2000" b="0" i="0" u="none" strike="noStrike" cap="none" normalizeH="0" baseline="-250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5</a:t>
                        </a:r>
                        <a:endPara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304881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f</a:t>
                        </a:r>
                        <a:r>
                          <a:rPr kumimoji="0" lang="en-US" sz="20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304881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f</a:t>
                        </a:r>
                        <a:r>
                          <a:rPr kumimoji="0" lang="en-US" sz="20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2</a:t>
                        </a:r>
                        <a:endPara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304881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f</a:t>
                        </a:r>
                        <a:r>
                          <a:rPr kumimoji="0" lang="en-US" sz="2000" b="0" i="0" u="none" strike="noStrike" cap="none" normalizeH="0" baseline="-250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3</a:t>
                        </a:r>
                        <a:endPara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304881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f</a:t>
                        </a:r>
                        <a:r>
                          <a:rPr kumimoji="0" lang="en-US" sz="2000" b="0" i="0" u="none" strike="noStrike" cap="none" normalizeH="0" baseline="-250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4</a:t>
                        </a:r>
                        <a:endPara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304881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f</a:t>
                        </a:r>
                        <a:r>
                          <a:rPr kumimoji="0" lang="en-US" sz="20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5</a:t>
                        </a:r>
                        <a:endPara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1</a:t>
                        </a:r>
                        <a:endPara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8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cs typeface="Arial" panose="020B0604020202020204" pitchFamily="34" charset="0"/>
                          </a:rPr>
                          <a:t>0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117" name="Text Box 61"/>
            <p:cNvSpPr txBox="1">
              <a:spLocks noChangeArrowheads="1"/>
            </p:cNvSpPr>
            <p:nvPr/>
          </p:nvSpPr>
          <p:spPr bwMode="auto">
            <a:xfrm>
              <a:off x="9160382" y="3862719"/>
              <a:ext cx="2225994" cy="40011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latin typeface="+mn-lt"/>
                </a:rPr>
                <a:t>Graphs in database</a:t>
              </a:r>
              <a:endParaRPr lang="en-US" altLang="en-US" sz="2000" b="1" dirty="0">
                <a:latin typeface="+mn-lt"/>
              </a:endParaRPr>
            </a:p>
          </p:txBody>
        </p:sp>
        <p:sp>
          <p:nvSpPr>
            <p:cNvPr id="118" name="Text Box 62"/>
            <p:cNvSpPr txBox="1">
              <a:spLocks noChangeArrowheads="1"/>
            </p:cNvSpPr>
            <p:nvPr/>
          </p:nvSpPr>
          <p:spPr bwMode="auto">
            <a:xfrm rot="16200000">
              <a:off x="8046937" y="5076420"/>
              <a:ext cx="1062983" cy="40011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latin typeface="+mn-lt"/>
                </a:rPr>
                <a:t>features</a:t>
              </a:r>
              <a:endParaRPr lang="en-US" altLang="en-US" sz="2000" b="1" dirty="0">
                <a:latin typeface="+mn-lt"/>
              </a:endParaRPr>
            </a:p>
          </p:txBody>
        </p:sp>
        <p:sp>
          <p:nvSpPr>
            <p:cNvPr id="133" name="Text Box 61"/>
            <p:cNvSpPr txBox="1">
              <a:spLocks noChangeArrowheads="1"/>
            </p:cNvSpPr>
            <p:nvPr/>
          </p:nvSpPr>
          <p:spPr bwMode="auto">
            <a:xfrm>
              <a:off x="8997589" y="6407065"/>
              <a:ext cx="2613088" cy="40011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latin typeface="+mn-lt"/>
                </a:rPr>
                <a:t>A feature-graph matrix</a:t>
              </a:r>
              <a:endParaRPr lang="en-US" altLang="en-US" sz="2000" b="1" dirty="0">
                <a:latin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1073"/>
            <a:ext cx="12192000" cy="74349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应用三：图分类</a:t>
            </a:r>
            <a:endParaRPr lang="zh-CN" altLang="en-US" sz="40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674" y="1176226"/>
            <a:ext cx="11305117" cy="457711"/>
          </a:xfrm>
        </p:spPr>
        <p:txBody>
          <a:bodyPr/>
          <a:lstStyle/>
          <a:p>
            <a:r>
              <a:rPr lang="zh-CN" altLang="en-US" sz="2400" dirty="0"/>
              <a:t>通过识别具有</a:t>
            </a:r>
            <a:r>
              <a:rPr lang="zh-CN" altLang="en-US" sz="2400" b="1" dirty="0"/>
              <a:t>区分性</a:t>
            </a:r>
            <a:r>
              <a:rPr lang="zh-CN" altLang="en-US" sz="2400" dirty="0"/>
              <a:t>的子图模式实现图分类</a:t>
            </a:r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>
                <a:sym typeface="+mn-ea"/>
              </a:rPr>
              <a:t>对图集：生成</a:t>
            </a:r>
            <a:r>
              <a:rPr lang="zh-CN" altLang="en-US" sz="2400" b="1">
                <a:sym typeface="+mn-ea"/>
              </a:rPr>
              <a:t>能够表征类的子图</a:t>
            </a:r>
            <a:endParaRPr lang="zh-CN" altLang="en-US" sz="2400" b="1"/>
          </a:p>
          <a:p>
            <a:endParaRPr lang="zh-CN" altLang="en-US" sz="2400"/>
          </a:p>
          <a:p>
            <a:r>
              <a:rPr lang="zh-CN" altLang="en-US" sz="2400">
                <a:sym typeface="+mn-ea"/>
              </a:rPr>
              <a:t>用图中的子图来做</a:t>
            </a:r>
            <a:r>
              <a:rPr lang="zh-CN" altLang="en-US" sz="2400" b="1">
                <a:sym typeface="+mn-ea"/>
              </a:rPr>
              <a:t>类别标签</a:t>
            </a:r>
            <a:r>
              <a:rPr lang="zh-CN" altLang="en-US" sz="2400">
                <a:sym typeface="+mn-ea"/>
              </a:rPr>
              <a:t>：频率，判别</a:t>
            </a:r>
            <a:r>
              <a:rPr lang="zh-CN" altLang="en-US" sz="2400">
                <a:sym typeface="+mn-ea"/>
              </a:rPr>
              <a:t>性，特点等</a:t>
            </a:r>
            <a:endParaRPr lang="zh-CN" altLang="en-US" sz="2400"/>
          </a:p>
          <a:p>
            <a:endParaRPr lang="zh-CN" altLang="en-US" sz="2400" dirty="0"/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>
          <a:xfrm>
            <a:off x="475263" y="3908216"/>
            <a:ext cx="8052113" cy="765164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</a:rPr>
              <a:t>最终实现：用目标图中的判别子图的权重来实现分类</a:t>
            </a:r>
            <a:endParaRPr lang="zh-CN" altLang="en-US" sz="2400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0123"/>
            <a:ext cx="12192000" cy="74349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面向化合物分类的图挖掘</a:t>
            </a:r>
            <a:endParaRPr lang="zh-CN" altLang="en-US" sz="4000" dirty="0"/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>
          <a:xfrm>
            <a:off x="446688" y="3428791"/>
            <a:ext cx="8052113" cy="765164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</a:rPr>
              <a:t>用目标图中的</a:t>
            </a:r>
            <a:r>
              <a:rPr lang="zh-CN" altLang="en-US" sz="2400" b="1" kern="0" dirty="0">
                <a:solidFill>
                  <a:srgbClr val="000000"/>
                </a:solidFill>
              </a:rPr>
              <a:t>判别子图的权重</a:t>
            </a:r>
            <a:r>
              <a:rPr lang="zh-CN" altLang="en-US" sz="2400" kern="0" dirty="0">
                <a:solidFill>
                  <a:srgbClr val="000000"/>
                </a:solidFill>
              </a:rPr>
              <a:t>来实现分类</a:t>
            </a:r>
            <a:endParaRPr lang="zh-CN" altLang="en-US" sz="2400" kern="0" dirty="0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46405" y="1325245"/>
            <a:ext cx="10347325" cy="177927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Aft>
                <a:spcPts val="600"/>
              </a:spcAft>
              <a:defRPr/>
            </a:pPr>
            <a:r>
              <a:rPr lang="zh-CN" altLang="en-US" sz="2400" kern="0" dirty="0">
                <a:solidFill>
                  <a:srgbClr val="000000"/>
                </a:solidFill>
              </a:rPr>
              <a:t>分类问题中，子图判定的两个缺陷：频繁阈值难设定，且频繁不一定有用：高频率并不一定意味着</a:t>
            </a:r>
            <a:r>
              <a:rPr lang="zh-CN" altLang="en-US" sz="2400" b="1" kern="0" dirty="0">
                <a:solidFill>
                  <a:srgbClr val="000000"/>
                </a:solidFill>
              </a:rPr>
              <a:t>有用性</a:t>
            </a:r>
            <a:r>
              <a:rPr lang="zh-CN" altLang="en-US" sz="2400" kern="0" dirty="0">
                <a:solidFill>
                  <a:srgbClr val="000000"/>
                </a:solidFill>
              </a:rPr>
              <a:t>或</a:t>
            </a:r>
            <a:r>
              <a:rPr lang="zh-CN" altLang="en-US" sz="2400" b="1" kern="0" dirty="0">
                <a:solidFill>
                  <a:srgbClr val="000000"/>
                </a:solidFill>
              </a:rPr>
              <a:t>类别区分能力</a:t>
            </a:r>
            <a:r>
              <a:rPr lang="zh-CN" altLang="en-US" sz="2400" kern="0" dirty="0">
                <a:solidFill>
                  <a:srgbClr val="000000"/>
                </a:solidFill>
              </a:rPr>
              <a:t>。</a:t>
            </a:r>
            <a:endParaRPr lang="zh-CN" altLang="en-US" sz="2400" kern="0" dirty="0">
              <a:solidFill>
                <a:srgbClr val="000000"/>
              </a:solidFill>
            </a:endParaRPr>
          </a:p>
          <a:p>
            <a:pPr>
              <a:lnSpc>
                <a:spcPct val="130000"/>
              </a:lnSpc>
              <a:spcAft>
                <a:spcPts val="600"/>
              </a:spcAft>
              <a:defRPr/>
            </a:pPr>
            <a:r>
              <a:rPr lang="zh-CN" altLang="en-US" sz="2400" kern="0" dirty="0">
                <a:solidFill>
                  <a:srgbClr val="000000"/>
                </a:solidFill>
              </a:rPr>
              <a:t>为子图赋予</a:t>
            </a:r>
            <a:r>
              <a:rPr lang="zh-CN" altLang="en-US" sz="2400" b="1" kern="0" dirty="0">
                <a:solidFill>
                  <a:srgbClr val="000000"/>
                </a:solidFill>
              </a:rPr>
              <a:t>可区分性</a:t>
            </a:r>
            <a:r>
              <a:rPr lang="zh-CN" altLang="en-US" sz="2400" kern="0" dirty="0">
                <a:solidFill>
                  <a:srgbClr val="000000"/>
                </a:solidFill>
              </a:rPr>
              <a:t>，以提升判别能力。</a:t>
            </a:r>
            <a:endParaRPr lang="zh-CN" altLang="en-US" sz="2400" kern="0" dirty="0">
              <a:solidFill>
                <a:srgbClr val="0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1180" y="4070350"/>
            <a:ext cx="6758305" cy="19119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14650" y="6104255"/>
            <a:ext cx="6096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三类药物分子的「</a:t>
            </a:r>
            <a:r>
              <a:rPr lang="zh-CN" altLang="en-US" b="1"/>
              <a:t>类别特异性子结构图</a:t>
            </a:r>
            <a:r>
              <a:rPr lang="zh-CN" altLang="en-US"/>
              <a:t>」（具区分力）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359648"/>
            <a:ext cx="12192000" cy="74349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面向化合物分类的图挖掘</a:t>
            </a:r>
            <a:endParaRPr lang="zh-CN" altLang="en-US" sz="4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225" y="1214120"/>
            <a:ext cx="7974965" cy="46234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835" y="5837555"/>
            <a:ext cx="10856595" cy="470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/>
              <a:t>MIGDAC </a:t>
            </a:r>
            <a:r>
              <a:rPr lang="zh-CN" altLang="en-US"/>
              <a:t>通过</a:t>
            </a:r>
            <a:r>
              <a:rPr lang="zh-CN" altLang="en-US" b="1"/>
              <a:t>区分度</a:t>
            </a:r>
            <a:r>
              <a:rPr lang="zh-CN" altLang="en-US"/>
              <a:t>度量</a:t>
            </a:r>
            <a:r>
              <a:rPr lang="en-US" altLang="zh-CN"/>
              <a:t> + </a:t>
            </a:r>
            <a:r>
              <a:rPr lang="zh-CN" altLang="en-US" b="1"/>
              <a:t>证据权重</a:t>
            </a:r>
            <a:r>
              <a:rPr lang="zh-CN" altLang="en-US"/>
              <a:t>过滤噪声，解决传统频繁子图挖掘</a:t>
            </a:r>
            <a:r>
              <a:rPr lang="en-US" altLang="zh-CN"/>
              <a:t> “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频繁但无区分力</a:t>
            </a:r>
            <a:r>
              <a:rPr lang="en-US" altLang="zh-CN"/>
              <a:t>” </a:t>
            </a:r>
            <a:r>
              <a:rPr lang="zh-CN" altLang="en-US"/>
              <a:t>的核心问题。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3415</Words>
  <Application>WPS 演示</Application>
  <PresentationFormat>宽屏</PresentationFormat>
  <Paragraphs>461</Paragraphs>
  <Slides>23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Arial</vt:lpstr>
      <vt:lpstr>宋体</vt:lpstr>
      <vt:lpstr>Wingdings</vt:lpstr>
      <vt:lpstr>Berlin Sans FB Demi</vt:lpstr>
      <vt:lpstr>Calibri</vt:lpstr>
      <vt:lpstr>Times New Roman</vt:lpstr>
      <vt:lpstr>Symbol</vt:lpstr>
      <vt:lpstr>Tahoma</vt:lpstr>
      <vt:lpstr>Calibri</vt:lpstr>
      <vt:lpstr>Verdana</vt:lpstr>
      <vt:lpstr>微软雅黑</vt:lpstr>
      <vt:lpstr>Arial Unicode MS</vt:lpstr>
      <vt:lpstr>Calibri Light</vt:lpstr>
      <vt:lpstr>Retrospect</vt:lpstr>
      <vt:lpstr>MSGraph.Chart.8</vt:lpstr>
      <vt:lpstr>MSGraph.Chart.8</vt:lpstr>
      <vt:lpstr>Equation.3</vt:lpstr>
      <vt:lpstr>Pattern Mining: Advanced Methods</vt:lpstr>
      <vt:lpstr>What Is Graph Pattern Mining?</vt:lpstr>
      <vt:lpstr>Frequent (Sub)Graph Patterns</vt:lpstr>
      <vt:lpstr>Applications of Graph Pattern Mining</vt:lpstr>
      <vt:lpstr>Graph Pattern Mining Algorithms: Different Methodologies</vt:lpstr>
      <vt:lpstr>Apriori-Based Approach</vt:lpstr>
      <vt:lpstr>Candidate Generation:   Vertex Growing vs. Edge Growing</vt:lpstr>
      <vt:lpstr>Pattern-Growth Approach</vt:lpstr>
      <vt:lpstr>gSPAN: Graph Pattern Growth in Order</vt:lpstr>
      <vt:lpstr>Constraint-Based Approach</vt:lpstr>
      <vt:lpstr>GRAMI:  Template – Constraint Driven</vt:lpstr>
      <vt:lpstr>Neural Network–Based Approach</vt:lpstr>
      <vt:lpstr>SPMiner:  GNN Embedding Representation</vt:lpstr>
      <vt:lpstr>Why Mine Closed Graph Patterns?</vt:lpstr>
      <vt:lpstr>CloseGraph: Directly Mining Closed Graph Patterns</vt:lpstr>
      <vt:lpstr>Experiment and Performance Comparison</vt:lpstr>
      <vt:lpstr>Application of Pattern Mining I: Graph Indexing</vt:lpstr>
      <vt:lpstr>gIndex: Indexing Frequent and Discriminative Substructures</vt:lpstr>
      <vt:lpstr>Application II: Support Substructure Similarity Search</vt:lpstr>
      <vt:lpstr>Feature-Based Similarity Search</vt:lpstr>
      <vt:lpstr>Application III: Graph Classification</vt:lpstr>
      <vt:lpstr>Graph Mining for Chemical Compound Classification</vt:lpstr>
      <vt:lpstr>面向化合物分类的图挖掘</vt:lpstr>
    </vt:vector>
  </TitlesOfParts>
  <Company>UIUC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万宝阔</cp:lastModifiedBy>
  <cp:revision>1177</cp:revision>
  <cp:lastPrinted>2017-09-26T19:57:00Z</cp:lastPrinted>
  <dcterms:created xsi:type="dcterms:W3CDTF">2014-06-02T15:06:00Z</dcterms:created>
  <dcterms:modified xsi:type="dcterms:W3CDTF">2026-04-09T12:44:27Z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549AE81B9EC24F48A896DE4DD2427CF6_12</vt:lpwstr>
  </property>
</Properties>
</file>