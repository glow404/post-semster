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59" r:id="rId5"/>
    <p:sldId id="333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334" r:id="rId14"/>
    <p:sldId id="268" r:id="rId15"/>
    <p:sldId id="269" r:id="rId16"/>
    <p:sldId id="270" r:id="rId17"/>
    <p:sldId id="271" r:id="rId18"/>
    <p:sldId id="272" r:id="rId19"/>
    <p:sldId id="273" r:id="rId20"/>
    <p:sldId id="335" r:id="rId21"/>
    <p:sldId id="336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337" r:id="rId37"/>
    <p:sldId id="288" r:id="rId38"/>
    <p:sldId id="338" r:id="rId39"/>
    <p:sldId id="289" r:id="rId40"/>
    <p:sldId id="290" r:id="rId41"/>
    <p:sldId id="291" r:id="rId42"/>
    <p:sldId id="339" r:id="rId43"/>
    <p:sldId id="292" r:id="rId44"/>
    <p:sldId id="293" r:id="rId45"/>
    <p:sldId id="294" r:id="rId46"/>
    <p:sldId id="295" r:id="rId47"/>
    <p:sldId id="296" r:id="rId48"/>
    <p:sldId id="297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Xueqing Liu" initials="XL" lastIdx="0" clrIdx="0"/>
  <p:cmAuthor id="2" name="Shang, Jingbo" initials="SJ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3" Type="http://schemas.openxmlformats.org/officeDocument/2006/relationships/commentAuthors" Target="commentAuthors.xml"/><Relationship Id="rId82" Type="http://schemas.openxmlformats.org/officeDocument/2006/relationships/tableStyles" Target="tableStyles.xml"/><Relationship Id="rId81" Type="http://schemas.openxmlformats.org/officeDocument/2006/relationships/viewProps" Target="viewProps.xml"/><Relationship Id="rId80" Type="http://schemas.openxmlformats.org/officeDocument/2006/relationships/presProps" Target="presProps.xml"/><Relationship Id="rId8" Type="http://schemas.openxmlformats.org/officeDocument/2006/relationships/slide" Target="slides/slide6.xml"/><Relationship Id="rId79" Type="http://schemas.openxmlformats.org/officeDocument/2006/relationships/slide" Target="slides/slide77.xml"/><Relationship Id="rId78" Type="http://schemas.openxmlformats.org/officeDocument/2006/relationships/slide" Target="slides/slide76.xml"/><Relationship Id="rId77" Type="http://schemas.openxmlformats.org/officeDocument/2006/relationships/slide" Target="slides/slide75.xml"/><Relationship Id="rId76" Type="http://schemas.openxmlformats.org/officeDocument/2006/relationships/slide" Target="slides/slide74.xml"/><Relationship Id="rId75" Type="http://schemas.openxmlformats.org/officeDocument/2006/relationships/slide" Target="slides/slide73.xml"/><Relationship Id="rId74" Type="http://schemas.openxmlformats.org/officeDocument/2006/relationships/slide" Target="slides/slide72.xml"/><Relationship Id="rId73" Type="http://schemas.openxmlformats.org/officeDocument/2006/relationships/slide" Target="slides/slide71.xml"/><Relationship Id="rId72" Type="http://schemas.openxmlformats.org/officeDocument/2006/relationships/slide" Target="slides/slide70.xml"/><Relationship Id="rId71" Type="http://schemas.openxmlformats.org/officeDocument/2006/relationships/slide" Target="slides/slide69.xml"/><Relationship Id="rId70" Type="http://schemas.openxmlformats.org/officeDocument/2006/relationships/slide" Target="slides/slide68.xml"/><Relationship Id="rId7" Type="http://schemas.openxmlformats.org/officeDocument/2006/relationships/slide" Target="slides/slide5.xml"/><Relationship Id="rId69" Type="http://schemas.openxmlformats.org/officeDocument/2006/relationships/slide" Target="slides/slide67.xml"/><Relationship Id="rId68" Type="http://schemas.openxmlformats.org/officeDocument/2006/relationships/slide" Target="slides/slide66.xml"/><Relationship Id="rId67" Type="http://schemas.openxmlformats.org/officeDocument/2006/relationships/slide" Target="slides/slide65.xml"/><Relationship Id="rId66" Type="http://schemas.openxmlformats.org/officeDocument/2006/relationships/slide" Target="slides/slide64.xml"/><Relationship Id="rId65" Type="http://schemas.openxmlformats.org/officeDocument/2006/relationships/slide" Target="slides/slide63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5" y="2180499"/>
            <a:ext cx="11029615" cy="3678303"/>
          </a:xfrm>
          <a:ln>
            <a:solidFill/>
          </a:ln>
        </p:spPr>
        <p:txBody>
          <a:bodyPr/>
          <a:lstStyle/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  <a:endParaRPr lang="zh-CN" altLang="en-US" dirty="0">
              <a:solidFill/>
            </a:endParaRP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  <a:endParaRPr lang="zh-CN" altLang="en-US" dirty="0">
              <a:solidFill/>
            </a:endParaRP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  <a:endParaRPr lang="zh-CN" altLang="en-US" dirty="0">
              <a:solidFill/>
            </a:endParaRP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  <a:endParaRPr lang="zh-CN" altLang="en-US" dirty="0">
              <a:solidFill/>
            </a:endParaRP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1" y="5956140"/>
            <a:ext cx="1052508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>
                <a:solidFill/>
              </a:rPr>
              <a:t>单击此处编辑母版标题样式</a:t>
            </a:r>
            <a:endParaRPr kumimoji="1" lang="zh-CN" altLang="en-US">
              <a:solidFill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02563" y="996696"/>
            <a:ext cx="11489690" cy="262255"/>
          </a:xfrm>
          <a:custGeom>
            <a:avLst/>
            <a:gdLst/>
            <a:ahLst/>
            <a:cxnLst/>
            <a:rect l="l" t="t" r="r" b="b"/>
            <a:pathLst>
              <a:path w="11489690" h="262255">
                <a:moveTo>
                  <a:pt x="11489436" y="262127"/>
                </a:moveTo>
                <a:lnTo>
                  <a:pt x="0" y="262127"/>
                </a:lnTo>
                <a:lnTo>
                  <a:pt x="0" y="0"/>
                </a:lnTo>
                <a:lnTo>
                  <a:pt x="11489436" y="0"/>
                </a:lnTo>
                <a:lnTo>
                  <a:pt x="11489436" y="262127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47077" y="257492"/>
            <a:ext cx="3149600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2850" y="1411643"/>
            <a:ext cx="5816600" cy="4414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.jpeg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0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jpeg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25.jpe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image" Target="../media/image31.jpe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4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6.jpeg"/><Relationship Id="rId1" Type="http://schemas.openxmlformats.org/officeDocument/2006/relationships/image" Target="../media/image35.jpe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3.jpe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4.jpe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5.jpe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7.jpeg"/><Relationship Id="rId1" Type="http://schemas.openxmlformats.org/officeDocument/2006/relationships/image" Target="../media/image46.jpe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8.jpe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9.jpe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0.jpe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1.jpe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3.png"/><Relationship Id="rId1" Type="http://schemas.openxmlformats.org/officeDocument/2006/relationships/image" Target="../media/image52.jpe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3.png"/><Relationship Id="rId1" Type="http://schemas.openxmlformats.org/officeDocument/2006/relationships/image" Target="../media/image54.jpe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5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6.jpe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8.png"/><Relationship Id="rId1" Type="http://schemas.openxmlformats.org/officeDocument/2006/relationships/image" Target="../media/image57.png"/></Relationships>
</file>

<file path=ppt/slides/_rels/slide59.xml.rels><?xml version="1.0" encoding="UTF-8" standalone="yes"?>
<Relationships xmlns="http://schemas.openxmlformats.org/package/2006/relationships"><Relationship Id="rId9" Type="http://schemas.openxmlformats.org/officeDocument/2006/relationships/image" Target="../media/image67.png"/><Relationship Id="rId8" Type="http://schemas.openxmlformats.org/officeDocument/2006/relationships/image" Target="../media/image66.png"/><Relationship Id="rId7" Type="http://schemas.openxmlformats.org/officeDocument/2006/relationships/image" Target="../media/image65.png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4" Type="http://schemas.openxmlformats.org/officeDocument/2006/relationships/slideLayout" Target="../slideLayouts/slideLayout2.xml"/><Relationship Id="rId43" Type="http://schemas.openxmlformats.org/officeDocument/2006/relationships/image" Target="../media/image101.png"/><Relationship Id="rId42" Type="http://schemas.openxmlformats.org/officeDocument/2006/relationships/image" Target="../media/image100.png"/><Relationship Id="rId41" Type="http://schemas.openxmlformats.org/officeDocument/2006/relationships/image" Target="../media/image99.png"/><Relationship Id="rId40" Type="http://schemas.openxmlformats.org/officeDocument/2006/relationships/image" Target="../media/image98.png"/><Relationship Id="rId4" Type="http://schemas.openxmlformats.org/officeDocument/2006/relationships/image" Target="../media/image62.png"/><Relationship Id="rId39" Type="http://schemas.openxmlformats.org/officeDocument/2006/relationships/image" Target="../media/image97.png"/><Relationship Id="rId38" Type="http://schemas.openxmlformats.org/officeDocument/2006/relationships/image" Target="../media/image96.png"/><Relationship Id="rId37" Type="http://schemas.openxmlformats.org/officeDocument/2006/relationships/image" Target="../media/image95.png"/><Relationship Id="rId36" Type="http://schemas.openxmlformats.org/officeDocument/2006/relationships/image" Target="../media/image94.png"/><Relationship Id="rId35" Type="http://schemas.openxmlformats.org/officeDocument/2006/relationships/image" Target="../media/image93.png"/><Relationship Id="rId34" Type="http://schemas.openxmlformats.org/officeDocument/2006/relationships/image" Target="../media/image92.png"/><Relationship Id="rId33" Type="http://schemas.openxmlformats.org/officeDocument/2006/relationships/image" Target="../media/image91.png"/><Relationship Id="rId32" Type="http://schemas.openxmlformats.org/officeDocument/2006/relationships/image" Target="../media/image90.png"/><Relationship Id="rId31" Type="http://schemas.openxmlformats.org/officeDocument/2006/relationships/image" Target="../media/image89.png"/><Relationship Id="rId30" Type="http://schemas.openxmlformats.org/officeDocument/2006/relationships/image" Target="../media/image88.png"/><Relationship Id="rId3" Type="http://schemas.openxmlformats.org/officeDocument/2006/relationships/image" Target="../media/image61.png"/><Relationship Id="rId29" Type="http://schemas.openxmlformats.org/officeDocument/2006/relationships/image" Target="../media/image87.png"/><Relationship Id="rId28" Type="http://schemas.openxmlformats.org/officeDocument/2006/relationships/image" Target="../media/image86.png"/><Relationship Id="rId27" Type="http://schemas.openxmlformats.org/officeDocument/2006/relationships/image" Target="../media/image85.png"/><Relationship Id="rId26" Type="http://schemas.openxmlformats.org/officeDocument/2006/relationships/image" Target="../media/image84.png"/><Relationship Id="rId25" Type="http://schemas.openxmlformats.org/officeDocument/2006/relationships/image" Target="../media/image83.png"/><Relationship Id="rId24" Type="http://schemas.openxmlformats.org/officeDocument/2006/relationships/image" Target="../media/image82.png"/><Relationship Id="rId23" Type="http://schemas.openxmlformats.org/officeDocument/2006/relationships/image" Target="../media/image81.png"/><Relationship Id="rId22" Type="http://schemas.openxmlformats.org/officeDocument/2006/relationships/image" Target="../media/image80.png"/><Relationship Id="rId21" Type="http://schemas.openxmlformats.org/officeDocument/2006/relationships/image" Target="../media/image79.png"/><Relationship Id="rId20" Type="http://schemas.openxmlformats.org/officeDocument/2006/relationships/image" Target="../media/image78.png"/><Relationship Id="rId2" Type="http://schemas.openxmlformats.org/officeDocument/2006/relationships/image" Target="../media/image60.png"/><Relationship Id="rId19" Type="http://schemas.openxmlformats.org/officeDocument/2006/relationships/image" Target="../media/image77.png"/><Relationship Id="rId18" Type="http://schemas.openxmlformats.org/officeDocument/2006/relationships/image" Target="../media/image76.png"/><Relationship Id="rId17" Type="http://schemas.openxmlformats.org/officeDocument/2006/relationships/image" Target="../media/image75.png"/><Relationship Id="rId16" Type="http://schemas.openxmlformats.org/officeDocument/2006/relationships/image" Target="../media/image74.png"/><Relationship Id="rId15" Type="http://schemas.openxmlformats.org/officeDocument/2006/relationships/image" Target="../media/image73.png"/><Relationship Id="rId14" Type="http://schemas.openxmlformats.org/officeDocument/2006/relationships/image" Target="../media/image72.png"/><Relationship Id="rId13" Type="http://schemas.openxmlformats.org/officeDocument/2006/relationships/image" Target="../media/image71.png"/><Relationship Id="rId12" Type="http://schemas.openxmlformats.org/officeDocument/2006/relationships/image" Target="../media/image70.png"/><Relationship Id="rId11" Type="http://schemas.openxmlformats.org/officeDocument/2006/relationships/image" Target="../media/image69.png"/><Relationship Id="rId10" Type="http://schemas.openxmlformats.org/officeDocument/2006/relationships/image" Target="../media/image68.png"/><Relationship Id="rId1" Type="http://schemas.openxmlformats.org/officeDocument/2006/relationships/image" Target="../media/image59.png"/></Relationships>
</file>

<file path=ppt/slides/_rels/slide6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05.jpeg"/><Relationship Id="rId3" Type="http://schemas.openxmlformats.org/officeDocument/2006/relationships/image" Target="../media/image104.jpeg"/><Relationship Id="rId2" Type="http://schemas.openxmlformats.org/officeDocument/2006/relationships/image" Target="../media/image103.jpeg"/><Relationship Id="rId1" Type="http://schemas.openxmlformats.org/officeDocument/2006/relationships/image" Target="../media/image102.jpeg"/></Relationships>
</file>

<file path=ppt/slides/_rels/slide6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09.jpeg"/><Relationship Id="rId3" Type="http://schemas.openxmlformats.org/officeDocument/2006/relationships/image" Target="../media/image108.jpeg"/><Relationship Id="rId2" Type="http://schemas.openxmlformats.org/officeDocument/2006/relationships/image" Target="../media/image107.jpeg"/><Relationship Id="rId1" Type="http://schemas.openxmlformats.org/officeDocument/2006/relationships/image" Target="../media/image106.jpe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12.png"/><Relationship Id="rId2" Type="http://schemas.openxmlformats.org/officeDocument/2006/relationships/image" Target="../media/image111.png"/><Relationship Id="rId1" Type="http://schemas.openxmlformats.org/officeDocument/2006/relationships/image" Target="../media/image110.jpeg"/></Relationships>
</file>

<file path=ppt/slides/_rels/slide6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15.jpeg"/><Relationship Id="rId2" Type="http://schemas.openxmlformats.org/officeDocument/2006/relationships/image" Target="../media/image114.jpeg"/><Relationship Id="rId1" Type="http://schemas.openxmlformats.org/officeDocument/2006/relationships/image" Target="../media/image113.jpe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0.jpeg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11.png"/><Relationship Id="rId4" Type="http://schemas.openxmlformats.org/officeDocument/2006/relationships/image" Target="../media/image112.png"/><Relationship Id="rId3" Type="http://schemas.openxmlformats.org/officeDocument/2006/relationships/image" Target="../media/image118.png"/><Relationship Id="rId2" Type="http://schemas.openxmlformats.org/officeDocument/2006/relationships/image" Target="../media/image117.png"/><Relationship Id="rId1" Type="http://schemas.openxmlformats.org/officeDocument/2006/relationships/image" Target="../media/image116.png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9.png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23.png"/><Relationship Id="rId3" Type="http://schemas.openxmlformats.org/officeDocument/2006/relationships/image" Target="../media/image122.jpeg"/><Relationship Id="rId2" Type="http://schemas.openxmlformats.org/officeDocument/2006/relationships/image" Target="../media/image121.jpeg"/><Relationship Id="rId1" Type="http://schemas.openxmlformats.org/officeDocument/2006/relationships/image" Target="../media/image120.jpeg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5.jpeg"/><Relationship Id="rId1" Type="http://schemas.openxmlformats.org/officeDocument/2006/relationships/image" Target="../media/image124.jpeg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999744"/>
            <a:ext cx="646430" cy="262255"/>
          </a:xfrm>
          <a:prstGeom prst="rect">
            <a:avLst/>
          </a:prstGeom>
          <a:solidFill>
            <a:srgbClr val="A40020"/>
          </a:solidFill>
        </p:spPr>
        <p:txBody>
          <a:bodyPr vert="horz" wrap="square" lIns="0" tIns="635" rIns="0" bIns="0" rtlCol="0">
            <a:spAutoFit/>
          </a:bodyPr>
          <a:lstStyle/>
          <a:p>
            <a:pPr marR="64135" algn="r">
              <a:lnSpc>
                <a:spcPct val="100000"/>
              </a:lnSpc>
              <a:spcBef>
                <a:spcPts val="5"/>
              </a:spcBef>
            </a:pPr>
            <a:r>
              <a:rPr sz="1400" b="1" spc="-5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2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66178" y="1346555"/>
            <a:ext cx="5521960" cy="3322320"/>
          </a:xfrm>
          <a:prstGeom prst="rect">
            <a:avLst/>
          </a:prstGeom>
        </p:spPr>
        <p:txBody>
          <a:bodyPr vert="horz" wrap="square" lIns="0" tIns="259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5"/>
              </a:spcBef>
            </a:pPr>
            <a:r>
              <a:rPr sz="3200" b="1" spc="-15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监督学习分为回归和分类</a:t>
            </a:r>
            <a:endParaRPr sz="3200">
              <a:latin typeface="微软雅黑" panose="020B0503020204020204" charset="-122"/>
              <a:cs typeface="微软雅黑" panose="020B0503020204020204" charset="-122"/>
            </a:endParaRPr>
          </a:p>
          <a:p>
            <a:pPr marL="354965" indent="-342265">
              <a:lnSpc>
                <a:spcPct val="100000"/>
              </a:lnSpc>
              <a:spcBef>
                <a:spcPts val="1690"/>
              </a:spcBef>
              <a:buFont typeface="Wingdings" panose="05000000000000000000"/>
              <a:buChar char=""/>
              <a:tabLst>
                <a:tab pos="354965" algn="l"/>
              </a:tabLst>
            </a:pPr>
            <a:r>
              <a:rPr sz="2800" spc="-30" dirty="0">
                <a:latin typeface="微软雅黑" panose="020B0503020204020204" charset="-122"/>
                <a:cs typeface="微软雅黑" panose="020B0503020204020204" charset="-122"/>
              </a:rPr>
              <a:t>回归</a:t>
            </a:r>
            <a:r>
              <a:rPr sz="2800" spc="-25" dirty="0">
                <a:latin typeface="微软雅黑" panose="020B0503020204020204" charset="-122"/>
                <a:cs typeface="微软雅黑" panose="020B0503020204020204" charset="-122"/>
              </a:rPr>
              <a:t>（</a:t>
            </a:r>
            <a:r>
              <a:rPr sz="2800" spc="-25" dirty="0">
                <a:latin typeface="Arial MT"/>
                <a:cs typeface="Arial MT"/>
              </a:rPr>
              <a:t>Regression</a:t>
            </a:r>
            <a:r>
              <a:rPr sz="2800" spc="-30" dirty="0">
                <a:latin typeface="微软雅黑" panose="020B0503020204020204" charset="-122"/>
                <a:cs typeface="微软雅黑" panose="020B0503020204020204" charset="-122"/>
              </a:rPr>
              <a:t>、</a:t>
            </a:r>
            <a:r>
              <a:rPr sz="2800" spc="-10" dirty="0">
                <a:latin typeface="Arial MT"/>
                <a:cs typeface="Arial MT"/>
              </a:rPr>
              <a:t>Prediction</a:t>
            </a:r>
            <a:r>
              <a:rPr sz="2800" spc="-10" dirty="0">
                <a:latin typeface="微软雅黑" panose="020B0503020204020204" charset="-122"/>
                <a:cs typeface="微软雅黑" panose="020B0503020204020204" charset="-122"/>
              </a:rPr>
              <a:t>）</a:t>
            </a:r>
            <a:endParaRPr sz="2800">
              <a:latin typeface="微软雅黑" panose="020B0503020204020204" charset="-122"/>
              <a:cs typeface="微软雅黑" panose="020B0503020204020204" charset="-122"/>
            </a:endParaRPr>
          </a:p>
          <a:p>
            <a:pPr marL="1097915" lvl="1" indent="-342265">
              <a:lnSpc>
                <a:spcPct val="100000"/>
              </a:lnSpc>
              <a:spcBef>
                <a:spcPts val="1680"/>
              </a:spcBef>
              <a:buFont typeface="Wingdings" panose="05000000000000000000"/>
              <a:buChar char=""/>
              <a:tabLst>
                <a:tab pos="1097915" algn="l"/>
              </a:tabLst>
            </a:pPr>
            <a:r>
              <a:rPr sz="2800" spc="-35" dirty="0">
                <a:latin typeface="微软雅黑" panose="020B0503020204020204" charset="-122"/>
                <a:cs typeface="微软雅黑" panose="020B0503020204020204" charset="-122"/>
              </a:rPr>
              <a:t>如何预测上海浦东的房价？</a:t>
            </a:r>
            <a:endParaRPr sz="2800">
              <a:latin typeface="微软雅黑" panose="020B0503020204020204" charset="-122"/>
              <a:cs typeface="微软雅黑" panose="020B0503020204020204" charset="-122"/>
            </a:endParaRPr>
          </a:p>
          <a:p>
            <a:pPr marL="1097915" lvl="1" indent="-342265">
              <a:lnSpc>
                <a:spcPct val="100000"/>
              </a:lnSpc>
              <a:spcBef>
                <a:spcPts val="1680"/>
              </a:spcBef>
              <a:buFont typeface="Wingdings" panose="05000000000000000000"/>
              <a:buChar char=""/>
              <a:tabLst>
                <a:tab pos="1097915" algn="l"/>
              </a:tabLst>
            </a:pPr>
            <a:r>
              <a:rPr sz="2800" spc="-35" dirty="0">
                <a:latin typeface="微软雅黑" panose="020B0503020204020204" charset="-122"/>
                <a:cs typeface="微软雅黑" panose="020B0503020204020204" charset="-122"/>
              </a:rPr>
              <a:t>未来的股票市场走向？</a:t>
            </a:r>
            <a:endParaRPr sz="2800">
              <a:latin typeface="微软雅黑" panose="020B0503020204020204" charset="-122"/>
              <a:cs typeface="微软雅黑" panose="020B0503020204020204" charset="-122"/>
            </a:endParaRPr>
          </a:p>
          <a:p>
            <a:pPr marL="354965" indent="-342265">
              <a:lnSpc>
                <a:spcPct val="100000"/>
              </a:lnSpc>
              <a:spcBef>
                <a:spcPts val="1680"/>
              </a:spcBef>
              <a:buFont typeface="Wingdings" panose="05000000000000000000"/>
              <a:buChar char=""/>
              <a:tabLst>
                <a:tab pos="354965" algn="l"/>
              </a:tabLst>
            </a:pPr>
            <a:r>
              <a:rPr sz="2800" spc="-30" dirty="0">
                <a:latin typeface="微软雅黑" panose="020B0503020204020204" charset="-122"/>
                <a:cs typeface="微软雅黑" panose="020B0503020204020204" charset="-122"/>
              </a:rPr>
              <a:t>分类</a:t>
            </a:r>
            <a:r>
              <a:rPr sz="2800" spc="-10" dirty="0">
                <a:latin typeface="微软雅黑" panose="020B0503020204020204" charset="-122"/>
                <a:cs typeface="微软雅黑" panose="020B0503020204020204" charset="-122"/>
              </a:rPr>
              <a:t>（</a:t>
            </a:r>
            <a:r>
              <a:rPr sz="2800" spc="-10" dirty="0">
                <a:latin typeface="Arial MT"/>
                <a:cs typeface="Arial MT"/>
              </a:rPr>
              <a:t>Classification</a:t>
            </a:r>
            <a:r>
              <a:rPr sz="2800" spc="-10" dirty="0">
                <a:latin typeface="微软雅黑" panose="020B0503020204020204" charset="-122"/>
                <a:cs typeface="微软雅黑" panose="020B0503020204020204" charset="-122"/>
              </a:rPr>
              <a:t>）</a:t>
            </a:r>
            <a:endParaRPr sz="28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09128" y="4643030"/>
            <a:ext cx="8229600" cy="1305560"/>
          </a:xfrm>
          <a:prstGeom prst="rect">
            <a:avLst/>
          </a:prstGeom>
        </p:spPr>
        <p:txBody>
          <a:bodyPr vert="horz" wrap="square" lIns="0" tIns="22606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780"/>
              </a:spcBef>
              <a:buFont typeface="Wingdings" panose="05000000000000000000"/>
              <a:buChar char=""/>
              <a:tabLst>
                <a:tab pos="354965" algn="l"/>
              </a:tabLst>
            </a:pPr>
            <a:r>
              <a:rPr sz="2800" spc="-30" dirty="0">
                <a:latin typeface="微软雅黑" panose="020B0503020204020204" charset="-122"/>
                <a:cs typeface="微软雅黑" panose="020B0503020204020204" charset="-122"/>
              </a:rPr>
              <a:t>身高</a:t>
            </a:r>
            <a:r>
              <a:rPr sz="2800" spc="-25" dirty="0">
                <a:latin typeface="Arial MT"/>
                <a:cs typeface="Arial MT"/>
              </a:rPr>
              <a:t>1.85m</a:t>
            </a:r>
            <a:r>
              <a:rPr sz="2800" spc="-30" dirty="0">
                <a:latin typeface="微软雅黑" panose="020B0503020204020204" charset="-122"/>
                <a:cs typeface="微软雅黑" panose="020B0503020204020204" charset="-122"/>
              </a:rPr>
              <a:t>，体重</a:t>
            </a:r>
            <a:r>
              <a:rPr sz="2800" spc="-25" dirty="0">
                <a:latin typeface="Arial MT"/>
                <a:cs typeface="Arial MT"/>
              </a:rPr>
              <a:t>100kg</a:t>
            </a:r>
            <a:r>
              <a:rPr sz="2800" spc="-30" dirty="0">
                <a:latin typeface="微软雅黑" panose="020B0503020204020204" charset="-122"/>
                <a:cs typeface="微软雅黑" panose="020B0503020204020204" charset="-122"/>
              </a:rPr>
              <a:t>的男人穿什么尺码的</a:t>
            </a:r>
            <a:r>
              <a:rPr sz="2800" spc="-25" dirty="0">
                <a:latin typeface="Arial MT"/>
                <a:cs typeface="Arial MT"/>
              </a:rPr>
              <a:t>T</a:t>
            </a:r>
            <a:r>
              <a:rPr sz="2800" spc="-40" dirty="0">
                <a:latin typeface="微软雅黑" panose="020B0503020204020204" charset="-122"/>
                <a:cs typeface="微软雅黑" panose="020B0503020204020204" charset="-122"/>
              </a:rPr>
              <a:t>恤？</a:t>
            </a:r>
            <a:endParaRPr sz="2800">
              <a:latin typeface="微软雅黑" panose="020B0503020204020204" charset="-122"/>
              <a:cs typeface="微软雅黑" panose="020B0503020204020204" charset="-122"/>
            </a:endParaRPr>
          </a:p>
          <a:p>
            <a:pPr marL="354965" indent="-342265">
              <a:lnSpc>
                <a:spcPct val="100000"/>
              </a:lnSpc>
              <a:spcBef>
                <a:spcPts val="1680"/>
              </a:spcBef>
              <a:buFont typeface="Wingdings" panose="05000000000000000000"/>
              <a:buChar char=""/>
              <a:tabLst>
                <a:tab pos="354965" algn="l"/>
              </a:tabLst>
            </a:pPr>
            <a:r>
              <a:rPr sz="2800" spc="-35" dirty="0">
                <a:latin typeface="微软雅黑" panose="020B0503020204020204" charset="-122"/>
                <a:cs typeface="微软雅黑" panose="020B0503020204020204" charset="-122"/>
              </a:rPr>
              <a:t>根据肿瘤的体积、患者的年龄来判断良性或恶性？</a:t>
            </a:r>
            <a:endParaRPr sz="28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47077" y="257492"/>
            <a:ext cx="23114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回归的概念</a:t>
            </a:r>
            <a:endParaRPr spc="-10" dirty="0"/>
          </a:p>
        </p:txBody>
      </p:sp>
      <p:pic>
        <p:nvPicPr>
          <p:cNvPr id="6" name="object 6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354124" y="2305711"/>
            <a:ext cx="2977922" cy="83417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522957" y="2413203"/>
            <a:ext cx="165163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2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标签连续</a:t>
            </a:r>
            <a:endParaRPr sz="3200">
              <a:latin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93730" y="3929627"/>
            <a:ext cx="4538314" cy="834177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522957" y="4032948"/>
            <a:ext cx="165163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2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标签离散</a:t>
            </a:r>
            <a:endParaRPr sz="3200"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999744"/>
            <a:ext cx="646430" cy="262255"/>
          </a:xfrm>
          <a:prstGeom prst="rect">
            <a:avLst/>
          </a:prstGeom>
          <a:solidFill>
            <a:srgbClr val="A40020"/>
          </a:solidFill>
        </p:spPr>
        <p:txBody>
          <a:bodyPr vert="horz" wrap="square" lIns="0" tIns="635" rIns="0" bIns="0" rtlCol="0">
            <a:spAutoFit/>
          </a:bodyPr>
          <a:lstStyle/>
          <a:p>
            <a:pPr marR="64135" algn="r">
              <a:lnSpc>
                <a:spcPct val="100000"/>
              </a:lnSpc>
              <a:spcBef>
                <a:spcPts val="5"/>
              </a:spcBef>
            </a:pPr>
            <a:r>
              <a:rPr sz="1400" b="1" spc="-5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47077" y="257492"/>
            <a:ext cx="23114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回归的概念</a:t>
            </a:r>
            <a:endParaRPr spc="-10" dirty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139952" y="3432047"/>
            <a:ext cx="2569464" cy="181051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90644" y="3432047"/>
            <a:ext cx="2560320" cy="181051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88340" y="1609724"/>
            <a:ext cx="10790555" cy="49129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2425" marR="155575" indent="-340360" algn="just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3695" algn="l"/>
              </a:tabLst>
            </a:pPr>
            <a:r>
              <a:rPr sz="3200" spc="-15" dirty="0">
                <a:latin typeface="宋体" panose="02010600030101010101" pitchFamily="2" charset="-122"/>
                <a:cs typeface="宋体" panose="02010600030101010101" pitchFamily="2" charset="-122"/>
              </a:rPr>
              <a:t>回归分析是指一种预测性的建模技术，主要是研究自变量</a:t>
            </a:r>
            <a:r>
              <a:rPr sz="3200" spc="-15" dirty="0">
                <a:latin typeface="宋体" panose="02010600030101010101" pitchFamily="2" charset="-122"/>
                <a:cs typeface="宋体" panose="02010600030101010101" pitchFamily="2" charset="-122"/>
              </a:rPr>
              <a:t>	</a:t>
            </a:r>
            <a:r>
              <a:rPr sz="3200" spc="-10" dirty="0">
                <a:latin typeface="宋体" panose="02010600030101010101" pitchFamily="2" charset="-122"/>
                <a:cs typeface="宋体" panose="02010600030101010101" pitchFamily="2" charset="-122"/>
              </a:rPr>
              <a:t>和因变量的关系。通常使用线</a:t>
            </a:r>
            <a:r>
              <a:rPr sz="3200" spc="-10" dirty="0">
                <a:latin typeface="Arial MT"/>
                <a:cs typeface="Arial MT"/>
              </a:rPr>
              <a:t>/</a:t>
            </a:r>
            <a:r>
              <a:rPr sz="3200" spc="-15" dirty="0">
                <a:latin typeface="宋体" panose="02010600030101010101" pitchFamily="2" charset="-122"/>
                <a:cs typeface="宋体" panose="02010600030101010101" pitchFamily="2" charset="-122"/>
              </a:rPr>
              <a:t>曲线来拟合数据点，然后研	究如何使曲线到数据点的距离差异最小。</a:t>
            </a:r>
            <a:endParaRPr sz="32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7771130" marR="268605" algn="just">
              <a:lnSpc>
                <a:spcPct val="100000"/>
              </a:lnSpc>
              <a:spcBef>
                <a:spcPts val="4000"/>
              </a:spcBef>
            </a:pPr>
            <a:r>
              <a:rPr sz="2400" spc="-10" dirty="0">
                <a:solidFill>
                  <a:srgbClr val="0000FF"/>
                </a:solidFill>
                <a:latin typeface="微软雅黑" panose="020B0503020204020204" charset="-122"/>
                <a:cs typeface="微软雅黑" panose="020B0503020204020204" charset="-122"/>
              </a:rPr>
              <a:t>回归问题是机器学习三大基本模型中很重要的一环。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0000"/>
              </a:lnSpc>
              <a:spcBef>
                <a:spcPts val="1255"/>
              </a:spcBef>
            </a:pPr>
            <a:endParaRPr sz="2400">
              <a:latin typeface="微软雅黑" panose="020B0503020204020204" charset="-122"/>
              <a:cs typeface="微软雅黑" panose="020B0503020204020204" charset="-122"/>
            </a:endParaRPr>
          </a:p>
          <a:p>
            <a:pPr marL="411480" marR="5080" indent="-340360" algn="just">
              <a:lnSpc>
                <a:spcPct val="100000"/>
              </a:lnSpc>
              <a:buFont typeface="Arial MT"/>
              <a:buChar char="•"/>
              <a:tabLst>
                <a:tab pos="414020" algn="l"/>
              </a:tabLst>
            </a:pPr>
            <a:r>
              <a:rPr sz="2400" spc="-5" dirty="0">
                <a:latin typeface="微软雅黑" panose="020B0503020204020204" charset="-122"/>
                <a:cs typeface="微软雅黑" panose="020B0503020204020204" charset="-122"/>
              </a:rPr>
              <a:t>回归问题多用来预测一个具体的数值，如预测房价、未来的天气情况等等。例</a:t>
            </a:r>
            <a:r>
              <a:rPr sz="2400" spc="-5" dirty="0">
                <a:latin typeface="微软雅黑" panose="020B0503020204020204" charset="-122"/>
                <a:cs typeface="微软雅黑" panose="020B0503020204020204" charset="-122"/>
              </a:rPr>
              <a:t>	</a:t>
            </a: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如我们根据一个地区的若干年的</a:t>
            </a:r>
            <a:r>
              <a:rPr sz="2400" spc="-20" dirty="0">
                <a:latin typeface="Arial MT"/>
                <a:cs typeface="Arial MT"/>
              </a:rPr>
              <a:t>PM2.5</a:t>
            </a: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数值变化来估计某一天该地区的</a:t>
            </a:r>
            <a:r>
              <a:rPr sz="2400" spc="-10" dirty="0">
                <a:latin typeface="Arial MT"/>
                <a:cs typeface="Arial MT"/>
              </a:rPr>
              <a:t>PM2.5</a:t>
            </a:r>
            <a:r>
              <a:rPr sz="2400" spc="-10" dirty="0">
                <a:latin typeface="Arial MT"/>
                <a:cs typeface="Arial MT"/>
              </a:rPr>
              <a:t>	</a:t>
            </a:r>
            <a:r>
              <a:rPr sz="2400" spc="-5" dirty="0">
                <a:latin typeface="微软雅黑" panose="020B0503020204020204" charset="-122"/>
                <a:cs typeface="微软雅黑" panose="020B0503020204020204" charset="-122"/>
              </a:rPr>
              <a:t>值大小，预测值与当天实际数值大小越接近，回归分析算法的可信度越高。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999744"/>
            <a:ext cx="646430" cy="262255"/>
          </a:xfrm>
          <a:prstGeom prst="rect">
            <a:avLst/>
          </a:prstGeom>
          <a:solidFill>
            <a:srgbClr val="A40020"/>
          </a:solidFill>
        </p:spPr>
        <p:txBody>
          <a:bodyPr vert="horz" wrap="square" lIns="0" tIns="635" rIns="0" bIns="0" rtlCol="0">
            <a:spAutoFit/>
          </a:bodyPr>
          <a:lstStyle/>
          <a:p>
            <a:pPr marR="64135" algn="r">
              <a:lnSpc>
                <a:spcPct val="100000"/>
              </a:lnSpc>
              <a:spcBef>
                <a:spcPts val="5"/>
              </a:spcBef>
            </a:pPr>
            <a:r>
              <a:rPr sz="1400" b="1" spc="-5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4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47077" y="257492"/>
            <a:ext cx="23114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回归的概念</a:t>
            </a:r>
            <a:endParaRPr spc="-10" dirty="0"/>
          </a:p>
        </p:txBody>
      </p:sp>
      <p:grpSp>
        <p:nvGrpSpPr>
          <p:cNvPr id="4" name="object 4"/>
          <p:cNvGrpSpPr/>
          <p:nvPr/>
        </p:nvGrpSpPr>
        <p:grpSpPr>
          <a:xfrm>
            <a:off x="400811" y="1380744"/>
            <a:ext cx="11658600" cy="2734310"/>
            <a:chOff x="400811" y="1380744"/>
            <a:chExt cx="11658600" cy="2734310"/>
          </a:xfrm>
        </p:grpSpPr>
        <p:pic>
          <p:nvPicPr>
            <p:cNvPr id="5" name="object 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400811" y="1380744"/>
              <a:ext cx="6374892" cy="273405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74179" y="1692368"/>
              <a:ext cx="5285232" cy="2260887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0811" y="4271771"/>
            <a:ext cx="6505956" cy="245821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10400" y="4329684"/>
            <a:ext cx="5145864" cy="46481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999744"/>
            <a:ext cx="646430" cy="262255"/>
          </a:xfrm>
          <a:prstGeom prst="rect">
            <a:avLst/>
          </a:prstGeom>
          <a:solidFill>
            <a:srgbClr val="A40020"/>
          </a:solidFill>
        </p:spPr>
        <p:txBody>
          <a:bodyPr vert="horz" wrap="square" lIns="0" tIns="635" rIns="0" bIns="0" rtlCol="0">
            <a:spAutoFit/>
          </a:bodyPr>
          <a:lstStyle/>
          <a:p>
            <a:pPr marR="64135" algn="r">
              <a:lnSpc>
                <a:spcPct val="100000"/>
              </a:lnSpc>
              <a:spcBef>
                <a:spcPts val="5"/>
              </a:spcBef>
            </a:pPr>
            <a:r>
              <a:rPr sz="1400" b="1" spc="-5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5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340" y="1527683"/>
            <a:ext cx="10535285" cy="514477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800" spc="-35" dirty="0">
                <a:latin typeface="宋体" panose="02010600030101010101" pitchFamily="2" charset="-122"/>
                <a:cs typeface="宋体" panose="02010600030101010101" pitchFamily="2" charset="-122"/>
              </a:rPr>
              <a:t>面对一个回归问题，我们可简要描述其求解流程：</a:t>
            </a:r>
            <a:endParaRPr sz="28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527050" marR="45085" indent="-514350">
              <a:lnSpc>
                <a:spcPct val="100000"/>
              </a:lnSpc>
              <a:spcBef>
                <a:spcPts val="655"/>
              </a:spcBef>
            </a:pPr>
            <a:r>
              <a:rPr sz="2800" spc="-35" dirty="0">
                <a:latin typeface="宋体" panose="02010600030101010101" pitchFamily="2" charset="-122"/>
                <a:cs typeface="宋体" panose="02010600030101010101" pitchFamily="2" charset="-122"/>
              </a:rPr>
              <a:t>① 选定训练模型，即我们为程序选定一个求解框架，如线性回归模</a:t>
            </a:r>
            <a:r>
              <a:rPr sz="2800" spc="-30" dirty="0">
                <a:latin typeface="宋体" panose="02010600030101010101" pitchFamily="2" charset="-122"/>
                <a:cs typeface="宋体" panose="02010600030101010101" pitchFamily="2" charset="-122"/>
              </a:rPr>
              <a:t>型</a:t>
            </a:r>
            <a:r>
              <a:rPr sz="2800" dirty="0">
                <a:latin typeface="Arial MT"/>
                <a:cs typeface="Arial MT"/>
              </a:rPr>
              <a:t>(Linear</a:t>
            </a:r>
            <a:r>
              <a:rPr sz="2800" spc="25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Regression)</a:t>
            </a:r>
            <a:r>
              <a:rPr sz="2800" spc="-40" dirty="0">
                <a:latin typeface="宋体" panose="02010600030101010101" pitchFamily="2" charset="-122"/>
                <a:cs typeface="宋体" panose="02010600030101010101" pitchFamily="2" charset="-122"/>
              </a:rPr>
              <a:t>等。</a:t>
            </a:r>
            <a:endParaRPr sz="28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527050" marR="5080" indent="-514350" algn="just">
              <a:lnSpc>
                <a:spcPts val="3340"/>
              </a:lnSpc>
              <a:spcBef>
                <a:spcPts val="800"/>
              </a:spcBef>
            </a:pPr>
            <a:r>
              <a:rPr sz="2800" spc="-125" dirty="0">
                <a:latin typeface="宋体" panose="02010600030101010101" pitchFamily="2" charset="-122"/>
                <a:cs typeface="宋体" panose="02010600030101010101" pitchFamily="2" charset="-122"/>
              </a:rPr>
              <a:t>② 导入训练集 </a:t>
            </a:r>
            <a:r>
              <a:rPr sz="2800" spc="-15" dirty="0">
                <a:latin typeface="Arial MT"/>
                <a:cs typeface="Arial MT"/>
              </a:rPr>
              <a:t>train_set</a:t>
            </a:r>
            <a:r>
              <a:rPr sz="2800" spc="-30" dirty="0">
                <a:latin typeface="宋体" panose="02010600030101010101" pitchFamily="2" charset="-122"/>
                <a:cs typeface="宋体" panose="02010600030101010101" pitchFamily="2" charset="-122"/>
              </a:rPr>
              <a:t>，即给模型提供大量可供学习参考的正确数据。</a:t>
            </a:r>
            <a:endParaRPr sz="28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527050" marR="17780" indent="-514350" algn="just">
              <a:lnSpc>
                <a:spcPct val="100000"/>
              </a:lnSpc>
              <a:spcBef>
                <a:spcPts val="565"/>
              </a:spcBef>
            </a:pPr>
            <a:r>
              <a:rPr sz="2800" spc="-35" dirty="0">
                <a:latin typeface="宋体" panose="02010600030101010101" pitchFamily="2" charset="-122"/>
                <a:cs typeface="宋体" panose="02010600030101010101" pitchFamily="2" charset="-122"/>
              </a:rPr>
              <a:t>③ 选择合适的学习算法，通过训练集中大量输入输出结果让程序不</a:t>
            </a:r>
            <a:r>
              <a:rPr sz="2800" spc="-30" dirty="0">
                <a:latin typeface="宋体" panose="02010600030101010101" pitchFamily="2" charset="-122"/>
                <a:cs typeface="宋体" panose="02010600030101010101" pitchFamily="2" charset="-122"/>
              </a:rPr>
              <a:t>断优化</a:t>
            </a:r>
            <a:r>
              <a:rPr sz="2800" spc="-10" dirty="0">
                <a:solidFill>
                  <a:srgbClr val="0000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输入数据与输出数据间的关联性</a:t>
            </a:r>
            <a:r>
              <a:rPr sz="2800" spc="-35" dirty="0">
                <a:latin typeface="宋体" panose="02010600030101010101" pitchFamily="2" charset="-122"/>
                <a:cs typeface="宋体" panose="02010600030101010101" pitchFamily="2" charset="-122"/>
              </a:rPr>
              <a:t>，从而提升模型的预测准</a:t>
            </a:r>
            <a:r>
              <a:rPr sz="2800" spc="-40" dirty="0">
                <a:latin typeface="宋体" panose="02010600030101010101" pitchFamily="2" charset="-122"/>
                <a:cs typeface="宋体" panose="02010600030101010101" pitchFamily="2" charset="-122"/>
              </a:rPr>
              <a:t>确度。</a:t>
            </a:r>
            <a:endParaRPr sz="28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527050" marR="45085" indent="-514350" algn="just">
              <a:lnSpc>
                <a:spcPct val="100000"/>
              </a:lnSpc>
              <a:spcBef>
                <a:spcPts val="670"/>
              </a:spcBef>
            </a:pPr>
            <a:r>
              <a:rPr sz="2800" spc="-35" dirty="0">
                <a:latin typeface="宋体" panose="02010600030101010101" pitchFamily="2" charset="-122"/>
                <a:cs typeface="宋体" panose="02010600030101010101" pitchFamily="2" charset="-122"/>
              </a:rPr>
              <a:t>④ 在训练结束后即可让模型预测结果，我们为程序提供一组新的输入数据，模型根据训练集的学习成果来预测这组输入对应的输出</a:t>
            </a:r>
            <a:r>
              <a:rPr sz="2800" spc="-40" dirty="0">
                <a:latin typeface="宋体" panose="02010600030101010101" pitchFamily="2" charset="-122"/>
                <a:cs typeface="宋体" panose="02010600030101010101" pitchFamily="2" charset="-122"/>
              </a:rPr>
              <a:t>值。</a:t>
            </a:r>
            <a:endParaRPr sz="28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47077" y="257492"/>
            <a:ext cx="23114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回归的概念</a:t>
            </a:r>
            <a:endParaRPr spc="-1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999744"/>
            <a:ext cx="646430" cy="262255"/>
          </a:xfrm>
          <a:custGeom>
            <a:avLst/>
            <a:gdLst/>
            <a:ahLst/>
            <a:cxnLst/>
            <a:rect l="l" t="t" r="r" b="b"/>
            <a:pathLst>
              <a:path w="646430" h="262255">
                <a:moveTo>
                  <a:pt x="646176" y="262127"/>
                </a:moveTo>
                <a:lnTo>
                  <a:pt x="0" y="262127"/>
                </a:lnTo>
                <a:lnTo>
                  <a:pt x="0" y="0"/>
                </a:lnTo>
                <a:lnTo>
                  <a:pt x="646176" y="0"/>
                </a:lnTo>
                <a:lnTo>
                  <a:pt x="646176" y="262127"/>
                </a:lnTo>
                <a:close/>
              </a:path>
            </a:pathLst>
          </a:custGeom>
          <a:solidFill>
            <a:srgbClr val="A400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02563" y="996696"/>
            <a:ext cx="11489690" cy="262255"/>
          </a:xfrm>
          <a:custGeom>
            <a:avLst/>
            <a:gdLst/>
            <a:ahLst/>
            <a:cxnLst/>
            <a:rect l="l" t="t" r="r" b="b"/>
            <a:pathLst>
              <a:path w="11489690" h="262255">
                <a:moveTo>
                  <a:pt x="11489436" y="262127"/>
                </a:moveTo>
                <a:lnTo>
                  <a:pt x="0" y="262127"/>
                </a:lnTo>
                <a:lnTo>
                  <a:pt x="0" y="0"/>
                </a:lnTo>
                <a:lnTo>
                  <a:pt x="11489436" y="0"/>
                </a:lnTo>
                <a:lnTo>
                  <a:pt x="11489436" y="262127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61962" y="987107"/>
            <a:ext cx="12509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6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47077" y="257492"/>
            <a:ext cx="1854200" cy="566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目录</a:t>
            </a:r>
            <a:endParaRPr spc="-15" dirty="0"/>
          </a:p>
        </p:txBody>
      </p:sp>
      <p:sp>
        <p:nvSpPr>
          <p:cNvPr id="6" name="object 6"/>
          <p:cNvSpPr txBox="1"/>
          <p:nvPr/>
        </p:nvSpPr>
        <p:spPr>
          <a:xfrm>
            <a:off x="4083253" y="2665424"/>
            <a:ext cx="3108325" cy="23869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>
              <a:lnSpc>
                <a:spcPct val="144000"/>
              </a:lnSpc>
              <a:spcBef>
                <a:spcPts val="100"/>
              </a:spcBef>
              <a:tabLst>
                <a:tab pos="791845" algn="l"/>
              </a:tabLst>
            </a:pPr>
            <a:r>
              <a:rPr sz="3600" spc="-365" dirty="0">
                <a:latin typeface="微软雅黑" panose="020B0503020204020204" charset="-122"/>
                <a:cs typeface="微软雅黑" panose="020B0503020204020204" charset="-122"/>
              </a:rPr>
              <a:t>—</a:t>
            </a:r>
            <a:r>
              <a:rPr sz="3600" dirty="0">
                <a:latin typeface="微软雅黑" panose="020B0503020204020204" charset="-122"/>
                <a:cs typeface="微软雅黑" panose="020B0503020204020204" charset="-122"/>
              </a:rPr>
              <a:t>	线性回</a:t>
            </a:r>
            <a:r>
              <a:rPr sz="3600" spc="-50" dirty="0">
                <a:latin typeface="微软雅黑" panose="020B0503020204020204" charset="-122"/>
                <a:cs typeface="微软雅黑" panose="020B0503020204020204" charset="-122"/>
              </a:rPr>
              <a:t>归</a:t>
            </a:r>
            <a:r>
              <a:rPr sz="3600" spc="-50" dirty="0">
                <a:latin typeface="微软雅黑" panose="020B0503020204020204" charset="-122"/>
                <a:cs typeface="微软雅黑" panose="020B0503020204020204" charset="-122"/>
              </a:rPr>
              <a:t> 二</a:t>
            </a:r>
            <a:r>
              <a:rPr sz="3600" dirty="0">
                <a:latin typeface="微软雅黑" panose="020B0503020204020204" charset="-122"/>
                <a:cs typeface="微软雅黑" panose="020B0503020204020204" charset="-122"/>
              </a:rPr>
              <a:t>	多项式回</a:t>
            </a:r>
            <a:r>
              <a:rPr sz="3600" spc="-50" dirty="0">
                <a:latin typeface="微软雅黑" panose="020B0503020204020204" charset="-122"/>
                <a:cs typeface="微软雅黑" panose="020B0503020204020204" charset="-122"/>
              </a:rPr>
              <a:t>归三</a:t>
            </a:r>
            <a:r>
              <a:rPr sz="3600" dirty="0">
                <a:latin typeface="微软雅黑" panose="020B0503020204020204" charset="-122"/>
                <a:cs typeface="微软雅黑" panose="020B0503020204020204" charset="-122"/>
              </a:rPr>
              <a:t>	逻辑回</a:t>
            </a:r>
            <a:r>
              <a:rPr sz="3600" spc="-50" dirty="0">
                <a:latin typeface="微软雅黑" panose="020B0503020204020204" charset="-122"/>
                <a:cs typeface="微软雅黑" panose="020B0503020204020204" charset="-122"/>
              </a:rPr>
              <a:t>归</a:t>
            </a:r>
            <a:endParaRPr sz="3600"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999744"/>
            <a:ext cx="646430" cy="262255"/>
          </a:xfrm>
          <a:custGeom>
            <a:avLst/>
            <a:gdLst/>
            <a:ahLst/>
            <a:cxnLst/>
            <a:rect l="l" t="t" r="r" b="b"/>
            <a:pathLst>
              <a:path w="646430" h="262255">
                <a:moveTo>
                  <a:pt x="646176" y="262127"/>
                </a:moveTo>
                <a:lnTo>
                  <a:pt x="0" y="262127"/>
                </a:lnTo>
                <a:lnTo>
                  <a:pt x="0" y="0"/>
                </a:lnTo>
                <a:lnTo>
                  <a:pt x="646176" y="0"/>
                </a:lnTo>
                <a:lnTo>
                  <a:pt x="646176" y="262127"/>
                </a:lnTo>
                <a:close/>
              </a:path>
            </a:pathLst>
          </a:custGeom>
          <a:solidFill>
            <a:srgbClr val="A400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02563" y="996696"/>
            <a:ext cx="11489690" cy="262255"/>
          </a:xfrm>
          <a:custGeom>
            <a:avLst/>
            <a:gdLst/>
            <a:ahLst/>
            <a:cxnLst/>
            <a:rect l="l" t="t" r="r" b="b"/>
            <a:pathLst>
              <a:path w="11489690" h="262255">
                <a:moveTo>
                  <a:pt x="11489436" y="262127"/>
                </a:moveTo>
                <a:lnTo>
                  <a:pt x="0" y="262127"/>
                </a:lnTo>
                <a:lnTo>
                  <a:pt x="0" y="0"/>
                </a:lnTo>
                <a:lnTo>
                  <a:pt x="11489436" y="0"/>
                </a:lnTo>
                <a:lnTo>
                  <a:pt x="11489436" y="262127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61962" y="987107"/>
            <a:ext cx="12509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7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47077" y="257492"/>
            <a:ext cx="23622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Arial" panose="020B0604020202020204"/>
                <a:cs typeface="Arial" panose="020B0604020202020204"/>
              </a:rPr>
              <a:t>1</a:t>
            </a:r>
            <a:r>
              <a:rPr spc="-5" dirty="0">
                <a:latin typeface="Arial" panose="020B0604020202020204"/>
                <a:cs typeface="Arial" panose="020B0604020202020204"/>
              </a:rPr>
              <a:t>. </a:t>
            </a:r>
            <a:r>
              <a:rPr spc="-15" dirty="0"/>
              <a:t>线性回归</a:t>
            </a:r>
            <a:endParaRPr spc="-15" dirty="0"/>
          </a:p>
        </p:txBody>
      </p:sp>
      <p:sp>
        <p:nvSpPr>
          <p:cNvPr id="6" name="object 6"/>
          <p:cNvSpPr/>
          <p:nvPr/>
        </p:nvSpPr>
        <p:spPr>
          <a:xfrm>
            <a:off x="2691383" y="1892807"/>
            <a:ext cx="6278880" cy="647700"/>
          </a:xfrm>
          <a:custGeom>
            <a:avLst/>
            <a:gdLst/>
            <a:ahLst/>
            <a:cxnLst/>
            <a:rect l="l" t="t" r="r" b="b"/>
            <a:pathLst>
              <a:path w="6278880" h="647700">
                <a:moveTo>
                  <a:pt x="6143244" y="647700"/>
                </a:moveTo>
                <a:lnTo>
                  <a:pt x="0" y="647700"/>
                </a:lnTo>
                <a:lnTo>
                  <a:pt x="0" y="135636"/>
                </a:lnTo>
                <a:lnTo>
                  <a:pt x="6903" y="92589"/>
                </a:lnTo>
                <a:lnTo>
                  <a:pt x="26153" y="55268"/>
                </a:lnTo>
                <a:lnTo>
                  <a:pt x="55515" y="25906"/>
                </a:lnTo>
                <a:lnTo>
                  <a:pt x="92754" y="6738"/>
                </a:lnTo>
                <a:lnTo>
                  <a:pt x="135636" y="0"/>
                </a:lnTo>
                <a:lnTo>
                  <a:pt x="6278880" y="0"/>
                </a:lnTo>
                <a:lnTo>
                  <a:pt x="6278880" y="512064"/>
                </a:lnTo>
                <a:lnTo>
                  <a:pt x="6271928" y="554756"/>
                </a:lnTo>
                <a:lnTo>
                  <a:pt x="6252653" y="591901"/>
                </a:lnTo>
                <a:lnTo>
                  <a:pt x="6223291" y="621263"/>
                </a:lnTo>
                <a:lnTo>
                  <a:pt x="6186076" y="640607"/>
                </a:lnTo>
                <a:lnTo>
                  <a:pt x="6143244" y="647700"/>
                </a:lnTo>
                <a:close/>
              </a:path>
            </a:pathLst>
          </a:custGeom>
          <a:solidFill>
            <a:srgbClr val="1352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989808" y="1603539"/>
            <a:ext cx="4049395" cy="3326130"/>
          </a:xfrm>
          <a:prstGeom prst="rect">
            <a:avLst/>
          </a:prstGeom>
        </p:spPr>
        <p:txBody>
          <a:bodyPr vert="horz" wrap="square" lIns="0" tIns="290830" rIns="0" bIns="0" rtlCol="0">
            <a:spAutoFit/>
          </a:bodyPr>
          <a:lstStyle/>
          <a:p>
            <a:pPr marL="737870" indent="-725170">
              <a:lnSpc>
                <a:spcPct val="100000"/>
              </a:lnSpc>
              <a:spcBef>
                <a:spcPts val="2290"/>
              </a:spcBef>
              <a:buClr>
                <a:srgbClr val="FFFFFF"/>
              </a:buClr>
              <a:buFont typeface="Impact" panose="020B0806030902050204"/>
              <a:buAutoNum type="arabicPeriod"/>
              <a:tabLst>
                <a:tab pos="737870" algn="l"/>
              </a:tabLst>
            </a:pPr>
            <a:r>
              <a:rPr lang="zh-CN" altLang="" sz="3600">
                <a:solidFill>
                  <a:schemeClr val="bg1"/>
                </a:solidFill>
                <a:latin typeface="Impact" panose="020B0806030902050204"/>
                <a:cs typeface="Impact" panose="020B0806030902050204"/>
              </a:rPr>
              <a:t>线性回归</a:t>
            </a:r>
            <a:endParaRPr sz="3600">
              <a:solidFill>
                <a:schemeClr val="bg1"/>
              </a:solidFill>
              <a:latin typeface="Impact" panose="020B0806030902050204"/>
              <a:cs typeface="Impact" panose="020B0806030902050204"/>
            </a:endParaRPr>
          </a:p>
          <a:p>
            <a:pPr marL="808990" indent="-796290">
              <a:lnSpc>
                <a:spcPct val="100000"/>
              </a:lnSpc>
              <a:spcBef>
                <a:spcPts val="2195"/>
              </a:spcBef>
              <a:buFont typeface="Impact" panose="020B0806030902050204"/>
              <a:buAutoNum type="arabicPeriod"/>
              <a:tabLst>
                <a:tab pos="808990" algn="l"/>
              </a:tabLst>
            </a:pPr>
            <a:r>
              <a:rPr sz="3600" spc="-15" dirty="0">
                <a:latin typeface="微软雅黑" panose="020B0503020204020204" charset="-122"/>
                <a:cs typeface="微软雅黑" panose="020B0503020204020204" charset="-122"/>
              </a:rPr>
              <a:t>梯度下降</a:t>
            </a:r>
            <a:endParaRPr sz="3600">
              <a:latin typeface="微软雅黑" panose="020B0503020204020204" charset="-122"/>
              <a:cs typeface="微软雅黑" panose="020B0503020204020204" charset="-122"/>
            </a:endParaRPr>
          </a:p>
          <a:p>
            <a:pPr marL="822325" indent="-809625">
              <a:lnSpc>
                <a:spcPct val="100000"/>
              </a:lnSpc>
              <a:spcBef>
                <a:spcPts val="2095"/>
              </a:spcBef>
              <a:buFont typeface="Impact" panose="020B0806030902050204"/>
              <a:buAutoNum type="arabicPeriod"/>
              <a:tabLst>
                <a:tab pos="822325" algn="l"/>
              </a:tabLst>
            </a:pPr>
            <a:r>
              <a:rPr sz="3600" spc="-20" dirty="0">
                <a:latin typeface="微软雅黑" panose="020B0503020204020204" charset="-122"/>
                <a:cs typeface="微软雅黑" panose="020B0503020204020204" charset="-122"/>
              </a:rPr>
              <a:t>正则化</a:t>
            </a:r>
            <a:endParaRPr sz="3600">
              <a:latin typeface="微软雅黑" panose="020B0503020204020204" charset="-122"/>
              <a:cs typeface="微软雅黑" panose="020B0503020204020204" charset="-122"/>
            </a:endParaRPr>
          </a:p>
          <a:p>
            <a:pPr marL="835660" indent="-796290">
              <a:lnSpc>
                <a:spcPct val="100000"/>
              </a:lnSpc>
              <a:spcBef>
                <a:spcPts val="2100"/>
              </a:spcBef>
              <a:buFont typeface="Impact" panose="020B0806030902050204"/>
              <a:buAutoNum type="arabicPeriod"/>
              <a:tabLst>
                <a:tab pos="835660" algn="l"/>
              </a:tabLst>
            </a:pPr>
            <a:r>
              <a:rPr sz="3600" spc="-10" dirty="0">
                <a:latin typeface="微软雅黑" panose="020B0503020204020204" charset="-122"/>
                <a:cs typeface="微软雅黑" panose="020B0503020204020204" charset="-122"/>
              </a:rPr>
              <a:t>回归的评价指标</a:t>
            </a:r>
            <a:endParaRPr sz="3600"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999744"/>
            <a:ext cx="646430" cy="262255"/>
          </a:xfrm>
          <a:prstGeom prst="rect">
            <a:avLst/>
          </a:prstGeom>
          <a:solidFill>
            <a:srgbClr val="A40020"/>
          </a:solidFill>
        </p:spPr>
        <p:txBody>
          <a:bodyPr vert="horz" wrap="square" lIns="0" tIns="635" rIns="0" bIns="0" rtlCol="0">
            <a:spAutoFit/>
          </a:bodyPr>
          <a:lstStyle/>
          <a:p>
            <a:pPr marR="64135" algn="r">
              <a:lnSpc>
                <a:spcPct val="100000"/>
              </a:lnSpc>
              <a:spcBef>
                <a:spcPts val="5"/>
              </a:spcBef>
            </a:pPr>
            <a:r>
              <a:rPr sz="1400" b="1" spc="-5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8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47077" y="257492"/>
            <a:ext cx="29210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线性回归</a:t>
            </a:r>
            <a:r>
              <a:rPr spc="-20" dirty="0">
                <a:latin typeface="Arial" panose="020B0604020202020204"/>
                <a:cs typeface="Arial" panose="020B0604020202020204"/>
              </a:rPr>
              <a:t>-</a:t>
            </a:r>
            <a:r>
              <a:rPr spc="-25" dirty="0"/>
              <a:t>概念</a:t>
            </a:r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606450" y="1715439"/>
            <a:ext cx="5207000" cy="30435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sz="2800" b="1" spc="-3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线性回归</a:t>
            </a:r>
            <a:r>
              <a:rPr sz="2800" dirty="0">
                <a:latin typeface="微软雅黑" panose="020B0503020204020204" charset="-122"/>
                <a:cs typeface="微软雅黑" panose="020B0503020204020204" charset="-122"/>
              </a:rPr>
              <a:t>（Linear</a:t>
            </a:r>
            <a:r>
              <a:rPr sz="2800" spc="-75" dirty="0"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2800" spc="-10" dirty="0">
                <a:latin typeface="微软雅黑" panose="020B0503020204020204" charset="-122"/>
                <a:cs typeface="微软雅黑" panose="020B0503020204020204" charset="-122"/>
              </a:rPr>
              <a:t>Regression）</a:t>
            </a:r>
            <a:endParaRPr sz="2800">
              <a:latin typeface="微软雅黑" panose="020B0503020204020204" charset="-122"/>
              <a:cs typeface="微软雅黑" panose="020B0503020204020204" charset="-122"/>
            </a:endParaRPr>
          </a:p>
          <a:p>
            <a:pPr marL="12700" marR="5080" algn="just">
              <a:lnSpc>
                <a:spcPct val="150000"/>
              </a:lnSpc>
              <a:spcBef>
                <a:spcPts val="3130"/>
              </a:spcBef>
            </a:pPr>
            <a:r>
              <a:rPr sz="2400" spc="-5" dirty="0">
                <a:latin typeface="微软雅黑" panose="020B0503020204020204" charset="-122"/>
                <a:cs typeface="微软雅黑" panose="020B0503020204020204" charset="-122"/>
              </a:rPr>
              <a:t>是一种通过属性的线性组合来进行预测</a:t>
            </a: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的</a:t>
            </a:r>
            <a:r>
              <a:rPr sz="240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线性模型</a:t>
            </a:r>
            <a:r>
              <a:rPr sz="2400" spc="-5" dirty="0">
                <a:latin typeface="微软雅黑" panose="020B0503020204020204" charset="-122"/>
                <a:cs typeface="微软雅黑" panose="020B0503020204020204" charset="-122"/>
              </a:rPr>
              <a:t>，其目的是找到一条直线或</a:t>
            </a: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者一个平面或者更高维的超平面，</a:t>
            </a:r>
            <a:r>
              <a:rPr sz="2400" spc="-25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使得</a:t>
            </a:r>
            <a:r>
              <a:rPr sz="2400" spc="-5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预测值与真实值之间的误差最小化。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032701" y="1984493"/>
            <a:ext cx="6036820" cy="323432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999744"/>
            <a:ext cx="646430" cy="262255"/>
          </a:xfrm>
          <a:prstGeom prst="rect">
            <a:avLst/>
          </a:prstGeom>
          <a:solidFill>
            <a:srgbClr val="A40020"/>
          </a:solidFill>
        </p:spPr>
        <p:txBody>
          <a:bodyPr vert="horz" wrap="square" lIns="0" tIns="635" rIns="0" bIns="0" rtlCol="0">
            <a:spAutoFit/>
          </a:bodyPr>
          <a:lstStyle/>
          <a:p>
            <a:pPr marR="64135" algn="r">
              <a:lnSpc>
                <a:spcPct val="100000"/>
              </a:lnSpc>
              <a:spcBef>
                <a:spcPts val="5"/>
              </a:spcBef>
            </a:pPr>
            <a:r>
              <a:rPr sz="1400" b="1" spc="-5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9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60654" y="1719072"/>
            <a:ext cx="7399020" cy="4429125"/>
            <a:chOff x="160654" y="1719072"/>
            <a:chExt cx="7399020" cy="4429125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05739" y="1719072"/>
              <a:ext cx="7324725" cy="442874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06374" y="3942714"/>
              <a:ext cx="7353300" cy="19050"/>
            </a:xfrm>
            <a:custGeom>
              <a:avLst/>
              <a:gdLst/>
              <a:ahLst/>
              <a:cxnLst/>
              <a:rect l="l" t="t" r="r" b="b"/>
              <a:pathLst>
                <a:path w="7353300" h="19050">
                  <a:moveTo>
                    <a:pt x="7353300" y="19050"/>
                  </a:moveTo>
                  <a:lnTo>
                    <a:pt x="0" y="19050"/>
                  </a:lnTo>
                  <a:lnTo>
                    <a:pt x="0" y="0"/>
                  </a:lnTo>
                  <a:lnTo>
                    <a:pt x="7353300" y="0"/>
                  </a:lnTo>
                  <a:lnTo>
                    <a:pt x="7353300" y="1905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60654" y="4508500"/>
              <a:ext cx="7369175" cy="903605"/>
            </a:xfrm>
            <a:custGeom>
              <a:avLst/>
              <a:gdLst/>
              <a:ahLst/>
              <a:cxnLst/>
              <a:rect l="l" t="t" r="r" b="b"/>
              <a:pathLst>
                <a:path w="7369175" h="903604">
                  <a:moveTo>
                    <a:pt x="7356475" y="903604"/>
                  </a:moveTo>
                  <a:lnTo>
                    <a:pt x="12700" y="903604"/>
                  </a:lnTo>
                  <a:lnTo>
                    <a:pt x="10223" y="903363"/>
                  </a:lnTo>
                  <a:lnTo>
                    <a:pt x="0" y="890904"/>
                  </a:lnTo>
                  <a:lnTo>
                    <a:pt x="0" y="12700"/>
                  </a:lnTo>
                  <a:lnTo>
                    <a:pt x="12700" y="0"/>
                  </a:lnTo>
                  <a:lnTo>
                    <a:pt x="7356475" y="0"/>
                  </a:lnTo>
                  <a:lnTo>
                    <a:pt x="7369175" y="12700"/>
                  </a:lnTo>
                  <a:lnTo>
                    <a:pt x="25400" y="12700"/>
                  </a:lnTo>
                  <a:lnTo>
                    <a:pt x="12700" y="25400"/>
                  </a:lnTo>
                  <a:lnTo>
                    <a:pt x="25400" y="25400"/>
                  </a:lnTo>
                  <a:lnTo>
                    <a:pt x="25400" y="878204"/>
                  </a:lnTo>
                  <a:lnTo>
                    <a:pt x="12700" y="878204"/>
                  </a:lnTo>
                  <a:lnTo>
                    <a:pt x="25400" y="890904"/>
                  </a:lnTo>
                  <a:lnTo>
                    <a:pt x="7369175" y="890904"/>
                  </a:lnTo>
                  <a:lnTo>
                    <a:pt x="7368933" y="893381"/>
                  </a:lnTo>
                  <a:lnTo>
                    <a:pt x="7358951" y="903363"/>
                  </a:lnTo>
                  <a:lnTo>
                    <a:pt x="7356475" y="903604"/>
                  </a:lnTo>
                  <a:close/>
                </a:path>
                <a:path w="7369175" h="903604">
                  <a:moveTo>
                    <a:pt x="25400" y="25400"/>
                  </a:moveTo>
                  <a:lnTo>
                    <a:pt x="12700" y="25400"/>
                  </a:lnTo>
                  <a:lnTo>
                    <a:pt x="25400" y="12700"/>
                  </a:lnTo>
                  <a:lnTo>
                    <a:pt x="25400" y="25400"/>
                  </a:lnTo>
                  <a:close/>
                </a:path>
                <a:path w="7369175" h="903604">
                  <a:moveTo>
                    <a:pt x="7343775" y="25400"/>
                  </a:moveTo>
                  <a:lnTo>
                    <a:pt x="25400" y="25400"/>
                  </a:lnTo>
                  <a:lnTo>
                    <a:pt x="25400" y="12700"/>
                  </a:lnTo>
                  <a:lnTo>
                    <a:pt x="7343775" y="12700"/>
                  </a:lnTo>
                  <a:lnTo>
                    <a:pt x="7343775" y="25400"/>
                  </a:lnTo>
                  <a:close/>
                </a:path>
                <a:path w="7369175" h="903604">
                  <a:moveTo>
                    <a:pt x="7343775" y="890904"/>
                  </a:moveTo>
                  <a:lnTo>
                    <a:pt x="7343775" y="12700"/>
                  </a:lnTo>
                  <a:lnTo>
                    <a:pt x="7356475" y="25400"/>
                  </a:lnTo>
                  <a:lnTo>
                    <a:pt x="7369175" y="25400"/>
                  </a:lnTo>
                  <a:lnTo>
                    <a:pt x="7369175" y="878204"/>
                  </a:lnTo>
                  <a:lnTo>
                    <a:pt x="7356475" y="878204"/>
                  </a:lnTo>
                  <a:lnTo>
                    <a:pt x="7343775" y="890904"/>
                  </a:lnTo>
                  <a:close/>
                </a:path>
                <a:path w="7369175" h="903604">
                  <a:moveTo>
                    <a:pt x="7369175" y="25400"/>
                  </a:moveTo>
                  <a:lnTo>
                    <a:pt x="7356475" y="25400"/>
                  </a:lnTo>
                  <a:lnTo>
                    <a:pt x="7343775" y="12700"/>
                  </a:lnTo>
                  <a:lnTo>
                    <a:pt x="7369175" y="12700"/>
                  </a:lnTo>
                  <a:lnTo>
                    <a:pt x="7369175" y="25400"/>
                  </a:lnTo>
                  <a:close/>
                </a:path>
                <a:path w="7369175" h="903604">
                  <a:moveTo>
                    <a:pt x="25400" y="890904"/>
                  </a:moveTo>
                  <a:lnTo>
                    <a:pt x="12700" y="878204"/>
                  </a:lnTo>
                  <a:lnTo>
                    <a:pt x="25400" y="878204"/>
                  </a:lnTo>
                  <a:lnTo>
                    <a:pt x="25400" y="890904"/>
                  </a:lnTo>
                  <a:close/>
                </a:path>
                <a:path w="7369175" h="903604">
                  <a:moveTo>
                    <a:pt x="7343775" y="890904"/>
                  </a:moveTo>
                  <a:lnTo>
                    <a:pt x="25400" y="890904"/>
                  </a:lnTo>
                  <a:lnTo>
                    <a:pt x="25400" y="878204"/>
                  </a:lnTo>
                  <a:lnTo>
                    <a:pt x="7343775" y="878204"/>
                  </a:lnTo>
                  <a:lnTo>
                    <a:pt x="7343775" y="890904"/>
                  </a:lnTo>
                  <a:close/>
                </a:path>
                <a:path w="7369175" h="903604">
                  <a:moveTo>
                    <a:pt x="7369175" y="890904"/>
                  </a:moveTo>
                  <a:lnTo>
                    <a:pt x="7343775" y="890904"/>
                  </a:lnTo>
                  <a:lnTo>
                    <a:pt x="7356475" y="878204"/>
                  </a:lnTo>
                  <a:lnTo>
                    <a:pt x="7369175" y="878204"/>
                  </a:lnTo>
                  <a:lnTo>
                    <a:pt x="7369175" y="890904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47077" y="257492"/>
            <a:ext cx="29210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线性回归</a:t>
            </a:r>
            <a:r>
              <a:rPr spc="-20" dirty="0">
                <a:latin typeface="Arial" panose="020B0604020202020204"/>
                <a:cs typeface="Arial" panose="020B0604020202020204"/>
              </a:rPr>
              <a:t>-</a:t>
            </a:r>
            <a:r>
              <a:rPr spc="-25" dirty="0"/>
              <a:t>概念</a:t>
            </a:r>
            <a:endParaRPr spc="-25" dirty="0"/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30668" y="1840992"/>
            <a:ext cx="4460748" cy="196443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30668" y="4334255"/>
            <a:ext cx="4462272" cy="2031492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7708900" y="1406525"/>
            <a:ext cx="1854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微软雅黑" panose="020B0503020204020204" charset="-122"/>
                <a:cs typeface="微软雅黑" panose="020B0503020204020204" charset="-122"/>
              </a:rPr>
              <a:t>一元线性回归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708900" y="3865245"/>
            <a:ext cx="1854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微软雅黑" panose="020B0503020204020204" charset="-122"/>
                <a:cs typeface="微软雅黑" panose="020B0503020204020204" charset="-122"/>
              </a:rPr>
              <a:t>多元线性回归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999744"/>
            <a:ext cx="646430" cy="262255"/>
          </a:xfrm>
          <a:prstGeom prst="rect">
            <a:avLst/>
          </a:prstGeom>
          <a:solidFill>
            <a:srgbClr val="A40020"/>
          </a:solidFill>
        </p:spPr>
        <p:txBody>
          <a:bodyPr vert="horz" wrap="square" lIns="0" tIns="635" rIns="0" bIns="0" rtlCol="0">
            <a:spAutoFit/>
          </a:bodyPr>
          <a:lstStyle/>
          <a:p>
            <a:pPr marL="375285">
              <a:lnSpc>
                <a:spcPct val="100000"/>
              </a:lnSpc>
              <a:spcBef>
                <a:spcPts val="5"/>
              </a:spcBef>
            </a:pPr>
            <a:r>
              <a:rPr sz="1400" b="1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10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47077" y="257492"/>
            <a:ext cx="38354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线性回归</a:t>
            </a:r>
            <a:r>
              <a:rPr spc="-20" dirty="0">
                <a:latin typeface="Arial" panose="020B0604020202020204"/>
                <a:cs typeface="Arial" panose="020B0604020202020204"/>
              </a:rPr>
              <a:t>-</a:t>
            </a:r>
            <a:r>
              <a:rPr spc="-15" dirty="0"/>
              <a:t>符号约定</a:t>
            </a:r>
            <a:endParaRPr spc="-15" dirty="0"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764377" y="1372565"/>
          <a:ext cx="5074920" cy="21564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7750"/>
                <a:gridCol w="984885"/>
                <a:gridCol w="871219"/>
                <a:gridCol w="1130934"/>
                <a:gridCol w="953769"/>
              </a:tblGrid>
              <a:tr h="5556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R="43180" algn="ctr">
                        <a:lnSpc>
                          <a:spcPts val="1905"/>
                        </a:lnSpc>
                      </a:pPr>
                      <a:r>
                        <a:rPr sz="1600" b="1" spc="-30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建筑面积</a:t>
                      </a:r>
                      <a:endParaRPr sz="16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67945" marB="0">
                    <a:lnL w="12700">
                      <a:solidFill>
                        <a:srgbClr val="333399"/>
                      </a:solidFill>
                      <a:prstDash val="solid"/>
                    </a:lnL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R="81280" algn="ctr">
                        <a:lnSpc>
                          <a:spcPts val="1905"/>
                        </a:lnSpc>
                      </a:pPr>
                      <a:r>
                        <a:rPr sz="1600" b="1" spc="-35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总层数</a:t>
                      </a:r>
                      <a:endParaRPr sz="16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67945" marB="0"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50165" algn="ctr">
                        <a:lnSpc>
                          <a:spcPts val="1905"/>
                        </a:lnSpc>
                      </a:pPr>
                      <a:r>
                        <a:rPr sz="1600" b="1" spc="-35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楼层</a:t>
                      </a:r>
                      <a:endParaRPr sz="16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67945" marB="0"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43180" algn="ctr">
                        <a:lnSpc>
                          <a:spcPts val="1905"/>
                        </a:lnSpc>
                      </a:pPr>
                      <a:r>
                        <a:rPr sz="1600" b="1" spc="-30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实用面积</a:t>
                      </a:r>
                      <a:endParaRPr sz="16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67945" marB="0"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R="37465" algn="ctr">
                        <a:lnSpc>
                          <a:spcPts val="1905"/>
                        </a:lnSpc>
                      </a:pPr>
                      <a:r>
                        <a:rPr sz="1600" b="1" spc="-35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cs typeface="微软雅黑" panose="020B0503020204020204" charset="-122"/>
                        </a:rPr>
                        <a:t>房价</a:t>
                      </a:r>
                      <a:endParaRPr sz="1600">
                        <a:latin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67945" marB="0">
                    <a:lnR w="12700">
                      <a:solidFill>
                        <a:srgbClr val="333399"/>
                      </a:solidFill>
                      <a:prstDash val="solid"/>
                    </a:lnR>
                    <a:solidFill>
                      <a:srgbClr val="333399"/>
                    </a:solidFill>
                  </a:tcPr>
                </a:tc>
              </a:tr>
              <a:tr h="315595">
                <a:tc>
                  <a:txBody>
                    <a:bodyPr/>
                    <a:lstStyle/>
                    <a:p>
                      <a:pPr marR="42545" algn="ctr">
                        <a:lnSpc>
                          <a:spcPts val="2020"/>
                        </a:lnSpc>
                      </a:pPr>
                      <a:r>
                        <a:rPr sz="1800" b="1" spc="-10" dirty="0">
                          <a:latin typeface="Arial" panose="020B0604020202020204"/>
                          <a:cs typeface="Arial" panose="020B0604020202020204"/>
                        </a:rPr>
                        <a:t>143.7</a:t>
                      </a:r>
                      <a:endParaRPr sz="18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333399"/>
                      </a:solidFill>
                      <a:prstDash val="solid"/>
                    </a:lnL>
                    <a:lnB w="12700">
                      <a:solidFill>
                        <a:srgbClr val="3333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0645" algn="ctr">
                        <a:lnSpc>
                          <a:spcPts val="2020"/>
                        </a:lnSpc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31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B w="12700">
                      <a:solidFill>
                        <a:srgbClr val="3333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435" algn="ctr">
                        <a:lnSpc>
                          <a:spcPts val="2020"/>
                        </a:lnSpc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10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B w="12700">
                      <a:solidFill>
                        <a:srgbClr val="3333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0" algn="ctr">
                        <a:lnSpc>
                          <a:spcPts val="2020"/>
                        </a:lnSpc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105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B w="12700">
                      <a:solidFill>
                        <a:srgbClr val="3333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5560" algn="ctr">
                        <a:lnSpc>
                          <a:spcPts val="2020"/>
                        </a:lnSpc>
                      </a:pPr>
                      <a:r>
                        <a:rPr sz="1800" b="1" spc="-10" dirty="0">
                          <a:latin typeface="Arial" panose="020B0604020202020204"/>
                          <a:cs typeface="Arial" panose="020B0604020202020204"/>
                        </a:rPr>
                        <a:t>36200</a:t>
                      </a:r>
                      <a:endParaRPr sz="18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R w="12700">
                      <a:solidFill>
                        <a:srgbClr val="333399"/>
                      </a:solidFill>
                      <a:prstDash val="solid"/>
                    </a:lnR>
                    <a:lnB w="12700">
                      <a:solidFill>
                        <a:srgbClr val="333399"/>
                      </a:solidFill>
                      <a:prstDash val="solid"/>
                    </a:lnB>
                  </a:tcPr>
                </a:tc>
              </a:tr>
              <a:tr h="321310">
                <a:tc>
                  <a:txBody>
                    <a:bodyPr/>
                    <a:lstStyle/>
                    <a:p>
                      <a:pPr marR="42545" algn="ctr">
                        <a:lnSpc>
                          <a:spcPts val="2070"/>
                        </a:lnSpc>
                      </a:pPr>
                      <a:r>
                        <a:rPr sz="1800" b="1" spc="-10" dirty="0">
                          <a:latin typeface="Arial" panose="020B0604020202020204"/>
                          <a:cs typeface="Arial" panose="020B0604020202020204"/>
                        </a:rPr>
                        <a:t>162.2</a:t>
                      </a:r>
                      <a:endParaRPr sz="18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333399"/>
                      </a:solidFill>
                      <a:prstDash val="solid"/>
                    </a:lnL>
                    <a:lnT w="12700">
                      <a:solidFill>
                        <a:srgbClr val="333399"/>
                      </a:solidFill>
                      <a:prstDash val="solid"/>
                    </a:lnT>
                    <a:lnB w="12700">
                      <a:solidFill>
                        <a:srgbClr val="3333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0645" algn="ctr">
                        <a:lnSpc>
                          <a:spcPts val="2070"/>
                        </a:lnSpc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31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2700">
                      <a:solidFill>
                        <a:srgbClr val="333399"/>
                      </a:solidFill>
                      <a:prstDash val="solid"/>
                    </a:lnT>
                    <a:lnB w="12700">
                      <a:solidFill>
                        <a:srgbClr val="3333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435" algn="ctr">
                        <a:lnSpc>
                          <a:spcPts val="2070"/>
                        </a:lnSpc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8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2700">
                      <a:solidFill>
                        <a:srgbClr val="333399"/>
                      </a:solidFill>
                      <a:prstDash val="solid"/>
                    </a:lnT>
                    <a:lnB w="12700">
                      <a:solidFill>
                        <a:srgbClr val="3333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085" algn="ctr">
                        <a:lnSpc>
                          <a:spcPts val="2070"/>
                        </a:lnSpc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118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2700">
                      <a:solidFill>
                        <a:srgbClr val="333399"/>
                      </a:solidFill>
                      <a:prstDash val="solid"/>
                    </a:lnT>
                    <a:lnB w="12700">
                      <a:solidFill>
                        <a:srgbClr val="3333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5560" algn="ctr">
                        <a:lnSpc>
                          <a:spcPts val="2070"/>
                        </a:lnSpc>
                      </a:pPr>
                      <a:r>
                        <a:rPr sz="1800" b="1" spc="-10" dirty="0">
                          <a:latin typeface="Arial" panose="020B0604020202020204"/>
                          <a:cs typeface="Arial" panose="020B0604020202020204"/>
                        </a:rPr>
                        <a:t>37000</a:t>
                      </a:r>
                      <a:endParaRPr sz="18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R w="12700">
                      <a:solidFill>
                        <a:srgbClr val="333399"/>
                      </a:solidFill>
                      <a:prstDash val="solid"/>
                    </a:lnR>
                    <a:lnT w="12700">
                      <a:solidFill>
                        <a:srgbClr val="333399"/>
                      </a:solidFill>
                      <a:prstDash val="solid"/>
                    </a:lnT>
                    <a:lnB w="12700">
                      <a:solidFill>
                        <a:srgbClr val="333399"/>
                      </a:solidFill>
                      <a:prstDash val="solid"/>
                    </a:lnB>
                  </a:tcPr>
                </a:tc>
              </a:tr>
              <a:tr h="321310">
                <a:tc>
                  <a:txBody>
                    <a:bodyPr/>
                    <a:lstStyle/>
                    <a:p>
                      <a:pPr marR="42545" algn="ctr">
                        <a:lnSpc>
                          <a:spcPts val="2070"/>
                        </a:lnSpc>
                      </a:pPr>
                      <a:r>
                        <a:rPr sz="1800" b="1" spc="-10" dirty="0">
                          <a:latin typeface="Arial" panose="020B0604020202020204"/>
                          <a:cs typeface="Arial" panose="020B0604020202020204"/>
                        </a:rPr>
                        <a:t>199.5</a:t>
                      </a:r>
                      <a:endParaRPr sz="18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333399"/>
                      </a:solidFill>
                      <a:prstDash val="solid"/>
                    </a:lnL>
                    <a:lnT w="12700">
                      <a:solidFill>
                        <a:srgbClr val="333399"/>
                      </a:solidFill>
                      <a:prstDash val="solid"/>
                    </a:lnT>
                    <a:lnB w="12700">
                      <a:solidFill>
                        <a:srgbClr val="3333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0645" algn="ctr">
                        <a:lnSpc>
                          <a:spcPts val="2070"/>
                        </a:lnSpc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10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2700">
                      <a:solidFill>
                        <a:srgbClr val="333399"/>
                      </a:solidFill>
                      <a:prstDash val="solid"/>
                    </a:lnT>
                    <a:lnB w="12700">
                      <a:solidFill>
                        <a:srgbClr val="3333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435" algn="ctr">
                        <a:lnSpc>
                          <a:spcPts val="2070"/>
                        </a:lnSpc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10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2700">
                      <a:solidFill>
                        <a:srgbClr val="333399"/>
                      </a:solidFill>
                      <a:prstDash val="solid"/>
                    </a:lnT>
                    <a:lnB w="12700">
                      <a:solidFill>
                        <a:srgbClr val="3333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0" algn="ctr">
                        <a:lnSpc>
                          <a:spcPts val="2070"/>
                        </a:lnSpc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170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2700">
                      <a:solidFill>
                        <a:srgbClr val="333399"/>
                      </a:solidFill>
                      <a:prstDash val="solid"/>
                    </a:lnT>
                    <a:lnB w="12700">
                      <a:solidFill>
                        <a:srgbClr val="3333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5560" algn="ctr">
                        <a:lnSpc>
                          <a:spcPts val="2070"/>
                        </a:lnSpc>
                      </a:pPr>
                      <a:r>
                        <a:rPr sz="1800" b="1" spc="-10" dirty="0">
                          <a:latin typeface="Arial" panose="020B0604020202020204"/>
                          <a:cs typeface="Arial" panose="020B0604020202020204"/>
                        </a:rPr>
                        <a:t>42500</a:t>
                      </a:r>
                      <a:endParaRPr sz="18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R w="12700">
                      <a:solidFill>
                        <a:srgbClr val="333399"/>
                      </a:solidFill>
                      <a:prstDash val="solid"/>
                    </a:lnR>
                    <a:lnT w="12700">
                      <a:solidFill>
                        <a:srgbClr val="333399"/>
                      </a:solidFill>
                      <a:prstDash val="solid"/>
                    </a:lnT>
                    <a:lnB w="12700">
                      <a:solidFill>
                        <a:srgbClr val="333399"/>
                      </a:solidFill>
                      <a:prstDash val="solid"/>
                    </a:lnB>
                  </a:tcPr>
                </a:tc>
              </a:tr>
              <a:tr h="321310">
                <a:tc>
                  <a:txBody>
                    <a:bodyPr/>
                    <a:lstStyle/>
                    <a:p>
                      <a:pPr marR="42545" algn="ctr">
                        <a:lnSpc>
                          <a:spcPts val="2070"/>
                        </a:lnSpc>
                      </a:pPr>
                      <a:r>
                        <a:rPr sz="1800" b="1" spc="-20" dirty="0">
                          <a:latin typeface="Arial" panose="020B0604020202020204"/>
                          <a:cs typeface="Arial" panose="020B0604020202020204"/>
                        </a:rPr>
                        <a:t>96.5</a:t>
                      </a:r>
                      <a:endParaRPr sz="18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333399"/>
                      </a:solidFill>
                      <a:prstDash val="solid"/>
                    </a:lnL>
                    <a:lnT w="12700">
                      <a:solidFill>
                        <a:srgbClr val="333399"/>
                      </a:solidFill>
                      <a:prstDash val="solid"/>
                    </a:lnT>
                    <a:lnB w="19050">
                      <a:solidFill>
                        <a:srgbClr val="3333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0645" algn="ctr">
                        <a:lnSpc>
                          <a:spcPts val="2070"/>
                        </a:lnSpc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31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2700">
                      <a:solidFill>
                        <a:srgbClr val="333399"/>
                      </a:solidFill>
                      <a:prstDash val="solid"/>
                    </a:lnT>
                    <a:lnB w="19050">
                      <a:solidFill>
                        <a:srgbClr val="3333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435" algn="ctr">
                        <a:lnSpc>
                          <a:spcPts val="2070"/>
                        </a:lnSpc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13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2700">
                      <a:solidFill>
                        <a:srgbClr val="333399"/>
                      </a:solidFill>
                      <a:prstDash val="solid"/>
                    </a:lnT>
                    <a:lnB w="19050">
                      <a:solidFill>
                        <a:srgbClr val="3333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0" algn="ctr">
                        <a:lnSpc>
                          <a:spcPts val="2070"/>
                        </a:lnSpc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74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2700">
                      <a:solidFill>
                        <a:srgbClr val="333399"/>
                      </a:solidFill>
                      <a:prstDash val="solid"/>
                    </a:lnT>
                    <a:lnB w="19050">
                      <a:solidFill>
                        <a:srgbClr val="3333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5560" algn="ctr">
                        <a:lnSpc>
                          <a:spcPts val="2070"/>
                        </a:lnSpc>
                      </a:pPr>
                      <a:r>
                        <a:rPr sz="1800" b="1" spc="-10" dirty="0">
                          <a:latin typeface="Arial" panose="020B0604020202020204"/>
                          <a:cs typeface="Arial" panose="020B0604020202020204"/>
                        </a:rPr>
                        <a:t>31200</a:t>
                      </a:r>
                      <a:endParaRPr sz="18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R w="12700">
                      <a:solidFill>
                        <a:srgbClr val="333399"/>
                      </a:solidFill>
                      <a:prstDash val="solid"/>
                    </a:lnR>
                    <a:lnT w="12700">
                      <a:solidFill>
                        <a:srgbClr val="333399"/>
                      </a:solidFill>
                      <a:prstDash val="solid"/>
                    </a:lnT>
                    <a:lnB w="19050">
                      <a:solidFill>
                        <a:srgbClr val="333399"/>
                      </a:solidFill>
                      <a:prstDash val="solid"/>
                    </a:lnB>
                  </a:tcPr>
                </a:tc>
              </a:tr>
              <a:tr h="321310">
                <a:tc>
                  <a:txBody>
                    <a:bodyPr/>
                    <a:lstStyle/>
                    <a:p>
                      <a:pPr marR="42545" algn="ctr">
                        <a:lnSpc>
                          <a:spcPts val="2070"/>
                        </a:lnSpc>
                      </a:pPr>
                      <a:r>
                        <a:rPr sz="1800" b="1" spc="-25" dirty="0">
                          <a:latin typeface="Arial" panose="020B0604020202020204"/>
                          <a:cs typeface="Arial" panose="020B0604020202020204"/>
                        </a:rPr>
                        <a:t>……</a:t>
                      </a:r>
                      <a:endParaRPr sz="18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333399"/>
                      </a:solidFill>
                      <a:prstDash val="solid"/>
                    </a:lnL>
                    <a:lnT w="19050">
                      <a:solidFill>
                        <a:srgbClr val="333399"/>
                      </a:solidFill>
                      <a:prstDash val="solid"/>
                    </a:lnT>
                    <a:lnB w="12700">
                      <a:solidFill>
                        <a:srgbClr val="3333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0645" algn="ctr">
                        <a:lnSpc>
                          <a:spcPts val="2070"/>
                        </a:lnSpc>
                      </a:pPr>
                      <a:r>
                        <a:rPr sz="1800" b="1" spc="-25" dirty="0">
                          <a:latin typeface="Arial" panose="020B0604020202020204"/>
                          <a:cs typeface="Arial" panose="020B0604020202020204"/>
                        </a:rPr>
                        <a:t>……</a:t>
                      </a:r>
                      <a:endParaRPr sz="18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T w="19050">
                      <a:solidFill>
                        <a:srgbClr val="333399"/>
                      </a:solidFill>
                      <a:prstDash val="solid"/>
                    </a:lnT>
                    <a:lnB w="12700">
                      <a:solidFill>
                        <a:srgbClr val="3333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435" algn="ctr">
                        <a:lnSpc>
                          <a:spcPts val="2070"/>
                        </a:lnSpc>
                      </a:pPr>
                      <a:r>
                        <a:rPr sz="1800" b="1" spc="-25" dirty="0">
                          <a:latin typeface="Arial" panose="020B0604020202020204"/>
                          <a:cs typeface="Arial" panose="020B0604020202020204"/>
                        </a:rPr>
                        <a:t>……</a:t>
                      </a:r>
                      <a:endParaRPr sz="18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T w="19050">
                      <a:solidFill>
                        <a:srgbClr val="333399"/>
                      </a:solidFill>
                      <a:prstDash val="solid"/>
                    </a:lnT>
                    <a:lnB w="12700">
                      <a:solidFill>
                        <a:srgbClr val="3333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0" algn="ctr">
                        <a:lnSpc>
                          <a:spcPts val="2070"/>
                        </a:lnSpc>
                      </a:pPr>
                      <a:r>
                        <a:rPr sz="1800" b="1" spc="-25" dirty="0">
                          <a:latin typeface="Arial" panose="020B0604020202020204"/>
                          <a:cs typeface="Arial" panose="020B0604020202020204"/>
                        </a:rPr>
                        <a:t>……</a:t>
                      </a:r>
                      <a:endParaRPr sz="18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T w="19050">
                      <a:solidFill>
                        <a:srgbClr val="333399"/>
                      </a:solidFill>
                      <a:prstDash val="solid"/>
                    </a:lnT>
                    <a:lnB w="12700">
                      <a:solidFill>
                        <a:srgbClr val="3333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6830" algn="ctr">
                        <a:lnSpc>
                          <a:spcPts val="2070"/>
                        </a:lnSpc>
                      </a:pPr>
                      <a:r>
                        <a:rPr sz="1800" b="1" spc="-25" dirty="0">
                          <a:latin typeface="Arial" panose="020B0604020202020204"/>
                          <a:cs typeface="Arial" panose="020B0604020202020204"/>
                        </a:rPr>
                        <a:t>……</a:t>
                      </a:r>
                      <a:endParaRPr sz="18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R w="12700">
                      <a:solidFill>
                        <a:srgbClr val="333399"/>
                      </a:solidFill>
                      <a:prstDash val="solid"/>
                    </a:lnR>
                    <a:lnT w="19050">
                      <a:solidFill>
                        <a:srgbClr val="333399"/>
                      </a:solidFill>
                      <a:prstDash val="solid"/>
                    </a:lnT>
                    <a:lnB w="12700">
                      <a:solidFill>
                        <a:srgbClr val="333399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06208" y="5857417"/>
            <a:ext cx="144297" cy="6413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40880" y="1161274"/>
            <a:ext cx="4341495" cy="5036185"/>
          </a:xfrm>
          <a:prstGeom prst="rect">
            <a:avLst/>
          </a:prstGeom>
        </p:spPr>
        <p:txBody>
          <a:bodyPr vert="horz" wrap="square" lIns="0" tIns="1517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95"/>
              </a:spcBef>
            </a:pPr>
            <a:r>
              <a:rPr sz="28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𝑚</a:t>
            </a:r>
            <a:r>
              <a:rPr sz="2800" spc="19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5" dirty="0">
                <a:latin typeface="微软雅黑" panose="020B0503020204020204" charset="-122"/>
                <a:cs typeface="微软雅黑" panose="020B0503020204020204" charset="-122"/>
              </a:rPr>
              <a:t>代表训练集中样本的数量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  <a:p>
            <a:pPr marL="38100">
              <a:lnSpc>
                <a:spcPct val="100000"/>
              </a:lnSpc>
              <a:spcBef>
                <a:spcPts val="1095"/>
              </a:spcBef>
            </a:pPr>
            <a:r>
              <a:rPr sz="28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𝑛</a:t>
            </a:r>
            <a:r>
              <a:rPr sz="2800" spc="7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10" dirty="0">
                <a:latin typeface="微软雅黑" panose="020B0503020204020204" charset="-122"/>
                <a:cs typeface="微软雅黑" panose="020B0503020204020204" charset="-122"/>
              </a:rPr>
              <a:t>代表特征的数量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  <a:p>
            <a:pPr marL="38100">
              <a:lnSpc>
                <a:spcPct val="100000"/>
              </a:lnSpc>
              <a:spcBef>
                <a:spcPts val="1385"/>
              </a:spcBef>
            </a:pPr>
            <a:r>
              <a:rPr sz="28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𝑥</a:t>
            </a:r>
            <a:r>
              <a:rPr sz="2800" spc="22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10" dirty="0">
                <a:latin typeface="微软雅黑" panose="020B0503020204020204" charset="-122"/>
                <a:cs typeface="微软雅黑" panose="020B0503020204020204" charset="-122"/>
              </a:rPr>
              <a:t>代表特征/输入变量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  <a:p>
            <a:pPr marL="38100">
              <a:lnSpc>
                <a:spcPct val="100000"/>
              </a:lnSpc>
              <a:spcBef>
                <a:spcPts val="1240"/>
              </a:spcBef>
            </a:pPr>
            <a:r>
              <a:rPr sz="28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𝑦</a:t>
            </a:r>
            <a:r>
              <a:rPr sz="2800" spc="204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10" dirty="0">
                <a:latin typeface="微软雅黑" panose="020B0503020204020204" charset="-122"/>
                <a:cs typeface="微软雅黑" panose="020B0503020204020204" charset="-122"/>
              </a:rPr>
              <a:t>代表目标变量/输出变量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  <a:p>
            <a:pPr marL="38100">
              <a:lnSpc>
                <a:spcPct val="100000"/>
              </a:lnSpc>
              <a:spcBef>
                <a:spcPts val="1095"/>
              </a:spcBef>
            </a:pPr>
            <a:r>
              <a:rPr sz="4200" baseline="2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(</a:t>
            </a:r>
            <a:r>
              <a:rPr sz="28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𝑥</a:t>
            </a:r>
            <a:r>
              <a:rPr sz="2800" spc="-7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, </a:t>
            </a:r>
            <a:r>
              <a:rPr sz="28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𝑦</a:t>
            </a:r>
            <a:r>
              <a:rPr sz="4200" spc="52" baseline="2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) </a:t>
            </a:r>
            <a:r>
              <a:rPr sz="2400" spc="-10" dirty="0">
                <a:latin typeface="微软雅黑" panose="020B0503020204020204" charset="-122"/>
                <a:cs typeface="微软雅黑" panose="020B0503020204020204" charset="-122"/>
              </a:rPr>
              <a:t>代表训练集中的样本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  <a:p>
            <a:pPr marL="38100">
              <a:lnSpc>
                <a:spcPct val="100000"/>
              </a:lnSpc>
              <a:spcBef>
                <a:spcPts val="1290"/>
              </a:spcBef>
            </a:pPr>
            <a:r>
              <a:rPr sz="28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(𝑥</a:t>
            </a:r>
            <a:r>
              <a:rPr sz="3000" baseline="28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(𝑖)</a:t>
            </a:r>
            <a:r>
              <a:rPr sz="2800" spc="-1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, </a:t>
            </a:r>
            <a:r>
              <a:rPr sz="28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𝑦</a:t>
            </a:r>
            <a:r>
              <a:rPr sz="3000" baseline="28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(𝑖)</a:t>
            </a:r>
            <a:r>
              <a:rPr sz="2800" spc="2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) </a:t>
            </a: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代表第</a:t>
            </a:r>
            <a:r>
              <a:rPr sz="2400" spc="-2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𝑖</a:t>
            </a:r>
            <a:r>
              <a:rPr sz="2400" spc="-10" dirty="0">
                <a:latin typeface="微软雅黑" panose="020B0503020204020204" charset="-122"/>
                <a:cs typeface="微软雅黑" panose="020B0503020204020204" charset="-122"/>
              </a:rPr>
              <a:t>个观察样本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  <a:p>
            <a:pPr marL="38100" marR="30480">
              <a:lnSpc>
                <a:spcPts val="2810"/>
              </a:lnSpc>
              <a:spcBef>
                <a:spcPts val="1885"/>
              </a:spcBef>
            </a:pPr>
            <a:r>
              <a:rPr sz="28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ℎ </a:t>
            </a:r>
            <a:r>
              <a:rPr sz="2400" spc="-5" dirty="0">
                <a:latin typeface="微软雅黑" panose="020B0503020204020204" charset="-122"/>
                <a:cs typeface="微软雅黑" panose="020B0503020204020204" charset="-122"/>
              </a:rPr>
              <a:t>代表学习算法的解决方案或函</a:t>
            </a: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数也称为假设</a:t>
            </a:r>
            <a:r>
              <a:rPr sz="2400" spc="-10" dirty="0">
                <a:latin typeface="微软雅黑" panose="020B0503020204020204" charset="-122"/>
                <a:cs typeface="微软雅黑" panose="020B0503020204020204" charset="-122"/>
              </a:rPr>
              <a:t>（</a:t>
            </a:r>
            <a:r>
              <a:rPr sz="2400" b="1" spc="-10" dirty="0">
                <a:latin typeface="微软雅黑" panose="020B0503020204020204" charset="-122"/>
                <a:cs typeface="微软雅黑" panose="020B0503020204020204" charset="-122"/>
              </a:rPr>
              <a:t>hypothesis</a:t>
            </a:r>
            <a:r>
              <a:rPr sz="2400" spc="-10" dirty="0">
                <a:latin typeface="微软雅黑" panose="020B0503020204020204" charset="-122"/>
                <a:cs typeface="微软雅黑" panose="020B0503020204020204" charset="-122"/>
              </a:rPr>
              <a:t>）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  <a:p>
            <a:pPr marL="38100">
              <a:lnSpc>
                <a:spcPct val="100000"/>
              </a:lnSpc>
              <a:spcBef>
                <a:spcPts val="1230"/>
              </a:spcBef>
            </a:pPr>
            <a:r>
              <a:rPr sz="28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𝑦</a:t>
            </a:r>
            <a:r>
              <a:rPr sz="2800" spc="6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= ℎ(</a:t>
            </a:r>
            <a:r>
              <a:rPr sz="2800" spc="-1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𝑥)</a:t>
            </a:r>
            <a:r>
              <a:rPr sz="2800" spc="-10" dirty="0">
                <a:latin typeface="微软雅黑" panose="020B0503020204020204" charset="-122"/>
                <a:cs typeface="微软雅黑" panose="020B0503020204020204" charset="-122"/>
              </a:rPr>
              <a:t>,</a:t>
            </a:r>
            <a:r>
              <a:rPr sz="2400" spc="-10" dirty="0">
                <a:latin typeface="微软雅黑" panose="020B0503020204020204" charset="-122"/>
                <a:cs typeface="微软雅黑" panose="020B0503020204020204" charset="-122"/>
              </a:rPr>
              <a:t>代表预测的值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64390" y="3764267"/>
            <a:ext cx="54781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𝑥</a:t>
            </a:r>
            <a:r>
              <a:rPr sz="2625" baseline="30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(</a:t>
            </a:r>
            <a:r>
              <a:rPr sz="2625" baseline="29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𝑖</a:t>
            </a:r>
            <a:r>
              <a:rPr sz="2625" baseline="30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)</a:t>
            </a: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是特征矩阵中的第</a:t>
            </a:r>
            <a:r>
              <a:rPr sz="2400" spc="-2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𝑖</a:t>
            </a: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行，是一个</a:t>
            </a:r>
            <a:r>
              <a:rPr sz="2400" b="1" dirty="0">
                <a:latin typeface="微软雅黑" panose="020B0503020204020204" charset="-122"/>
                <a:cs typeface="微软雅黑" panose="020B0503020204020204" charset="-122"/>
              </a:rPr>
              <a:t>向量</a:t>
            </a:r>
            <a:r>
              <a:rPr sz="2400" spc="-50" dirty="0">
                <a:latin typeface="微软雅黑" panose="020B0503020204020204" charset="-122"/>
                <a:cs typeface="微软雅黑" panose="020B0503020204020204" charset="-122"/>
              </a:rPr>
              <a:t>。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89790" y="4340847"/>
            <a:ext cx="1244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5" dirty="0">
                <a:latin typeface="微软雅黑" panose="020B0503020204020204" charset="-122"/>
                <a:cs typeface="微软雅黑" panose="020B0503020204020204" charset="-122"/>
              </a:rPr>
              <a:t>上图的：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59145" y="5739879"/>
            <a:ext cx="130175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30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j</a:t>
            </a:r>
            <a:endParaRPr sz="17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71820" y="5181320"/>
            <a:ext cx="5339080" cy="773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1120" algn="ctr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 panose="02040503050406030204"/>
                <a:cs typeface="Cambria Math" panose="02040503050406030204"/>
              </a:rPr>
              <a:t>118</a:t>
            </a:r>
            <a:endParaRPr sz="2400">
              <a:latin typeface="Cambria Math" panose="02040503050406030204"/>
              <a:cs typeface="Cambria Math" panose="02040503050406030204"/>
            </a:endParaRPr>
          </a:p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24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𝑥</a:t>
            </a:r>
            <a:r>
              <a:rPr sz="2625" baseline="41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(</a:t>
            </a:r>
            <a:r>
              <a:rPr sz="2625" baseline="38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𝑖</a:t>
            </a:r>
            <a:r>
              <a:rPr sz="2625" baseline="41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)</a:t>
            </a: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代表特征矩阵中第 </a:t>
            </a:r>
            <a:r>
              <a:rPr sz="24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𝑖</a:t>
            </a:r>
            <a:r>
              <a:rPr sz="2400" spc="2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行的第 </a:t>
            </a:r>
            <a:r>
              <a:rPr sz="2400" spc="22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j</a:t>
            </a:r>
            <a:r>
              <a:rPr sz="2400" spc="2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20" dirty="0">
                <a:latin typeface="微软雅黑" panose="020B0503020204020204" charset="-122"/>
                <a:cs typeface="微软雅黑" panose="020B0503020204020204" charset="-122"/>
              </a:rPr>
              <a:t>个特征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857438" y="4009745"/>
            <a:ext cx="7632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mbria Math" panose="02040503050406030204"/>
                <a:cs typeface="Cambria Math" panose="02040503050406030204"/>
              </a:rPr>
              <a:t>162.2</a:t>
            </a:r>
            <a:endParaRPr sz="24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180019" y="4778095"/>
            <a:ext cx="1943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 panose="02040503050406030204"/>
                <a:cs typeface="Cambria Math" panose="02040503050406030204"/>
              </a:rPr>
              <a:t>8</a:t>
            </a:r>
            <a:endParaRPr sz="24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070163" y="4374235"/>
            <a:ext cx="7042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536575" algn="l"/>
              </a:tabLst>
            </a:pPr>
            <a:r>
              <a:rPr sz="2400" spc="-25" dirty="0">
                <a:latin typeface="Cambria Math" panose="02040503050406030204"/>
                <a:cs typeface="Cambria Math" panose="02040503050406030204"/>
              </a:rPr>
              <a:t>31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3600" spc="172" baseline="-42000" dirty="0">
                <a:latin typeface="Cambria Math" panose="02040503050406030204"/>
                <a:cs typeface="Cambria Math" panose="02040503050406030204"/>
              </a:rPr>
              <a:t>]</a:t>
            </a:r>
            <a:endParaRPr sz="3600" baseline="-42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805879" y="4494047"/>
            <a:ext cx="42056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2497455" algn="l"/>
              </a:tabLst>
            </a:pPr>
            <a:r>
              <a:rPr sz="3600" baseline="-20000" dirty="0">
                <a:latin typeface="Cambria Math" panose="02040503050406030204"/>
                <a:cs typeface="Cambria Math" panose="02040503050406030204"/>
              </a:rPr>
              <a:t>𝑥</a:t>
            </a:r>
            <a:r>
              <a:rPr sz="2625" baseline="2000" dirty="0">
                <a:latin typeface="Cambria Math" panose="02040503050406030204"/>
                <a:cs typeface="Cambria Math" panose="02040503050406030204"/>
              </a:rPr>
              <a:t>(2)</a:t>
            </a:r>
            <a:r>
              <a:rPr sz="2625" spc="577" baseline="2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3600" baseline="-20000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3600" spc="217" baseline="-20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3600" spc="172" baseline="-20000" dirty="0">
                <a:latin typeface="Cambria Math" panose="02040503050406030204"/>
                <a:cs typeface="Cambria Math" panose="02040503050406030204"/>
              </a:rPr>
              <a:t>[</a:t>
            </a:r>
            <a:r>
              <a:rPr sz="3600" baseline="-200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𝑦</a:t>
            </a:r>
            <a:r>
              <a:rPr sz="2625" baseline="27000" dirty="0">
                <a:latin typeface="Cambria Math" panose="02040503050406030204"/>
                <a:cs typeface="Cambria Math" panose="02040503050406030204"/>
              </a:rPr>
              <a:t>(2)</a:t>
            </a:r>
            <a:r>
              <a:rPr sz="2625" spc="592" baseline="27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10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2400" spc="-10" dirty="0">
                <a:latin typeface="Arial MT"/>
                <a:cs typeface="Arial MT"/>
              </a:rPr>
              <a:t>37000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024675" y="6133871"/>
            <a:ext cx="3395979" cy="462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ts val="2115"/>
              </a:lnSpc>
              <a:spcBef>
                <a:spcPts val="100"/>
              </a:spcBef>
            </a:pP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上图的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𝑥</a:t>
            </a:r>
            <a:r>
              <a:rPr sz="2625" baseline="4100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2625" baseline="3800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2625" spc="270" baseline="41000" dirty="0">
                <a:latin typeface="Cambria Math" panose="02040503050406030204"/>
                <a:cs typeface="Cambria Math" panose="02040503050406030204"/>
              </a:rPr>
              <a:t>) </a:t>
            </a:r>
            <a:r>
              <a:rPr sz="2400" spc="65" dirty="0">
                <a:latin typeface="Cambria Math" panose="02040503050406030204"/>
                <a:cs typeface="Cambria Math" panose="02040503050406030204"/>
              </a:rPr>
              <a:t>=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31</a:t>
            </a:r>
            <a:r>
              <a:rPr sz="2400" spc="-65" dirty="0">
                <a:latin typeface="Cambria Math" panose="02040503050406030204"/>
                <a:cs typeface="Cambria Math" panose="02040503050406030204"/>
              </a:rPr>
              <a:t>,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𝑥</a:t>
            </a:r>
            <a:r>
              <a:rPr sz="2625" baseline="4100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2625" baseline="3800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2625" spc="277" baseline="41000" dirty="0">
                <a:latin typeface="Cambria Math" panose="02040503050406030204"/>
                <a:cs typeface="Cambria Math" panose="02040503050406030204"/>
              </a:rPr>
              <a:t>) </a:t>
            </a:r>
            <a:r>
              <a:rPr sz="2400" spc="65" dirty="0">
                <a:latin typeface="Cambria Math" panose="02040503050406030204"/>
                <a:cs typeface="Cambria Math" panose="02040503050406030204"/>
              </a:rPr>
              <a:t>= </a:t>
            </a:r>
            <a:r>
              <a:rPr sz="2400" spc="-50" dirty="0">
                <a:latin typeface="Cambria Math" panose="02040503050406030204"/>
                <a:cs typeface="Cambria Math" panose="02040503050406030204"/>
              </a:rPr>
              <a:t>8</a:t>
            </a:r>
            <a:endParaRPr sz="2400">
              <a:latin typeface="Cambria Math" panose="02040503050406030204"/>
              <a:cs typeface="Cambria Math" panose="02040503050406030204"/>
            </a:endParaRPr>
          </a:p>
          <a:p>
            <a:pPr marL="1127125">
              <a:lnSpc>
                <a:spcPts val="1335"/>
              </a:lnSpc>
              <a:tabLst>
                <a:tab pos="2458085" algn="l"/>
              </a:tabLst>
            </a:pPr>
            <a:r>
              <a:rPr sz="1750" spc="-5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175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1750" spc="-50" dirty="0">
                <a:latin typeface="Cambria Math" panose="02040503050406030204"/>
                <a:cs typeface="Cambria Math" panose="02040503050406030204"/>
              </a:rPr>
              <a:t>3</a:t>
            </a:r>
            <a:endParaRPr sz="1750">
              <a:latin typeface="Cambria Math" panose="02040503050406030204"/>
              <a:cs typeface="Cambria Math" panose="0204050305040603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999744"/>
            <a:ext cx="646430" cy="262255"/>
          </a:xfrm>
          <a:prstGeom prst="rect">
            <a:avLst/>
          </a:prstGeom>
          <a:solidFill>
            <a:srgbClr val="A40020"/>
          </a:solidFill>
        </p:spPr>
        <p:txBody>
          <a:bodyPr vert="horz" wrap="square" lIns="0" tIns="635" rIns="0" bIns="0" rtlCol="0">
            <a:spAutoFit/>
          </a:bodyPr>
          <a:lstStyle/>
          <a:p>
            <a:pPr marL="385445">
              <a:lnSpc>
                <a:spcPct val="100000"/>
              </a:lnSpc>
              <a:spcBef>
                <a:spcPts val="5"/>
              </a:spcBef>
            </a:pPr>
            <a:r>
              <a:rPr sz="1400" b="1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11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47077" y="257492"/>
            <a:ext cx="38354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线性回归</a:t>
            </a:r>
            <a:r>
              <a:rPr spc="-20" dirty="0">
                <a:latin typeface="Arial" panose="020B0604020202020204"/>
                <a:cs typeface="Arial" panose="020B0604020202020204"/>
              </a:rPr>
              <a:t>-</a:t>
            </a:r>
            <a:r>
              <a:rPr spc="-15" dirty="0"/>
              <a:t>算法流程</a:t>
            </a:r>
            <a:endParaRPr spc="-15" dirty="0"/>
          </a:p>
        </p:txBody>
      </p:sp>
      <p:sp>
        <p:nvSpPr>
          <p:cNvPr id="4" name="object 4"/>
          <p:cNvSpPr txBox="1"/>
          <p:nvPr/>
        </p:nvSpPr>
        <p:spPr>
          <a:xfrm>
            <a:off x="851687" y="2194191"/>
            <a:ext cx="5011420" cy="1880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686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𝑥</a:t>
            </a:r>
            <a:r>
              <a:rPr sz="3600" spc="26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3200" spc="-80" dirty="0">
                <a:latin typeface="微软雅黑" panose="020B0503020204020204" charset="-122"/>
                <a:cs typeface="微软雅黑" panose="020B0503020204020204" charset="-122"/>
              </a:rPr>
              <a:t>和 </a:t>
            </a:r>
            <a:r>
              <a:rPr sz="36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𝑦</a:t>
            </a:r>
            <a:r>
              <a:rPr sz="3600" spc="27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3200" spc="-25" dirty="0">
                <a:latin typeface="微软雅黑" panose="020B0503020204020204" charset="-122"/>
                <a:cs typeface="微软雅黑" panose="020B0503020204020204" charset="-122"/>
              </a:rPr>
              <a:t>的关系</a:t>
            </a:r>
            <a:endParaRPr sz="3200">
              <a:latin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0000"/>
              </a:lnSpc>
              <a:spcBef>
                <a:spcPts val="2600"/>
              </a:spcBef>
            </a:pPr>
            <a:r>
              <a:rPr sz="3200" dirty="0">
                <a:latin typeface="Cambria Math" panose="02040503050406030204"/>
                <a:cs typeface="Cambria Math" panose="02040503050406030204"/>
              </a:rPr>
              <a:t>ℎ</a:t>
            </a:r>
            <a:r>
              <a:rPr sz="4800" baseline="300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3200" dirty="0">
                <a:latin typeface="Cambria Math" panose="02040503050406030204"/>
                <a:cs typeface="Cambria Math" panose="02040503050406030204"/>
              </a:rPr>
              <a:t>𝑥</a:t>
            </a:r>
            <a:r>
              <a:rPr sz="4800" baseline="3000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4800" spc="270" baseline="3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3200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3200" spc="19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3200" dirty="0">
                <a:latin typeface="Cambria Math" panose="02040503050406030204"/>
                <a:cs typeface="Cambria Math" panose="02040503050406030204"/>
              </a:rPr>
              <a:t>𝑤</a:t>
            </a:r>
            <a:r>
              <a:rPr sz="3450" baseline="-16000" dirty="0">
                <a:latin typeface="Cambria Math" panose="02040503050406030204"/>
                <a:cs typeface="Cambria Math" panose="02040503050406030204"/>
              </a:rPr>
              <a:t>0</a:t>
            </a:r>
            <a:r>
              <a:rPr sz="3450" spc="509" baseline="-16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3200" dirty="0">
                <a:latin typeface="Cambria Math" panose="02040503050406030204"/>
                <a:cs typeface="Cambria Math" panose="02040503050406030204"/>
              </a:rPr>
              <a:t>+</a:t>
            </a:r>
            <a:r>
              <a:rPr sz="3200" spc="1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3200" spc="50" dirty="0">
                <a:latin typeface="Cambria Math" panose="02040503050406030204"/>
                <a:cs typeface="Cambria Math" panose="02040503050406030204"/>
              </a:rPr>
              <a:t>𝑤</a:t>
            </a:r>
            <a:r>
              <a:rPr sz="3450" spc="75" baseline="-16000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3200" spc="50" dirty="0">
                <a:latin typeface="Cambria Math" panose="02040503050406030204"/>
                <a:cs typeface="Cambria Math" panose="02040503050406030204"/>
              </a:rPr>
              <a:t>𝑥</a:t>
            </a:r>
            <a:r>
              <a:rPr sz="3450" spc="75" baseline="-16000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3450" spc="517" baseline="-16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3200" dirty="0">
                <a:latin typeface="Cambria Math" panose="02040503050406030204"/>
                <a:cs typeface="Cambria Math" panose="02040503050406030204"/>
              </a:rPr>
              <a:t>+</a:t>
            </a:r>
            <a:r>
              <a:rPr sz="3200" spc="1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3200" spc="50" dirty="0">
                <a:latin typeface="Cambria Math" panose="02040503050406030204"/>
                <a:cs typeface="Cambria Math" panose="02040503050406030204"/>
              </a:rPr>
              <a:t>𝑤</a:t>
            </a:r>
            <a:r>
              <a:rPr sz="3450" spc="75" baseline="-1600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3200" spc="50" dirty="0">
                <a:latin typeface="Cambria Math" panose="02040503050406030204"/>
                <a:cs typeface="Cambria Math" panose="02040503050406030204"/>
              </a:rPr>
              <a:t>𝑥</a:t>
            </a:r>
            <a:r>
              <a:rPr sz="3450" spc="75" baseline="-1600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3450" spc="517" baseline="-16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3200" spc="-50" dirty="0">
                <a:latin typeface="Cambria Math" panose="02040503050406030204"/>
                <a:cs typeface="Cambria Math" panose="02040503050406030204"/>
              </a:rPr>
              <a:t>+</a:t>
            </a:r>
            <a:endParaRPr sz="3200">
              <a:latin typeface="Cambria Math" panose="02040503050406030204"/>
              <a:cs typeface="Cambria Math" panose="02040503050406030204"/>
            </a:endParaRPr>
          </a:p>
          <a:p>
            <a:pPr marR="8255" algn="ctr">
              <a:lnSpc>
                <a:spcPct val="100000"/>
              </a:lnSpc>
            </a:pPr>
            <a:r>
              <a:rPr sz="3200" dirty="0">
                <a:latin typeface="Cambria Math" panose="02040503050406030204"/>
                <a:cs typeface="Cambria Math" panose="02040503050406030204"/>
              </a:rPr>
              <a:t>.</a:t>
            </a:r>
            <a:r>
              <a:rPr sz="3200" spc="-16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3200" dirty="0">
                <a:latin typeface="Cambria Math" panose="02040503050406030204"/>
                <a:cs typeface="Cambria Math" panose="02040503050406030204"/>
              </a:rPr>
              <a:t>.</a:t>
            </a:r>
            <a:r>
              <a:rPr sz="3200" spc="-16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3200" dirty="0">
                <a:latin typeface="Cambria Math" panose="02040503050406030204"/>
                <a:cs typeface="Cambria Math" panose="02040503050406030204"/>
              </a:rPr>
              <a:t>.</a:t>
            </a:r>
            <a:r>
              <a:rPr sz="3200" spc="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3200" dirty="0">
                <a:latin typeface="Cambria Math" panose="02040503050406030204"/>
                <a:cs typeface="Cambria Math" panose="02040503050406030204"/>
              </a:rPr>
              <a:t>+</a:t>
            </a:r>
            <a:r>
              <a:rPr sz="3200" spc="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3200" spc="85" dirty="0">
                <a:latin typeface="Cambria Math" panose="02040503050406030204"/>
                <a:cs typeface="Cambria Math" panose="02040503050406030204"/>
              </a:rPr>
              <a:t>𝑤</a:t>
            </a:r>
            <a:r>
              <a:rPr sz="3450" spc="127" baseline="-16000" dirty="0">
                <a:latin typeface="Cambria Math" panose="02040503050406030204"/>
                <a:cs typeface="Cambria Math" panose="02040503050406030204"/>
              </a:rPr>
              <a:t>𝑛</a:t>
            </a:r>
            <a:r>
              <a:rPr sz="3200" spc="85" dirty="0">
                <a:latin typeface="Cambria Math" panose="02040503050406030204"/>
                <a:cs typeface="Cambria Math" panose="02040503050406030204"/>
              </a:rPr>
              <a:t>𝑥</a:t>
            </a:r>
            <a:r>
              <a:rPr sz="3450" spc="127" baseline="-16000" dirty="0">
                <a:latin typeface="Cambria Math" panose="02040503050406030204"/>
                <a:cs typeface="Cambria Math" panose="02040503050406030204"/>
              </a:rPr>
              <a:t>𝑛</a:t>
            </a:r>
            <a:endParaRPr sz="3450" baseline="-16000">
              <a:latin typeface="Cambria Math" panose="02040503050406030204"/>
              <a:cs typeface="Cambria Math" panose="02040503050406030204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798337" y="3651161"/>
            <a:ext cx="918210" cy="695960"/>
            <a:chOff x="5798337" y="3651161"/>
            <a:chExt cx="918210" cy="695960"/>
          </a:xfrm>
        </p:grpSpPr>
        <p:sp>
          <p:nvSpPr>
            <p:cNvPr id="6" name="object 6"/>
            <p:cNvSpPr/>
            <p:nvPr/>
          </p:nvSpPr>
          <p:spPr>
            <a:xfrm>
              <a:off x="5811012" y="3663696"/>
              <a:ext cx="893444" cy="670560"/>
            </a:xfrm>
            <a:custGeom>
              <a:avLst/>
              <a:gdLst/>
              <a:ahLst/>
              <a:cxnLst/>
              <a:rect l="l" t="t" r="r" b="b"/>
              <a:pathLst>
                <a:path w="893445" h="670560">
                  <a:moveTo>
                    <a:pt x="667512" y="670559"/>
                  </a:moveTo>
                  <a:lnTo>
                    <a:pt x="711708" y="601979"/>
                  </a:lnTo>
                  <a:lnTo>
                    <a:pt x="0" y="135636"/>
                  </a:lnTo>
                  <a:lnTo>
                    <a:pt x="88391" y="0"/>
                  </a:lnTo>
                  <a:lnTo>
                    <a:pt x="801623" y="466343"/>
                  </a:lnTo>
                  <a:lnTo>
                    <a:pt x="845819" y="397763"/>
                  </a:lnTo>
                  <a:lnTo>
                    <a:pt x="893063" y="623315"/>
                  </a:lnTo>
                  <a:lnTo>
                    <a:pt x="667512" y="670559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798337" y="3651161"/>
              <a:ext cx="918210" cy="695960"/>
            </a:xfrm>
            <a:custGeom>
              <a:avLst/>
              <a:gdLst/>
              <a:ahLst/>
              <a:cxnLst/>
              <a:rect l="l" t="t" r="r" b="b"/>
              <a:pathLst>
                <a:path w="918209" h="695960">
                  <a:moveTo>
                    <a:pt x="707205" y="618609"/>
                  </a:moveTo>
                  <a:lnTo>
                    <a:pt x="5740" y="159435"/>
                  </a:lnTo>
                  <a:lnTo>
                    <a:pt x="0" y="148932"/>
                  </a:lnTo>
                  <a:lnTo>
                    <a:pt x="215" y="146456"/>
                  </a:lnTo>
                  <a:lnTo>
                    <a:pt x="91173" y="5740"/>
                  </a:lnTo>
                  <a:lnTo>
                    <a:pt x="99377" y="215"/>
                  </a:lnTo>
                  <a:lnTo>
                    <a:pt x="99681" y="215"/>
                  </a:lnTo>
                  <a:lnTo>
                    <a:pt x="101676" y="0"/>
                  </a:lnTo>
                  <a:lnTo>
                    <a:pt x="104165" y="215"/>
                  </a:lnTo>
                  <a:lnTo>
                    <a:pt x="106552" y="914"/>
                  </a:lnTo>
                  <a:lnTo>
                    <a:pt x="108762" y="2070"/>
                  </a:lnTo>
                  <a:lnTo>
                    <a:pt x="135614" y="19646"/>
                  </a:lnTo>
                  <a:lnTo>
                    <a:pt x="112433" y="19646"/>
                  </a:lnTo>
                  <a:lnTo>
                    <a:pt x="94843" y="23317"/>
                  </a:lnTo>
                  <a:lnTo>
                    <a:pt x="105475" y="30276"/>
                  </a:lnTo>
                  <a:lnTo>
                    <a:pt x="34835" y="138188"/>
                  </a:lnTo>
                  <a:lnTo>
                    <a:pt x="19659" y="138188"/>
                  </a:lnTo>
                  <a:lnTo>
                    <a:pt x="23329" y="155765"/>
                  </a:lnTo>
                  <a:lnTo>
                    <a:pt x="46510" y="155765"/>
                  </a:lnTo>
                  <a:lnTo>
                    <a:pt x="731735" y="604316"/>
                  </a:lnTo>
                  <a:lnTo>
                    <a:pt x="733678" y="605866"/>
                  </a:lnTo>
                  <a:lnTo>
                    <a:pt x="735279" y="607783"/>
                  </a:lnTo>
                  <a:lnTo>
                    <a:pt x="735390" y="607987"/>
                  </a:lnTo>
                  <a:lnTo>
                    <a:pt x="714159" y="607987"/>
                  </a:lnTo>
                  <a:lnTo>
                    <a:pt x="707205" y="618609"/>
                  </a:lnTo>
                  <a:close/>
                </a:path>
                <a:path w="918209" h="695960">
                  <a:moveTo>
                    <a:pt x="105475" y="30276"/>
                  </a:moveTo>
                  <a:lnTo>
                    <a:pt x="94843" y="23317"/>
                  </a:lnTo>
                  <a:lnTo>
                    <a:pt x="112433" y="19646"/>
                  </a:lnTo>
                  <a:lnTo>
                    <a:pt x="105475" y="30276"/>
                  </a:lnTo>
                  <a:close/>
                </a:path>
                <a:path w="918209" h="695960">
                  <a:moveTo>
                    <a:pt x="814006" y="491515"/>
                  </a:moveTo>
                  <a:lnTo>
                    <a:pt x="810947" y="491248"/>
                  </a:lnTo>
                  <a:lnTo>
                    <a:pt x="811358" y="491248"/>
                  </a:lnTo>
                  <a:lnTo>
                    <a:pt x="808829" y="490499"/>
                  </a:lnTo>
                  <a:lnTo>
                    <a:pt x="808958" y="490499"/>
                  </a:lnTo>
                  <a:lnTo>
                    <a:pt x="806932" y="489445"/>
                  </a:lnTo>
                  <a:lnTo>
                    <a:pt x="105475" y="30276"/>
                  </a:lnTo>
                  <a:lnTo>
                    <a:pt x="112433" y="19646"/>
                  </a:lnTo>
                  <a:lnTo>
                    <a:pt x="135614" y="19646"/>
                  </a:lnTo>
                  <a:lnTo>
                    <a:pt x="810216" y="461232"/>
                  </a:lnTo>
                  <a:lnTo>
                    <a:pt x="803262" y="471855"/>
                  </a:lnTo>
                  <a:lnTo>
                    <a:pt x="833620" y="471855"/>
                  </a:lnTo>
                  <a:lnTo>
                    <a:pt x="816482" y="491248"/>
                  </a:lnTo>
                  <a:lnTo>
                    <a:pt x="814006" y="491515"/>
                  </a:lnTo>
                  <a:close/>
                </a:path>
                <a:path w="918209" h="695960">
                  <a:moveTo>
                    <a:pt x="23329" y="155765"/>
                  </a:moveTo>
                  <a:lnTo>
                    <a:pt x="19659" y="138188"/>
                  </a:lnTo>
                  <a:lnTo>
                    <a:pt x="30283" y="145143"/>
                  </a:lnTo>
                  <a:lnTo>
                    <a:pt x="23329" y="155765"/>
                  </a:lnTo>
                  <a:close/>
                </a:path>
                <a:path w="918209" h="695960">
                  <a:moveTo>
                    <a:pt x="30283" y="145143"/>
                  </a:moveTo>
                  <a:lnTo>
                    <a:pt x="19659" y="138188"/>
                  </a:lnTo>
                  <a:lnTo>
                    <a:pt x="34835" y="138188"/>
                  </a:lnTo>
                  <a:lnTo>
                    <a:pt x="30283" y="145143"/>
                  </a:lnTo>
                  <a:close/>
                </a:path>
                <a:path w="918209" h="695960">
                  <a:moveTo>
                    <a:pt x="46510" y="155765"/>
                  </a:moveTo>
                  <a:lnTo>
                    <a:pt x="23329" y="155765"/>
                  </a:lnTo>
                  <a:lnTo>
                    <a:pt x="30283" y="145143"/>
                  </a:lnTo>
                  <a:lnTo>
                    <a:pt x="46510" y="155765"/>
                  </a:lnTo>
                  <a:close/>
                </a:path>
                <a:path w="918209" h="695960">
                  <a:moveTo>
                    <a:pt x="833620" y="471855"/>
                  </a:moveTo>
                  <a:lnTo>
                    <a:pt x="803262" y="471855"/>
                  </a:lnTo>
                  <a:lnTo>
                    <a:pt x="820839" y="468185"/>
                  </a:lnTo>
                  <a:lnTo>
                    <a:pt x="810216" y="461232"/>
                  </a:lnTo>
                  <a:lnTo>
                    <a:pt x="847813" y="403796"/>
                  </a:lnTo>
                  <a:lnTo>
                    <a:pt x="857038" y="398094"/>
                  </a:lnTo>
                  <a:lnTo>
                    <a:pt x="859447" y="398094"/>
                  </a:lnTo>
                  <a:lnTo>
                    <a:pt x="871946" y="413346"/>
                  </a:lnTo>
                  <a:lnTo>
                    <a:pt x="846010" y="413346"/>
                  </a:lnTo>
                  <a:lnTo>
                    <a:pt x="852275" y="443358"/>
                  </a:lnTo>
                  <a:lnTo>
                    <a:pt x="833620" y="471855"/>
                  </a:lnTo>
                  <a:close/>
                </a:path>
                <a:path w="918209" h="695960">
                  <a:moveTo>
                    <a:pt x="852275" y="443358"/>
                  </a:moveTo>
                  <a:lnTo>
                    <a:pt x="846010" y="413346"/>
                  </a:lnTo>
                  <a:lnTo>
                    <a:pt x="869060" y="417715"/>
                  </a:lnTo>
                  <a:lnTo>
                    <a:pt x="852275" y="443358"/>
                  </a:lnTo>
                  <a:close/>
                </a:path>
                <a:path w="918209" h="695960">
                  <a:moveTo>
                    <a:pt x="890431" y="626138"/>
                  </a:moveTo>
                  <a:lnTo>
                    <a:pt x="852275" y="443358"/>
                  </a:lnTo>
                  <a:lnTo>
                    <a:pt x="869060" y="417715"/>
                  </a:lnTo>
                  <a:lnTo>
                    <a:pt x="846010" y="413346"/>
                  </a:lnTo>
                  <a:lnTo>
                    <a:pt x="871946" y="413346"/>
                  </a:lnTo>
                  <a:lnTo>
                    <a:pt x="915825" y="623544"/>
                  </a:lnTo>
                  <a:lnTo>
                    <a:pt x="902855" y="623544"/>
                  </a:lnTo>
                  <a:lnTo>
                    <a:pt x="890431" y="626138"/>
                  </a:lnTo>
                  <a:close/>
                </a:path>
                <a:path w="918209" h="695960">
                  <a:moveTo>
                    <a:pt x="803262" y="471855"/>
                  </a:moveTo>
                  <a:lnTo>
                    <a:pt x="810216" y="461232"/>
                  </a:lnTo>
                  <a:lnTo>
                    <a:pt x="820839" y="468185"/>
                  </a:lnTo>
                  <a:lnTo>
                    <a:pt x="803262" y="471855"/>
                  </a:lnTo>
                  <a:close/>
                </a:path>
                <a:path w="918209" h="695960">
                  <a:moveTo>
                    <a:pt x="717829" y="625563"/>
                  </a:moveTo>
                  <a:lnTo>
                    <a:pt x="707205" y="618609"/>
                  </a:lnTo>
                  <a:lnTo>
                    <a:pt x="714159" y="607987"/>
                  </a:lnTo>
                  <a:lnTo>
                    <a:pt x="717829" y="625563"/>
                  </a:lnTo>
                  <a:close/>
                </a:path>
                <a:path w="918209" h="695960">
                  <a:moveTo>
                    <a:pt x="733003" y="625563"/>
                  </a:moveTo>
                  <a:lnTo>
                    <a:pt x="717829" y="625563"/>
                  </a:lnTo>
                  <a:lnTo>
                    <a:pt x="714159" y="607987"/>
                  </a:lnTo>
                  <a:lnTo>
                    <a:pt x="735390" y="607987"/>
                  </a:lnTo>
                  <a:lnTo>
                    <a:pt x="736473" y="609968"/>
                  </a:lnTo>
                  <a:lnTo>
                    <a:pt x="737209" y="612343"/>
                  </a:lnTo>
                  <a:lnTo>
                    <a:pt x="737476" y="614819"/>
                  </a:lnTo>
                  <a:lnTo>
                    <a:pt x="737260" y="617296"/>
                  </a:lnTo>
                  <a:lnTo>
                    <a:pt x="736561" y="619683"/>
                  </a:lnTo>
                  <a:lnTo>
                    <a:pt x="735406" y="621893"/>
                  </a:lnTo>
                  <a:lnTo>
                    <a:pt x="733003" y="625563"/>
                  </a:lnTo>
                  <a:close/>
                </a:path>
                <a:path w="918209" h="695960">
                  <a:moveTo>
                    <a:pt x="680123" y="695693"/>
                  </a:moveTo>
                  <a:lnTo>
                    <a:pt x="667550" y="683793"/>
                  </a:lnTo>
                  <a:lnTo>
                    <a:pt x="667677" y="681088"/>
                  </a:lnTo>
                  <a:lnTo>
                    <a:pt x="668362" y="678459"/>
                  </a:lnTo>
                  <a:lnTo>
                    <a:pt x="669607" y="676046"/>
                  </a:lnTo>
                  <a:lnTo>
                    <a:pt x="707205" y="618609"/>
                  </a:lnTo>
                  <a:lnTo>
                    <a:pt x="717829" y="625563"/>
                  </a:lnTo>
                  <a:lnTo>
                    <a:pt x="733003" y="625563"/>
                  </a:lnTo>
                  <a:lnTo>
                    <a:pt x="707650" y="664293"/>
                  </a:lnTo>
                  <a:lnTo>
                    <a:pt x="677633" y="670560"/>
                  </a:lnTo>
                  <a:lnTo>
                    <a:pt x="690854" y="689952"/>
                  </a:lnTo>
                  <a:lnTo>
                    <a:pt x="709049" y="689952"/>
                  </a:lnTo>
                  <a:lnTo>
                    <a:pt x="683010" y="695388"/>
                  </a:lnTo>
                  <a:lnTo>
                    <a:pt x="683214" y="695388"/>
                  </a:lnTo>
                  <a:lnTo>
                    <a:pt x="680123" y="695693"/>
                  </a:lnTo>
                  <a:close/>
                </a:path>
                <a:path w="918209" h="695960">
                  <a:moveTo>
                    <a:pt x="893025" y="638568"/>
                  </a:moveTo>
                  <a:lnTo>
                    <a:pt x="890431" y="626138"/>
                  </a:lnTo>
                  <a:lnTo>
                    <a:pt x="902855" y="623544"/>
                  </a:lnTo>
                  <a:lnTo>
                    <a:pt x="893025" y="638568"/>
                  </a:lnTo>
                  <a:close/>
                </a:path>
                <a:path w="918209" h="695960">
                  <a:moveTo>
                    <a:pt x="917863" y="638568"/>
                  </a:moveTo>
                  <a:lnTo>
                    <a:pt x="893025" y="638568"/>
                  </a:lnTo>
                  <a:lnTo>
                    <a:pt x="902855" y="623544"/>
                  </a:lnTo>
                  <a:lnTo>
                    <a:pt x="915825" y="623544"/>
                  </a:lnTo>
                  <a:lnTo>
                    <a:pt x="917879" y="633387"/>
                  </a:lnTo>
                  <a:lnTo>
                    <a:pt x="918159" y="635863"/>
                  </a:lnTo>
                  <a:lnTo>
                    <a:pt x="917930" y="638340"/>
                  </a:lnTo>
                  <a:lnTo>
                    <a:pt x="917863" y="638568"/>
                  </a:lnTo>
                  <a:close/>
                </a:path>
                <a:path w="918209" h="695960">
                  <a:moveTo>
                    <a:pt x="709049" y="689952"/>
                  </a:moveTo>
                  <a:lnTo>
                    <a:pt x="690854" y="689952"/>
                  </a:lnTo>
                  <a:lnTo>
                    <a:pt x="707650" y="664293"/>
                  </a:lnTo>
                  <a:lnTo>
                    <a:pt x="890431" y="626138"/>
                  </a:lnTo>
                  <a:lnTo>
                    <a:pt x="892978" y="638340"/>
                  </a:lnTo>
                  <a:lnTo>
                    <a:pt x="893025" y="638568"/>
                  </a:lnTo>
                  <a:lnTo>
                    <a:pt x="917863" y="638568"/>
                  </a:lnTo>
                  <a:lnTo>
                    <a:pt x="917232" y="640727"/>
                  </a:lnTo>
                  <a:lnTo>
                    <a:pt x="908050" y="648411"/>
                  </a:lnTo>
                  <a:lnTo>
                    <a:pt x="709049" y="689952"/>
                  </a:lnTo>
                  <a:close/>
                </a:path>
                <a:path w="918209" h="695960">
                  <a:moveTo>
                    <a:pt x="690854" y="689952"/>
                  </a:moveTo>
                  <a:lnTo>
                    <a:pt x="677633" y="670560"/>
                  </a:lnTo>
                  <a:lnTo>
                    <a:pt x="707650" y="664293"/>
                  </a:lnTo>
                  <a:lnTo>
                    <a:pt x="690854" y="689952"/>
                  </a:lnTo>
                  <a:close/>
                </a:path>
              </a:pathLst>
            </a:custGeom>
            <a:solidFill>
              <a:srgbClr val="88A3A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438530" y="5256085"/>
            <a:ext cx="5414010" cy="1490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可以设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𝑥</a:t>
            </a:r>
            <a:r>
              <a:rPr sz="2625" baseline="-16000" dirty="0">
                <a:latin typeface="Cambria Math" panose="02040503050406030204"/>
                <a:cs typeface="Cambria Math" panose="02040503050406030204"/>
              </a:rPr>
              <a:t>0</a:t>
            </a:r>
            <a:r>
              <a:rPr sz="2625" spc="585" baseline="-16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75" dirty="0">
                <a:latin typeface="Cambria Math" panose="02040503050406030204"/>
                <a:cs typeface="Cambria Math" panose="02040503050406030204"/>
              </a:rPr>
              <a:t>= </a:t>
            </a:r>
            <a:r>
              <a:rPr sz="2400" spc="-50" dirty="0">
                <a:latin typeface="Cambria Math" panose="02040503050406030204"/>
                <a:cs typeface="Cambria Math" panose="02040503050406030204"/>
              </a:rPr>
              <a:t>1</a:t>
            </a:r>
            <a:endParaRPr sz="2400">
              <a:latin typeface="Cambria Math" panose="02040503050406030204"/>
              <a:cs typeface="Cambria Math" panose="02040503050406030204"/>
            </a:endParaRPr>
          </a:p>
          <a:p>
            <a:pPr marL="38100">
              <a:lnSpc>
                <a:spcPct val="100000"/>
              </a:lnSpc>
            </a:pP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则：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ℎ</a:t>
            </a:r>
            <a:r>
              <a:rPr sz="3600" baseline="200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𝑥</a:t>
            </a:r>
            <a:r>
              <a:rPr sz="3600" spc="135" baseline="2000" dirty="0">
                <a:latin typeface="Cambria Math" panose="02040503050406030204"/>
                <a:cs typeface="Cambria Math" panose="02040503050406030204"/>
              </a:rPr>
              <a:t>) </a:t>
            </a:r>
            <a:r>
              <a:rPr sz="2400" spc="85" dirty="0">
                <a:latin typeface="Cambria Math" panose="02040503050406030204"/>
                <a:cs typeface="Cambria Math" panose="02040503050406030204"/>
              </a:rPr>
              <a:t>=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𝑤</a:t>
            </a:r>
            <a:r>
              <a:rPr sz="2625" baseline="-16000" dirty="0">
                <a:latin typeface="Cambria Math" panose="02040503050406030204"/>
                <a:cs typeface="Cambria Math" panose="02040503050406030204"/>
              </a:rPr>
              <a:t>0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𝑥</a:t>
            </a:r>
            <a:r>
              <a:rPr sz="2625" baseline="-16000" dirty="0">
                <a:latin typeface="Cambria Math" panose="02040503050406030204"/>
                <a:cs typeface="Cambria Math" panose="02040503050406030204"/>
              </a:rPr>
              <a:t>0</a:t>
            </a:r>
            <a:r>
              <a:rPr sz="2625" spc="427" baseline="-16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20" dirty="0">
                <a:latin typeface="Cambria Math" panose="02040503050406030204"/>
                <a:cs typeface="Cambria Math" panose="02040503050406030204"/>
              </a:rPr>
              <a:t>+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𝑤</a:t>
            </a:r>
            <a:r>
              <a:rPr sz="2625" baseline="-16000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𝑥</a:t>
            </a:r>
            <a:r>
              <a:rPr sz="2625" baseline="-16000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2625" spc="427" baseline="-16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20" dirty="0">
                <a:latin typeface="Cambria Math" panose="02040503050406030204"/>
                <a:cs typeface="Cambria Math" panose="02040503050406030204"/>
              </a:rPr>
              <a:t>+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𝑤</a:t>
            </a:r>
            <a:r>
              <a:rPr sz="2625" baseline="-1600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𝑥</a:t>
            </a:r>
            <a:r>
              <a:rPr sz="2625" baseline="-1600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2625" spc="427" baseline="-16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30" dirty="0">
                <a:latin typeface="Cambria Math" panose="02040503050406030204"/>
                <a:cs typeface="Cambria Math" panose="02040503050406030204"/>
              </a:rPr>
              <a:t>+ . . . +</a:t>
            </a:r>
            <a:endParaRPr sz="2400">
              <a:latin typeface="Cambria Math" panose="02040503050406030204"/>
              <a:cs typeface="Cambria Math" panose="02040503050406030204"/>
            </a:endParaRPr>
          </a:p>
          <a:p>
            <a:pPr marL="38100">
              <a:lnSpc>
                <a:spcPct val="100000"/>
              </a:lnSpc>
              <a:spcBef>
                <a:spcPts val="15"/>
              </a:spcBef>
            </a:pPr>
            <a:r>
              <a:rPr sz="2400" spc="80" dirty="0">
                <a:latin typeface="Cambria Math" panose="02040503050406030204"/>
                <a:cs typeface="Cambria Math" panose="02040503050406030204"/>
              </a:rPr>
              <a:t>𝑤</a:t>
            </a:r>
            <a:r>
              <a:rPr sz="2625" spc="120" baseline="-16000" dirty="0">
                <a:latin typeface="Cambria Math" panose="02040503050406030204"/>
                <a:cs typeface="Cambria Math" panose="02040503050406030204"/>
              </a:rPr>
              <a:t>𝑛</a:t>
            </a:r>
            <a:r>
              <a:rPr sz="2400" spc="80" dirty="0">
                <a:latin typeface="Cambria Math" panose="02040503050406030204"/>
                <a:cs typeface="Cambria Math" panose="02040503050406030204"/>
              </a:rPr>
              <a:t>𝑥</a:t>
            </a:r>
            <a:r>
              <a:rPr sz="2625" spc="120" baseline="-16000" dirty="0">
                <a:latin typeface="Cambria Math" panose="02040503050406030204"/>
                <a:cs typeface="Cambria Math" panose="02040503050406030204"/>
              </a:rPr>
              <a:t>𝑛</a:t>
            </a:r>
            <a:r>
              <a:rPr sz="2400" spc="80" dirty="0">
                <a:latin typeface="Cambria Math" panose="02040503050406030204"/>
                <a:cs typeface="Cambria Math" panose="02040503050406030204"/>
              </a:rPr>
              <a:t>=𝑤</a:t>
            </a:r>
            <a:r>
              <a:rPr sz="2625" spc="120" baseline="27000" dirty="0">
                <a:latin typeface="Cambria Math" panose="02040503050406030204"/>
                <a:cs typeface="Cambria Math" panose="02040503050406030204"/>
              </a:rPr>
              <a:t>T</a:t>
            </a:r>
            <a:r>
              <a:rPr sz="2400" spc="80" dirty="0">
                <a:latin typeface="Cambria Math" panose="02040503050406030204"/>
                <a:cs typeface="Cambria Math" panose="02040503050406030204"/>
              </a:rPr>
              <a:t>X</a:t>
            </a:r>
            <a:endParaRPr sz="2400">
              <a:latin typeface="Cambria Math" panose="02040503050406030204"/>
              <a:cs typeface="Cambria Math" panose="02040503050406030204"/>
            </a:endParaRPr>
          </a:p>
          <a:p>
            <a:pPr marL="38100">
              <a:lnSpc>
                <a:spcPct val="100000"/>
              </a:lnSpc>
              <a:spcBef>
                <a:spcPts val="1435"/>
              </a:spcBef>
            </a:pPr>
            <a:r>
              <a:rPr sz="1200" spc="-15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注意：若表达式 </a:t>
            </a:r>
            <a:r>
              <a:rPr sz="12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ℎ</a:t>
            </a:r>
            <a:r>
              <a:rPr sz="1800" baseline="2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(</a:t>
            </a:r>
            <a:r>
              <a:rPr sz="12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𝑥</a:t>
            </a:r>
            <a:r>
              <a:rPr sz="1800" spc="60" baseline="2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) </a:t>
            </a:r>
            <a:r>
              <a:rPr sz="1200" spc="3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= </a:t>
            </a:r>
            <a:r>
              <a:rPr sz="12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𝑤</a:t>
            </a:r>
            <a:r>
              <a:rPr sz="1275" baseline="-16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0</a:t>
            </a:r>
            <a:r>
              <a:rPr sz="1275" spc="195" baseline="-16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1200" spc="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+ </a:t>
            </a:r>
            <a:r>
              <a:rPr sz="12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𝑤</a:t>
            </a:r>
            <a:r>
              <a:rPr sz="1275" baseline="-16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1</a:t>
            </a:r>
            <a:r>
              <a:rPr sz="12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𝑥</a:t>
            </a:r>
            <a:r>
              <a:rPr sz="1275" baseline="-16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1</a:t>
            </a:r>
            <a:r>
              <a:rPr sz="1275" spc="195" baseline="-16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1200" spc="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+ </a:t>
            </a:r>
            <a:r>
              <a:rPr sz="12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𝑤</a:t>
            </a:r>
            <a:r>
              <a:rPr sz="1275" baseline="-16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2</a:t>
            </a:r>
            <a:r>
              <a:rPr sz="12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𝑥</a:t>
            </a:r>
            <a:r>
              <a:rPr sz="1275" baseline="-16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2</a:t>
            </a:r>
            <a:r>
              <a:rPr sz="1275" spc="202" baseline="-16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1200" spc="-2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+ . . . + </a:t>
            </a:r>
            <a:r>
              <a:rPr sz="12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𝑤</a:t>
            </a:r>
            <a:r>
              <a:rPr sz="1275" baseline="-16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𝑛</a:t>
            </a:r>
            <a:r>
              <a:rPr sz="12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𝑥</a:t>
            </a:r>
            <a:r>
              <a:rPr sz="1275" baseline="-16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𝑛</a:t>
            </a:r>
            <a:r>
              <a:rPr sz="1275" spc="195" baseline="-16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1200" spc="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+ </a:t>
            </a:r>
            <a:r>
              <a:rPr sz="12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𝑏</a:t>
            </a:r>
            <a:r>
              <a:rPr sz="1200" spc="15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， 则</a:t>
            </a:r>
            <a:r>
              <a:rPr sz="1200" spc="-2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𝑏</a:t>
            </a:r>
            <a:r>
              <a:rPr sz="120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可以融入到</a:t>
            </a:r>
            <a:r>
              <a:rPr sz="1200" spc="-2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𝑤</a:t>
            </a:r>
            <a:r>
              <a:rPr sz="1275" spc="-37" baseline="-16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0</a:t>
            </a:r>
            <a:endParaRPr sz="1275" baseline="-16000">
              <a:latin typeface="Cambria Math" panose="02040503050406030204"/>
              <a:cs typeface="Cambria Math" panose="02040503050406030204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697446" y="4527461"/>
            <a:ext cx="2568575" cy="748030"/>
            <a:chOff x="6697446" y="4527461"/>
            <a:chExt cx="2568575" cy="748030"/>
          </a:xfrm>
        </p:grpSpPr>
        <p:sp>
          <p:nvSpPr>
            <p:cNvPr id="10" name="object 10"/>
            <p:cNvSpPr/>
            <p:nvPr/>
          </p:nvSpPr>
          <p:spPr>
            <a:xfrm>
              <a:off x="6710171" y="4539996"/>
              <a:ext cx="2543810" cy="723900"/>
            </a:xfrm>
            <a:custGeom>
              <a:avLst/>
              <a:gdLst/>
              <a:ahLst/>
              <a:cxnLst/>
              <a:rect l="l" t="t" r="r" b="b"/>
              <a:pathLst>
                <a:path w="2543809" h="723900">
                  <a:moveTo>
                    <a:pt x="2423159" y="723900"/>
                  </a:moveTo>
                  <a:lnTo>
                    <a:pt x="120396" y="723900"/>
                  </a:lnTo>
                  <a:lnTo>
                    <a:pt x="73548" y="714199"/>
                  </a:lnTo>
                  <a:lnTo>
                    <a:pt x="35271" y="688305"/>
                  </a:lnTo>
                  <a:lnTo>
                    <a:pt x="9457" y="650108"/>
                  </a:lnTo>
                  <a:lnTo>
                    <a:pt x="0" y="603503"/>
                  </a:lnTo>
                  <a:lnTo>
                    <a:pt x="0" y="120395"/>
                  </a:lnTo>
                  <a:lnTo>
                    <a:pt x="9457" y="73648"/>
                  </a:lnTo>
                  <a:lnTo>
                    <a:pt x="35271" y="35404"/>
                  </a:lnTo>
                  <a:lnTo>
                    <a:pt x="73548" y="9557"/>
                  </a:lnTo>
                  <a:lnTo>
                    <a:pt x="120396" y="0"/>
                  </a:lnTo>
                  <a:lnTo>
                    <a:pt x="2423159" y="0"/>
                  </a:lnTo>
                  <a:lnTo>
                    <a:pt x="2469686" y="9557"/>
                  </a:lnTo>
                  <a:lnTo>
                    <a:pt x="2507856" y="35404"/>
                  </a:lnTo>
                  <a:lnTo>
                    <a:pt x="2533777" y="73648"/>
                  </a:lnTo>
                  <a:lnTo>
                    <a:pt x="2543555" y="120395"/>
                  </a:lnTo>
                  <a:lnTo>
                    <a:pt x="2543555" y="603503"/>
                  </a:lnTo>
                  <a:lnTo>
                    <a:pt x="2533777" y="650108"/>
                  </a:lnTo>
                  <a:lnTo>
                    <a:pt x="2507856" y="688305"/>
                  </a:lnTo>
                  <a:lnTo>
                    <a:pt x="2469686" y="714199"/>
                  </a:lnTo>
                  <a:lnTo>
                    <a:pt x="2423159" y="723900"/>
                  </a:lnTo>
                  <a:close/>
                </a:path>
              </a:pathLst>
            </a:custGeom>
            <a:solidFill>
              <a:srgbClr val="2C2C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6697446" y="4527461"/>
              <a:ext cx="2568575" cy="748030"/>
            </a:xfrm>
            <a:custGeom>
              <a:avLst/>
              <a:gdLst/>
              <a:ahLst/>
              <a:cxnLst/>
              <a:rect l="l" t="t" r="r" b="b"/>
              <a:pathLst>
                <a:path w="2568575" h="748029">
                  <a:moveTo>
                    <a:pt x="2461704" y="2539"/>
                  </a:moveTo>
                  <a:lnTo>
                    <a:pt x="106730" y="2539"/>
                  </a:lnTo>
                  <a:lnTo>
                    <a:pt x="112661" y="1270"/>
                  </a:lnTo>
                  <a:lnTo>
                    <a:pt x="119329" y="0"/>
                  </a:lnTo>
                  <a:lnTo>
                    <a:pt x="2449106" y="0"/>
                  </a:lnTo>
                  <a:lnTo>
                    <a:pt x="2455138" y="1270"/>
                  </a:lnTo>
                  <a:lnTo>
                    <a:pt x="2455760" y="1270"/>
                  </a:lnTo>
                  <a:lnTo>
                    <a:pt x="2461704" y="2539"/>
                  </a:lnTo>
                  <a:close/>
                </a:path>
                <a:path w="2568575" h="748029">
                  <a:moveTo>
                    <a:pt x="2486761" y="10160"/>
                  </a:moveTo>
                  <a:lnTo>
                    <a:pt x="81673" y="10160"/>
                  </a:lnTo>
                  <a:lnTo>
                    <a:pt x="87731" y="7620"/>
                  </a:lnTo>
                  <a:lnTo>
                    <a:pt x="93332" y="5079"/>
                  </a:lnTo>
                  <a:lnTo>
                    <a:pt x="93941" y="5079"/>
                  </a:lnTo>
                  <a:lnTo>
                    <a:pt x="99656" y="3810"/>
                  </a:lnTo>
                  <a:lnTo>
                    <a:pt x="106108" y="2539"/>
                  </a:lnTo>
                  <a:lnTo>
                    <a:pt x="2462326" y="2539"/>
                  </a:lnTo>
                  <a:lnTo>
                    <a:pt x="2468778" y="3810"/>
                  </a:lnTo>
                  <a:lnTo>
                    <a:pt x="2474493" y="5079"/>
                  </a:lnTo>
                  <a:lnTo>
                    <a:pt x="2480691" y="7620"/>
                  </a:lnTo>
                  <a:lnTo>
                    <a:pt x="2481287" y="7620"/>
                  </a:lnTo>
                  <a:lnTo>
                    <a:pt x="2486761" y="10160"/>
                  </a:lnTo>
                  <a:close/>
                </a:path>
                <a:path w="2568575" h="748029">
                  <a:moveTo>
                    <a:pt x="38557" y="666750"/>
                  </a:moveTo>
                  <a:lnTo>
                    <a:pt x="10363" y="666750"/>
                  </a:lnTo>
                  <a:lnTo>
                    <a:pt x="8204" y="660400"/>
                  </a:lnTo>
                  <a:lnTo>
                    <a:pt x="5905" y="654050"/>
                  </a:lnTo>
                  <a:lnTo>
                    <a:pt x="4114" y="647700"/>
                  </a:lnTo>
                  <a:lnTo>
                    <a:pt x="2768" y="642620"/>
                  </a:lnTo>
                  <a:lnTo>
                    <a:pt x="2641" y="641350"/>
                  </a:lnTo>
                  <a:lnTo>
                    <a:pt x="1485" y="635000"/>
                  </a:lnTo>
                  <a:lnTo>
                    <a:pt x="723" y="628650"/>
                  </a:lnTo>
                  <a:lnTo>
                    <a:pt x="190" y="622300"/>
                  </a:lnTo>
                  <a:lnTo>
                    <a:pt x="124" y="619654"/>
                  </a:lnTo>
                  <a:lnTo>
                    <a:pt x="0" y="132079"/>
                  </a:lnTo>
                  <a:lnTo>
                    <a:pt x="132" y="127000"/>
                  </a:lnTo>
                  <a:lnTo>
                    <a:pt x="165" y="125729"/>
                  </a:lnTo>
                  <a:lnTo>
                    <a:pt x="437" y="122241"/>
                  </a:lnTo>
                  <a:lnTo>
                    <a:pt x="560" y="120660"/>
                  </a:lnTo>
                  <a:lnTo>
                    <a:pt x="660" y="119379"/>
                  </a:lnTo>
                  <a:lnTo>
                    <a:pt x="740" y="117999"/>
                  </a:lnTo>
                  <a:lnTo>
                    <a:pt x="1403" y="113582"/>
                  </a:lnTo>
                  <a:lnTo>
                    <a:pt x="1485" y="113029"/>
                  </a:lnTo>
                  <a:lnTo>
                    <a:pt x="2641" y="106679"/>
                  </a:lnTo>
                  <a:lnTo>
                    <a:pt x="2768" y="105410"/>
                  </a:lnTo>
                  <a:lnTo>
                    <a:pt x="4114" y="99060"/>
                  </a:lnTo>
                  <a:lnTo>
                    <a:pt x="5905" y="92710"/>
                  </a:lnTo>
                  <a:lnTo>
                    <a:pt x="7988" y="87629"/>
                  </a:lnTo>
                  <a:lnTo>
                    <a:pt x="8204" y="86360"/>
                  </a:lnTo>
                  <a:lnTo>
                    <a:pt x="10363" y="81279"/>
                  </a:lnTo>
                  <a:lnTo>
                    <a:pt x="10604" y="80010"/>
                  </a:lnTo>
                  <a:lnTo>
                    <a:pt x="13284" y="74929"/>
                  </a:lnTo>
                  <a:lnTo>
                    <a:pt x="16243" y="68579"/>
                  </a:lnTo>
                  <a:lnTo>
                    <a:pt x="19138" y="63500"/>
                  </a:lnTo>
                  <a:lnTo>
                    <a:pt x="22593" y="58420"/>
                  </a:lnTo>
                  <a:lnTo>
                    <a:pt x="22936" y="58420"/>
                  </a:lnTo>
                  <a:lnTo>
                    <a:pt x="26301" y="53339"/>
                  </a:lnTo>
                  <a:lnTo>
                    <a:pt x="30238" y="48260"/>
                  </a:lnTo>
                  <a:lnTo>
                    <a:pt x="34823" y="43179"/>
                  </a:lnTo>
                  <a:lnTo>
                    <a:pt x="39243" y="38100"/>
                  </a:lnTo>
                  <a:lnTo>
                    <a:pt x="43878" y="34289"/>
                  </a:lnTo>
                  <a:lnTo>
                    <a:pt x="48260" y="30479"/>
                  </a:lnTo>
                  <a:lnTo>
                    <a:pt x="53276" y="25400"/>
                  </a:lnTo>
                  <a:lnTo>
                    <a:pt x="58496" y="22860"/>
                  </a:lnTo>
                  <a:lnTo>
                    <a:pt x="59004" y="21589"/>
                  </a:lnTo>
                  <a:lnTo>
                    <a:pt x="64414" y="19050"/>
                  </a:lnTo>
                  <a:lnTo>
                    <a:pt x="69456" y="15239"/>
                  </a:lnTo>
                  <a:lnTo>
                    <a:pt x="75196" y="12700"/>
                  </a:lnTo>
                  <a:lnTo>
                    <a:pt x="81102" y="10160"/>
                  </a:lnTo>
                  <a:lnTo>
                    <a:pt x="2487333" y="10160"/>
                  </a:lnTo>
                  <a:lnTo>
                    <a:pt x="2493225" y="12700"/>
                  </a:lnTo>
                  <a:lnTo>
                    <a:pt x="2498432" y="15239"/>
                  </a:lnTo>
                  <a:lnTo>
                    <a:pt x="2504020" y="19050"/>
                  </a:lnTo>
                  <a:lnTo>
                    <a:pt x="2509431" y="21589"/>
                  </a:lnTo>
                  <a:lnTo>
                    <a:pt x="2509939" y="22860"/>
                  </a:lnTo>
                  <a:lnTo>
                    <a:pt x="2512548" y="24129"/>
                  </a:lnTo>
                  <a:lnTo>
                    <a:pt x="133578" y="24129"/>
                  </a:lnTo>
                  <a:lnTo>
                    <a:pt x="127381" y="25400"/>
                  </a:lnTo>
                  <a:lnTo>
                    <a:pt x="117132" y="25400"/>
                  </a:lnTo>
                  <a:lnTo>
                    <a:pt x="111188" y="26670"/>
                  </a:lnTo>
                  <a:lnTo>
                    <a:pt x="111810" y="26670"/>
                  </a:lnTo>
                  <a:lnTo>
                    <a:pt x="105981" y="27939"/>
                  </a:lnTo>
                  <a:lnTo>
                    <a:pt x="106591" y="27939"/>
                  </a:lnTo>
                  <a:lnTo>
                    <a:pt x="101444" y="29083"/>
                  </a:lnTo>
                  <a:lnTo>
                    <a:pt x="101751" y="29083"/>
                  </a:lnTo>
                  <a:lnTo>
                    <a:pt x="95872" y="31750"/>
                  </a:lnTo>
                  <a:lnTo>
                    <a:pt x="96469" y="31750"/>
                  </a:lnTo>
                  <a:lnTo>
                    <a:pt x="91537" y="32894"/>
                  </a:lnTo>
                  <a:lnTo>
                    <a:pt x="91831" y="32894"/>
                  </a:lnTo>
                  <a:lnTo>
                    <a:pt x="86220" y="35560"/>
                  </a:lnTo>
                  <a:lnTo>
                    <a:pt x="86779" y="35560"/>
                  </a:lnTo>
                  <a:lnTo>
                    <a:pt x="81584" y="38100"/>
                  </a:lnTo>
                  <a:lnTo>
                    <a:pt x="82118" y="38100"/>
                  </a:lnTo>
                  <a:lnTo>
                    <a:pt x="77076" y="40639"/>
                  </a:lnTo>
                  <a:lnTo>
                    <a:pt x="77597" y="40639"/>
                  </a:lnTo>
                  <a:lnTo>
                    <a:pt x="72707" y="43179"/>
                  </a:lnTo>
                  <a:lnTo>
                    <a:pt x="73215" y="43179"/>
                  </a:lnTo>
                  <a:lnTo>
                    <a:pt x="68491" y="45720"/>
                  </a:lnTo>
                  <a:lnTo>
                    <a:pt x="68973" y="45720"/>
                  </a:lnTo>
                  <a:lnTo>
                    <a:pt x="64414" y="49529"/>
                  </a:lnTo>
                  <a:lnTo>
                    <a:pt x="64884" y="49529"/>
                  </a:lnTo>
                  <a:lnTo>
                    <a:pt x="61971" y="52070"/>
                  </a:lnTo>
                  <a:lnTo>
                    <a:pt x="60960" y="52070"/>
                  </a:lnTo>
                  <a:lnTo>
                    <a:pt x="57816" y="55879"/>
                  </a:lnTo>
                  <a:lnTo>
                    <a:pt x="57200" y="55879"/>
                  </a:lnTo>
                  <a:lnTo>
                    <a:pt x="54209" y="59689"/>
                  </a:lnTo>
                  <a:lnTo>
                    <a:pt x="53619" y="59689"/>
                  </a:lnTo>
                  <a:lnTo>
                    <a:pt x="50771" y="63500"/>
                  </a:lnTo>
                  <a:lnTo>
                    <a:pt x="50215" y="63500"/>
                  </a:lnTo>
                  <a:lnTo>
                    <a:pt x="47529" y="67310"/>
                  </a:lnTo>
                  <a:lnTo>
                    <a:pt x="47002" y="67310"/>
                  </a:lnTo>
                  <a:lnTo>
                    <a:pt x="43637" y="72389"/>
                  </a:lnTo>
                  <a:lnTo>
                    <a:pt x="43980" y="72389"/>
                  </a:lnTo>
                  <a:lnTo>
                    <a:pt x="41627" y="76200"/>
                  </a:lnTo>
                  <a:lnTo>
                    <a:pt x="41160" y="76200"/>
                  </a:lnTo>
                  <a:lnTo>
                    <a:pt x="38265" y="81279"/>
                  </a:lnTo>
                  <a:lnTo>
                    <a:pt x="38557" y="81279"/>
                  </a:lnTo>
                  <a:lnTo>
                    <a:pt x="36556" y="85089"/>
                  </a:lnTo>
                  <a:lnTo>
                    <a:pt x="36156" y="85089"/>
                  </a:lnTo>
                  <a:lnTo>
                    <a:pt x="34226" y="90170"/>
                  </a:lnTo>
                  <a:lnTo>
                    <a:pt x="33985" y="90170"/>
                  </a:lnTo>
                  <a:lnTo>
                    <a:pt x="31826" y="95250"/>
                  </a:lnTo>
                  <a:lnTo>
                    <a:pt x="32042" y="95250"/>
                  </a:lnTo>
                  <a:lnTo>
                    <a:pt x="30149" y="100329"/>
                  </a:lnTo>
                  <a:lnTo>
                    <a:pt x="30340" y="100329"/>
                  </a:lnTo>
                  <a:lnTo>
                    <a:pt x="28714" y="105410"/>
                  </a:lnTo>
                  <a:lnTo>
                    <a:pt x="28867" y="105410"/>
                  </a:lnTo>
                  <a:lnTo>
                    <a:pt x="27790" y="110489"/>
                  </a:lnTo>
                  <a:lnTo>
                    <a:pt x="27647" y="110489"/>
                  </a:lnTo>
                  <a:lnTo>
                    <a:pt x="26391" y="117999"/>
                  </a:lnTo>
                  <a:lnTo>
                    <a:pt x="25915" y="121917"/>
                  </a:lnTo>
                  <a:lnTo>
                    <a:pt x="25875" y="122241"/>
                  </a:lnTo>
                  <a:lnTo>
                    <a:pt x="25638" y="125729"/>
                  </a:lnTo>
                  <a:lnTo>
                    <a:pt x="25676" y="622300"/>
                  </a:lnTo>
                  <a:lnTo>
                    <a:pt x="28867" y="642620"/>
                  </a:lnTo>
                  <a:lnTo>
                    <a:pt x="29039" y="642620"/>
                  </a:lnTo>
                  <a:lnTo>
                    <a:pt x="30340" y="647700"/>
                  </a:lnTo>
                  <a:lnTo>
                    <a:pt x="30528" y="647700"/>
                  </a:lnTo>
                  <a:lnTo>
                    <a:pt x="32042" y="652779"/>
                  </a:lnTo>
                  <a:lnTo>
                    <a:pt x="32365" y="652779"/>
                  </a:lnTo>
                  <a:lnTo>
                    <a:pt x="33985" y="656589"/>
                  </a:lnTo>
                  <a:lnTo>
                    <a:pt x="33743" y="656589"/>
                  </a:lnTo>
                  <a:lnTo>
                    <a:pt x="36156" y="661670"/>
                  </a:lnTo>
                  <a:lnTo>
                    <a:pt x="35890" y="661670"/>
                  </a:lnTo>
                  <a:lnTo>
                    <a:pt x="38557" y="666750"/>
                  </a:lnTo>
                  <a:close/>
                </a:path>
                <a:path w="2568575" h="748029">
                  <a:moveTo>
                    <a:pt x="2523233" y="32894"/>
                  </a:moveTo>
                  <a:lnTo>
                    <a:pt x="2476897" y="32894"/>
                  </a:lnTo>
                  <a:lnTo>
                    <a:pt x="2471966" y="31750"/>
                  </a:lnTo>
                  <a:lnTo>
                    <a:pt x="2472550" y="31750"/>
                  </a:lnTo>
                  <a:lnTo>
                    <a:pt x="2466670" y="29083"/>
                  </a:lnTo>
                  <a:lnTo>
                    <a:pt x="2466989" y="29083"/>
                  </a:lnTo>
                  <a:lnTo>
                    <a:pt x="2461831" y="27939"/>
                  </a:lnTo>
                  <a:lnTo>
                    <a:pt x="2462453" y="27939"/>
                  </a:lnTo>
                  <a:lnTo>
                    <a:pt x="2456611" y="26670"/>
                  </a:lnTo>
                  <a:lnTo>
                    <a:pt x="2457234" y="26670"/>
                  </a:lnTo>
                  <a:lnTo>
                    <a:pt x="2451303" y="25400"/>
                  </a:lnTo>
                  <a:lnTo>
                    <a:pt x="2441054" y="25400"/>
                  </a:lnTo>
                  <a:lnTo>
                    <a:pt x="2434856" y="24129"/>
                  </a:lnTo>
                  <a:lnTo>
                    <a:pt x="2512548" y="24129"/>
                  </a:lnTo>
                  <a:lnTo>
                    <a:pt x="2515158" y="25400"/>
                  </a:lnTo>
                  <a:lnTo>
                    <a:pt x="2520175" y="30479"/>
                  </a:lnTo>
                  <a:lnTo>
                    <a:pt x="2523233" y="32894"/>
                  </a:lnTo>
                  <a:close/>
                </a:path>
                <a:path w="2568575" h="748029">
                  <a:moveTo>
                    <a:pt x="116497" y="26670"/>
                  </a:moveTo>
                  <a:lnTo>
                    <a:pt x="117132" y="25400"/>
                  </a:lnTo>
                  <a:lnTo>
                    <a:pt x="122529" y="25400"/>
                  </a:lnTo>
                  <a:lnTo>
                    <a:pt x="116497" y="26670"/>
                  </a:lnTo>
                  <a:close/>
                </a:path>
                <a:path w="2568575" h="748029">
                  <a:moveTo>
                    <a:pt x="2451938" y="26670"/>
                  </a:moveTo>
                  <a:lnTo>
                    <a:pt x="2445905" y="25400"/>
                  </a:lnTo>
                  <a:lnTo>
                    <a:pt x="2451303" y="25400"/>
                  </a:lnTo>
                  <a:lnTo>
                    <a:pt x="2451938" y="26670"/>
                  </a:lnTo>
                  <a:close/>
                </a:path>
                <a:path w="2568575" h="748029">
                  <a:moveTo>
                    <a:pt x="101751" y="29083"/>
                  </a:moveTo>
                  <a:lnTo>
                    <a:pt x="101444" y="29083"/>
                  </a:lnTo>
                  <a:lnTo>
                    <a:pt x="102046" y="28949"/>
                  </a:lnTo>
                  <a:lnTo>
                    <a:pt x="101751" y="29083"/>
                  </a:lnTo>
                  <a:close/>
                </a:path>
                <a:path w="2568575" h="748029">
                  <a:moveTo>
                    <a:pt x="91831" y="32894"/>
                  </a:moveTo>
                  <a:lnTo>
                    <a:pt x="91537" y="32894"/>
                  </a:lnTo>
                  <a:lnTo>
                    <a:pt x="92112" y="32760"/>
                  </a:lnTo>
                  <a:lnTo>
                    <a:pt x="91831" y="32894"/>
                  </a:lnTo>
                  <a:close/>
                </a:path>
                <a:path w="2568575" h="748029">
                  <a:moveTo>
                    <a:pt x="2529179" y="38100"/>
                  </a:moveTo>
                  <a:lnTo>
                    <a:pt x="2486850" y="38100"/>
                  </a:lnTo>
                  <a:lnTo>
                    <a:pt x="2481656" y="35560"/>
                  </a:lnTo>
                  <a:lnTo>
                    <a:pt x="2482215" y="35560"/>
                  </a:lnTo>
                  <a:lnTo>
                    <a:pt x="2476322" y="32760"/>
                  </a:lnTo>
                  <a:lnTo>
                    <a:pt x="2476897" y="32894"/>
                  </a:lnTo>
                  <a:lnTo>
                    <a:pt x="2523233" y="32894"/>
                  </a:lnTo>
                  <a:lnTo>
                    <a:pt x="2525001" y="34289"/>
                  </a:lnTo>
                  <a:lnTo>
                    <a:pt x="2529179" y="38100"/>
                  </a:lnTo>
                  <a:close/>
                </a:path>
                <a:path w="2568575" h="748029">
                  <a:moveTo>
                    <a:pt x="2507919" y="53339"/>
                  </a:moveTo>
                  <a:lnTo>
                    <a:pt x="2503551" y="49529"/>
                  </a:lnTo>
                  <a:lnTo>
                    <a:pt x="2504008" y="49529"/>
                  </a:lnTo>
                  <a:lnTo>
                    <a:pt x="2499461" y="45720"/>
                  </a:lnTo>
                  <a:lnTo>
                    <a:pt x="2499944" y="45720"/>
                  </a:lnTo>
                  <a:lnTo>
                    <a:pt x="2495219" y="43179"/>
                  </a:lnTo>
                  <a:lnTo>
                    <a:pt x="2495727" y="43179"/>
                  </a:lnTo>
                  <a:lnTo>
                    <a:pt x="2490838" y="40639"/>
                  </a:lnTo>
                  <a:lnTo>
                    <a:pt x="2491359" y="40639"/>
                  </a:lnTo>
                  <a:lnTo>
                    <a:pt x="2486304" y="38100"/>
                  </a:lnTo>
                  <a:lnTo>
                    <a:pt x="2529611" y="38100"/>
                  </a:lnTo>
                  <a:lnTo>
                    <a:pt x="2534018" y="43179"/>
                  </a:lnTo>
                  <a:lnTo>
                    <a:pt x="2537802" y="46989"/>
                  </a:lnTo>
                  <a:lnTo>
                    <a:pt x="2541267" y="52070"/>
                  </a:lnTo>
                  <a:lnTo>
                    <a:pt x="2507475" y="52070"/>
                  </a:lnTo>
                  <a:lnTo>
                    <a:pt x="2507919" y="53339"/>
                  </a:lnTo>
                  <a:close/>
                </a:path>
                <a:path w="2568575" h="748029">
                  <a:moveTo>
                    <a:pt x="60515" y="53339"/>
                  </a:moveTo>
                  <a:lnTo>
                    <a:pt x="60960" y="52070"/>
                  </a:lnTo>
                  <a:lnTo>
                    <a:pt x="61971" y="52070"/>
                  </a:lnTo>
                  <a:lnTo>
                    <a:pt x="60515" y="53339"/>
                  </a:lnTo>
                  <a:close/>
                </a:path>
                <a:path w="2568575" h="748029">
                  <a:moveTo>
                    <a:pt x="2511653" y="57150"/>
                  </a:moveTo>
                  <a:lnTo>
                    <a:pt x="2507475" y="52070"/>
                  </a:lnTo>
                  <a:lnTo>
                    <a:pt x="2541267" y="52070"/>
                  </a:lnTo>
                  <a:lnTo>
                    <a:pt x="2542133" y="53339"/>
                  </a:lnTo>
                  <a:lnTo>
                    <a:pt x="2543816" y="55879"/>
                  </a:lnTo>
                  <a:lnTo>
                    <a:pt x="2511234" y="55879"/>
                  </a:lnTo>
                  <a:lnTo>
                    <a:pt x="2511653" y="57150"/>
                  </a:lnTo>
                  <a:close/>
                </a:path>
                <a:path w="2568575" h="748029">
                  <a:moveTo>
                    <a:pt x="56769" y="57150"/>
                  </a:moveTo>
                  <a:lnTo>
                    <a:pt x="57200" y="55879"/>
                  </a:lnTo>
                  <a:lnTo>
                    <a:pt x="57816" y="55879"/>
                  </a:lnTo>
                  <a:lnTo>
                    <a:pt x="56769" y="57150"/>
                  </a:lnTo>
                  <a:close/>
                </a:path>
                <a:path w="2568575" h="748029">
                  <a:moveTo>
                    <a:pt x="2515222" y="60960"/>
                  </a:moveTo>
                  <a:lnTo>
                    <a:pt x="2511234" y="55879"/>
                  </a:lnTo>
                  <a:lnTo>
                    <a:pt x="2543816" y="55879"/>
                  </a:lnTo>
                  <a:lnTo>
                    <a:pt x="2545499" y="58420"/>
                  </a:lnTo>
                  <a:lnTo>
                    <a:pt x="2546365" y="59689"/>
                  </a:lnTo>
                  <a:lnTo>
                    <a:pt x="2514815" y="59689"/>
                  </a:lnTo>
                  <a:lnTo>
                    <a:pt x="2515222" y="60960"/>
                  </a:lnTo>
                  <a:close/>
                </a:path>
                <a:path w="2568575" h="748029">
                  <a:moveTo>
                    <a:pt x="53213" y="60960"/>
                  </a:moveTo>
                  <a:lnTo>
                    <a:pt x="53619" y="59689"/>
                  </a:lnTo>
                  <a:lnTo>
                    <a:pt x="54209" y="59689"/>
                  </a:lnTo>
                  <a:lnTo>
                    <a:pt x="53213" y="60960"/>
                  </a:lnTo>
                  <a:close/>
                </a:path>
                <a:path w="2568575" h="748029">
                  <a:moveTo>
                    <a:pt x="2518600" y="64770"/>
                  </a:moveTo>
                  <a:lnTo>
                    <a:pt x="2514815" y="59689"/>
                  </a:lnTo>
                  <a:lnTo>
                    <a:pt x="2546365" y="59689"/>
                  </a:lnTo>
                  <a:lnTo>
                    <a:pt x="2548966" y="63500"/>
                  </a:lnTo>
                  <a:lnTo>
                    <a:pt x="2518219" y="63500"/>
                  </a:lnTo>
                  <a:lnTo>
                    <a:pt x="2518600" y="64770"/>
                  </a:lnTo>
                  <a:close/>
                </a:path>
                <a:path w="2568575" h="748029">
                  <a:moveTo>
                    <a:pt x="49822" y="64770"/>
                  </a:moveTo>
                  <a:lnTo>
                    <a:pt x="50215" y="63500"/>
                  </a:lnTo>
                  <a:lnTo>
                    <a:pt x="50771" y="63500"/>
                  </a:lnTo>
                  <a:lnTo>
                    <a:pt x="49822" y="64770"/>
                  </a:lnTo>
                  <a:close/>
                </a:path>
                <a:path w="2568575" h="748029">
                  <a:moveTo>
                    <a:pt x="2521800" y="68579"/>
                  </a:moveTo>
                  <a:lnTo>
                    <a:pt x="2518219" y="63500"/>
                  </a:lnTo>
                  <a:lnTo>
                    <a:pt x="2549283" y="63500"/>
                  </a:lnTo>
                  <a:lnTo>
                    <a:pt x="2551464" y="67310"/>
                  </a:lnTo>
                  <a:lnTo>
                    <a:pt x="2521432" y="67310"/>
                  </a:lnTo>
                  <a:lnTo>
                    <a:pt x="2521800" y="68579"/>
                  </a:lnTo>
                  <a:close/>
                </a:path>
                <a:path w="2568575" h="748029">
                  <a:moveTo>
                    <a:pt x="46634" y="68579"/>
                  </a:moveTo>
                  <a:lnTo>
                    <a:pt x="47002" y="67310"/>
                  </a:lnTo>
                  <a:lnTo>
                    <a:pt x="47529" y="67310"/>
                  </a:lnTo>
                  <a:lnTo>
                    <a:pt x="46634" y="68579"/>
                  </a:lnTo>
                  <a:close/>
                </a:path>
                <a:path w="2568575" h="748029">
                  <a:moveTo>
                    <a:pt x="2527592" y="77470"/>
                  </a:moveTo>
                  <a:lnTo>
                    <a:pt x="2524455" y="72389"/>
                  </a:lnTo>
                  <a:lnTo>
                    <a:pt x="2524798" y="72389"/>
                  </a:lnTo>
                  <a:lnTo>
                    <a:pt x="2521432" y="67310"/>
                  </a:lnTo>
                  <a:lnTo>
                    <a:pt x="2551464" y="67310"/>
                  </a:lnTo>
                  <a:lnTo>
                    <a:pt x="2552192" y="68579"/>
                  </a:lnTo>
                  <a:lnTo>
                    <a:pt x="2555151" y="74929"/>
                  </a:lnTo>
                  <a:lnTo>
                    <a:pt x="2555821" y="76200"/>
                  </a:lnTo>
                  <a:lnTo>
                    <a:pt x="2527274" y="76200"/>
                  </a:lnTo>
                  <a:lnTo>
                    <a:pt x="2527592" y="77470"/>
                  </a:lnTo>
                  <a:close/>
                </a:path>
                <a:path w="2568575" h="748029">
                  <a:moveTo>
                    <a:pt x="40843" y="77470"/>
                  </a:moveTo>
                  <a:lnTo>
                    <a:pt x="41160" y="76200"/>
                  </a:lnTo>
                  <a:lnTo>
                    <a:pt x="41627" y="76200"/>
                  </a:lnTo>
                  <a:lnTo>
                    <a:pt x="40843" y="77470"/>
                  </a:lnTo>
                  <a:close/>
                </a:path>
                <a:path w="2568575" h="748029">
                  <a:moveTo>
                    <a:pt x="2532545" y="86360"/>
                  </a:moveTo>
                  <a:lnTo>
                    <a:pt x="2529878" y="81279"/>
                  </a:lnTo>
                  <a:lnTo>
                    <a:pt x="2530170" y="81279"/>
                  </a:lnTo>
                  <a:lnTo>
                    <a:pt x="2527274" y="76200"/>
                  </a:lnTo>
                  <a:lnTo>
                    <a:pt x="2555821" y="76200"/>
                  </a:lnTo>
                  <a:lnTo>
                    <a:pt x="2557830" y="80010"/>
                  </a:lnTo>
                  <a:lnTo>
                    <a:pt x="2558072" y="81279"/>
                  </a:lnTo>
                  <a:lnTo>
                    <a:pt x="2559691" y="85089"/>
                  </a:lnTo>
                  <a:lnTo>
                    <a:pt x="2532278" y="85089"/>
                  </a:lnTo>
                  <a:lnTo>
                    <a:pt x="2532545" y="86360"/>
                  </a:lnTo>
                  <a:close/>
                </a:path>
                <a:path w="2568575" h="748029">
                  <a:moveTo>
                    <a:pt x="35890" y="86360"/>
                  </a:moveTo>
                  <a:lnTo>
                    <a:pt x="36156" y="85089"/>
                  </a:lnTo>
                  <a:lnTo>
                    <a:pt x="36556" y="85089"/>
                  </a:lnTo>
                  <a:lnTo>
                    <a:pt x="35890" y="86360"/>
                  </a:lnTo>
                  <a:close/>
                </a:path>
                <a:path w="2568575" h="748029">
                  <a:moveTo>
                    <a:pt x="2534691" y="91439"/>
                  </a:moveTo>
                  <a:lnTo>
                    <a:pt x="2532278" y="85089"/>
                  </a:lnTo>
                  <a:lnTo>
                    <a:pt x="2559691" y="85089"/>
                  </a:lnTo>
                  <a:lnTo>
                    <a:pt x="2560231" y="86360"/>
                  </a:lnTo>
                  <a:lnTo>
                    <a:pt x="2561610" y="90170"/>
                  </a:lnTo>
                  <a:lnTo>
                    <a:pt x="2534437" y="90170"/>
                  </a:lnTo>
                  <a:lnTo>
                    <a:pt x="2534691" y="91439"/>
                  </a:lnTo>
                  <a:close/>
                </a:path>
                <a:path w="2568575" h="748029">
                  <a:moveTo>
                    <a:pt x="33743" y="91439"/>
                  </a:moveTo>
                  <a:lnTo>
                    <a:pt x="33985" y="90170"/>
                  </a:lnTo>
                  <a:lnTo>
                    <a:pt x="34226" y="90170"/>
                  </a:lnTo>
                  <a:lnTo>
                    <a:pt x="33743" y="91439"/>
                  </a:lnTo>
                  <a:close/>
                </a:path>
                <a:path w="2568575" h="748029">
                  <a:moveTo>
                    <a:pt x="2565654" y="642620"/>
                  </a:moveTo>
                  <a:lnTo>
                    <a:pt x="2539568" y="642620"/>
                  </a:lnTo>
                  <a:lnTo>
                    <a:pt x="2539720" y="641350"/>
                  </a:lnTo>
                  <a:lnTo>
                    <a:pt x="2540400" y="638694"/>
                  </a:lnTo>
                  <a:lnTo>
                    <a:pt x="2540914" y="636270"/>
                  </a:lnTo>
                  <a:lnTo>
                    <a:pt x="2540774" y="636270"/>
                  </a:lnTo>
                  <a:lnTo>
                    <a:pt x="2541739" y="631189"/>
                  </a:lnTo>
                  <a:lnTo>
                    <a:pt x="2542451" y="626110"/>
                  </a:lnTo>
                  <a:lnTo>
                    <a:pt x="2542725" y="622300"/>
                  </a:lnTo>
                  <a:lnTo>
                    <a:pt x="2542816" y="125729"/>
                  </a:lnTo>
                  <a:lnTo>
                    <a:pt x="2542565" y="122241"/>
                  </a:lnTo>
                  <a:lnTo>
                    <a:pt x="2542036" y="117999"/>
                  </a:lnTo>
                  <a:lnTo>
                    <a:pt x="2540774" y="110489"/>
                  </a:lnTo>
                  <a:lnTo>
                    <a:pt x="2540645" y="110489"/>
                  </a:lnTo>
                  <a:lnTo>
                    <a:pt x="2539568" y="105410"/>
                  </a:lnTo>
                  <a:lnTo>
                    <a:pt x="2539720" y="105410"/>
                  </a:lnTo>
                  <a:lnTo>
                    <a:pt x="2538095" y="100329"/>
                  </a:lnTo>
                  <a:lnTo>
                    <a:pt x="2538285" y="100329"/>
                  </a:lnTo>
                  <a:lnTo>
                    <a:pt x="2536380" y="95250"/>
                  </a:lnTo>
                  <a:lnTo>
                    <a:pt x="2536596" y="95250"/>
                  </a:lnTo>
                  <a:lnTo>
                    <a:pt x="2534437" y="90170"/>
                  </a:lnTo>
                  <a:lnTo>
                    <a:pt x="2561610" y="90170"/>
                  </a:lnTo>
                  <a:lnTo>
                    <a:pt x="2562529" y="92710"/>
                  </a:lnTo>
                  <a:lnTo>
                    <a:pt x="2564155" y="99060"/>
                  </a:lnTo>
                  <a:lnTo>
                    <a:pt x="2565654" y="105410"/>
                  </a:lnTo>
                  <a:lnTo>
                    <a:pt x="2565781" y="106679"/>
                  </a:lnTo>
                  <a:lnTo>
                    <a:pt x="2566581" y="110489"/>
                  </a:lnTo>
                  <a:lnTo>
                    <a:pt x="2540774" y="110489"/>
                  </a:lnTo>
                  <a:lnTo>
                    <a:pt x="2540985" y="111746"/>
                  </a:lnTo>
                  <a:lnTo>
                    <a:pt x="2566844" y="111746"/>
                  </a:lnTo>
                  <a:lnTo>
                    <a:pt x="2567696" y="117999"/>
                  </a:lnTo>
                  <a:lnTo>
                    <a:pt x="2567774" y="119379"/>
                  </a:lnTo>
                  <a:lnTo>
                    <a:pt x="2568244" y="125729"/>
                  </a:lnTo>
                  <a:lnTo>
                    <a:pt x="2568244" y="622300"/>
                  </a:lnTo>
                  <a:lnTo>
                    <a:pt x="2567711" y="628650"/>
                  </a:lnTo>
                  <a:lnTo>
                    <a:pt x="2566847" y="635000"/>
                  </a:lnTo>
                  <a:lnTo>
                    <a:pt x="2565781" y="641350"/>
                  </a:lnTo>
                  <a:lnTo>
                    <a:pt x="2565654" y="642620"/>
                  </a:lnTo>
                  <a:close/>
                </a:path>
                <a:path w="2568575" h="748029">
                  <a:moveTo>
                    <a:pt x="27523" y="111746"/>
                  </a:moveTo>
                  <a:lnTo>
                    <a:pt x="27647" y="110489"/>
                  </a:lnTo>
                  <a:lnTo>
                    <a:pt x="27790" y="110489"/>
                  </a:lnTo>
                  <a:lnTo>
                    <a:pt x="27523" y="111746"/>
                  </a:lnTo>
                  <a:close/>
                </a:path>
                <a:path w="2568575" h="748029">
                  <a:moveTo>
                    <a:pt x="29039" y="642620"/>
                  </a:moveTo>
                  <a:lnTo>
                    <a:pt x="28867" y="642620"/>
                  </a:lnTo>
                  <a:lnTo>
                    <a:pt x="28597" y="641350"/>
                  </a:lnTo>
                  <a:lnTo>
                    <a:pt x="29039" y="642620"/>
                  </a:lnTo>
                  <a:close/>
                </a:path>
                <a:path w="2568575" h="748029">
                  <a:moveTo>
                    <a:pt x="2564455" y="647700"/>
                  </a:moveTo>
                  <a:lnTo>
                    <a:pt x="2538095" y="647700"/>
                  </a:lnTo>
                  <a:lnTo>
                    <a:pt x="2539720" y="641350"/>
                  </a:lnTo>
                  <a:lnTo>
                    <a:pt x="2539568" y="642620"/>
                  </a:lnTo>
                  <a:lnTo>
                    <a:pt x="2565654" y="642620"/>
                  </a:lnTo>
                  <a:lnTo>
                    <a:pt x="2564455" y="647700"/>
                  </a:lnTo>
                  <a:close/>
                </a:path>
                <a:path w="2568575" h="748029">
                  <a:moveTo>
                    <a:pt x="2562936" y="652779"/>
                  </a:moveTo>
                  <a:lnTo>
                    <a:pt x="2536380" y="652779"/>
                  </a:lnTo>
                  <a:lnTo>
                    <a:pt x="2539203" y="643370"/>
                  </a:lnTo>
                  <a:lnTo>
                    <a:pt x="2538095" y="647700"/>
                  </a:lnTo>
                  <a:lnTo>
                    <a:pt x="2564455" y="647700"/>
                  </a:lnTo>
                  <a:lnTo>
                    <a:pt x="2564155" y="648970"/>
                  </a:lnTo>
                  <a:lnTo>
                    <a:pt x="2562936" y="652779"/>
                  </a:lnTo>
                  <a:close/>
                </a:path>
                <a:path w="2568575" h="748029">
                  <a:moveTo>
                    <a:pt x="30528" y="647700"/>
                  </a:moveTo>
                  <a:lnTo>
                    <a:pt x="30340" y="647700"/>
                  </a:lnTo>
                  <a:lnTo>
                    <a:pt x="30149" y="646429"/>
                  </a:lnTo>
                  <a:lnTo>
                    <a:pt x="30528" y="647700"/>
                  </a:lnTo>
                  <a:close/>
                </a:path>
                <a:path w="2568575" h="748029">
                  <a:moveTo>
                    <a:pt x="32365" y="652779"/>
                  </a:moveTo>
                  <a:lnTo>
                    <a:pt x="32042" y="652779"/>
                  </a:lnTo>
                  <a:lnTo>
                    <a:pt x="31826" y="651510"/>
                  </a:lnTo>
                  <a:lnTo>
                    <a:pt x="32365" y="652779"/>
                  </a:lnTo>
                  <a:close/>
                </a:path>
                <a:path w="2568575" h="748029">
                  <a:moveTo>
                    <a:pt x="2558072" y="666750"/>
                  </a:moveTo>
                  <a:lnTo>
                    <a:pt x="2529878" y="666750"/>
                  </a:lnTo>
                  <a:lnTo>
                    <a:pt x="2532545" y="661670"/>
                  </a:lnTo>
                  <a:lnTo>
                    <a:pt x="2532278" y="661670"/>
                  </a:lnTo>
                  <a:lnTo>
                    <a:pt x="2534691" y="656589"/>
                  </a:lnTo>
                  <a:lnTo>
                    <a:pt x="2534437" y="656589"/>
                  </a:lnTo>
                  <a:lnTo>
                    <a:pt x="2536596" y="651510"/>
                  </a:lnTo>
                  <a:lnTo>
                    <a:pt x="2536380" y="652779"/>
                  </a:lnTo>
                  <a:lnTo>
                    <a:pt x="2562936" y="652779"/>
                  </a:lnTo>
                  <a:lnTo>
                    <a:pt x="2560447" y="660400"/>
                  </a:lnTo>
                  <a:lnTo>
                    <a:pt x="2560231" y="660400"/>
                  </a:lnTo>
                  <a:lnTo>
                    <a:pt x="2558072" y="666750"/>
                  </a:lnTo>
                  <a:close/>
                </a:path>
                <a:path w="2568575" h="748029">
                  <a:moveTo>
                    <a:pt x="2509939" y="725170"/>
                  </a:moveTo>
                  <a:lnTo>
                    <a:pt x="58496" y="725170"/>
                  </a:lnTo>
                  <a:lnTo>
                    <a:pt x="53276" y="721360"/>
                  </a:lnTo>
                  <a:lnTo>
                    <a:pt x="48260" y="717550"/>
                  </a:lnTo>
                  <a:lnTo>
                    <a:pt x="43878" y="713739"/>
                  </a:lnTo>
                  <a:lnTo>
                    <a:pt x="39243" y="708660"/>
                  </a:lnTo>
                  <a:lnTo>
                    <a:pt x="34823" y="704850"/>
                  </a:lnTo>
                  <a:lnTo>
                    <a:pt x="30238" y="699770"/>
                  </a:lnTo>
                  <a:lnTo>
                    <a:pt x="26670" y="694689"/>
                  </a:lnTo>
                  <a:lnTo>
                    <a:pt x="22936" y="689610"/>
                  </a:lnTo>
                  <a:lnTo>
                    <a:pt x="22593" y="689610"/>
                  </a:lnTo>
                  <a:lnTo>
                    <a:pt x="19138" y="683260"/>
                  </a:lnTo>
                  <a:lnTo>
                    <a:pt x="15951" y="678179"/>
                  </a:lnTo>
                  <a:lnTo>
                    <a:pt x="13284" y="673100"/>
                  </a:lnTo>
                  <a:lnTo>
                    <a:pt x="10604" y="666750"/>
                  </a:lnTo>
                  <a:lnTo>
                    <a:pt x="38557" y="666750"/>
                  </a:lnTo>
                  <a:lnTo>
                    <a:pt x="38265" y="665479"/>
                  </a:lnTo>
                  <a:lnTo>
                    <a:pt x="41160" y="670560"/>
                  </a:lnTo>
                  <a:lnTo>
                    <a:pt x="40843" y="670560"/>
                  </a:lnTo>
                  <a:lnTo>
                    <a:pt x="43980" y="675639"/>
                  </a:lnTo>
                  <a:lnTo>
                    <a:pt x="44478" y="675639"/>
                  </a:lnTo>
                  <a:lnTo>
                    <a:pt x="47002" y="679450"/>
                  </a:lnTo>
                  <a:lnTo>
                    <a:pt x="46634" y="679450"/>
                  </a:lnTo>
                  <a:lnTo>
                    <a:pt x="50215" y="683260"/>
                  </a:lnTo>
                  <a:lnTo>
                    <a:pt x="49822" y="683260"/>
                  </a:lnTo>
                  <a:lnTo>
                    <a:pt x="53619" y="687070"/>
                  </a:lnTo>
                  <a:lnTo>
                    <a:pt x="53213" y="687070"/>
                  </a:lnTo>
                  <a:lnTo>
                    <a:pt x="57200" y="690879"/>
                  </a:lnTo>
                  <a:lnTo>
                    <a:pt x="56769" y="690879"/>
                  </a:lnTo>
                  <a:lnTo>
                    <a:pt x="60960" y="694689"/>
                  </a:lnTo>
                  <a:lnTo>
                    <a:pt x="60515" y="694689"/>
                  </a:lnTo>
                  <a:lnTo>
                    <a:pt x="64884" y="698500"/>
                  </a:lnTo>
                  <a:lnTo>
                    <a:pt x="64414" y="698500"/>
                  </a:lnTo>
                  <a:lnTo>
                    <a:pt x="68973" y="701039"/>
                  </a:lnTo>
                  <a:lnTo>
                    <a:pt x="68491" y="701039"/>
                  </a:lnTo>
                  <a:lnTo>
                    <a:pt x="73215" y="704850"/>
                  </a:lnTo>
                  <a:lnTo>
                    <a:pt x="74337" y="704850"/>
                  </a:lnTo>
                  <a:lnTo>
                    <a:pt x="77597" y="707389"/>
                  </a:lnTo>
                  <a:lnTo>
                    <a:pt x="77076" y="707389"/>
                  </a:lnTo>
                  <a:lnTo>
                    <a:pt x="82118" y="709929"/>
                  </a:lnTo>
                  <a:lnTo>
                    <a:pt x="81584" y="709929"/>
                  </a:lnTo>
                  <a:lnTo>
                    <a:pt x="86779" y="712470"/>
                  </a:lnTo>
                  <a:lnTo>
                    <a:pt x="86220" y="712470"/>
                  </a:lnTo>
                  <a:lnTo>
                    <a:pt x="91567" y="713739"/>
                  </a:lnTo>
                  <a:lnTo>
                    <a:pt x="90995" y="713739"/>
                  </a:lnTo>
                  <a:lnTo>
                    <a:pt x="96469" y="716279"/>
                  </a:lnTo>
                  <a:lnTo>
                    <a:pt x="95872" y="716279"/>
                  </a:lnTo>
                  <a:lnTo>
                    <a:pt x="101473" y="717550"/>
                  </a:lnTo>
                  <a:lnTo>
                    <a:pt x="100876" y="717550"/>
                  </a:lnTo>
                  <a:lnTo>
                    <a:pt x="106591" y="718820"/>
                  </a:lnTo>
                  <a:lnTo>
                    <a:pt x="105981" y="718820"/>
                  </a:lnTo>
                  <a:lnTo>
                    <a:pt x="111810" y="720089"/>
                  </a:lnTo>
                  <a:lnTo>
                    <a:pt x="111188" y="720089"/>
                  </a:lnTo>
                  <a:lnTo>
                    <a:pt x="117132" y="721360"/>
                  </a:lnTo>
                  <a:lnTo>
                    <a:pt x="116497" y="721360"/>
                  </a:lnTo>
                  <a:lnTo>
                    <a:pt x="122529" y="722629"/>
                  </a:lnTo>
                  <a:lnTo>
                    <a:pt x="2513418" y="722629"/>
                  </a:lnTo>
                  <a:lnTo>
                    <a:pt x="2509939" y="725170"/>
                  </a:lnTo>
                  <a:close/>
                </a:path>
                <a:path w="2568575" h="748029">
                  <a:moveTo>
                    <a:pt x="2553817" y="675639"/>
                  </a:moveTo>
                  <a:lnTo>
                    <a:pt x="2524455" y="675639"/>
                  </a:lnTo>
                  <a:lnTo>
                    <a:pt x="2527592" y="670560"/>
                  </a:lnTo>
                  <a:lnTo>
                    <a:pt x="2527274" y="670560"/>
                  </a:lnTo>
                  <a:lnTo>
                    <a:pt x="2530170" y="665479"/>
                  </a:lnTo>
                  <a:lnTo>
                    <a:pt x="2529878" y="666750"/>
                  </a:lnTo>
                  <a:lnTo>
                    <a:pt x="2557830" y="666750"/>
                  </a:lnTo>
                  <a:lnTo>
                    <a:pt x="2555151" y="673100"/>
                  </a:lnTo>
                  <a:lnTo>
                    <a:pt x="2553817" y="675639"/>
                  </a:lnTo>
                  <a:close/>
                </a:path>
                <a:path w="2568575" h="748029">
                  <a:moveTo>
                    <a:pt x="44478" y="675639"/>
                  </a:moveTo>
                  <a:lnTo>
                    <a:pt x="43980" y="675639"/>
                  </a:lnTo>
                  <a:lnTo>
                    <a:pt x="43637" y="674370"/>
                  </a:lnTo>
                  <a:lnTo>
                    <a:pt x="44478" y="675639"/>
                  </a:lnTo>
                  <a:close/>
                </a:path>
                <a:path w="2568575" h="748029">
                  <a:moveTo>
                    <a:pt x="2532916" y="704850"/>
                  </a:moveTo>
                  <a:lnTo>
                    <a:pt x="2495219" y="704850"/>
                  </a:lnTo>
                  <a:lnTo>
                    <a:pt x="2499944" y="701039"/>
                  </a:lnTo>
                  <a:lnTo>
                    <a:pt x="2499461" y="701039"/>
                  </a:lnTo>
                  <a:lnTo>
                    <a:pt x="2504008" y="698500"/>
                  </a:lnTo>
                  <a:lnTo>
                    <a:pt x="2503551" y="698500"/>
                  </a:lnTo>
                  <a:lnTo>
                    <a:pt x="2507919" y="694689"/>
                  </a:lnTo>
                  <a:lnTo>
                    <a:pt x="2507475" y="694689"/>
                  </a:lnTo>
                  <a:lnTo>
                    <a:pt x="2511653" y="690879"/>
                  </a:lnTo>
                  <a:lnTo>
                    <a:pt x="2511234" y="690879"/>
                  </a:lnTo>
                  <a:lnTo>
                    <a:pt x="2515222" y="687070"/>
                  </a:lnTo>
                  <a:lnTo>
                    <a:pt x="2514815" y="687070"/>
                  </a:lnTo>
                  <a:lnTo>
                    <a:pt x="2518600" y="683260"/>
                  </a:lnTo>
                  <a:lnTo>
                    <a:pt x="2518219" y="683260"/>
                  </a:lnTo>
                  <a:lnTo>
                    <a:pt x="2521800" y="679450"/>
                  </a:lnTo>
                  <a:lnTo>
                    <a:pt x="2521432" y="679450"/>
                  </a:lnTo>
                  <a:lnTo>
                    <a:pt x="2524798" y="674370"/>
                  </a:lnTo>
                  <a:lnTo>
                    <a:pt x="2524455" y="675639"/>
                  </a:lnTo>
                  <a:lnTo>
                    <a:pt x="2553817" y="675639"/>
                  </a:lnTo>
                  <a:lnTo>
                    <a:pt x="2552484" y="678179"/>
                  </a:lnTo>
                  <a:lnTo>
                    <a:pt x="2549283" y="683260"/>
                  </a:lnTo>
                  <a:lnTo>
                    <a:pt x="2545499" y="689610"/>
                  </a:lnTo>
                  <a:lnTo>
                    <a:pt x="2541765" y="694689"/>
                  </a:lnTo>
                  <a:lnTo>
                    <a:pt x="2537802" y="699770"/>
                  </a:lnTo>
                  <a:lnTo>
                    <a:pt x="2534018" y="703579"/>
                  </a:lnTo>
                  <a:lnTo>
                    <a:pt x="2532916" y="704850"/>
                  </a:lnTo>
                  <a:close/>
                </a:path>
                <a:path w="2568575" h="748029">
                  <a:moveTo>
                    <a:pt x="74337" y="704850"/>
                  </a:moveTo>
                  <a:lnTo>
                    <a:pt x="73215" y="704850"/>
                  </a:lnTo>
                  <a:lnTo>
                    <a:pt x="72707" y="703579"/>
                  </a:lnTo>
                  <a:lnTo>
                    <a:pt x="74337" y="704850"/>
                  </a:lnTo>
                  <a:close/>
                </a:path>
                <a:path w="2568575" h="748029">
                  <a:moveTo>
                    <a:pt x="2481128" y="712728"/>
                  </a:moveTo>
                  <a:lnTo>
                    <a:pt x="2486850" y="709929"/>
                  </a:lnTo>
                  <a:lnTo>
                    <a:pt x="2486304" y="709929"/>
                  </a:lnTo>
                  <a:lnTo>
                    <a:pt x="2491359" y="707389"/>
                  </a:lnTo>
                  <a:lnTo>
                    <a:pt x="2490838" y="707389"/>
                  </a:lnTo>
                  <a:lnTo>
                    <a:pt x="2495727" y="703579"/>
                  </a:lnTo>
                  <a:lnTo>
                    <a:pt x="2495219" y="704850"/>
                  </a:lnTo>
                  <a:lnTo>
                    <a:pt x="2532916" y="704850"/>
                  </a:lnTo>
                  <a:lnTo>
                    <a:pt x="2529611" y="708660"/>
                  </a:lnTo>
                  <a:lnTo>
                    <a:pt x="2529179" y="708660"/>
                  </a:lnTo>
                  <a:lnTo>
                    <a:pt x="2525702" y="712470"/>
                  </a:lnTo>
                  <a:lnTo>
                    <a:pt x="2482215" y="712470"/>
                  </a:lnTo>
                  <a:lnTo>
                    <a:pt x="2481128" y="712728"/>
                  </a:lnTo>
                  <a:close/>
                </a:path>
                <a:path w="2568575" h="748029">
                  <a:moveTo>
                    <a:pt x="87306" y="712728"/>
                  </a:moveTo>
                  <a:lnTo>
                    <a:pt x="86220" y="712470"/>
                  </a:lnTo>
                  <a:lnTo>
                    <a:pt x="86779" y="712470"/>
                  </a:lnTo>
                  <a:lnTo>
                    <a:pt x="87306" y="712728"/>
                  </a:lnTo>
                  <a:close/>
                </a:path>
                <a:path w="2568575" h="748029">
                  <a:moveTo>
                    <a:pt x="2471407" y="716539"/>
                  </a:moveTo>
                  <a:lnTo>
                    <a:pt x="2477439" y="713739"/>
                  </a:lnTo>
                  <a:lnTo>
                    <a:pt x="2476868" y="713739"/>
                  </a:lnTo>
                  <a:lnTo>
                    <a:pt x="2482215" y="712470"/>
                  </a:lnTo>
                  <a:lnTo>
                    <a:pt x="2525702" y="712470"/>
                  </a:lnTo>
                  <a:lnTo>
                    <a:pt x="2524544" y="713739"/>
                  </a:lnTo>
                  <a:lnTo>
                    <a:pt x="2521631" y="716279"/>
                  </a:lnTo>
                  <a:lnTo>
                    <a:pt x="2472550" y="716279"/>
                  </a:lnTo>
                  <a:lnTo>
                    <a:pt x="2471407" y="716539"/>
                  </a:lnTo>
                  <a:close/>
                </a:path>
                <a:path w="2568575" h="748029">
                  <a:moveTo>
                    <a:pt x="2513418" y="722629"/>
                  </a:moveTo>
                  <a:lnTo>
                    <a:pt x="2445905" y="722629"/>
                  </a:lnTo>
                  <a:lnTo>
                    <a:pt x="2451938" y="721360"/>
                  </a:lnTo>
                  <a:lnTo>
                    <a:pt x="2451303" y="721360"/>
                  </a:lnTo>
                  <a:lnTo>
                    <a:pt x="2457234" y="720089"/>
                  </a:lnTo>
                  <a:lnTo>
                    <a:pt x="2456611" y="720089"/>
                  </a:lnTo>
                  <a:lnTo>
                    <a:pt x="2462453" y="718820"/>
                  </a:lnTo>
                  <a:lnTo>
                    <a:pt x="2461831" y="718820"/>
                  </a:lnTo>
                  <a:lnTo>
                    <a:pt x="2467559" y="717550"/>
                  </a:lnTo>
                  <a:lnTo>
                    <a:pt x="2466949" y="717550"/>
                  </a:lnTo>
                  <a:lnTo>
                    <a:pt x="2472550" y="716279"/>
                  </a:lnTo>
                  <a:lnTo>
                    <a:pt x="2521631" y="716279"/>
                  </a:lnTo>
                  <a:lnTo>
                    <a:pt x="2520175" y="717550"/>
                  </a:lnTo>
                  <a:lnTo>
                    <a:pt x="2515158" y="721360"/>
                  </a:lnTo>
                  <a:lnTo>
                    <a:pt x="2513418" y="722629"/>
                  </a:lnTo>
                  <a:close/>
                </a:path>
                <a:path w="2568575" h="748029">
                  <a:moveTo>
                    <a:pt x="2487333" y="737870"/>
                  </a:moveTo>
                  <a:lnTo>
                    <a:pt x="81102" y="737870"/>
                  </a:lnTo>
                  <a:lnTo>
                    <a:pt x="75196" y="735329"/>
                  </a:lnTo>
                  <a:lnTo>
                    <a:pt x="69456" y="731520"/>
                  </a:lnTo>
                  <a:lnTo>
                    <a:pt x="64414" y="728979"/>
                  </a:lnTo>
                  <a:lnTo>
                    <a:pt x="59004" y="725170"/>
                  </a:lnTo>
                  <a:lnTo>
                    <a:pt x="2509431" y="725170"/>
                  </a:lnTo>
                  <a:lnTo>
                    <a:pt x="2504020" y="728979"/>
                  </a:lnTo>
                  <a:lnTo>
                    <a:pt x="2498432" y="731520"/>
                  </a:lnTo>
                  <a:lnTo>
                    <a:pt x="2493225" y="735329"/>
                  </a:lnTo>
                  <a:lnTo>
                    <a:pt x="2487333" y="737870"/>
                  </a:lnTo>
                  <a:close/>
                </a:path>
                <a:path w="2568575" h="748029">
                  <a:moveTo>
                    <a:pt x="2462326" y="745489"/>
                  </a:moveTo>
                  <a:lnTo>
                    <a:pt x="106108" y="745489"/>
                  </a:lnTo>
                  <a:lnTo>
                    <a:pt x="99656" y="744220"/>
                  </a:lnTo>
                  <a:lnTo>
                    <a:pt x="93941" y="741679"/>
                  </a:lnTo>
                  <a:lnTo>
                    <a:pt x="93332" y="741679"/>
                  </a:lnTo>
                  <a:lnTo>
                    <a:pt x="87731" y="740410"/>
                  </a:lnTo>
                  <a:lnTo>
                    <a:pt x="81673" y="737870"/>
                  </a:lnTo>
                  <a:lnTo>
                    <a:pt x="2486761" y="737870"/>
                  </a:lnTo>
                  <a:lnTo>
                    <a:pt x="2481287" y="740410"/>
                  </a:lnTo>
                  <a:lnTo>
                    <a:pt x="2474493" y="741679"/>
                  </a:lnTo>
                  <a:lnTo>
                    <a:pt x="2468778" y="744220"/>
                  </a:lnTo>
                  <a:lnTo>
                    <a:pt x="2462326" y="745489"/>
                  </a:lnTo>
                  <a:close/>
                </a:path>
                <a:path w="2568575" h="748029">
                  <a:moveTo>
                    <a:pt x="2455760" y="746760"/>
                  </a:moveTo>
                  <a:lnTo>
                    <a:pt x="112661" y="746760"/>
                  </a:lnTo>
                  <a:lnTo>
                    <a:pt x="106730" y="745489"/>
                  </a:lnTo>
                  <a:lnTo>
                    <a:pt x="2461704" y="745489"/>
                  </a:lnTo>
                  <a:lnTo>
                    <a:pt x="2455760" y="746760"/>
                  </a:lnTo>
                  <a:close/>
                </a:path>
                <a:path w="2568575" h="748029">
                  <a:moveTo>
                    <a:pt x="2448458" y="748029"/>
                  </a:moveTo>
                  <a:lnTo>
                    <a:pt x="119964" y="748029"/>
                  </a:lnTo>
                  <a:lnTo>
                    <a:pt x="119329" y="746760"/>
                  </a:lnTo>
                  <a:lnTo>
                    <a:pt x="2449106" y="746760"/>
                  </a:lnTo>
                  <a:lnTo>
                    <a:pt x="2448458" y="748029"/>
                  </a:lnTo>
                  <a:close/>
                </a:path>
              </a:pathLst>
            </a:custGeom>
            <a:solidFill>
              <a:srgbClr val="1E1E6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7612862" y="4651667"/>
            <a:ext cx="73596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4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模型</a:t>
            </a:r>
            <a:endParaRPr sz="2800">
              <a:latin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3" name="object 1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656425" y="3174860"/>
            <a:ext cx="2650477" cy="830783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6901662" y="3317100"/>
            <a:ext cx="215836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3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机器学习算法</a:t>
            </a:r>
            <a:endParaRPr sz="2800">
              <a:latin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77824" y="1834674"/>
            <a:ext cx="2603521" cy="783738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7257262" y="1947138"/>
            <a:ext cx="144716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3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训练数据</a:t>
            </a:r>
            <a:endParaRPr sz="2800">
              <a:latin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217454" y="4527461"/>
            <a:ext cx="1831975" cy="748030"/>
            <a:chOff x="4217454" y="4527461"/>
            <a:chExt cx="1831975" cy="748030"/>
          </a:xfrm>
        </p:grpSpPr>
        <p:sp>
          <p:nvSpPr>
            <p:cNvPr id="18" name="object 18"/>
            <p:cNvSpPr/>
            <p:nvPr/>
          </p:nvSpPr>
          <p:spPr>
            <a:xfrm>
              <a:off x="4230624" y="4539996"/>
              <a:ext cx="1805939" cy="723900"/>
            </a:xfrm>
            <a:custGeom>
              <a:avLst/>
              <a:gdLst/>
              <a:ahLst/>
              <a:cxnLst/>
              <a:rect l="l" t="t" r="r" b="b"/>
              <a:pathLst>
                <a:path w="1805939" h="723900">
                  <a:moveTo>
                    <a:pt x="1685543" y="723900"/>
                  </a:moveTo>
                  <a:lnTo>
                    <a:pt x="120396" y="723900"/>
                  </a:lnTo>
                  <a:lnTo>
                    <a:pt x="73212" y="714199"/>
                  </a:lnTo>
                  <a:lnTo>
                    <a:pt x="34823" y="688305"/>
                  </a:lnTo>
                  <a:lnTo>
                    <a:pt x="9121" y="650108"/>
                  </a:lnTo>
                  <a:lnTo>
                    <a:pt x="0" y="603503"/>
                  </a:lnTo>
                  <a:lnTo>
                    <a:pt x="0" y="120395"/>
                  </a:lnTo>
                  <a:lnTo>
                    <a:pt x="9121" y="73648"/>
                  </a:lnTo>
                  <a:lnTo>
                    <a:pt x="34823" y="35404"/>
                  </a:lnTo>
                  <a:lnTo>
                    <a:pt x="73212" y="9557"/>
                  </a:lnTo>
                  <a:lnTo>
                    <a:pt x="120396" y="0"/>
                  </a:lnTo>
                  <a:lnTo>
                    <a:pt x="1685543" y="0"/>
                  </a:lnTo>
                  <a:lnTo>
                    <a:pt x="1732320" y="9557"/>
                  </a:lnTo>
                  <a:lnTo>
                    <a:pt x="1770573" y="35404"/>
                  </a:lnTo>
                  <a:lnTo>
                    <a:pt x="1796411" y="73648"/>
                  </a:lnTo>
                  <a:lnTo>
                    <a:pt x="1805939" y="120395"/>
                  </a:lnTo>
                  <a:lnTo>
                    <a:pt x="1805939" y="603503"/>
                  </a:lnTo>
                  <a:lnTo>
                    <a:pt x="1796411" y="650108"/>
                  </a:lnTo>
                  <a:lnTo>
                    <a:pt x="1770573" y="688305"/>
                  </a:lnTo>
                  <a:lnTo>
                    <a:pt x="1732320" y="714199"/>
                  </a:lnTo>
                  <a:lnTo>
                    <a:pt x="1685543" y="723900"/>
                  </a:lnTo>
                  <a:close/>
                </a:path>
              </a:pathLst>
            </a:custGeom>
            <a:solidFill>
              <a:srgbClr val="2C2C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4217454" y="4527461"/>
              <a:ext cx="1831975" cy="748030"/>
            </a:xfrm>
            <a:custGeom>
              <a:avLst/>
              <a:gdLst/>
              <a:ahLst/>
              <a:cxnLst/>
              <a:rect l="l" t="t" r="r" b="b"/>
              <a:pathLst>
                <a:path w="1831975" h="748029">
                  <a:moveTo>
                    <a:pt x="1724977" y="2539"/>
                  </a:moveTo>
                  <a:lnTo>
                    <a:pt x="106578" y="2539"/>
                  </a:lnTo>
                  <a:lnTo>
                    <a:pt x="112509" y="1270"/>
                  </a:lnTo>
                  <a:lnTo>
                    <a:pt x="119176" y="0"/>
                  </a:lnTo>
                  <a:lnTo>
                    <a:pt x="1712379" y="0"/>
                  </a:lnTo>
                  <a:lnTo>
                    <a:pt x="1718411" y="1270"/>
                  </a:lnTo>
                  <a:lnTo>
                    <a:pt x="1719033" y="1270"/>
                  </a:lnTo>
                  <a:lnTo>
                    <a:pt x="1724977" y="2539"/>
                  </a:lnTo>
                  <a:close/>
                </a:path>
                <a:path w="1831975" h="748029">
                  <a:moveTo>
                    <a:pt x="1750034" y="10160"/>
                  </a:moveTo>
                  <a:lnTo>
                    <a:pt x="81521" y="10160"/>
                  </a:lnTo>
                  <a:lnTo>
                    <a:pt x="93776" y="5079"/>
                  </a:lnTo>
                  <a:lnTo>
                    <a:pt x="99504" y="3810"/>
                  </a:lnTo>
                  <a:lnTo>
                    <a:pt x="105956" y="2539"/>
                  </a:lnTo>
                  <a:lnTo>
                    <a:pt x="1725599" y="2539"/>
                  </a:lnTo>
                  <a:lnTo>
                    <a:pt x="1732051" y="3810"/>
                  </a:lnTo>
                  <a:lnTo>
                    <a:pt x="1737766" y="5079"/>
                  </a:lnTo>
                  <a:lnTo>
                    <a:pt x="1743964" y="7620"/>
                  </a:lnTo>
                  <a:lnTo>
                    <a:pt x="1744560" y="7620"/>
                  </a:lnTo>
                  <a:lnTo>
                    <a:pt x="1750034" y="10160"/>
                  </a:lnTo>
                  <a:close/>
                </a:path>
                <a:path w="1831975" h="748029">
                  <a:moveTo>
                    <a:pt x="81432" y="38100"/>
                  </a:moveTo>
                  <a:lnTo>
                    <a:pt x="39090" y="38100"/>
                  </a:lnTo>
                  <a:lnTo>
                    <a:pt x="43726" y="34289"/>
                  </a:lnTo>
                  <a:lnTo>
                    <a:pt x="47355" y="30479"/>
                  </a:lnTo>
                  <a:lnTo>
                    <a:pt x="48732" y="29083"/>
                  </a:lnTo>
                  <a:lnTo>
                    <a:pt x="53606" y="25400"/>
                  </a:lnTo>
                  <a:lnTo>
                    <a:pt x="58839" y="21589"/>
                  </a:lnTo>
                  <a:lnTo>
                    <a:pt x="63728" y="19050"/>
                  </a:lnTo>
                  <a:lnTo>
                    <a:pt x="69303" y="15239"/>
                  </a:lnTo>
                  <a:lnTo>
                    <a:pt x="75044" y="12700"/>
                  </a:lnTo>
                  <a:lnTo>
                    <a:pt x="80949" y="10160"/>
                  </a:lnTo>
                  <a:lnTo>
                    <a:pt x="1750606" y="10160"/>
                  </a:lnTo>
                  <a:lnTo>
                    <a:pt x="1756498" y="12700"/>
                  </a:lnTo>
                  <a:lnTo>
                    <a:pt x="1761705" y="15239"/>
                  </a:lnTo>
                  <a:lnTo>
                    <a:pt x="1767293" y="19050"/>
                  </a:lnTo>
                  <a:lnTo>
                    <a:pt x="1772704" y="21589"/>
                  </a:lnTo>
                  <a:lnTo>
                    <a:pt x="1773212" y="22860"/>
                  </a:lnTo>
                  <a:lnTo>
                    <a:pt x="1775821" y="24129"/>
                  </a:lnTo>
                  <a:lnTo>
                    <a:pt x="133426" y="24129"/>
                  </a:lnTo>
                  <a:lnTo>
                    <a:pt x="127215" y="25400"/>
                  </a:lnTo>
                  <a:lnTo>
                    <a:pt x="116979" y="25400"/>
                  </a:lnTo>
                  <a:lnTo>
                    <a:pt x="111036" y="26670"/>
                  </a:lnTo>
                  <a:lnTo>
                    <a:pt x="111658" y="26670"/>
                  </a:lnTo>
                  <a:lnTo>
                    <a:pt x="105829" y="27939"/>
                  </a:lnTo>
                  <a:lnTo>
                    <a:pt x="106438" y="27939"/>
                  </a:lnTo>
                  <a:lnTo>
                    <a:pt x="101292" y="29083"/>
                  </a:lnTo>
                  <a:lnTo>
                    <a:pt x="101599" y="29083"/>
                  </a:lnTo>
                  <a:lnTo>
                    <a:pt x="95719" y="31750"/>
                  </a:lnTo>
                  <a:lnTo>
                    <a:pt x="96304" y="31750"/>
                  </a:lnTo>
                  <a:lnTo>
                    <a:pt x="91372" y="32894"/>
                  </a:lnTo>
                  <a:lnTo>
                    <a:pt x="91666" y="32894"/>
                  </a:lnTo>
                  <a:lnTo>
                    <a:pt x="86067" y="35560"/>
                  </a:lnTo>
                  <a:lnTo>
                    <a:pt x="86626" y="35560"/>
                  </a:lnTo>
                  <a:lnTo>
                    <a:pt x="81432" y="38100"/>
                  </a:lnTo>
                  <a:close/>
                </a:path>
                <a:path w="1831975" h="748029">
                  <a:moveTo>
                    <a:pt x="1786506" y="32894"/>
                  </a:moveTo>
                  <a:lnTo>
                    <a:pt x="1740170" y="32894"/>
                  </a:lnTo>
                  <a:lnTo>
                    <a:pt x="1735239" y="31750"/>
                  </a:lnTo>
                  <a:lnTo>
                    <a:pt x="1735823" y="31750"/>
                  </a:lnTo>
                  <a:lnTo>
                    <a:pt x="1729943" y="29083"/>
                  </a:lnTo>
                  <a:lnTo>
                    <a:pt x="1730262" y="29083"/>
                  </a:lnTo>
                  <a:lnTo>
                    <a:pt x="1725104" y="27939"/>
                  </a:lnTo>
                  <a:lnTo>
                    <a:pt x="1725714" y="27939"/>
                  </a:lnTo>
                  <a:lnTo>
                    <a:pt x="1719884" y="26670"/>
                  </a:lnTo>
                  <a:lnTo>
                    <a:pt x="1720507" y="26670"/>
                  </a:lnTo>
                  <a:lnTo>
                    <a:pt x="1714576" y="25400"/>
                  </a:lnTo>
                  <a:lnTo>
                    <a:pt x="1704327" y="25400"/>
                  </a:lnTo>
                  <a:lnTo>
                    <a:pt x="1698129" y="24129"/>
                  </a:lnTo>
                  <a:lnTo>
                    <a:pt x="1775821" y="24129"/>
                  </a:lnTo>
                  <a:lnTo>
                    <a:pt x="1778431" y="25400"/>
                  </a:lnTo>
                  <a:lnTo>
                    <a:pt x="1783448" y="30479"/>
                  </a:lnTo>
                  <a:lnTo>
                    <a:pt x="1786506" y="32894"/>
                  </a:lnTo>
                  <a:close/>
                </a:path>
                <a:path w="1831975" h="748029">
                  <a:moveTo>
                    <a:pt x="116344" y="26670"/>
                  </a:moveTo>
                  <a:lnTo>
                    <a:pt x="116979" y="25400"/>
                  </a:lnTo>
                  <a:lnTo>
                    <a:pt x="122377" y="25400"/>
                  </a:lnTo>
                  <a:lnTo>
                    <a:pt x="116344" y="26670"/>
                  </a:lnTo>
                  <a:close/>
                </a:path>
                <a:path w="1831975" h="748029">
                  <a:moveTo>
                    <a:pt x="1715211" y="26670"/>
                  </a:moveTo>
                  <a:lnTo>
                    <a:pt x="1709165" y="25400"/>
                  </a:lnTo>
                  <a:lnTo>
                    <a:pt x="1714576" y="25400"/>
                  </a:lnTo>
                  <a:lnTo>
                    <a:pt x="1715211" y="26670"/>
                  </a:lnTo>
                  <a:close/>
                </a:path>
                <a:path w="1831975" h="748029">
                  <a:moveTo>
                    <a:pt x="101599" y="29083"/>
                  </a:moveTo>
                  <a:lnTo>
                    <a:pt x="101292" y="29083"/>
                  </a:lnTo>
                  <a:lnTo>
                    <a:pt x="101894" y="28949"/>
                  </a:lnTo>
                  <a:lnTo>
                    <a:pt x="101599" y="29083"/>
                  </a:lnTo>
                  <a:close/>
                </a:path>
                <a:path w="1831975" h="748029">
                  <a:moveTo>
                    <a:pt x="91666" y="32894"/>
                  </a:moveTo>
                  <a:lnTo>
                    <a:pt x="91372" y="32894"/>
                  </a:lnTo>
                  <a:lnTo>
                    <a:pt x="91947" y="32760"/>
                  </a:lnTo>
                  <a:lnTo>
                    <a:pt x="91666" y="32894"/>
                  </a:lnTo>
                  <a:close/>
                </a:path>
                <a:path w="1831975" h="748029">
                  <a:moveTo>
                    <a:pt x="1792452" y="38100"/>
                  </a:moveTo>
                  <a:lnTo>
                    <a:pt x="1750123" y="38100"/>
                  </a:lnTo>
                  <a:lnTo>
                    <a:pt x="1744929" y="35560"/>
                  </a:lnTo>
                  <a:lnTo>
                    <a:pt x="1745488" y="35560"/>
                  </a:lnTo>
                  <a:lnTo>
                    <a:pt x="1739595" y="32760"/>
                  </a:lnTo>
                  <a:lnTo>
                    <a:pt x="1740170" y="32894"/>
                  </a:lnTo>
                  <a:lnTo>
                    <a:pt x="1786506" y="32894"/>
                  </a:lnTo>
                  <a:lnTo>
                    <a:pt x="1788274" y="34289"/>
                  </a:lnTo>
                  <a:lnTo>
                    <a:pt x="1792452" y="38100"/>
                  </a:lnTo>
                  <a:close/>
                </a:path>
                <a:path w="1831975" h="748029">
                  <a:moveTo>
                    <a:pt x="1750606" y="737870"/>
                  </a:moveTo>
                  <a:lnTo>
                    <a:pt x="80949" y="737870"/>
                  </a:lnTo>
                  <a:lnTo>
                    <a:pt x="75044" y="735329"/>
                  </a:lnTo>
                  <a:lnTo>
                    <a:pt x="69303" y="731520"/>
                  </a:lnTo>
                  <a:lnTo>
                    <a:pt x="63728" y="728979"/>
                  </a:lnTo>
                  <a:lnTo>
                    <a:pt x="58839" y="725170"/>
                  </a:lnTo>
                  <a:lnTo>
                    <a:pt x="53606" y="721360"/>
                  </a:lnTo>
                  <a:lnTo>
                    <a:pt x="48564" y="717550"/>
                  </a:lnTo>
                  <a:lnTo>
                    <a:pt x="43726" y="713739"/>
                  </a:lnTo>
                  <a:lnTo>
                    <a:pt x="39090" y="708660"/>
                  </a:lnTo>
                  <a:lnTo>
                    <a:pt x="38658" y="708660"/>
                  </a:lnTo>
                  <a:lnTo>
                    <a:pt x="34670" y="704850"/>
                  </a:lnTo>
                  <a:lnTo>
                    <a:pt x="30086" y="699770"/>
                  </a:lnTo>
                  <a:lnTo>
                    <a:pt x="26504" y="694689"/>
                  </a:lnTo>
                  <a:lnTo>
                    <a:pt x="22783" y="689610"/>
                  </a:lnTo>
                  <a:lnTo>
                    <a:pt x="22440" y="689610"/>
                  </a:lnTo>
                  <a:lnTo>
                    <a:pt x="18986" y="683260"/>
                  </a:lnTo>
                  <a:lnTo>
                    <a:pt x="15786" y="678179"/>
                  </a:lnTo>
                  <a:lnTo>
                    <a:pt x="13131" y="673100"/>
                  </a:lnTo>
                  <a:lnTo>
                    <a:pt x="10198" y="666750"/>
                  </a:lnTo>
                  <a:lnTo>
                    <a:pt x="8039" y="660400"/>
                  </a:lnTo>
                  <a:lnTo>
                    <a:pt x="5930" y="655320"/>
                  </a:lnTo>
                  <a:lnTo>
                    <a:pt x="3962" y="647700"/>
                  </a:lnTo>
                  <a:lnTo>
                    <a:pt x="2616" y="642620"/>
                  </a:lnTo>
                  <a:lnTo>
                    <a:pt x="2489" y="641350"/>
                  </a:lnTo>
                  <a:lnTo>
                    <a:pt x="1333" y="635000"/>
                  </a:lnTo>
                  <a:lnTo>
                    <a:pt x="571" y="628650"/>
                  </a:lnTo>
                  <a:lnTo>
                    <a:pt x="38" y="622300"/>
                  </a:lnTo>
                  <a:lnTo>
                    <a:pt x="0" y="125729"/>
                  </a:lnTo>
                  <a:lnTo>
                    <a:pt x="279" y="122241"/>
                  </a:lnTo>
                  <a:lnTo>
                    <a:pt x="405" y="120660"/>
                  </a:lnTo>
                  <a:lnTo>
                    <a:pt x="507" y="119379"/>
                  </a:lnTo>
                  <a:lnTo>
                    <a:pt x="588" y="117999"/>
                  </a:lnTo>
                  <a:lnTo>
                    <a:pt x="1229" y="113722"/>
                  </a:lnTo>
                  <a:lnTo>
                    <a:pt x="1333" y="113029"/>
                  </a:lnTo>
                  <a:lnTo>
                    <a:pt x="2489" y="106679"/>
                  </a:lnTo>
                  <a:lnTo>
                    <a:pt x="2616" y="105410"/>
                  </a:lnTo>
                  <a:lnTo>
                    <a:pt x="15786" y="69850"/>
                  </a:lnTo>
                  <a:lnTo>
                    <a:pt x="18986" y="63500"/>
                  </a:lnTo>
                  <a:lnTo>
                    <a:pt x="22440" y="58420"/>
                  </a:lnTo>
                  <a:lnTo>
                    <a:pt x="22783" y="58420"/>
                  </a:lnTo>
                  <a:lnTo>
                    <a:pt x="26504" y="52070"/>
                  </a:lnTo>
                  <a:lnTo>
                    <a:pt x="30086" y="48260"/>
                  </a:lnTo>
                  <a:lnTo>
                    <a:pt x="34670" y="43179"/>
                  </a:lnTo>
                  <a:lnTo>
                    <a:pt x="38658" y="38100"/>
                  </a:lnTo>
                  <a:lnTo>
                    <a:pt x="81965" y="38100"/>
                  </a:lnTo>
                  <a:lnTo>
                    <a:pt x="76923" y="40639"/>
                  </a:lnTo>
                  <a:lnTo>
                    <a:pt x="77444" y="40639"/>
                  </a:lnTo>
                  <a:lnTo>
                    <a:pt x="72555" y="43179"/>
                  </a:lnTo>
                  <a:lnTo>
                    <a:pt x="73063" y="43179"/>
                  </a:lnTo>
                  <a:lnTo>
                    <a:pt x="68325" y="45720"/>
                  </a:lnTo>
                  <a:lnTo>
                    <a:pt x="68821" y="45720"/>
                  </a:lnTo>
                  <a:lnTo>
                    <a:pt x="64261" y="49529"/>
                  </a:lnTo>
                  <a:lnTo>
                    <a:pt x="64731" y="49529"/>
                  </a:lnTo>
                  <a:lnTo>
                    <a:pt x="61819" y="52070"/>
                  </a:lnTo>
                  <a:lnTo>
                    <a:pt x="60807" y="52070"/>
                  </a:lnTo>
                  <a:lnTo>
                    <a:pt x="57664" y="55879"/>
                  </a:lnTo>
                  <a:lnTo>
                    <a:pt x="57048" y="55879"/>
                  </a:lnTo>
                  <a:lnTo>
                    <a:pt x="54057" y="59689"/>
                  </a:lnTo>
                  <a:lnTo>
                    <a:pt x="53466" y="59689"/>
                  </a:lnTo>
                  <a:lnTo>
                    <a:pt x="50619" y="63500"/>
                  </a:lnTo>
                  <a:lnTo>
                    <a:pt x="50063" y="63500"/>
                  </a:lnTo>
                  <a:lnTo>
                    <a:pt x="47377" y="67310"/>
                  </a:lnTo>
                  <a:lnTo>
                    <a:pt x="46850" y="67310"/>
                  </a:lnTo>
                  <a:lnTo>
                    <a:pt x="43484" y="72389"/>
                  </a:lnTo>
                  <a:lnTo>
                    <a:pt x="43827" y="72389"/>
                  </a:lnTo>
                  <a:lnTo>
                    <a:pt x="41475" y="76200"/>
                  </a:lnTo>
                  <a:lnTo>
                    <a:pt x="41008" y="76200"/>
                  </a:lnTo>
                  <a:lnTo>
                    <a:pt x="38100" y="81279"/>
                  </a:lnTo>
                  <a:lnTo>
                    <a:pt x="38404" y="81279"/>
                  </a:lnTo>
                  <a:lnTo>
                    <a:pt x="36404" y="85089"/>
                  </a:lnTo>
                  <a:lnTo>
                    <a:pt x="36004" y="85089"/>
                  </a:lnTo>
                  <a:lnTo>
                    <a:pt x="34074" y="90170"/>
                  </a:lnTo>
                  <a:lnTo>
                    <a:pt x="33832" y="90170"/>
                  </a:lnTo>
                  <a:lnTo>
                    <a:pt x="31673" y="95250"/>
                  </a:lnTo>
                  <a:lnTo>
                    <a:pt x="31889" y="95250"/>
                  </a:lnTo>
                  <a:lnTo>
                    <a:pt x="29997" y="100329"/>
                  </a:lnTo>
                  <a:lnTo>
                    <a:pt x="30187" y="100329"/>
                  </a:lnTo>
                  <a:lnTo>
                    <a:pt x="28562" y="105410"/>
                  </a:lnTo>
                  <a:lnTo>
                    <a:pt x="28714" y="105410"/>
                  </a:lnTo>
                  <a:lnTo>
                    <a:pt x="27637" y="110489"/>
                  </a:lnTo>
                  <a:lnTo>
                    <a:pt x="27495" y="110489"/>
                  </a:lnTo>
                  <a:lnTo>
                    <a:pt x="26238" y="117999"/>
                  </a:lnTo>
                  <a:lnTo>
                    <a:pt x="25762" y="121917"/>
                  </a:lnTo>
                  <a:lnTo>
                    <a:pt x="25723" y="122241"/>
                  </a:lnTo>
                  <a:lnTo>
                    <a:pt x="25486" y="125729"/>
                  </a:lnTo>
                  <a:lnTo>
                    <a:pt x="25400" y="127000"/>
                  </a:lnTo>
                  <a:lnTo>
                    <a:pt x="25267" y="132079"/>
                  </a:lnTo>
                  <a:lnTo>
                    <a:pt x="25234" y="614679"/>
                  </a:lnTo>
                  <a:lnTo>
                    <a:pt x="25364" y="619654"/>
                  </a:lnTo>
                  <a:lnTo>
                    <a:pt x="25768" y="626110"/>
                  </a:lnTo>
                  <a:lnTo>
                    <a:pt x="26441" y="631189"/>
                  </a:lnTo>
                  <a:lnTo>
                    <a:pt x="27368" y="636270"/>
                  </a:lnTo>
                  <a:lnTo>
                    <a:pt x="28714" y="642620"/>
                  </a:lnTo>
                  <a:lnTo>
                    <a:pt x="28887" y="642620"/>
                  </a:lnTo>
                  <a:lnTo>
                    <a:pt x="30187" y="647700"/>
                  </a:lnTo>
                  <a:lnTo>
                    <a:pt x="30375" y="647700"/>
                  </a:lnTo>
                  <a:lnTo>
                    <a:pt x="31889" y="652779"/>
                  </a:lnTo>
                  <a:lnTo>
                    <a:pt x="32213" y="652779"/>
                  </a:lnTo>
                  <a:lnTo>
                    <a:pt x="33832" y="656589"/>
                  </a:lnTo>
                  <a:lnTo>
                    <a:pt x="33591" y="656589"/>
                  </a:lnTo>
                  <a:lnTo>
                    <a:pt x="36004" y="661670"/>
                  </a:lnTo>
                  <a:lnTo>
                    <a:pt x="35737" y="661670"/>
                  </a:lnTo>
                  <a:lnTo>
                    <a:pt x="38404" y="666750"/>
                  </a:lnTo>
                  <a:lnTo>
                    <a:pt x="38827" y="666750"/>
                  </a:lnTo>
                  <a:lnTo>
                    <a:pt x="41008" y="670560"/>
                  </a:lnTo>
                  <a:lnTo>
                    <a:pt x="40690" y="670560"/>
                  </a:lnTo>
                  <a:lnTo>
                    <a:pt x="43827" y="675639"/>
                  </a:lnTo>
                  <a:lnTo>
                    <a:pt x="44326" y="675639"/>
                  </a:lnTo>
                  <a:lnTo>
                    <a:pt x="46850" y="679450"/>
                  </a:lnTo>
                  <a:lnTo>
                    <a:pt x="46481" y="679450"/>
                  </a:lnTo>
                  <a:lnTo>
                    <a:pt x="50063" y="683260"/>
                  </a:lnTo>
                  <a:lnTo>
                    <a:pt x="49669" y="683260"/>
                  </a:lnTo>
                  <a:lnTo>
                    <a:pt x="53466" y="687070"/>
                  </a:lnTo>
                  <a:lnTo>
                    <a:pt x="53060" y="687070"/>
                  </a:lnTo>
                  <a:lnTo>
                    <a:pt x="57048" y="690879"/>
                  </a:lnTo>
                  <a:lnTo>
                    <a:pt x="56616" y="690879"/>
                  </a:lnTo>
                  <a:lnTo>
                    <a:pt x="60807" y="694689"/>
                  </a:lnTo>
                  <a:lnTo>
                    <a:pt x="60363" y="694689"/>
                  </a:lnTo>
                  <a:lnTo>
                    <a:pt x="64731" y="698500"/>
                  </a:lnTo>
                  <a:lnTo>
                    <a:pt x="64261" y="698500"/>
                  </a:lnTo>
                  <a:lnTo>
                    <a:pt x="68821" y="701039"/>
                  </a:lnTo>
                  <a:lnTo>
                    <a:pt x="68325" y="701039"/>
                  </a:lnTo>
                  <a:lnTo>
                    <a:pt x="73063" y="704850"/>
                  </a:lnTo>
                  <a:lnTo>
                    <a:pt x="74184" y="704850"/>
                  </a:lnTo>
                  <a:lnTo>
                    <a:pt x="77444" y="707389"/>
                  </a:lnTo>
                  <a:lnTo>
                    <a:pt x="76923" y="707389"/>
                  </a:lnTo>
                  <a:lnTo>
                    <a:pt x="81965" y="709929"/>
                  </a:lnTo>
                  <a:lnTo>
                    <a:pt x="81432" y="709929"/>
                  </a:lnTo>
                  <a:lnTo>
                    <a:pt x="86626" y="712470"/>
                  </a:lnTo>
                  <a:lnTo>
                    <a:pt x="86067" y="712470"/>
                  </a:lnTo>
                  <a:lnTo>
                    <a:pt x="91401" y="713739"/>
                  </a:lnTo>
                  <a:lnTo>
                    <a:pt x="90830" y="713739"/>
                  </a:lnTo>
                  <a:lnTo>
                    <a:pt x="96304" y="716279"/>
                  </a:lnTo>
                  <a:lnTo>
                    <a:pt x="95719" y="716279"/>
                  </a:lnTo>
                  <a:lnTo>
                    <a:pt x="101320" y="717550"/>
                  </a:lnTo>
                  <a:lnTo>
                    <a:pt x="100723" y="717550"/>
                  </a:lnTo>
                  <a:lnTo>
                    <a:pt x="106438" y="718820"/>
                  </a:lnTo>
                  <a:lnTo>
                    <a:pt x="105829" y="718820"/>
                  </a:lnTo>
                  <a:lnTo>
                    <a:pt x="111658" y="720089"/>
                  </a:lnTo>
                  <a:lnTo>
                    <a:pt x="111036" y="720089"/>
                  </a:lnTo>
                  <a:lnTo>
                    <a:pt x="116979" y="721360"/>
                  </a:lnTo>
                  <a:lnTo>
                    <a:pt x="116344" y="721360"/>
                  </a:lnTo>
                  <a:lnTo>
                    <a:pt x="122377" y="722629"/>
                  </a:lnTo>
                  <a:lnTo>
                    <a:pt x="1776691" y="722629"/>
                  </a:lnTo>
                  <a:lnTo>
                    <a:pt x="1773212" y="725170"/>
                  </a:lnTo>
                  <a:lnTo>
                    <a:pt x="1772704" y="725170"/>
                  </a:lnTo>
                  <a:lnTo>
                    <a:pt x="1767293" y="728979"/>
                  </a:lnTo>
                  <a:lnTo>
                    <a:pt x="1761705" y="731520"/>
                  </a:lnTo>
                  <a:lnTo>
                    <a:pt x="1756498" y="735329"/>
                  </a:lnTo>
                  <a:lnTo>
                    <a:pt x="1750606" y="737870"/>
                  </a:lnTo>
                  <a:close/>
                </a:path>
                <a:path w="1831975" h="748029">
                  <a:moveTo>
                    <a:pt x="1771192" y="53339"/>
                  </a:moveTo>
                  <a:lnTo>
                    <a:pt x="1766811" y="49529"/>
                  </a:lnTo>
                  <a:lnTo>
                    <a:pt x="1767281" y="49529"/>
                  </a:lnTo>
                  <a:lnTo>
                    <a:pt x="1762734" y="45720"/>
                  </a:lnTo>
                  <a:lnTo>
                    <a:pt x="1763217" y="45720"/>
                  </a:lnTo>
                  <a:lnTo>
                    <a:pt x="1758492" y="43179"/>
                  </a:lnTo>
                  <a:lnTo>
                    <a:pt x="1759000" y="43179"/>
                  </a:lnTo>
                  <a:lnTo>
                    <a:pt x="1754111" y="40639"/>
                  </a:lnTo>
                  <a:lnTo>
                    <a:pt x="1754631" y="40639"/>
                  </a:lnTo>
                  <a:lnTo>
                    <a:pt x="1749577" y="38100"/>
                  </a:lnTo>
                  <a:lnTo>
                    <a:pt x="1792884" y="38100"/>
                  </a:lnTo>
                  <a:lnTo>
                    <a:pt x="1797291" y="43179"/>
                  </a:lnTo>
                  <a:lnTo>
                    <a:pt x="1801075" y="46989"/>
                  </a:lnTo>
                  <a:lnTo>
                    <a:pt x="1804540" y="52070"/>
                  </a:lnTo>
                  <a:lnTo>
                    <a:pt x="1770748" y="52070"/>
                  </a:lnTo>
                  <a:lnTo>
                    <a:pt x="1771192" y="53339"/>
                  </a:lnTo>
                  <a:close/>
                </a:path>
                <a:path w="1831975" h="748029">
                  <a:moveTo>
                    <a:pt x="60363" y="53339"/>
                  </a:moveTo>
                  <a:lnTo>
                    <a:pt x="60807" y="52070"/>
                  </a:lnTo>
                  <a:lnTo>
                    <a:pt x="61819" y="52070"/>
                  </a:lnTo>
                  <a:lnTo>
                    <a:pt x="60363" y="53339"/>
                  </a:lnTo>
                  <a:close/>
                </a:path>
                <a:path w="1831975" h="748029">
                  <a:moveTo>
                    <a:pt x="1774926" y="57150"/>
                  </a:moveTo>
                  <a:lnTo>
                    <a:pt x="1770748" y="52070"/>
                  </a:lnTo>
                  <a:lnTo>
                    <a:pt x="1804540" y="52070"/>
                  </a:lnTo>
                  <a:lnTo>
                    <a:pt x="1805406" y="53339"/>
                  </a:lnTo>
                  <a:lnTo>
                    <a:pt x="1807082" y="55879"/>
                  </a:lnTo>
                  <a:lnTo>
                    <a:pt x="1774507" y="55879"/>
                  </a:lnTo>
                  <a:lnTo>
                    <a:pt x="1774926" y="57150"/>
                  </a:lnTo>
                  <a:close/>
                </a:path>
                <a:path w="1831975" h="748029">
                  <a:moveTo>
                    <a:pt x="56616" y="57150"/>
                  </a:moveTo>
                  <a:lnTo>
                    <a:pt x="57048" y="55879"/>
                  </a:lnTo>
                  <a:lnTo>
                    <a:pt x="57664" y="55879"/>
                  </a:lnTo>
                  <a:lnTo>
                    <a:pt x="56616" y="57150"/>
                  </a:lnTo>
                  <a:close/>
                </a:path>
                <a:path w="1831975" h="748029">
                  <a:moveTo>
                    <a:pt x="1778495" y="60960"/>
                  </a:moveTo>
                  <a:lnTo>
                    <a:pt x="1774507" y="55879"/>
                  </a:lnTo>
                  <a:lnTo>
                    <a:pt x="1807082" y="55879"/>
                  </a:lnTo>
                  <a:lnTo>
                    <a:pt x="1808759" y="58420"/>
                  </a:lnTo>
                  <a:lnTo>
                    <a:pt x="1809102" y="58420"/>
                  </a:lnTo>
                  <a:lnTo>
                    <a:pt x="1809965" y="59689"/>
                  </a:lnTo>
                  <a:lnTo>
                    <a:pt x="1778088" y="59689"/>
                  </a:lnTo>
                  <a:lnTo>
                    <a:pt x="1778495" y="60960"/>
                  </a:lnTo>
                  <a:close/>
                </a:path>
                <a:path w="1831975" h="748029">
                  <a:moveTo>
                    <a:pt x="53060" y="60960"/>
                  </a:moveTo>
                  <a:lnTo>
                    <a:pt x="53466" y="59689"/>
                  </a:lnTo>
                  <a:lnTo>
                    <a:pt x="54057" y="59689"/>
                  </a:lnTo>
                  <a:lnTo>
                    <a:pt x="53060" y="60960"/>
                  </a:lnTo>
                  <a:close/>
                </a:path>
                <a:path w="1831975" h="748029">
                  <a:moveTo>
                    <a:pt x="1781873" y="64770"/>
                  </a:moveTo>
                  <a:lnTo>
                    <a:pt x="1778088" y="59689"/>
                  </a:lnTo>
                  <a:lnTo>
                    <a:pt x="1809965" y="59689"/>
                  </a:lnTo>
                  <a:lnTo>
                    <a:pt x="1812556" y="63500"/>
                  </a:lnTo>
                  <a:lnTo>
                    <a:pt x="1781492" y="63500"/>
                  </a:lnTo>
                  <a:lnTo>
                    <a:pt x="1781873" y="64770"/>
                  </a:lnTo>
                  <a:close/>
                </a:path>
                <a:path w="1831975" h="748029">
                  <a:moveTo>
                    <a:pt x="49669" y="64770"/>
                  </a:moveTo>
                  <a:lnTo>
                    <a:pt x="50063" y="63500"/>
                  </a:lnTo>
                  <a:lnTo>
                    <a:pt x="50619" y="63500"/>
                  </a:lnTo>
                  <a:lnTo>
                    <a:pt x="49669" y="64770"/>
                  </a:lnTo>
                  <a:close/>
                </a:path>
                <a:path w="1831975" h="748029">
                  <a:moveTo>
                    <a:pt x="1785073" y="68579"/>
                  </a:moveTo>
                  <a:lnTo>
                    <a:pt x="1781492" y="63500"/>
                  </a:lnTo>
                  <a:lnTo>
                    <a:pt x="1812556" y="63500"/>
                  </a:lnTo>
                  <a:lnTo>
                    <a:pt x="1814737" y="67310"/>
                  </a:lnTo>
                  <a:lnTo>
                    <a:pt x="1784705" y="67310"/>
                  </a:lnTo>
                  <a:lnTo>
                    <a:pt x="1785073" y="68579"/>
                  </a:lnTo>
                  <a:close/>
                </a:path>
                <a:path w="1831975" h="748029">
                  <a:moveTo>
                    <a:pt x="46481" y="68579"/>
                  </a:moveTo>
                  <a:lnTo>
                    <a:pt x="46850" y="67310"/>
                  </a:lnTo>
                  <a:lnTo>
                    <a:pt x="47377" y="67310"/>
                  </a:lnTo>
                  <a:lnTo>
                    <a:pt x="46481" y="68579"/>
                  </a:lnTo>
                  <a:close/>
                </a:path>
                <a:path w="1831975" h="748029">
                  <a:moveTo>
                    <a:pt x="1790865" y="77470"/>
                  </a:moveTo>
                  <a:lnTo>
                    <a:pt x="1787728" y="72389"/>
                  </a:lnTo>
                  <a:lnTo>
                    <a:pt x="1788071" y="72389"/>
                  </a:lnTo>
                  <a:lnTo>
                    <a:pt x="1784705" y="67310"/>
                  </a:lnTo>
                  <a:lnTo>
                    <a:pt x="1814737" y="67310"/>
                  </a:lnTo>
                  <a:lnTo>
                    <a:pt x="1815464" y="68579"/>
                  </a:lnTo>
                  <a:lnTo>
                    <a:pt x="1818424" y="74929"/>
                  </a:lnTo>
                  <a:lnTo>
                    <a:pt x="1819094" y="76200"/>
                  </a:lnTo>
                  <a:lnTo>
                    <a:pt x="1790534" y="76200"/>
                  </a:lnTo>
                  <a:lnTo>
                    <a:pt x="1790865" y="77470"/>
                  </a:lnTo>
                  <a:close/>
                </a:path>
                <a:path w="1831975" h="748029">
                  <a:moveTo>
                    <a:pt x="40690" y="77470"/>
                  </a:moveTo>
                  <a:lnTo>
                    <a:pt x="41008" y="76200"/>
                  </a:lnTo>
                  <a:lnTo>
                    <a:pt x="41475" y="76200"/>
                  </a:lnTo>
                  <a:lnTo>
                    <a:pt x="40690" y="77470"/>
                  </a:lnTo>
                  <a:close/>
                </a:path>
                <a:path w="1831975" h="748029">
                  <a:moveTo>
                    <a:pt x="1795818" y="86360"/>
                  </a:moveTo>
                  <a:lnTo>
                    <a:pt x="1793151" y="81279"/>
                  </a:lnTo>
                  <a:lnTo>
                    <a:pt x="1793443" y="81279"/>
                  </a:lnTo>
                  <a:lnTo>
                    <a:pt x="1790534" y="76200"/>
                  </a:lnTo>
                  <a:lnTo>
                    <a:pt x="1819094" y="76200"/>
                  </a:lnTo>
                  <a:lnTo>
                    <a:pt x="1821103" y="80010"/>
                  </a:lnTo>
                  <a:lnTo>
                    <a:pt x="1821345" y="81279"/>
                  </a:lnTo>
                  <a:lnTo>
                    <a:pt x="1822964" y="85089"/>
                  </a:lnTo>
                  <a:lnTo>
                    <a:pt x="1795538" y="85089"/>
                  </a:lnTo>
                  <a:lnTo>
                    <a:pt x="1795818" y="86360"/>
                  </a:lnTo>
                  <a:close/>
                </a:path>
                <a:path w="1831975" h="748029">
                  <a:moveTo>
                    <a:pt x="35737" y="86360"/>
                  </a:moveTo>
                  <a:lnTo>
                    <a:pt x="36004" y="85089"/>
                  </a:lnTo>
                  <a:lnTo>
                    <a:pt x="36404" y="85089"/>
                  </a:lnTo>
                  <a:lnTo>
                    <a:pt x="35737" y="86360"/>
                  </a:lnTo>
                  <a:close/>
                </a:path>
                <a:path w="1831975" h="748029">
                  <a:moveTo>
                    <a:pt x="1797964" y="91439"/>
                  </a:moveTo>
                  <a:lnTo>
                    <a:pt x="1795538" y="85089"/>
                  </a:lnTo>
                  <a:lnTo>
                    <a:pt x="1822964" y="85089"/>
                  </a:lnTo>
                  <a:lnTo>
                    <a:pt x="1823504" y="86360"/>
                  </a:lnTo>
                  <a:lnTo>
                    <a:pt x="1824883" y="90170"/>
                  </a:lnTo>
                  <a:lnTo>
                    <a:pt x="1797710" y="90170"/>
                  </a:lnTo>
                  <a:lnTo>
                    <a:pt x="1797964" y="91439"/>
                  </a:lnTo>
                  <a:close/>
                </a:path>
                <a:path w="1831975" h="748029">
                  <a:moveTo>
                    <a:pt x="33591" y="91439"/>
                  </a:moveTo>
                  <a:lnTo>
                    <a:pt x="33832" y="90170"/>
                  </a:lnTo>
                  <a:lnTo>
                    <a:pt x="34074" y="90170"/>
                  </a:lnTo>
                  <a:lnTo>
                    <a:pt x="33591" y="91439"/>
                  </a:lnTo>
                  <a:close/>
                </a:path>
                <a:path w="1831975" h="748029">
                  <a:moveTo>
                    <a:pt x="1828927" y="642620"/>
                  </a:moveTo>
                  <a:lnTo>
                    <a:pt x="1802828" y="642620"/>
                  </a:lnTo>
                  <a:lnTo>
                    <a:pt x="1805012" y="631189"/>
                  </a:lnTo>
                  <a:lnTo>
                    <a:pt x="1805724" y="626110"/>
                  </a:lnTo>
                  <a:lnTo>
                    <a:pt x="1805998" y="622300"/>
                  </a:lnTo>
                  <a:lnTo>
                    <a:pt x="1806089" y="125729"/>
                  </a:lnTo>
                  <a:lnTo>
                    <a:pt x="1805838" y="122241"/>
                  </a:lnTo>
                  <a:lnTo>
                    <a:pt x="1805309" y="117999"/>
                  </a:lnTo>
                  <a:lnTo>
                    <a:pt x="1804047" y="110489"/>
                  </a:lnTo>
                  <a:lnTo>
                    <a:pt x="1803905" y="110489"/>
                  </a:lnTo>
                  <a:lnTo>
                    <a:pt x="1802828" y="105410"/>
                  </a:lnTo>
                  <a:lnTo>
                    <a:pt x="1802993" y="105410"/>
                  </a:lnTo>
                  <a:lnTo>
                    <a:pt x="1801367" y="100329"/>
                  </a:lnTo>
                  <a:lnTo>
                    <a:pt x="1801558" y="100329"/>
                  </a:lnTo>
                  <a:lnTo>
                    <a:pt x="1799653" y="95250"/>
                  </a:lnTo>
                  <a:lnTo>
                    <a:pt x="1799869" y="95250"/>
                  </a:lnTo>
                  <a:lnTo>
                    <a:pt x="1797710" y="90170"/>
                  </a:lnTo>
                  <a:lnTo>
                    <a:pt x="1824883" y="90170"/>
                  </a:lnTo>
                  <a:lnTo>
                    <a:pt x="1825802" y="92710"/>
                  </a:lnTo>
                  <a:lnTo>
                    <a:pt x="1827428" y="99060"/>
                  </a:lnTo>
                  <a:lnTo>
                    <a:pt x="1828927" y="105410"/>
                  </a:lnTo>
                  <a:lnTo>
                    <a:pt x="1829053" y="106679"/>
                  </a:lnTo>
                  <a:lnTo>
                    <a:pt x="1829854" y="110489"/>
                  </a:lnTo>
                  <a:lnTo>
                    <a:pt x="1804047" y="110489"/>
                  </a:lnTo>
                  <a:lnTo>
                    <a:pt x="1804258" y="111745"/>
                  </a:lnTo>
                  <a:lnTo>
                    <a:pt x="1830117" y="111745"/>
                  </a:lnTo>
                  <a:lnTo>
                    <a:pt x="1830969" y="117999"/>
                  </a:lnTo>
                  <a:lnTo>
                    <a:pt x="1831047" y="119379"/>
                  </a:lnTo>
                  <a:lnTo>
                    <a:pt x="1831543" y="125729"/>
                  </a:lnTo>
                  <a:lnTo>
                    <a:pt x="1831450" y="622300"/>
                  </a:lnTo>
                  <a:lnTo>
                    <a:pt x="1830984" y="628650"/>
                  </a:lnTo>
                  <a:lnTo>
                    <a:pt x="1830120" y="635000"/>
                  </a:lnTo>
                  <a:lnTo>
                    <a:pt x="1829053" y="641350"/>
                  </a:lnTo>
                  <a:lnTo>
                    <a:pt x="1828927" y="642620"/>
                  </a:lnTo>
                  <a:close/>
                </a:path>
                <a:path w="1831975" h="748029">
                  <a:moveTo>
                    <a:pt x="27371" y="111745"/>
                  </a:moveTo>
                  <a:lnTo>
                    <a:pt x="27495" y="110489"/>
                  </a:lnTo>
                  <a:lnTo>
                    <a:pt x="27637" y="110489"/>
                  </a:lnTo>
                  <a:lnTo>
                    <a:pt x="27371" y="111745"/>
                  </a:lnTo>
                  <a:close/>
                </a:path>
                <a:path w="1831975" h="748029">
                  <a:moveTo>
                    <a:pt x="28887" y="642620"/>
                  </a:moveTo>
                  <a:lnTo>
                    <a:pt x="28714" y="642620"/>
                  </a:lnTo>
                  <a:lnTo>
                    <a:pt x="28445" y="641350"/>
                  </a:lnTo>
                  <a:lnTo>
                    <a:pt x="28887" y="642620"/>
                  </a:lnTo>
                  <a:close/>
                </a:path>
                <a:path w="1831975" h="748029">
                  <a:moveTo>
                    <a:pt x="1827728" y="647700"/>
                  </a:moveTo>
                  <a:lnTo>
                    <a:pt x="1801367" y="647700"/>
                  </a:lnTo>
                  <a:lnTo>
                    <a:pt x="1802993" y="641350"/>
                  </a:lnTo>
                  <a:lnTo>
                    <a:pt x="1802828" y="642620"/>
                  </a:lnTo>
                  <a:lnTo>
                    <a:pt x="1828927" y="642620"/>
                  </a:lnTo>
                  <a:lnTo>
                    <a:pt x="1827728" y="647700"/>
                  </a:lnTo>
                  <a:close/>
                </a:path>
                <a:path w="1831975" h="748029">
                  <a:moveTo>
                    <a:pt x="1826209" y="652779"/>
                  </a:moveTo>
                  <a:lnTo>
                    <a:pt x="1799653" y="652779"/>
                  </a:lnTo>
                  <a:lnTo>
                    <a:pt x="1802476" y="643370"/>
                  </a:lnTo>
                  <a:lnTo>
                    <a:pt x="1801367" y="647700"/>
                  </a:lnTo>
                  <a:lnTo>
                    <a:pt x="1827728" y="647700"/>
                  </a:lnTo>
                  <a:lnTo>
                    <a:pt x="1827428" y="648970"/>
                  </a:lnTo>
                  <a:lnTo>
                    <a:pt x="1826209" y="652779"/>
                  </a:lnTo>
                  <a:close/>
                </a:path>
                <a:path w="1831975" h="748029">
                  <a:moveTo>
                    <a:pt x="30375" y="647700"/>
                  </a:moveTo>
                  <a:lnTo>
                    <a:pt x="30187" y="647700"/>
                  </a:lnTo>
                  <a:lnTo>
                    <a:pt x="29997" y="646429"/>
                  </a:lnTo>
                  <a:lnTo>
                    <a:pt x="30375" y="647700"/>
                  </a:lnTo>
                  <a:close/>
                </a:path>
                <a:path w="1831975" h="748029">
                  <a:moveTo>
                    <a:pt x="32213" y="652779"/>
                  </a:moveTo>
                  <a:lnTo>
                    <a:pt x="31889" y="652779"/>
                  </a:lnTo>
                  <a:lnTo>
                    <a:pt x="31673" y="651510"/>
                  </a:lnTo>
                  <a:lnTo>
                    <a:pt x="32213" y="652779"/>
                  </a:lnTo>
                  <a:close/>
                </a:path>
                <a:path w="1831975" h="748029">
                  <a:moveTo>
                    <a:pt x="1821345" y="666750"/>
                  </a:moveTo>
                  <a:lnTo>
                    <a:pt x="1793151" y="666750"/>
                  </a:lnTo>
                  <a:lnTo>
                    <a:pt x="1795818" y="661670"/>
                  </a:lnTo>
                  <a:lnTo>
                    <a:pt x="1795538" y="661670"/>
                  </a:lnTo>
                  <a:lnTo>
                    <a:pt x="1797964" y="656589"/>
                  </a:lnTo>
                  <a:lnTo>
                    <a:pt x="1797710" y="656589"/>
                  </a:lnTo>
                  <a:lnTo>
                    <a:pt x="1799869" y="651510"/>
                  </a:lnTo>
                  <a:lnTo>
                    <a:pt x="1799653" y="652779"/>
                  </a:lnTo>
                  <a:lnTo>
                    <a:pt x="1826209" y="652779"/>
                  </a:lnTo>
                  <a:lnTo>
                    <a:pt x="1823719" y="660400"/>
                  </a:lnTo>
                  <a:lnTo>
                    <a:pt x="1823504" y="660400"/>
                  </a:lnTo>
                  <a:lnTo>
                    <a:pt x="1821345" y="666750"/>
                  </a:lnTo>
                  <a:close/>
                </a:path>
                <a:path w="1831975" h="748029">
                  <a:moveTo>
                    <a:pt x="38827" y="666750"/>
                  </a:moveTo>
                  <a:lnTo>
                    <a:pt x="38404" y="666750"/>
                  </a:lnTo>
                  <a:lnTo>
                    <a:pt x="38100" y="665479"/>
                  </a:lnTo>
                  <a:lnTo>
                    <a:pt x="38827" y="666750"/>
                  </a:lnTo>
                  <a:close/>
                </a:path>
                <a:path w="1831975" h="748029">
                  <a:moveTo>
                    <a:pt x="1817090" y="675639"/>
                  </a:moveTo>
                  <a:lnTo>
                    <a:pt x="1787728" y="675639"/>
                  </a:lnTo>
                  <a:lnTo>
                    <a:pt x="1790865" y="670560"/>
                  </a:lnTo>
                  <a:lnTo>
                    <a:pt x="1790534" y="670560"/>
                  </a:lnTo>
                  <a:lnTo>
                    <a:pt x="1793443" y="665479"/>
                  </a:lnTo>
                  <a:lnTo>
                    <a:pt x="1793151" y="666750"/>
                  </a:lnTo>
                  <a:lnTo>
                    <a:pt x="1821103" y="666750"/>
                  </a:lnTo>
                  <a:lnTo>
                    <a:pt x="1818424" y="673100"/>
                  </a:lnTo>
                  <a:lnTo>
                    <a:pt x="1817090" y="675639"/>
                  </a:lnTo>
                  <a:close/>
                </a:path>
                <a:path w="1831975" h="748029">
                  <a:moveTo>
                    <a:pt x="44326" y="675639"/>
                  </a:moveTo>
                  <a:lnTo>
                    <a:pt x="43827" y="675639"/>
                  </a:lnTo>
                  <a:lnTo>
                    <a:pt x="43484" y="674370"/>
                  </a:lnTo>
                  <a:lnTo>
                    <a:pt x="44326" y="675639"/>
                  </a:lnTo>
                  <a:close/>
                </a:path>
                <a:path w="1831975" h="748029">
                  <a:moveTo>
                    <a:pt x="1796189" y="704850"/>
                  </a:moveTo>
                  <a:lnTo>
                    <a:pt x="1758492" y="704850"/>
                  </a:lnTo>
                  <a:lnTo>
                    <a:pt x="1763217" y="701039"/>
                  </a:lnTo>
                  <a:lnTo>
                    <a:pt x="1762734" y="701039"/>
                  </a:lnTo>
                  <a:lnTo>
                    <a:pt x="1767281" y="698500"/>
                  </a:lnTo>
                  <a:lnTo>
                    <a:pt x="1766811" y="698500"/>
                  </a:lnTo>
                  <a:lnTo>
                    <a:pt x="1771192" y="694689"/>
                  </a:lnTo>
                  <a:lnTo>
                    <a:pt x="1770748" y="694689"/>
                  </a:lnTo>
                  <a:lnTo>
                    <a:pt x="1774926" y="690879"/>
                  </a:lnTo>
                  <a:lnTo>
                    <a:pt x="1774507" y="690879"/>
                  </a:lnTo>
                  <a:lnTo>
                    <a:pt x="1778495" y="687070"/>
                  </a:lnTo>
                  <a:lnTo>
                    <a:pt x="1778088" y="687070"/>
                  </a:lnTo>
                  <a:lnTo>
                    <a:pt x="1781873" y="683260"/>
                  </a:lnTo>
                  <a:lnTo>
                    <a:pt x="1781492" y="683260"/>
                  </a:lnTo>
                  <a:lnTo>
                    <a:pt x="1785073" y="679450"/>
                  </a:lnTo>
                  <a:lnTo>
                    <a:pt x="1784705" y="679450"/>
                  </a:lnTo>
                  <a:lnTo>
                    <a:pt x="1788071" y="674370"/>
                  </a:lnTo>
                  <a:lnTo>
                    <a:pt x="1787728" y="675639"/>
                  </a:lnTo>
                  <a:lnTo>
                    <a:pt x="1817090" y="675639"/>
                  </a:lnTo>
                  <a:lnTo>
                    <a:pt x="1815757" y="678179"/>
                  </a:lnTo>
                  <a:lnTo>
                    <a:pt x="1812556" y="683260"/>
                  </a:lnTo>
                  <a:lnTo>
                    <a:pt x="1809102" y="689610"/>
                  </a:lnTo>
                  <a:lnTo>
                    <a:pt x="1808759" y="689610"/>
                  </a:lnTo>
                  <a:lnTo>
                    <a:pt x="1805038" y="694689"/>
                  </a:lnTo>
                  <a:lnTo>
                    <a:pt x="1801075" y="699770"/>
                  </a:lnTo>
                  <a:lnTo>
                    <a:pt x="1797291" y="703579"/>
                  </a:lnTo>
                  <a:lnTo>
                    <a:pt x="1796189" y="704850"/>
                  </a:lnTo>
                  <a:close/>
                </a:path>
                <a:path w="1831975" h="748029">
                  <a:moveTo>
                    <a:pt x="74184" y="704850"/>
                  </a:moveTo>
                  <a:lnTo>
                    <a:pt x="73063" y="704850"/>
                  </a:lnTo>
                  <a:lnTo>
                    <a:pt x="72555" y="703579"/>
                  </a:lnTo>
                  <a:lnTo>
                    <a:pt x="74184" y="704850"/>
                  </a:lnTo>
                  <a:close/>
                </a:path>
                <a:path w="1831975" h="748029">
                  <a:moveTo>
                    <a:pt x="1744401" y="712728"/>
                  </a:moveTo>
                  <a:lnTo>
                    <a:pt x="1750123" y="709929"/>
                  </a:lnTo>
                  <a:lnTo>
                    <a:pt x="1749577" y="709929"/>
                  </a:lnTo>
                  <a:lnTo>
                    <a:pt x="1754631" y="707389"/>
                  </a:lnTo>
                  <a:lnTo>
                    <a:pt x="1754111" y="707389"/>
                  </a:lnTo>
                  <a:lnTo>
                    <a:pt x="1759000" y="703579"/>
                  </a:lnTo>
                  <a:lnTo>
                    <a:pt x="1758492" y="704850"/>
                  </a:lnTo>
                  <a:lnTo>
                    <a:pt x="1796189" y="704850"/>
                  </a:lnTo>
                  <a:lnTo>
                    <a:pt x="1792884" y="708660"/>
                  </a:lnTo>
                  <a:lnTo>
                    <a:pt x="1792452" y="708660"/>
                  </a:lnTo>
                  <a:lnTo>
                    <a:pt x="1788975" y="712470"/>
                  </a:lnTo>
                  <a:lnTo>
                    <a:pt x="1745487" y="712470"/>
                  </a:lnTo>
                  <a:lnTo>
                    <a:pt x="1744401" y="712728"/>
                  </a:lnTo>
                  <a:close/>
                </a:path>
                <a:path w="1831975" h="748029">
                  <a:moveTo>
                    <a:pt x="87154" y="712728"/>
                  </a:moveTo>
                  <a:lnTo>
                    <a:pt x="86067" y="712470"/>
                  </a:lnTo>
                  <a:lnTo>
                    <a:pt x="86626" y="712470"/>
                  </a:lnTo>
                  <a:lnTo>
                    <a:pt x="87154" y="712728"/>
                  </a:lnTo>
                  <a:close/>
                </a:path>
                <a:path w="1831975" h="748029">
                  <a:moveTo>
                    <a:pt x="1734680" y="716539"/>
                  </a:moveTo>
                  <a:lnTo>
                    <a:pt x="1740712" y="713739"/>
                  </a:lnTo>
                  <a:lnTo>
                    <a:pt x="1740141" y="713739"/>
                  </a:lnTo>
                  <a:lnTo>
                    <a:pt x="1745488" y="712470"/>
                  </a:lnTo>
                  <a:lnTo>
                    <a:pt x="1788975" y="712470"/>
                  </a:lnTo>
                  <a:lnTo>
                    <a:pt x="1787817" y="713739"/>
                  </a:lnTo>
                  <a:lnTo>
                    <a:pt x="1784904" y="716279"/>
                  </a:lnTo>
                  <a:lnTo>
                    <a:pt x="1735823" y="716279"/>
                  </a:lnTo>
                  <a:lnTo>
                    <a:pt x="1734680" y="716539"/>
                  </a:lnTo>
                  <a:close/>
                </a:path>
                <a:path w="1831975" h="748029">
                  <a:moveTo>
                    <a:pt x="96862" y="716539"/>
                  </a:moveTo>
                  <a:lnTo>
                    <a:pt x="95719" y="716279"/>
                  </a:lnTo>
                  <a:lnTo>
                    <a:pt x="96304" y="716279"/>
                  </a:lnTo>
                  <a:lnTo>
                    <a:pt x="96862" y="716539"/>
                  </a:lnTo>
                  <a:close/>
                </a:path>
                <a:path w="1831975" h="748029">
                  <a:moveTo>
                    <a:pt x="1776691" y="722629"/>
                  </a:moveTo>
                  <a:lnTo>
                    <a:pt x="1709165" y="722629"/>
                  </a:lnTo>
                  <a:lnTo>
                    <a:pt x="1715211" y="721360"/>
                  </a:lnTo>
                  <a:lnTo>
                    <a:pt x="1714576" y="721360"/>
                  </a:lnTo>
                  <a:lnTo>
                    <a:pt x="1720507" y="720089"/>
                  </a:lnTo>
                  <a:lnTo>
                    <a:pt x="1719884" y="720089"/>
                  </a:lnTo>
                  <a:lnTo>
                    <a:pt x="1725714" y="718820"/>
                  </a:lnTo>
                  <a:lnTo>
                    <a:pt x="1725104" y="718820"/>
                  </a:lnTo>
                  <a:lnTo>
                    <a:pt x="1730832" y="717550"/>
                  </a:lnTo>
                  <a:lnTo>
                    <a:pt x="1730222" y="717550"/>
                  </a:lnTo>
                  <a:lnTo>
                    <a:pt x="1735823" y="716279"/>
                  </a:lnTo>
                  <a:lnTo>
                    <a:pt x="1784904" y="716279"/>
                  </a:lnTo>
                  <a:lnTo>
                    <a:pt x="1783448" y="717550"/>
                  </a:lnTo>
                  <a:lnTo>
                    <a:pt x="1778431" y="721360"/>
                  </a:lnTo>
                  <a:lnTo>
                    <a:pt x="1776691" y="722629"/>
                  </a:lnTo>
                  <a:close/>
                </a:path>
                <a:path w="1831975" h="748029">
                  <a:moveTo>
                    <a:pt x="1725599" y="745489"/>
                  </a:moveTo>
                  <a:lnTo>
                    <a:pt x="105956" y="745489"/>
                  </a:lnTo>
                  <a:lnTo>
                    <a:pt x="99504" y="744220"/>
                  </a:lnTo>
                  <a:lnTo>
                    <a:pt x="93776" y="741679"/>
                  </a:lnTo>
                  <a:lnTo>
                    <a:pt x="87579" y="740410"/>
                  </a:lnTo>
                  <a:lnTo>
                    <a:pt x="81521" y="737870"/>
                  </a:lnTo>
                  <a:lnTo>
                    <a:pt x="1750034" y="737870"/>
                  </a:lnTo>
                  <a:lnTo>
                    <a:pt x="1744560" y="740410"/>
                  </a:lnTo>
                  <a:lnTo>
                    <a:pt x="1737766" y="741679"/>
                  </a:lnTo>
                  <a:lnTo>
                    <a:pt x="1732051" y="744220"/>
                  </a:lnTo>
                  <a:lnTo>
                    <a:pt x="1725599" y="745489"/>
                  </a:lnTo>
                  <a:close/>
                </a:path>
                <a:path w="1831975" h="748029">
                  <a:moveTo>
                    <a:pt x="1719033" y="746760"/>
                  </a:moveTo>
                  <a:lnTo>
                    <a:pt x="112509" y="746760"/>
                  </a:lnTo>
                  <a:lnTo>
                    <a:pt x="106578" y="745489"/>
                  </a:lnTo>
                  <a:lnTo>
                    <a:pt x="1724977" y="745489"/>
                  </a:lnTo>
                  <a:lnTo>
                    <a:pt x="1719033" y="746760"/>
                  </a:lnTo>
                  <a:close/>
                </a:path>
                <a:path w="1831975" h="748029">
                  <a:moveTo>
                    <a:pt x="1711731" y="748029"/>
                  </a:moveTo>
                  <a:lnTo>
                    <a:pt x="119811" y="748029"/>
                  </a:lnTo>
                  <a:lnTo>
                    <a:pt x="119176" y="746760"/>
                  </a:lnTo>
                  <a:lnTo>
                    <a:pt x="1712379" y="746760"/>
                  </a:lnTo>
                  <a:lnTo>
                    <a:pt x="1711731" y="748029"/>
                  </a:lnTo>
                  <a:close/>
                </a:path>
              </a:pathLst>
            </a:custGeom>
            <a:solidFill>
              <a:srgbClr val="1E1E6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4764417" y="4651667"/>
            <a:ext cx="73596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4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特征</a:t>
            </a:r>
            <a:endParaRPr sz="2800">
              <a:latin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1" name="object 2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55264" y="4527461"/>
            <a:ext cx="2564244" cy="748029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10173055" y="4651667"/>
            <a:ext cx="144716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3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预测结果</a:t>
            </a:r>
            <a:endParaRPr sz="2800">
              <a:latin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023749" y="2626867"/>
            <a:ext cx="2091689" cy="2453005"/>
            <a:chOff x="6023749" y="2626867"/>
            <a:chExt cx="2091689" cy="2453005"/>
          </a:xfrm>
        </p:grpSpPr>
        <p:sp>
          <p:nvSpPr>
            <p:cNvPr id="24" name="object 24"/>
            <p:cNvSpPr/>
            <p:nvPr/>
          </p:nvSpPr>
          <p:spPr>
            <a:xfrm>
              <a:off x="6036564" y="4736591"/>
              <a:ext cx="706120" cy="330835"/>
            </a:xfrm>
            <a:custGeom>
              <a:avLst/>
              <a:gdLst/>
              <a:ahLst/>
              <a:cxnLst/>
              <a:rect l="l" t="t" r="r" b="b"/>
              <a:pathLst>
                <a:path w="706120" h="330835">
                  <a:moveTo>
                    <a:pt x="539495" y="330708"/>
                  </a:moveTo>
                  <a:lnTo>
                    <a:pt x="539495" y="248412"/>
                  </a:lnTo>
                  <a:lnTo>
                    <a:pt x="0" y="248412"/>
                  </a:lnTo>
                  <a:lnTo>
                    <a:pt x="0" y="82296"/>
                  </a:lnTo>
                  <a:lnTo>
                    <a:pt x="539495" y="82296"/>
                  </a:lnTo>
                  <a:lnTo>
                    <a:pt x="539495" y="0"/>
                  </a:lnTo>
                  <a:lnTo>
                    <a:pt x="705612" y="164592"/>
                  </a:lnTo>
                  <a:lnTo>
                    <a:pt x="539495" y="330708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6023749" y="4723676"/>
              <a:ext cx="730885" cy="356235"/>
            </a:xfrm>
            <a:custGeom>
              <a:avLst/>
              <a:gdLst/>
              <a:ahLst/>
              <a:cxnLst/>
              <a:rect l="l" t="t" r="r" b="b"/>
              <a:pathLst>
                <a:path w="730884" h="356235">
                  <a:moveTo>
                    <a:pt x="539661" y="95402"/>
                  </a:moveTo>
                  <a:lnTo>
                    <a:pt x="539661" y="12661"/>
                  </a:lnTo>
                  <a:lnTo>
                    <a:pt x="539953" y="9969"/>
                  </a:lnTo>
                  <a:lnTo>
                    <a:pt x="551446" y="0"/>
                  </a:lnTo>
                  <a:lnTo>
                    <a:pt x="553817" y="0"/>
                  </a:lnTo>
                  <a:lnTo>
                    <a:pt x="556793" y="762"/>
                  </a:lnTo>
                  <a:lnTo>
                    <a:pt x="559219" y="1981"/>
                  </a:lnTo>
                  <a:lnTo>
                    <a:pt x="561339" y="3683"/>
                  </a:lnTo>
                  <a:lnTo>
                    <a:pt x="570318" y="12661"/>
                  </a:lnTo>
                  <a:lnTo>
                    <a:pt x="565061" y="12661"/>
                  </a:lnTo>
                  <a:lnTo>
                    <a:pt x="543382" y="21640"/>
                  </a:lnTo>
                  <a:lnTo>
                    <a:pt x="565061" y="43321"/>
                  </a:lnTo>
                  <a:lnTo>
                    <a:pt x="565061" y="82702"/>
                  </a:lnTo>
                  <a:lnTo>
                    <a:pt x="552361" y="82702"/>
                  </a:lnTo>
                  <a:lnTo>
                    <a:pt x="539661" y="95402"/>
                  </a:lnTo>
                  <a:close/>
                </a:path>
                <a:path w="730884" h="356235">
                  <a:moveTo>
                    <a:pt x="565061" y="43321"/>
                  </a:moveTo>
                  <a:lnTo>
                    <a:pt x="543382" y="21640"/>
                  </a:lnTo>
                  <a:lnTo>
                    <a:pt x="565061" y="12661"/>
                  </a:lnTo>
                  <a:lnTo>
                    <a:pt x="565061" y="43321"/>
                  </a:lnTo>
                  <a:close/>
                </a:path>
                <a:path w="730884" h="356235">
                  <a:moveTo>
                    <a:pt x="699872" y="178142"/>
                  </a:moveTo>
                  <a:lnTo>
                    <a:pt x="565061" y="43321"/>
                  </a:lnTo>
                  <a:lnTo>
                    <a:pt x="565061" y="12661"/>
                  </a:lnTo>
                  <a:lnTo>
                    <a:pt x="570318" y="12661"/>
                  </a:lnTo>
                  <a:lnTo>
                    <a:pt x="726821" y="169163"/>
                  </a:lnTo>
                  <a:lnTo>
                    <a:pt x="708850" y="169163"/>
                  </a:lnTo>
                  <a:lnTo>
                    <a:pt x="699872" y="178142"/>
                  </a:lnTo>
                  <a:close/>
                </a:path>
                <a:path w="730884" h="356235">
                  <a:moveTo>
                    <a:pt x="539661" y="273583"/>
                  </a:moveTo>
                  <a:lnTo>
                    <a:pt x="12700" y="273583"/>
                  </a:lnTo>
                  <a:lnTo>
                    <a:pt x="10223" y="273342"/>
                  </a:lnTo>
                  <a:lnTo>
                    <a:pt x="0" y="260883"/>
                  </a:lnTo>
                  <a:lnTo>
                    <a:pt x="0" y="95402"/>
                  </a:lnTo>
                  <a:lnTo>
                    <a:pt x="12700" y="82702"/>
                  </a:lnTo>
                  <a:lnTo>
                    <a:pt x="539661" y="82702"/>
                  </a:lnTo>
                  <a:lnTo>
                    <a:pt x="539661" y="95402"/>
                  </a:lnTo>
                  <a:lnTo>
                    <a:pt x="25400" y="95402"/>
                  </a:lnTo>
                  <a:lnTo>
                    <a:pt x="12700" y="108102"/>
                  </a:lnTo>
                  <a:lnTo>
                    <a:pt x="25400" y="108102"/>
                  </a:lnTo>
                  <a:lnTo>
                    <a:pt x="25400" y="248183"/>
                  </a:lnTo>
                  <a:lnTo>
                    <a:pt x="12700" y="248183"/>
                  </a:lnTo>
                  <a:lnTo>
                    <a:pt x="25400" y="260883"/>
                  </a:lnTo>
                  <a:lnTo>
                    <a:pt x="539661" y="260883"/>
                  </a:lnTo>
                  <a:lnTo>
                    <a:pt x="539661" y="273583"/>
                  </a:lnTo>
                  <a:close/>
                </a:path>
                <a:path w="730884" h="356235">
                  <a:moveTo>
                    <a:pt x="552361" y="108102"/>
                  </a:moveTo>
                  <a:lnTo>
                    <a:pt x="25400" y="108102"/>
                  </a:lnTo>
                  <a:lnTo>
                    <a:pt x="25400" y="95402"/>
                  </a:lnTo>
                  <a:lnTo>
                    <a:pt x="539661" y="95402"/>
                  </a:lnTo>
                  <a:lnTo>
                    <a:pt x="552361" y="82702"/>
                  </a:lnTo>
                  <a:lnTo>
                    <a:pt x="565061" y="82702"/>
                  </a:lnTo>
                  <a:lnTo>
                    <a:pt x="565061" y="95402"/>
                  </a:lnTo>
                  <a:lnTo>
                    <a:pt x="554837" y="107861"/>
                  </a:lnTo>
                  <a:lnTo>
                    <a:pt x="552361" y="108102"/>
                  </a:lnTo>
                  <a:close/>
                </a:path>
                <a:path w="730884" h="356235">
                  <a:moveTo>
                    <a:pt x="25400" y="108102"/>
                  </a:moveTo>
                  <a:lnTo>
                    <a:pt x="12700" y="108102"/>
                  </a:lnTo>
                  <a:lnTo>
                    <a:pt x="25400" y="95402"/>
                  </a:lnTo>
                  <a:lnTo>
                    <a:pt x="25400" y="108102"/>
                  </a:lnTo>
                  <a:close/>
                </a:path>
                <a:path w="730884" h="356235">
                  <a:moveTo>
                    <a:pt x="708850" y="187121"/>
                  </a:moveTo>
                  <a:lnTo>
                    <a:pt x="699872" y="178142"/>
                  </a:lnTo>
                  <a:lnTo>
                    <a:pt x="708850" y="169163"/>
                  </a:lnTo>
                  <a:lnTo>
                    <a:pt x="708850" y="187121"/>
                  </a:lnTo>
                  <a:close/>
                </a:path>
                <a:path w="730884" h="356235">
                  <a:moveTo>
                    <a:pt x="726821" y="187121"/>
                  </a:moveTo>
                  <a:lnTo>
                    <a:pt x="708850" y="187121"/>
                  </a:lnTo>
                  <a:lnTo>
                    <a:pt x="708850" y="169163"/>
                  </a:lnTo>
                  <a:lnTo>
                    <a:pt x="726821" y="169163"/>
                  </a:lnTo>
                  <a:lnTo>
                    <a:pt x="728395" y="171081"/>
                  </a:lnTo>
                  <a:lnTo>
                    <a:pt x="729564" y="173278"/>
                  </a:lnTo>
                  <a:lnTo>
                    <a:pt x="730288" y="175666"/>
                  </a:lnTo>
                  <a:lnTo>
                    <a:pt x="730542" y="178142"/>
                  </a:lnTo>
                  <a:lnTo>
                    <a:pt x="730288" y="180619"/>
                  </a:lnTo>
                  <a:lnTo>
                    <a:pt x="729564" y="183007"/>
                  </a:lnTo>
                  <a:lnTo>
                    <a:pt x="728395" y="185204"/>
                  </a:lnTo>
                  <a:lnTo>
                    <a:pt x="726821" y="187121"/>
                  </a:lnTo>
                  <a:close/>
                </a:path>
                <a:path w="730884" h="356235">
                  <a:moveTo>
                    <a:pt x="570318" y="343623"/>
                  </a:moveTo>
                  <a:lnTo>
                    <a:pt x="565061" y="343623"/>
                  </a:lnTo>
                  <a:lnTo>
                    <a:pt x="565061" y="312964"/>
                  </a:lnTo>
                  <a:lnTo>
                    <a:pt x="699872" y="178142"/>
                  </a:lnTo>
                  <a:lnTo>
                    <a:pt x="708850" y="187121"/>
                  </a:lnTo>
                  <a:lnTo>
                    <a:pt x="726821" y="187121"/>
                  </a:lnTo>
                  <a:lnTo>
                    <a:pt x="570318" y="343623"/>
                  </a:lnTo>
                  <a:close/>
                </a:path>
                <a:path w="730884" h="356235">
                  <a:moveTo>
                    <a:pt x="25400" y="260883"/>
                  </a:moveTo>
                  <a:lnTo>
                    <a:pt x="12700" y="248183"/>
                  </a:lnTo>
                  <a:lnTo>
                    <a:pt x="25400" y="248183"/>
                  </a:lnTo>
                  <a:lnTo>
                    <a:pt x="25400" y="260883"/>
                  </a:lnTo>
                  <a:close/>
                </a:path>
                <a:path w="730884" h="356235">
                  <a:moveTo>
                    <a:pt x="565061" y="273583"/>
                  </a:moveTo>
                  <a:lnTo>
                    <a:pt x="552361" y="273583"/>
                  </a:lnTo>
                  <a:lnTo>
                    <a:pt x="539661" y="260883"/>
                  </a:lnTo>
                  <a:lnTo>
                    <a:pt x="25400" y="260883"/>
                  </a:lnTo>
                  <a:lnTo>
                    <a:pt x="25400" y="248183"/>
                  </a:lnTo>
                  <a:lnTo>
                    <a:pt x="552361" y="248183"/>
                  </a:lnTo>
                  <a:lnTo>
                    <a:pt x="565061" y="260883"/>
                  </a:lnTo>
                  <a:lnTo>
                    <a:pt x="565061" y="273583"/>
                  </a:lnTo>
                  <a:close/>
                </a:path>
                <a:path w="730884" h="356235">
                  <a:moveTo>
                    <a:pt x="554164" y="356196"/>
                  </a:moveTo>
                  <a:lnTo>
                    <a:pt x="550955" y="356196"/>
                  </a:lnTo>
                  <a:lnTo>
                    <a:pt x="548779" y="355803"/>
                  </a:lnTo>
                  <a:lnTo>
                    <a:pt x="539661" y="343623"/>
                  </a:lnTo>
                  <a:lnTo>
                    <a:pt x="539661" y="260883"/>
                  </a:lnTo>
                  <a:lnTo>
                    <a:pt x="552361" y="273583"/>
                  </a:lnTo>
                  <a:lnTo>
                    <a:pt x="565061" y="273583"/>
                  </a:lnTo>
                  <a:lnTo>
                    <a:pt x="565061" y="312964"/>
                  </a:lnTo>
                  <a:lnTo>
                    <a:pt x="543382" y="334645"/>
                  </a:lnTo>
                  <a:lnTo>
                    <a:pt x="565061" y="343623"/>
                  </a:lnTo>
                  <a:lnTo>
                    <a:pt x="570318" y="343623"/>
                  </a:lnTo>
                  <a:lnTo>
                    <a:pt x="561339" y="352602"/>
                  </a:lnTo>
                  <a:lnTo>
                    <a:pt x="559219" y="354304"/>
                  </a:lnTo>
                  <a:lnTo>
                    <a:pt x="556793" y="355523"/>
                  </a:lnTo>
                  <a:lnTo>
                    <a:pt x="554164" y="356196"/>
                  </a:lnTo>
                  <a:close/>
                </a:path>
                <a:path w="730884" h="356235">
                  <a:moveTo>
                    <a:pt x="565061" y="343623"/>
                  </a:moveTo>
                  <a:lnTo>
                    <a:pt x="543382" y="334645"/>
                  </a:lnTo>
                  <a:lnTo>
                    <a:pt x="565061" y="312964"/>
                  </a:lnTo>
                  <a:lnTo>
                    <a:pt x="565061" y="343623"/>
                  </a:lnTo>
                  <a:close/>
                </a:path>
              </a:pathLst>
            </a:custGeom>
            <a:solidFill>
              <a:srgbClr val="1E1E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7778496" y="2639567"/>
              <a:ext cx="323215" cy="530860"/>
            </a:xfrm>
            <a:custGeom>
              <a:avLst/>
              <a:gdLst/>
              <a:ahLst/>
              <a:cxnLst/>
              <a:rect l="l" t="t" r="r" b="b"/>
              <a:pathLst>
                <a:path w="323215" h="530860">
                  <a:moveTo>
                    <a:pt x="161544" y="530351"/>
                  </a:moveTo>
                  <a:lnTo>
                    <a:pt x="0" y="368807"/>
                  </a:lnTo>
                  <a:lnTo>
                    <a:pt x="80772" y="368807"/>
                  </a:lnTo>
                  <a:lnTo>
                    <a:pt x="80772" y="0"/>
                  </a:lnTo>
                  <a:lnTo>
                    <a:pt x="242315" y="0"/>
                  </a:lnTo>
                  <a:lnTo>
                    <a:pt x="242315" y="368807"/>
                  </a:lnTo>
                  <a:lnTo>
                    <a:pt x="323087" y="368807"/>
                  </a:lnTo>
                  <a:lnTo>
                    <a:pt x="161544" y="530351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7766558" y="2626867"/>
              <a:ext cx="348615" cy="556260"/>
            </a:xfrm>
            <a:custGeom>
              <a:avLst/>
              <a:gdLst/>
              <a:ahLst/>
              <a:cxnLst/>
              <a:rect l="l" t="t" r="r" b="b"/>
              <a:pathLst>
                <a:path w="348615" h="556260">
                  <a:moveTo>
                    <a:pt x="80708" y="381825"/>
                  </a:moveTo>
                  <a:lnTo>
                    <a:pt x="80708" y="12699"/>
                  </a:lnTo>
                  <a:lnTo>
                    <a:pt x="80962" y="10223"/>
                  </a:lnTo>
                  <a:lnTo>
                    <a:pt x="93408" y="0"/>
                  </a:lnTo>
                  <a:lnTo>
                    <a:pt x="254914" y="0"/>
                  </a:lnTo>
                  <a:lnTo>
                    <a:pt x="267614" y="12699"/>
                  </a:lnTo>
                  <a:lnTo>
                    <a:pt x="106108" y="12699"/>
                  </a:lnTo>
                  <a:lnTo>
                    <a:pt x="93408" y="25399"/>
                  </a:lnTo>
                  <a:lnTo>
                    <a:pt x="106108" y="25399"/>
                  </a:lnTo>
                  <a:lnTo>
                    <a:pt x="106108" y="369125"/>
                  </a:lnTo>
                  <a:lnTo>
                    <a:pt x="93408" y="369125"/>
                  </a:lnTo>
                  <a:lnTo>
                    <a:pt x="80708" y="381825"/>
                  </a:lnTo>
                  <a:close/>
                </a:path>
                <a:path w="348615" h="556260">
                  <a:moveTo>
                    <a:pt x="106108" y="25399"/>
                  </a:moveTo>
                  <a:lnTo>
                    <a:pt x="93408" y="25399"/>
                  </a:lnTo>
                  <a:lnTo>
                    <a:pt x="106108" y="12699"/>
                  </a:lnTo>
                  <a:lnTo>
                    <a:pt x="106108" y="25399"/>
                  </a:lnTo>
                  <a:close/>
                </a:path>
                <a:path w="348615" h="556260">
                  <a:moveTo>
                    <a:pt x="242214" y="25399"/>
                  </a:moveTo>
                  <a:lnTo>
                    <a:pt x="106108" y="25399"/>
                  </a:lnTo>
                  <a:lnTo>
                    <a:pt x="106108" y="12699"/>
                  </a:lnTo>
                  <a:lnTo>
                    <a:pt x="242214" y="12699"/>
                  </a:lnTo>
                  <a:lnTo>
                    <a:pt x="242214" y="25399"/>
                  </a:lnTo>
                  <a:close/>
                </a:path>
                <a:path w="348615" h="556260">
                  <a:moveTo>
                    <a:pt x="305003" y="394525"/>
                  </a:moveTo>
                  <a:lnTo>
                    <a:pt x="254914" y="394525"/>
                  </a:lnTo>
                  <a:lnTo>
                    <a:pt x="252437" y="394284"/>
                  </a:lnTo>
                  <a:lnTo>
                    <a:pt x="242214" y="381825"/>
                  </a:lnTo>
                  <a:lnTo>
                    <a:pt x="242214" y="12699"/>
                  </a:lnTo>
                  <a:lnTo>
                    <a:pt x="254914" y="25399"/>
                  </a:lnTo>
                  <a:lnTo>
                    <a:pt x="267614" y="25399"/>
                  </a:lnTo>
                  <a:lnTo>
                    <a:pt x="267614" y="369125"/>
                  </a:lnTo>
                  <a:lnTo>
                    <a:pt x="254914" y="369125"/>
                  </a:lnTo>
                  <a:lnTo>
                    <a:pt x="267614" y="381825"/>
                  </a:lnTo>
                  <a:lnTo>
                    <a:pt x="317703" y="381825"/>
                  </a:lnTo>
                  <a:lnTo>
                    <a:pt x="305003" y="394525"/>
                  </a:lnTo>
                  <a:close/>
                </a:path>
                <a:path w="348615" h="556260">
                  <a:moveTo>
                    <a:pt x="267614" y="25399"/>
                  </a:moveTo>
                  <a:lnTo>
                    <a:pt x="254914" y="25399"/>
                  </a:lnTo>
                  <a:lnTo>
                    <a:pt x="242214" y="12699"/>
                  </a:lnTo>
                  <a:lnTo>
                    <a:pt x="267614" y="12699"/>
                  </a:lnTo>
                  <a:lnTo>
                    <a:pt x="267614" y="25399"/>
                  </a:lnTo>
                  <a:close/>
                </a:path>
                <a:path w="348615" h="556260">
                  <a:moveTo>
                    <a:pt x="174167" y="556018"/>
                  </a:moveTo>
                  <a:lnTo>
                    <a:pt x="3683" y="390804"/>
                  </a:lnTo>
                  <a:lnTo>
                    <a:pt x="0" y="380911"/>
                  </a:lnTo>
                  <a:lnTo>
                    <a:pt x="482" y="378244"/>
                  </a:lnTo>
                  <a:lnTo>
                    <a:pt x="12661" y="369125"/>
                  </a:lnTo>
                  <a:lnTo>
                    <a:pt x="80708" y="369125"/>
                  </a:lnTo>
                  <a:lnTo>
                    <a:pt x="80708" y="372846"/>
                  </a:lnTo>
                  <a:lnTo>
                    <a:pt x="21640" y="372846"/>
                  </a:lnTo>
                  <a:lnTo>
                    <a:pt x="12761" y="394284"/>
                  </a:lnTo>
                  <a:lnTo>
                    <a:pt x="12661" y="394525"/>
                  </a:lnTo>
                  <a:lnTo>
                    <a:pt x="43321" y="394525"/>
                  </a:lnTo>
                  <a:lnTo>
                    <a:pt x="174167" y="525361"/>
                  </a:lnTo>
                  <a:lnTo>
                    <a:pt x="165188" y="534339"/>
                  </a:lnTo>
                  <a:lnTo>
                    <a:pt x="201104" y="534339"/>
                  </a:lnTo>
                  <a:lnTo>
                    <a:pt x="183146" y="552297"/>
                  </a:lnTo>
                  <a:lnTo>
                    <a:pt x="181216" y="553885"/>
                  </a:lnTo>
                  <a:lnTo>
                    <a:pt x="179019" y="555053"/>
                  </a:lnTo>
                  <a:lnTo>
                    <a:pt x="176644" y="555777"/>
                  </a:lnTo>
                  <a:lnTo>
                    <a:pt x="174167" y="556018"/>
                  </a:lnTo>
                  <a:close/>
                </a:path>
                <a:path w="348615" h="556260">
                  <a:moveTo>
                    <a:pt x="106108" y="381825"/>
                  </a:moveTo>
                  <a:lnTo>
                    <a:pt x="80708" y="381825"/>
                  </a:lnTo>
                  <a:lnTo>
                    <a:pt x="93408" y="369125"/>
                  </a:lnTo>
                  <a:lnTo>
                    <a:pt x="106108" y="369125"/>
                  </a:lnTo>
                  <a:lnTo>
                    <a:pt x="106108" y="381825"/>
                  </a:lnTo>
                  <a:close/>
                </a:path>
                <a:path w="348615" h="556260">
                  <a:moveTo>
                    <a:pt x="267614" y="381825"/>
                  </a:moveTo>
                  <a:lnTo>
                    <a:pt x="254914" y="369125"/>
                  </a:lnTo>
                  <a:lnTo>
                    <a:pt x="267614" y="369125"/>
                  </a:lnTo>
                  <a:lnTo>
                    <a:pt x="267614" y="381825"/>
                  </a:lnTo>
                  <a:close/>
                </a:path>
                <a:path w="348615" h="556260">
                  <a:moveTo>
                    <a:pt x="317703" y="381825"/>
                  </a:moveTo>
                  <a:lnTo>
                    <a:pt x="267614" y="381825"/>
                  </a:lnTo>
                  <a:lnTo>
                    <a:pt x="267614" y="369125"/>
                  </a:lnTo>
                  <a:lnTo>
                    <a:pt x="335661" y="369125"/>
                  </a:lnTo>
                  <a:lnTo>
                    <a:pt x="338366" y="369417"/>
                  </a:lnTo>
                  <a:lnTo>
                    <a:pt x="340931" y="370268"/>
                  </a:lnTo>
                  <a:lnTo>
                    <a:pt x="343268" y="371652"/>
                  </a:lnTo>
                  <a:lnTo>
                    <a:pt x="344552" y="372846"/>
                  </a:lnTo>
                  <a:lnTo>
                    <a:pt x="326682" y="372846"/>
                  </a:lnTo>
                  <a:lnTo>
                    <a:pt x="317703" y="381825"/>
                  </a:lnTo>
                  <a:close/>
                </a:path>
                <a:path w="348615" h="556260">
                  <a:moveTo>
                    <a:pt x="43321" y="394525"/>
                  </a:moveTo>
                  <a:lnTo>
                    <a:pt x="12661" y="394525"/>
                  </a:lnTo>
                  <a:lnTo>
                    <a:pt x="21640" y="372846"/>
                  </a:lnTo>
                  <a:lnTo>
                    <a:pt x="43321" y="394525"/>
                  </a:lnTo>
                  <a:close/>
                </a:path>
                <a:path w="348615" h="556260">
                  <a:moveTo>
                    <a:pt x="93408" y="394525"/>
                  </a:moveTo>
                  <a:lnTo>
                    <a:pt x="43321" y="394525"/>
                  </a:lnTo>
                  <a:lnTo>
                    <a:pt x="21640" y="372846"/>
                  </a:lnTo>
                  <a:lnTo>
                    <a:pt x="80708" y="372846"/>
                  </a:lnTo>
                  <a:lnTo>
                    <a:pt x="80708" y="381825"/>
                  </a:lnTo>
                  <a:lnTo>
                    <a:pt x="106108" y="381825"/>
                  </a:lnTo>
                  <a:lnTo>
                    <a:pt x="105932" y="383628"/>
                  </a:lnTo>
                  <a:lnTo>
                    <a:pt x="105867" y="384301"/>
                  </a:lnTo>
                  <a:lnTo>
                    <a:pt x="105143" y="386689"/>
                  </a:lnTo>
                  <a:lnTo>
                    <a:pt x="95885" y="394284"/>
                  </a:lnTo>
                  <a:lnTo>
                    <a:pt x="93408" y="394525"/>
                  </a:lnTo>
                  <a:close/>
                </a:path>
                <a:path w="348615" h="556260">
                  <a:moveTo>
                    <a:pt x="201104" y="534339"/>
                  </a:moveTo>
                  <a:lnTo>
                    <a:pt x="183146" y="534339"/>
                  </a:lnTo>
                  <a:lnTo>
                    <a:pt x="174167" y="525361"/>
                  </a:lnTo>
                  <a:lnTo>
                    <a:pt x="326682" y="372846"/>
                  </a:lnTo>
                  <a:lnTo>
                    <a:pt x="335561" y="394284"/>
                  </a:lnTo>
                  <a:lnTo>
                    <a:pt x="335661" y="394525"/>
                  </a:lnTo>
                  <a:lnTo>
                    <a:pt x="340918" y="394525"/>
                  </a:lnTo>
                  <a:lnTo>
                    <a:pt x="201104" y="534339"/>
                  </a:lnTo>
                  <a:close/>
                </a:path>
                <a:path w="348615" h="556260">
                  <a:moveTo>
                    <a:pt x="340918" y="394525"/>
                  </a:moveTo>
                  <a:lnTo>
                    <a:pt x="335661" y="394525"/>
                  </a:lnTo>
                  <a:lnTo>
                    <a:pt x="326682" y="372846"/>
                  </a:lnTo>
                  <a:lnTo>
                    <a:pt x="344552" y="372846"/>
                  </a:lnTo>
                  <a:lnTo>
                    <a:pt x="345262" y="373506"/>
                  </a:lnTo>
                  <a:lnTo>
                    <a:pt x="346811" y="375742"/>
                  </a:lnTo>
                  <a:lnTo>
                    <a:pt x="347852" y="378244"/>
                  </a:lnTo>
                  <a:lnTo>
                    <a:pt x="348322" y="380911"/>
                  </a:lnTo>
                  <a:lnTo>
                    <a:pt x="348234" y="383628"/>
                  </a:lnTo>
                  <a:lnTo>
                    <a:pt x="347560" y="386257"/>
                  </a:lnTo>
                  <a:lnTo>
                    <a:pt x="346341" y="388683"/>
                  </a:lnTo>
                  <a:lnTo>
                    <a:pt x="344639" y="390804"/>
                  </a:lnTo>
                  <a:lnTo>
                    <a:pt x="340918" y="394525"/>
                  </a:lnTo>
                  <a:close/>
                </a:path>
                <a:path w="348615" h="556260">
                  <a:moveTo>
                    <a:pt x="183146" y="534339"/>
                  </a:moveTo>
                  <a:lnTo>
                    <a:pt x="165188" y="534339"/>
                  </a:lnTo>
                  <a:lnTo>
                    <a:pt x="174167" y="525361"/>
                  </a:lnTo>
                  <a:lnTo>
                    <a:pt x="183146" y="534339"/>
                  </a:lnTo>
                  <a:close/>
                </a:path>
              </a:pathLst>
            </a:custGeom>
            <a:solidFill>
              <a:srgbClr val="22226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7778496" y="4009643"/>
              <a:ext cx="323215" cy="530860"/>
            </a:xfrm>
            <a:custGeom>
              <a:avLst/>
              <a:gdLst/>
              <a:ahLst/>
              <a:cxnLst/>
              <a:rect l="l" t="t" r="r" b="b"/>
              <a:pathLst>
                <a:path w="323215" h="530860">
                  <a:moveTo>
                    <a:pt x="161544" y="530351"/>
                  </a:moveTo>
                  <a:lnTo>
                    <a:pt x="0" y="368807"/>
                  </a:lnTo>
                  <a:lnTo>
                    <a:pt x="80772" y="368807"/>
                  </a:lnTo>
                  <a:lnTo>
                    <a:pt x="80772" y="0"/>
                  </a:lnTo>
                  <a:lnTo>
                    <a:pt x="242315" y="0"/>
                  </a:lnTo>
                  <a:lnTo>
                    <a:pt x="242315" y="368807"/>
                  </a:lnTo>
                  <a:lnTo>
                    <a:pt x="323087" y="368807"/>
                  </a:lnTo>
                  <a:lnTo>
                    <a:pt x="161544" y="530351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7766558" y="3996829"/>
              <a:ext cx="348615" cy="556260"/>
            </a:xfrm>
            <a:custGeom>
              <a:avLst/>
              <a:gdLst/>
              <a:ahLst/>
              <a:cxnLst/>
              <a:rect l="l" t="t" r="r" b="b"/>
              <a:pathLst>
                <a:path w="348615" h="556260">
                  <a:moveTo>
                    <a:pt x="80708" y="381825"/>
                  </a:moveTo>
                  <a:lnTo>
                    <a:pt x="80708" y="12700"/>
                  </a:lnTo>
                  <a:lnTo>
                    <a:pt x="80962" y="10223"/>
                  </a:lnTo>
                  <a:lnTo>
                    <a:pt x="93408" y="0"/>
                  </a:lnTo>
                  <a:lnTo>
                    <a:pt x="254914" y="0"/>
                  </a:lnTo>
                  <a:lnTo>
                    <a:pt x="267614" y="12700"/>
                  </a:lnTo>
                  <a:lnTo>
                    <a:pt x="106108" y="12700"/>
                  </a:lnTo>
                  <a:lnTo>
                    <a:pt x="93408" y="25400"/>
                  </a:lnTo>
                  <a:lnTo>
                    <a:pt x="106108" y="25400"/>
                  </a:lnTo>
                  <a:lnTo>
                    <a:pt x="106108" y="369125"/>
                  </a:lnTo>
                  <a:lnTo>
                    <a:pt x="93408" y="369125"/>
                  </a:lnTo>
                  <a:lnTo>
                    <a:pt x="80708" y="381825"/>
                  </a:lnTo>
                  <a:close/>
                </a:path>
                <a:path w="348615" h="556260">
                  <a:moveTo>
                    <a:pt x="106108" y="25400"/>
                  </a:moveTo>
                  <a:lnTo>
                    <a:pt x="93408" y="25400"/>
                  </a:lnTo>
                  <a:lnTo>
                    <a:pt x="106108" y="12700"/>
                  </a:lnTo>
                  <a:lnTo>
                    <a:pt x="106108" y="25400"/>
                  </a:lnTo>
                  <a:close/>
                </a:path>
                <a:path w="348615" h="556260">
                  <a:moveTo>
                    <a:pt x="242214" y="25400"/>
                  </a:moveTo>
                  <a:lnTo>
                    <a:pt x="106108" y="25400"/>
                  </a:lnTo>
                  <a:lnTo>
                    <a:pt x="106108" y="12700"/>
                  </a:lnTo>
                  <a:lnTo>
                    <a:pt x="242214" y="12700"/>
                  </a:lnTo>
                  <a:lnTo>
                    <a:pt x="242214" y="25400"/>
                  </a:lnTo>
                  <a:close/>
                </a:path>
                <a:path w="348615" h="556260">
                  <a:moveTo>
                    <a:pt x="305003" y="394525"/>
                  </a:moveTo>
                  <a:lnTo>
                    <a:pt x="254914" y="394525"/>
                  </a:lnTo>
                  <a:lnTo>
                    <a:pt x="252437" y="394284"/>
                  </a:lnTo>
                  <a:lnTo>
                    <a:pt x="242214" y="381825"/>
                  </a:lnTo>
                  <a:lnTo>
                    <a:pt x="242214" y="12700"/>
                  </a:lnTo>
                  <a:lnTo>
                    <a:pt x="254914" y="25400"/>
                  </a:lnTo>
                  <a:lnTo>
                    <a:pt x="267614" y="25400"/>
                  </a:lnTo>
                  <a:lnTo>
                    <a:pt x="267614" y="369125"/>
                  </a:lnTo>
                  <a:lnTo>
                    <a:pt x="254914" y="369125"/>
                  </a:lnTo>
                  <a:lnTo>
                    <a:pt x="267614" y="381825"/>
                  </a:lnTo>
                  <a:lnTo>
                    <a:pt x="317703" y="381825"/>
                  </a:lnTo>
                  <a:lnTo>
                    <a:pt x="305003" y="394525"/>
                  </a:lnTo>
                  <a:close/>
                </a:path>
                <a:path w="348615" h="556260">
                  <a:moveTo>
                    <a:pt x="267614" y="25400"/>
                  </a:moveTo>
                  <a:lnTo>
                    <a:pt x="254914" y="25400"/>
                  </a:lnTo>
                  <a:lnTo>
                    <a:pt x="242214" y="12700"/>
                  </a:lnTo>
                  <a:lnTo>
                    <a:pt x="267614" y="12700"/>
                  </a:lnTo>
                  <a:lnTo>
                    <a:pt x="267614" y="25400"/>
                  </a:lnTo>
                  <a:close/>
                </a:path>
                <a:path w="348615" h="556260">
                  <a:moveTo>
                    <a:pt x="174167" y="556018"/>
                  </a:moveTo>
                  <a:lnTo>
                    <a:pt x="3683" y="390804"/>
                  </a:lnTo>
                  <a:lnTo>
                    <a:pt x="0" y="380923"/>
                  </a:lnTo>
                  <a:lnTo>
                    <a:pt x="482" y="378244"/>
                  </a:lnTo>
                  <a:lnTo>
                    <a:pt x="12661" y="369125"/>
                  </a:lnTo>
                  <a:lnTo>
                    <a:pt x="80708" y="369125"/>
                  </a:lnTo>
                  <a:lnTo>
                    <a:pt x="80708" y="372846"/>
                  </a:lnTo>
                  <a:lnTo>
                    <a:pt x="21640" y="372846"/>
                  </a:lnTo>
                  <a:lnTo>
                    <a:pt x="12761" y="394284"/>
                  </a:lnTo>
                  <a:lnTo>
                    <a:pt x="12661" y="394525"/>
                  </a:lnTo>
                  <a:lnTo>
                    <a:pt x="43321" y="394525"/>
                  </a:lnTo>
                  <a:lnTo>
                    <a:pt x="174167" y="525361"/>
                  </a:lnTo>
                  <a:lnTo>
                    <a:pt x="165188" y="534339"/>
                  </a:lnTo>
                  <a:lnTo>
                    <a:pt x="201115" y="534339"/>
                  </a:lnTo>
                  <a:lnTo>
                    <a:pt x="183146" y="552310"/>
                  </a:lnTo>
                  <a:lnTo>
                    <a:pt x="181216" y="553885"/>
                  </a:lnTo>
                  <a:lnTo>
                    <a:pt x="179019" y="555053"/>
                  </a:lnTo>
                  <a:lnTo>
                    <a:pt x="176644" y="555777"/>
                  </a:lnTo>
                  <a:lnTo>
                    <a:pt x="174167" y="556018"/>
                  </a:lnTo>
                  <a:close/>
                </a:path>
                <a:path w="348615" h="556260">
                  <a:moveTo>
                    <a:pt x="106108" y="381825"/>
                  </a:moveTo>
                  <a:lnTo>
                    <a:pt x="80708" y="381825"/>
                  </a:lnTo>
                  <a:lnTo>
                    <a:pt x="93408" y="369125"/>
                  </a:lnTo>
                  <a:lnTo>
                    <a:pt x="106108" y="369125"/>
                  </a:lnTo>
                  <a:lnTo>
                    <a:pt x="106108" y="381825"/>
                  </a:lnTo>
                  <a:close/>
                </a:path>
                <a:path w="348615" h="556260">
                  <a:moveTo>
                    <a:pt x="267614" y="381825"/>
                  </a:moveTo>
                  <a:lnTo>
                    <a:pt x="254914" y="369125"/>
                  </a:lnTo>
                  <a:lnTo>
                    <a:pt x="267614" y="369125"/>
                  </a:lnTo>
                  <a:lnTo>
                    <a:pt x="267614" y="381825"/>
                  </a:lnTo>
                  <a:close/>
                </a:path>
                <a:path w="348615" h="556260">
                  <a:moveTo>
                    <a:pt x="317703" y="381825"/>
                  </a:moveTo>
                  <a:lnTo>
                    <a:pt x="267614" y="381825"/>
                  </a:lnTo>
                  <a:lnTo>
                    <a:pt x="267614" y="369125"/>
                  </a:lnTo>
                  <a:lnTo>
                    <a:pt x="335661" y="369125"/>
                  </a:lnTo>
                  <a:lnTo>
                    <a:pt x="338366" y="369417"/>
                  </a:lnTo>
                  <a:lnTo>
                    <a:pt x="340931" y="370268"/>
                  </a:lnTo>
                  <a:lnTo>
                    <a:pt x="343268" y="371652"/>
                  </a:lnTo>
                  <a:lnTo>
                    <a:pt x="344552" y="372846"/>
                  </a:lnTo>
                  <a:lnTo>
                    <a:pt x="326682" y="372846"/>
                  </a:lnTo>
                  <a:lnTo>
                    <a:pt x="317703" y="381825"/>
                  </a:lnTo>
                  <a:close/>
                </a:path>
                <a:path w="348615" h="556260">
                  <a:moveTo>
                    <a:pt x="43321" y="394525"/>
                  </a:moveTo>
                  <a:lnTo>
                    <a:pt x="12661" y="394525"/>
                  </a:lnTo>
                  <a:lnTo>
                    <a:pt x="21640" y="372846"/>
                  </a:lnTo>
                  <a:lnTo>
                    <a:pt x="43321" y="394525"/>
                  </a:lnTo>
                  <a:close/>
                </a:path>
                <a:path w="348615" h="556260">
                  <a:moveTo>
                    <a:pt x="93408" y="394525"/>
                  </a:moveTo>
                  <a:lnTo>
                    <a:pt x="43321" y="394525"/>
                  </a:lnTo>
                  <a:lnTo>
                    <a:pt x="21640" y="372846"/>
                  </a:lnTo>
                  <a:lnTo>
                    <a:pt x="80708" y="372846"/>
                  </a:lnTo>
                  <a:lnTo>
                    <a:pt x="80708" y="381825"/>
                  </a:lnTo>
                  <a:lnTo>
                    <a:pt x="106108" y="381825"/>
                  </a:lnTo>
                  <a:lnTo>
                    <a:pt x="105932" y="383628"/>
                  </a:lnTo>
                  <a:lnTo>
                    <a:pt x="105867" y="384301"/>
                  </a:lnTo>
                  <a:lnTo>
                    <a:pt x="105143" y="386689"/>
                  </a:lnTo>
                  <a:lnTo>
                    <a:pt x="104076" y="388696"/>
                  </a:lnTo>
                  <a:lnTo>
                    <a:pt x="103974" y="388886"/>
                  </a:lnTo>
                  <a:lnTo>
                    <a:pt x="102387" y="390804"/>
                  </a:lnTo>
                  <a:lnTo>
                    <a:pt x="100469" y="392379"/>
                  </a:lnTo>
                  <a:lnTo>
                    <a:pt x="98272" y="393560"/>
                  </a:lnTo>
                  <a:lnTo>
                    <a:pt x="95885" y="394284"/>
                  </a:lnTo>
                  <a:lnTo>
                    <a:pt x="93408" y="394525"/>
                  </a:lnTo>
                  <a:close/>
                </a:path>
                <a:path w="348615" h="556260">
                  <a:moveTo>
                    <a:pt x="201115" y="534339"/>
                  </a:moveTo>
                  <a:lnTo>
                    <a:pt x="183146" y="534339"/>
                  </a:lnTo>
                  <a:lnTo>
                    <a:pt x="174167" y="525361"/>
                  </a:lnTo>
                  <a:lnTo>
                    <a:pt x="326682" y="372846"/>
                  </a:lnTo>
                  <a:lnTo>
                    <a:pt x="335561" y="394284"/>
                  </a:lnTo>
                  <a:lnTo>
                    <a:pt x="335661" y="394525"/>
                  </a:lnTo>
                  <a:lnTo>
                    <a:pt x="340919" y="394525"/>
                  </a:lnTo>
                  <a:lnTo>
                    <a:pt x="201115" y="534339"/>
                  </a:lnTo>
                  <a:close/>
                </a:path>
                <a:path w="348615" h="556260">
                  <a:moveTo>
                    <a:pt x="340919" y="394525"/>
                  </a:moveTo>
                  <a:lnTo>
                    <a:pt x="335661" y="394525"/>
                  </a:lnTo>
                  <a:lnTo>
                    <a:pt x="326682" y="372846"/>
                  </a:lnTo>
                  <a:lnTo>
                    <a:pt x="344552" y="372846"/>
                  </a:lnTo>
                  <a:lnTo>
                    <a:pt x="345262" y="373506"/>
                  </a:lnTo>
                  <a:lnTo>
                    <a:pt x="346811" y="375742"/>
                  </a:lnTo>
                  <a:lnTo>
                    <a:pt x="347852" y="378244"/>
                  </a:lnTo>
                  <a:lnTo>
                    <a:pt x="348322" y="380923"/>
                  </a:lnTo>
                  <a:lnTo>
                    <a:pt x="348234" y="383628"/>
                  </a:lnTo>
                  <a:lnTo>
                    <a:pt x="347560" y="386257"/>
                  </a:lnTo>
                  <a:lnTo>
                    <a:pt x="346341" y="388696"/>
                  </a:lnTo>
                  <a:lnTo>
                    <a:pt x="344639" y="390804"/>
                  </a:lnTo>
                  <a:lnTo>
                    <a:pt x="340919" y="394525"/>
                  </a:lnTo>
                  <a:close/>
                </a:path>
                <a:path w="348615" h="556260">
                  <a:moveTo>
                    <a:pt x="183146" y="534339"/>
                  </a:moveTo>
                  <a:lnTo>
                    <a:pt x="165188" y="534339"/>
                  </a:lnTo>
                  <a:lnTo>
                    <a:pt x="174167" y="525361"/>
                  </a:lnTo>
                  <a:lnTo>
                    <a:pt x="183146" y="534339"/>
                  </a:lnTo>
                  <a:close/>
                </a:path>
              </a:pathLst>
            </a:custGeom>
            <a:solidFill>
              <a:srgbClr val="22226E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999744"/>
            <a:ext cx="646430" cy="262255"/>
          </a:xfrm>
          <a:prstGeom prst="rect">
            <a:avLst/>
          </a:prstGeom>
          <a:solidFill>
            <a:srgbClr val="A40020"/>
          </a:solidFill>
        </p:spPr>
        <p:txBody>
          <a:bodyPr vert="horz" wrap="square" lIns="0" tIns="635" rIns="0" bIns="0" rtlCol="0">
            <a:spAutoFit/>
          </a:bodyPr>
          <a:lstStyle/>
          <a:p>
            <a:pPr marL="375285">
              <a:lnSpc>
                <a:spcPct val="100000"/>
              </a:lnSpc>
              <a:spcBef>
                <a:spcPts val="5"/>
              </a:spcBef>
            </a:pPr>
            <a:r>
              <a:rPr sz="1400" b="1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12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47077" y="257492"/>
            <a:ext cx="38354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线性回归</a:t>
            </a:r>
            <a:r>
              <a:rPr spc="-20" dirty="0">
                <a:latin typeface="Arial" panose="020B0604020202020204"/>
                <a:cs typeface="Arial" panose="020B0604020202020204"/>
              </a:rPr>
              <a:t>-</a:t>
            </a:r>
            <a:r>
              <a:rPr spc="-15" dirty="0"/>
              <a:t>算法流程</a:t>
            </a:r>
            <a:endParaRPr spc="-15" dirty="0"/>
          </a:p>
        </p:txBody>
      </p:sp>
      <p:sp>
        <p:nvSpPr>
          <p:cNvPr id="4" name="object 4"/>
          <p:cNvSpPr/>
          <p:nvPr/>
        </p:nvSpPr>
        <p:spPr>
          <a:xfrm>
            <a:off x="2562453" y="5364416"/>
            <a:ext cx="123189" cy="20320"/>
          </a:xfrm>
          <a:custGeom>
            <a:avLst/>
            <a:gdLst/>
            <a:ahLst/>
            <a:cxnLst/>
            <a:rect l="l" t="t" r="r" b="b"/>
            <a:pathLst>
              <a:path w="123189" h="20320">
                <a:moveTo>
                  <a:pt x="123189" y="20002"/>
                </a:moveTo>
                <a:lnTo>
                  <a:pt x="0" y="20002"/>
                </a:lnTo>
                <a:lnTo>
                  <a:pt x="0" y="0"/>
                </a:lnTo>
                <a:lnTo>
                  <a:pt x="123189" y="0"/>
                </a:lnTo>
                <a:lnTo>
                  <a:pt x="123189" y="200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549753" y="5380189"/>
            <a:ext cx="148590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50" dirty="0">
                <a:latin typeface="Cambria Math" panose="02040503050406030204"/>
                <a:cs typeface="Cambria Math" panose="02040503050406030204"/>
              </a:rPr>
              <a:t>2</a:t>
            </a:r>
            <a:endParaRPr sz="17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39643" y="5339550"/>
            <a:ext cx="384810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25" dirty="0">
                <a:latin typeface="Cambria Math" panose="02040503050406030204"/>
                <a:cs typeface="Cambria Math" panose="02040503050406030204"/>
              </a:rPr>
              <a:t>𝑖=1</a:t>
            </a:r>
            <a:endParaRPr sz="17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04748" y="5143969"/>
            <a:ext cx="4893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2757170" algn="l"/>
              </a:tabLst>
            </a:pP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，使得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𝐽</a:t>
            </a:r>
            <a:r>
              <a:rPr sz="3600" baseline="200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𝑤</a:t>
            </a:r>
            <a:r>
              <a:rPr sz="3600" baseline="2000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3600" spc="179" baseline="2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2400" spc="114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625" baseline="44000" dirty="0">
                <a:latin typeface="Cambria Math" panose="02040503050406030204"/>
                <a:cs typeface="Cambria Math" panose="02040503050406030204"/>
              </a:rPr>
              <a:t>1 </a:t>
            </a:r>
            <a:r>
              <a:rPr sz="2400" spc="-25" dirty="0">
                <a:latin typeface="Cambria Math" panose="02040503050406030204"/>
                <a:cs typeface="Cambria Math" panose="02040503050406030204"/>
              </a:rPr>
              <a:t>∑</a:t>
            </a:r>
            <a:r>
              <a:rPr sz="2625" spc="-37" baseline="37000" dirty="0">
                <a:latin typeface="Cambria Math" panose="02040503050406030204"/>
                <a:cs typeface="Cambria Math" panose="02040503050406030204"/>
              </a:rPr>
              <a:t>𝑚</a:t>
            </a:r>
            <a:r>
              <a:rPr sz="2625" baseline="370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2400" spc="-1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2400" spc="-12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ℎ(𝑥</a:t>
            </a:r>
            <a:r>
              <a:rPr sz="2625" baseline="3000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2625" baseline="29000" dirty="0">
                <a:latin typeface="Cambria Math" panose="02040503050406030204"/>
                <a:cs typeface="Cambria Math" panose="02040503050406030204"/>
              </a:rPr>
              <a:t>𝑖</a:t>
            </a:r>
            <a:r>
              <a:rPr sz="2625" baseline="30000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2400" spc="2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400" spc="2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10" dirty="0">
                <a:latin typeface="Cambria Math" panose="02040503050406030204"/>
                <a:cs typeface="Cambria Math" panose="02040503050406030204"/>
              </a:rPr>
              <a:t>𝑦</a:t>
            </a:r>
            <a:r>
              <a:rPr sz="2625" spc="-15" baseline="3000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2625" spc="-15" baseline="29000" dirty="0">
                <a:latin typeface="Cambria Math" panose="02040503050406030204"/>
                <a:cs typeface="Cambria Math" panose="02040503050406030204"/>
              </a:rPr>
              <a:t>𝑖</a:t>
            </a:r>
            <a:r>
              <a:rPr sz="2625" spc="-15" baseline="30000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2400" spc="-10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2625" spc="-15" baseline="27000" dirty="0">
                <a:latin typeface="Cambria Math" panose="02040503050406030204"/>
                <a:cs typeface="Cambria Math" panose="02040503050406030204"/>
              </a:rPr>
              <a:t>2</a:t>
            </a:r>
            <a:endParaRPr sz="2625" baseline="2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09548" y="5747219"/>
            <a:ext cx="24523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5" dirty="0">
                <a:latin typeface="微软雅黑" panose="020B0503020204020204" charset="-122"/>
                <a:cs typeface="微软雅黑" panose="020B0503020204020204" charset="-122"/>
              </a:rPr>
              <a:t>(残差平方和) 最小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xfrm>
            <a:off x="6092850" y="1411643"/>
            <a:ext cx="5816600" cy="4444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52400">
              <a:lnSpc>
                <a:spcPct val="100000"/>
              </a:lnSpc>
              <a:spcBef>
                <a:spcPts val="100"/>
              </a:spcBef>
              <a:tabLst>
                <a:tab pos="2298065" algn="l"/>
              </a:tabLst>
            </a:pPr>
            <a:r>
              <a:rPr b="1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损失函数</a:t>
            </a:r>
            <a:r>
              <a:rPr spc="-10" dirty="0">
                <a:latin typeface="宋体" panose="02010600030101010101" pitchFamily="2" charset="-122"/>
                <a:cs typeface="宋体" panose="02010600030101010101" pitchFamily="2" charset="-122"/>
              </a:rPr>
              <a:t>(Loss</a:t>
            </a:r>
            <a:r>
              <a:rPr dirty="0">
                <a:latin typeface="宋体" panose="02010600030101010101" pitchFamily="2" charset="-122"/>
                <a:cs typeface="宋体" panose="02010600030101010101" pitchFamily="2" charset="-122"/>
              </a:rPr>
              <a:t>	Function)</a:t>
            </a:r>
            <a:r>
              <a:rPr dirty="0"/>
              <a:t>度量</a:t>
            </a:r>
            <a:r>
              <a:rPr b="1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单样本</a:t>
            </a:r>
            <a:r>
              <a:rPr dirty="0"/>
              <a:t>预</a:t>
            </a:r>
            <a:r>
              <a:rPr spc="-50" dirty="0"/>
              <a:t>测</a:t>
            </a:r>
            <a:r>
              <a:rPr dirty="0"/>
              <a:t>的错误程度，损失函数值越小，模型就越</a:t>
            </a:r>
            <a:r>
              <a:rPr spc="-50" dirty="0"/>
              <a:t>好</a:t>
            </a:r>
            <a:endParaRPr spc="-50" dirty="0"/>
          </a:p>
          <a:p>
            <a:pPr marL="12700" marR="5080">
              <a:lnSpc>
                <a:spcPct val="100000"/>
              </a:lnSpc>
            </a:pPr>
            <a:r>
              <a:rPr dirty="0"/>
              <a:t>。常用的损失函数包括：</a:t>
            </a:r>
            <a:r>
              <a:rPr dirty="0">
                <a:latin typeface="宋体" panose="02010600030101010101" pitchFamily="2" charset="-122"/>
                <a:cs typeface="宋体" panose="02010600030101010101" pitchFamily="2" charset="-122"/>
              </a:rPr>
              <a:t>0-1</a:t>
            </a:r>
            <a:r>
              <a:rPr spc="-10" dirty="0"/>
              <a:t>损失函数、平</a:t>
            </a:r>
            <a:r>
              <a:rPr spc="-5" dirty="0"/>
              <a:t>方损失函数、绝对损失函数、对数损失函数</a:t>
            </a:r>
            <a:r>
              <a:rPr spc="-25" dirty="0"/>
              <a:t>等。</a:t>
            </a:r>
            <a:endParaRPr spc="-25" dirty="0"/>
          </a:p>
          <a:p>
            <a:pPr marL="165100">
              <a:lnSpc>
                <a:spcPct val="100000"/>
              </a:lnSpc>
              <a:spcBef>
                <a:spcPts val="2880"/>
              </a:spcBef>
              <a:tabLst>
                <a:tab pos="2298065" algn="l"/>
              </a:tabLst>
            </a:pPr>
            <a:r>
              <a:rPr b="1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代价函数</a:t>
            </a:r>
            <a:r>
              <a:rPr spc="-10" dirty="0">
                <a:latin typeface="宋体" panose="02010600030101010101" pitchFamily="2" charset="-122"/>
                <a:cs typeface="宋体" panose="02010600030101010101" pitchFamily="2" charset="-122"/>
              </a:rPr>
              <a:t>(Cost</a:t>
            </a:r>
            <a:r>
              <a:rPr dirty="0">
                <a:latin typeface="宋体" panose="02010600030101010101" pitchFamily="2" charset="-122"/>
                <a:cs typeface="宋体" panose="02010600030101010101" pitchFamily="2" charset="-122"/>
              </a:rPr>
              <a:t>	Function)</a:t>
            </a:r>
            <a:r>
              <a:rPr dirty="0"/>
              <a:t>度量</a:t>
            </a:r>
            <a:r>
              <a:rPr b="1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全部样本</a:t>
            </a:r>
            <a:r>
              <a:rPr b="1" spc="-5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集</a:t>
            </a:r>
            <a:endParaRPr b="1" spc="-50" dirty="0">
              <a:solidFill>
                <a:srgbClr val="FF0000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marL="12700">
              <a:lnSpc>
                <a:spcPct val="100000"/>
              </a:lnSpc>
            </a:pPr>
            <a:r>
              <a:rPr spc="-5" dirty="0"/>
              <a:t>的平均误差。常用的代价函数包括均方误差</a:t>
            </a:r>
            <a:endParaRPr spc="-5" dirty="0"/>
          </a:p>
          <a:p>
            <a:pPr marL="12700">
              <a:lnSpc>
                <a:spcPct val="100000"/>
              </a:lnSpc>
            </a:pPr>
            <a:r>
              <a:rPr spc="-5" dirty="0"/>
              <a:t>、均方根误差、平均绝对误差等。</a:t>
            </a:r>
            <a:endParaRPr spc="-5" dirty="0"/>
          </a:p>
          <a:p>
            <a:pPr marL="12700" marR="5080" indent="152400">
              <a:lnSpc>
                <a:spcPct val="100000"/>
              </a:lnSpc>
              <a:spcBef>
                <a:spcPts val="2880"/>
              </a:spcBef>
              <a:tabLst>
                <a:tab pos="2602865" algn="l"/>
              </a:tabLst>
            </a:pPr>
            <a:r>
              <a:rPr b="1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目标函数</a:t>
            </a:r>
            <a:r>
              <a:rPr spc="-10" dirty="0">
                <a:latin typeface="宋体" panose="02010600030101010101" pitchFamily="2" charset="-122"/>
                <a:cs typeface="宋体" panose="02010600030101010101" pitchFamily="2" charset="-122"/>
              </a:rPr>
              <a:t>(Object</a:t>
            </a:r>
            <a:r>
              <a:rPr dirty="0">
                <a:latin typeface="宋体" panose="02010600030101010101" pitchFamily="2" charset="-122"/>
                <a:cs typeface="宋体" panose="02010600030101010101" pitchFamily="2" charset="-122"/>
              </a:rPr>
              <a:t>	Function)</a:t>
            </a:r>
            <a:r>
              <a:rPr dirty="0"/>
              <a:t>代价函数</a:t>
            </a:r>
            <a:r>
              <a:rPr lang="en-US" dirty="0"/>
              <a:t>+</a:t>
            </a:r>
            <a:r>
              <a:rPr spc="-50" dirty="0"/>
              <a:t>正</a:t>
            </a:r>
            <a:r>
              <a:rPr dirty="0"/>
              <a:t>则化函数，最终要优化的函数</a:t>
            </a:r>
            <a:r>
              <a:rPr spc="-50" dirty="0"/>
              <a:t>。</a:t>
            </a:r>
            <a:endParaRPr spc="-50" dirty="0"/>
          </a:p>
        </p:txBody>
      </p:sp>
      <p:sp>
        <p:nvSpPr>
          <p:cNvPr id="11" name="object 11"/>
          <p:cNvSpPr txBox="1"/>
          <p:nvPr/>
        </p:nvSpPr>
        <p:spPr>
          <a:xfrm>
            <a:off x="1890179" y="3291535"/>
            <a:ext cx="1943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 panose="02040503050406030204"/>
                <a:cs typeface="Cambria Math" panose="02040503050406030204"/>
              </a:rPr>
              <a:t>1</a:t>
            </a:r>
            <a:endParaRPr sz="24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902879" y="3741902"/>
            <a:ext cx="168910" cy="20320"/>
          </a:xfrm>
          <a:custGeom>
            <a:avLst/>
            <a:gdLst/>
            <a:ahLst/>
            <a:cxnLst/>
            <a:rect l="l" t="t" r="r" b="b"/>
            <a:pathLst>
              <a:path w="168910" h="20320">
                <a:moveTo>
                  <a:pt x="168910" y="20002"/>
                </a:moveTo>
                <a:lnTo>
                  <a:pt x="0" y="20002"/>
                </a:lnTo>
                <a:lnTo>
                  <a:pt x="0" y="0"/>
                </a:lnTo>
                <a:lnTo>
                  <a:pt x="168910" y="0"/>
                </a:lnTo>
                <a:lnTo>
                  <a:pt x="168910" y="200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618121" y="1502968"/>
            <a:ext cx="5060950" cy="33045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41275" algn="ctr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Cambria Math" panose="02040503050406030204"/>
                <a:cs typeface="Cambria Math" panose="02040503050406030204"/>
              </a:rPr>
              <a:t>ℎ</a:t>
            </a:r>
            <a:r>
              <a:rPr sz="4800" baseline="300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3200" dirty="0">
                <a:latin typeface="Cambria Math" panose="02040503050406030204"/>
                <a:cs typeface="Cambria Math" panose="02040503050406030204"/>
              </a:rPr>
              <a:t>𝑥</a:t>
            </a:r>
            <a:r>
              <a:rPr sz="4800" baseline="3000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4800" spc="270" baseline="3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3200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3200" spc="19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3200" dirty="0">
                <a:latin typeface="Cambria Math" panose="02040503050406030204"/>
                <a:cs typeface="Cambria Math" panose="02040503050406030204"/>
              </a:rPr>
              <a:t>𝑤</a:t>
            </a:r>
            <a:r>
              <a:rPr sz="3450" baseline="-16000" dirty="0">
                <a:latin typeface="Cambria Math" panose="02040503050406030204"/>
                <a:cs typeface="Cambria Math" panose="02040503050406030204"/>
              </a:rPr>
              <a:t>0</a:t>
            </a:r>
            <a:r>
              <a:rPr sz="3450" spc="509" baseline="-16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3200" dirty="0">
                <a:latin typeface="Cambria Math" panose="02040503050406030204"/>
                <a:cs typeface="Cambria Math" panose="02040503050406030204"/>
              </a:rPr>
              <a:t>+</a:t>
            </a:r>
            <a:r>
              <a:rPr sz="3200" spc="1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3200" spc="50" dirty="0">
                <a:latin typeface="Cambria Math" panose="02040503050406030204"/>
                <a:cs typeface="Cambria Math" panose="02040503050406030204"/>
              </a:rPr>
              <a:t>𝑤</a:t>
            </a:r>
            <a:r>
              <a:rPr sz="3450" spc="75" baseline="-16000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3200" spc="50" dirty="0">
                <a:latin typeface="Cambria Math" panose="02040503050406030204"/>
                <a:cs typeface="Cambria Math" panose="02040503050406030204"/>
              </a:rPr>
              <a:t>𝑥</a:t>
            </a:r>
            <a:r>
              <a:rPr sz="3450" spc="75" baseline="-16000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3450" spc="517" baseline="-16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3200" dirty="0">
                <a:latin typeface="Cambria Math" panose="02040503050406030204"/>
                <a:cs typeface="Cambria Math" panose="02040503050406030204"/>
              </a:rPr>
              <a:t>+</a:t>
            </a:r>
            <a:r>
              <a:rPr sz="3200" spc="1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3200" spc="50" dirty="0">
                <a:latin typeface="Cambria Math" panose="02040503050406030204"/>
                <a:cs typeface="Cambria Math" panose="02040503050406030204"/>
              </a:rPr>
              <a:t>𝑤</a:t>
            </a:r>
            <a:r>
              <a:rPr sz="3450" spc="75" baseline="-1600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3200" spc="50" dirty="0">
                <a:latin typeface="Cambria Math" panose="02040503050406030204"/>
                <a:cs typeface="Cambria Math" panose="02040503050406030204"/>
              </a:rPr>
              <a:t>𝑥</a:t>
            </a:r>
            <a:r>
              <a:rPr sz="3450" spc="75" baseline="-1600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3450" spc="517" baseline="-16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3200" spc="-50" dirty="0">
                <a:latin typeface="Cambria Math" panose="02040503050406030204"/>
                <a:cs typeface="Cambria Math" panose="02040503050406030204"/>
              </a:rPr>
              <a:t>+</a:t>
            </a:r>
            <a:endParaRPr sz="3200">
              <a:latin typeface="Cambria Math" panose="02040503050406030204"/>
              <a:cs typeface="Cambria Math" panose="02040503050406030204"/>
            </a:endParaRPr>
          </a:p>
          <a:p>
            <a:pPr marR="57150" algn="ctr">
              <a:lnSpc>
                <a:spcPct val="100000"/>
              </a:lnSpc>
            </a:pPr>
            <a:r>
              <a:rPr sz="3200" dirty="0">
                <a:latin typeface="Cambria Math" panose="02040503050406030204"/>
                <a:cs typeface="Cambria Math" panose="02040503050406030204"/>
              </a:rPr>
              <a:t>.</a:t>
            </a:r>
            <a:r>
              <a:rPr sz="3200" spc="-16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3200" dirty="0">
                <a:latin typeface="Cambria Math" panose="02040503050406030204"/>
                <a:cs typeface="Cambria Math" panose="02040503050406030204"/>
              </a:rPr>
              <a:t>.</a:t>
            </a:r>
            <a:r>
              <a:rPr sz="3200" spc="-16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3200" dirty="0">
                <a:latin typeface="Cambria Math" panose="02040503050406030204"/>
                <a:cs typeface="Cambria Math" panose="02040503050406030204"/>
              </a:rPr>
              <a:t>.</a:t>
            </a:r>
            <a:r>
              <a:rPr sz="3200" spc="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3200" dirty="0">
                <a:latin typeface="Cambria Math" panose="02040503050406030204"/>
                <a:cs typeface="Cambria Math" panose="02040503050406030204"/>
              </a:rPr>
              <a:t>+</a:t>
            </a:r>
            <a:r>
              <a:rPr sz="3200" spc="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3200" spc="85" dirty="0">
                <a:latin typeface="Cambria Math" panose="02040503050406030204"/>
                <a:cs typeface="Cambria Math" panose="02040503050406030204"/>
              </a:rPr>
              <a:t>𝑤</a:t>
            </a:r>
            <a:r>
              <a:rPr sz="3450" spc="127" baseline="-16000" dirty="0">
                <a:latin typeface="Cambria Math" panose="02040503050406030204"/>
                <a:cs typeface="Cambria Math" panose="02040503050406030204"/>
              </a:rPr>
              <a:t>𝑛</a:t>
            </a:r>
            <a:r>
              <a:rPr sz="3200" spc="85" dirty="0">
                <a:latin typeface="Cambria Math" panose="02040503050406030204"/>
                <a:cs typeface="Cambria Math" panose="02040503050406030204"/>
              </a:rPr>
              <a:t>𝑥</a:t>
            </a:r>
            <a:r>
              <a:rPr sz="3450" spc="127" baseline="-16000" dirty="0">
                <a:latin typeface="Cambria Math" panose="02040503050406030204"/>
                <a:cs typeface="Cambria Math" panose="02040503050406030204"/>
              </a:rPr>
              <a:t>𝑛</a:t>
            </a:r>
            <a:endParaRPr sz="3450" baseline="-16000">
              <a:latin typeface="Cambria Math" panose="02040503050406030204"/>
              <a:cs typeface="Cambria Math" panose="02040503050406030204"/>
            </a:endParaRPr>
          </a:p>
          <a:p>
            <a:pPr marL="100965">
              <a:lnSpc>
                <a:spcPct val="100000"/>
              </a:lnSpc>
              <a:spcBef>
                <a:spcPts val="3025"/>
              </a:spcBef>
            </a:pPr>
            <a:r>
              <a:rPr sz="2400" spc="-5" dirty="0">
                <a:latin typeface="微软雅黑" panose="020B0503020204020204" charset="-122"/>
                <a:cs typeface="微软雅黑" panose="020B0503020204020204" charset="-122"/>
              </a:rPr>
              <a:t>损失函数采用平方和损失：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  <a:p>
            <a:pPr marL="100965">
              <a:lnSpc>
                <a:spcPct val="100000"/>
              </a:lnSpc>
              <a:spcBef>
                <a:spcPts val="2300"/>
              </a:spcBef>
              <a:tabLst>
                <a:tab pos="760095" algn="l"/>
                <a:tab pos="2362835" algn="l"/>
                <a:tab pos="3299460" algn="l"/>
              </a:tabLst>
            </a:pPr>
            <a:r>
              <a:rPr sz="2400" spc="-25" dirty="0">
                <a:latin typeface="Cambria Math" panose="02040503050406030204"/>
                <a:cs typeface="Cambria Math" panose="02040503050406030204"/>
              </a:rPr>
              <a:t>𝑙(𝑥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	)</a:t>
            </a:r>
            <a:r>
              <a:rPr sz="2400" spc="13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2400" spc="13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3600" baseline="-3700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3600" spc="-187" baseline="-37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20" dirty="0">
                <a:latin typeface="Cambria Math" panose="02040503050406030204"/>
                <a:cs typeface="Cambria Math" panose="02040503050406030204"/>
              </a:rPr>
              <a:t>(ℎ(𝑥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	)</a:t>
            </a:r>
            <a:r>
              <a:rPr sz="2400" spc="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400" spc="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50" dirty="0">
                <a:latin typeface="Cambria Math" panose="02040503050406030204"/>
                <a:cs typeface="Cambria Math" panose="02040503050406030204"/>
              </a:rPr>
              <a:t>𝑦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2400" spc="-50" dirty="0">
                <a:latin typeface="Cambria Math" panose="02040503050406030204"/>
                <a:cs typeface="Cambria Math" panose="02040503050406030204"/>
              </a:rPr>
              <a:t>)</a:t>
            </a:r>
            <a:endParaRPr sz="2400">
              <a:latin typeface="Cambria Math" panose="02040503050406030204"/>
              <a:cs typeface="Cambria Math" panose="02040503050406030204"/>
            </a:endParaRPr>
          </a:p>
          <a:p>
            <a:pPr>
              <a:lnSpc>
                <a:spcPct val="100000"/>
              </a:lnSpc>
              <a:spcBef>
                <a:spcPts val="1355"/>
              </a:spcBef>
            </a:pPr>
            <a:endParaRPr sz="2400">
              <a:latin typeface="Cambria Math" panose="02040503050406030204"/>
              <a:cs typeface="Cambria Math" panose="02040503050406030204"/>
            </a:endParaRPr>
          </a:p>
          <a:p>
            <a:pPr marL="303530">
              <a:lnSpc>
                <a:spcPct val="100000"/>
              </a:lnSpc>
              <a:tabLst>
                <a:tab pos="2262505" algn="l"/>
              </a:tabLst>
            </a:pPr>
            <a:r>
              <a:rPr sz="2400" spc="450" dirty="0">
                <a:latin typeface="微软雅黑" panose="020B0503020204020204" charset="-122"/>
                <a:cs typeface="微软雅黑" panose="020B0503020204020204" charset="-122"/>
              </a:rPr>
              <a:t>要找到</a:t>
            </a:r>
            <a:r>
              <a:rPr sz="2400" spc="455" dirty="0">
                <a:latin typeface="微软雅黑" panose="020B0503020204020204" charset="-122"/>
                <a:cs typeface="微软雅黑" panose="020B0503020204020204" charset="-122"/>
              </a:rPr>
              <a:t>一</a:t>
            </a:r>
            <a:r>
              <a:rPr sz="2400" spc="-50" dirty="0">
                <a:latin typeface="微软雅黑" panose="020B0503020204020204" charset="-122"/>
                <a:cs typeface="微软雅黑" panose="020B0503020204020204" charset="-122"/>
              </a:rPr>
              <a:t>组</a:t>
            </a: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	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𝑤(𝑤</a:t>
            </a:r>
            <a:r>
              <a:rPr sz="2625" baseline="-16000" dirty="0">
                <a:latin typeface="Cambria Math" panose="02040503050406030204"/>
                <a:cs typeface="Cambria Math" panose="02040503050406030204"/>
              </a:rPr>
              <a:t>0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2400" spc="-8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𝑤</a:t>
            </a:r>
            <a:r>
              <a:rPr sz="2625" baseline="-16000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2400" spc="-8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𝑤</a:t>
            </a:r>
            <a:r>
              <a:rPr sz="2625" baseline="-1600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2400" spc="-8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.</a:t>
            </a:r>
            <a:r>
              <a:rPr sz="2400" spc="-8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.</a:t>
            </a:r>
            <a:r>
              <a:rPr sz="2400" spc="-8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.</a:t>
            </a:r>
            <a:r>
              <a:rPr sz="2400" spc="-8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2400" spc="-8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35" dirty="0">
                <a:latin typeface="Cambria Math" panose="02040503050406030204"/>
                <a:cs typeface="Cambria Math" panose="02040503050406030204"/>
              </a:rPr>
              <a:t>𝑤</a:t>
            </a:r>
            <a:r>
              <a:rPr sz="2625" spc="52" baseline="-16000" dirty="0">
                <a:latin typeface="Cambria Math" panose="02040503050406030204"/>
                <a:cs typeface="Cambria Math" panose="02040503050406030204"/>
              </a:rPr>
              <a:t>𝑛</a:t>
            </a:r>
            <a:r>
              <a:rPr sz="2400" spc="35" dirty="0">
                <a:latin typeface="Cambria Math" panose="02040503050406030204"/>
                <a:cs typeface="Cambria Math" panose="02040503050406030204"/>
              </a:rPr>
              <a:t>)</a:t>
            </a:r>
            <a:endParaRPr sz="24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91349" y="3492830"/>
            <a:ext cx="3094355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14805" algn="l"/>
                <a:tab pos="2551430" algn="l"/>
                <a:tab pos="2952115" algn="l"/>
              </a:tabLst>
            </a:pPr>
            <a:r>
              <a:rPr sz="1750" spc="-25" dirty="0">
                <a:latin typeface="Cambria Math" panose="02040503050406030204"/>
                <a:cs typeface="Cambria Math" panose="02040503050406030204"/>
              </a:rPr>
              <a:t>(𝑖)</a:t>
            </a:r>
            <a:r>
              <a:rPr sz="175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1750" spc="-25" dirty="0">
                <a:latin typeface="Cambria Math" panose="02040503050406030204"/>
                <a:cs typeface="Cambria Math" panose="02040503050406030204"/>
              </a:rPr>
              <a:t>(𝑖)</a:t>
            </a:r>
            <a:r>
              <a:rPr sz="175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1750" spc="-25" dirty="0">
                <a:latin typeface="Cambria Math" panose="02040503050406030204"/>
                <a:cs typeface="Cambria Math" panose="02040503050406030204"/>
              </a:rPr>
              <a:t>(𝑖)</a:t>
            </a:r>
            <a:r>
              <a:rPr sz="175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1750" spc="-50" dirty="0">
                <a:latin typeface="Cambria Math" panose="02040503050406030204"/>
                <a:cs typeface="Cambria Math" panose="02040503050406030204"/>
              </a:rPr>
              <a:t>2</a:t>
            </a:r>
            <a:endParaRPr sz="1750">
              <a:latin typeface="Cambria Math" panose="02040503050406030204"/>
              <a:cs typeface="Cambria Math" panose="02040503050406030204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41300" y="2785110"/>
            <a:ext cx="5605145" cy="3499485"/>
            <a:chOff x="241300" y="2785110"/>
            <a:chExt cx="5605145" cy="3499485"/>
          </a:xfrm>
        </p:grpSpPr>
        <p:sp>
          <p:nvSpPr>
            <p:cNvPr id="16" name="object 16"/>
            <p:cNvSpPr/>
            <p:nvPr/>
          </p:nvSpPr>
          <p:spPr>
            <a:xfrm>
              <a:off x="241300" y="2785110"/>
              <a:ext cx="5605145" cy="3499485"/>
            </a:xfrm>
            <a:custGeom>
              <a:avLst/>
              <a:gdLst/>
              <a:ahLst/>
              <a:cxnLst/>
              <a:rect l="l" t="t" r="r" b="b"/>
              <a:pathLst>
                <a:path w="5605145" h="3499485">
                  <a:moveTo>
                    <a:pt x="5592445" y="3499485"/>
                  </a:moveTo>
                  <a:lnTo>
                    <a:pt x="12700" y="3499485"/>
                  </a:lnTo>
                  <a:lnTo>
                    <a:pt x="10223" y="3499243"/>
                  </a:lnTo>
                  <a:lnTo>
                    <a:pt x="0" y="3486785"/>
                  </a:lnTo>
                  <a:lnTo>
                    <a:pt x="0" y="12700"/>
                  </a:lnTo>
                  <a:lnTo>
                    <a:pt x="12700" y="0"/>
                  </a:lnTo>
                  <a:lnTo>
                    <a:pt x="5592445" y="0"/>
                  </a:lnTo>
                  <a:lnTo>
                    <a:pt x="5605145" y="12700"/>
                  </a:lnTo>
                  <a:lnTo>
                    <a:pt x="25400" y="12700"/>
                  </a:lnTo>
                  <a:lnTo>
                    <a:pt x="12700" y="25400"/>
                  </a:lnTo>
                  <a:lnTo>
                    <a:pt x="25400" y="25400"/>
                  </a:lnTo>
                  <a:lnTo>
                    <a:pt x="25400" y="3474085"/>
                  </a:lnTo>
                  <a:lnTo>
                    <a:pt x="12700" y="3474085"/>
                  </a:lnTo>
                  <a:lnTo>
                    <a:pt x="25400" y="3486785"/>
                  </a:lnTo>
                  <a:lnTo>
                    <a:pt x="5605145" y="3486785"/>
                  </a:lnTo>
                  <a:lnTo>
                    <a:pt x="5604903" y="3489261"/>
                  </a:lnTo>
                  <a:lnTo>
                    <a:pt x="5594921" y="3499243"/>
                  </a:lnTo>
                  <a:lnTo>
                    <a:pt x="5592445" y="3499485"/>
                  </a:lnTo>
                  <a:close/>
                </a:path>
                <a:path w="5605145" h="3499485">
                  <a:moveTo>
                    <a:pt x="25400" y="25400"/>
                  </a:moveTo>
                  <a:lnTo>
                    <a:pt x="12700" y="25400"/>
                  </a:lnTo>
                  <a:lnTo>
                    <a:pt x="25400" y="12700"/>
                  </a:lnTo>
                  <a:lnTo>
                    <a:pt x="25400" y="25400"/>
                  </a:lnTo>
                  <a:close/>
                </a:path>
                <a:path w="5605145" h="3499485">
                  <a:moveTo>
                    <a:pt x="5579745" y="25400"/>
                  </a:moveTo>
                  <a:lnTo>
                    <a:pt x="25400" y="25400"/>
                  </a:lnTo>
                  <a:lnTo>
                    <a:pt x="25400" y="12700"/>
                  </a:lnTo>
                  <a:lnTo>
                    <a:pt x="5579745" y="12700"/>
                  </a:lnTo>
                  <a:lnTo>
                    <a:pt x="5579745" y="25400"/>
                  </a:lnTo>
                  <a:close/>
                </a:path>
                <a:path w="5605145" h="3499485">
                  <a:moveTo>
                    <a:pt x="5579745" y="3486785"/>
                  </a:moveTo>
                  <a:lnTo>
                    <a:pt x="5579745" y="12700"/>
                  </a:lnTo>
                  <a:lnTo>
                    <a:pt x="5592445" y="25400"/>
                  </a:lnTo>
                  <a:lnTo>
                    <a:pt x="5605145" y="25400"/>
                  </a:lnTo>
                  <a:lnTo>
                    <a:pt x="5605145" y="3474085"/>
                  </a:lnTo>
                  <a:lnTo>
                    <a:pt x="5592445" y="3474085"/>
                  </a:lnTo>
                  <a:lnTo>
                    <a:pt x="5579745" y="3486785"/>
                  </a:lnTo>
                  <a:close/>
                </a:path>
                <a:path w="5605145" h="3499485">
                  <a:moveTo>
                    <a:pt x="5605145" y="25400"/>
                  </a:moveTo>
                  <a:lnTo>
                    <a:pt x="5592445" y="25400"/>
                  </a:lnTo>
                  <a:lnTo>
                    <a:pt x="5579745" y="12700"/>
                  </a:lnTo>
                  <a:lnTo>
                    <a:pt x="5605145" y="12700"/>
                  </a:lnTo>
                  <a:lnTo>
                    <a:pt x="5605145" y="25400"/>
                  </a:lnTo>
                  <a:close/>
                </a:path>
                <a:path w="5605145" h="3499485">
                  <a:moveTo>
                    <a:pt x="25400" y="3486785"/>
                  </a:moveTo>
                  <a:lnTo>
                    <a:pt x="12700" y="3474085"/>
                  </a:lnTo>
                  <a:lnTo>
                    <a:pt x="25400" y="3474085"/>
                  </a:lnTo>
                  <a:lnTo>
                    <a:pt x="25400" y="3486785"/>
                  </a:lnTo>
                  <a:close/>
                </a:path>
                <a:path w="5605145" h="3499485">
                  <a:moveTo>
                    <a:pt x="5579745" y="3486785"/>
                  </a:moveTo>
                  <a:lnTo>
                    <a:pt x="25400" y="3486785"/>
                  </a:lnTo>
                  <a:lnTo>
                    <a:pt x="25400" y="3474085"/>
                  </a:lnTo>
                  <a:lnTo>
                    <a:pt x="5579745" y="3474085"/>
                  </a:lnTo>
                  <a:lnTo>
                    <a:pt x="5579745" y="3486785"/>
                  </a:lnTo>
                  <a:close/>
                </a:path>
                <a:path w="5605145" h="3499485">
                  <a:moveTo>
                    <a:pt x="5605145" y="3486785"/>
                  </a:moveTo>
                  <a:lnTo>
                    <a:pt x="5579745" y="3486785"/>
                  </a:lnTo>
                  <a:lnTo>
                    <a:pt x="5592445" y="3474085"/>
                  </a:lnTo>
                  <a:lnTo>
                    <a:pt x="5605145" y="3474085"/>
                  </a:lnTo>
                  <a:lnTo>
                    <a:pt x="5605145" y="3486785"/>
                  </a:lnTo>
                  <a:close/>
                </a:path>
              </a:pathLst>
            </a:custGeom>
            <a:solidFill>
              <a:srgbClr val="00458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4979517" y="2933560"/>
              <a:ext cx="534898" cy="626338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15077" y="3036430"/>
              <a:ext cx="261848" cy="42567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0330" y="1277620"/>
            <a:ext cx="11859260" cy="548767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sz="1600" spc="-10" dirty="0">
                <a:sym typeface="+mn-ea"/>
              </a:rPr>
              <a:t>平</a:t>
            </a:r>
            <a:r>
              <a:rPr sz="1600" spc="-5" dirty="0">
                <a:sym typeface="+mn-ea"/>
              </a:rPr>
              <a:t>方损失函数</a:t>
            </a:r>
            <a:r>
              <a:rPr lang="zh-CN" altLang="en-US" sz="1600">
                <a:sym typeface="+mn-ea"/>
              </a:rPr>
              <a:t>的特点：</a:t>
            </a:r>
            <a:endParaRPr lang="zh-CN" altLang="en-US" sz="1600">
              <a:sym typeface="+mn-ea"/>
            </a:endParaRPr>
          </a:p>
          <a:p>
            <a:pPr marL="0" indent="0">
              <a:buNone/>
            </a:pPr>
            <a:r>
              <a:rPr lang="en-US" altLang="zh-CN" sz="1600">
                <a:sym typeface="+mn-ea"/>
              </a:rPr>
              <a:t>1.</a:t>
            </a:r>
            <a:r>
              <a:rPr lang="zh-CN" altLang="en-US" sz="1600">
                <a:sym typeface="+mn-ea"/>
              </a:rPr>
              <a:t>平方函数连续、可导，适合推导解析解，也适合用梯度下降等优化方法。</a:t>
            </a:r>
            <a:endParaRPr lang="zh-CN" altLang="en-US" sz="1600">
              <a:sym typeface="+mn-ea"/>
            </a:endParaRPr>
          </a:p>
          <a:p>
            <a:pPr marL="0" indent="0">
              <a:buNone/>
            </a:pPr>
            <a:r>
              <a:rPr lang="en-US" altLang="zh-CN" sz="1600">
                <a:sym typeface="+mn-ea"/>
              </a:rPr>
              <a:t>2. </a:t>
            </a:r>
            <a:r>
              <a:rPr lang="zh-CN" altLang="en-US" sz="1600">
                <a:sym typeface="+mn-ea"/>
              </a:rPr>
              <a:t>大误差会被放大，如果预测偏差很大，平方后会显著增加损失，因此模型会更重视</a:t>
            </a:r>
            <a:r>
              <a:rPr lang="en-US" altLang="zh-CN" sz="1600">
                <a:sym typeface="+mn-ea"/>
              </a:rPr>
              <a:t>“</a:t>
            </a:r>
            <a:r>
              <a:rPr lang="zh-CN" altLang="en-US" sz="1600">
                <a:sym typeface="+mn-ea"/>
              </a:rPr>
              <a:t>偏差大的样本</a:t>
            </a:r>
            <a:r>
              <a:rPr lang="en-US" altLang="zh-CN" sz="1600">
                <a:sym typeface="+mn-ea"/>
              </a:rPr>
              <a:t>”</a:t>
            </a:r>
            <a:r>
              <a:rPr lang="zh-CN" altLang="en-US" sz="1600">
                <a:sym typeface="+mn-ea"/>
              </a:rPr>
              <a:t>。平方误差对异常值较敏感，对此可以使用一种典型方法：</a:t>
            </a:r>
            <a:r>
              <a:rPr lang="en-US" altLang="zh-CN" sz="1600">
                <a:sym typeface="+mn-ea"/>
              </a:rPr>
              <a:t>Huber </a:t>
            </a:r>
            <a:r>
              <a:rPr lang="zh-CN" altLang="en-US" sz="1600">
                <a:sym typeface="+mn-ea"/>
              </a:rPr>
              <a:t>方法。这种方法在误差较小时采用平方损失，在误差较大时采用近似线性增长的损失，因此对极端样本不那么敏感。</a:t>
            </a:r>
            <a:endParaRPr lang="zh-CN" altLang="en-US" sz="1600">
              <a:sym typeface="+mn-ea"/>
            </a:endParaRPr>
          </a:p>
          <a:p>
            <a:pPr marL="0" indent="0">
              <a:buNone/>
            </a:pPr>
            <a:endParaRPr lang="zh-CN" altLang="en-US" sz="1600">
              <a:sym typeface="+mn-ea"/>
            </a:endParaRPr>
          </a:p>
          <a:p>
            <a:pPr marL="0" indent="0">
              <a:buNone/>
            </a:pPr>
            <a:endParaRPr lang="zh-CN" altLang="en-US" sz="1600">
              <a:sym typeface="+mn-ea"/>
            </a:endParaRPr>
          </a:p>
          <a:p>
            <a:pPr marL="0" indent="0">
              <a:buNone/>
            </a:pPr>
            <a:r>
              <a:rPr lang="en-US" altLang="zh-CN" sz="1600">
                <a:sym typeface="+mn-ea"/>
              </a:rPr>
              <a:t>Huber </a:t>
            </a:r>
            <a:r>
              <a:rPr lang="zh-CN" altLang="en-US" sz="1600">
                <a:sym typeface="+mn-ea"/>
              </a:rPr>
              <a:t>方法：在误差接近</a:t>
            </a:r>
            <a:r>
              <a:rPr lang="en-US" altLang="zh-CN" sz="1600">
                <a:sym typeface="+mn-ea"/>
              </a:rPr>
              <a:t> 0 </a:t>
            </a:r>
            <a:r>
              <a:rPr lang="zh-CN" altLang="en-US" sz="1600">
                <a:sym typeface="+mn-ea"/>
              </a:rPr>
              <a:t>时倾向平方误差，在误差很大时（可能有异常值）倾向绝对</a:t>
            </a:r>
            <a:r>
              <a:rPr lang="zh-CN" altLang="en-US" sz="1600">
                <a:sym typeface="+mn-ea"/>
              </a:rPr>
              <a:t>误差。</a:t>
            </a:r>
            <a:endParaRPr lang="zh-CN" altLang="en-US" sz="1600"/>
          </a:p>
          <a:p>
            <a:pPr marL="0" indent="0">
              <a:buNone/>
            </a:pPr>
            <a:endParaRPr lang="zh-CN" altLang="en-US" sz="1600"/>
          </a:p>
          <a:p>
            <a:pPr marL="0" indent="0">
              <a:buNone/>
            </a:pPr>
            <a:endParaRPr lang="zh-CN" altLang="en-US" sz="1600"/>
          </a:p>
          <a:p>
            <a:pPr marL="0" indent="0">
              <a:buNone/>
            </a:pPr>
            <a:endParaRPr lang="zh-CN" altLang="en-US" sz="1600"/>
          </a:p>
          <a:p>
            <a:pPr marL="0" indent="0">
              <a:buNone/>
            </a:pPr>
            <a:endParaRPr lang="zh-CN" altLang="en-US" sz="1600"/>
          </a:p>
          <a:p>
            <a:pPr marL="0" indent="0">
              <a:buNone/>
            </a:pPr>
            <a:endParaRPr lang="zh-CN" altLang="en-US" sz="1600"/>
          </a:p>
          <a:p>
            <a:pPr marL="0" indent="0">
              <a:buNone/>
            </a:pPr>
            <a:endParaRPr lang="zh-CN" altLang="en-US" sz="1600"/>
          </a:p>
          <a:p>
            <a:pPr marL="0" indent="0">
              <a:buNone/>
            </a:pPr>
            <a:endParaRPr lang="zh-CN" altLang="en-US" sz="1600"/>
          </a:p>
          <a:p>
            <a:pPr marL="0" indent="0">
              <a:buNone/>
            </a:pPr>
            <a:endParaRPr lang="zh-CN" altLang="en-US" sz="1600"/>
          </a:p>
          <a:p>
            <a:pPr marL="0" indent="0">
              <a:buNone/>
            </a:pPr>
            <a:endParaRPr lang="zh-CN" altLang="en-US" sz="1600">
              <a:sym typeface="+mn-ea"/>
            </a:endParaRPr>
          </a:p>
          <a:p>
            <a:pPr marL="0" indent="0">
              <a:buNone/>
            </a:pPr>
            <a:endParaRPr lang="zh-CN" altLang="en-US" sz="1600">
              <a:sym typeface="+mn-ea"/>
            </a:endParaRPr>
          </a:p>
          <a:p>
            <a:pPr marL="0" indent="0">
              <a:buNone/>
            </a:pPr>
            <a:endParaRPr lang="zh-CN" altLang="en-US" sz="1600">
              <a:sym typeface="+mn-ea"/>
            </a:endParaRPr>
          </a:p>
          <a:p>
            <a:pPr marL="0" indent="0">
              <a:buNone/>
            </a:pPr>
            <a:r>
              <a:rPr lang="zh-CN" altLang="en-US" sz="1600">
                <a:sym typeface="+mn-ea"/>
              </a:rPr>
              <a:t>当</a:t>
            </a:r>
            <a:r>
              <a:rPr lang="en-US" altLang="zh-CN" sz="1600">
                <a:sym typeface="+mn-ea"/>
              </a:rPr>
              <a:t> δ </a:t>
            </a:r>
            <a:r>
              <a:rPr lang="zh-CN" altLang="en-US" sz="1600">
                <a:sym typeface="+mn-ea"/>
              </a:rPr>
              <a:t>趋近于</a:t>
            </a:r>
            <a:r>
              <a:rPr lang="en-US" altLang="zh-CN" sz="1600">
                <a:sym typeface="+mn-ea"/>
              </a:rPr>
              <a:t> 0 </a:t>
            </a:r>
            <a:r>
              <a:rPr lang="zh-CN" altLang="en-US" sz="1600">
                <a:sym typeface="+mn-ea"/>
              </a:rPr>
              <a:t>时，</a:t>
            </a:r>
            <a:r>
              <a:rPr lang="en-US" altLang="zh-CN" sz="1600">
                <a:sym typeface="+mn-ea"/>
              </a:rPr>
              <a:t>Huber </a:t>
            </a:r>
            <a:r>
              <a:rPr lang="zh-CN" altLang="en-US" sz="1600">
                <a:sym typeface="+mn-ea"/>
              </a:rPr>
              <a:t>损失几乎等同于绝对误差</a:t>
            </a:r>
            <a:r>
              <a:rPr lang="en-US" altLang="zh-CN" sz="1600">
                <a:sym typeface="+mn-ea"/>
              </a:rPr>
              <a:t> (MAE)</a:t>
            </a:r>
            <a:r>
              <a:rPr lang="zh-CN" altLang="en-US" sz="1600">
                <a:sym typeface="+mn-ea"/>
              </a:rPr>
              <a:t>。</a:t>
            </a:r>
            <a:endParaRPr lang="zh-CN" altLang="en-US" sz="1600"/>
          </a:p>
          <a:p>
            <a:pPr marL="0" indent="0">
              <a:buNone/>
            </a:pPr>
            <a:r>
              <a:rPr lang="zh-CN" altLang="en-US" sz="1600">
                <a:sym typeface="+mn-ea"/>
              </a:rPr>
              <a:t>当</a:t>
            </a:r>
            <a:r>
              <a:rPr lang="en-US" altLang="zh-CN" sz="1600">
                <a:sym typeface="+mn-ea"/>
              </a:rPr>
              <a:t> δ </a:t>
            </a:r>
            <a:r>
              <a:rPr lang="zh-CN" altLang="en-US" sz="1600">
                <a:sym typeface="+mn-ea"/>
              </a:rPr>
              <a:t>趋近于无穷大</a:t>
            </a:r>
            <a:r>
              <a:rPr lang="en-US" altLang="zh-CN" sz="1600">
                <a:sym typeface="+mn-ea"/>
              </a:rPr>
              <a:t> (∞) </a:t>
            </a:r>
            <a:r>
              <a:rPr lang="zh-CN" altLang="en-US" sz="1600">
                <a:sym typeface="+mn-ea"/>
              </a:rPr>
              <a:t>时，</a:t>
            </a:r>
            <a:r>
              <a:rPr lang="en-US" altLang="zh-CN" sz="1600">
                <a:sym typeface="+mn-ea"/>
              </a:rPr>
              <a:t>Huber </a:t>
            </a:r>
            <a:r>
              <a:rPr lang="zh-CN" altLang="en-US" sz="1600">
                <a:sym typeface="+mn-ea"/>
              </a:rPr>
              <a:t>损失完全等同于平方误差</a:t>
            </a:r>
            <a:r>
              <a:rPr lang="en-US" altLang="zh-CN" sz="1600">
                <a:sym typeface="+mn-ea"/>
              </a:rPr>
              <a:t> (MSE)</a:t>
            </a:r>
            <a:r>
              <a:rPr lang="zh-CN" altLang="en-US" sz="1600">
                <a:sym typeface="+mn-ea"/>
              </a:rPr>
              <a:t>。</a:t>
            </a:r>
            <a:endParaRPr lang="zh-CN" altLang="en-US" sz="1600"/>
          </a:p>
          <a:p>
            <a:pPr marL="0" indent="0">
              <a:buNone/>
            </a:pPr>
            <a:r>
              <a:rPr lang="zh-CN" altLang="en-US" sz="1600">
                <a:sym typeface="+mn-ea"/>
              </a:rPr>
              <a:t>通过调节</a:t>
            </a:r>
            <a:r>
              <a:rPr lang="en-US" altLang="zh-CN" sz="1600">
                <a:sym typeface="+mn-ea"/>
              </a:rPr>
              <a:t> δ</a:t>
            </a:r>
            <a:r>
              <a:rPr lang="zh-CN" altLang="en-US" sz="1600">
                <a:sym typeface="+mn-ea"/>
              </a:rPr>
              <a:t>，我们可以在</a:t>
            </a:r>
            <a:r>
              <a:rPr lang="en-US" altLang="zh-CN" sz="1600">
                <a:sym typeface="+mn-ea"/>
              </a:rPr>
              <a:t>“</a:t>
            </a:r>
            <a:r>
              <a:rPr lang="zh-CN" altLang="en-US" sz="1600">
                <a:sym typeface="+mn-ea"/>
              </a:rPr>
              <a:t>平滑收敛</a:t>
            </a:r>
            <a:r>
              <a:rPr lang="en-US" altLang="zh-CN" sz="1600">
                <a:sym typeface="+mn-ea"/>
              </a:rPr>
              <a:t>”</a:t>
            </a:r>
            <a:r>
              <a:rPr lang="zh-CN" altLang="en-US" sz="1600">
                <a:sym typeface="+mn-ea"/>
              </a:rPr>
              <a:t>和</a:t>
            </a:r>
            <a:r>
              <a:rPr lang="en-US" altLang="zh-CN" sz="1600">
                <a:sym typeface="+mn-ea"/>
              </a:rPr>
              <a:t>“</a:t>
            </a:r>
            <a:r>
              <a:rPr lang="zh-CN" altLang="en-US" sz="1600">
                <a:sym typeface="+mn-ea"/>
              </a:rPr>
              <a:t>抵抗异常值</a:t>
            </a:r>
            <a:r>
              <a:rPr lang="en-US" altLang="zh-CN" sz="1600">
                <a:sym typeface="+mn-ea"/>
              </a:rPr>
              <a:t>”</a:t>
            </a:r>
            <a:r>
              <a:rPr lang="zh-CN" altLang="en-US" sz="1600">
                <a:sym typeface="+mn-ea"/>
              </a:rPr>
              <a:t>之间找到最佳的平衡点。</a:t>
            </a:r>
            <a:endParaRPr lang="zh-CN" altLang="en-US" sz="1600"/>
          </a:p>
          <a:p>
            <a:pPr marL="0" indent="0">
              <a:buNone/>
            </a:pPr>
            <a:endParaRPr lang="zh-CN" altLang="en-US" sz="1600"/>
          </a:p>
          <a:p>
            <a:pPr marL="0" indent="0">
              <a:buNone/>
            </a:pPr>
            <a:endParaRPr lang="zh-CN" altLang="en-US" sz="1600"/>
          </a:p>
          <a:p>
            <a:pPr marL="0" indent="0">
              <a:buNone/>
            </a:pPr>
            <a:endParaRPr lang="en-US" altLang="zh-CN" sz="1600"/>
          </a:p>
          <a:p>
            <a:pPr marL="0" indent="0">
              <a:buNone/>
            </a:pPr>
            <a:endParaRPr lang="zh-CN" altLang="en-US" sz="3200"/>
          </a:p>
          <a:p>
            <a:pPr marL="0" indent="0">
              <a:buNone/>
            </a:pPr>
            <a:endParaRPr lang="zh-CN" altLang="en-US" sz="3200"/>
          </a:p>
          <a:p>
            <a:pPr marL="0" indent="0">
              <a:buNone/>
            </a:pPr>
            <a:endParaRPr lang="zh-CN" altLang="en-US" sz="3200"/>
          </a:p>
          <a:p>
            <a:pPr marL="0" indent="0">
              <a:buNone/>
            </a:pPr>
            <a:endParaRPr lang="zh-CN" altLang="en-US" sz="3200"/>
          </a:p>
          <a:p>
            <a:pPr marL="0" indent="0">
              <a:buNone/>
            </a:pPr>
            <a:endParaRPr lang="zh-CN" altLang="en-US" sz="320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46760" y="129540"/>
            <a:ext cx="4186555" cy="588645"/>
          </a:xfrm>
        </p:spPr>
        <p:txBody>
          <a:bodyPr>
            <a:noAutofit/>
          </a:bodyPr>
          <a:p>
            <a:r>
              <a:rPr lang="zh-CN" altLang="en-US">
                <a:sym typeface="+mn-ea"/>
              </a:rPr>
              <a:t>线性回归</a:t>
            </a:r>
            <a:r>
              <a:rPr lang="en-US" altLang="zh-CN">
                <a:sym typeface="+mn-ea"/>
              </a:rPr>
              <a:t>-</a:t>
            </a:r>
            <a:r>
              <a:rPr lang="zh-CN" altLang="en-US">
                <a:sym typeface="+mn-ea"/>
              </a:rPr>
              <a:t>算法</a:t>
            </a:r>
            <a:r>
              <a:rPr lang="zh-CN" altLang="en-US">
                <a:sym typeface="+mn-ea"/>
              </a:rPr>
              <a:t>流程</a:t>
            </a:r>
            <a:endParaRPr lang="zh-CN" altLang="en-US">
              <a:sym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3276600"/>
            <a:ext cx="5991225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999744"/>
            <a:ext cx="646430" cy="262255"/>
          </a:xfrm>
          <a:prstGeom prst="rect">
            <a:avLst/>
          </a:prstGeom>
          <a:solidFill>
            <a:srgbClr val="A40020"/>
          </a:solidFill>
        </p:spPr>
        <p:txBody>
          <a:bodyPr vert="horz" wrap="square" lIns="0" tIns="635" rIns="0" bIns="0" rtlCol="0">
            <a:spAutoFit/>
          </a:bodyPr>
          <a:lstStyle/>
          <a:p>
            <a:pPr marL="375285">
              <a:lnSpc>
                <a:spcPct val="100000"/>
              </a:lnSpc>
              <a:spcBef>
                <a:spcPts val="5"/>
              </a:spcBef>
            </a:pPr>
            <a:r>
              <a:rPr sz="1400" b="1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13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47077" y="257492"/>
            <a:ext cx="38354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latin typeface="微软雅黑" panose="020B0503020204020204" charset="-122"/>
                <a:cs typeface="微软雅黑" panose="020B0503020204020204" charset="-122"/>
              </a:rPr>
              <a:t>线性回归</a:t>
            </a:r>
            <a:r>
              <a:rPr sz="3600" b="1" spc="-20" dirty="0">
                <a:latin typeface="Arial" panose="020B0604020202020204"/>
                <a:cs typeface="Arial" panose="020B0604020202020204"/>
              </a:rPr>
              <a:t>-</a:t>
            </a:r>
            <a:r>
              <a:rPr sz="3600" b="1" spc="-15" dirty="0">
                <a:latin typeface="微软雅黑" panose="020B0503020204020204" charset="-122"/>
                <a:cs typeface="微软雅黑" panose="020B0503020204020204" charset="-122"/>
              </a:rPr>
              <a:t>算法流程</a:t>
            </a:r>
            <a:endParaRPr sz="36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97471" y="1329855"/>
            <a:ext cx="51904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Microsoft JhengHei UI" panose="020B0604030504040204" charset="-120"/>
                <a:cs typeface="Microsoft JhengHei UI" panose="020B0604030504040204" charset="-120"/>
              </a:rPr>
              <a:t>独立同分布条件（I.I.D）</a:t>
            </a:r>
            <a:r>
              <a:rPr sz="2400" b="1" spc="-10" dirty="0">
                <a:latin typeface="Microsoft JhengHei UI" panose="020B0604030504040204" charset="-120"/>
                <a:cs typeface="Microsoft JhengHei UI" panose="020B0604030504040204" charset="-120"/>
              </a:rPr>
              <a:t>的训练数据集</a:t>
            </a:r>
            <a:endParaRPr sz="2400">
              <a:latin typeface="Microsoft JhengHei UI" panose="020B0604030504040204" charset="-120"/>
              <a:cs typeface="Microsoft JhengHei UI" panose="020B0604030504040204" charset="-12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23008" y="1949653"/>
            <a:ext cx="1285240" cy="5778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892175" algn="l"/>
              </a:tabLst>
            </a:pPr>
            <a:r>
              <a:rPr sz="3600" spc="-350" dirty="0">
                <a:latin typeface="Symbol" panose="05050102010706020507"/>
                <a:cs typeface="Symbol" panose="05050102010706020507"/>
              </a:rPr>
              <a:t>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600" spc="-300" dirty="0">
                <a:latin typeface="Symbol" panose="05050102010706020507"/>
                <a:cs typeface="Symbol" panose="05050102010706020507"/>
              </a:rPr>
              <a:t></a:t>
            </a:r>
            <a:r>
              <a:rPr sz="3600" spc="2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spc="-350" dirty="0">
                <a:latin typeface="Symbol" panose="05050102010706020507"/>
                <a:cs typeface="Symbol" panose="05050102010706020507"/>
              </a:rPr>
              <a:t></a:t>
            </a:r>
            <a:endParaRPr sz="3600">
              <a:latin typeface="Symbol" panose="05050102010706020507"/>
              <a:cs typeface="Symbol" panose="05050102010706020507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20794" y="1949653"/>
            <a:ext cx="3607435" cy="5778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728980" algn="l"/>
                <a:tab pos="1811655" algn="l"/>
                <a:tab pos="2531745" algn="l"/>
                <a:tab pos="3492500" algn="l"/>
              </a:tabLst>
            </a:pPr>
            <a:r>
              <a:rPr sz="3600" spc="-350" dirty="0">
                <a:latin typeface="Symbol" panose="05050102010706020507"/>
                <a:cs typeface="Symbol" panose="05050102010706020507"/>
              </a:rPr>
              <a:t>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600" spc="-350" dirty="0">
                <a:latin typeface="Symbol" panose="05050102010706020507"/>
                <a:cs typeface="Symbol" panose="05050102010706020507"/>
              </a:rPr>
              <a:t>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600" spc="-350" dirty="0">
                <a:latin typeface="Symbol" panose="05050102010706020507"/>
                <a:cs typeface="Symbol" panose="05050102010706020507"/>
              </a:rPr>
              <a:t>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600" spc="-350" dirty="0">
                <a:latin typeface="Symbol" panose="05050102010706020507"/>
                <a:cs typeface="Symbol" panose="05050102010706020507"/>
              </a:rPr>
              <a:t>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600" spc="-475" dirty="0">
                <a:latin typeface="Symbol" panose="05050102010706020507"/>
                <a:cs typeface="Symbol" panose="05050102010706020507"/>
              </a:rPr>
              <a:t></a:t>
            </a:r>
            <a:endParaRPr sz="3600">
              <a:latin typeface="Symbol" panose="05050102010706020507"/>
              <a:cs typeface="Symbol" panose="05050102010706020507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70545" y="1902066"/>
            <a:ext cx="6021070" cy="647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4160520" algn="l"/>
                <a:tab pos="4629150" algn="l"/>
                <a:tab pos="5842000" algn="l"/>
              </a:tabLst>
            </a:pPr>
            <a:r>
              <a:rPr sz="4050" spc="-715" dirty="0">
                <a:latin typeface="Symbol" panose="05050102010706020507"/>
                <a:cs typeface="Symbol" panose="05050102010706020507"/>
              </a:rPr>
              <a:t></a:t>
            </a:r>
            <a:r>
              <a:rPr sz="40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4050" spc="-725" dirty="0">
                <a:latin typeface="Symbol" panose="05050102010706020507"/>
                <a:cs typeface="Symbol" panose="05050102010706020507"/>
              </a:rPr>
              <a:t></a:t>
            </a:r>
            <a:r>
              <a:rPr sz="40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4050" spc="-715" dirty="0">
                <a:latin typeface="Symbol" panose="05050102010706020507"/>
                <a:cs typeface="Symbol" panose="05050102010706020507"/>
              </a:rPr>
              <a:t></a:t>
            </a:r>
            <a:r>
              <a:rPr sz="40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4050" spc="-715" dirty="0">
                <a:latin typeface="Symbol" panose="05050102010706020507"/>
                <a:cs typeface="Symbol" panose="05050102010706020507"/>
              </a:rPr>
              <a:t></a:t>
            </a:r>
            <a:endParaRPr sz="4050">
              <a:latin typeface="Symbol" panose="05050102010706020507"/>
              <a:cs typeface="Symbol" panose="05050102010706020507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667028" y="1945093"/>
            <a:ext cx="1612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i="1" spc="-50" dirty="0">
                <a:latin typeface="Times New Roman" panose="02020603050405020304"/>
                <a:cs typeface="Times New Roman" panose="02020603050405020304"/>
              </a:rPr>
              <a:t>N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49475" y="2271293"/>
            <a:ext cx="35191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24815" algn="l"/>
                <a:tab pos="1178560" algn="l"/>
                <a:tab pos="1627505" algn="l"/>
                <a:tab pos="2856230" algn="l"/>
                <a:tab pos="3369945" algn="l"/>
              </a:tabLst>
            </a:pPr>
            <a:r>
              <a:rPr sz="1600" spc="-50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600" spc="-50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600" spc="-50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600" spc="-50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600" i="1" spc="-5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1600" i="1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600" i="1" spc="-50" dirty="0">
                <a:latin typeface="Times New Roman" panose="02020603050405020304"/>
                <a:cs typeface="Times New Roman" panose="02020603050405020304"/>
              </a:rPr>
              <a:t>N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658963" y="2342362"/>
            <a:ext cx="3390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i="1" spc="-25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1600" spc="-25" dirty="0">
                <a:latin typeface="Symbol" panose="05050102010706020507"/>
                <a:cs typeface="Symbol" panose="05050102010706020507"/>
              </a:rPr>
              <a:t></a:t>
            </a:r>
            <a:r>
              <a:rPr sz="1600" spc="-25" dirty="0">
                <a:latin typeface="Times New Roman" panose="02020603050405020304"/>
                <a:cs typeface="Times New Roman" panose="02020603050405020304"/>
              </a:rPr>
              <a:t>1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92515" y="2032952"/>
            <a:ext cx="1798320" cy="4470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868680" algn="l"/>
                <a:tab pos="1156970" algn="l"/>
                <a:tab pos="1468120" algn="l"/>
              </a:tabLst>
            </a:pPr>
            <a:r>
              <a:rPr sz="2750" b="1" i="1" dirty="0">
                <a:latin typeface="Times New Roman" panose="02020603050405020304"/>
                <a:cs typeface="Times New Roman" panose="02020603050405020304"/>
              </a:rPr>
              <a:t>x</a:t>
            </a:r>
            <a:r>
              <a:rPr sz="2750" b="1" i="1" spc="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50" dirty="0">
                <a:latin typeface="Times New Roman" panose="02020603050405020304"/>
                <a:cs typeface="Times New Roman" panose="02020603050405020304"/>
              </a:rPr>
              <a:t>,</a:t>
            </a:r>
            <a:r>
              <a:rPr sz="2750" spc="-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50" i="1" spc="-50" dirty="0">
                <a:latin typeface="Times New Roman" panose="02020603050405020304"/>
                <a:cs typeface="Times New Roman" panose="02020603050405020304"/>
              </a:rPr>
              <a:t>y</a:t>
            </a:r>
            <a:r>
              <a:rPr sz="2750" i="1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750" spc="-50" dirty="0">
                <a:latin typeface="Times New Roman" panose="02020603050405020304"/>
                <a:cs typeface="Times New Roman" panose="02020603050405020304"/>
              </a:rPr>
              <a:t>,</a:t>
            </a:r>
            <a:r>
              <a:rPr sz="27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750" b="1" i="1" spc="-50" dirty="0">
                <a:latin typeface="Times New Roman" panose="02020603050405020304"/>
                <a:cs typeface="Times New Roman" panose="02020603050405020304"/>
              </a:rPr>
              <a:t>x</a:t>
            </a:r>
            <a:r>
              <a:rPr sz="2750" b="1" i="1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750" dirty="0">
                <a:latin typeface="Times New Roman" panose="02020603050405020304"/>
                <a:cs typeface="Times New Roman" panose="02020603050405020304"/>
              </a:rPr>
              <a:t>,</a:t>
            </a:r>
            <a:r>
              <a:rPr sz="2750" spc="-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50" i="1" spc="-50" dirty="0">
                <a:latin typeface="Times New Roman" panose="02020603050405020304"/>
                <a:cs typeface="Times New Roman" panose="02020603050405020304"/>
              </a:rPr>
              <a:t>y</a:t>
            </a:r>
            <a:endParaRPr sz="27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584213" y="2032952"/>
            <a:ext cx="809625" cy="4470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5"/>
              </a:spcBef>
            </a:pPr>
            <a:r>
              <a:rPr sz="2750" b="1" i="1" dirty="0">
                <a:latin typeface="Times New Roman" panose="02020603050405020304"/>
                <a:cs typeface="Times New Roman" panose="02020603050405020304"/>
              </a:rPr>
              <a:t>x</a:t>
            </a:r>
            <a:r>
              <a:rPr sz="2400" i="1" baseline="-2400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400" i="1" spc="-195" baseline="-24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50" dirty="0">
                <a:latin typeface="Times New Roman" panose="02020603050405020304"/>
                <a:cs typeface="Times New Roman" panose="02020603050405020304"/>
              </a:rPr>
              <a:t>,</a:t>
            </a:r>
            <a:r>
              <a:rPr sz="2750" spc="-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50" i="1" spc="-25" dirty="0">
                <a:latin typeface="Times New Roman" panose="02020603050405020304"/>
                <a:cs typeface="Times New Roman" panose="02020603050405020304"/>
              </a:rPr>
              <a:t>y</a:t>
            </a:r>
            <a:r>
              <a:rPr sz="2400" i="1" spc="-37" baseline="-24000" dirty="0">
                <a:latin typeface="Times New Roman" panose="02020603050405020304"/>
                <a:cs typeface="Times New Roman" panose="02020603050405020304"/>
              </a:rPr>
              <a:t>n</a:t>
            </a:r>
            <a:endParaRPr sz="2400" baseline="-24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066984" y="2032952"/>
            <a:ext cx="2197100" cy="4470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752475" algn="l"/>
                <a:tab pos="1127760" algn="l"/>
                <a:tab pos="1990725" algn="l"/>
              </a:tabLst>
            </a:pPr>
            <a:r>
              <a:rPr sz="2750" spc="-25" dirty="0">
                <a:latin typeface="Times New Roman" panose="02020603050405020304"/>
                <a:cs typeface="Times New Roman" panose="02020603050405020304"/>
              </a:rPr>
              <a:t>,</a:t>
            </a:r>
            <a:r>
              <a:rPr sz="2750" spc="-25" dirty="0">
                <a:latin typeface="Microsoft Sans Serif" panose="020B0604020202020204"/>
                <a:cs typeface="Microsoft Sans Serif" panose="020B0604020202020204"/>
              </a:rPr>
              <a:t></a:t>
            </a:r>
            <a:r>
              <a:rPr sz="2750" spc="-25" dirty="0">
                <a:latin typeface="Times New Roman" panose="02020603050405020304"/>
                <a:cs typeface="Times New Roman" panose="02020603050405020304"/>
              </a:rPr>
              <a:t>,</a:t>
            </a:r>
            <a:r>
              <a:rPr sz="27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750" b="1" i="1" spc="-50" dirty="0">
                <a:latin typeface="Times New Roman" panose="02020603050405020304"/>
                <a:cs typeface="Times New Roman" panose="02020603050405020304"/>
              </a:rPr>
              <a:t>x</a:t>
            </a:r>
            <a:r>
              <a:rPr sz="2750" b="1" i="1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750" dirty="0">
                <a:latin typeface="Times New Roman" panose="02020603050405020304"/>
                <a:cs typeface="Times New Roman" panose="02020603050405020304"/>
              </a:rPr>
              <a:t>,</a:t>
            </a:r>
            <a:r>
              <a:rPr sz="2750" spc="-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50" i="1" spc="-50" dirty="0">
                <a:latin typeface="Times New Roman" panose="02020603050405020304"/>
                <a:cs typeface="Times New Roman" panose="02020603050405020304"/>
              </a:rPr>
              <a:t>y</a:t>
            </a:r>
            <a:r>
              <a:rPr sz="2750" i="1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750" spc="-50" dirty="0">
                <a:latin typeface="Symbol" panose="05050102010706020507"/>
                <a:cs typeface="Symbol" panose="05050102010706020507"/>
              </a:rPr>
              <a:t></a:t>
            </a:r>
            <a:endParaRPr sz="2750">
              <a:latin typeface="Symbol" panose="05050102010706020507"/>
              <a:cs typeface="Symbol" panose="05050102010706020507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94752" y="2032952"/>
            <a:ext cx="551815" cy="4470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750" b="1" i="1" dirty="0">
                <a:latin typeface="Times New Roman" panose="02020603050405020304"/>
                <a:cs typeface="Times New Roman" panose="02020603050405020304"/>
              </a:rPr>
              <a:t>D</a:t>
            </a:r>
            <a:r>
              <a:rPr sz="2750" b="1" i="1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50" spc="-50" dirty="0">
                <a:latin typeface="Symbol" panose="05050102010706020507"/>
                <a:cs typeface="Symbol" panose="05050102010706020507"/>
              </a:rPr>
              <a:t></a:t>
            </a:r>
            <a:endParaRPr sz="2750">
              <a:latin typeface="Symbol" panose="05050102010706020507"/>
              <a:cs typeface="Symbol" panose="05050102010706020507"/>
            </a:endParaRPr>
          </a:p>
        </p:txBody>
      </p:sp>
      <p:pic>
        <p:nvPicPr>
          <p:cNvPr id="15" name="object 1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187960" y="4001327"/>
            <a:ext cx="3943370" cy="2703027"/>
          </a:xfrm>
          <a:prstGeom prst="rect">
            <a:avLst/>
          </a:prstGeom>
        </p:spPr>
      </p:pic>
      <p:sp>
        <p:nvSpPr>
          <p:cNvPr id="16" name="object 16"/>
          <p:cNvSpPr/>
          <p:nvPr/>
        </p:nvSpPr>
        <p:spPr>
          <a:xfrm>
            <a:off x="6139459" y="3418078"/>
            <a:ext cx="235585" cy="0"/>
          </a:xfrm>
          <a:custGeom>
            <a:avLst/>
            <a:gdLst/>
            <a:ahLst/>
            <a:cxnLst/>
            <a:rect l="l" t="t" r="r" b="b"/>
            <a:pathLst>
              <a:path w="235585">
                <a:moveTo>
                  <a:pt x="0" y="0"/>
                </a:moveTo>
                <a:lnTo>
                  <a:pt x="235178" y="0"/>
                </a:lnTo>
              </a:path>
            </a:pathLst>
          </a:custGeom>
          <a:ln w="2332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907667" y="3232518"/>
            <a:ext cx="5312410" cy="6750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3500">
              <a:lnSpc>
                <a:spcPts val="3475"/>
              </a:lnSpc>
              <a:spcBef>
                <a:spcPts val="125"/>
              </a:spcBef>
              <a:tabLst>
                <a:tab pos="506730" algn="l"/>
                <a:tab pos="3254375" algn="l"/>
                <a:tab pos="4648200" algn="l"/>
              </a:tabLst>
            </a:pPr>
            <a:r>
              <a:rPr sz="3700" i="1" spc="-50" dirty="0">
                <a:latin typeface="Times New Roman" panose="02020603050405020304"/>
                <a:cs typeface="Times New Roman" panose="02020603050405020304"/>
              </a:rPr>
              <a:t>y</a:t>
            </a:r>
            <a:r>
              <a:rPr sz="3700" i="1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700" dirty="0">
                <a:latin typeface="Symbol" panose="05050102010706020507"/>
                <a:cs typeface="Symbol" panose="05050102010706020507"/>
              </a:rPr>
              <a:t></a:t>
            </a:r>
            <a:r>
              <a:rPr sz="3700" spc="2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700" i="1" spc="-1360" dirty="0">
                <a:latin typeface="Times New Roman" panose="02020603050405020304"/>
                <a:cs typeface="Times New Roman" panose="02020603050405020304"/>
              </a:rPr>
              <a:t>y</a:t>
            </a:r>
            <a:r>
              <a:rPr sz="5550" spc="427" baseline="2000" dirty="0">
                <a:latin typeface="Times New Roman" panose="02020603050405020304"/>
                <a:cs typeface="Times New Roman" panose="02020603050405020304"/>
              </a:rPr>
              <a:t>ˆ</a:t>
            </a:r>
            <a:r>
              <a:rPr sz="3700" spc="-10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3700" spc="-5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700" b="1" i="1" dirty="0">
                <a:latin typeface="Times New Roman" panose="02020603050405020304"/>
                <a:cs typeface="Times New Roman" panose="02020603050405020304"/>
              </a:rPr>
              <a:t>x</a:t>
            </a:r>
            <a:r>
              <a:rPr sz="3700" b="1" i="1" spc="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700" spc="-10" dirty="0">
                <a:latin typeface="Times New Roman" panose="02020603050405020304"/>
                <a:cs typeface="Times New Roman" panose="02020603050405020304"/>
              </a:rPr>
              <a:t>,</a:t>
            </a:r>
            <a:r>
              <a:rPr sz="3700" spc="-4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700" b="1" i="1" spc="70" dirty="0">
                <a:latin typeface="Times New Roman" panose="02020603050405020304"/>
                <a:cs typeface="Times New Roman" panose="02020603050405020304"/>
              </a:rPr>
              <a:t>w</a:t>
            </a:r>
            <a:r>
              <a:rPr sz="3700" spc="70" dirty="0">
                <a:latin typeface="Times New Roman" panose="02020603050405020304"/>
                <a:cs typeface="Times New Roman" panose="02020603050405020304"/>
              </a:rPr>
              <a:t>)</a:t>
            </a:r>
            <a:r>
              <a:rPr sz="3700" spc="-3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700" spc="-30" dirty="0">
                <a:latin typeface="Symbol" panose="05050102010706020507"/>
                <a:cs typeface="Symbol" panose="05050102010706020507"/>
              </a:rPr>
              <a:t></a:t>
            </a:r>
            <a:r>
              <a:rPr sz="3700" spc="-3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700" spc="-50" dirty="0">
                <a:latin typeface="Symbol" panose="05050102010706020507"/>
                <a:cs typeface="Symbol" panose="05050102010706020507"/>
              </a:rPr>
              <a:t></a:t>
            </a:r>
            <a:r>
              <a:rPr sz="37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700" dirty="0">
                <a:latin typeface="Symbol" panose="05050102010706020507"/>
                <a:cs typeface="Symbol" panose="05050102010706020507"/>
              </a:rPr>
              <a:t></a:t>
            </a:r>
            <a:r>
              <a:rPr sz="37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700" b="1" i="1" spc="-30" dirty="0">
                <a:latin typeface="Times New Roman" panose="02020603050405020304"/>
                <a:cs typeface="Times New Roman" panose="02020603050405020304"/>
              </a:rPr>
              <a:t>w</a:t>
            </a:r>
            <a:r>
              <a:rPr sz="3700" b="1" i="1" spc="-5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25" baseline="43000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3225" spc="-165" baseline="43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700" b="1" i="1" spc="-50" dirty="0">
                <a:latin typeface="Times New Roman" panose="02020603050405020304"/>
                <a:cs typeface="Times New Roman" panose="02020603050405020304"/>
              </a:rPr>
              <a:t>x</a:t>
            </a:r>
            <a:r>
              <a:rPr sz="3700" b="1" i="1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700" spc="-30" dirty="0">
                <a:latin typeface="Symbol" panose="05050102010706020507"/>
                <a:cs typeface="Symbol" panose="05050102010706020507"/>
              </a:rPr>
              <a:t></a:t>
            </a:r>
            <a:r>
              <a:rPr sz="3700" spc="-2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700" spc="-50" dirty="0">
                <a:latin typeface="Symbol" panose="05050102010706020507"/>
                <a:cs typeface="Symbol" panose="05050102010706020507"/>
              </a:rPr>
              <a:t></a:t>
            </a:r>
            <a:endParaRPr sz="3700">
              <a:latin typeface="Symbol" panose="05050102010706020507"/>
              <a:cs typeface="Symbol" panose="05050102010706020507"/>
            </a:endParaRPr>
          </a:p>
          <a:p>
            <a:pPr marL="266700">
              <a:lnSpc>
                <a:spcPts val="1615"/>
              </a:lnSpc>
              <a:tabLst>
                <a:tab pos="1580515" algn="l"/>
                <a:tab pos="3014345" algn="l"/>
                <a:tab pos="4437380" algn="l"/>
                <a:tab pos="5198110" algn="l"/>
              </a:tabLst>
            </a:pPr>
            <a:r>
              <a:rPr sz="2150" i="1" spc="-50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2150" i="1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150" i="1" spc="-50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2150" i="1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150" i="1" spc="-50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2150" i="1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150" i="1" spc="-50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2150" i="1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150" i="1" spc="-50" dirty="0">
                <a:latin typeface="Times New Roman" panose="02020603050405020304"/>
                <a:cs typeface="Times New Roman" panose="02020603050405020304"/>
              </a:rPr>
              <a:t>i</a:t>
            </a:r>
            <a:endParaRPr sz="21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33221" y="2740393"/>
            <a:ext cx="55860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spc="15" dirty="0">
                <a:latin typeface="Microsoft JhengHei UI" panose="020B0604030504040204" charset="-120"/>
                <a:cs typeface="Microsoft JhengHei UI" panose="020B0604030504040204" charset="-120"/>
              </a:rPr>
              <a:t>对每个样本，模型与标注之间存在误差 </a:t>
            </a:r>
            <a:r>
              <a:rPr sz="2625" spc="-1035" baseline="-5000" dirty="0">
                <a:latin typeface="Cambria Math" panose="02040503050406030204"/>
                <a:cs typeface="Cambria Math" panose="02040503050406030204"/>
              </a:rPr>
              <a:t>𝑖</a:t>
            </a:r>
            <a:endParaRPr sz="2625" baseline="-5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662159" y="5908738"/>
            <a:ext cx="46062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Microsoft JhengHei UI" panose="020B0604030504040204" charset="-120"/>
                <a:cs typeface="Microsoft JhengHei UI" panose="020B0604030504040204" charset="-120"/>
              </a:rPr>
              <a:t>一维情况下，线性回归表示的例子</a:t>
            </a:r>
            <a:endParaRPr sz="2400">
              <a:latin typeface="Microsoft JhengHei UI" panose="020B0604030504040204" charset="-120"/>
              <a:cs typeface="Microsoft JhengHei UI" panose="020B0604030504040204" charset="-120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590425" y="4089171"/>
            <a:ext cx="2571750" cy="6553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R="5080" algn="ctr">
              <a:lnSpc>
                <a:spcPts val="3400"/>
              </a:lnSpc>
              <a:spcBef>
                <a:spcPts val="110"/>
              </a:spcBef>
              <a:tabLst>
                <a:tab pos="462915" algn="l"/>
              </a:tabLst>
            </a:pPr>
            <a:r>
              <a:rPr sz="3600" spc="-50" dirty="0">
                <a:latin typeface="Symbol" panose="05050102010706020507"/>
                <a:cs typeface="Symbol" panose="05050102010706020507"/>
              </a:rPr>
              <a:t>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	~</a:t>
            </a:r>
            <a:r>
              <a:rPr sz="3600" spc="3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i="1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3600" i="1" spc="-3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(0,</a:t>
            </a:r>
            <a:r>
              <a:rPr sz="3600" spc="-4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spc="105" dirty="0">
                <a:latin typeface="Symbol" panose="05050102010706020507"/>
                <a:cs typeface="Symbol" panose="05050102010706020507"/>
              </a:rPr>
              <a:t></a:t>
            </a:r>
            <a:r>
              <a:rPr sz="3075" spc="157" baseline="43000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sz="3075" spc="-37" baseline="43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spc="-50" dirty="0">
                <a:latin typeface="Times New Roman" panose="02020603050405020304"/>
                <a:cs typeface="Times New Roman" panose="02020603050405020304"/>
              </a:rPr>
              <a:t>)</a:t>
            </a:r>
            <a:endParaRPr sz="3600">
              <a:latin typeface="Times New Roman" panose="02020603050405020304"/>
              <a:cs typeface="Times New Roman" panose="02020603050405020304"/>
            </a:endParaRPr>
          </a:p>
          <a:p>
            <a:pPr marR="17145" algn="ctr">
              <a:lnSpc>
                <a:spcPts val="1540"/>
              </a:lnSpc>
              <a:tabLst>
                <a:tab pos="1889125" algn="l"/>
              </a:tabLst>
            </a:pPr>
            <a:r>
              <a:rPr sz="2050" i="1" spc="-50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2050" i="1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050" spc="-50" dirty="0">
                <a:latin typeface="Symbol" panose="05050102010706020507"/>
                <a:cs typeface="Symbol" panose="05050102010706020507"/>
              </a:rPr>
              <a:t></a:t>
            </a:r>
            <a:endParaRPr sz="2050">
              <a:latin typeface="Symbol" panose="05050102010706020507"/>
              <a:cs typeface="Symbol" panose="05050102010706020507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720455" y="3747134"/>
            <a:ext cx="330200" cy="2219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微软雅黑" panose="020B0503020204020204" charset="-122"/>
                <a:cs typeface="微软雅黑" panose="020B0503020204020204" charset="-122"/>
              </a:rPr>
              <a:t>中心极限定理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999744"/>
            <a:ext cx="646430" cy="262255"/>
          </a:xfrm>
          <a:prstGeom prst="rect">
            <a:avLst/>
          </a:prstGeom>
          <a:solidFill>
            <a:srgbClr val="A40020"/>
          </a:solidFill>
        </p:spPr>
        <p:txBody>
          <a:bodyPr vert="horz" wrap="square" lIns="0" tIns="635" rIns="0" bIns="0" rtlCol="0">
            <a:spAutoFit/>
          </a:bodyPr>
          <a:lstStyle/>
          <a:p>
            <a:pPr marL="375285">
              <a:lnSpc>
                <a:spcPct val="100000"/>
              </a:lnSpc>
              <a:spcBef>
                <a:spcPts val="5"/>
              </a:spcBef>
            </a:pPr>
            <a:r>
              <a:rPr sz="1400" b="1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14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44880" y="1452880"/>
            <a:ext cx="2161540" cy="1731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2800" b="1" u="heavy" spc="-30" dirty="0">
                <a:uFill>
                  <a:solidFill>
                    <a:srgbClr val="000000"/>
                  </a:solidFill>
                </a:uFill>
                <a:latin typeface="Microsoft JhengHei UI" panose="020B0604030504040204" charset="-120"/>
                <a:cs typeface="Microsoft JhengHei UI" panose="020B0604030504040204" charset="-120"/>
              </a:rPr>
              <a:t>通过最大似然</a:t>
            </a:r>
            <a:r>
              <a:rPr sz="2800" b="1" u="heavy" spc="700" dirty="0">
                <a:uFill>
                  <a:solidFill>
                    <a:srgbClr val="000000"/>
                  </a:solidFill>
                </a:uFill>
                <a:latin typeface="Microsoft JhengHei UI" panose="020B0604030504040204" charset="-120"/>
                <a:cs typeface="Microsoft JhengHei UI" panose="020B0604030504040204" charset="-120"/>
              </a:rPr>
              <a:t> </a:t>
            </a:r>
            <a:r>
              <a:rPr sz="2800" b="1" u="heavy" spc="-30" dirty="0">
                <a:uFill>
                  <a:solidFill>
                    <a:srgbClr val="000000"/>
                  </a:solidFill>
                </a:uFill>
                <a:latin typeface="Microsoft JhengHei UI" panose="020B0604030504040204" charset="-120"/>
                <a:cs typeface="Microsoft JhengHei UI" panose="020B0604030504040204" charset="-120"/>
              </a:rPr>
              <a:t>原理导出线性回归的学习算</a:t>
            </a:r>
            <a:r>
              <a:rPr sz="2800" b="1" u="heavy" spc="-50" dirty="0">
                <a:uFill>
                  <a:solidFill>
                    <a:srgbClr val="000000"/>
                  </a:solidFill>
                </a:uFill>
                <a:latin typeface="Microsoft JhengHei UI" panose="020B0604030504040204" charset="-120"/>
                <a:cs typeface="Microsoft JhengHei UI" panose="020B0604030504040204" charset="-120"/>
              </a:rPr>
              <a:t>法</a:t>
            </a:r>
            <a:endParaRPr sz="2800">
              <a:latin typeface="Microsoft JhengHei UI" panose="020B0604030504040204" charset="-120"/>
              <a:cs typeface="Microsoft JhengHei UI" panose="020B0604030504040204" charset="-12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84750" y="967625"/>
            <a:ext cx="3251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 panose="02040503050406030204"/>
                <a:cs typeface="Cambria Math" panose="02040503050406030204"/>
              </a:rPr>
              <a:t>𝑦</a:t>
            </a:r>
            <a:r>
              <a:rPr sz="2625" spc="-37" baseline="-16000" dirty="0">
                <a:latin typeface="Cambria Math" panose="02040503050406030204"/>
                <a:cs typeface="Cambria Math" panose="02040503050406030204"/>
              </a:rPr>
              <a:t>𝑖</a:t>
            </a:r>
            <a:endParaRPr sz="2625" baseline="-16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25047" y="997877"/>
            <a:ext cx="2159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宋体" panose="02010600030101010101" pitchFamily="2" charset="-122"/>
                <a:cs typeface="宋体" panose="02010600030101010101" pitchFamily="2" charset="-122"/>
              </a:rPr>
              <a:t>的概率密度函数</a:t>
            </a:r>
            <a:endParaRPr sz="24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849569" y="1683994"/>
            <a:ext cx="0" cy="387985"/>
          </a:xfrm>
          <a:custGeom>
            <a:avLst/>
            <a:gdLst/>
            <a:ahLst/>
            <a:cxnLst/>
            <a:rect l="l" t="t" r="r" b="b"/>
            <a:pathLst>
              <a:path h="387985">
                <a:moveTo>
                  <a:pt x="0" y="0"/>
                </a:moveTo>
                <a:lnTo>
                  <a:pt x="0" y="387489"/>
                </a:lnTo>
              </a:path>
            </a:pathLst>
          </a:custGeom>
          <a:ln w="161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9273882" y="1543253"/>
            <a:ext cx="132080" cy="5391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350" spc="-340" dirty="0">
                <a:latin typeface="Symbol" panose="05050102010706020507"/>
                <a:cs typeface="Symbol" panose="05050102010706020507"/>
              </a:rPr>
              <a:t></a:t>
            </a:r>
            <a:endParaRPr sz="3350">
              <a:latin typeface="Symbol" panose="05050102010706020507"/>
              <a:cs typeface="Symbol" panose="05050102010706020507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044440" y="1543253"/>
            <a:ext cx="132080" cy="5391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350" spc="-340" dirty="0">
                <a:latin typeface="Symbol" panose="05050102010706020507"/>
                <a:cs typeface="Symbol" panose="05050102010706020507"/>
              </a:rPr>
              <a:t></a:t>
            </a:r>
            <a:endParaRPr sz="3350">
              <a:latin typeface="Symbol" panose="05050102010706020507"/>
              <a:cs typeface="Symbol" panose="05050102010706020507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160493" y="1563116"/>
            <a:ext cx="120014" cy="2520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spc="-50" dirty="0">
                <a:latin typeface="Times New Roman" panose="02020603050405020304"/>
                <a:cs typeface="Times New Roman" panose="02020603050405020304"/>
              </a:rPr>
              <a:t>2</a:t>
            </a:r>
            <a:endParaRPr sz="14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563004" y="1321283"/>
            <a:ext cx="1183005" cy="792480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0"/>
              </a:spcBef>
              <a:tabLst>
                <a:tab pos="508000" algn="l"/>
                <a:tab pos="1169670" algn="l"/>
              </a:tabLst>
            </a:pPr>
            <a:r>
              <a:rPr sz="2550" u="heavy" dirty="0"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550" u="heavy" spc="-50" dirty="0"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1</a:t>
            </a:r>
            <a:r>
              <a:rPr sz="2550" u="heavy" dirty="0"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	</a:t>
            </a:r>
            <a:endParaRPr sz="2550">
              <a:latin typeface="Times New Roman" panose="02020603050405020304"/>
              <a:cs typeface="Times New Roman" panose="02020603050405020304"/>
            </a:endParaRPr>
          </a:p>
          <a:p>
            <a:pPr marR="69850" algn="r">
              <a:lnSpc>
                <a:spcPct val="100000"/>
              </a:lnSpc>
              <a:spcBef>
                <a:spcPts val="470"/>
              </a:spcBef>
            </a:pPr>
            <a:r>
              <a:rPr sz="1450" u="sng" spc="-50" dirty="0"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1</a:t>
            </a:r>
            <a:endParaRPr sz="14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552971" y="2070068"/>
            <a:ext cx="1156335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550" spc="-120" dirty="0">
                <a:latin typeface="Times New Roman" panose="02020603050405020304"/>
                <a:cs typeface="Times New Roman" panose="02020603050405020304"/>
              </a:rPr>
              <a:t>(2</a:t>
            </a:r>
            <a:r>
              <a:rPr sz="2550" spc="-120" dirty="0">
                <a:latin typeface="Symbol" panose="05050102010706020507"/>
                <a:cs typeface="Symbol" panose="05050102010706020507"/>
              </a:rPr>
              <a:t></a:t>
            </a:r>
            <a:r>
              <a:rPr sz="2700" spc="-120" dirty="0">
                <a:latin typeface="Symbol" panose="05050102010706020507"/>
                <a:cs typeface="Symbol" panose="05050102010706020507"/>
              </a:rPr>
              <a:t></a:t>
            </a:r>
            <a:r>
              <a:rPr sz="2175" spc="-179" baseline="44000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sz="2175" spc="-104" baseline="44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50" dirty="0">
                <a:latin typeface="Times New Roman" panose="02020603050405020304"/>
                <a:cs typeface="Times New Roman" panose="02020603050405020304"/>
              </a:rPr>
              <a:t>)</a:t>
            </a:r>
            <a:r>
              <a:rPr sz="2550" spc="-3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175" spc="-75" baseline="31000" dirty="0">
                <a:latin typeface="Times New Roman" panose="02020603050405020304"/>
                <a:cs typeface="Times New Roman" panose="02020603050405020304"/>
              </a:rPr>
              <a:t>2</a:t>
            </a:r>
            <a:endParaRPr sz="2175" baseline="31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663787" y="1415072"/>
            <a:ext cx="589915" cy="4178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576580" algn="l"/>
              </a:tabLst>
            </a:pPr>
            <a:r>
              <a:rPr sz="2550" u="heavy" spc="114" dirty="0"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2550" u="heavy" spc="-50" dirty="0"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1</a:t>
            </a:r>
            <a:r>
              <a:rPr sz="2550" u="heavy" dirty="0"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	</a:t>
            </a:r>
            <a:endParaRPr sz="25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018801" y="1605419"/>
            <a:ext cx="134620" cy="4178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50" spc="-50" dirty="0">
                <a:latin typeface="Times New Roman" panose="02020603050405020304"/>
                <a:cs typeface="Times New Roman" panose="02020603050405020304"/>
              </a:rPr>
              <a:t>ˆ</a:t>
            </a:r>
            <a:endParaRPr sz="25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063134" y="1620723"/>
            <a:ext cx="1469390" cy="4178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  <a:tabLst>
                <a:tab pos="831215" algn="l"/>
              </a:tabLst>
            </a:pPr>
            <a:r>
              <a:rPr sz="2550" i="1" spc="70" dirty="0">
                <a:latin typeface="Times New Roman" panose="02020603050405020304"/>
                <a:cs typeface="Times New Roman" panose="02020603050405020304"/>
              </a:rPr>
              <a:t>p</a:t>
            </a:r>
            <a:r>
              <a:rPr sz="2175" i="1" spc="104" baseline="-25000" dirty="0">
                <a:latin typeface="Times New Roman" panose="02020603050405020304"/>
                <a:cs typeface="Times New Roman" panose="02020603050405020304"/>
              </a:rPr>
              <a:t>y</a:t>
            </a:r>
            <a:r>
              <a:rPr sz="2175" i="1" spc="-15" baseline="-25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50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550" spc="-3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50" i="1" spc="-25" dirty="0">
                <a:latin typeface="Times New Roman" panose="02020603050405020304"/>
                <a:cs typeface="Times New Roman" panose="02020603050405020304"/>
              </a:rPr>
              <a:t>y</a:t>
            </a:r>
            <a:r>
              <a:rPr sz="2175" i="1" spc="-37" baseline="-25000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2175" i="1" baseline="-250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550" b="1" i="1" spc="60" dirty="0">
                <a:latin typeface="Times New Roman" panose="02020603050405020304"/>
                <a:cs typeface="Times New Roman" panose="02020603050405020304"/>
              </a:rPr>
              <a:t>w</a:t>
            </a:r>
            <a:r>
              <a:rPr sz="2550" spc="60" dirty="0">
                <a:latin typeface="Times New Roman" panose="02020603050405020304"/>
                <a:cs typeface="Times New Roman" panose="02020603050405020304"/>
              </a:rPr>
              <a:t>)</a:t>
            </a:r>
            <a:r>
              <a:rPr sz="255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50" spc="-50" dirty="0">
                <a:latin typeface="Symbol" panose="05050102010706020507"/>
                <a:cs typeface="Symbol" panose="05050102010706020507"/>
              </a:rPr>
              <a:t></a:t>
            </a:r>
            <a:endParaRPr sz="2550">
              <a:latin typeface="Symbol" panose="05050102010706020507"/>
              <a:cs typeface="Symbol" panose="05050102010706020507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569881" y="1842693"/>
            <a:ext cx="78105" cy="2520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i="1" spc="-50" dirty="0">
                <a:latin typeface="Times New Roman" panose="02020603050405020304"/>
                <a:cs typeface="Times New Roman" panose="02020603050405020304"/>
              </a:rPr>
              <a:t>i</a:t>
            </a:r>
            <a:endParaRPr sz="14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446308" y="1842693"/>
            <a:ext cx="78105" cy="2520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i="1" spc="-50" dirty="0">
                <a:latin typeface="Times New Roman" panose="02020603050405020304"/>
                <a:cs typeface="Times New Roman" panose="02020603050405020304"/>
              </a:rPr>
              <a:t>i</a:t>
            </a:r>
            <a:endParaRPr sz="14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428124" y="1620723"/>
            <a:ext cx="1605915" cy="4178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03530" algn="l"/>
              </a:tabLst>
            </a:pPr>
            <a:r>
              <a:rPr sz="2550" i="1" spc="-50" dirty="0">
                <a:latin typeface="Times New Roman" panose="02020603050405020304"/>
                <a:cs typeface="Times New Roman" panose="02020603050405020304"/>
              </a:rPr>
              <a:t>y</a:t>
            </a:r>
            <a:r>
              <a:rPr sz="2550" i="1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550" dirty="0">
                <a:latin typeface="Symbol" panose="05050102010706020507"/>
                <a:cs typeface="Symbol" panose="05050102010706020507"/>
              </a:rPr>
              <a:t></a:t>
            </a:r>
            <a:r>
              <a:rPr sz="25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50" i="1" spc="55" dirty="0">
                <a:latin typeface="Times New Roman" panose="02020603050405020304"/>
                <a:cs typeface="Times New Roman" panose="02020603050405020304"/>
              </a:rPr>
              <a:t>y</a:t>
            </a:r>
            <a:r>
              <a:rPr sz="2550" spc="55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550" spc="-3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50" b="1" i="1" dirty="0">
                <a:latin typeface="Times New Roman" panose="02020603050405020304"/>
                <a:cs typeface="Times New Roman" panose="02020603050405020304"/>
              </a:rPr>
              <a:t>x</a:t>
            </a:r>
            <a:r>
              <a:rPr sz="2550" b="1" i="1"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50" dirty="0">
                <a:latin typeface="Times New Roman" panose="02020603050405020304"/>
                <a:cs typeface="Times New Roman" panose="02020603050405020304"/>
              </a:rPr>
              <a:t>,</a:t>
            </a:r>
            <a:r>
              <a:rPr sz="2550" spc="-2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50" b="1" i="1" spc="35" dirty="0">
                <a:latin typeface="Times New Roman" panose="02020603050405020304"/>
                <a:cs typeface="Times New Roman" panose="02020603050405020304"/>
              </a:rPr>
              <a:t>w</a:t>
            </a:r>
            <a:r>
              <a:rPr sz="2550" spc="35" dirty="0">
                <a:latin typeface="Times New Roman" panose="02020603050405020304"/>
                <a:cs typeface="Times New Roman" panose="02020603050405020304"/>
              </a:rPr>
              <a:t>)</a:t>
            </a:r>
            <a:endParaRPr sz="25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039248" y="2087697"/>
            <a:ext cx="184785" cy="2641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550" spc="-50" dirty="0">
                <a:latin typeface="Symbol" panose="05050102010706020507"/>
                <a:cs typeface="Symbol" panose="05050102010706020507"/>
              </a:rPr>
              <a:t></a:t>
            </a:r>
            <a:endParaRPr sz="1550">
              <a:latin typeface="Symbol" panose="05050102010706020507"/>
              <a:cs typeface="Symbol" panose="05050102010706020507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658859" y="1858486"/>
            <a:ext cx="572770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550" spc="-285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sz="2700" spc="-285" dirty="0">
                <a:latin typeface="Symbol" panose="05050102010706020507"/>
                <a:cs typeface="Symbol" panose="05050102010706020507"/>
              </a:rPr>
              <a:t></a:t>
            </a:r>
            <a:r>
              <a:rPr sz="2175" spc="-427" baseline="44000" dirty="0">
                <a:latin typeface="Times New Roman" panose="02020603050405020304"/>
                <a:cs typeface="Times New Roman" panose="02020603050405020304"/>
              </a:rPr>
              <a:t>2</a:t>
            </a:r>
            <a:endParaRPr sz="2175" baseline="44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304969" y="2270459"/>
            <a:ext cx="3987800" cy="70294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R="862330" algn="r">
              <a:lnSpc>
                <a:spcPct val="100000"/>
              </a:lnSpc>
              <a:spcBef>
                <a:spcPts val="340"/>
              </a:spcBef>
            </a:pPr>
            <a:r>
              <a:rPr sz="1550" spc="-50" dirty="0">
                <a:latin typeface="Symbol" panose="05050102010706020507"/>
                <a:cs typeface="Symbol" panose="05050102010706020507"/>
              </a:rPr>
              <a:t></a:t>
            </a:r>
            <a:endParaRPr sz="1550">
              <a:latin typeface="Symbol" panose="05050102010706020507"/>
              <a:cs typeface="Symbol" panose="05050102010706020507"/>
            </a:endParaRPr>
          </a:p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2400" spc="-5" dirty="0">
                <a:latin typeface="宋体" panose="02010600030101010101" pitchFamily="2" charset="-122"/>
                <a:cs typeface="宋体" panose="02010600030101010101" pitchFamily="2" charset="-122"/>
              </a:rPr>
              <a:t>所有样本的标注值表示为向量</a:t>
            </a:r>
            <a:endParaRPr sz="24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293468" y="1391285"/>
            <a:ext cx="151130" cy="4178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50" spc="-50" dirty="0">
                <a:latin typeface="Symbol" panose="05050102010706020507"/>
                <a:cs typeface="Symbol" panose="05050102010706020507"/>
              </a:rPr>
              <a:t></a:t>
            </a:r>
            <a:endParaRPr sz="2550">
              <a:latin typeface="Symbol" panose="05050102010706020507"/>
              <a:cs typeface="Symbol" panose="05050102010706020507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764627" y="1620723"/>
            <a:ext cx="868044" cy="4178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675005" algn="l"/>
              </a:tabLst>
            </a:pPr>
            <a:r>
              <a:rPr sz="2550" spc="-25" dirty="0">
                <a:latin typeface="Times New Roman" panose="02020603050405020304"/>
                <a:cs typeface="Times New Roman" panose="02020603050405020304"/>
              </a:rPr>
              <a:t>exp</a:t>
            </a:r>
            <a:r>
              <a:rPr sz="25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550" spc="-50" dirty="0">
                <a:latin typeface="Symbol" panose="05050102010706020507"/>
                <a:cs typeface="Symbol" panose="05050102010706020507"/>
              </a:rPr>
              <a:t></a:t>
            </a:r>
            <a:endParaRPr sz="2550">
              <a:latin typeface="Symbol" panose="05050102010706020507"/>
              <a:cs typeface="Symbol" panose="05050102010706020507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1295443" y="1391285"/>
            <a:ext cx="151130" cy="4178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50" spc="-50" dirty="0">
                <a:latin typeface="Symbol" panose="05050102010706020507"/>
                <a:cs typeface="Symbol" panose="05050102010706020507"/>
              </a:rPr>
              <a:t></a:t>
            </a:r>
            <a:endParaRPr sz="2550">
              <a:latin typeface="Symbol" panose="05050102010706020507"/>
              <a:cs typeface="Symbol" panose="05050102010706020507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293468" y="1703997"/>
            <a:ext cx="151130" cy="4178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50" spc="-50" dirty="0">
                <a:latin typeface="Symbol" panose="05050102010706020507"/>
                <a:cs typeface="Symbol" panose="05050102010706020507"/>
              </a:rPr>
              <a:t></a:t>
            </a:r>
            <a:endParaRPr sz="2550">
              <a:latin typeface="Symbol" panose="05050102010706020507"/>
              <a:cs typeface="Symbol" panose="05050102010706020507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1295443" y="1703997"/>
            <a:ext cx="151130" cy="4178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50" spc="-50" dirty="0">
                <a:latin typeface="Symbol" panose="05050102010706020507"/>
                <a:cs typeface="Symbol" panose="05050102010706020507"/>
              </a:rPr>
              <a:t></a:t>
            </a:r>
            <a:endParaRPr sz="2550">
              <a:latin typeface="Symbol" panose="05050102010706020507"/>
              <a:cs typeface="Symbol" panose="05050102010706020507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293468" y="1962315"/>
            <a:ext cx="151130" cy="4178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50" spc="-50" dirty="0">
                <a:latin typeface="Symbol" panose="05050102010706020507"/>
                <a:cs typeface="Symbol" panose="05050102010706020507"/>
              </a:rPr>
              <a:t></a:t>
            </a:r>
            <a:endParaRPr sz="2550">
              <a:latin typeface="Symbol" panose="05050102010706020507"/>
              <a:cs typeface="Symbol" panose="05050102010706020507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295443" y="1962315"/>
            <a:ext cx="151130" cy="4178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50" spc="-50" dirty="0">
                <a:latin typeface="Symbol" panose="05050102010706020507"/>
                <a:cs typeface="Symbol" panose="05050102010706020507"/>
              </a:rPr>
              <a:t></a:t>
            </a:r>
            <a:endParaRPr sz="2550">
              <a:latin typeface="Symbol" panose="05050102010706020507"/>
              <a:cs typeface="Symbol" panose="05050102010706020507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083274" y="2995066"/>
            <a:ext cx="140335" cy="597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750" spc="-400" dirty="0">
                <a:latin typeface="Symbol" panose="05050102010706020507"/>
                <a:cs typeface="Symbol" panose="05050102010706020507"/>
              </a:rPr>
              <a:t></a:t>
            </a:r>
            <a:endParaRPr sz="3750">
              <a:latin typeface="Symbol" panose="05050102010706020507"/>
              <a:cs typeface="Symbol" panose="05050102010706020507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382101" y="2995066"/>
            <a:ext cx="140335" cy="597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750" spc="-400" dirty="0">
                <a:latin typeface="Symbol" panose="05050102010706020507"/>
                <a:cs typeface="Symbol" panose="05050102010706020507"/>
              </a:rPr>
              <a:t></a:t>
            </a:r>
            <a:endParaRPr sz="3750">
              <a:latin typeface="Symbol" panose="05050102010706020507"/>
              <a:cs typeface="Symbol" panose="05050102010706020507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490610" y="3027730"/>
            <a:ext cx="1498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Times New Roman" panose="02020603050405020304"/>
                <a:cs typeface="Times New Roman" panose="02020603050405020304"/>
              </a:rPr>
              <a:t>T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383515" y="3330485"/>
            <a:ext cx="19564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50215" algn="l"/>
                <a:tab pos="895985" algn="l"/>
                <a:tab pos="1807210" algn="l"/>
              </a:tabLst>
            </a:pPr>
            <a:r>
              <a:rPr sz="1600" spc="-50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600" spc="-50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600" spc="-50" dirty="0">
                <a:latin typeface="Times New Roman" panose="02020603050405020304"/>
                <a:cs typeface="Times New Roman" panose="02020603050405020304"/>
              </a:rPr>
              <a:t>3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600" i="1" spc="-50" dirty="0">
                <a:latin typeface="Times New Roman" panose="02020603050405020304"/>
                <a:cs typeface="Times New Roman" panose="02020603050405020304"/>
              </a:rPr>
              <a:t>N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589511" y="3092069"/>
            <a:ext cx="2606040" cy="4470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671830" algn="l"/>
                <a:tab pos="1377950" algn="l"/>
              </a:tabLst>
            </a:pPr>
            <a:r>
              <a:rPr sz="2750" b="1" i="1" dirty="0">
                <a:latin typeface="Times New Roman" panose="02020603050405020304"/>
                <a:cs typeface="Times New Roman" panose="02020603050405020304"/>
              </a:rPr>
              <a:t>y</a:t>
            </a:r>
            <a:r>
              <a:rPr sz="2750" b="1" i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50" spc="-50" dirty="0">
                <a:latin typeface="Symbol" panose="05050102010706020507"/>
                <a:cs typeface="Symbol" panose="05050102010706020507"/>
              </a:rPr>
              <a:t></a:t>
            </a:r>
            <a:r>
              <a:rPr sz="27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750" i="1" dirty="0">
                <a:latin typeface="Times New Roman" panose="02020603050405020304"/>
                <a:cs typeface="Times New Roman" panose="02020603050405020304"/>
              </a:rPr>
              <a:t>y</a:t>
            </a:r>
            <a:r>
              <a:rPr sz="2750" i="1" spc="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50" dirty="0">
                <a:latin typeface="Times New Roman" panose="02020603050405020304"/>
                <a:cs typeface="Times New Roman" panose="02020603050405020304"/>
              </a:rPr>
              <a:t>,</a:t>
            </a:r>
            <a:r>
              <a:rPr sz="2750" spc="-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50" i="1" spc="-50" dirty="0">
                <a:latin typeface="Times New Roman" panose="02020603050405020304"/>
                <a:cs typeface="Times New Roman" panose="02020603050405020304"/>
              </a:rPr>
              <a:t>y</a:t>
            </a:r>
            <a:r>
              <a:rPr sz="2750" i="1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750" dirty="0">
                <a:latin typeface="Times New Roman" panose="02020603050405020304"/>
                <a:cs typeface="Times New Roman" panose="02020603050405020304"/>
              </a:rPr>
              <a:t>,</a:t>
            </a:r>
            <a:r>
              <a:rPr sz="275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50" i="1" dirty="0">
                <a:latin typeface="Times New Roman" panose="02020603050405020304"/>
                <a:cs typeface="Times New Roman" panose="02020603050405020304"/>
              </a:rPr>
              <a:t>y</a:t>
            </a:r>
            <a:r>
              <a:rPr sz="2750" i="1" spc="3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50" dirty="0">
                <a:latin typeface="Times New Roman" panose="02020603050405020304"/>
                <a:cs typeface="Times New Roman" panose="02020603050405020304"/>
              </a:rPr>
              <a:t>,</a:t>
            </a:r>
            <a:r>
              <a:rPr sz="2750" dirty="0">
                <a:latin typeface="Microsoft Sans Serif" panose="020B0604020202020204"/>
                <a:cs typeface="Microsoft Sans Serif" panose="020B0604020202020204"/>
              </a:rPr>
              <a:t></a:t>
            </a:r>
            <a:r>
              <a:rPr sz="2750" dirty="0">
                <a:latin typeface="Times New Roman" panose="02020603050405020304"/>
                <a:cs typeface="Times New Roman" panose="02020603050405020304"/>
              </a:rPr>
              <a:t>,</a:t>
            </a:r>
            <a:r>
              <a:rPr sz="275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50" i="1" spc="-50" dirty="0">
                <a:latin typeface="Times New Roman" panose="02020603050405020304"/>
                <a:cs typeface="Times New Roman" panose="02020603050405020304"/>
              </a:rPr>
              <a:t>y</a:t>
            </a:r>
            <a:endParaRPr sz="27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6154330" y="4491456"/>
            <a:ext cx="0" cy="462280"/>
          </a:xfrm>
          <a:custGeom>
            <a:avLst/>
            <a:gdLst/>
            <a:ahLst/>
            <a:cxnLst/>
            <a:rect l="l" t="t" r="r" b="b"/>
            <a:pathLst>
              <a:path h="462279">
                <a:moveTo>
                  <a:pt x="0" y="0"/>
                </a:moveTo>
                <a:lnTo>
                  <a:pt x="0" y="461835"/>
                </a:lnTo>
              </a:path>
            </a:pathLst>
          </a:custGeom>
          <a:ln w="192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8478672" y="4491456"/>
            <a:ext cx="0" cy="462280"/>
          </a:xfrm>
          <a:custGeom>
            <a:avLst/>
            <a:gdLst/>
            <a:ahLst/>
            <a:cxnLst/>
            <a:rect l="l" t="t" r="r" b="b"/>
            <a:pathLst>
              <a:path h="462279">
                <a:moveTo>
                  <a:pt x="0" y="0"/>
                </a:moveTo>
                <a:lnTo>
                  <a:pt x="0" y="461835"/>
                </a:lnTo>
              </a:path>
            </a:pathLst>
          </a:custGeom>
          <a:ln w="192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9368015" y="5528398"/>
            <a:ext cx="151130" cy="6388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0" spc="-415" dirty="0">
                <a:latin typeface="Symbol" panose="05050102010706020507"/>
                <a:cs typeface="Symbol" panose="05050102010706020507"/>
              </a:rPr>
              <a:t></a:t>
            </a:r>
            <a:endParaRPr sz="4000">
              <a:latin typeface="Symbol" panose="05050102010706020507"/>
              <a:cs typeface="Symbol" panose="05050102010706020507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1480583" y="5528398"/>
            <a:ext cx="151130" cy="6388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0" spc="-415" dirty="0">
                <a:latin typeface="Symbol" panose="05050102010706020507"/>
                <a:cs typeface="Symbol" panose="05050102010706020507"/>
              </a:rPr>
              <a:t></a:t>
            </a:r>
            <a:endParaRPr sz="4000">
              <a:latin typeface="Symbol" panose="05050102010706020507"/>
              <a:cs typeface="Symbol" panose="05050102010706020507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1619052" y="5552605"/>
            <a:ext cx="137160" cy="2965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50" spc="-50" dirty="0">
                <a:latin typeface="Times New Roman" panose="02020603050405020304"/>
                <a:cs typeface="Times New Roman" panose="02020603050405020304"/>
              </a:rPr>
              <a:t>2</a:t>
            </a:r>
            <a:endParaRPr sz="17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592876" y="5265054"/>
            <a:ext cx="1479550" cy="939165"/>
          </a:xfrm>
          <a:prstGeom prst="rect">
            <a:avLst/>
          </a:prstGeom>
        </p:spPr>
        <p:txBody>
          <a:bodyPr vert="horz" wrap="square" lIns="0" tIns="1263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95"/>
              </a:spcBef>
              <a:tabLst>
                <a:tab pos="641350" algn="l"/>
                <a:tab pos="1466215" algn="l"/>
              </a:tabLst>
            </a:pPr>
            <a:r>
              <a:rPr sz="3050" u="heavy" dirty="0"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050" u="heavy" spc="-50" dirty="0"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1</a:t>
            </a:r>
            <a:r>
              <a:rPr sz="3050" u="heavy" dirty="0"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	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R="106680" algn="r">
              <a:lnSpc>
                <a:spcPct val="100000"/>
              </a:lnSpc>
              <a:spcBef>
                <a:spcPts val="535"/>
              </a:spcBef>
            </a:pPr>
            <a:r>
              <a:rPr sz="1750" i="1" u="sng" spc="-50" dirty="0"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N</a:t>
            </a:r>
            <a:endParaRPr sz="17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172754" y="5375859"/>
            <a:ext cx="698500" cy="4940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685165" algn="l"/>
              </a:tabLst>
            </a:pPr>
            <a:r>
              <a:rPr sz="3050" u="heavy" spc="170" dirty="0"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3050" u="heavy" spc="-50" dirty="0"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1</a:t>
            </a:r>
            <a:r>
              <a:rPr sz="3050" u="heavy" dirty="0"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	</a:t>
            </a:r>
            <a:endParaRPr sz="30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0256825" y="5602719"/>
            <a:ext cx="154305" cy="4940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050" spc="-50" dirty="0">
                <a:latin typeface="Times New Roman" panose="02020603050405020304"/>
                <a:cs typeface="Times New Roman" panose="02020603050405020304"/>
              </a:rPr>
              <a:t>ˆ</a:t>
            </a:r>
            <a:endParaRPr sz="30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152614" y="4183329"/>
            <a:ext cx="173990" cy="2965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50" i="1" spc="-50" dirty="0">
                <a:latin typeface="Times New Roman" panose="02020603050405020304"/>
                <a:cs typeface="Times New Roman" panose="02020603050405020304"/>
              </a:rPr>
              <a:t>N</a:t>
            </a:r>
            <a:endParaRPr sz="17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335259" y="3670244"/>
            <a:ext cx="4645025" cy="158242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600"/>
              </a:spcBef>
            </a:pPr>
            <a:r>
              <a:rPr sz="2400" dirty="0">
                <a:latin typeface="宋体" panose="02010600030101010101" pitchFamily="2" charset="-122"/>
                <a:cs typeface="宋体" panose="02010600030101010101" pitchFamily="2" charset="-122"/>
              </a:rPr>
              <a:t>由样本集的</a:t>
            </a:r>
            <a:r>
              <a:rPr sz="2400" spc="-295" dirty="0">
                <a:latin typeface="宋体" panose="02010600030101010101" pitchFamily="2" charset="-122"/>
                <a:cs typeface="宋体" panose="02010600030101010101" pitchFamily="2" charset="-122"/>
              </a:rPr>
              <a:t>I.I.D</a:t>
            </a:r>
            <a:r>
              <a:rPr sz="2400" spc="-10" dirty="0">
                <a:latin typeface="宋体" panose="02010600030101010101" pitchFamily="2" charset="-122"/>
                <a:cs typeface="宋体" panose="02010600030101010101" pitchFamily="2" charset="-122"/>
              </a:rPr>
              <a:t>性得似然函数</a:t>
            </a:r>
            <a:endParaRPr sz="24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969010" algn="ctr">
              <a:lnSpc>
                <a:spcPct val="100000"/>
              </a:lnSpc>
              <a:spcBef>
                <a:spcPts val="975"/>
              </a:spcBef>
              <a:tabLst>
                <a:tab pos="4158615" algn="l"/>
              </a:tabLst>
            </a:pPr>
            <a:r>
              <a:rPr sz="3050" i="1" spc="75" dirty="0">
                <a:latin typeface="Times New Roman" panose="02020603050405020304"/>
                <a:cs typeface="Times New Roman" panose="02020603050405020304"/>
              </a:rPr>
              <a:t>p</a:t>
            </a:r>
            <a:r>
              <a:rPr sz="2625" i="1" spc="112" baseline="-25000" dirty="0">
                <a:latin typeface="Times New Roman" panose="02020603050405020304"/>
                <a:cs typeface="Times New Roman" panose="02020603050405020304"/>
              </a:rPr>
              <a:t>y</a:t>
            </a:r>
            <a:r>
              <a:rPr sz="2625" i="1" spc="-15" baseline="-25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20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3050" spc="-2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b="1" i="1" dirty="0">
                <a:latin typeface="Times New Roman" panose="02020603050405020304"/>
                <a:cs typeface="Times New Roman" panose="02020603050405020304"/>
              </a:rPr>
              <a:t>y</a:t>
            </a:r>
            <a:r>
              <a:rPr sz="3050" b="1" i="1" spc="3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b="1" i="1" spc="75" dirty="0">
                <a:latin typeface="Times New Roman" panose="02020603050405020304"/>
                <a:cs typeface="Times New Roman" panose="02020603050405020304"/>
              </a:rPr>
              <a:t>w</a:t>
            </a:r>
            <a:r>
              <a:rPr sz="3050" spc="75" dirty="0">
                <a:latin typeface="Times New Roman" panose="02020603050405020304"/>
                <a:cs typeface="Times New Roman" panose="02020603050405020304"/>
              </a:rPr>
              <a:t>)</a:t>
            </a:r>
            <a:r>
              <a:rPr sz="305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dirty="0">
                <a:latin typeface="Symbol" panose="05050102010706020507"/>
                <a:cs typeface="Symbol" panose="05050102010706020507"/>
              </a:rPr>
              <a:t></a:t>
            </a:r>
            <a:r>
              <a:rPr sz="3050" spc="-1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6900" spc="-127" baseline="-9000" dirty="0">
                <a:latin typeface="Symbol" panose="05050102010706020507"/>
                <a:cs typeface="Symbol" panose="05050102010706020507"/>
              </a:rPr>
              <a:t></a:t>
            </a:r>
            <a:r>
              <a:rPr sz="6900" spc="-450" baseline="-9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i="1" spc="75" dirty="0">
                <a:latin typeface="Times New Roman" panose="02020603050405020304"/>
                <a:cs typeface="Times New Roman" panose="02020603050405020304"/>
              </a:rPr>
              <a:t>p</a:t>
            </a:r>
            <a:r>
              <a:rPr sz="2625" i="1" spc="112" baseline="-25000" dirty="0">
                <a:latin typeface="Times New Roman" panose="02020603050405020304"/>
                <a:cs typeface="Times New Roman" panose="02020603050405020304"/>
              </a:rPr>
              <a:t>y</a:t>
            </a:r>
            <a:r>
              <a:rPr sz="2625" i="1" spc="-15" baseline="-25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20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3050" spc="-3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i="1" spc="-25" dirty="0">
                <a:latin typeface="Times New Roman" panose="02020603050405020304"/>
                <a:cs typeface="Times New Roman" panose="02020603050405020304"/>
              </a:rPr>
              <a:t>y</a:t>
            </a:r>
            <a:r>
              <a:rPr sz="2625" i="1" spc="-37" baseline="-25000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2625" i="1" baseline="-250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050" b="1" i="1" spc="50" dirty="0">
                <a:latin typeface="Times New Roman" panose="02020603050405020304"/>
                <a:cs typeface="Times New Roman" panose="02020603050405020304"/>
              </a:rPr>
              <a:t>w</a:t>
            </a:r>
            <a:r>
              <a:rPr sz="3050" spc="50" dirty="0">
                <a:latin typeface="Times New Roman" panose="02020603050405020304"/>
                <a:cs typeface="Times New Roman" panose="02020603050405020304"/>
              </a:rPr>
              <a:t>)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1191260" algn="ctr">
              <a:lnSpc>
                <a:spcPct val="100000"/>
              </a:lnSpc>
              <a:spcBef>
                <a:spcPts val="275"/>
              </a:spcBef>
            </a:pPr>
            <a:r>
              <a:rPr sz="1750" i="1" spc="-25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1750" spc="-25" dirty="0">
                <a:latin typeface="Symbol" panose="05050102010706020507"/>
                <a:cs typeface="Symbol" panose="05050102010706020507"/>
              </a:rPr>
              <a:t></a:t>
            </a:r>
            <a:r>
              <a:rPr sz="1750" spc="-25" dirty="0">
                <a:latin typeface="Times New Roman" panose="02020603050405020304"/>
                <a:cs typeface="Times New Roman" panose="02020603050405020304"/>
              </a:rPr>
              <a:t>1</a:t>
            </a:r>
            <a:endParaRPr sz="17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9036113" y="5390553"/>
            <a:ext cx="173990" cy="2965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50" i="1" spc="-50" dirty="0">
                <a:latin typeface="Times New Roman" panose="02020603050405020304"/>
                <a:cs typeface="Times New Roman" panose="02020603050405020304"/>
              </a:rPr>
              <a:t>N</a:t>
            </a:r>
            <a:endParaRPr sz="17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8971965" y="6154191"/>
            <a:ext cx="330835" cy="2965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50" i="1" spc="-25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1750" spc="-25" dirty="0">
                <a:latin typeface="Symbol" panose="05050102010706020507"/>
                <a:cs typeface="Symbol" panose="05050102010706020507"/>
              </a:rPr>
              <a:t></a:t>
            </a:r>
            <a:r>
              <a:rPr sz="1750" spc="-25" dirty="0">
                <a:latin typeface="Times New Roman" panose="02020603050405020304"/>
                <a:cs typeface="Times New Roman" panose="02020603050405020304"/>
              </a:rPr>
              <a:t>1</a:t>
            </a:r>
            <a:endParaRPr sz="17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9735553" y="5885802"/>
            <a:ext cx="1136015" cy="2965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061085" algn="l"/>
              </a:tabLst>
            </a:pPr>
            <a:r>
              <a:rPr sz="1750" i="1" spc="-50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1750" i="1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750" i="1" spc="-50" dirty="0">
                <a:latin typeface="Times New Roman" panose="02020603050405020304"/>
                <a:cs typeface="Times New Roman" panose="02020603050405020304"/>
              </a:rPr>
              <a:t>i</a:t>
            </a:r>
            <a:endParaRPr sz="17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9566541" y="5620943"/>
            <a:ext cx="1913255" cy="4940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56235" algn="l"/>
              </a:tabLst>
            </a:pPr>
            <a:r>
              <a:rPr sz="3050" i="1" spc="-50" dirty="0">
                <a:latin typeface="Times New Roman" panose="02020603050405020304"/>
                <a:cs typeface="Times New Roman" panose="02020603050405020304"/>
              </a:rPr>
              <a:t>y</a:t>
            </a:r>
            <a:r>
              <a:rPr sz="3050" i="1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050" dirty="0">
                <a:latin typeface="Symbol" panose="05050102010706020507"/>
                <a:cs typeface="Symbol" panose="05050102010706020507"/>
              </a:rPr>
              <a:t></a:t>
            </a:r>
            <a:r>
              <a:rPr sz="305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i="1" spc="55" dirty="0">
                <a:latin typeface="Times New Roman" panose="02020603050405020304"/>
                <a:cs typeface="Times New Roman" panose="02020603050405020304"/>
              </a:rPr>
              <a:t>y</a:t>
            </a:r>
            <a:r>
              <a:rPr sz="3050" spc="55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3050" spc="-4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b="1" i="1" dirty="0">
                <a:latin typeface="Times New Roman" panose="02020603050405020304"/>
                <a:cs typeface="Times New Roman" panose="02020603050405020304"/>
              </a:rPr>
              <a:t>x</a:t>
            </a:r>
            <a:r>
              <a:rPr sz="3050" b="1" i="1" spc="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0" dirty="0">
                <a:latin typeface="Times New Roman" panose="02020603050405020304"/>
                <a:cs typeface="Times New Roman" panose="02020603050405020304"/>
              </a:rPr>
              <a:t>,</a:t>
            </a:r>
            <a:r>
              <a:rPr sz="3050" spc="-3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b="1" i="1" spc="50" dirty="0">
                <a:latin typeface="Times New Roman" panose="02020603050405020304"/>
                <a:cs typeface="Times New Roman" panose="02020603050405020304"/>
              </a:rPr>
              <a:t>w</a:t>
            </a:r>
            <a:r>
              <a:rPr sz="3050" spc="50" dirty="0">
                <a:latin typeface="Times New Roman" panose="02020603050405020304"/>
                <a:cs typeface="Times New Roman" panose="02020603050405020304"/>
              </a:rPr>
              <a:t>)</a:t>
            </a:r>
            <a:endParaRPr sz="30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8620909" y="6178024"/>
            <a:ext cx="213360" cy="3105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850" spc="-50" dirty="0">
                <a:latin typeface="Symbol" panose="05050102010706020507"/>
                <a:cs typeface="Symbol" panose="05050102010706020507"/>
              </a:rPr>
              <a:t></a:t>
            </a:r>
            <a:endParaRPr sz="1850">
              <a:latin typeface="Symbol" panose="05050102010706020507"/>
              <a:cs typeface="Symbol" panose="05050102010706020507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8171789" y="5904691"/>
            <a:ext cx="667385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3050" spc="-330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sz="3200" spc="-330" dirty="0">
                <a:latin typeface="Symbol" panose="05050102010706020507"/>
                <a:cs typeface="Symbol" panose="05050102010706020507"/>
              </a:rPr>
              <a:t></a:t>
            </a:r>
            <a:r>
              <a:rPr sz="2625" spc="-494" baseline="43000" dirty="0">
                <a:latin typeface="Times New Roman" panose="02020603050405020304"/>
                <a:cs typeface="Times New Roman" panose="02020603050405020304"/>
              </a:rPr>
              <a:t>2</a:t>
            </a:r>
            <a:endParaRPr sz="2625" baseline="43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6413649" y="6430207"/>
            <a:ext cx="213360" cy="3105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850" spc="-50" dirty="0">
                <a:latin typeface="Symbol" panose="05050102010706020507"/>
                <a:cs typeface="Symbol" panose="05050102010706020507"/>
              </a:rPr>
              <a:t></a:t>
            </a:r>
            <a:endParaRPr sz="1850">
              <a:latin typeface="Symbol" panose="05050102010706020507"/>
              <a:cs typeface="Symbol" panose="05050102010706020507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5585802" y="6156874"/>
            <a:ext cx="1400175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3050" spc="-135" dirty="0">
                <a:latin typeface="Times New Roman" panose="02020603050405020304"/>
                <a:cs typeface="Times New Roman" panose="02020603050405020304"/>
              </a:rPr>
              <a:t>(2</a:t>
            </a:r>
            <a:r>
              <a:rPr sz="3050" spc="-135" dirty="0">
                <a:latin typeface="Symbol" panose="05050102010706020507"/>
                <a:cs typeface="Symbol" panose="05050102010706020507"/>
              </a:rPr>
              <a:t></a:t>
            </a:r>
            <a:r>
              <a:rPr sz="3200" spc="-135" dirty="0">
                <a:latin typeface="Symbol" panose="05050102010706020507"/>
                <a:cs typeface="Symbol" panose="05050102010706020507"/>
              </a:rPr>
              <a:t></a:t>
            </a:r>
            <a:r>
              <a:rPr sz="2625" spc="-202" baseline="43000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sz="2625" spc="-89" baseline="43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20" dirty="0">
                <a:latin typeface="Times New Roman" panose="02020603050405020304"/>
                <a:cs typeface="Times New Roman" panose="02020603050405020304"/>
              </a:rPr>
              <a:t>)</a:t>
            </a:r>
            <a:r>
              <a:rPr sz="3050" spc="-1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25" spc="-75" baseline="30000" dirty="0">
                <a:latin typeface="Times New Roman" panose="02020603050405020304"/>
                <a:cs typeface="Times New Roman" panose="02020603050405020304"/>
              </a:rPr>
              <a:t>2</a:t>
            </a:r>
            <a:endParaRPr sz="2625" baseline="30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7730896" y="5347499"/>
            <a:ext cx="173355" cy="4940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050" spc="-50" dirty="0">
                <a:latin typeface="Symbol" panose="05050102010706020507"/>
                <a:cs typeface="Symbol" panose="05050102010706020507"/>
              </a:rPr>
              <a:t></a:t>
            </a:r>
            <a:endParaRPr sz="3050">
              <a:latin typeface="Symbol" panose="05050102010706020507"/>
              <a:cs typeface="Symbol" panose="05050102010706020507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7107821" y="5620943"/>
            <a:ext cx="1027430" cy="4940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802640" algn="l"/>
              </a:tabLst>
            </a:pPr>
            <a:r>
              <a:rPr sz="3050" spc="-25" dirty="0">
                <a:latin typeface="Times New Roman" panose="02020603050405020304"/>
                <a:cs typeface="Times New Roman" panose="02020603050405020304"/>
              </a:rPr>
              <a:t>exp</a:t>
            </a:r>
            <a:r>
              <a:rPr sz="30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050" spc="-50" dirty="0">
                <a:latin typeface="Symbol" panose="05050102010706020507"/>
                <a:cs typeface="Symbol" panose="05050102010706020507"/>
              </a:rPr>
              <a:t></a:t>
            </a:r>
            <a:endParaRPr sz="3050">
              <a:latin typeface="Symbol" panose="05050102010706020507"/>
              <a:cs typeface="Symbol" panose="05050102010706020507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1790095" y="5347499"/>
            <a:ext cx="173355" cy="4940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050" spc="-50" dirty="0">
                <a:latin typeface="Symbol" panose="05050102010706020507"/>
                <a:cs typeface="Symbol" panose="05050102010706020507"/>
              </a:rPr>
              <a:t></a:t>
            </a:r>
            <a:endParaRPr sz="3050">
              <a:latin typeface="Symbol" panose="05050102010706020507"/>
              <a:cs typeface="Symbol" panose="05050102010706020507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5281333" y="5620943"/>
            <a:ext cx="236854" cy="4940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050" spc="-50" dirty="0">
                <a:latin typeface="Symbol" panose="05050102010706020507"/>
                <a:cs typeface="Symbol" panose="05050102010706020507"/>
              </a:rPr>
              <a:t></a:t>
            </a:r>
            <a:endParaRPr sz="3050">
              <a:latin typeface="Symbol" panose="05050102010706020507"/>
              <a:cs typeface="Symbol" panose="05050102010706020507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7730896" y="5720194"/>
            <a:ext cx="173355" cy="4940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050" spc="-50" dirty="0">
                <a:latin typeface="Symbol" panose="05050102010706020507"/>
                <a:cs typeface="Symbol" panose="05050102010706020507"/>
              </a:rPr>
              <a:t></a:t>
            </a:r>
            <a:endParaRPr sz="3050">
              <a:latin typeface="Symbol" panose="05050102010706020507"/>
              <a:cs typeface="Symbol" panose="05050102010706020507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1790095" y="5720194"/>
            <a:ext cx="173355" cy="4940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050" spc="-50" dirty="0">
                <a:latin typeface="Symbol" panose="05050102010706020507"/>
                <a:cs typeface="Symbol" panose="05050102010706020507"/>
              </a:rPr>
              <a:t></a:t>
            </a:r>
            <a:endParaRPr sz="3050">
              <a:latin typeface="Symbol" panose="05050102010706020507"/>
              <a:cs typeface="Symbol" panose="05050102010706020507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7730896" y="6028080"/>
            <a:ext cx="173355" cy="4940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050" spc="-50" dirty="0">
                <a:latin typeface="Symbol" panose="05050102010706020507"/>
                <a:cs typeface="Symbol" panose="05050102010706020507"/>
              </a:rPr>
              <a:t></a:t>
            </a:r>
            <a:endParaRPr sz="3050">
              <a:latin typeface="Symbol" panose="05050102010706020507"/>
              <a:cs typeface="Symbol" panose="05050102010706020507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1790095" y="6028080"/>
            <a:ext cx="173355" cy="4940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050" spc="-50" dirty="0">
                <a:latin typeface="Symbol" panose="05050102010706020507"/>
                <a:cs typeface="Symbol" panose="05050102010706020507"/>
              </a:rPr>
              <a:t></a:t>
            </a:r>
            <a:endParaRPr sz="3050">
              <a:latin typeface="Symbol" panose="05050102010706020507"/>
              <a:cs typeface="Symbol" panose="05050102010706020507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8909863" y="5515000"/>
            <a:ext cx="424815" cy="727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600" spc="-2335" dirty="0">
                <a:latin typeface="Symbol" panose="05050102010706020507"/>
                <a:cs typeface="Symbol" panose="05050102010706020507"/>
              </a:rPr>
              <a:t></a:t>
            </a:r>
            <a:endParaRPr sz="4600">
              <a:latin typeface="Symbol" panose="05050102010706020507"/>
              <a:cs typeface="Symbol" panose="05050102010706020507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210502" y="272097"/>
            <a:ext cx="38354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latin typeface="微软雅黑" panose="020B0503020204020204" charset="-122"/>
                <a:cs typeface="微软雅黑" panose="020B0503020204020204" charset="-122"/>
              </a:rPr>
              <a:t>线性回归</a:t>
            </a:r>
            <a:r>
              <a:rPr sz="3600" b="1" spc="-20" dirty="0">
                <a:latin typeface="Arial" panose="020B0604020202020204"/>
                <a:cs typeface="Arial" panose="020B0604020202020204"/>
              </a:rPr>
              <a:t>-</a:t>
            </a:r>
            <a:r>
              <a:rPr sz="3600" b="1" spc="-15" dirty="0">
                <a:latin typeface="微软雅黑" panose="020B0503020204020204" charset="-122"/>
                <a:cs typeface="微软雅黑" panose="020B0503020204020204" charset="-122"/>
              </a:rPr>
              <a:t>算法流程</a:t>
            </a:r>
            <a:endParaRPr sz="3600"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999744"/>
            <a:ext cx="646430" cy="262255"/>
          </a:xfrm>
          <a:prstGeom prst="rect">
            <a:avLst/>
          </a:prstGeom>
          <a:solidFill>
            <a:srgbClr val="A40020"/>
          </a:solidFill>
        </p:spPr>
        <p:txBody>
          <a:bodyPr vert="horz" wrap="square" lIns="0" tIns="635" rIns="0" bIns="0" rtlCol="0">
            <a:spAutoFit/>
          </a:bodyPr>
          <a:lstStyle/>
          <a:p>
            <a:pPr marL="375285">
              <a:lnSpc>
                <a:spcPct val="100000"/>
              </a:lnSpc>
              <a:spcBef>
                <a:spcPts val="5"/>
              </a:spcBef>
            </a:pPr>
            <a:r>
              <a:rPr sz="1400" b="1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15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53701" y="951395"/>
            <a:ext cx="1854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微软雅黑" panose="020B0503020204020204" charset="-122"/>
                <a:cs typeface="微软雅黑" panose="020B0503020204020204" charset="-122"/>
              </a:rPr>
              <a:t>取对数似然为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985892" y="1642541"/>
            <a:ext cx="0" cy="410845"/>
          </a:xfrm>
          <a:custGeom>
            <a:avLst/>
            <a:gdLst/>
            <a:ahLst/>
            <a:cxnLst/>
            <a:rect l="l" t="t" r="r" b="b"/>
            <a:pathLst>
              <a:path h="410844">
                <a:moveTo>
                  <a:pt x="0" y="0"/>
                </a:moveTo>
                <a:lnTo>
                  <a:pt x="0" y="410819"/>
                </a:lnTo>
              </a:path>
            </a:pathLst>
          </a:custGeom>
          <a:ln w="1706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9144851" y="1494307"/>
            <a:ext cx="140335" cy="5702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550" spc="-335" dirty="0">
                <a:latin typeface="Symbol" panose="05050102010706020507"/>
                <a:cs typeface="Symbol" panose="05050102010706020507"/>
              </a:rPr>
              <a:t></a:t>
            </a:r>
            <a:endParaRPr sz="3550">
              <a:latin typeface="Symbol" panose="05050102010706020507"/>
              <a:cs typeface="Symbol" panose="05050102010706020507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002403" y="1494307"/>
            <a:ext cx="140335" cy="5702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550" spc="-335" dirty="0">
                <a:latin typeface="Symbol" panose="05050102010706020507"/>
                <a:cs typeface="Symbol" panose="05050102010706020507"/>
              </a:rPr>
              <a:t></a:t>
            </a:r>
            <a:endParaRPr sz="3550">
              <a:latin typeface="Symbol" panose="05050102010706020507"/>
              <a:cs typeface="Symbol" panose="05050102010706020507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124158" y="1515249"/>
            <a:ext cx="12573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50" dirty="0">
                <a:latin typeface="Times New Roman" panose="02020603050405020304"/>
                <a:cs typeface="Times New Roman" panose="02020603050405020304"/>
              </a:rPr>
              <a:t>2</a:t>
            </a:r>
            <a:endParaRPr sz="15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531696" y="1567510"/>
            <a:ext cx="12573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50" dirty="0">
                <a:latin typeface="Times New Roman" panose="02020603050405020304"/>
                <a:cs typeface="Times New Roman" panose="02020603050405020304"/>
              </a:rPr>
              <a:t>2</a:t>
            </a:r>
            <a:endParaRPr sz="15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093888" y="1358366"/>
            <a:ext cx="617220" cy="4413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603885" algn="l"/>
              </a:tabLst>
            </a:pPr>
            <a:r>
              <a:rPr sz="2700" u="heavy" spc="145" dirty="0"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2700" u="heavy" spc="-50" dirty="0"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1</a:t>
            </a:r>
            <a:r>
              <a:rPr sz="2700" u="heavy" dirty="0"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	</a:t>
            </a:r>
            <a:endParaRPr sz="27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926370" y="1560169"/>
            <a:ext cx="140970" cy="4413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700" spc="-50" dirty="0">
                <a:latin typeface="Times New Roman" panose="02020603050405020304"/>
                <a:cs typeface="Times New Roman" panose="02020603050405020304"/>
              </a:rPr>
              <a:t>ˆ</a:t>
            </a:r>
            <a:endParaRPr sz="27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008941" y="1285579"/>
            <a:ext cx="256540" cy="100203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700" i="1" u="heavy" spc="-50" dirty="0"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N</a:t>
            </a:r>
            <a:endParaRPr sz="2700">
              <a:latin typeface="Times New Roman" panose="02020603050405020304"/>
              <a:cs typeface="Times New Roman" panose="02020603050405020304"/>
            </a:endParaRPr>
          </a:p>
          <a:p>
            <a:pPr marL="52705">
              <a:lnSpc>
                <a:spcPct val="100000"/>
              </a:lnSpc>
              <a:spcBef>
                <a:spcPts val="605"/>
              </a:spcBef>
            </a:pPr>
            <a:r>
              <a:rPr sz="2700" spc="-50" dirty="0">
                <a:latin typeface="Times New Roman" panose="02020603050405020304"/>
                <a:cs typeface="Times New Roman" panose="02020603050405020304"/>
              </a:rPr>
              <a:t>2</a:t>
            </a:r>
            <a:endParaRPr sz="27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853017" y="1371104"/>
            <a:ext cx="15938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i="1" spc="-50" dirty="0">
                <a:latin typeface="Times New Roman" panose="02020603050405020304"/>
                <a:cs typeface="Times New Roman" panose="02020603050405020304"/>
              </a:rPr>
              <a:t>N</a:t>
            </a:r>
            <a:endParaRPr sz="15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796616" y="2050389"/>
            <a:ext cx="29591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i="1" spc="-25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1550" spc="-25" dirty="0">
                <a:latin typeface="Symbol" panose="05050102010706020507"/>
                <a:cs typeface="Symbol" panose="05050102010706020507"/>
              </a:rPr>
              <a:t></a:t>
            </a:r>
            <a:r>
              <a:rPr sz="1550" spc="-25" dirty="0">
                <a:latin typeface="Times New Roman" panose="02020603050405020304"/>
                <a:cs typeface="Times New Roman" panose="02020603050405020304"/>
              </a:rPr>
              <a:t>1</a:t>
            </a:r>
            <a:endParaRPr sz="15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470082" y="1811654"/>
            <a:ext cx="11430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i="1" spc="-50" dirty="0">
                <a:latin typeface="Times New Roman" panose="02020603050405020304"/>
                <a:cs typeface="Times New Roman" panose="02020603050405020304"/>
              </a:rPr>
              <a:t>y</a:t>
            </a:r>
            <a:endParaRPr sz="15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749446" y="1576387"/>
            <a:ext cx="2195830" cy="4413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867410" algn="l"/>
              </a:tabLst>
            </a:pPr>
            <a:r>
              <a:rPr sz="2700" dirty="0">
                <a:latin typeface="Times New Roman" panose="02020603050405020304"/>
                <a:cs typeface="Times New Roman" panose="02020603050405020304"/>
              </a:rPr>
              <a:t>log</a:t>
            </a:r>
            <a:r>
              <a:rPr sz="27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00" i="1" spc="-50" dirty="0">
                <a:latin typeface="Times New Roman" panose="02020603050405020304"/>
                <a:cs typeface="Times New Roman" panose="02020603050405020304"/>
              </a:rPr>
              <a:t>p</a:t>
            </a:r>
            <a:r>
              <a:rPr sz="2700" i="1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700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700" b="1" dirty="0">
                <a:latin typeface="Times New Roman" panose="02020603050405020304"/>
                <a:cs typeface="Times New Roman" panose="02020603050405020304"/>
              </a:rPr>
              <a:t>y</a:t>
            </a:r>
            <a:r>
              <a:rPr sz="2700" b="1" spc="2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00" b="1" i="1" spc="70" dirty="0">
                <a:latin typeface="Times New Roman" panose="02020603050405020304"/>
                <a:cs typeface="Times New Roman" panose="02020603050405020304"/>
              </a:rPr>
              <a:t>w</a:t>
            </a:r>
            <a:r>
              <a:rPr sz="2700" spc="70" dirty="0">
                <a:latin typeface="Times New Roman" panose="02020603050405020304"/>
                <a:cs typeface="Times New Roman" panose="02020603050405020304"/>
              </a:rPr>
              <a:t>)</a:t>
            </a:r>
            <a:r>
              <a:rPr sz="27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00" dirty="0">
                <a:latin typeface="Symbol" panose="05050102010706020507"/>
                <a:cs typeface="Symbol" panose="05050102010706020507"/>
              </a:rPr>
              <a:t></a:t>
            </a:r>
            <a:r>
              <a:rPr sz="27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00" spc="-50" dirty="0">
                <a:latin typeface="Symbol" panose="05050102010706020507"/>
                <a:cs typeface="Symbol" panose="05050102010706020507"/>
              </a:rPr>
              <a:t></a:t>
            </a:r>
            <a:endParaRPr sz="2700">
              <a:latin typeface="Symbol" panose="05050102010706020507"/>
              <a:cs typeface="Symbol" panose="05050102010706020507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468027" y="1811654"/>
            <a:ext cx="8128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i="1" spc="-50" dirty="0">
                <a:latin typeface="Times New Roman" panose="02020603050405020304"/>
                <a:cs typeface="Times New Roman" panose="02020603050405020304"/>
              </a:rPr>
              <a:t>i</a:t>
            </a:r>
            <a:endParaRPr sz="15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390085" y="1811654"/>
            <a:ext cx="8128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i="1" spc="-50" dirty="0">
                <a:latin typeface="Times New Roman" panose="02020603050405020304"/>
                <a:cs typeface="Times New Roman" panose="02020603050405020304"/>
              </a:rPr>
              <a:t>i</a:t>
            </a:r>
            <a:endParaRPr sz="15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319424" y="1576387"/>
            <a:ext cx="1687830" cy="4413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14960" algn="l"/>
              </a:tabLst>
            </a:pPr>
            <a:r>
              <a:rPr sz="2700" i="1" spc="-50" dirty="0">
                <a:latin typeface="Times New Roman" panose="02020603050405020304"/>
                <a:cs typeface="Times New Roman" panose="02020603050405020304"/>
              </a:rPr>
              <a:t>y</a:t>
            </a:r>
            <a:r>
              <a:rPr sz="2700" i="1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700" dirty="0">
                <a:latin typeface="Symbol" panose="05050102010706020507"/>
                <a:cs typeface="Symbol" panose="05050102010706020507"/>
              </a:rPr>
              <a:t></a:t>
            </a:r>
            <a:r>
              <a:rPr sz="27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00" i="1" spc="50" dirty="0">
                <a:latin typeface="Times New Roman" panose="02020603050405020304"/>
                <a:cs typeface="Times New Roman" panose="02020603050405020304"/>
              </a:rPr>
              <a:t>y</a:t>
            </a:r>
            <a:r>
              <a:rPr sz="2700" spc="50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700" spc="-4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00" b="1" i="1" dirty="0">
                <a:latin typeface="Times New Roman" panose="02020603050405020304"/>
                <a:cs typeface="Times New Roman" panose="02020603050405020304"/>
              </a:rPr>
              <a:t>x</a:t>
            </a:r>
            <a:r>
              <a:rPr sz="2700" b="1" i="1"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00" dirty="0">
                <a:latin typeface="Times New Roman" panose="02020603050405020304"/>
                <a:cs typeface="Times New Roman" panose="02020603050405020304"/>
              </a:rPr>
              <a:t>,</a:t>
            </a:r>
            <a:r>
              <a:rPr sz="2700" spc="-3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00" b="1" i="1" spc="45" dirty="0">
                <a:latin typeface="Times New Roman" panose="02020603050405020304"/>
                <a:cs typeface="Times New Roman" panose="02020603050405020304"/>
              </a:rPr>
              <a:t>w</a:t>
            </a:r>
            <a:r>
              <a:rPr sz="2700" spc="45" dirty="0">
                <a:latin typeface="Times New Roman" panose="02020603050405020304"/>
                <a:cs typeface="Times New Roman" panose="02020603050405020304"/>
              </a:rPr>
              <a:t>)</a:t>
            </a:r>
            <a:endParaRPr sz="27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482536" y="1801413"/>
            <a:ext cx="19304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50" dirty="0">
                <a:latin typeface="Symbol" panose="05050102010706020507"/>
                <a:cs typeface="Symbol" panose="05050102010706020507"/>
              </a:rPr>
              <a:t></a:t>
            </a:r>
            <a:endParaRPr sz="1650">
              <a:latin typeface="Symbol" panose="05050102010706020507"/>
              <a:cs typeface="Symbol" panose="05050102010706020507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341960" y="1558672"/>
            <a:ext cx="1715135" cy="4622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700" spc="-30" dirty="0">
                <a:latin typeface="Times New Roman" panose="02020603050405020304"/>
                <a:cs typeface="Times New Roman" panose="02020603050405020304"/>
              </a:rPr>
              <a:t>log(2</a:t>
            </a:r>
            <a:r>
              <a:rPr sz="2700" spc="-30" dirty="0">
                <a:latin typeface="Symbol" panose="05050102010706020507"/>
                <a:cs typeface="Symbol" panose="05050102010706020507"/>
              </a:rPr>
              <a:t></a:t>
            </a:r>
            <a:r>
              <a:rPr sz="2850" spc="-30" dirty="0">
                <a:latin typeface="Symbol" panose="05050102010706020507"/>
                <a:cs typeface="Symbol" panose="05050102010706020507"/>
              </a:rPr>
              <a:t></a:t>
            </a:r>
            <a:r>
              <a:rPr sz="2850" spc="-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00" dirty="0">
                <a:latin typeface="Times New Roman" panose="02020603050405020304"/>
                <a:cs typeface="Times New Roman" panose="02020603050405020304"/>
              </a:rPr>
              <a:t>)</a:t>
            </a:r>
            <a:r>
              <a:rPr sz="2700" spc="-229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00" spc="-50" dirty="0">
                <a:latin typeface="Symbol" panose="05050102010706020507"/>
                <a:cs typeface="Symbol" panose="05050102010706020507"/>
              </a:rPr>
              <a:t></a:t>
            </a:r>
            <a:endParaRPr sz="2700">
              <a:latin typeface="Symbol" panose="05050102010706020507"/>
              <a:cs typeface="Symbol" panose="05050102010706020507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487843" y="2071682"/>
            <a:ext cx="19304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50" dirty="0">
                <a:latin typeface="Symbol" panose="05050102010706020507"/>
                <a:cs typeface="Symbol" panose="05050102010706020507"/>
              </a:rPr>
              <a:t></a:t>
            </a:r>
            <a:endParaRPr sz="1650">
              <a:latin typeface="Symbol" panose="05050102010706020507"/>
              <a:cs typeface="Symbol" panose="05050102010706020507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089963" y="1828941"/>
            <a:ext cx="598170" cy="4622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5"/>
              </a:spcBef>
            </a:pPr>
            <a:r>
              <a:rPr sz="2700" spc="-305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sz="2850" spc="-305" dirty="0">
                <a:latin typeface="Symbol" panose="05050102010706020507"/>
                <a:cs typeface="Symbol" panose="05050102010706020507"/>
              </a:rPr>
              <a:t></a:t>
            </a:r>
            <a:r>
              <a:rPr sz="2325" spc="-457" baseline="43000" dirty="0">
                <a:latin typeface="Times New Roman" panose="02020603050405020304"/>
                <a:cs typeface="Times New Roman" panose="02020603050405020304"/>
              </a:rPr>
              <a:t>2</a:t>
            </a:r>
            <a:endParaRPr sz="2325" baseline="43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742006" y="1482534"/>
            <a:ext cx="383540" cy="64897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4050" spc="-2095" dirty="0">
                <a:latin typeface="Symbol" panose="05050102010706020507"/>
                <a:cs typeface="Symbol" panose="05050102010706020507"/>
              </a:rPr>
              <a:t></a:t>
            </a:r>
            <a:endParaRPr sz="4050">
              <a:latin typeface="Symbol" panose="05050102010706020507"/>
              <a:cs typeface="Symbol" panose="05050102010706020507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525697" y="2425700"/>
            <a:ext cx="55225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Microsoft JhengHei UI" panose="020B0604030504040204" charset="-120"/>
                <a:cs typeface="Microsoft JhengHei UI" panose="020B0604030504040204" charset="-120"/>
              </a:rPr>
              <a:t>对数似然函数最大，对应平方误差和最小</a:t>
            </a:r>
            <a:endParaRPr sz="2400">
              <a:latin typeface="Microsoft JhengHei UI" panose="020B0604030504040204" charset="-120"/>
              <a:cs typeface="Microsoft JhengHei UI" panose="020B0604030504040204" charset="-120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385043" y="3032074"/>
            <a:ext cx="558165" cy="5702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429895" algn="l"/>
              </a:tabLst>
            </a:pPr>
            <a:r>
              <a:rPr sz="3550" spc="-335" dirty="0">
                <a:latin typeface="Symbol" panose="05050102010706020507"/>
                <a:cs typeface="Symbol" panose="05050102010706020507"/>
              </a:rPr>
              <a:t></a:t>
            </a:r>
            <a:r>
              <a:rPr sz="35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550" spc="-335" dirty="0">
                <a:latin typeface="Symbol" panose="05050102010706020507"/>
                <a:cs typeface="Symbol" panose="05050102010706020507"/>
              </a:rPr>
              <a:t></a:t>
            </a:r>
            <a:endParaRPr sz="3550">
              <a:latin typeface="Symbol" panose="05050102010706020507"/>
              <a:cs typeface="Symbol" panose="05050102010706020507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942952" y="3032074"/>
            <a:ext cx="2021205" cy="5702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1892935" algn="l"/>
              </a:tabLst>
            </a:pPr>
            <a:r>
              <a:rPr sz="3550" spc="-335" dirty="0">
                <a:latin typeface="Symbol" panose="05050102010706020507"/>
                <a:cs typeface="Symbol" panose="05050102010706020507"/>
              </a:rPr>
              <a:t></a:t>
            </a:r>
            <a:r>
              <a:rPr sz="35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550" spc="-335" dirty="0">
                <a:latin typeface="Symbol" panose="05050102010706020507"/>
                <a:cs typeface="Symbol" panose="05050102010706020507"/>
              </a:rPr>
              <a:t></a:t>
            </a:r>
            <a:endParaRPr sz="3550">
              <a:latin typeface="Symbol" panose="05050102010706020507"/>
              <a:cs typeface="Symbol" panose="05050102010706020507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946770" y="3051302"/>
            <a:ext cx="12573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50" dirty="0">
                <a:latin typeface="Times New Roman" panose="02020603050405020304"/>
                <a:cs typeface="Times New Roman" panose="02020603050405020304"/>
              </a:rPr>
              <a:t>2</a:t>
            </a:r>
            <a:endParaRPr sz="15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734149" y="3097631"/>
            <a:ext cx="140970" cy="4413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700" spc="-50" dirty="0">
                <a:latin typeface="Times New Roman" panose="02020603050405020304"/>
                <a:cs typeface="Times New Roman" panose="02020603050405020304"/>
              </a:rPr>
              <a:t>ˆ</a:t>
            </a:r>
            <a:endParaRPr sz="27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287708" y="2817937"/>
            <a:ext cx="204470" cy="1009650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sz="2700" u="heavy" spc="-50" dirty="0"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1</a:t>
            </a:r>
            <a:endParaRPr sz="2700">
              <a:latin typeface="Times New Roman" panose="02020603050405020304"/>
              <a:cs typeface="Times New Roman" panose="02020603050405020304"/>
            </a:endParaRPr>
          </a:p>
          <a:p>
            <a:pPr marL="17780">
              <a:lnSpc>
                <a:spcPct val="100000"/>
              </a:lnSpc>
              <a:spcBef>
                <a:spcPts val="635"/>
              </a:spcBef>
            </a:pPr>
            <a:r>
              <a:rPr sz="2700" spc="-50" dirty="0">
                <a:latin typeface="Times New Roman" panose="02020603050405020304"/>
                <a:cs typeface="Times New Roman" panose="02020603050405020304"/>
              </a:rPr>
              <a:t>2</a:t>
            </a:r>
            <a:endParaRPr sz="27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647499" y="2906090"/>
            <a:ext cx="15938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i="1" spc="-50" dirty="0">
                <a:latin typeface="Times New Roman" panose="02020603050405020304"/>
                <a:cs typeface="Times New Roman" panose="02020603050405020304"/>
              </a:rPr>
              <a:t>N</a:t>
            </a:r>
            <a:endParaRPr sz="15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270129" y="3349891"/>
            <a:ext cx="8128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i="1" spc="-50" dirty="0">
                <a:latin typeface="Times New Roman" panose="02020603050405020304"/>
                <a:cs typeface="Times New Roman" panose="02020603050405020304"/>
              </a:rPr>
              <a:t>i</a:t>
            </a:r>
            <a:endParaRPr sz="15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198880" y="3349891"/>
            <a:ext cx="8128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i="1" spc="-50" dirty="0">
                <a:latin typeface="Times New Roman" panose="02020603050405020304"/>
                <a:cs typeface="Times New Roman" panose="02020603050405020304"/>
              </a:rPr>
              <a:t>i</a:t>
            </a:r>
            <a:endParaRPr sz="15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535117" y="3020695"/>
            <a:ext cx="396240" cy="83566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ts val="4665"/>
              </a:lnSpc>
              <a:spcBef>
                <a:spcPts val="140"/>
              </a:spcBef>
            </a:pPr>
            <a:r>
              <a:rPr sz="4050" spc="-50" dirty="0">
                <a:latin typeface="Symbol" panose="05050102010706020507"/>
                <a:cs typeface="Symbol" panose="05050102010706020507"/>
              </a:rPr>
              <a:t></a:t>
            </a:r>
            <a:endParaRPr sz="4050">
              <a:latin typeface="Symbol" panose="05050102010706020507"/>
              <a:cs typeface="Symbol" panose="05050102010706020507"/>
            </a:endParaRPr>
          </a:p>
          <a:p>
            <a:pPr marL="67945">
              <a:lnSpc>
                <a:spcPts val="1665"/>
              </a:lnSpc>
            </a:pPr>
            <a:r>
              <a:rPr sz="1550" i="1" spc="-25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1550" spc="-25" dirty="0">
                <a:latin typeface="Symbol" panose="05050102010706020507"/>
                <a:cs typeface="Symbol" panose="05050102010706020507"/>
              </a:rPr>
              <a:t></a:t>
            </a:r>
            <a:r>
              <a:rPr sz="1550" spc="-25" dirty="0">
                <a:latin typeface="Times New Roman" panose="02020603050405020304"/>
                <a:cs typeface="Times New Roman" panose="02020603050405020304"/>
              </a:rPr>
              <a:t>1</a:t>
            </a:r>
            <a:endParaRPr sz="15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151210" y="3113963"/>
            <a:ext cx="1058545" cy="4413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95605" algn="l"/>
                <a:tab pos="854710" algn="l"/>
              </a:tabLst>
            </a:pPr>
            <a:r>
              <a:rPr sz="2700" i="1" spc="-50" dirty="0">
                <a:latin typeface="Times New Roman" panose="02020603050405020304"/>
                <a:cs typeface="Times New Roman" panose="02020603050405020304"/>
              </a:rPr>
              <a:t>J</a:t>
            </a:r>
            <a:r>
              <a:rPr sz="2700" i="1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700" b="1" i="1" spc="-50" dirty="0">
                <a:latin typeface="Times New Roman" panose="02020603050405020304"/>
                <a:cs typeface="Times New Roman" panose="02020603050405020304"/>
              </a:rPr>
              <a:t>w</a:t>
            </a:r>
            <a:r>
              <a:rPr sz="2700" b="1" i="1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700" spc="-50" dirty="0">
                <a:latin typeface="Symbol" panose="05050102010706020507"/>
                <a:cs typeface="Symbol" panose="05050102010706020507"/>
              </a:rPr>
              <a:t></a:t>
            </a:r>
            <a:endParaRPr sz="2700">
              <a:latin typeface="Symbol" panose="05050102010706020507"/>
              <a:cs typeface="Symbol" panose="05050102010706020507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109703" y="3113963"/>
            <a:ext cx="1713230" cy="4413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21310" algn="l"/>
              </a:tabLst>
            </a:pPr>
            <a:r>
              <a:rPr sz="2700" i="1" spc="-50" dirty="0">
                <a:latin typeface="Times New Roman" panose="02020603050405020304"/>
                <a:cs typeface="Times New Roman" panose="02020603050405020304"/>
              </a:rPr>
              <a:t>y</a:t>
            </a:r>
            <a:r>
              <a:rPr sz="2700" i="1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700" dirty="0">
                <a:latin typeface="Symbol" panose="05050102010706020507"/>
                <a:cs typeface="Symbol" panose="05050102010706020507"/>
              </a:rPr>
              <a:t></a:t>
            </a:r>
            <a:r>
              <a:rPr sz="27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00" i="1" spc="135" dirty="0">
                <a:latin typeface="Times New Roman" panose="02020603050405020304"/>
                <a:cs typeface="Times New Roman" panose="02020603050405020304"/>
              </a:rPr>
              <a:t>y</a:t>
            </a:r>
            <a:r>
              <a:rPr sz="2700" spc="135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700" b="1" i="1" spc="135" dirty="0">
                <a:latin typeface="Times New Roman" panose="02020603050405020304"/>
                <a:cs typeface="Times New Roman" panose="02020603050405020304"/>
              </a:rPr>
              <a:t>x</a:t>
            </a:r>
            <a:r>
              <a:rPr sz="2700" b="1" i="1" spc="1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00" dirty="0">
                <a:latin typeface="Times New Roman" panose="02020603050405020304"/>
                <a:cs typeface="Times New Roman" panose="02020603050405020304"/>
              </a:rPr>
              <a:t>,</a:t>
            </a:r>
            <a:r>
              <a:rPr sz="2700" spc="-3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00" b="1" i="1" dirty="0">
                <a:latin typeface="Times New Roman" panose="02020603050405020304"/>
                <a:cs typeface="Times New Roman" panose="02020603050405020304"/>
              </a:rPr>
              <a:t>w</a:t>
            </a:r>
            <a:r>
              <a:rPr sz="2700" b="1" i="1" spc="-4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00" spc="-50" dirty="0">
                <a:latin typeface="Times New Roman" panose="02020603050405020304"/>
                <a:cs typeface="Times New Roman" panose="02020603050405020304"/>
              </a:rPr>
              <a:t>)</a:t>
            </a:r>
            <a:endParaRPr sz="27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58775" y="2357755"/>
            <a:ext cx="2306320" cy="13042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b="1" u="heavy" spc="-175" dirty="0">
                <a:uFill>
                  <a:solidFill>
                    <a:srgbClr val="000000"/>
                  </a:solidFill>
                </a:uFill>
                <a:latin typeface="Microsoft JhengHei UI" panose="020B0604030504040204" charset="-120"/>
                <a:cs typeface="Microsoft JhengHei UI" panose="020B0604030504040204" charset="-120"/>
              </a:rPr>
              <a:t>ML</a:t>
            </a:r>
            <a:r>
              <a:rPr lang="en-US" altLang="en-US" sz="2800" b="1" u="heavy" spc="-175" dirty="0">
                <a:uFill>
                  <a:solidFill>
                    <a:srgbClr val="000000"/>
                  </a:solidFill>
                </a:uFill>
                <a:latin typeface="Microsoft JhengHei UI" panose="020B0604030504040204" charset="-120"/>
                <a:cs typeface="Microsoft JhengHei UI" panose="020B0604030504040204" charset="-120"/>
              </a:rPr>
              <a:t>E</a:t>
            </a:r>
            <a:r>
              <a:rPr sz="2800" b="1" u="heavy" spc="-30" dirty="0">
                <a:uFill>
                  <a:solidFill>
                    <a:srgbClr val="000000"/>
                  </a:solidFill>
                </a:uFill>
                <a:latin typeface="Microsoft JhengHei UI" panose="020B0604030504040204" charset="-120"/>
                <a:cs typeface="Microsoft JhengHei UI" panose="020B0604030504040204" charset="-120"/>
              </a:rPr>
              <a:t>导出线性回归的学习算法</a:t>
            </a:r>
            <a:endParaRPr sz="2800">
              <a:latin typeface="Microsoft JhengHei UI" panose="020B0604030504040204" charset="-120"/>
              <a:cs typeface="Microsoft JhengHei UI" panose="020B0604030504040204" charset="-120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309683" y="4019169"/>
            <a:ext cx="21628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Microsoft JhengHei UI" panose="020B0604030504040204" charset="-120"/>
                <a:cs typeface="Microsoft JhengHei UI" panose="020B0604030504040204" charset="-120"/>
              </a:rPr>
              <a:t>重写误差平方和</a:t>
            </a:r>
            <a:endParaRPr sz="2400">
              <a:latin typeface="Microsoft JhengHei UI" panose="020B0604030504040204" charset="-120"/>
              <a:cs typeface="Microsoft JhengHei UI" panose="020B0604030504040204" charset="-120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7364653" y="4765611"/>
            <a:ext cx="151765" cy="0"/>
          </a:xfrm>
          <a:custGeom>
            <a:avLst/>
            <a:gdLst/>
            <a:ahLst/>
            <a:cxnLst/>
            <a:rect l="l" t="t" r="r" b="b"/>
            <a:pathLst>
              <a:path w="151765">
                <a:moveTo>
                  <a:pt x="0" y="0"/>
                </a:moveTo>
                <a:lnTo>
                  <a:pt x="151409" y="0"/>
                </a:lnTo>
              </a:path>
            </a:pathLst>
          </a:custGeom>
          <a:ln w="1507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6330696" y="4501057"/>
            <a:ext cx="125730" cy="6076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800" spc="-530" dirty="0">
                <a:latin typeface="Symbol" panose="05050102010706020507"/>
                <a:cs typeface="Symbol" panose="05050102010706020507"/>
              </a:rPr>
              <a:t></a:t>
            </a:r>
            <a:endParaRPr sz="3800">
              <a:latin typeface="Symbol" panose="05050102010706020507"/>
              <a:cs typeface="Symbol" panose="05050102010706020507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601153" y="4501057"/>
            <a:ext cx="125730" cy="6076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800" spc="-530" dirty="0">
                <a:latin typeface="Symbol" panose="05050102010706020507"/>
                <a:cs typeface="Symbol" panose="05050102010706020507"/>
              </a:rPr>
              <a:t></a:t>
            </a:r>
            <a:endParaRPr sz="3800">
              <a:latin typeface="Symbol" panose="05050102010706020507"/>
              <a:cs typeface="Symbol" panose="05050102010706020507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3877398" y="5756719"/>
            <a:ext cx="180340" cy="0"/>
          </a:xfrm>
          <a:custGeom>
            <a:avLst/>
            <a:gdLst/>
            <a:ahLst/>
            <a:cxnLst/>
            <a:rect l="l" t="t" r="r" b="b"/>
            <a:pathLst>
              <a:path w="180339">
                <a:moveTo>
                  <a:pt x="0" y="0"/>
                </a:moveTo>
                <a:lnTo>
                  <a:pt x="179806" y="0"/>
                </a:lnTo>
              </a:path>
            </a:pathLst>
          </a:custGeom>
          <a:ln w="1507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3877398" y="6577076"/>
            <a:ext cx="180340" cy="0"/>
          </a:xfrm>
          <a:custGeom>
            <a:avLst/>
            <a:gdLst/>
            <a:ahLst/>
            <a:cxnLst/>
            <a:rect l="l" t="t" r="r" b="b"/>
            <a:pathLst>
              <a:path w="180339">
                <a:moveTo>
                  <a:pt x="0" y="0"/>
                </a:moveTo>
                <a:lnTo>
                  <a:pt x="179806" y="0"/>
                </a:lnTo>
              </a:path>
            </a:pathLst>
          </a:custGeom>
          <a:ln w="1507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4121086" y="6395123"/>
            <a:ext cx="45085" cy="364490"/>
          </a:xfrm>
          <a:custGeom>
            <a:avLst/>
            <a:gdLst/>
            <a:ahLst/>
            <a:cxnLst/>
            <a:rect l="l" t="t" r="r" b="b"/>
            <a:pathLst>
              <a:path w="45085" h="364490">
                <a:moveTo>
                  <a:pt x="44945" y="0"/>
                </a:moveTo>
                <a:lnTo>
                  <a:pt x="44945" y="363893"/>
                </a:lnTo>
              </a:path>
              <a:path w="45085" h="364490">
                <a:moveTo>
                  <a:pt x="0" y="0"/>
                </a:moveTo>
                <a:lnTo>
                  <a:pt x="0" y="363893"/>
                </a:lnTo>
              </a:path>
            </a:pathLst>
          </a:custGeom>
          <a:ln w="1507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5116309" y="6395123"/>
            <a:ext cx="45085" cy="364490"/>
          </a:xfrm>
          <a:custGeom>
            <a:avLst/>
            <a:gdLst/>
            <a:ahLst/>
            <a:cxnLst/>
            <a:rect l="l" t="t" r="r" b="b"/>
            <a:pathLst>
              <a:path w="45085" h="364490">
                <a:moveTo>
                  <a:pt x="44958" y="0"/>
                </a:moveTo>
                <a:lnTo>
                  <a:pt x="44958" y="363893"/>
                </a:lnTo>
              </a:path>
              <a:path w="45085" h="364490">
                <a:moveTo>
                  <a:pt x="0" y="0"/>
                </a:moveTo>
                <a:lnTo>
                  <a:pt x="0" y="363893"/>
                </a:lnTo>
              </a:path>
            </a:pathLst>
          </a:custGeom>
          <a:ln w="1507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7707617" y="4547349"/>
            <a:ext cx="11430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0" dirty="0">
                <a:latin typeface="Times New Roman" panose="02020603050405020304"/>
                <a:cs typeface="Times New Roman" panose="02020603050405020304"/>
              </a:rPr>
              <a:t>2</a:t>
            </a:r>
            <a:endParaRPr sz="1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317325" y="4632743"/>
            <a:ext cx="11430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0" dirty="0">
                <a:latin typeface="Times New Roman" panose="02020603050405020304"/>
                <a:cs typeface="Times New Roman" panose="02020603050405020304"/>
              </a:rPr>
              <a:t>2</a:t>
            </a:r>
            <a:endParaRPr sz="1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7195019" y="4632743"/>
            <a:ext cx="13398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0" dirty="0">
                <a:latin typeface="Times New Roman" panose="02020603050405020304"/>
                <a:cs typeface="Times New Roman" panose="02020603050405020304"/>
              </a:rPr>
              <a:t>T</a:t>
            </a:r>
            <a:endParaRPr sz="1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5177739" y="6189728"/>
            <a:ext cx="114300" cy="632460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sz="1400" spc="-50" dirty="0">
                <a:latin typeface="Times New Roman" panose="02020603050405020304"/>
                <a:cs typeface="Times New Roman" panose="02020603050405020304"/>
              </a:rPr>
              <a:t>2</a:t>
            </a:r>
            <a:endParaRPr sz="14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sz="1400" spc="-50" dirty="0">
                <a:latin typeface="Times New Roman" panose="02020603050405020304"/>
                <a:cs typeface="Times New Roman" panose="02020603050405020304"/>
              </a:rPr>
              <a:t>2</a:t>
            </a:r>
            <a:endParaRPr sz="1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569726" y="4383422"/>
            <a:ext cx="184150" cy="890905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2400" u="heavy" spc="-50" dirty="0"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1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17145">
              <a:lnSpc>
                <a:spcPct val="100000"/>
              </a:lnSpc>
              <a:spcBef>
                <a:spcPts val="525"/>
              </a:spcBef>
            </a:pPr>
            <a:r>
              <a:rPr sz="2400" spc="-50" dirty="0">
                <a:latin typeface="Times New Roman" panose="02020603050405020304"/>
                <a:cs typeface="Times New Roman" panose="02020603050405020304"/>
              </a:rPr>
              <a:t>2</a:t>
            </a:r>
            <a:endParaRPr sz="2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5760529" y="4383422"/>
            <a:ext cx="184150" cy="890905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2400" u="heavy" spc="-50" dirty="0"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1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17145">
              <a:lnSpc>
                <a:spcPct val="100000"/>
              </a:lnSpc>
              <a:spcBef>
                <a:spcPts val="525"/>
              </a:spcBef>
            </a:pPr>
            <a:r>
              <a:rPr sz="2400" spc="-50" dirty="0">
                <a:latin typeface="Times New Roman" panose="02020603050405020304"/>
                <a:cs typeface="Times New Roman" panose="02020603050405020304"/>
              </a:rPr>
              <a:t>2</a:t>
            </a:r>
            <a:endParaRPr sz="2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3637584" y="4640376"/>
            <a:ext cx="871219" cy="3943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00" i="1" dirty="0">
                <a:latin typeface="Times New Roman" panose="02020603050405020304"/>
                <a:cs typeface="Times New Roman" panose="02020603050405020304"/>
              </a:rPr>
              <a:t>J</a:t>
            </a:r>
            <a:r>
              <a:rPr sz="2400" i="1" spc="-2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60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400" b="1" i="1" spc="60" dirty="0">
                <a:latin typeface="Times New Roman" panose="02020603050405020304"/>
                <a:cs typeface="Times New Roman" panose="02020603050405020304"/>
              </a:rPr>
              <a:t>w</a:t>
            </a:r>
            <a:r>
              <a:rPr sz="2400" spc="60" dirty="0">
                <a:latin typeface="Times New Roman" panose="02020603050405020304"/>
                <a:cs typeface="Times New Roman" panose="02020603050405020304"/>
              </a:rPr>
              <a:t>)</a:t>
            </a:r>
            <a:r>
              <a:rPr sz="24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50" dirty="0">
                <a:latin typeface="Symbol" panose="05050102010706020507"/>
                <a:cs typeface="Symbol" panose="05050102010706020507"/>
              </a:rPr>
              <a:t></a:t>
            </a:r>
            <a:endParaRPr sz="2400">
              <a:latin typeface="Symbol" panose="05050102010706020507"/>
              <a:cs typeface="Symbol" panose="05050102010706020507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3878897" y="5321071"/>
            <a:ext cx="179070" cy="3943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00" spc="-50" dirty="0">
                <a:latin typeface="Times New Roman" panose="02020603050405020304"/>
                <a:cs typeface="Times New Roman" panose="02020603050405020304"/>
              </a:rPr>
              <a:t>1</a:t>
            </a:r>
            <a:endParaRPr sz="2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3878897" y="5734448"/>
            <a:ext cx="184150" cy="1233805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270"/>
              </a:spcBef>
            </a:pPr>
            <a:r>
              <a:rPr sz="2400" spc="-50" dirty="0">
                <a:latin typeface="Times New Roman" panose="02020603050405020304"/>
                <a:cs typeface="Times New Roman" panose="02020603050405020304"/>
              </a:rPr>
              <a:t>2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2400" spc="-50" dirty="0">
                <a:latin typeface="Times New Roman" panose="02020603050405020304"/>
                <a:cs typeface="Times New Roman" panose="02020603050405020304"/>
              </a:rPr>
              <a:t>1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17145">
              <a:lnSpc>
                <a:spcPct val="100000"/>
              </a:lnSpc>
              <a:spcBef>
                <a:spcPts val="530"/>
              </a:spcBef>
            </a:pPr>
            <a:r>
              <a:rPr sz="2400" spc="-50" dirty="0">
                <a:latin typeface="Times New Roman" panose="02020603050405020304"/>
                <a:cs typeface="Times New Roman" panose="02020603050405020304"/>
              </a:rPr>
              <a:t>2</a:t>
            </a:r>
            <a:endParaRPr sz="2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3597986" y="5514187"/>
            <a:ext cx="2908300" cy="3943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  <a:tabLst>
                <a:tab pos="506095" algn="l"/>
              </a:tabLst>
            </a:pPr>
            <a:r>
              <a:rPr sz="2400" spc="-50" dirty="0">
                <a:latin typeface="Symbol" panose="05050102010706020507"/>
                <a:cs typeface="Symbol" panose="05050102010706020507"/>
              </a:rPr>
              <a:t>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	(</a:t>
            </a:r>
            <a:r>
              <a:rPr sz="2400" spc="-2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b="1" i="1" dirty="0">
                <a:latin typeface="Times New Roman" panose="02020603050405020304"/>
                <a:cs typeface="Times New Roman" panose="02020603050405020304"/>
              </a:rPr>
              <a:t>y</a:t>
            </a:r>
            <a:r>
              <a:rPr sz="2400" b="1" i="1" spc="-1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latin typeface="Symbol" panose="05050102010706020507"/>
                <a:cs typeface="Symbol" panose="05050102010706020507"/>
              </a:rPr>
              <a:t></a:t>
            </a:r>
            <a:r>
              <a:rPr sz="24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b="1" i="1" dirty="0">
                <a:latin typeface="Times New Roman" panose="02020603050405020304"/>
                <a:cs typeface="Times New Roman" panose="02020603050405020304"/>
              </a:rPr>
              <a:t>Xw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)</a:t>
            </a:r>
            <a:r>
              <a:rPr sz="2100" baseline="44000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100" spc="-60" baseline="44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400" spc="-2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b="1" i="1" dirty="0">
                <a:latin typeface="Times New Roman" panose="02020603050405020304"/>
                <a:cs typeface="Times New Roman" panose="02020603050405020304"/>
              </a:rPr>
              <a:t>y</a:t>
            </a:r>
            <a:r>
              <a:rPr sz="2400" b="1" i="1" spc="-1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latin typeface="Symbol" panose="05050102010706020507"/>
                <a:cs typeface="Symbol" panose="05050102010706020507"/>
              </a:rPr>
              <a:t></a:t>
            </a:r>
            <a:r>
              <a:rPr sz="24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b="1" i="1" spc="-25" dirty="0">
                <a:latin typeface="Times New Roman" panose="02020603050405020304"/>
                <a:cs typeface="Times New Roman" panose="02020603050405020304"/>
              </a:rPr>
              <a:t>Xw</a:t>
            </a:r>
            <a:r>
              <a:rPr sz="2400" spc="-25" dirty="0">
                <a:latin typeface="Times New Roman" panose="02020603050405020304"/>
                <a:cs typeface="Times New Roman" panose="02020603050405020304"/>
              </a:rPr>
              <a:t>)</a:t>
            </a:r>
            <a:endParaRPr sz="2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4882806" y="4458779"/>
            <a:ext cx="14414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i="1" spc="-50" dirty="0">
                <a:latin typeface="Times New Roman" panose="02020603050405020304"/>
                <a:cs typeface="Times New Roman" panose="02020603050405020304"/>
              </a:rPr>
              <a:t>N</a:t>
            </a:r>
            <a:endParaRPr sz="1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6073609" y="4458779"/>
            <a:ext cx="14414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i="1" spc="-50" dirty="0">
                <a:latin typeface="Times New Roman" panose="02020603050405020304"/>
                <a:cs typeface="Times New Roman" panose="02020603050405020304"/>
              </a:rPr>
              <a:t>N</a:t>
            </a:r>
            <a:endParaRPr sz="1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5288153" y="4848999"/>
            <a:ext cx="7493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i="1" spc="-50" dirty="0">
                <a:latin typeface="Times New Roman" panose="02020603050405020304"/>
                <a:cs typeface="Times New Roman" panose="02020603050405020304"/>
              </a:rPr>
              <a:t>i</a:t>
            </a:r>
            <a:endParaRPr sz="1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6614591" y="4848999"/>
            <a:ext cx="7493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i="1" spc="-50" dirty="0">
                <a:latin typeface="Times New Roman" panose="02020603050405020304"/>
                <a:cs typeface="Times New Roman" panose="02020603050405020304"/>
              </a:rPr>
              <a:t>i</a:t>
            </a:r>
            <a:endParaRPr sz="1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7497050" y="4848999"/>
            <a:ext cx="7493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i="1" spc="-50" dirty="0">
                <a:latin typeface="Times New Roman" panose="02020603050405020304"/>
                <a:cs typeface="Times New Roman" panose="02020603050405020304"/>
              </a:rPr>
              <a:t>i</a:t>
            </a:r>
            <a:endParaRPr sz="1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6483693" y="4640376"/>
            <a:ext cx="1041400" cy="3943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78765" algn="l"/>
                <a:tab pos="873760" algn="l"/>
              </a:tabLst>
            </a:pPr>
            <a:r>
              <a:rPr sz="2400" i="1" spc="-50" dirty="0">
                <a:latin typeface="Times New Roman" panose="02020603050405020304"/>
                <a:cs typeface="Times New Roman" panose="02020603050405020304"/>
              </a:rPr>
              <a:t>y</a:t>
            </a:r>
            <a:r>
              <a:rPr sz="2400" i="1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400" dirty="0">
                <a:latin typeface="Symbol" panose="05050102010706020507"/>
                <a:cs typeface="Symbol" panose="05050102010706020507"/>
              </a:rPr>
              <a:t></a:t>
            </a:r>
            <a:r>
              <a:rPr sz="2400" spc="-1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b="1" i="1" spc="-50" dirty="0">
                <a:latin typeface="Times New Roman" panose="02020603050405020304"/>
                <a:cs typeface="Times New Roman" panose="02020603050405020304"/>
              </a:rPr>
              <a:t>w</a:t>
            </a:r>
            <a:r>
              <a:rPr sz="2400" b="1" i="1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400" b="1" i="1" spc="-50" dirty="0">
                <a:latin typeface="Times New Roman" panose="02020603050405020304"/>
                <a:cs typeface="Times New Roman" panose="02020603050405020304"/>
              </a:rPr>
              <a:t>x</a:t>
            </a:r>
            <a:endParaRPr sz="2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5113724" y="4625266"/>
            <a:ext cx="267335" cy="4127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500" spc="-495" dirty="0">
                <a:latin typeface="Symbol" panose="05050102010706020507"/>
                <a:cs typeface="Symbol" panose="05050102010706020507"/>
              </a:rPr>
              <a:t></a:t>
            </a:r>
            <a:endParaRPr sz="2500">
              <a:latin typeface="Symbol" panose="05050102010706020507"/>
              <a:cs typeface="Symbol" panose="05050102010706020507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4817351" y="5060467"/>
            <a:ext cx="147066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219200" algn="l"/>
              </a:tabLst>
            </a:pPr>
            <a:r>
              <a:rPr sz="1400" i="1" spc="-25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1400" spc="-25" dirty="0">
                <a:latin typeface="Symbol" panose="05050102010706020507"/>
                <a:cs typeface="Symbol" panose="05050102010706020507"/>
              </a:rPr>
              <a:t></a:t>
            </a:r>
            <a:r>
              <a:rPr sz="1400" spc="-25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400" i="1" spc="-25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1400" spc="-25" dirty="0">
                <a:latin typeface="Symbol" panose="05050102010706020507"/>
                <a:cs typeface="Symbol" panose="05050102010706020507"/>
              </a:rPr>
              <a:t></a:t>
            </a:r>
            <a:r>
              <a:rPr sz="1400" spc="-25" dirty="0">
                <a:latin typeface="Times New Roman" panose="02020603050405020304"/>
                <a:cs typeface="Times New Roman" panose="02020603050405020304"/>
              </a:rPr>
              <a:t>1</a:t>
            </a:r>
            <a:endParaRPr sz="1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5505018" y="4640376"/>
            <a:ext cx="194310" cy="3943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00" spc="-50" dirty="0">
                <a:latin typeface="Symbol" panose="05050102010706020507"/>
                <a:cs typeface="Symbol" panose="05050102010706020507"/>
              </a:rPr>
              <a:t></a:t>
            </a:r>
            <a:endParaRPr sz="2400">
              <a:latin typeface="Symbol" panose="05050102010706020507"/>
              <a:cs typeface="Symbol" panose="05050102010706020507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3623386" y="6334543"/>
            <a:ext cx="194310" cy="3943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00" spc="-50" dirty="0">
                <a:latin typeface="Symbol" panose="05050102010706020507"/>
                <a:cs typeface="Symbol" panose="05050102010706020507"/>
              </a:rPr>
              <a:t></a:t>
            </a:r>
            <a:endParaRPr sz="2400">
              <a:latin typeface="Symbol" panose="05050102010706020507"/>
              <a:cs typeface="Symbol" panose="05050102010706020507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4224311" y="6334543"/>
            <a:ext cx="869315" cy="3943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00" b="1" i="1" dirty="0">
                <a:latin typeface="Times New Roman" panose="02020603050405020304"/>
                <a:cs typeface="Times New Roman" panose="02020603050405020304"/>
              </a:rPr>
              <a:t>y</a:t>
            </a:r>
            <a:r>
              <a:rPr sz="2400" b="1" i="1" spc="-1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latin typeface="Symbol" panose="05050102010706020507"/>
                <a:cs typeface="Symbol" panose="05050102010706020507"/>
              </a:rPr>
              <a:t></a:t>
            </a:r>
            <a:r>
              <a:rPr sz="24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b="1" i="1" spc="-25" dirty="0">
                <a:latin typeface="Times New Roman" panose="02020603050405020304"/>
                <a:cs typeface="Times New Roman" panose="02020603050405020304"/>
              </a:rPr>
              <a:t>Xw</a:t>
            </a:r>
            <a:endParaRPr sz="2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4785017" y="4556988"/>
            <a:ext cx="341630" cy="578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600" spc="-1870" dirty="0">
                <a:latin typeface="Symbol" panose="05050102010706020507"/>
                <a:cs typeface="Symbol" panose="05050102010706020507"/>
              </a:rPr>
              <a:t></a:t>
            </a:r>
            <a:endParaRPr sz="3600">
              <a:latin typeface="Symbol" panose="05050102010706020507"/>
              <a:cs typeface="Symbol" panose="05050102010706020507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5975819" y="4556988"/>
            <a:ext cx="341630" cy="578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600" spc="-1870" dirty="0">
                <a:latin typeface="Symbol" panose="05050102010706020507"/>
                <a:cs typeface="Symbol" panose="05050102010706020507"/>
              </a:rPr>
              <a:t></a:t>
            </a:r>
            <a:endParaRPr sz="3600">
              <a:latin typeface="Symbol" panose="05050102010706020507"/>
              <a:cs typeface="Symbol" panose="05050102010706020507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9303867" y="5211889"/>
            <a:ext cx="130175" cy="0"/>
          </a:xfrm>
          <a:custGeom>
            <a:avLst/>
            <a:gdLst/>
            <a:ahLst/>
            <a:cxnLst/>
            <a:rect l="l" t="t" r="r" b="b"/>
            <a:pathLst>
              <a:path w="130175">
                <a:moveTo>
                  <a:pt x="0" y="0"/>
                </a:moveTo>
                <a:lnTo>
                  <a:pt x="129997" y="0"/>
                </a:lnTo>
              </a:path>
            </a:pathLst>
          </a:custGeom>
          <a:ln w="1285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9303867" y="5638622"/>
            <a:ext cx="130175" cy="0"/>
          </a:xfrm>
          <a:custGeom>
            <a:avLst/>
            <a:gdLst/>
            <a:ahLst/>
            <a:cxnLst/>
            <a:rect l="l" t="t" r="r" b="b"/>
            <a:pathLst>
              <a:path w="130175">
                <a:moveTo>
                  <a:pt x="0" y="0"/>
                </a:moveTo>
                <a:lnTo>
                  <a:pt x="129997" y="0"/>
                </a:lnTo>
              </a:path>
            </a:pathLst>
          </a:custGeom>
          <a:ln w="1285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9303867" y="6454254"/>
            <a:ext cx="130175" cy="0"/>
          </a:xfrm>
          <a:custGeom>
            <a:avLst/>
            <a:gdLst/>
            <a:ahLst/>
            <a:cxnLst/>
            <a:rect l="l" t="t" r="r" b="b"/>
            <a:pathLst>
              <a:path w="130175">
                <a:moveTo>
                  <a:pt x="0" y="0"/>
                </a:moveTo>
                <a:lnTo>
                  <a:pt x="129997" y="0"/>
                </a:lnTo>
              </a:path>
            </a:pathLst>
          </a:custGeom>
          <a:ln w="1285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 txBox="1"/>
          <p:nvPr/>
        </p:nvSpPr>
        <p:spPr>
          <a:xfrm>
            <a:off x="10545165" y="5319166"/>
            <a:ext cx="175260" cy="2051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50" spc="-25" dirty="0">
                <a:latin typeface="Times New Roman" panose="02020603050405020304"/>
                <a:cs typeface="Times New Roman" panose="02020603050405020304"/>
              </a:rPr>
              <a:t>11</a:t>
            </a:r>
            <a:endParaRPr sz="11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9404236" y="5216933"/>
            <a:ext cx="149860" cy="513080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1150" spc="-50" dirty="0">
                <a:latin typeface="Times New Roman" panose="02020603050405020304"/>
                <a:cs typeface="Times New Roman" panose="02020603050405020304"/>
              </a:rPr>
              <a:t>1</a:t>
            </a:r>
            <a:endParaRPr sz="1150">
              <a:latin typeface="Times New Roman" panose="02020603050405020304"/>
              <a:cs typeface="Times New Roman" panose="02020603050405020304"/>
            </a:endParaRPr>
          </a:p>
          <a:p>
            <a:pPr marL="45720">
              <a:lnSpc>
                <a:spcPct val="100000"/>
              </a:lnSpc>
              <a:spcBef>
                <a:spcPts val="540"/>
              </a:spcBef>
            </a:pPr>
            <a:r>
              <a:rPr sz="1150" spc="-50" dirty="0">
                <a:latin typeface="Times New Roman" panose="02020603050405020304"/>
                <a:cs typeface="Times New Roman" panose="02020603050405020304"/>
              </a:rPr>
              <a:t>T</a:t>
            </a:r>
            <a:endParaRPr sz="11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9420491" y="5708078"/>
            <a:ext cx="100330" cy="2051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50" spc="-50" dirty="0">
                <a:latin typeface="Times New Roman" panose="02020603050405020304"/>
                <a:cs typeface="Times New Roman" panose="02020603050405020304"/>
              </a:rPr>
              <a:t>2</a:t>
            </a:r>
            <a:endParaRPr sz="11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10546588" y="5708078"/>
            <a:ext cx="175260" cy="2051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50" spc="-25" dirty="0">
                <a:latin typeface="Times New Roman" panose="02020603050405020304"/>
                <a:cs typeface="Times New Roman" panose="02020603050405020304"/>
              </a:rPr>
              <a:t>21</a:t>
            </a:r>
            <a:endParaRPr sz="11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11464670" y="5532196"/>
            <a:ext cx="140335" cy="3359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000" i="1" spc="-50" dirty="0">
                <a:latin typeface="Times New Roman" panose="02020603050405020304"/>
                <a:cs typeface="Times New Roman" panose="02020603050405020304"/>
              </a:rPr>
              <a:t>x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11827382" y="5131130"/>
            <a:ext cx="125095" cy="3359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000" spc="-50" dirty="0">
                <a:latin typeface="Symbol" panose="05050102010706020507"/>
                <a:cs typeface="Symbol" panose="05050102010706020507"/>
              </a:rPr>
              <a:t></a:t>
            </a:r>
            <a:endParaRPr sz="2000">
              <a:latin typeface="Symbol" panose="05050102010706020507"/>
              <a:cs typeface="Symbol" panose="05050102010706020507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9593922" y="5341785"/>
            <a:ext cx="125095" cy="3359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000" spc="-50" dirty="0">
                <a:latin typeface="Symbol" panose="05050102010706020507"/>
                <a:cs typeface="Symbol" panose="05050102010706020507"/>
              </a:rPr>
              <a:t></a:t>
            </a:r>
            <a:endParaRPr sz="2000">
              <a:latin typeface="Symbol" panose="05050102010706020507"/>
              <a:cs typeface="Symbol" panose="05050102010706020507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9970299" y="5379605"/>
            <a:ext cx="125095" cy="3359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000" spc="-50" dirty="0">
                <a:latin typeface="Symbol" panose="05050102010706020507"/>
                <a:cs typeface="Symbol" panose="05050102010706020507"/>
              </a:rPr>
              <a:t></a:t>
            </a:r>
            <a:endParaRPr sz="2000">
              <a:latin typeface="Symbol" panose="05050102010706020507"/>
              <a:cs typeface="Symbol" panose="05050102010706020507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11549608" y="5210124"/>
            <a:ext cx="427990" cy="3359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1150" spc="50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sz="1150" i="1" spc="50" dirty="0">
                <a:latin typeface="Times New Roman" panose="02020603050405020304"/>
                <a:cs typeface="Times New Roman" panose="02020603050405020304"/>
              </a:rPr>
              <a:t>K</a:t>
            </a:r>
            <a:r>
              <a:rPr sz="1150" i="1" spc="2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spc="-75" baseline="-38000" dirty="0">
                <a:latin typeface="Symbol" panose="05050102010706020507"/>
                <a:cs typeface="Symbol" panose="05050102010706020507"/>
              </a:rPr>
              <a:t></a:t>
            </a:r>
            <a:endParaRPr sz="3000" baseline="-38000">
              <a:latin typeface="Symbol" panose="05050102010706020507"/>
              <a:cs typeface="Symbol" panose="05050102010706020507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9154388" y="5341785"/>
            <a:ext cx="564515" cy="5842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2180"/>
              </a:lnSpc>
              <a:spcBef>
                <a:spcPts val="135"/>
              </a:spcBef>
            </a:pPr>
            <a:r>
              <a:rPr sz="2000" spc="-50" dirty="0">
                <a:latin typeface="Symbol" panose="05050102010706020507"/>
                <a:cs typeface="Symbol" panose="05050102010706020507"/>
              </a:rPr>
              <a:t></a:t>
            </a:r>
            <a:endParaRPr sz="2000">
              <a:latin typeface="Symbol" panose="05050102010706020507"/>
              <a:cs typeface="Symbol" panose="05050102010706020507"/>
            </a:endParaRPr>
          </a:p>
          <a:p>
            <a:pPr marL="12700">
              <a:lnSpc>
                <a:spcPts val="2180"/>
              </a:lnSpc>
              <a:tabLst>
                <a:tab pos="452120" algn="l"/>
              </a:tabLst>
            </a:pPr>
            <a:r>
              <a:rPr sz="2000" spc="-50" dirty="0">
                <a:latin typeface="Symbol" panose="05050102010706020507"/>
                <a:cs typeface="Symbol" panose="05050102010706020507"/>
              </a:rPr>
              <a:t>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000" spc="-50" dirty="0">
                <a:latin typeface="Symbol" panose="05050102010706020507"/>
                <a:cs typeface="Symbol" panose="05050102010706020507"/>
              </a:rPr>
              <a:t></a:t>
            </a:r>
            <a:endParaRPr sz="2000">
              <a:latin typeface="Symbol" panose="05050102010706020507"/>
              <a:cs typeface="Symbol" panose="05050102010706020507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11545646" y="5599036"/>
            <a:ext cx="431800" cy="3359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1150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sz="115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150" i="1" dirty="0">
                <a:latin typeface="Times New Roman" panose="02020603050405020304"/>
                <a:cs typeface="Times New Roman" panose="02020603050405020304"/>
              </a:rPr>
              <a:t>K</a:t>
            </a:r>
            <a:r>
              <a:rPr sz="1150" i="1" spc="1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spc="-75" baseline="-7000" dirty="0">
                <a:latin typeface="Symbol" panose="05050102010706020507"/>
                <a:cs typeface="Symbol" panose="05050102010706020507"/>
              </a:rPr>
              <a:t></a:t>
            </a:r>
            <a:endParaRPr sz="3000" baseline="-7000">
              <a:latin typeface="Symbol" panose="05050102010706020507"/>
              <a:cs typeface="Symbol" panose="05050102010706020507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9568522" y="5628068"/>
            <a:ext cx="551815" cy="3359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3000" baseline="-46000" dirty="0">
                <a:latin typeface="Symbol" panose="05050102010706020507"/>
                <a:cs typeface="Symbol" panose="05050102010706020507"/>
              </a:rPr>
              <a:t></a:t>
            </a:r>
            <a:r>
              <a:rPr sz="3000" spc="30" baseline="-46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baseline="-18000" dirty="0">
                <a:latin typeface="Symbol" panose="05050102010706020507"/>
                <a:cs typeface="Symbol" panose="05050102010706020507"/>
              </a:rPr>
              <a:t></a:t>
            </a:r>
            <a:r>
              <a:rPr sz="3000" spc="97" baseline="-18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50" dirty="0">
                <a:latin typeface="Symbol" panose="05050102010706020507"/>
                <a:cs typeface="Symbol" panose="05050102010706020507"/>
              </a:rPr>
              <a:t></a:t>
            </a:r>
            <a:endParaRPr sz="2000">
              <a:latin typeface="Symbol" panose="05050102010706020507"/>
              <a:cs typeface="Symbol" panose="05050102010706020507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9593922" y="6087211"/>
            <a:ext cx="125095" cy="3359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000" spc="-50" dirty="0">
                <a:latin typeface="Symbol" panose="05050102010706020507"/>
                <a:cs typeface="Symbol" panose="05050102010706020507"/>
              </a:rPr>
              <a:t></a:t>
            </a:r>
            <a:endParaRPr sz="2000">
              <a:latin typeface="Symbol" panose="05050102010706020507"/>
              <a:cs typeface="Symbol" panose="05050102010706020507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9970299" y="6125019"/>
            <a:ext cx="125095" cy="3359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000" spc="-50" dirty="0">
                <a:latin typeface="Symbol" panose="05050102010706020507"/>
                <a:cs typeface="Symbol" panose="05050102010706020507"/>
              </a:rPr>
              <a:t></a:t>
            </a:r>
            <a:endParaRPr sz="2000">
              <a:latin typeface="Symbol" panose="05050102010706020507"/>
              <a:cs typeface="Symbol" panose="05050102010706020507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11827382" y="6125019"/>
            <a:ext cx="125095" cy="3359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000" spc="-50" dirty="0">
                <a:latin typeface="Symbol" panose="05050102010706020507"/>
                <a:cs typeface="Symbol" panose="05050102010706020507"/>
              </a:rPr>
              <a:t></a:t>
            </a:r>
            <a:endParaRPr sz="2000">
              <a:latin typeface="Symbol" panose="05050102010706020507"/>
              <a:cs typeface="Symbol" panose="05050102010706020507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11430393" y="6378892"/>
            <a:ext cx="547370" cy="3359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3000" i="1" baseline="15000" dirty="0">
                <a:latin typeface="Times New Roman" panose="02020603050405020304"/>
                <a:cs typeface="Times New Roman" panose="02020603050405020304"/>
              </a:rPr>
              <a:t>x</a:t>
            </a:r>
            <a:r>
              <a:rPr sz="1150" i="1" dirty="0">
                <a:latin typeface="Times New Roman" panose="02020603050405020304"/>
                <a:cs typeface="Times New Roman" panose="02020603050405020304"/>
              </a:rPr>
              <a:t>NK</a:t>
            </a:r>
            <a:r>
              <a:rPr sz="1150" i="1" spc="1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spc="-600" baseline="10000" dirty="0">
                <a:latin typeface="Symbol" panose="05050102010706020507"/>
                <a:cs typeface="Symbol" panose="05050102010706020507"/>
              </a:rPr>
              <a:t></a:t>
            </a:r>
            <a:r>
              <a:rPr sz="2000" spc="-400" dirty="0">
                <a:latin typeface="Symbol" panose="05050102010706020507"/>
                <a:cs typeface="Symbol" panose="05050102010706020507"/>
              </a:rPr>
              <a:t></a:t>
            </a:r>
            <a:endParaRPr sz="2000">
              <a:latin typeface="Symbol" panose="05050102010706020507"/>
              <a:cs typeface="Symbol" panose="05050102010706020507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9128988" y="5105476"/>
            <a:ext cx="615315" cy="3359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3000" baseline="3000" dirty="0">
                <a:latin typeface="Symbol" panose="05050102010706020507"/>
                <a:cs typeface="Symbol" panose="05050102010706020507"/>
              </a:rPr>
              <a:t></a:t>
            </a:r>
            <a:r>
              <a:rPr sz="3000" spc="-359" baseline="3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i="1" dirty="0">
                <a:latin typeface="Times New Roman" panose="02020603050405020304"/>
                <a:cs typeface="Times New Roman" panose="02020603050405020304"/>
              </a:rPr>
              <a:t>x</a:t>
            </a:r>
            <a:r>
              <a:rPr sz="2000" b="1" i="1" spc="-3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25" baseline="43000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1725" spc="359" baseline="43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spc="-75" baseline="3000" dirty="0">
                <a:latin typeface="Symbol" panose="05050102010706020507"/>
                <a:cs typeface="Symbol" panose="05050102010706020507"/>
              </a:rPr>
              <a:t></a:t>
            </a:r>
            <a:endParaRPr sz="3000" baseline="3000">
              <a:latin typeface="Symbol" panose="05050102010706020507"/>
              <a:cs typeface="Symbol" panose="05050102010706020507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9154388" y="6335674"/>
            <a:ext cx="112395" cy="3359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000" spc="-765" dirty="0">
                <a:latin typeface="Symbol" panose="05050102010706020507"/>
                <a:cs typeface="Symbol" panose="05050102010706020507"/>
              </a:rPr>
              <a:t></a:t>
            </a:r>
            <a:endParaRPr sz="2000">
              <a:latin typeface="Symbol" panose="05050102010706020507"/>
              <a:cs typeface="Symbol" panose="05050102010706020507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9593922" y="6335674"/>
            <a:ext cx="112395" cy="3359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000" spc="-765" dirty="0">
                <a:latin typeface="Symbol" panose="05050102010706020507"/>
                <a:cs typeface="Symbol" panose="05050102010706020507"/>
              </a:rPr>
              <a:t></a:t>
            </a:r>
            <a:endParaRPr sz="2000">
              <a:latin typeface="Symbol" panose="05050102010706020507"/>
              <a:cs typeface="Symbol" panose="05050102010706020507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9128988" y="6416700"/>
            <a:ext cx="615315" cy="3359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  <a:tabLst>
                <a:tab pos="320675" algn="l"/>
              </a:tabLst>
            </a:pPr>
            <a:r>
              <a:rPr sz="2000" spc="-50" dirty="0">
                <a:latin typeface="Symbol" panose="05050102010706020507"/>
                <a:cs typeface="Symbol" panose="05050102010706020507"/>
              </a:rPr>
              <a:t>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725" spc="-1027" baseline="70000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1150" i="1" spc="5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1150" i="1" spc="1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50" dirty="0">
                <a:latin typeface="Symbol" panose="05050102010706020507"/>
                <a:cs typeface="Symbol" panose="05050102010706020507"/>
              </a:rPr>
              <a:t></a:t>
            </a:r>
            <a:endParaRPr sz="2000">
              <a:latin typeface="Symbol" panose="05050102010706020507"/>
              <a:cs typeface="Symbol" panose="05050102010706020507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9285744" y="5532196"/>
            <a:ext cx="154940" cy="3359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000" b="1" i="1" spc="-50" dirty="0">
                <a:latin typeface="Times New Roman" panose="02020603050405020304"/>
                <a:cs typeface="Times New Roman" panose="02020603050405020304"/>
              </a:rPr>
              <a:t>x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8653665" y="5710440"/>
            <a:ext cx="650875" cy="3359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000" b="1" i="1" dirty="0">
                <a:latin typeface="Times New Roman" panose="02020603050405020304"/>
                <a:cs typeface="Times New Roman" panose="02020603050405020304"/>
              </a:rPr>
              <a:t>X</a:t>
            </a:r>
            <a:r>
              <a:rPr sz="2000" b="1" i="1" spc="2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Symbol" panose="05050102010706020507"/>
                <a:cs typeface="Symbol" panose="05050102010706020507"/>
              </a:rPr>
              <a:t></a:t>
            </a:r>
            <a:r>
              <a:rPr sz="20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spc="-75" baseline="-28000" dirty="0">
                <a:latin typeface="Symbol" panose="05050102010706020507"/>
                <a:cs typeface="Symbol" panose="05050102010706020507"/>
              </a:rPr>
              <a:t></a:t>
            </a:r>
            <a:endParaRPr sz="3000" baseline="-28000">
              <a:latin typeface="Symbol" panose="05050102010706020507"/>
              <a:cs typeface="Symbol" panose="05050102010706020507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9944899" y="5876544"/>
            <a:ext cx="263525" cy="3359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000" spc="50" dirty="0">
                <a:latin typeface="Symbol" panose="05050102010706020507"/>
                <a:cs typeface="Symbol" panose="05050102010706020507"/>
              </a:rPr>
              <a:t></a:t>
            </a:r>
            <a:r>
              <a:rPr sz="3000" spc="75" baseline="-10000" dirty="0">
                <a:latin typeface="Microsoft Sans Serif" panose="020B0604020202020204"/>
                <a:cs typeface="Microsoft Sans Serif" panose="020B0604020202020204"/>
              </a:rPr>
              <a:t>⁝</a:t>
            </a:r>
            <a:endParaRPr sz="3000" baseline="-1000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11554206" y="5876544"/>
            <a:ext cx="423545" cy="3359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  <a:tabLst>
                <a:tab pos="285750" algn="l"/>
              </a:tabLst>
            </a:pPr>
            <a:r>
              <a:rPr sz="3000" spc="112" baseline="-10000" dirty="0">
                <a:latin typeface="Microsoft Sans Serif" panose="020B0604020202020204"/>
                <a:cs typeface="Microsoft Sans Serif" panose="020B0604020202020204"/>
              </a:rPr>
              <a:t>⁝</a:t>
            </a:r>
            <a:r>
              <a:rPr sz="3000" baseline="-10000" dirty="0">
                <a:latin typeface="Microsoft Sans Serif" panose="020B0604020202020204"/>
                <a:cs typeface="Microsoft Sans Serif" panose="020B0604020202020204"/>
              </a:rPr>
              <a:t>	</a:t>
            </a:r>
            <a:r>
              <a:rPr sz="2000" spc="-50" dirty="0">
                <a:latin typeface="Symbol" panose="05050102010706020507"/>
                <a:cs typeface="Symbol" panose="05050102010706020507"/>
              </a:rPr>
              <a:t></a:t>
            </a:r>
            <a:endParaRPr sz="2000">
              <a:latin typeface="Symbol" panose="05050102010706020507"/>
              <a:cs typeface="Symbol" panose="05050102010706020507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9128988" y="5927178"/>
            <a:ext cx="245110" cy="3359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3000" spc="-37" baseline="-35000" dirty="0">
                <a:latin typeface="Symbol" panose="05050102010706020507"/>
                <a:cs typeface="Symbol" panose="05050102010706020507"/>
              </a:rPr>
              <a:t></a:t>
            </a:r>
            <a:r>
              <a:rPr sz="2000" spc="-25" dirty="0">
                <a:latin typeface="Microsoft Sans Serif" panose="020B0604020202020204"/>
                <a:cs typeface="Microsoft Sans Serif" panose="020B0604020202020204"/>
              </a:rPr>
              <a:t>⁝</a:t>
            </a:r>
            <a:endParaRPr sz="200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9932199" y="5064536"/>
            <a:ext cx="1724660" cy="1581150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755"/>
              </a:spcBef>
              <a:tabLst>
                <a:tab pos="528320" algn="l"/>
                <a:tab pos="1038225" algn="l"/>
                <a:tab pos="1558290" algn="l"/>
              </a:tabLst>
            </a:pPr>
            <a:r>
              <a:rPr sz="3000" spc="-37" baseline="3000" dirty="0">
                <a:latin typeface="Symbol" panose="05050102010706020507"/>
                <a:cs typeface="Symbol" panose="05050102010706020507"/>
              </a:rPr>
              <a:t></a:t>
            </a:r>
            <a:r>
              <a:rPr sz="2000" spc="-25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000" i="1" spc="-50" dirty="0">
                <a:latin typeface="Times New Roman" panose="02020603050405020304"/>
                <a:cs typeface="Times New Roman" panose="02020603050405020304"/>
              </a:rPr>
              <a:t>x</a:t>
            </a:r>
            <a:r>
              <a:rPr sz="2000" i="1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000" spc="-50" dirty="0">
                <a:latin typeface="Microsoft Sans Serif" panose="020B0604020202020204"/>
                <a:cs typeface="Microsoft Sans Serif" panose="020B0604020202020204"/>
              </a:rPr>
              <a:t></a:t>
            </a:r>
            <a:r>
              <a:rPr sz="2000" dirty="0">
                <a:latin typeface="Microsoft Sans Serif" panose="020B0604020202020204"/>
                <a:cs typeface="Microsoft Sans Serif" panose="020B0604020202020204"/>
              </a:rPr>
              <a:t>	</a:t>
            </a:r>
            <a:r>
              <a:rPr sz="2000" i="1" spc="-50" dirty="0">
                <a:latin typeface="Times New Roman" panose="02020603050405020304"/>
                <a:cs typeface="Times New Roman" panose="02020603050405020304"/>
              </a:rPr>
              <a:t>x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33350">
              <a:lnSpc>
                <a:spcPct val="100000"/>
              </a:lnSpc>
              <a:spcBef>
                <a:spcPts val="660"/>
              </a:spcBef>
              <a:tabLst>
                <a:tab pos="520065" algn="l"/>
                <a:tab pos="1038225" algn="l"/>
              </a:tabLst>
            </a:pPr>
            <a:r>
              <a:rPr sz="2000" spc="-50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000" i="1" spc="-50" dirty="0">
                <a:latin typeface="Times New Roman" panose="02020603050405020304"/>
                <a:cs typeface="Times New Roman" panose="02020603050405020304"/>
              </a:rPr>
              <a:t>x</a:t>
            </a:r>
            <a:r>
              <a:rPr sz="2000" i="1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000" spc="-50" dirty="0">
                <a:latin typeface="Microsoft Sans Serif" panose="020B0604020202020204"/>
                <a:cs typeface="Microsoft Sans Serif" panose="020B0604020202020204"/>
              </a:rPr>
              <a:t></a:t>
            </a:r>
            <a:endParaRPr sz="2000">
              <a:latin typeface="Microsoft Sans Serif" panose="020B0604020202020204"/>
              <a:cs typeface="Microsoft Sans Serif" panose="020B0604020202020204"/>
            </a:endParaRPr>
          </a:p>
          <a:p>
            <a:pPr marL="600710">
              <a:lnSpc>
                <a:spcPct val="100000"/>
              </a:lnSpc>
              <a:spcBef>
                <a:spcPts val="665"/>
              </a:spcBef>
              <a:tabLst>
                <a:tab pos="1032510" algn="l"/>
              </a:tabLst>
            </a:pPr>
            <a:r>
              <a:rPr sz="2000" spc="75" dirty="0">
                <a:latin typeface="Microsoft Sans Serif" panose="020B0604020202020204"/>
                <a:cs typeface="Microsoft Sans Serif" panose="020B0604020202020204"/>
              </a:rPr>
              <a:t>⁝</a:t>
            </a:r>
            <a:r>
              <a:rPr sz="2000" dirty="0">
                <a:latin typeface="Microsoft Sans Serif" panose="020B0604020202020204"/>
                <a:cs typeface="Microsoft Sans Serif" panose="020B0604020202020204"/>
              </a:rPr>
              <a:t>	</a:t>
            </a:r>
            <a:r>
              <a:rPr sz="2000" spc="-50" dirty="0">
                <a:latin typeface="Microsoft Sans Serif" panose="020B0604020202020204"/>
                <a:cs typeface="Microsoft Sans Serif" panose="020B0604020202020204"/>
              </a:rPr>
              <a:t></a:t>
            </a:r>
            <a:endParaRPr sz="2000">
              <a:latin typeface="Microsoft Sans Serif" panose="020B0604020202020204"/>
              <a:cs typeface="Microsoft Sans Serif" panose="020B0604020202020204"/>
            </a:endParaRPr>
          </a:p>
          <a:p>
            <a:pPr marL="50800">
              <a:lnSpc>
                <a:spcPct val="100000"/>
              </a:lnSpc>
              <a:spcBef>
                <a:spcPts val="660"/>
              </a:spcBef>
              <a:tabLst>
                <a:tab pos="498475" algn="l"/>
                <a:tab pos="1038225" algn="l"/>
              </a:tabLst>
            </a:pPr>
            <a:r>
              <a:rPr sz="3000" spc="-480" baseline="-15000" dirty="0">
                <a:latin typeface="Symbol" panose="05050102010706020507"/>
                <a:cs typeface="Symbol" panose="05050102010706020507"/>
              </a:rPr>
              <a:t></a:t>
            </a:r>
            <a:r>
              <a:rPr sz="3000" spc="-480" baseline="-6000" dirty="0">
                <a:latin typeface="Symbol" panose="05050102010706020507"/>
                <a:cs typeface="Symbol" panose="05050102010706020507"/>
              </a:rPr>
              <a:t></a:t>
            </a:r>
            <a:r>
              <a:rPr sz="2000" spc="-320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000" i="1" spc="30" dirty="0">
                <a:latin typeface="Times New Roman" panose="02020603050405020304"/>
                <a:cs typeface="Times New Roman" panose="02020603050405020304"/>
              </a:rPr>
              <a:t>x</a:t>
            </a:r>
            <a:r>
              <a:rPr sz="1725" i="1" spc="44" baseline="-2700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1725" spc="44" baseline="-27000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sz="1725" baseline="-270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000" spc="-50" dirty="0">
                <a:latin typeface="Microsoft Sans Serif" panose="020B0604020202020204"/>
                <a:cs typeface="Microsoft Sans Serif" panose="020B0604020202020204"/>
              </a:rPr>
              <a:t></a:t>
            </a:r>
            <a:endParaRPr sz="200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9285744" y="6347828"/>
            <a:ext cx="154940" cy="3359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000" b="1" i="1" spc="-50" dirty="0">
                <a:latin typeface="Times New Roman" panose="02020603050405020304"/>
                <a:cs typeface="Times New Roman" panose="02020603050405020304"/>
              </a:rPr>
              <a:t>x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8710282" y="4407776"/>
            <a:ext cx="635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latin typeface="微软雅黑" panose="020B0503020204020204" charset="-122"/>
                <a:cs typeface="微软雅黑" panose="020B0503020204020204" charset="-122"/>
              </a:rPr>
              <a:t>其中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177482" y="305752"/>
            <a:ext cx="38354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latin typeface="微软雅黑" panose="020B0503020204020204" charset="-122"/>
                <a:cs typeface="微软雅黑" panose="020B0503020204020204" charset="-122"/>
              </a:rPr>
              <a:t>线性回归</a:t>
            </a:r>
            <a:r>
              <a:rPr sz="3600" b="1" spc="-20" dirty="0">
                <a:latin typeface="Arial" panose="020B0604020202020204"/>
                <a:cs typeface="Arial" panose="020B0604020202020204"/>
              </a:rPr>
              <a:t>-</a:t>
            </a:r>
            <a:r>
              <a:rPr sz="3600" b="1" spc="-15" dirty="0">
                <a:latin typeface="微软雅黑" panose="020B0503020204020204" charset="-122"/>
                <a:cs typeface="微软雅黑" panose="020B0503020204020204" charset="-122"/>
              </a:rPr>
              <a:t>算法流程</a:t>
            </a:r>
            <a:endParaRPr sz="36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0" name="object 100"/>
          <p:cNvSpPr/>
          <p:nvPr/>
        </p:nvSpPr>
        <p:spPr>
          <a:xfrm>
            <a:off x="3963670" y="2868295"/>
            <a:ext cx="4404360" cy="1111885"/>
          </a:xfrm>
          <a:custGeom>
            <a:avLst/>
            <a:gdLst/>
            <a:ahLst/>
            <a:cxnLst/>
            <a:rect l="l" t="t" r="r" b="b"/>
            <a:pathLst>
              <a:path w="4404359" h="1111885">
                <a:moveTo>
                  <a:pt x="4391659" y="1111884"/>
                </a:moveTo>
                <a:lnTo>
                  <a:pt x="12700" y="1111884"/>
                </a:lnTo>
                <a:lnTo>
                  <a:pt x="10223" y="1111643"/>
                </a:lnTo>
                <a:lnTo>
                  <a:pt x="0" y="1099184"/>
                </a:lnTo>
                <a:lnTo>
                  <a:pt x="0" y="12699"/>
                </a:lnTo>
                <a:lnTo>
                  <a:pt x="12700" y="0"/>
                </a:lnTo>
                <a:lnTo>
                  <a:pt x="4391659" y="0"/>
                </a:lnTo>
                <a:lnTo>
                  <a:pt x="4404359" y="12699"/>
                </a:lnTo>
                <a:lnTo>
                  <a:pt x="25400" y="12699"/>
                </a:lnTo>
                <a:lnTo>
                  <a:pt x="12700" y="25399"/>
                </a:lnTo>
                <a:lnTo>
                  <a:pt x="25400" y="25399"/>
                </a:lnTo>
                <a:lnTo>
                  <a:pt x="25400" y="1086484"/>
                </a:lnTo>
                <a:lnTo>
                  <a:pt x="12700" y="1086484"/>
                </a:lnTo>
                <a:lnTo>
                  <a:pt x="25400" y="1099184"/>
                </a:lnTo>
                <a:lnTo>
                  <a:pt x="4404359" y="1099184"/>
                </a:lnTo>
                <a:lnTo>
                  <a:pt x="4404118" y="1101661"/>
                </a:lnTo>
                <a:lnTo>
                  <a:pt x="4394136" y="1111643"/>
                </a:lnTo>
                <a:lnTo>
                  <a:pt x="4391659" y="1111884"/>
                </a:lnTo>
                <a:close/>
              </a:path>
              <a:path w="4404359" h="1111885">
                <a:moveTo>
                  <a:pt x="25400" y="25399"/>
                </a:moveTo>
                <a:lnTo>
                  <a:pt x="12700" y="25399"/>
                </a:lnTo>
                <a:lnTo>
                  <a:pt x="25400" y="12699"/>
                </a:lnTo>
                <a:lnTo>
                  <a:pt x="25400" y="25399"/>
                </a:lnTo>
                <a:close/>
              </a:path>
              <a:path w="4404359" h="1111885">
                <a:moveTo>
                  <a:pt x="4378959" y="25399"/>
                </a:moveTo>
                <a:lnTo>
                  <a:pt x="25400" y="25399"/>
                </a:lnTo>
                <a:lnTo>
                  <a:pt x="25400" y="12699"/>
                </a:lnTo>
                <a:lnTo>
                  <a:pt x="4378959" y="12699"/>
                </a:lnTo>
                <a:lnTo>
                  <a:pt x="4378959" y="25399"/>
                </a:lnTo>
                <a:close/>
              </a:path>
              <a:path w="4404359" h="1111885">
                <a:moveTo>
                  <a:pt x="4378959" y="1099184"/>
                </a:moveTo>
                <a:lnTo>
                  <a:pt x="4378959" y="12699"/>
                </a:lnTo>
                <a:lnTo>
                  <a:pt x="4391659" y="25399"/>
                </a:lnTo>
                <a:lnTo>
                  <a:pt x="4404359" y="25399"/>
                </a:lnTo>
                <a:lnTo>
                  <a:pt x="4404359" y="1086484"/>
                </a:lnTo>
                <a:lnTo>
                  <a:pt x="4391659" y="1086484"/>
                </a:lnTo>
                <a:lnTo>
                  <a:pt x="4378959" y="1099184"/>
                </a:lnTo>
                <a:close/>
              </a:path>
              <a:path w="4404359" h="1111885">
                <a:moveTo>
                  <a:pt x="4404359" y="25399"/>
                </a:moveTo>
                <a:lnTo>
                  <a:pt x="4391659" y="25399"/>
                </a:lnTo>
                <a:lnTo>
                  <a:pt x="4378959" y="12699"/>
                </a:lnTo>
                <a:lnTo>
                  <a:pt x="4404359" y="12699"/>
                </a:lnTo>
                <a:lnTo>
                  <a:pt x="4404359" y="25399"/>
                </a:lnTo>
                <a:close/>
              </a:path>
              <a:path w="4404359" h="1111885">
                <a:moveTo>
                  <a:pt x="25400" y="1099184"/>
                </a:moveTo>
                <a:lnTo>
                  <a:pt x="12700" y="1086484"/>
                </a:lnTo>
                <a:lnTo>
                  <a:pt x="25400" y="1086484"/>
                </a:lnTo>
                <a:lnTo>
                  <a:pt x="25400" y="1099184"/>
                </a:lnTo>
                <a:close/>
              </a:path>
              <a:path w="4404359" h="1111885">
                <a:moveTo>
                  <a:pt x="4378959" y="1099184"/>
                </a:moveTo>
                <a:lnTo>
                  <a:pt x="25400" y="1099184"/>
                </a:lnTo>
                <a:lnTo>
                  <a:pt x="25400" y="1086484"/>
                </a:lnTo>
                <a:lnTo>
                  <a:pt x="4378959" y="1086484"/>
                </a:lnTo>
                <a:lnTo>
                  <a:pt x="4378959" y="1099184"/>
                </a:lnTo>
                <a:close/>
              </a:path>
              <a:path w="4404359" h="1111885">
                <a:moveTo>
                  <a:pt x="4404359" y="1099184"/>
                </a:moveTo>
                <a:lnTo>
                  <a:pt x="4378959" y="1099184"/>
                </a:lnTo>
                <a:lnTo>
                  <a:pt x="4391659" y="1086484"/>
                </a:lnTo>
                <a:lnTo>
                  <a:pt x="4404359" y="1086484"/>
                </a:lnTo>
                <a:lnTo>
                  <a:pt x="4404359" y="109918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999744"/>
            <a:ext cx="646430" cy="262255"/>
          </a:xfrm>
          <a:prstGeom prst="rect">
            <a:avLst/>
          </a:prstGeom>
          <a:solidFill>
            <a:srgbClr val="A40020"/>
          </a:solidFill>
        </p:spPr>
        <p:txBody>
          <a:bodyPr vert="horz" wrap="square" lIns="0" tIns="635" rIns="0" bIns="0" rtlCol="0">
            <a:spAutoFit/>
          </a:bodyPr>
          <a:lstStyle/>
          <a:p>
            <a:pPr marL="375285">
              <a:lnSpc>
                <a:spcPct val="100000"/>
              </a:lnSpc>
              <a:spcBef>
                <a:spcPts val="5"/>
              </a:spcBef>
            </a:pPr>
            <a:r>
              <a:rPr sz="1400" b="1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16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230616" y="4326801"/>
            <a:ext cx="3265804" cy="1549400"/>
          </a:xfrm>
          <a:custGeom>
            <a:avLst/>
            <a:gdLst/>
            <a:ahLst/>
            <a:cxnLst/>
            <a:rect l="l" t="t" r="r" b="b"/>
            <a:pathLst>
              <a:path w="3265804" h="1549400">
                <a:moveTo>
                  <a:pt x="3084080" y="12700"/>
                </a:moveTo>
                <a:lnTo>
                  <a:pt x="181013" y="12700"/>
                </a:lnTo>
                <a:lnTo>
                  <a:pt x="187248" y="0"/>
                </a:lnTo>
                <a:lnTo>
                  <a:pt x="3077844" y="0"/>
                </a:lnTo>
                <a:lnTo>
                  <a:pt x="3084080" y="12700"/>
                </a:lnTo>
                <a:close/>
              </a:path>
              <a:path w="3265804" h="1549400">
                <a:moveTo>
                  <a:pt x="254139" y="25400"/>
                </a:moveTo>
                <a:lnTo>
                  <a:pt x="150774" y="25400"/>
                </a:lnTo>
                <a:lnTo>
                  <a:pt x="162585" y="12700"/>
                </a:lnTo>
                <a:lnTo>
                  <a:pt x="260654" y="12700"/>
                </a:lnTo>
                <a:lnTo>
                  <a:pt x="254139" y="25400"/>
                </a:lnTo>
                <a:close/>
              </a:path>
              <a:path w="3265804" h="1549400">
                <a:moveTo>
                  <a:pt x="3114611" y="25400"/>
                </a:moveTo>
                <a:lnTo>
                  <a:pt x="3011246" y="25400"/>
                </a:lnTo>
                <a:lnTo>
                  <a:pt x="3004731" y="12700"/>
                </a:lnTo>
                <a:lnTo>
                  <a:pt x="3102800" y="12700"/>
                </a:lnTo>
                <a:lnTo>
                  <a:pt x="3114611" y="25400"/>
                </a:lnTo>
                <a:close/>
              </a:path>
              <a:path w="3265804" h="1549400">
                <a:moveTo>
                  <a:pt x="183578" y="38100"/>
                </a:moveTo>
                <a:lnTo>
                  <a:pt x="128104" y="38100"/>
                </a:lnTo>
                <a:lnTo>
                  <a:pt x="139814" y="25400"/>
                </a:lnTo>
                <a:lnTo>
                  <a:pt x="189445" y="25400"/>
                </a:lnTo>
                <a:lnTo>
                  <a:pt x="183578" y="38100"/>
                </a:lnTo>
                <a:close/>
              </a:path>
              <a:path w="3265804" h="1549400">
                <a:moveTo>
                  <a:pt x="3136760" y="38100"/>
                </a:moveTo>
                <a:lnTo>
                  <a:pt x="3081807" y="38100"/>
                </a:lnTo>
                <a:lnTo>
                  <a:pt x="3075939" y="25400"/>
                </a:lnTo>
                <a:lnTo>
                  <a:pt x="3125571" y="25400"/>
                </a:lnTo>
                <a:lnTo>
                  <a:pt x="3136760" y="38100"/>
                </a:lnTo>
                <a:close/>
              </a:path>
              <a:path w="3265804" h="1549400">
                <a:moveTo>
                  <a:pt x="151396" y="50800"/>
                </a:moveTo>
                <a:lnTo>
                  <a:pt x="106845" y="50800"/>
                </a:lnTo>
                <a:lnTo>
                  <a:pt x="117792" y="38100"/>
                </a:lnTo>
                <a:lnTo>
                  <a:pt x="162356" y="38100"/>
                </a:lnTo>
                <a:lnTo>
                  <a:pt x="151396" y="50800"/>
                </a:lnTo>
                <a:close/>
              </a:path>
              <a:path w="3265804" h="1549400">
                <a:moveTo>
                  <a:pt x="3158540" y="50800"/>
                </a:moveTo>
                <a:lnTo>
                  <a:pt x="3113989" y="50800"/>
                </a:lnTo>
                <a:lnTo>
                  <a:pt x="3103041" y="38100"/>
                </a:lnTo>
                <a:lnTo>
                  <a:pt x="3147593" y="38100"/>
                </a:lnTo>
                <a:lnTo>
                  <a:pt x="3158540" y="50800"/>
                </a:lnTo>
                <a:close/>
              </a:path>
              <a:path w="3265804" h="1549400">
                <a:moveTo>
                  <a:pt x="112941" y="76200"/>
                </a:moveTo>
                <a:lnTo>
                  <a:pt x="78282" y="76200"/>
                </a:lnTo>
                <a:lnTo>
                  <a:pt x="87553" y="63500"/>
                </a:lnTo>
                <a:lnTo>
                  <a:pt x="97243" y="50800"/>
                </a:lnTo>
                <a:lnTo>
                  <a:pt x="141820" y="50800"/>
                </a:lnTo>
                <a:lnTo>
                  <a:pt x="131508" y="63500"/>
                </a:lnTo>
                <a:lnTo>
                  <a:pt x="122542" y="63500"/>
                </a:lnTo>
                <a:lnTo>
                  <a:pt x="112941" y="76200"/>
                </a:lnTo>
                <a:close/>
              </a:path>
              <a:path w="3265804" h="1549400">
                <a:moveTo>
                  <a:pt x="3187103" y="76200"/>
                </a:moveTo>
                <a:lnTo>
                  <a:pt x="3152444" y="76200"/>
                </a:lnTo>
                <a:lnTo>
                  <a:pt x="3142856" y="63500"/>
                </a:lnTo>
                <a:lnTo>
                  <a:pt x="3133877" y="63500"/>
                </a:lnTo>
                <a:lnTo>
                  <a:pt x="3123564" y="50800"/>
                </a:lnTo>
                <a:lnTo>
                  <a:pt x="3168141" y="50800"/>
                </a:lnTo>
                <a:lnTo>
                  <a:pt x="3177832" y="63500"/>
                </a:lnTo>
                <a:lnTo>
                  <a:pt x="3187103" y="76200"/>
                </a:lnTo>
                <a:close/>
              </a:path>
              <a:path w="3265804" h="1549400">
                <a:moveTo>
                  <a:pt x="73088" y="114300"/>
                </a:moveTo>
                <a:lnTo>
                  <a:pt x="45669" y="114300"/>
                </a:lnTo>
                <a:lnTo>
                  <a:pt x="52743" y="101600"/>
                </a:lnTo>
                <a:lnTo>
                  <a:pt x="60655" y="88900"/>
                </a:lnTo>
                <a:lnTo>
                  <a:pt x="69024" y="76200"/>
                </a:lnTo>
                <a:lnTo>
                  <a:pt x="104635" y="76200"/>
                </a:lnTo>
                <a:lnTo>
                  <a:pt x="95808" y="88900"/>
                </a:lnTo>
                <a:lnTo>
                  <a:pt x="96240" y="88900"/>
                </a:lnTo>
                <a:lnTo>
                  <a:pt x="87820" y="101600"/>
                </a:lnTo>
                <a:lnTo>
                  <a:pt x="80632" y="101600"/>
                </a:lnTo>
                <a:lnTo>
                  <a:pt x="73088" y="114300"/>
                </a:lnTo>
                <a:close/>
              </a:path>
              <a:path w="3265804" h="1549400">
                <a:moveTo>
                  <a:pt x="3219716" y="114300"/>
                </a:moveTo>
                <a:lnTo>
                  <a:pt x="3192297" y="114300"/>
                </a:lnTo>
                <a:lnTo>
                  <a:pt x="3184753" y="101600"/>
                </a:lnTo>
                <a:lnTo>
                  <a:pt x="3177565" y="101600"/>
                </a:lnTo>
                <a:lnTo>
                  <a:pt x="3169145" y="88900"/>
                </a:lnTo>
                <a:lnTo>
                  <a:pt x="3169577" y="88900"/>
                </a:lnTo>
                <a:lnTo>
                  <a:pt x="3160750" y="76200"/>
                </a:lnTo>
                <a:lnTo>
                  <a:pt x="3196361" y="76200"/>
                </a:lnTo>
                <a:lnTo>
                  <a:pt x="3204349" y="88900"/>
                </a:lnTo>
                <a:lnTo>
                  <a:pt x="3212642" y="101600"/>
                </a:lnTo>
                <a:lnTo>
                  <a:pt x="3219716" y="114300"/>
                </a:lnTo>
                <a:close/>
              </a:path>
              <a:path w="3265804" h="1549400">
                <a:moveTo>
                  <a:pt x="60096" y="139700"/>
                </a:moveTo>
                <a:lnTo>
                  <a:pt x="31978" y="139700"/>
                </a:lnTo>
                <a:lnTo>
                  <a:pt x="38709" y="127000"/>
                </a:lnTo>
                <a:lnTo>
                  <a:pt x="45326" y="114300"/>
                </a:lnTo>
                <a:lnTo>
                  <a:pt x="73444" y="114300"/>
                </a:lnTo>
                <a:lnTo>
                  <a:pt x="66357" y="127000"/>
                </a:lnTo>
                <a:lnTo>
                  <a:pt x="66700" y="127000"/>
                </a:lnTo>
                <a:lnTo>
                  <a:pt x="60096" y="139700"/>
                </a:lnTo>
                <a:close/>
              </a:path>
              <a:path w="3265804" h="1549400">
                <a:moveTo>
                  <a:pt x="3233407" y="139700"/>
                </a:moveTo>
                <a:lnTo>
                  <a:pt x="3205289" y="139700"/>
                </a:lnTo>
                <a:lnTo>
                  <a:pt x="3198685" y="127000"/>
                </a:lnTo>
                <a:lnTo>
                  <a:pt x="3199028" y="127000"/>
                </a:lnTo>
                <a:lnTo>
                  <a:pt x="3191941" y="114300"/>
                </a:lnTo>
                <a:lnTo>
                  <a:pt x="3220059" y="114300"/>
                </a:lnTo>
                <a:lnTo>
                  <a:pt x="3226676" y="127000"/>
                </a:lnTo>
                <a:lnTo>
                  <a:pt x="3233407" y="139700"/>
                </a:lnTo>
                <a:close/>
              </a:path>
              <a:path w="3265804" h="1549400">
                <a:moveTo>
                  <a:pt x="48971" y="152400"/>
                </a:moveTo>
                <a:lnTo>
                  <a:pt x="21005" y="152400"/>
                </a:lnTo>
                <a:lnTo>
                  <a:pt x="26365" y="139700"/>
                </a:lnTo>
                <a:lnTo>
                  <a:pt x="54584" y="139700"/>
                </a:lnTo>
                <a:lnTo>
                  <a:pt x="48971" y="152400"/>
                </a:lnTo>
                <a:close/>
              </a:path>
              <a:path w="3265804" h="1549400">
                <a:moveTo>
                  <a:pt x="3244380" y="152400"/>
                </a:moveTo>
                <a:lnTo>
                  <a:pt x="3216414" y="152400"/>
                </a:lnTo>
                <a:lnTo>
                  <a:pt x="3210801" y="139700"/>
                </a:lnTo>
                <a:lnTo>
                  <a:pt x="3239020" y="139700"/>
                </a:lnTo>
                <a:lnTo>
                  <a:pt x="3244380" y="152400"/>
                </a:lnTo>
                <a:close/>
              </a:path>
              <a:path w="3265804" h="1549400">
                <a:moveTo>
                  <a:pt x="39852" y="177800"/>
                </a:moveTo>
                <a:lnTo>
                  <a:pt x="13982" y="177800"/>
                </a:lnTo>
                <a:lnTo>
                  <a:pt x="16217" y="165100"/>
                </a:lnTo>
                <a:lnTo>
                  <a:pt x="20764" y="152400"/>
                </a:lnTo>
                <a:lnTo>
                  <a:pt x="49250" y="152400"/>
                </a:lnTo>
                <a:lnTo>
                  <a:pt x="44157" y="165100"/>
                </a:lnTo>
                <a:lnTo>
                  <a:pt x="44399" y="165100"/>
                </a:lnTo>
                <a:lnTo>
                  <a:pt x="39852" y="177800"/>
                </a:lnTo>
                <a:close/>
              </a:path>
              <a:path w="3265804" h="1549400">
                <a:moveTo>
                  <a:pt x="3251403" y="177800"/>
                </a:moveTo>
                <a:lnTo>
                  <a:pt x="3225533" y="177800"/>
                </a:lnTo>
                <a:lnTo>
                  <a:pt x="3220986" y="165100"/>
                </a:lnTo>
                <a:lnTo>
                  <a:pt x="3221228" y="165100"/>
                </a:lnTo>
                <a:lnTo>
                  <a:pt x="3216135" y="152400"/>
                </a:lnTo>
                <a:lnTo>
                  <a:pt x="3244621" y="152400"/>
                </a:lnTo>
                <a:lnTo>
                  <a:pt x="3249333" y="165100"/>
                </a:lnTo>
                <a:lnTo>
                  <a:pt x="3251403" y="177800"/>
                </a:lnTo>
                <a:close/>
              </a:path>
              <a:path w="3265804" h="1549400">
                <a:moveTo>
                  <a:pt x="36207" y="190500"/>
                </a:moveTo>
                <a:lnTo>
                  <a:pt x="9994" y="190500"/>
                </a:lnTo>
                <a:lnTo>
                  <a:pt x="11861" y="177800"/>
                </a:lnTo>
                <a:lnTo>
                  <a:pt x="38049" y="177800"/>
                </a:lnTo>
                <a:lnTo>
                  <a:pt x="36207" y="190500"/>
                </a:lnTo>
                <a:close/>
              </a:path>
              <a:path w="3265804" h="1549400">
                <a:moveTo>
                  <a:pt x="3255302" y="190500"/>
                </a:moveTo>
                <a:lnTo>
                  <a:pt x="3229267" y="190500"/>
                </a:lnTo>
                <a:lnTo>
                  <a:pt x="3227438" y="177800"/>
                </a:lnTo>
                <a:lnTo>
                  <a:pt x="3253524" y="177800"/>
                </a:lnTo>
                <a:lnTo>
                  <a:pt x="3255302" y="190500"/>
                </a:lnTo>
                <a:close/>
              </a:path>
              <a:path w="3265804" h="1549400">
                <a:moveTo>
                  <a:pt x="32956" y="203200"/>
                </a:moveTo>
                <a:lnTo>
                  <a:pt x="6718" y="203200"/>
                </a:lnTo>
                <a:lnTo>
                  <a:pt x="8280" y="190500"/>
                </a:lnTo>
                <a:lnTo>
                  <a:pt x="34518" y="190500"/>
                </a:lnTo>
                <a:lnTo>
                  <a:pt x="32956" y="203200"/>
                </a:lnTo>
                <a:close/>
              </a:path>
              <a:path w="3265804" h="1549400">
                <a:moveTo>
                  <a:pt x="3258604" y="203200"/>
                </a:moveTo>
                <a:lnTo>
                  <a:pt x="3232518" y="203200"/>
                </a:lnTo>
                <a:lnTo>
                  <a:pt x="3230956" y="190500"/>
                </a:lnTo>
                <a:lnTo>
                  <a:pt x="3257029" y="190500"/>
                </a:lnTo>
                <a:lnTo>
                  <a:pt x="3258604" y="203200"/>
                </a:lnTo>
                <a:close/>
              </a:path>
              <a:path w="3265804" h="1549400">
                <a:moveTo>
                  <a:pt x="30251" y="215900"/>
                </a:moveTo>
                <a:lnTo>
                  <a:pt x="4051" y="215900"/>
                </a:lnTo>
                <a:lnTo>
                  <a:pt x="5308" y="203200"/>
                </a:lnTo>
                <a:lnTo>
                  <a:pt x="31534" y="203200"/>
                </a:lnTo>
                <a:lnTo>
                  <a:pt x="30251" y="215900"/>
                </a:lnTo>
                <a:close/>
              </a:path>
              <a:path w="3265804" h="1549400">
                <a:moveTo>
                  <a:pt x="3261271" y="215900"/>
                </a:moveTo>
                <a:lnTo>
                  <a:pt x="3235198" y="215900"/>
                </a:lnTo>
                <a:lnTo>
                  <a:pt x="3233928" y="203200"/>
                </a:lnTo>
                <a:lnTo>
                  <a:pt x="3260013" y="203200"/>
                </a:lnTo>
                <a:lnTo>
                  <a:pt x="3261271" y="215900"/>
                </a:lnTo>
                <a:close/>
              </a:path>
              <a:path w="3265804" h="1549400">
                <a:moveTo>
                  <a:pt x="28117" y="228600"/>
                </a:moveTo>
                <a:lnTo>
                  <a:pt x="2044" y="228600"/>
                </a:lnTo>
                <a:lnTo>
                  <a:pt x="2959" y="215900"/>
                </a:lnTo>
                <a:lnTo>
                  <a:pt x="29108" y="215900"/>
                </a:lnTo>
                <a:lnTo>
                  <a:pt x="28117" y="228600"/>
                </a:lnTo>
                <a:close/>
              </a:path>
              <a:path w="3265804" h="1549400">
                <a:moveTo>
                  <a:pt x="3263303" y="228600"/>
                </a:moveTo>
                <a:lnTo>
                  <a:pt x="3237318" y="228600"/>
                </a:lnTo>
                <a:lnTo>
                  <a:pt x="3236328" y="215900"/>
                </a:lnTo>
                <a:lnTo>
                  <a:pt x="3262376" y="215900"/>
                </a:lnTo>
                <a:lnTo>
                  <a:pt x="3263303" y="228600"/>
                </a:lnTo>
                <a:close/>
              </a:path>
              <a:path w="3265804" h="1549400">
                <a:moveTo>
                  <a:pt x="26581" y="241300"/>
                </a:moveTo>
                <a:lnTo>
                  <a:pt x="685" y="241300"/>
                </a:lnTo>
                <a:lnTo>
                  <a:pt x="1282" y="228600"/>
                </a:lnTo>
                <a:lnTo>
                  <a:pt x="27279" y="228600"/>
                </a:lnTo>
                <a:lnTo>
                  <a:pt x="26581" y="241300"/>
                </a:lnTo>
                <a:close/>
              </a:path>
              <a:path w="3265804" h="1549400">
                <a:moveTo>
                  <a:pt x="3264674" y="241300"/>
                </a:moveTo>
                <a:lnTo>
                  <a:pt x="3238842" y="241300"/>
                </a:lnTo>
                <a:lnTo>
                  <a:pt x="3238157" y="228600"/>
                </a:lnTo>
                <a:lnTo>
                  <a:pt x="3264077" y="228600"/>
                </a:lnTo>
                <a:lnTo>
                  <a:pt x="3264674" y="241300"/>
                </a:lnTo>
                <a:close/>
              </a:path>
              <a:path w="3265804" h="1549400">
                <a:moveTo>
                  <a:pt x="25615" y="1295400"/>
                </a:moveTo>
                <a:lnTo>
                  <a:pt x="266" y="1295400"/>
                </a:lnTo>
                <a:lnTo>
                  <a:pt x="12" y="1282700"/>
                </a:lnTo>
                <a:lnTo>
                  <a:pt x="0" y="254000"/>
                </a:lnTo>
                <a:lnTo>
                  <a:pt x="253" y="241300"/>
                </a:lnTo>
                <a:lnTo>
                  <a:pt x="26034" y="241300"/>
                </a:lnTo>
                <a:lnTo>
                  <a:pt x="25641" y="254000"/>
                </a:lnTo>
                <a:lnTo>
                  <a:pt x="25400" y="254000"/>
                </a:lnTo>
                <a:lnTo>
                  <a:pt x="25387" y="1282700"/>
                </a:lnTo>
                <a:lnTo>
                  <a:pt x="25615" y="1295400"/>
                </a:lnTo>
                <a:close/>
              </a:path>
              <a:path w="3265804" h="1549400">
                <a:moveTo>
                  <a:pt x="3265131" y="1295400"/>
                </a:moveTo>
                <a:lnTo>
                  <a:pt x="3239744" y="1295400"/>
                </a:lnTo>
                <a:lnTo>
                  <a:pt x="3240074" y="1282700"/>
                </a:lnTo>
                <a:lnTo>
                  <a:pt x="3239998" y="254000"/>
                </a:lnTo>
                <a:lnTo>
                  <a:pt x="3239769" y="254000"/>
                </a:lnTo>
                <a:lnTo>
                  <a:pt x="3239376" y="241300"/>
                </a:lnTo>
                <a:lnTo>
                  <a:pt x="3265119" y="241300"/>
                </a:lnTo>
                <a:lnTo>
                  <a:pt x="3265385" y="254000"/>
                </a:lnTo>
                <a:lnTo>
                  <a:pt x="3265385" y="1282700"/>
                </a:lnTo>
                <a:lnTo>
                  <a:pt x="3265131" y="1295400"/>
                </a:lnTo>
                <a:close/>
              </a:path>
              <a:path w="3265804" h="1549400">
                <a:moveTo>
                  <a:pt x="27228" y="1308100"/>
                </a:moveTo>
                <a:lnTo>
                  <a:pt x="1308" y="1308100"/>
                </a:lnTo>
                <a:lnTo>
                  <a:pt x="711" y="1295400"/>
                </a:lnTo>
                <a:lnTo>
                  <a:pt x="26542" y="1295400"/>
                </a:lnTo>
                <a:lnTo>
                  <a:pt x="27228" y="1308100"/>
                </a:lnTo>
                <a:close/>
              </a:path>
              <a:path w="3265804" h="1549400">
                <a:moveTo>
                  <a:pt x="3264115" y="1308100"/>
                </a:moveTo>
                <a:lnTo>
                  <a:pt x="3238106" y="1308100"/>
                </a:lnTo>
                <a:lnTo>
                  <a:pt x="3238804" y="1295400"/>
                </a:lnTo>
                <a:lnTo>
                  <a:pt x="3264700" y="1295400"/>
                </a:lnTo>
                <a:lnTo>
                  <a:pt x="3264115" y="1308100"/>
                </a:lnTo>
                <a:close/>
              </a:path>
              <a:path w="3265804" h="1549400">
                <a:moveTo>
                  <a:pt x="29057" y="1320800"/>
                </a:moveTo>
                <a:lnTo>
                  <a:pt x="3009" y="1320800"/>
                </a:lnTo>
                <a:lnTo>
                  <a:pt x="2082" y="1308100"/>
                </a:lnTo>
                <a:lnTo>
                  <a:pt x="28066" y="1308100"/>
                </a:lnTo>
                <a:lnTo>
                  <a:pt x="29057" y="1320800"/>
                </a:lnTo>
                <a:close/>
              </a:path>
              <a:path w="3265804" h="1549400">
                <a:moveTo>
                  <a:pt x="3262426" y="1320800"/>
                </a:moveTo>
                <a:lnTo>
                  <a:pt x="3236277" y="1320800"/>
                </a:lnTo>
                <a:lnTo>
                  <a:pt x="3237268" y="1308100"/>
                </a:lnTo>
                <a:lnTo>
                  <a:pt x="3263341" y="1308100"/>
                </a:lnTo>
                <a:lnTo>
                  <a:pt x="3262426" y="1320800"/>
                </a:lnTo>
                <a:close/>
              </a:path>
              <a:path w="3265804" h="1549400">
                <a:moveTo>
                  <a:pt x="31457" y="1333500"/>
                </a:moveTo>
                <a:lnTo>
                  <a:pt x="5372" y="1333500"/>
                </a:lnTo>
                <a:lnTo>
                  <a:pt x="4114" y="1320800"/>
                </a:lnTo>
                <a:lnTo>
                  <a:pt x="30187" y="1320800"/>
                </a:lnTo>
                <a:lnTo>
                  <a:pt x="31457" y="1333500"/>
                </a:lnTo>
                <a:close/>
              </a:path>
              <a:path w="3265804" h="1549400">
                <a:moveTo>
                  <a:pt x="3260077" y="1333500"/>
                </a:moveTo>
                <a:lnTo>
                  <a:pt x="3233851" y="1333500"/>
                </a:lnTo>
                <a:lnTo>
                  <a:pt x="3235134" y="1320800"/>
                </a:lnTo>
                <a:lnTo>
                  <a:pt x="3261334" y="1320800"/>
                </a:lnTo>
                <a:lnTo>
                  <a:pt x="3260077" y="1333500"/>
                </a:lnTo>
                <a:close/>
              </a:path>
              <a:path w="3265804" h="1549400">
                <a:moveTo>
                  <a:pt x="34429" y="1346200"/>
                </a:moveTo>
                <a:lnTo>
                  <a:pt x="8356" y="1346200"/>
                </a:lnTo>
                <a:lnTo>
                  <a:pt x="6781" y="1333500"/>
                </a:lnTo>
                <a:lnTo>
                  <a:pt x="32880" y="1333500"/>
                </a:lnTo>
                <a:lnTo>
                  <a:pt x="34429" y="1346200"/>
                </a:lnTo>
                <a:close/>
              </a:path>
              <a:path w="3265804" h="1549400">
                <a:moveTo>
                  <a:pt x="3257105" y="1346200"/>
                </a:moveTo>
                <a:lnTo>
                  <a:pt x="3230867" y="1346200"/>
                </a:lnTo>
                <a:lnTo>
                  <a:pt x="3232429" y="1333500"/>
                </a:lnTo>
                <a:lnTo>
                  <a:pt x="3258680" y="1333500"/>
                </a:lnTo>
                <a:lnTo>
                  <a:pt x="3257105" y="1346200"/>
                </a:lnTo>
                <a:close/>
              </a:path>
              <a:path w="3265804" h="1549400">
                <a:moveTo>
                  <a:pt x="37947" y="1358900"/>
                </a:moveTo>
                <a:lnTo>
                  <a:pt x="11963" y="1358900"/>
                </a:lnTo>
                <a:lnTo>
                  <a:pt x="10083" y="1346200"/>
                </a:lnTo>
                <a:lnTo>
                  <a:pt x="36118" y="1346200"/>
                </a:lnTo>
                <a:lnTo>
                  <a:pt x="37947" y="1358900"/>
                </a:lnTo>
                <a:close/>
              </a:path>
              <a:path w="3265804" h="1549400">
                <a:moveTo>
                  <a:pt x="3253524" y="1358900"/>
                </a:moveTo>
                <a:lnTo>
                  <a:pt x="3227336" y="1358900"/>
                </a:lnTo>
                <a:lnTo>
                  <a:pt x="3229178" y="1346200"/>
                </a:lnTo>
                <a:lnTo>
                  <a:pt x="3255390" y="1346200"/>
                </a:lnTo>
                <a:lnTo>
                  <a:pt x="3253524" y="1358900"/>
                </a:lnTo>
                <a:close/>
              </a:path>
              <a:path w="3265804" h="1549400">
                <a:moveTo>
                  <a:pt x="49250" y="1384300"/>
                </a:moveTo>
                <a:lnTo>
                  <a:pt x="20764" y="1384300"/>
                </a:lnTo>
                <a:lnTo>
                  <a:pt x="16052" y="1371600"/>
                </a:lnTo>
                <a:lnTo>
                  <a:pt x="13982" y="1358900"/>
                </a:lnTo>
                <a:lnTo>
                  <a:pt x="39852" y="1358900"/>
                </a:lnTo>
                <a:lnTo>
                  <a:pt x="44399" y="1371600"/>
                </a:lnTo>
                <a:lnTo>
                  <a:pt x="44157" y="1371600"/>
                </a:lnTo>
                <a:lnTo>
                  <a:pt x="49250" y="1384300"/>
                </a:lnTo>
                <a:close/>
              </a:path>
              <a:path w="3265804" h="1549400">
                <a:moveTo>
                  <a:pt x="3244621" y="1384300"/>
                </a:moveTo>
                <a:lnTo>
                  <a:pt x="3216135" y="1384300"/>
                </a:lnTo>
                <a:lnTo>
                  <a:pt x="3221228" y="1371600"/>
                </a:lnTo>
                <a:lnTo>
                  <a:pt x="3220986" y="1371600"/>
                </a:lnTo>
                <a:lnTo>
                  <a:pt x="3225533" y="1358900"/>
                </a:lnTo>
                <a:lnTo>
                  <a:pt x="3251504" y="1358900"/>
                </a:lnTo>
                <a:lnTo>
                  <a:pt x="3249167" y="1371600"/>
                </a:lnTo>
                <a:lnTo>
                  <a:pt x="3244621" y="1384300"/>
                </a:lnTo>
                <a:close/>
              </a:path>
              <a:path w="3265804" h="1549400">
                <a:moveTo>
                  <a:pt x="66700" y="1409700"/>
                </a:moveTo>
                <a:lnTo>
                  <a:pt x="32270" y="1409700"/>
                </a:lnTo>
                <a:lnTo>
                  <a:pt x="26365" y="1397000"/>
                </a:lnTo>
                <a:lnTo>
                  <a:pt x="21005" y="1384300"/>
                </a:lnTo>
                <a:lnTo>
                  <a:pt x="48971" y="1384300"/>
                </a:lnTo>
                <a:lnTo>
                  <a:pt x="54584" y="1397000"/>
                </a:lnTo>
                <a:lnTo>
                  <a:pt x="60096" y="1397000"/>
                </a:lnTo>
                <a:lnTo>
                  <a:pt x="66700" y="1409700"/>
                </a:lnTo>
                <a:close/>
              </a:path>
              <a:path w="3265804" h="1549400">
                <a:moveTo>
                  <a:pt x="3233115" y="1409700"/>
                </a:moveTo>
                <a:lnTo>
                  <a:pt x="3198685" y="1409700"/>
                </a:lnTo>
                <a:lnTo>
                  <a:pt x="3205289" y="1397000"/>
                </a:lnTo>
                <a:lnTo>
                  <a:pt x="3210801" y="1397000"/>
                </a:lnTo>
                <a:lnTo>
                  <a:pt x="3216414" y="1384300"/>
                </a:lnTo>
                <a:lnTo>
                  <a:pt x="3244380" y="1384300"/>
                </a:lnTo>
                <a:lnTo>
                  <a:pt x="3239020" y="1397000"/>
                </a:lnTo>
                <a:lnTo>
                  <a:pt x="3233115" y="1409700"/>
                </a:lnTo>
                <a:close/>
              </a:path>
              <a:path w="3265804" h="1549400">
                <a:moveTo>
                  <a:pt x="73444" y="1422400"/>
                </a:moveTo>
                <a:lnTo>
                  <a:pt x="45326" y="1422400"/>
                </a:lnTo>
                <a:lnTo>
                  <a:pt x="38709" y="1409700"/>
                </a:lnTo>
                <a:lnTo>
                  <a:pt x="66357" y="1409700"/>
                </a:lnTo>
                <a:lnTo>
                  <a:pt x="73444" y="1422400"/>
                </a:lnTo>
                <a:close/>
              </a:path>
              <a:path w="3265804" h="1549400">
                <a:moveTo>
                  <a:pt x="3220059" y="1422400"/>
                </a:moveTo>
                <a:lnTo>
                  <a:pt x="3191941" y="1422400"/>
                </a:lnTo>
                <a:lnTo>
                  <a:pt x="3199028" y="1409700"/>
                </a:lnTo>
                <a:lnTo>
                  <a:pt x="3226676" y="1409700"/>
                </a:lnTo>
                <a:lnTo>
                  <a:pt x="3220059" y="1422400"/>
                </a:lnTo>
                <a:close/>
              </a:path>
              <a:path w="3265804" h="1549400">
                <a:moveTo>
                  <a:pt x="80632" y="1435100"/>
                </a:moveTo>
                <a:lnTo>
                  <a:pt x="52743" y="1435100"/>
                </a:lnTo>
                <a:lnTo>
                  <a:pt x="45669" y="1422400"/>
                </a:lnTo>
                <a:lnTo>
                  <a:pt x="73088" y="1422400"/>
                </a:lnTo>
                <a:lnTo>
                  <a:pt x="80632" y="1435100"/>
                </a:lnTo>
                <a:close/>
              </a:path>
              <a:path w="3265804" h="1549400">
                <a:moveTo>
                  <a:pt x="3212642" y="1435100"/>
                </a:moveTo>
                <a:lnTo>
                  <a:pt x="3184753" y="1435100"/>
                </a:lnTo>
                <a:lnTo>
                  <a:pt x="3192297" y="1422400"/>
                </a:lnTo>
                <a:lnTo>
                  <a:pt x="3219716" y="1422400"/>
                </a:lnTo>
                <a:lnTo>
                  <a:pt x="3212642" y="1435100"/>
                </a:lnTo>
                <a:close/>
              </a:path>
              <a:path w="3265804" h="1549400">
                <a:moveTo>
                  <a:pt x="104635" y="1460500"/>
                </a:moveTo>
                <a:lnTo>
                  <a:pt x="69024" y="1460500"/>
                </a:lnTo>
                <a:lnTo>
                  <a:pt x="60655" y="1447800"/>
                </a:lnTo>
                <a:lnTo>
                  <a:pt x="53111" y="1435100"/>
                </a:lnTo>
                <a:lnTo>
                  <a:pt x="87820" y="1435100"/>
                </a:lnTo>
                <a:lnTo>
                  <a:pt x="96240" y="1447800"/>
                </a:lnTo>
                <a:lnTo>
                  <a:pt x="95808" y="1447800"/>
                </a:lnTo>
                <a:lnTo>
                  <a:pt x="104635" y="1460500"/>
                </a:lnTo>
                <a:close/>
              </a:path>
              <a:path w="3265804" h="1549400">
                <a:moveTo>
                  <a:pt x="3196361" y="1460500"/>
                </a:moveTo>
                <a:lnTo>
                  <a:pt x="3160750" y="1460500"/>
                </a:lnTo>
                <a:lnTo>
                  <a:pt x="3169577" y="1447800"/>
                </a:lnTo>
                <a:lnTo>
                  <a:pt x="3169145" y="1447800"/>
                </a:lnTo>
                <a:lnTo>
                  <a:pt x="3177565" y="1435100"/>
                </a:lnTo>
                <a:lnTo>
                  <a:pt x="3212274" y="1435100"/>
                </a:lnTo>
                <a:lnTo>
                  <a:pt x="3204349" y="1447800"/>
                </a:lnTo>
                <a:lnTo>
                  <a:pt x="3196361" y="1460500"/>
                </a:lnTo>
                <a:close/>
              </a:path>
              <a:path w="3265804" h="1549400">
                <a:moveTo>
                  <a:pt x="141820" y="1485900"/>
                </a:moveTo>
                <a:lnTo>
                  <a:pt x="96774" y="1485900"/>
                </a:lnTo>
                <a:lnTo>
                  <a:pt x="87553" y="1473200"/>
                </a:lnTo>
                <a:lnTo>
                  <a:pt x="77850" y="1460500"/>
                </a:lnTo>
                <a:lnTo>
                  <a:pt x="112941" y="1460500"/>
                </a:lnTo>
                <a:lnTo>
                  <a:pt x="122542" y="1473200"/>
                </a:lnTo>
                <a:lnTo>
                  <a:pt x="131508" y="1473200"/>
                </a:lnTo>
                <a:lnTo>
                  <a:pt x="141820" y="1485900"/>
                </a:lnTo>
                <a:close/>
              </a:path>
              <a:path w="3265804" h="1549400">
                <a:moveTo>
                  <a:pt x="3168611" y="1485900"/>
                </a:moveTo>
                <a:lnTo>
                  <a:pt x="3123564" y="1485900"/>
                </a:lnTo>
                <a:lnTo>
                  <a:pt x="3133877" y="1473200"/>
                </a:lnTo>
                <a:lnTo>
                  <a:pt x="3142856" y="1473200"/>
                </a:lnTo>
                <a:lnTo>
                  <a:pt x="3152444" y="1460500"/>
                </a:lnTo>
                <a:lnTo>
                  <a:pt x="3187534" y="1460500"/>
                </a:lnTo>
                <a:lnTo>
                  <a:pt x="3177832" y="1473200"/>
                </a:lnTo>
                <a:lnTo>
                  <a:pt x="3168611" y="1485900"/>
                </a:lnTo>
                <a:close/>
              </a:path>
              <a:path w="3265804" h="1549400">
                <a:moveTo>
                  <a:pt x="162356" y="1498600"/>
                </a:moveTo>
                <a:lnTo>
                  <a:pt x="117792" y="1498600"/>
                </a:lnTo>
                <a:lnTo>
                  <a:pt x="107327" y="1485900"/>
                </a:lnTo>
                <a:lnTo>
                  <a:pt x="151396" y="1485900"/>
                </a:lnTo>
                <a:lnTo>
                  <a:pt x="162356" y="1498600"/>
                </a:lnTo>
                <a:close/>
              </a:path>
              <a:path w="3265804" h="1549400">
                <a:moveTo>
                  <a:pt x="3147593" y="1498600"/>
                </a:moveTo>
                <a:lnTo>
                  <a:pt x="3103041" y="1498600"/>
                </a:lnTo>
                <a:lnTo>
                  <a:pt x="3113989" y="1485900"/>
                </a:lnTo>
                <a:lnTo>
                  <a:pt x="3158058" y="1485900"/>
                </a:lnTo>
                <a:lnTo>
                  <a:pt x="3147593" y="1498600"/>
                </a:lnTo>
                <a:close/>
              </a:path>
              <a:path w="3265804" h="1549400">
                <a:moveTo>
                  <a:pt x="189445" y="1511300"/>
                </a:moveTo>
                <a:lnTo>
                  <a:pt x="139268" y="1511300"/>
                </a:lnTo>
                <a:lnTo>
                  <a:pt x="128104" y="1498600"/>
                </a:lnTo>
                <a:lnTo>
                  <a:pt x="183578" y="1498600"/>
                </a:lnTo>
                <a:lnTo>
                  <a:pt x="189445" y="1511300"/>
                </a:lnTo>
                <a:close/>
              </a:path>
              <a:path w="3265804" h="1549400">
                <a:moveTo>
                  <a:pt x="3136760" y="1511300"/>
                </a:moveTo>
                <a:lnTo>
                  <a:pt x="3075939" y="1511300"/>
                </a:lnTo>
                <a:lnTo>
                  <a:pt x="3081807" y="1498600"/>
                </a:lnTo>
                <a:lnTo>
                  <a:pt x="3137280" y="1498600"/>
                </a:lnTo>
                <a:lnTo>
                  <a:pt x="3136760" y="1511300"/>
                </a:lnTo>
                <a:close/>
              </a:path>
              <a:path w="3265804" h="1549400">
                <a:moveTo>
                  <a:pt x="254457" y="1524000"/>
                </a:moveTo>
                <a:lnTo>
                  <a:pt x="162585" y="1524000"/>
                </a:lnTo>
                <a:lnTo>
                  <a:pt x="150774" y="1511300"/>
                </a:lnTo>
                <a:lnTo>
                  <a:pt x="247980" y="1511300"/>
                </a:lnTo>
                <a:lnTo>
                  <a:pt x="254457" y="1524000"/>
                </a:lnTo>
                <a:close/>
              </a:path>
              <a:path w="3265804" h="1549400">
                <a:moveTo>
                  <a:pt x="3102800" y="1524000"/>
                </a:moveTo>
                <a:lnTo>
                  <a:pt x="3010928" y="1524000"/>
                </a:lnTo>
                <a:lnTo>
                  <a:pt x="3017405" y="1511300"/>
                </a:lnTo>
                <a:lnTo>
                  <a:pt x="3114611" y="1511300"/>
                </a:lnTo>
                <a:lnTo>
                  <a:pt x="3102800" y="1524000"/>
                </a:lnTo>
                <a:close/>
              </a:path>
              <a:path w="3265804" h="1549400">
                <a:moveTo>
                  <a:pt x="3078137" y="1536700"/>
                </a:moveTo>
                <a:lnTo>
                  <a:pt x="187540" y="1536700"/>
                </a:lnTo>
                <a:lnTo>
                  <a:pt x="181305" y="1524000"/>
                </a:lnTo>
                <a:lnTo>
                  <a:pt x="3084372" y="1524000"/>
                </a:lnTo>
                <a:lnTo>
                  <a:pt x="3078137" y="1536700"/>
                </a:lnTo>
                <a:close/>
              </a:path>
              <a:path w="3265804" h="1549400">
                <a:moveTo>
                  <a:pt x="3012528" y="1549400"/>
                </a:moveTo>
                <a:lnTo>
                  <a:pt x="253174" y="1549400"/>
                </a:lnTo>
                <a:lnTo>
                  <a:pt x="246379" y="1536700"/>
                </a:lnTo>
                <a:lnTo>
                  <a:pt x="3019336" y="1536700"/>
                </a:lnTo>
                <a:lnTo>
                  <a:pt x="3012528" y="15494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47077" y="257492"/>
            <a:ext cx="55626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线性回归</a:t>
            </a:r>
            <a:r>
              <a:rPr spc="-20" dirty="0">
                <a:latin typeface="Arial" panose="020B0604020202020204"/>
                <a:cs typeface="Arial" panose="020B0604020202020204"/>
              </a:rPr>
              <a:t>-</a:t>
            </a:r>
            <a:r>
              <a:rPr dirty="0"/>
              <a:t>最小二乘法</a:t>
            </a:r>
            <a:r>
              <a:rPr spc="-10" dirty="0">
                <a:latin typeface="Arial" panose="020B0604020202020204"/>
                <a:cs typeface="Arial" panose="020B0604020202020204"/>
              </a:rPr>
              <a:t>(LSM)</a:t>
            </a:r>
            <a:endParaRPr spc="-1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7781" y="2215553"/>
            <a:ext cx="48755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400" dirty="0">
                <a:latin typeface="宋体" panose="02010600030101010101" pitchFamily="2" charset="-122"/>
                <a:cs typeface="宋体" panose="02010600030101010101" pitchFamily="2" charset="-122"/>
              </a:rPr>
              <a:t>残差平方和</a:t>
            </a:r>
            <a:r>
              <a:rPr sz="2400" spc="-5" dirty="0">
                <a:latin typeface="Times New Roman" panose="02020603050405020304"/>
                <a:cs typeface="Times New Roman" panose="02020603050405020304"/>
              </a:rPr>
              <a:t>) </a:t>
            </a:r>
            <a:r>
              <a:rPr sz="2400" spc="-5" dirty="0">
                <a:latin typeface="宋体" panose="02010600030101010101" pitchFamily="2" charset="-122"/>
                <a:cs typeface="宋体" panose="02010600030101010101" pitchFamily="2" charset="-122"/>
              </a:rPr>
              <a:t>最小，即最小化：</a:t>
            </a:r>
            <a:r>
              <a:rPr sz="2625" u="heavy" spc="-15" baseline="44000" dirty="0">
                <a:uFill>
                  <a:solidFill>
                    <a:srgbClr val="000000"/>
                  </a:solidFill>
                </a:uFill>
                <a:latin typeface="Cambria Math" panose="02040503050406030204"/>
                <a:cs typeface="Cambria Math" panose="02040503050406030204"/>
              </a:rPr>
              <a:t>𝜕𝐽</a:t>
            </a:r>
            <a:r>
              <a:rPr sz="2625" u="heavy" spc="-15" baseline="48000" dirty="0">
                <a:uFill>
                  <a:solidFill>
                    <a:srgbClr val="000000"/>
                  </a:solidFill>
                </a:uFill>
                <a:latin typeface="Cambria Math" panose="02040503050406030204"/>
                <a:cs typeface="Cambria Math" panose="02040503050406030204"/>
              </a:rPr>
              <a:t>(</a:t>
            </a:r>
            <a:r>
              <a:rPr sz="2625" u="heavy" spc="-15" baseline="44000" dirty="0">
                <a:uFill>
                  <a:solidFill>
                    <a:srgbClr val="000000"/>
                  </a:solidFill>
                </a:uFill>
                <a:latin typeface="Cambria Math" panose="02040503050406030204"/>
                <a:cs typeface="Cambria Math" panose="02040503050406030204"/>
              </a:rPr>
              <a:t>𝑤</a:t>
            </a:r>
            <a:r>
              <a:rPr sz="2625" u="heavy" spc="-15" baseline="48000" dirty="0">
                <a:uFill>
                  <a:solidFill>
                    <a:srgbClr val="000000"/>
                  </a:solidFill>
                </a:uFill>
                <a:latin typeface="Cambria Math" panose="02040503050406030204"/>
                <a:cs typeface="Cambria Math" panose="02040503050406030204"/>
              </a:rPr>
              <a:t>)</a:t>
            </a:r>
            <a:endParaRPr sz="2625" baseline="48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89601" y="2451773"/>
            <a:ext cx="313690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25" dirty="0">
                <a:latin typeface="Cambria Math" panose="02040503050406030204"/>
                <a:cs typeface="Cambria Math" panose="02040503050406030204"/>
              </a:rPr>
              <a:t>𝜕𝑤</a:t>
            </a:r>
            <a:endParaRPr sz="17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186561" y="2942882"/>
            <a:ext cx="123189" cy="20320"/>
          </a:xfrm>
          <a:custGeom>
            <a:avLst/>
            <a:gdLst/>
            <a:ahLst/>
            <a:cxnLst/>
            <a:rect l="l" t="t" r="r" b="b"/>
            <a:pathLst>
              <a:path w="123190" h="20319">
                <a:moveTo>
                  <a:pt x="123190" y="20002"/>
                </a:moveTo>
                <a:lnTo>
                  <a:pt x="0" y="20002"/>
                </a:lnTo>
                <a:lnTo>
                  <a:pt x="0" y="0"/>
                </a:lnTo>
                <a:lnTo>
                  <a:pt x="123190" y="0"/>
                </a:lnTo>
                <a:lnTo>
                  <a:pt x="123190" y="200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69556" y="2722435"/>
            <a:ext cx="10845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宋体" panose="02010600030101010101" pitchFamily="2" charset="-122"/>
                <a:cs typeface="宋体" panose="02010600030101010101" pitchFamily="2" charset="-122"/>
              </a:rPr>
              <a:t>将向量表达形式转为矩阵表达形式，则有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𝐽(𝑤</a:t>
            </a:r>
            <a:r>
              <a:rPr sz="2400" spc="75" dirty="0">
                <a:latin typeface="Cambria Math" panose="02040503050406030204"/>
                <a:cs typeface="Cambria Math" panose="02040503050406030204"/>
              </a:rPr>
              <a:t>) = </a:t>
            </a:r>
            <a:r>
              <a:rPr sz="2625" baseline="44000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2625" spc="37" baseline="44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3600" baseline="200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X𝑤</a:t>
            </a:r>
            <a:r>
              <a:rPr sz="2400" spc="10" dirty="0">
                <a:latin typeface="Cambria Math" panose="02040503050406030204"/>
                <a:cs typeface="Cambria Math" panose="02040503050406030204"/>
              </a:rPr>
              <a:t> −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𝑌</a:t>
            </a:r>
            <a:r>
              <a:rPr sz="3600" baseline="2000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2625" baseline="2700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2625" spc="382" baseline="27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宋体" panose="02010600030101010101" pitchFamily="2" charset="-122"/>
                <a:cs typeface="宋体" panose="02010600030101010101" pitchFamily="2" charset="-122"/>
              </a:rPr>
              <a:t>，其中</a:t>
            </a:r>
            <a:r>
              <a:rPr sz="2400" spc="165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2400" dirty="0">
                <a:latin typeface="宋体" panose="02010600030101010101" pitchFamily="2" charset="-122"/>
                <a:cs typeface="宋体" panose="02010600030101010101" pitchFamily="2" charset="-122"/>
              </a:rPr>
              <a:t>为</a:t>
            </a:r>
            <a:r>
              <a:rPr sz="2400" spc="-35" dirty="0">
                <a:latin typeface="Cambria Math" panose="02040503050406030204"/>
                <a:cs typeface="Cambria Math" panose="02040503050406030204"/>
              </a:rPr>
              <a:t>𝑚</a:t>
            </a:r>
            <a:r>
              <a:rPr sz="2400" dirty="0">
                <a:latin typeface="宋体" panose="02010600030101010101" pitchFamily="2" charset="-122"/>
                <a:cs typeface="宋体" panose="02010600030101010101" pitchFamily="2" charset="-122"/>
              </a:rPr>
              <a:t>行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𝑛</a:t>
            </a:r>
            <a:r>
              <a:rPr sz="2400" spc="10" dirty="0">
                <a:latin typeface="Cambria Math" panose="02040503050406030204"/>
                <a:cs typeface="Cambria Math" panose="02040503050406030204"/>
              </a:rPr>
              <a:t> + </a:t>
            </a:r>
            <a:r>
              <a:rPr sz="2400" spc="-50" dirty="0">
                <a:latin typeface="Cambria Math" panose="02040503050406030204"/>
                <a:cs typeface="Cambria Math" panose="02040503050406030204"/>
              </a:rPr>
              <a:t>1</a:t>
            </a:r>
            <a:endParaRPr sz="24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9556" y="2958655"/>
            <a:ext cx="10926445" cy="603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30755" algn="ctr">
              <a:lnSpc>
                <a:spcPts val="1885"/>
              </a:lnSpc>
              <a:spcBef>
                <a:spcPts val="100"/>
              </a:spcBef>
            </a:pPr>
            <a:r>
              <a:rPr sz="1750" spc="-50" dirty="0">
                <a:latin typeface="Cambria Math" panose="02040503050406030204"/>
                <a:cs typeface="Cambria Math" panose="02040503050406030204"/>
              </a:rPr>
              <a:t>2</a:t>
            </a:r>
            <a:endParaRPr sz="1750">
              <a:latin typeface="Cambria Math" panose="02040503050406030204"/>
              <a:cs typeface="Cambria Math" panose="02040503050406030204"/>
            </a:endParaRPr>
          </a:p>
          <a:p>
            <a:pPr marL="38100">
              <a:lnSpc>
                <a:spcPts val="2665"/>
              </a:lnSpc>
            </a:pPr>
            <a:r>
              <a:rPr sz="2400" dirty="0">
                <a:latin typeface="宋体" panose="02010600030101010101" pitchFamily="2" charset="-122"/>
                <a:cs typeface="宋体" panose="02010600030101010101" pitchFamily="2" charset="-122"/>
              </a:rPr>
              <a:t>列的矩阵</a:t>
            </a:r>
            <a:r>
              <a:rPr sz="2400" spc="-20" dirty="0">
                <a:latin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sz="2400" spc="-20" dirty="0">
                <a:latin typeface="Cambria Math" panose="02040503050406030204"/>
                <a:cs typeface="Cambria Math" panose="02040503050406030204"/>
              </a:rPr>
              <a:t>𝑚</a:t>
            </a:r>
            <a:r>
              <a:rPr sz="2400" spc="-5" dirty="0">
                <a:latin typeface="宋体" panose="02010600030101010101" pitchFamily="2" charset="-122"/>
                <a:cs typeface="宋体" panose="02010600030101010101" pitchFamily="2" charset="-122"/>
              </a:rPr>
              <a:t>为样本个数，</a:t>
            </a:r>
            <a:r>
              <a:rPr sz="2400" spc="-10" dirty="0">
                <a:latin typeface="Cambria Math" panose="02040503050406030204"/>
                <a:cs typeface="Cambria Math" panose="02040503050406030204"/>
              </a:rPr>
              <a:t>𝑛</a:t>
            </a:r>
            <a:r>
              <a:rPr sz="2400" dirty="0">
                <a:latin typeface="宋体" panose="02010600030101010101" pitchFamily="2" charset="-122"/>
                <a:cs typeface="宋体" panose="02010600030101010101" pitchFamily="2" charset="-122"/>
              </a:rPr>
              <a:t>为特征个数</a:t>
            </a:r>
            <a:r>
              <a:rPr sz="2400" spc="-10" dirty="0">
                <a:latin typeface="宋体" panose="02010600030101010101" pitchFamily="2" charset="-122"/>
                <a:cs typeface="宋体" panose="02010600030101010101" pitchFamily="2" charset="-122"/>
              </a:rPr>
              <a:t>），</a:t>
            </a:r>
            <a:r>
              <a:rPr sz="2400" spc="-10" dirty="0">
                <a:latin typeface="Cambria Math" panose="02040503050406030204"/>
                <a:cs typeface="Cambria Math" panose="02040503050406030204"/>
              </a:rPr>
              <a:t>𝑤</a:t>
            </a:r>
            <a:r>
              <a:rPr sz="2400" dirty="0">
                <a:latin typeface="宋体" panose="02010600030101010101" pitchFamily="2" charset="-122"/>
                <a:cs typeface="宋体" panose="02010600030101010101" pitchFamily="2" charset="-122"/>
              </a:rPr>
              <a:t>为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𝑛</a:t>
            </a:r>
            <a:r>
              <a:rPr sz="2400" spc="15" dirty="0">
                <a:latin typeface="Cambria Math" panose="02040503050406030204"/>
                <a:cs typeface="Cambria Math" panose="02040503050406030204"/>
              </a:rPr>
              <a:t> +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2400" dirty="0">
                <a:latin typeface="宋体" panose="02010600030101010101" pitchFamily="2" charset="-122"/>
                <a:cs typeface="宋体" panose="02010600030101010101" pitchFamily="2" charset="-122"/>
              </a:rPr>
              <a:t>行</a:t>
            </a:r>
            <a:r>
              <a:rPr sz="2400" dirty="0">
                <a:latin typeface="Cambria" panose="02040503050406030204"/>
                <a:cs typeface="Cambria" panose="02040503050406030204"/>
              </a:rPr>
              <a:t>1</a:t>
            </a:r>
            <a:r>
              <a:rPr sz="2400" dirty="0">
                <a:latin typeface="宋体" panose="02010600030101010101" pitchFamily="2" charset="-122"/>
                <a:cs typeface="宋体" panose="02010600030101010101" pitchFamily="2" charset="-122"/>
              </a:rPr>
              <a:t>列的矩阵</a:t>
            </a:r>
            <a:r>
              <a:rPr sz="2400" spc="-10" dirty="0">
                <a:latin typeface="Cambria" panose="02040503050406030204"/>
                <a:cs typeface="Cambria" panose="02040503050406030204"/>
              </a:rPr>
              <a:t>(</a:t>
            </a:r>
            <a:r>
              <a:rPr sz="2400" dirty="0">
                <a:latin typeface="宋体" panose="02010600030101010101" pitchFamily="2" charset="-122"/>
                <a:cs typeface="宋体" panose="02010600030101010101" pitchFamily="2" charset="-122"/>
              </a:rPr>
              <a:t>包含了</a:t>
            </a:r>
            <a:r>
              <a:rPr sz="2400" spc="-10" dirty="0">
                <a:latin typeface="Cambria Math" panose="02040503050406030204"/>
                <a:cs typeface="Cambria Math" panose="02040503050406030204"/>
              </a:rPr>
              <a:t>𝑤</a:t>
            </a:r>
            <a:r>
              <a:rPr sz="2625" spc="-15" baseline="-16000" dirty="0">
                <a:latin typeface="Cambria Math" panose="02040503050406030204"/>
                <a:cs typeface="Cambria Math" panose="02040503050406030204"/>
              </a:rPr>
              <a:t>0</a:t>
            </a:r>
            <a:r>
              <a:rPr sz="2400" spc="-10" dirty="0">
                <a:latin typeface="Cambria" panose="02040503050406030204"/>
                <a:cs typeface="Cambria" panose="02040503050406030204"/>
              </a:rPr>
              <a:t>)</a:t>
            </a:r>
            <a:r>
              <a:rPr sz="2400" spc="-10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2400" spc="-10" dirty="0">
                <a:latin typeface="Cambria Math" panose="02040503050406030204"/>
                <a:cs typeface="Cambria Math" panose="02040503050406030204"/>
              </a:rPr>
              <a:t>𝑌</a:t>
            </a:r>
            <a:endParaRPr sz="24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562741" y="3829977"/>
            <a:ext cx="123189" cy="20320"/>
          </a:xfrm>
          <a:custGeom>
            <a:avLst/>
            <a:gdLst/>
            <a:ahLst/>
            <a:cxnLst/>
            <a:rect l="l" t="t" r="r" b="b"/>
            <a:pathLst>
              <a:path w="123189" h="20320">
                <a:moveTo>
                  <a:pt x="123189" y="20002"/>
                </a:moveTo>
                <a:lnTo>
                  <a:pt x="0" y="20002"/>
                </a:lnTo>
                <a:lnTo>
                  <a:pt x="0" y="0"/>
                </a:lnTo>
                <a:lnTo>
                  <a:pt x="123189" y="0"/>
                </a:lnTo>
                <a:lnTo>
                  <a:pt x="123189" y="200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279146" y="3829977"/>
            <a:ext cx="123189" cy="20320"/>
          </a:xfrm>
          <a:custGeom>
            <a:avLst/>
            <a:gdLst/>
            <a:ahLst/>
            <a:cxnLst/>
            <a:rect l="l" t="t" r="r" b="b"/>
            <a:pathLst>
              <a:path w="123189" h="20320">
                <a:moveTo>
                  <a:pt x="123189" y="20002"/>
                </a:moveTo>
                <a:lnTo>
                  <a:pt x="0" y="20002"/>
                </a:lnTo>
                <a:lnTo>
                  <a:pt x="0" y="0"/>
                </a:lnTo>
                <a:lnTo>
                  <a:pt x="123189" y="0"/>
                </a:lnTo>
                <a:lnTo>
                  <a:pt x="123189" y="200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656856" y="3609530"/>
            <a:ext cx="8450580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ts val="2370"/>
              </a:lnSpc>
              <a:spcBef>
                <a:spcPts val="100"/>
              </a:spcBef>
            </a:pPr>
            <a:r>
              <a:rPr sz="2400" dirty="0">
                <a:latin typeface="宋体" panose="02010600030101010101" pitchFamily="2" charset="-122"/>
                <a:cs typeface="宋体" panose="02010600030101010101" pitchFamily="2" charset="-122"/>
              </a:rPr>
              <a:t>为</a:t>
            </a:r>
            <a:r>
              <a:rPr sz="2400" spc="-35" dirty="0">
                <a:latin typeface="Cambria Math" panose="02040503050406030204"/>
                <a:cs typeface="Cambria Math" panose="02040503050406030204"/>
              </a:rPr>
              <a:t>𝑚</a:t>
            </a:r>
            <a:r>
              <a:rPr sz="2400" dirty="0">
                <a:latin typeface="宋体" panose="02010600030101010101" pitchFamily="2" charset="-122"/>
                <a:cs typeface="宋体" panose="02010600030101010101" pitchFamily="2" charset="-122"/>
              </a:rPr>
              <a:t>行</a:t>
            </a:r>
            <a:r>
              <a:rPr sz="2400" dirty="0">
                <a:latin typeface="Cambria" panose="02040503050406030204"/>
                <a:cs typeface="Cambria" panose="02040503050406030204"/>
              </a:rPr>
              <a:t>1</a:t>
            </a:r>
            <a:r>
              <a:rPr sz="2400" dirty="0">
                <a:latin typeface="宋体" panose="02010600030101010101" pitchFamily="2" charset="-122"/>
                <a:cs typeface="宋体" panose="02010600030101010101" pitchFamily="2" charset="-122"/>
              </a:rPr>
              <a:t>列的矩阵，则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𝐽(𝑤</a:t>
            </a:r>
            <a:r>
              <a:rPr sz="2400" spc="105" dirty="0">
                <a:latin typeface="Cambria Math" panose="02040503050406030204"/>
                <a:cs typeface="Cambria Math" panose="02040503050406030204"/>
              </a:rPr>
              <a:t>) = </a:t>
            </a:r>
            <a:r>
              <a:rPr sz="2625" baseline="44000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2625" spc="89" baseline="44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3600" baseline="200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X𝑤</a:t>
            </a:r>
            <a:r>
              <a:rPr sz="2400" spc="40" dirty="0">
                <a:latin typeface="Cambria Math" panose="02040503050406030204"/>
                <a:cs typeface="Cambria Math" panose="02040503050406030204"/>
              </a:rPr>
              <a:t> −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𝑌</a:t>
            </a:r>
            <a:r>
              <a:rPr sz="3600" baseline="2000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2625" baseline="2700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625" baseline="44000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2625" spc="82" baseline="44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3600" baseline="200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X𝑤</a:t>
            </a:r>
            <a:r>
              <a:rPr sz="2400" spc="45" dirty="0">
                <a:latin typeface="Cambria Math" panose="02040503050406030204"/>
                <a:cs typeface="Cambria Math" panose="02040503050406030204"/>
              </a:rPr>
              <a:t> −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𝑌</a:t>
            </a:r>
            <a:r>
              <a:rPr sz="3600" baseline="2000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2625" baseline="27000" dirty="0">
                <a:latin typeface="Cambria Math" panose="02040503050406030204"/>
                <a:cs typeface="Cambria Math" panose="02040503050406030204"/>
              </a:rPr>
              <a:t>T</a:t>
            </a:r>
            <a:r>
              <a:rPr sz="3600" baseline="200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X𝑤</a:t>
            </a:r>
            <a:r>
              <a:rPr sz="2400" spc="45" dirty="0">
                <a:latin typeface="Cambria Math" panose="02040503050406030204"/>
                <a:cs typeface="Cambria Math" panose="02040503050406030204"/>
              </a:rPr>
              <a:t> − </a:t>
            </a:r>
            <a:r>
              <a:rPr sz="2400" spc="-25" dirty="0">
                <a:latin typeface="Cambria Math" panose="02040503050406030204"/>
                <a:cs typeface="Cambria Math" panose="02040503050406030204"/>
              </a:rPr>
              <a:t>𝑌</a:t>
            </a:r>
            <a:r>
              <a:rPr sz="3600" spc="-37" baseline="2000" dirty="0">
                <a:latin typeface="Cambria Math" panose="02040503050406030204"/>
                <a:cs typeface="Cambria Math" panose="02040503050406030204"/>
              </a:rPr>
              <a:t>)</a:t>
            </a:r>
            <a:endParaRPr sz="3600" baseline="2000">
              <a:latin typeface="Cambria Math" panose="02040503050406030204"/>
              <a:cs typeface="Cambria Math" panose="02040503050406030204"/>
            </a:endParaRPr>
          </a:p>
          <a:p>
            <a:pPr marL="3905885">
              <a:lnSpc>
                <a:spcPts val="1590"/>
              </a:lnSpc>
              <a:tabLst>
                <a:tab pos="5621655" algn="l"/>
              </a:tabLst>
            </a:pPr>
            <a:r>
              <a:rPr sz="1750" spc="-5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175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1750" spc="-50" dirty="0">
                <a:latin typeface="Cambria Math" panose="02040503050406030204"/>
                <a:cs typeface="Cambria Math" panose="02040503050406030204"/>
              </a:rPr>
              <a:t>2</a:t>
            </a:r>
            <a:endParaRPr sz="17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663470" y="4525632"/>
            <a:ext cx="26003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宋体" panose="02010600030101010101" pitchFamily="2" charset="-122"/>
                <a:cs typeface="宋体" panose="02010600030101010101" pitchFamily="2" charset="-122"/>
              </a:rPr>
              <a:t>需要用到向量平方的性质</a:t>
            </a:r>
            <a:r>
              <a:rPr sz="1800" spc="-50" dirty="0">
                <a:latin typeface="Cambria" panose="02040503050406030204"/>
                <a:cs typeface="Cambria" panose="02040503050406030204"/>
              </a:rPr>
              <a:t>:</a:t>
            </a:r>
            <a:endParaRPr sz="18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979705" y="5120487"/>
            <a:ext cx="5219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 panose="02040503050406030204"/>
                <a:cs typeface="Cambria Math" panose="02040503050406030204"/>
              </a:rPr>
              <a:t>𝑌</a:t>
            </a:r>
            <a:r>
              <a:rPr sz="2400" spc="12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60" dirty="0">
                <a:latin typeface="Cambria Math" panose="02040503050406030204"/>
                <a:cs typeface="Cambria Math" panose="02040503050406030204"/>
              </a:rPr>
              <a:t>=</a:t>
            </a:r>
            <a:endParaRPr sz="24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535966" y="4368647"/>
            <a:ext cx="842644" cy="902969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75"/>
              </a:spcBef>
            </a:pPr>
            <a:r>
              <a:rPr sz="3600" baseline="-37000" dirty="0">
                <a:latin typeface="Cambria Math" panose="02040503050406030204"/>
                <a:cs typeface="Cambria Math" panose="02040503050406030204"/>
              </a:rPr>
              <a:t>⎡</a:t>
            </a:r>
            <a:r>
              <a:rPr sz="3600" baseline="-21000" dirty="0">
                <a:latin typeface="Cambria Math" panose="02040503050406030204"/>
                <a:cs typeface="Cambria Math" panose="02040503050406030204"/>
              </a:rPr>
              <a:t>𝑦</a:t>
            </a:r>
            <a:r>
              <a:rPr sz="2625" baseline="200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1750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2625" baseline="2000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2625" spc="262" baseline="2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3600" spc="-75" baseline="-37000" dirty="0">
                <a:latin typeface="Cambria Math" panose="02040503050406030204"/>
                <a:cs typeface="Cambria Math" panose="02040503050406030204"/>
              </a:rPr>
              <a:t>⎤</a:t>
            </a:r>
            <a:endParaRPr sz="3600" baseline="-37000">
              <a:latin typeface="Cambria Math" panose="02040503050406030204"/>
              <a:cs typeface="Cambria Math" panose="02040503050406030204"/>
            </a:endParaRPr>
          </a:p>
          <a:p>
            <a:pPr marL="38100">
              <a:lnSpc>
                <a:spcPct val="100000"/>
              </a:lnSpc>
              <a:spcBef>
                <a:spcPts val="575"/>
              </a:spcBef>
            </a:pPr>
            <a:r>
              <a:rPr sz="3600" baseline="-24000" dirty="0">
                <a:latin typeface="Cambria Math" panose="02040503050406030204"/>
                <a:cs typeface="Cambria Math" panose="02040503050406030204"/>
              </a:rPr>
              <a:t>⎢</a:t>
            </a:r>
            <a:r>
              <a:rPr sz="3600" baseline="-21000" dirty="0">
                <a:latin typeface="Cambria Math" panose="02040503050406030204"/>
                <a:cs typeface="Cambria Math" panose="02040503050406030204"/>
              </a:rPr>
              <a:t>𝑦</a:t>
            </a:r>
            <a:r>
              <a:rPr sz="2625" baseline="200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175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2625" baseline="2000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2625" spc="262" baseline="2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3600" spc="-75" baseline="-24000" dirty="0">
                <a:latin typeface="Cambria Math" panose="02040503050406030204"/>
                <a:cs typeface="Cambria Math" panose="02040503050406030204"/>
              </a:rPr>
              <a:t>⎥</a:t>
            </a:r>
            <a:endParaRPr sz="3600" baseline="-24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561366" y="5380837"/>
            <a:ext cx="1327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 panose="02040503050406030204"/>
                <a:cs typeface="Cambria Math" panose="02040503050406030204"/>
              </a:rPr>
              <a:t>⎢</a:t>
            </a:r>
            <a:endParaRPr sz="24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829971" y="5349722"/>
            <a:ext cx="2546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 panose="02040503050406030204"/>
                <a:cs typeface="Cambria Math" panose="02040503050406030204"/>
              </a:rPr>
              <a:t>…</a:t>
            </a:r>
            <a:endParaRPr sz="24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561366" y="5791047"/>
            <a:ext cx="7918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71195" algn="l"/>
              </a:tabLst>
            </a:pPr>
            <a:r>
              <a:rPr sz="2400" spc="-50" dirty="0">
                <a:latin typeface="Cambria Math" panose="02040503050406030204"/>
                <a:cs typeface="Cambria Math" panose="02040503050406030204"/>
              </a:rPr>
              <a:t>⎣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2400" spc="-50" dirty="0">
                <a:latin typeface="Cambria Math" panose="02040503050406030204"/>
                <a:cs typeface="Cambria Math" panose="02040503050406030204"/>
              </a:rPr>
              <a:t>⎦</a:t>
            </a:r>
            <a:endParaRPr sz="24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220496" y="5380837"/>
            <a:ext cx="1327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 panose="02040503050406030204"/>
                <a:cs typeface="Cambria Math" panose="02040503050406030204"/>
              </a:rPr>
              <a:t>⎥</a:t>
            </a:r>
            <a:endParaRPr sz="24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535966" y="5612612"/>
            <a:ext cx="84264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600" spc="-15" baseline="5000" dirty="0">
                <a:latin typeface="Cambria Math" panose="02040503050406030204"/>
                <a:cs typeface="Cambria Math" panose="02040503050406030204"/>
              </a:rPr>
              <a:t>⎢</a:t>
            </a:r>
            <a:r>
              <a:rPr sz="3600" spc="-15" baseline="-21000" dirty="0">
                <a:latin typeface="Cambria Math" panose="02040503050406030204"/>
                <a:cs typeface="Cambria Math" panose="02040503050406030204"/>
              </a:rPr>
              <a:t>𝑦</a:t>
            </a:r>
            <a:r>
              <a:rPr sz="2625" spc="-15" baseline="200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1750" spc="-10" dirty="0">
                <a:latin typeface="Cambria Math" panose="02040503050406030204"/>
                <a:cs typeface="Cambria Math" panose="02040503050406030204"/>
              </a:rPr>
              <a:t>𝑚</a:t>
            </a:r>
            <a:r>
              <a:rPr sz="2625" spc="-15" baseline="2000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3600" spc="-15" baseline="5000" dirty="0">
                <a:latin typeface="Cambria Math" panose="02040503050406030204"/>
                <a:cs typeface="Cambria Math" panose="02040503050406030204"/>
              </a:rPr>
              <a:t>⎥</a:t>
            </a:r>
            <a:endParaRPr sz="3600" baseline="5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992844" y="5492597"/>
            <a:ext cx="95885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50" dirty="0">
                <a:latin typeface="Cambria Math" panose="02040503050406030204"/>
                <a:cs typeface="Cambria Math" panose="02040503050406030204"/>
              </a:rPr>
              <a:t>𝑖</a:t>
            </a:r>
            <a:endParaRPr sz="17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428454" y="5172557"/>
            <a:ext cx="103505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10" dirty="0">
                <a:latin typeface="Cambria Math" panose="02040503050406030204"/>
                <a:cs typeface="Cambria Math" panose="02040503050406030204"/>
              </a:rPr>
              <a:t>𝑖</a:t>
            </a:r>
            <a:endParaRPr sz="17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801074" y="5015712"/>
            <a:ext cx="16687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1475" dirty="0">
                <a:latin typeface="Cambria Math" panose="02040503050406030204"/>
                <a:cs typeface="Cambria Math" panose="02040503050406030204"/>
              </a:rPr>
              <a:t>∑</a:t>
            </a:r>
            <a:r>
              <a:rPr sz="2400" spc="-13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𝑧</a:t>
            </a:r>
            <a:r>
              <a:rPr sz="2625" baseline="3200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2625" spc="585" baseline="32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2400" spc="1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25" dirty="0">
                <a:latin typeface="Cambria Math" panose="02040503050406030204"/>
                <a:cs typeface="Cambria Math" panose="02040503050406030204"/>
              </a:rPr>
              <a:t>𝑧</a:t>
            </a:r>
            <a:r>
              <a:rPr sz="2625" spc="37" baseline="27000" dirty="0">
                <a:latin typeface="Cambria Math" panose="02040503050406030204"/>
                <a:cs typeface="Cambria Math" panose="02040503050406030204"/>
              </a:rPr>
              <a:t>T</a:t>
            </a:r>
            <a:r>
              <a:rPr sz="2400" spc="25" dirty="0">
                <a:latin typeface="Cambria Math" panose="02040503050406030204"/>
                <a:cs typeface="Cambria Math" panose="02040503050406030204"/>
              </a:rPr>
              <a:t>𝑧</a:t>
            </a:r>
            <a:endParaRPr sz="24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7024446" y="1776196"/>
            <a:ext cx="123189" cy="20320"/>
          </a:xfrm>
          <a:custGeom>
            <a:avLst/>
            <a:gdLst/>
            <a:ahLst/>
            <a:cxnLst/>
            <a:rect l="l" t="t" r="r" b="b"/>
            <a:pathLst>
              <a:path w="123190" h="20319">
                <a:moveTo>
                  <a:pt x="123190" y="20002"/>
                </a:moveTo>
                <a:lnTo>
                  <a:pt x="0" y="20002"/>
                </a:lnTo>
                <a:lnTo>
                  <a:pt x="0" y="0"/>
                </a:lnTo>
                <a:lnTo>
                  <a:pt x="123190" y="0"/>
                </a:lnTo>
                <a:lnTo>
                  <a:pt x="123190" y="200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7011746" y="1791970"/>
            <a:ext cx="148590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50" dirty="0">
                <a:latin typeface="Cambria Math" panose="02040503050406030204"/>
                <a:cs typeface="Cambria Math" panose="02040503050406030204"/>
              </a:rPr>
              <a:t>2</a:t>
            </a:r>
            <a:endParaRPr sz="17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401636" y="1751329"/>
            <a:ext cx="384810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25" dirty="0">
                <a:latin typeface="Cambria Math" panose="02040503050406030204"/>
                <a:cs typeface="Cambria Math" panose="02040503050406030204"/>
              </a:rPr>
              <a:t>𝑖=1</a:t>
            </a:r>
            <a:endParaRPr sz="17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43966" y="1555750"/>
            <a:ext cx="699515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100" dirty="0">
                <a:latin typeface="宋体" panose="02010600030101010101" pitchFamily="2" charset="-122"/>
                <a:cs typeface="宋体" panose="02010600030101010101" pitchFamily="2" charset="-122"/>
              </a:rPr>
              <a:t>要找到一组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𝑤(𝑤</a:t>
            </a:r>
            <a:r>
              <a:rPr sz="2625" baseline="-16000" dirty="0">
                <a:latin typeface="Cambria Math" panose="02040503050406030204"/>
                <a:cs typeface="Cambria Math" panose="02040503050406030204"/>
              </a:rPr>
              <a:t>0</a:t>
            </a:r>
            <a:r>
              <a:rPr sz="2400" spc="-55" dirty="0">
                <a:latin typeface="Cambria Math" panose="02040503050406030204"/>
                <a:cs typeface="Cambria Math" panose="02040503050406030204"/>
              </a:rPr>
              <a:t>,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𝑤</a:t>
            </a:r>
            <a:r>
              <a:rPr sz="2625" baseline="-16000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2400" spc="-55" dirty="0">
                <a:latin typeface="Cambria Math" panose="02040503050406030204"/>
                <a:cs typeface="Cambria Math" panose="02040503050406030204"/>
              </a:rPr>
              <a:t>,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𝑤</a:t>
            </a:r>
            <a:r>
              <a:rPr sz="2625" baseline="-1600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2400" spc="-65" dirty="0">
                <a:latin typeface="Cambria Math" panose="02040503050406030204"/>
                <a:cs typeface="Cambria Math" panose="02040503050406030204"/>
              </a:rPr>
              <a:t>, . . . , </a:t>
            </a:r>
            <a:r>
              <a:rPr sz="2400" spc="60" dirty="0">
                <a:latin typeface="Cambria Math" panose="02040503050406030204"/>
                <a:cs typeface="Cambria Math" panose="02040503050406030204"/>
              </a:rPr>
              <a:t>𝑤</a:t>
            </a:r>
            <a:r>
              <a:rPr sz="2625" spc="89" baseline="-16000" dirty="0">
                <a:latin typeface="Cambria Math" panose="02040503050406030204"/>
                <a:cs typeface="Cambria Math" panose="02040503050406030204"/>
              </a:rPr>
              <a:t>𝑛</a:t>
            </a:r>
            <a:r>
              <a:rPr sz="2400" spc="75" dirty="0">
                <a:latin typeface="Cambria Math" panose="02040503050406030204"/>
                <a:cs typeface="Cambria Math" panose="02040503050406030204"/>
              </a:rPr>
              <a:t>) </a:t>
            </a:r>
            <a:r>
              <a:rPr sz="2400" dirty="0">
                <a:latin typeface="宋体" panose="02010600030101010101" pitchFamily="2" charset="-122"/>
                <a:cs typeface="宋体" panose="02010600030101010101" pitchFamily="2" charset="-122"/>
              </a:rPr>
              <a:t>，使得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𝐽</a:t>
            </a:r>
            <a:r>
              <a:rPr sz="3600" baseline="200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𝑤</a:t>
            </a:r>
            <a:r>
              <a:rPr sz="3600" spc="127" baseline="2000" dirty="0">
                <a:latin typeface="Cambria Math" panose="02040503050406030204"/>
                <a:cs typeface="Cambria Math" panose="02040503050406030204"/>
              </a:rPr>
              <a:t>) </a:t>
            </a:r>
            <a:r>
              <a:rPr sz="2400" spc="80" dirty="0">
                <a:latin typeface="Cambria Math" panose="02040503050406030204"/>
                <a:cs typeface="Cambria Math" panose="02040503050406030204"/>
              </a:rPr>
              <a:t>= </a:t>
            </a:r>
            <a:r>
              <a:rPr sz="2625" baseline="44000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2625" spc="52" baseline="44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25" dirty="0">
                <a:latin typeface="Cambria Math" panose="02040503050406030204"/>
                <a:cs typeface="Cambria Math" panose="02040503050406030204"/>
              </a:rPr>
              <a:t>∑</a:t>
            </a:r>
            <a:r>
              <a:rPr sz="2625" spc="-37" baseline="37000" dirty="0">
                <a:latin typeface="Cambria Math" panose="02040503050406030204"/>
                <a:cs typeface="Cambria Math" panose="02040503050406030204"/>
              </a:rPr>
              <a:t>𝑚</a:t>
            </a:r>
            <a:endParaRPr sz="2625" baseline="3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786446" y="1555750"/>
            <a:ext cx="21615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2400" spc="-12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ℎ(𝑥</a:t>
            </a:r>
            <a:r>
              <a:rPr sz="2625" baseline="3000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2625" baseline="29000" dirty="0">
                <a:latin typeface="Cambria Math" panose="02040503050406030204"/>
                <a:cs typeface="Cambria Math" panose="02040503050406030204"/>
              </a:rPr>
              <a:t>𝑖</a:t>
            </a:r>
            <a:r>
              <a:rPr sz="2625" baseline="30000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2400" spc="2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400" spc="2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10" dirty="0">
                <a:latin typeface="Cambria Math" panose="02040503050406030204"/>
                <a:cs typeface="Cambria Math" panose="02040503050406030204"/>
              </a:rPr>
              <a:t>𝑦</a:t>
            </a:r>
            <a:r>
              <a:rPr sz="2625" spc="-15" baseline="3000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2625" spc="-15" baseline="29000" dirty="0">
                <a:latin typeface="Cambria Math" panose="02040503050406030204"/>
                <a:cs typeface="Cambria Math" panose="02040503050406030204"/>
              </a:rPr>
              <a:t>𝑖</a:t>
            </a:r>
            <a:r>
              <a:rPr sz="2625" spc="-15" baseline="30000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2400" spc="-10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2625" spc="-15" baseline="27000" dirty="0">
                <a:latin typeface="Cambria Math" panose="02040503050406030204"/>
                <a:cs typeface="Cambria Math" panose="02040503050406030204"/>
              </a:rPr>
              <a:t>2</a:t>
            </a:r>
            <a:endParaRPr sz="2625" baseline="27000">
              <a:latin typeface="Cambria Math" panose="02040503050406030204"/>
              <a:cs typeface="Cambria Math" panose="02040503050406030204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8448458" y="4046397"/>
            <a:ext cx="244475" cy="300355"/>
            <a:chOff x="8448458" y="4046397"/>
            <a:chExt cx="244475" cy="300355"/>
          </a:xfrm>
        </p:grpSpPr>
        <p:sp>
          <p:nvSpPr>
            <p:cNvPr id="30" name="object 30"/>
            <p:cNvSpPr/>
            <p:nvPr/>
          </p:nvSpPr>
          <p:spPr>
            <a:xfrm>
              <a:off x="8461247" y="4058412"/>
              <a:ext cx="218440" cy="276225"/>
            </a:xfrm>
            <a:custGeom>
              <a:avLst/>
              <a:gdLst/>
              <a:ahLst/>
              <a:cxnLst/>
              <a:rect l="l" t="t" r="r" b="b"/>
              <a:pathLst>
                <a:path w="218440" h="276225">
                  <a:moveTo>
                    <a:pt x="109727" y="275843"/>
                  </a:moveTo>
                  <a:lnTo>
                    <a:pt x="0" y="166115"/>
                  </a:lnTo>
                  <a:lnTo>
                    <a:pt x="54863" y="166115"/>
                  </a:lnTo>
                  <a:lnTo>
                    <a:pt x="54863" y="0"/>
                  </a:lnTo>
                  <a:lnTo>
                    <a:pt x="164592" y="0"/>
                  </a:lnTo>
                  <a:lnTo>
                    <a:pt x="164592" y="166115"/>
                  </a:lnTo>
                  <a:lnTo>
                    <a:pt x="217931" y="166115"/>
                  </a:lnTo>
                  <a:lnTo>
                    <a:pt x="109727" y="275843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8448458" y="4046397"/>
              <a:ext cx="244475" cy="300355"/>
            </a:xfrm>
            <a:custGeom>
              <a:avLst/>
              <a:gdLst/>
              <a:ahLst/>
              <a:cxnLst/>
              <a:rect l="l" t="t" r="r" b="b"/>
              <a:pathLst>
                <a:path w="244475" h="300354">
                  <a:moveTo>
                    <a:pt x="54635" y="177812"/>
                  </a:moveTo>
                  <a:lnTo>
                    <a:pt x="54635" y="12700"/>
                  </a:lnTo>
                  <a:lnTo>
                    <a:pt x="54876" y="10223"/>
                  </a:lnTo>
                  <a:lnTo>
                    <a:pt x="67335" y="0"/>
                  </a:lnTo>
                  <a:lnTo>
                    <a:pt x="176669" y="0"/>
                  </a:lnTo>
                  <a:lnTo>
                    <a:pt x="189369" y="12700"/>
                  </a:lnTo>
                  <a:lnTo>
                    <a:pt x="80035" y="12700"/>
                  </a:lnTo>
                  <a:lnTo>
                    <a:pt x="67335" y="25400"/>
                  </a:lnTo>
                  <a:lnTo>
                    <a:pt x="80035" y="25400"/>
                  </a:lnTo>
                  <a:lnTo>
                    <a:pt x="80035" y="165112"/>
                  </a:lnTo>
                  <a:lnTo>
                    <a:pt x="67335" y="165112"/>
                  </a:lnTo>
                  <a:lnTo>
                    <a:pt x="54635" y="177812"/>
                  </a:lnTo>
                  <a:close/>
                </a:path>
                <a:path w="244475" h="300354">
                  <a:moveTo>
                    <a:pt x="80035" y="25400"/>
                  </a:moveTo>
                  <a:lnTo>
                    <a:pt x="67335" y="25400"/>
                  </a:lnTo>
                  <a:lnTo>
                    <a:pt x="80035" y="12700"/>
                  </a:lnTo>
                  <a:lnTo>
                    <a:pt x="80035" y="25400"/>
                  </a:lnTo>
                  <a:close/>
                </a:path>
                <a:path w="244475" h="300354">
                  <a:moveTo>
                    <a:pt x="163969" y="25400"/>
                  </a:moveTo>
                  <a:lnTo>
                    <a:pt x="80035" y="25400"/>
                  </a:lnTo>
                  <a:lnTo>
                    <a:pt x="80035" y="12700"/>
                  </a:lnTo>
                  <a:lnTo>
                    <a:pt x="163969" y="12700"/>
                  </a:lnTo>
                  <a:lnTo>
                    <a:pt x="163969" y="25400"/>
                  </a:lnTo>
                  <a:close/>
                </a:path>
                <a:path w="244475" h="300354">
                  <a:moveTo>
                    <a:pt x="200660" y="190512"/>
                  </a:moveTo>
                  <a:lnTo>
                    <a:pt x="176669" y="190512"/>
                  </a:lnTo>
                  <a:lnTo>
                    <a:pt x="174193" y="190258"/>
                  </a:lnTo>
                  <a:lnTo>
                    <a:pt x="163969" y="177812"/>
                  </a:lnTo>
                  <a:lnTo>
                    <a:pt x="163969" y="12700"/>
                  </a:lnTo>
                  <a:lnTo>
                    <a:pt x="176669" y="25400"/>
                  </a:lnTo>
                  <a:lnTo>
                    <a:pt x="189369" y="25400"/>
                  </a:lnTo>
                  <a:lnTo>
                    <a:pt x="189369" y="165112"/>
                  </a:lnTo>
                  <a:lnTo>
                    <a:pt x="176669" y="165112"/>
                  </a:lnTo>
                  <a:lnTo>
                    <a:pt x="189369" y="177812"/>
                  </a:lnTo>
                  <a:lnTo>
                    <a:pt x="213360" y="177812"/>
                  </a:lnTo>
                  <a:lnTo>
                    <a:pt x="200660" y="190512"/>
                  </a:lnTo>
                  <a:close/>
                </a:path>
                <a:path w="244475" h="300354">
                  <a:moveTo>
                    <a:pt x="189369" y="25400"/>
                  </a:moveTo>
                  <a:lnTo>
                    <a:pt x="176669" y="25400"/>
                  </a:lnTo>
                  <a:lnTo>
                    <a:pt x="163969" y="12700"/>
                  </a:lnTo>
                  <a:lnTo>
                    <a:pt x="189369" y="12700"/>
                  </a:lnTo>
                  <a:lnTo>
                    <a:pt x="189369" y="25400"/>
                  </a:lnTo>
                  <a:close/>
                </a:path>
                <a:path w="244475" h="300354">
                  <a:moveTo>
                    <a:pt x="122008" y="299834"/>
                  </a:moveTo>
                  <a:lnTo>
                    <a:pt x="3695" y="186791"/>
                  </a:lnTo>
                  <a:lnTo>
                    <a:pt x="0" y="176898"/>
                  </a:lnTo>
                  <a:lnTo>
                    <a:pt x="482" y="174231"/>
                  </a:lnTo>
                  <a:lnTo>
                    <a:pt x="12674" y="165112"/>
                  </a:lnTo>
                  <a:lnTo>
                    <a:pt x="54635" y="165112"/>
                  </a:lnTo>
                  <a:lnTo>
                    <a:pt x="54635" y="168821"/>
                  </a:lnTo>
                  <a:lnTo>
                    <a:pt x="21653" y="168821"/>
                  </a:lnTo>
                  <a:lnTo>
                    <a:pt x="12779" y="190258"/>
                  </a:lnTo>
                  <a:lnTo>
                    <a:pt x="12674" y="190512"/>
                  </a:lnTo>
                  <a:lnTo>
                    <a:pt x="43345" y="190512"/>
                  </a:lnTo>
                  <a:lnTo>
                    <a:pt x="122002" y="269170"/>
                  </a:lnTo>
                  <a:lnTo>
                    <a:pt x="113017" y="278155"/>
                  </a:lnTo>
                  <a:lnTo>
                    <a:pt x="148945" y="278155"/>
                  </a:lnTo>
                  <a:lnTo>
                    <a:pt x="130987" y="296113"/>
                  </a:lnTo>
                  <a:lnTo>
                    <a:pt x="129057" y="297700"/>
                  </a:lnTo>
                  <a:lnTo>
                    <a:pt x="126860" y="298869"/>
                  </a:lnTo>
                  <a:lnTo>
                    <a:pt x="124485" y="299593"/>
                  </a:lnTo>
                  <a:lnTo>
                    <a:pt x="122008" y="299834"/>
                  </a:lnTo>
                  <a:close/>
                </a:path>
                <a:path w="244475" h="300354">
                  <a:moveTo>
                    <a:pt x="80035" y="177812"/>
                  </a:moveTo>
                  <a:lnTo>
                    <a:pt x="54635" y="177812"/>
                  </a:lnTo>
                  <a:lnTo>
                    <a:pt x="67335" y="165112"/>
                  </a:lnTo>
                  <a:lnTo>
                    <a:pt x="80035" y="165112"/>
                  </a:lnTo>
                  <a:lnTo>
                    <a:pt x="80035" y="177812"/>
                  </a:lnTo>
                  <a:close/>
                </a:path>
                <a:path w="244475" h="300354">
                  <a:moveTo>
                    <a:pt x="189369" y="177812"/>
                  </a:moveTo>
                  <a:lnTo>
                    <a:pt x="176669" y="165112"/>
                  </a:lnTo>
                  <a:lnTo>
                    <a:pt x="189369" y="165112"/>
                  </a:lnTo>
                  <a:lnTo>
                    <a:pt x="189369" y="177812"/>
                  </a:lnTo>
                  <a:close/>
                </a:path>
                <a:path w="244475" h="300354">
                  <a:moveTo>
                    <a:pt x="213360" y="177812"/>
                  </a:moveTo>
                  <a:lnTo>
                    <a:pt x="189369" y="177812"/>
                  </a:lnTo>
                  <a:lnTo>
                    <a:pt x="189369" y="165112"/>
                  </a:lnTo>
                  <a:lnTo>
                    <a:pt x="231330" y="165112"/>
                  </a:lnTo>
                  <a:lnTo>
                    <a:pt x="234035" y="165392"/>
                  </a:lnTo>
                  <a:lnTo>
                    <a:pt x="236613" y="166255"/>
                  </a:lnTo>
                  <a:lnTo>
                    <a:pt x="238937" y="167640"/>
                  </a:lnTo>
                  <a:lnTo>
                    <a:pt x="240207" y="168821"/>
                  </a:lnTo>
                  <a:lnTo>
                    <a:pt x="222351" y="168821"/>
                  </a:lnTo>
                  <a:lnTo>
                    <a:pt x="213360" y="177812"/>
                  </a:lnTo>
                  <a:close/>
                </a:path>
                <a:path w="244475" h="300354">
                  <a:moveTo>
                    <a:pt x="43345" y="190512"/>
                  </a:moveTo>
                  <a:lnTo>
                    <a:pt x="12674" y="190512"/>
                  </a:lnTo>
                  <a:lnTo>
                    <a:pt x="21653" y="168821"/>
                  </a:lnTo>
                  <a:lnTo>
                    <a:pt x="43345" y="190512"/>
                  </a:lnTo>
                  <a:close/>
                </a:path>
                <a:path w="244475" h="300354">
                  <a:moveTo>
                    <a:pt x="67335" y="190512"/>
                  </a:moveTo>
                  <a:lnTo>
                    <a:pt x="43345" y="190512"/>
                  </a:lnTo>
                  <a:lnTo>
                    <a:pt x="21653" y="168821"/>
                  </a:lnTo>
                  <a:lnTo>
                    <a:pt x="54635" y="168821"/>
                  </a:lnTo>
                  <a:lnTo>
                    <a:pt x="54635" y="177812"/>
                  </a:lnTo>
                  <a:lnTo>
                    <a:pt x="80035" y="177812"/>
                  </a:lnTo>
                  <a:lnTo>
                    <a:pt x="79859" y="179616"/>
                  </a:lnTo>
                  <a:lnTo>
                    <a:pt x="79794" y="180289"/>
                  </a:lnTo>
                  <a:lnTo>
                    <a:pt x="79070" y="182664"/>
                  </a:lnTo>
                  <a:lnTo>
                    <a:pt x="69811" y="190258"/>
                  </a:lnTo>
                  <a:lnTo>
                    <a:pt x="67335" y="190512"/>
                  </a:lnTo>
                  <a:close/>
                </a:path>
                <a:path w="244475" h="300354">
                  <a:moveTo>
                    <a:pt x="148945" y="278155"/>
                  </a:moveTo>
                  <a:lnTo>
                    <a:pt x="130987" y="278155"/>
                  </a:lnTo>
                  <a:lnTo>
                    <a:pt x="122002" y="269170"/>
                  </a:lnTo>
                  <a:lnTo>
                    <a:pt x="222351" y="168821"/>
                  </a:lnTo>
                  <a:lnTo>
                    <a:pt x="231225" y="190258"/>
                  </a:lnTo>
                  <a:lnTo>
                    <a:pt x="231330" y="190512"/>
                  </a:lnTo>
                  <a:lnTo>
                    <a:pt x="236588" y="190512"/>
                  </a:lnTo>
                  <a:lnTo>
                    <a:pt x="148945" y="278155"/>
                  </a:lnTo>
                  <a:close/>
                </a:path>
                <a:path w="244475" h="300354">
                  <a:moveTo>
                    <a:pt x="236588" y="190512"/>
                  </a:moveTo>
                  <a:lnTo>
                    <a:pt x="231330" y="190512"/>
                  </a:lnTo>
                  <a:lnTo>
                    <a:pt x="222351" y="168821"/>
                  </a:lnTo>
                  <a:lnTo>
                    <a:pt x="240207" y="168821"/>
                  </a:lnTo>
                  <a:lnTo>
                    <a:pt x="240931" y="169494"/>
                  </a:lnTo>
                  <a:lnTo>
                    <a:pt x="242481" y="171716"/>
                  </a:lnTo>
                  <a:lnTo>
                    <a:pt x="243522" y="174231"/>
                  </a:lnTo>
                  <a:lnTo>
                    <a:pt x="244005" y="176898"/>
                  </a:lnTo>
                  <a:lnTo>
                    <a:pt x="243903" y="179616"/>
                  </a:lnTo>
                  <a:lnTo>
                    <a:pt x="243230" y="182245"/>
                  </a:lnTo>
                  <a:lnTo>
                    <a:pt x="242011" y="184670"/>
                  </a:lnTo>
                  <a:lnTo>
                    <a:pt x="240309" y="186791"/>
                  </a:lnTo>
                  <a:lnTo>
                    <a:pt x="236588" y="190512"/>
                  </a:lnTo>
                  <a:close/>
                </a:path>
                <a:path w="244475" h="300354">
                  <a:moveTo>
                    <a:pt x="130987" y="278155"/>
                  </a:moveTo>
                  <a:lnTo>
                    <a:pt x="113017" y="278155"/>
                  </a:lnTo>
                  <a:lnTo>
                    <a:pt x="122002" y="269170"/>
                  </a:lnTo>
                  <a:lnTo>
                    <a:pt x="130987" y="27815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1172921" y="4432693"/>
            <a:ext cx="351790" cy="858519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0"/>
              </a:spcBef>
            </a:pPr>
            <a:r>
              <a:rPr sz="3600" spc="-37" baseline="-9000" dirty="0">
                <a:latin typeface="Cambria Math" panose="02040503050406030204"/>
                <a:cs typeface="Cambria Math" panose="02040503050406030204"/>
              </a:rPr>
              <a:t>⎡</a:t>
            </a:r>
            <a:r>
              <a:rPr sz="2400" spc="-25" dirty="0">
                <a:latin typeface="Cambria Math" panose="02040503050406030204"/>
                <a:cs typeface="Cambria Math" panose="02040503050406030204"/>
              </a:rPr>
              <a:t>1</a:t>
            </a:r>
            <a:endParaRPr sz="2400">
              <a:latin typeface="Cambria Math" panose="02040503050406030204"/>
              <a:cs typeface="Cambria Math" panose="02040503050406030204"/>
            </a:endParaRPr>
          </a:p>
          <a:p>
            <a:pPr marL="38100">
              <a:lnSpc>
                <a:spcPct val="100000"/>
              </a:lnSpc>
              <a:spcBef>
                <a:spcPts val="400"/>
              </a:spcBef>
            </a:pPr>
            <a:r>
              <a:rPr sz="2400" spc="-25" dirty="0">
                <a:latin typeface="Cambria Math" panose="02040503050406030204"/>
                <a:cs typeface="Cambria Math" panose="02040503050406030204"/>
              </a:rPr>
              <a:t>⎢</a:t>
            </a:r>
            <a:r>
              <a:rPr sz="3600" spc="-37" baseline="-16000" dirty="0">
                <a:latin typeface="Cambria Math" panose="02040503050406030204"/>
                <a:cs typeface="Cambria Math" panose="02040503050406030204"/>
              </a:rPr>
              <a:t>1</a:t>
            </a:r>
            <a:endParaRPr sz="3600" baseline="-16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77926" y="5108968"/>
            <a:ext cx="9099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165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2400" spc="14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2400" spc="14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3600" baseline="-29000" dirty="0">
                <a:latin typeface="Cambria Math" panose="02040503050406030204"/>
                <a:cs typeface="Cambria Math" panose="02040503050406030204"/>
              </a:rPr>
              <a:t>⎢</a:t>
            </a:r>
            <a:r>
              <a:rPr sz="3600" spc="-359" baseline="-29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3600" spc="-75" baseline="-47000" dirty="0">
                <a:latin typeface="Cambria Math" panose="02040503050406030204"/>
                <a:cs typeface="Cambria Math" panose="02040503050406030204"/>
              </a:rPr>
              <a:t>⋮</a:t>
            </a:r>
            <a:endParaRPr sz="3600" baseline="-4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198321" y="5880493"/>
            <a:ext cx="1327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 panose="02040503050406030204"/>
                <a:cs typeface="Cambria Math" panose="02040503050406030204"/>
              </a:rPr>
              <a:t>⎣</a:t>
            </a:r>
            <a:endParaRPr sz="24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198321" y="5575693"/>
            <a:ext cx="1327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 panose="02040503050406030204"/>
                <a:cs typeface="Cambria Math" panose="02040503050406030204"/>
              </a:rPr>
              <a:t>⎢</a:t>
            </a:r>
            <a:endParaRPr sz="24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971751" y="4654308"/>
            <a:ext cx="1852295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61060" algn="l"/>
                <a:tab pos="1710055" algn="l"/>
              </a:tabLst>
            </a:pPr>
            <a:r>
              <a:rPr sz="1750" spc="-50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175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1750" spc="-5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175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1750" spc="-50" dirty="0">
                <a:latin typeface="Cambria Math" panose="02040503050406030204"/>
                <a:cs typeface="Cambria Math" panose="02040503050406030204"/>
              </a:rPr>
              <a:t>3</a:t>
            </a:r>
            <a:endParaRPr sz="17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759026" y="4329188"/>
            <a:ext cx="22815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00"/>
              </a:spcBef>
              <a:tabLst>
                <a:tab pos="911860" algn="l"/>
                <a:tab pos="1760855" algn="l"/>
              </a:tabLst>
            </a:pPr>
            <a:r>
              <a:rPr sz="3600" spc="-30" baseline="-28000" dirty="0">
                <a:latin typeface="Cambria Math" panose="02040503050406030204"/>
                <a:cs typeface="Cambria Math" panose="02040503050406030204"/>
              </a:rPr>
              <a:t>𝑥</a:t>
            </a:r>
            <a:r>
              <a:rPr sz="2625" spc="-30" baseline="200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1750" spc="-20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2625" spc="-30" baseline="2000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2625" baseline="20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3600" spc="-30" baseline="-28000" dirty="0">
                <a:latin typeface="Cambria Math" panose="02040503050406030204"/>
                <a:cs typeface="Cambria Math" panose="02040503050406030204"/>
              </a:rPr>
              <a:t>𝑥</a:t>
            </a:r>
            <a:r>
              <a:rPr sz="2625" spc="-30" baseline="200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1750" spc="-20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2625" spc="-30" baseline="2000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2625" baseline="20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3600" spc="-30" baseline="-28000" dirty="0">
                <a:latin typeface="Cambria Math" panose="02040503050406030204"/>
                <a:cs typeface="Cambria Math" panose="02040503050406030204"/>
              </a:rPr>
              <a:t>𝑥</a:t>
            </a:r>
            <a:r>
              <a:rPr sz="2625" spc="-30" baseline="200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1750" spc="-20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2625" spc="-30" baseline="2000" dirty="0">
                <a:latin typeface="Cambria Math" panose="02040503050406030204"/>
                <a:cs typeface="Cambria Math" panose="02040503050406030204"/>
              </a:rPr>
              <a:t>)</a:t>
            </a:r>
            <a:endParaRPr sz="2625" baseline="2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052771" y="4639068"/>
            <a:ext cx="170180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80" dirty="0">
                <a:latin typeface="Cambria Math" panose="02040503050406030204"/>
                <a:cs typeface="Cambria Math" panose="02040503050406030204"/>
              </a:rPr>
              <a:t>𝑛</a:t>
            </a:r>
            <a:endParaRPr sz="17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771726" y="4835283"/>
            <a:ext cx="22815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899160" algn="l"/>
                <a:tab pos="1748155" algn="l"/>
              </a:tabLst>
            </a:pPr>
            <a:r>
              <a:rPr sz="3600" spc="-30" baseline="-28000" dirty="0">
                <a:latin typeface="Cambria Math" panose="02040503050406030204"/>
                <a:cs typeface="Cambria Math" panose="02040503050406030204"/>
              </a:rPr>
              <a:t>𝑥</a:t>
            </a:r>
            <a:r>
              <a:rPr sz="2625" spc="-30" baseline="200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1750" spc="-2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2625" spc="-30" baseline="2000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2625" baseline="20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3600" spc="-30" baseline="-28000" dirty="0">
                <a:latin typeface="Cambria Math" panose="02040503050406030204"/>
                <a:cs typeface="Cambria Math" panose="02040503050406030204"/>
              </a:rPr>
              <a:t>𝑥</a:t>
            </a:r>
            <a:r>
              <a:rPr sz="2625" spc="-30" baseline="200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1750" spc="-2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2625" spc="-30" baseline="2000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2625" baseline="20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3600" spc="-30" baseline="-28000" dirty="0">
                <a:latin typeface="Cambria Math" panose="02040503050406030204"/>
                <a:cs typeface="Cambria Math" panose="02040503050406030204"/>
              </a:rPr>
              <a:t>𝑥</a:t>
            </a:r>
            <a:r>
              <a:rPr sz="2625" spc="-30" baseline="200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1750" spc="-2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2625" spc="-30" baseline="2000" dirty="0">
                <a:latin typeface="Cambria Math" panose="02040503050406030204"/>
                <a:cs typeface="Cambria Math" panose="02040503050406030204"/>
              </a:rPr>
              <a:t>)</a:t>
            </a:r>
            <a:endParaRPr sz="2625" baseline="2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971751" y="5159768"/>
            <a:ext cx="154305" cy="601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880"/>
              </a:lnSpc>
              <a:spcBef>
                <a:spcPts val="100"/>
              </a:spcBef>
            </a:pPr>
            <a:r>
              <a:rPr sz="1750" spc="-50" dirty="0">
                <a:latin typeface="Cambria Math" panose="02040503050406030204"/>
                <a:cs typeface="Cambria Math" panose="02040503050406030204"/>
              </a:rPr>
              <a:t>1</a:t>
            </a:r>
            <a:endParaRPr sz="1750">
              <a:latin typeface="Cambria Math" panose="02040503050406030204"/>
              <a:cs typeface="Cambria Math" panose="02040503050406030204"/>
            </a:endParaRPr>
          </a:p>
          <a:p>
            <a:pPr marL="44450">
              <a:lnSpc>
                <a:spcPts val="2660"/>
              </a:lnSpc>
            </a:pPr>
            <a:r>
              <a:rPr sz="2400" spc="-50" dirty="0">
                <a:latin typeface="Cambria Math" panose="02040503050406030204"/>
                <a:cs typeface="Cambria Math" panose="02040503050406030204"/>
              </a:rPr>
              <a:t>⋮</a:t>
            </a:r>
            <a:endParaRPr sz="24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820746" y="5159768"/>
            <a:ext cx="154305" cy="601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880"/>
              </a:lnSpc>
              <a:spcBef>
                <a:spcPts val="100"/>
              </a:spcBef>
            </a:pPr>
            <a:r>
              <a:rPr sz="1750" spc="-50" dirty="0">
                <a:latin typeface="Cambria Math" panose="02040503050406030204"/>
                <a:cs typeface="Cambria Math" panose="02040503050406030204"/>
              </a:rPr>
              <a:t>2</a:t>
            </a:r>
            <a:endParaRPr sz="1750">
              <a:latin typeface="Cambria Math" panose="02040503050406030204"/>
              <a:cs typeface="Cambria Math" panose="02040503050406030204"/>
            </a:endParaRPr>
          </a:p>
          <a:p>
            <a:pPr marL="44450">
              <a:lnSpc>
                <a:spcPts val="2660"/>
              </a:lnSpc>
            </a:pPr>
            <a:r>
              <a:rPr sz="2400" spc="-50" dirty="0">
                <a:latin typeface="Cambria Math" panose="02040503050406030204"/>
                <a:cs typeface="Cambria Math" panose="02040503050406030204"/>
              </a:rPr>
              <a:t>⋮</a:t>
            </a:r>
            <a:endParaRPr sz="24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305001" y="5789053"/>
            <a:ext cx="1943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 panose="02040503050406030204"/>
                <a:cs typeface="Cambria Math" panose="02040503050406030204"/>
              </a:rPr>
              <a:t>1</a:t>
            </a:r>
            <a:endParaRPr sz="24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940636" y="5959233"/>
            <a:ext cx="154305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50" dirty="0">
                <a:latin typeface="Cambria Math" panose="02040503050406030204"/>
                <a:cs typeface="Cambria Math" panose="02040503050406030204"/>
              </a:rPr>
              <a:t>1</a:t>
            </a:r>
            <a:endParaRPr sz="17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753311" y="5634748"/>
            <a:ext cx="6083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600" spc="-30" baseline="-28000" dirty="0">
                <a:latin typeface="Cambria Math" panose="02040503050406030204"/>
                <a:cs typeface="Cambria Math" panose="02040503050406030204"/>
              </a:rPr>
              <a:t>𝑥</a:t>
            </a:r>
            <a:r>
              <a:rPr sz="2625" spc="-30" baseline="200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1750" spc="-20" dirty="0">
                <a:latin typeface="Cambria Math" panose="02040503050406030204"/>
                <a:cs typeface="Cambria Math" panose="02040503050406030204"/>
              </a:rPr>
              <a:t>𝑚</a:t>
            </a:r>
            <a:r>
              <a:rPr sz="2625" spc="-30" baseline="2000" dirty="0">
                <a:latin typeface="Cambria Math" panose="02040503050406030204"/>
                <a:cs typeface="Cambria Math" panose="02040503050406030204"/>
              </a:rPr>
              <a:t>)</a:t>
            </a:r>
            <a:endParaRPr sz="2625" baseline="2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2789631" y="5959233"/>
            <a:ext cx="154305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50" dirty="0">
                <a:latin typeface="Cambria Math" panose="02040503050406030204"/>
                <a:cs typeface="Cambria Math" panose="02040503050406030204"/>
              </a:rPr>
              <a:t>2</a:t>
            </a:r>
            <a:endParaRPr sz="17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602306" y="5634748"/>
            <a:ext cx="6083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600" spc="-30" baseline="-28000" dirty="0">
                <a:latin typeface="Cambria Math" panose="02040503050406030204"/>
                <a:cs typeface="Cambria Math" panose="02040503050406030204"/>
              </a:rPr>
              <a:t>𝑥</a:t>
            </a:r>
            <a:r>
              <a:rPr sz="2625" spc="-30" baseline="200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1750" spc="-20" dirty="0">
                <a:latin typeface="Cambria Math" panose="02040503050406030204"/>
                <a:cs typeface="Cambria Math" panose="02040503050406030204"/>
              </a:rPr>
              <a:t>𝑚</a:t>
            </a:r>
            <a:r>
              <a:rPr sz="2625" spc="-30" baseline="2000" dirty="0">
                <a:latin typeface="Cambria Math" panose="02040503050406030204"/>
                <a:cs typeface="Cambria Math" panose="02040503050406030204"/>
              </a:rPr>
              <a:t>)</a:t>
            </a:r>
            <a:endParaRPr sz="2625" baseline="2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638626" y="5959868"/>
            <a:ext cx="154305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50" dirty="0">
                <a:latin typeface="Cambria Math" panose="02040503050406030204"/>
                <a:cs typeface="Cambria Math" panose="02040503050406030204"/>
              </a:rPr>
              <a:t>3</a:t>
            </a:r>
            <a:endParaRPr sz="17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3451301" y="5634748"/>
            <a:ext cx="6083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600" spc="-30" baseline="-28000" dirty="0">
                <a:latin typeface="Cambria Math" panose="02040503050406030204"/>
                <a:cs typeface="Cambria Math" panose="02040503050406030204"/>
              </a:rPr>
              <a:t>𝑥</a:t>
            </a:r>
            <a:r>
              <a:rPr sz="2625" spc="-30" baseline="200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1750" spc="-20" dirty="0">
                <a:latin typeface="Cambria Math" panose="02040503050406030204"/>
                <a:cs typeface="Cambria Math" panose="02040503050406030204"/>
              </a:rPr>
              <a:t>𝑚</a:t>
            </a:r>
            <a:r>
              <a:rPr sz="2625" spc="-30" baseline="2000" dirty="0">
                <a:latin typeface="Cambria Math" panose="02040503050406030204"/>
                <a:cs typeface="Cambria Math" panose="02040503050406030204"/>
              </a:rPr>
              <a:t>)</a:t>
            </a:r>
            <a:endParaRPr sz="2625" baseline="2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3631641" y="4343158"/>
            <a:ext cx="1616710" cy="1837055"/>
          </a:xfrm>
          <a:prstGeom prst="rect">
            <a:avLst/>
          </a:prstGeom>
        </p:spPr>
        <p:txBody>
          <a:bodyPr vert="horz" wrap="square" lIns="0" tIns="153035" rIns="0" bIns="0" rtlCol="0">
            <a:spAutoFit/>
          </a:bodyPr>
          <a:lstStyle/>
          <a:p>
            <a:pPr marL="706120">
              <a:lnSpc>
                <a:spcPct val="100000"/>
              </a:lnSpc>
              <a:spcBef>
                <a:spcPts val="1205"/>
              </a:spcBef>
            </a:pPr>
            <a:r>
              <a:rPr sz="2400" spc="-50" dirty="0">
                <a:latin typeface="Cambria Math" panose="02040503050406030204"/>
                <a:cs typeface="Cambria Math" panose="02040503050406030204"/>
              </a:rPr>
              <a:t>…</a:t>
            </a:r>
            <a:endParaRPr sz="2400">
              <a:latin typeface="Cambria Math" panose="02040503050406030204"/>
              <a:cs typeface="Cambria Math" panose="02040503050406030204"/>
            </a:endParaRPr>
          </a:p>
          <a:p>
            <a:pPr marL="50800">
              <a:lnSpc>
                <a:spcPct val="100000"/>
              </a:lnSpc>
              <a:spcBef>
                <a:spcPts val="1105"/>
              </a:spcBef>
              <a:tabLst>
                <a:tab pos="706120" algn="l"/>
                <a:tab pos="1433195" algn="l"/>
              </a:tabLst>
            </a:pPr>
            <a:r>
              <a:rPr sz="2625" spc="-75" baseline="-22000" dirty="0">
                <a:latin typeface="Cambria Math" panose="02040503050406030204"/>
                <a:cs typeface="Cambria Math" panose="02040503050406030204"/>
              </a:rPr>
              <a:t>3</a:t>
            </a:r>
            <a:r>
              <a:rPr sz="2625" baseline="-220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2400" spc="-50" dirty="0">
                <a:latin typeface="Cambria Math" panose="02040503050406030204"/>
                <a:cs typeface="Cambria Math" panose="02040503050406030204"/>
              </a:rPr>
              <a:t>…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2625" spc="120" baseline="-19000" dirty="0">
                <a:latin typeface="Cambria Math" panose="02040503050406030204"/>
                <a:cs typeface="Cambria Math" panose="02040503050406030204"/>
              </a:rPr>
              <a:t>𝑛</a:t>
            </a:r>
            <a:endParaRPr sz="2625" baseline="-19000">
              <a:latin typeface="Cambria Math" panose="02040503050406030204"/>
              <a:cs typeface="Cambria Math" panose="02040503050406030204"/>
            </a:endParaRPr>
          </a:p>
          <a:p>
            <a:pPr marL="26035" algn="ctr">
              <a:lnSpc>
                <a:spcPct val="100000"/>
              </a:lnSpc>
              <a:spcBef>
                <a:spcPts val="120"/>
              </a:spcBef>
              <a:tabLst>
                <a:tab pos="717550" algn="l"/>
                <a:tab pos="1409065" algn="l"/>
              </a:tabLst>
            </a:pPr>
            <a:r>
              <a:rPr sz="2400" spc="-50" dirty="0">
                <a:latin typeface="Cambria Math" panose="02040503050406030204"/>
                <a:cs typeface="Cambria Math" panose="02040503050406030204"/>
              </a:rPr>
              <a:t>⋮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2400" spc="-50" dirty="0">
                <a:latin typeface="Cambria Math" panose="02040503050406030204"/>
                <a:cs typeface="Cambria Math" panose="02040503050406030204"/>
              </a:rPr>
              <a:t>⋮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2400" spc="-50" dirty="0">
                <a:latin typeface="Cambria Math" panose="02040503050406030204"/>
                <a:cs typeface="Cambria Math" panose="02040503050406030204"/>
              </a:rPr>
              <a:t>⋮</a:t>
            </a:r>
            <a:endParaRPr sz="2400">
              <a:latin typeface="Cambria Math" panose="02040503050406030204"/>
              <a:cs typeface="Cambria Math" panose="02040503050406030204"/>
            </a:endParaRPr>
          </a:p>
          <a:p>
            <a:pPr marL="26035" algn="ctr">
              <a:lnSpc>
                <a:spcPct val="100000"/>
              </a:lnSpc>
              <a:spcBef>
                <a:spcPts val="415"/>
              </a:spcBef>
            </a:pPr>
            <a:r>
              <a:rPr sz="2400" spc="-50" dirty="0">
                <a:latin typeface="Cambria Math" panose="02040503050406030204"/>
                <a:cs typeface="Cambria Math" panose="02040503050406030204"/>
              </a:rPr>
              <a:t>…</a:t>
            </a:r>
            <a:endParaRPr sz="24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5021656" y="5944628"/>
            <a:ext cx="170180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80" dirty="0">
                <a:latin typeface="Cambria Math" panose="02040503050406030204"/>
                <a:cs typeface="Cambria Math" panose="02040503050406030204"/>
              </a:rPr>
              <a:t>𝑛</a:t>
            </a:r>
            <a:endParaRPr sz="17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4834331" y="5634748"/>
            <a:ext cx="6083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600" spc="-30" baseline="-28000" dirty="0">
                <a:latin typeface="Cambria Math" panose="02040503050406030204"/>
                <a:cs typeface="Cambria Math" panose="02040503050406030204"/>
              </a:rPr>
              <a:t>𝑥</a:t>
            </a:r>
            <a:r>
              <a:rPr sz="2625" spc="-30" baseline="200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1750" spc="-20" dirty="0">
                <a:latin typeface="Cambria Math" panose="02040503050406030204"/>
                <a:cs typeface="Cambria Math" panose="02040503050406030204"/>
              </a:rPr>
              <a:t>𝑚</a:t>
            </a:r>
            <a:r>
              <a:rPr sz="2625" spc="-30" baseline="2000" dirty="0">
                <a:latin typeface="Cambria Math" panose="02040503050406030204"/>
                <a:cs typeface="Cambria Math" panose="02040503050406030204"/>
              </a:rPr>
              <a:t>)</a:t>
            </a:r>
            <a:endParaRPr sz="2625" baseline="2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4865446" y="4329188"/>
            <a:ext cx="6959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600" baseline="-28000" dirty="0">
                <a:latin typeface="Cambria Math" panose="02040503050406030204"/>
                <a:cs typeface="Cambria Math" panose="02040503050406030204"/>
              </a:rPr>
              <a:t>𝑥</a:t>
            </a:r>
            <a:r>
              <a:rPr sz="2625" baseline="200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1750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2625" baseline="2000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2625" spc="-104" baseline="2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3600" spc="-75" baseline="-37000" dirty="0">
                <a:latin typeface="Cambria Math" panose="02040503050406030204"/>
                <a:cs typeface="Cambria Math" panose="02040503050406030204"/>
              </a:rPr>
              <a:t>⎤</a:t>
            </a:r>
            <a:endParaRPr sz="3600" baseline="-3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4865446" y="4835283"/>
            <a:ext cx="6959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600" baseline="-28000" dirty="0">
                <a:latin typeface="Cambria Math" panose="02040503050406030204"/>
                <a:cs typeface="Cambria Math" panose="02040503050406030204"/>
              </a:rPr>
              <a:t>𝑥</a:t>
            </a:r>
            <a:r>
              <a:rPr sz="2625" baseline="200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175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2625" baseline="2000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2625" spc="-104" baseline="2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3600" spc="-75" baseline="-12000" dirty="0">
                <a:latin typeface="Cambria Math" panose="02040503050406030204"/>
                <a:cs typeface="Cambria Math" panose="02040503050406030204"/>
              </a:rPr>
              <a:t>⎥</a:t>
            </a:r>
            <a:endParaRPr sz="3600" baseline="-12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5403291" y="5268353"/>
            <a:ext cx="132715" cy="1003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650"/>
              </a:lnSpc>
              <a:spcBef>
                <a:spcPts val="100"/>
              </a:spcBef>
            </a:pPr>
            <a:r>
              <a:rPr sz="2400" spc="-50" dirty="0">
                <a:latin typeface="Cambria Math" panose="02040503050406030204"/>
                <a:cs typeface="Cambria Math" panose="02040503050406030204"/>
              </a:rPr>
              <a:t>⎥</a:t>
            </a:r>
            <a:endParaRPr sz="2400">
              <a:latin typeface="Cambria Math" panose="02040503050406030204"/>
              <a:cs typeface="Cambria Math" panose="02040503050406030204"/>
            </a:endParaRPr>
          </a:p>
          <a:p>
            <a:pPr marL="12700">
              <a:lnSpc>
                <a:spcPts val="2410"/>
              </a:lnSpc>
            </a:pPr>
            <a:r>
              <a:rPr sz="2400" spc="-50" dirty="0">
                <a:latin typeface="Cambria Math" panose="02040503050406030204"/>
                <a:cs typeface="Cambria Math" panose="02040503050406030204"/>
              </a:rPr>
              <a:t>⎥</a:t>
            </a:r>
            <a:endParaRPr sz="2400">
              <a:latin typeface="Cambria Math" panose="02040503050406030204"/>
              <a:cs typeface="Cambria Math" panose="02040503050406030204"/>
            </a:endParaRPr>
          </a:p>
          <a:p>
            <a:pPr marL="12700">
              <a:lnSpc>
                <a:spcPts val="2640"/>
              </a:lnSpc>
            </a:pPr>
            <a:r>
              <a:rPr sz="2400" spc="-50" dirty="0">
                <a:latin typeface="Cambria Math" panose="02040503050406030204"/>
                <a:cs typeface="Cambria Math" panose="02040503050406030204"/>
              </a:rPr>
              <a:t>⎦</a:t>
            </a:r>
            <a:endParaRPr sz="2400">
              <a:latin typeface="Cambria Math" panose="02040503050406030204"/>
              <a:cs typeface="Cambria Math" panose="0204050305040603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999744"/>
            <a:ext cx="646430" cy="262255"/>
          </a:xfrm>
          <a:prstGeom prst="rect">
            <a:avLst/>
          </a:prstGeom>
          <a:solidFill>
            <a:srgbClr val="A40020"/>
          </a:solidFill>
        </p:spPr>
        <p:txBody>
          <a:bodyPr vert="horz" wrap="square" lIns="0" tIns="635" rIns="0" bIns="0" rtlCol="0">
            <a:spAutoFit/>
          </a:bodyPr>
          <a:lstStyle/>
          <a:p>
            <a:pPr marL="375285">
              <a:lnSpc>
                <a:spcPct val="100000"/>
              </a:lnSpc>
              <a:spcBef>
                <a:spcPts val="5"/>
              </a:spcBef>
            </a:pPr>
            <a:r>
              <a:rPr sz="1400" b="1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17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894033" y="4614964"/>
            <a:ext cx="7131684" cy="2171700"/>
          </a:xfrm>
          <a:custGeom>
            <a:avLst/>
            <a:gdLst/>
            <a:ahLst/>
            <a:cxnLst/>
            <a:rect l="l" t="t" r="r" b="b"/>
            <a:pathLst>
              <a:path w="7131684" h="2171700">
                <a:moveTo>
                  <a:pt x="6862140" y="12700"/>
                </a:moveTo>
                <a:lnTo>
                  <a:pt x="268909" y="12700"/>
                </a:lnTo>
                <a:lnTo>
                  <a:pt x="277761" y="0"/>
                </a:lnTo>
                <a:lnTo>
                  <a:pt x="6853300" y="0"/>
                </a:lnTo>
                <a:lnTo>
                  <a:pt x="6862140" y="12700"/>
                </a:lnTo>
                <a:close/>
              </a:path>
              <a:path w="7131684" h="2171700">
                <a:moveTo>
                  <a:pt x="352590" y="25400"/>
                </a:moveTo>
                <a:lnTo>
                  <a:pt x="234480" y="25400"/>
                </a:lnTo>
                <a:lnTo>
                  <a:pt x="242938" y="12700"/>
                </a:lnTo>
                <a:lnTo>
                  <a:pt x="361772" y="12700"/>
                </a:lnTo>
                <a:lnTo>
                  <a:pt x="352590" y="25400"/>
                </a:lnTo>
                <a:close/>
              </a:path>
              <a:path w="7131684" h="2171700">
                <a:moveTo>
                  <a:pt x="6896595" y="25400"/>
                </a:moveTo>
                <a:lnTo>
                  <a:pt x="6778777" y="25400"/>
                </a:lnTo>
                <a:lnTo>
                  <a:pt x="6769595" y="12700"/>
                </a:lnTo>
                <a:lnTo>
                  <a:pt x="6888124" y="12700"/>
                </a:lnTo>
                <a:lnTo>
                  <a:pt x="6896595" y="25400"/>
                </a:lnTo>
                <a:close/>
              </a:path>
              <a:path w="7131684" h="2171700">
                <a:moveTo>
                  <a:pt x="275856" y="38100"/>
                </a:moveTo>
                <a:lnTo>
                  <a:pt x="201917" y="38100"/>
                </a:lnTo>
                <a:lnTo>
                  <a:pt x="209969" y="25400"/>
                </a:lnTo>
                <a:lnTo>
                  <a:pt x="284391" y="25400"/>
                </a:lnTo>
                <a:lnTo>
                  <a:pt x="275856" y="38100"/>
                </a:lnTo>
                <a:close/>
              </a:path>
              <a:path w="7131684" h="2171700">
                <a:moveTo>
                  <a:pt x="6929716" y="38100"/>
                </a:moveTo>
                <a:lnTo>
                  <a:pt x="6855510" y="38100"/>
                </a:lnTo>
                <a:lnTo>
                  <a:pt x="6846976" y="25400"/>
                </a:lnTo>
                <a:lnTo>
                  <a:pt x="6921677" y="25400"/>
                </a:lnTo>
                <a:lnTo>
                  <a:pt x="6929716" y="38100"/>
                </a:lnTo>
                <a:close/>
              </a:path>
              <a:path w="7131684" h="2171700">
                <a:moveTo>
                  <a:pt x="236004" y="50800"/>
                </a:moveTo>
                <a:lnTo>
                  <a:pt x="178460" y="50800"/>
                </a:lnTo>
                <a:lnTo>
                  <a:pt x="186156" y="38100"/>
                </a:lnTo>
                <a:lnTo>
                  <a:pt x="244081" y="38100"/>
                </a:lnTo>
                <a:lnTo>
                  <a:pt x="236004" y="50800"/>
                </a:lnTo>
                <a:close/>
              </a:path>
              <a:path w="7131684" h="2171700">
                <a:moveTo>
                  <a:pt x="6953173" y="50800"/>
                </a:moveTo>
                <a:lnTo>
                  <a:pt x="6895363" y="50800"/>
                </a:lnTo>
                <a:lnTo>
                  <a:pt x="6887286" y="38100"/>
                </a:lnTo>
                <a:lnTo>
                  <a:pt x="6945464" y="38100"/>
                </a:lnTo>
                <a:lnTo>
                  <a:pt x="6953173" y="50800"/>
                </a:lnTo>
                <a:close/>
              </a:path>
              <a:path w="7131684" h="2171700">
                <a:moveTo>
                  <a:pt x="205841" y="63500"/>
                </a:moveTo>
                <a:lnTo>
                  <a:pt x="156082" y="63500"/>
                </a:lnTo>
                <a:lnTo>
                  <a:pt x="163410" y="50800"/>
                </a:lnTo>
                <a:lnTo>
                  <a:pt x="213499" y="50800"/>
                </a:lnTo>
                <a:lnTo>
                  <a:pt x="205841" y="63500"/>
                </a:lnTo>
                <a:close/>
              </a:path>
              <a:path w="7131684" h="2171700">
                <a:moveTo>
                  <a:pt x="6975525" y="63500"/>
                </a:moveTo>
                <a:lnTo>
                  <a:pt x="6925525" y="63500"/>
                </a:lnTo>
                <a:lnTo>
                  <a:pt x="6917867" y="50800"/>
                </a:lnTo>
                <a:lnTo>
                  <a:pt x="6967956" y="50800"/>
                </a:lnTo>
                <a:lnTo>
                  <a:pt x="6975525" y="63500"/>
                </a:lnTo>
                <a:close/>
              </a:path>
              <a:path w="7131684" h="2171700">
                <a:moveTo>
                  <a:pt x="184327" y="76200"/>
                </a:moveTo>
                <a:lnTo>
                  <a:pt x="141808" y="76200"/>
                </a:lnTo>
                <a:lnTo>
                  <a:pt x="148882" y="63500"/>
                </a:lnTo>
                <a:lnTo>
                  <a:pt x="191642" y="63500"/>
                </a:lnTo>
                <a:lnTo>
                  <a:pt x="184327" y="76200"/>
                </a:lnTo>
                <a:close/>
              </a:path>
              <a:path w="7131684" h="2171700">
                <a:moveTo>
                  <a:pt x="6989787" y="76200"/>
                </a:moveTo>
                <a:lnTo>
                  <a:pt x="6947039" y="76200"/>
                </a:lnTo>
                <a:lnTo>
                  <a:pt x="6939724" y="63500"/>
                </a:lnTo>
                <a:lnTo>
                  <a:pt x="6982726" y="63500"/>
                </a:lnTo>
                <a:lnTo>
                  <a:pt x="6989787" y="76200"/>
                </a:lnTo>
                <a:close/>
              </a:path>
              <a:path w="7131684" h="2171700">
                <a:moveTo>
                  <a:pt x="163842" y="88900"/>
                </a:moveTo>
                <a:lnTo>
                  <a:pt x="128079" y="88900"/>
                </a:lnTo>
                <a:lnTo>
                  <a:pt x="134873" y="76200"/>
                </a:lnTo>
                <a:lnTo>
                  <a:pt x="170802" y="76200"/>
                </a:lnTo>
                <a:lnTo>
                  <a:pt x="163842" y="88900"/>
                </a:lnTo>
                <a:close/>
              </a:path>
              <a:path w="7131684" h="2171700">
                <a:moveTo>
                  <a:pt x="170548" y="88900"/>
                </a:moveTo>
                <a:lnTo>
                  <a:pt x="170802" y="76200"/>
                </a:lnTo>
                <a:lnTo>
                  <a:pt x="177634" y="76200"/>
                </a:lnTo>
                <a:lnTo>
                  <a:pt x="170548" y="88900"/>
                </a:lnTo>
                <a:close/>
              </a:path>
              <a:path w="7131684" h="2171700">
                <a:moveTo>
                  <a:pt x="6960806" y="88900"/>
                </a:moveTo>
                <a:lnTo>
                  <a:pt x="6953732" y="76200"/>
                </a:lnTo>
                <a:lnTo>
                  <a:pt x="6960565" y="76200"/>
                </a:lnTo>
                <a:lnTo>
                  <a:pt x="6960806" y="88900"/>
                </a:lnTo>
                <a:close/>
              </a:path>
              <a:path w="7131684" h="2171700">
                <a:moveTo>
                  <a:pt x="7003516" y="88900"/>
                </a:moveTo>
                <a:lnTo>
                  <a:pt x="6967512" y="88900"/>
                </a:lnTo>
                <a:lnTo>
                  <a:pt x="6960565" y="76200"/>
                </a:lnTo>
                <a:lnTo>
                  <a:pt x="6996493" y="76200"/>
                </a:lnTo>
                <a:lnTo>
                  <a:pt x="7003516" y="88900"/>
                </a:lnTo>
                <a:close/>
              </a:path>
              <a:path w="7131684" h="2171700">
                <a:moveTo>
                  <a:pt x="150812" y="101600"/>
                </a:moveTo>
                <a:lnTo>
                  <a:pt x="114909" y="101600"/>
                </a:lnTo>
                <a:lnTo>
                  <a:pt x="121424" y="88900"/>
                </a:lnTo>
                <a:lnTo>
                  <a:pt x="157505" y="88900"/>
                </a:lnTo>
                <a:lnTo>
                  <a:pt x="150812" y="101600"/>
                </a:lnTo>
                <a:close/>
              </a:path>
              <a:path w="7131684" h="2171700">
                <a:moveTo>
                  <a:pt x="7016673" y="101600"/>
                </a:moveTo>
                <a:lnTo>
                  <a:pt x="6980554" y="101600"/>
                </a:lnTo>
                <a:lnTo>
                  <a:pt x="6973862" y="88900"/>
                </a:lnTo>
                <a:lnTo>
                  <a:pt x="7010171" y="88900"/>
                </a:lnTo>
                <a:lnTo>
                  <a:pt x="7016673" y="101600"/>
                </a:lnTo>
                <a:close/>
              </a:path>
              <a:path w="7131684" h="2171700">
                <a:moveTo>
                  <a:pt x="138277" y="114300"/>
                </a:moveTo>
                <a:lnTo>
                  <a:pt x="102336" y="114300"/>
                </a:lnTo>
                <a:lnTo>
                  <a:pt x="108546" y="101600"/>
                </a:lnTo>
                <a:lnTo>
                  <a:pt x="144703" y="101600"/>
                </a:lnTo>
                <a:lnTo>
                  <a:pt x="138277" y="114300"/>
                </a:lnTo>
                <a:close/>
              </a:path>
              <a:path w="7131684" h="2171700">
                <a:moveTo>
                  <a:pt x="7029030" y="114300"/>
                </a:moveTo>
                <a:lnTo>
                  <a:pt x="6993077" y="114300"/>
                </a:lnTo>
                <a:lnTo>
                  <a:pt x="6986650" y="101600"/>
                </a:lnTo>
                <a:lnTo>
                  <a:pt x="7023023" y="101600"/>
                </a:lnTo>
                <a:lnTo>
                  <a:pt x="7029030" y="114300"/>
                </a:lnTo>
                <a:close/>
              </a:path>
              <a:path w="7131684" h="2171700">
                <a:moveTo>
                  <a:pt x="120510" y="127000"/>
                </a:moveTo>
                <a:lnTo>
                  <a:pt x="90373" y="127000"/>
                </a:lnTo>
                <a:lnTo>
                  <a:pt x="96278" y="114300"/>
                </a:lnTo>
                <a:lnTo>
                  <a:pt x="126504" y="114300"/>
                </a:lnTo>
                <a:lnTo>
                  <a:pt x="120510" y="127000"/>
                </a:lnTo>
                <a:close/>
              </a:path>
              <a:path w="7131684" h="2171700">
                <a:moveTo>
                  <a:pt x="7041197" y="127000"/>
                </a:moveTo>
                <a:lnTo>
                  <a:pt x="7010857" y="127000"/>
                </a:lnTo>
                <a:lnTo>
                  <a:pt x="7004850" y="114300"/>
                </a:lnTo>
                <a:lnTo>
                  <a:pt x="7035292" y="114300"/>
                </a:lnTo>
                <a:lnTo>
                  <a:pt x="7041197" y="127000"/>
                </a:lnTo>
                <a:close/>
              </a:path>
              <a:path w="7131684" h="2171700">
                <a:moveTo>
                  <a:pt x="109372" y="139700"/>
                </a:moveTo>
                <a:lnTo>
                  <a:pt x="79032" y="139700"/>
                </a:lnTo>
                <a:lnTo>
                  <a:pt x="84620" y="127000"/>
                </a:lnTo>
                <a:lnTo>
                  <a:pt x="115074" y="127000"/>
                </a:lnTo>
                <a:lnTo>
                  <a:pt x="109372" y="139700"/>
                </a:lnTo>
                <a:close/>
              </a:path>
              <a:path w="7131684" h="2171700">
                <a:moveTo>
                  <a:pt x="7052513" y="139700"/>
                </a:moveTo>
                <a:lnTo>
                  <a:pt x="7021995" y="139700"/>
                </a:lnTo>
                <a:lnTo>
                  <a:pt x="7016292" y="127000"/>
                </a:lnTo>
                <a:lnTo>
                  <a:pt x="7046937" y="127000"/>
                </a:lnTo>
                <a:lnTo>
                  <a:pt x="7052513" y="139700"/>
                </a:lnTo>
                <a:close/>
              </a:path>
              <a:path w="7131684" h="2171700">
                <a:moveTo>
                  <a:pt x="98818" y="152400"/>
                </a:moveTo>
                <a:lnTo>
                  <a:pt x="68364" y="152400"/>
                </a:lnTo>
                <a:lnTo>
                  <a:pt x="73609" y="139700"/>
                </a:lnTo>
                <a:lnTo>
                  <a:pt x="104216" y="139700"/>
                </a:lnTo>
                <a:lnTo>
                  <a:pt x="98818" y="152400"/>
                </a:lnTo>
                <a:close/>
              </a:path>
              <a:path w="7131684" h="2171700">
                <a:moveTo>
                  <a:pt x="7063181" y="152400"/>
                </a:moveTo>
                <a:lnTo>
                  <a:pt x="7032548" y="152400"/>
                </a:lnTo>
                <a:lnTo>
                  <a:pt x="7027151" y="139700"/>
                </a:lnTo>
                <a:lnTo>
                  <a:pt x="7057936" y="139700"/>
                </a:lnTo>
                <a:lnTo>
                  <a:pt x="7063181" y="152400"/>
                </a:lnTo>
                <a:close/>
              </a:path>
              <a:path w="7131684" h="2171700">
                <a:moveTo>
                  <a:pt x="79578" y="177800"/>
                </a:moveTo>
                <a:lnTo>
                  <a:pt x="53632" y="177800"/>
                </a:lnTo>
                <a:lnTo>
                  <a:pt x="58369" y="165100"/>
                </a:lnTo>
                <a:lnTo>
                  <a:pt x="63271" y="152400"/>
                </a:lnTo>
                <a:lnTo>
                  <a:pt x="93954" y="152400"/>
                </a:lnTo>
                <a:lnTo>
                  <a:pt x="88887" y="165100"/>
                </a:lnTo>
                <a:lnTo>
                  <a:pt x="84327" y="165100"/>
                </a:lnTo>
                <a:lnTo>
                  <a:pt x="79578" y="177800"/>
                </a:lnTo>
                <a:close/>
              </a:path>
              <a:path w="7131684" h="2171700">
                <a:moveTo>
                  <a:pt x="7077900" y="177800"/>
                </a:moveTo>
                <a:lnTo>
                  <a:pt x="7051789" y="177800"/>
                </a:lnTo>
                <a:lnTo>
                  <a:pt x="7047039" y="165100"/>
                </a:lnTo>
                <a:lnTo>
                  <a:pt x="7042480" y="165100"/>
                </a:lnTo>
                <a:lnTo>
                  <a:pt x="7037412" y="152400"/>
                </a:lnTo>
                <a:lnTo>
                  <a:pt x="7068261" y="152400"/>
                </a:lnTo>
                <a:lnTo>
                  <a:pt x="7073163" y="165100"/>
                </a:lnTo>
                <a:lnTo>
                  <a:pt x="7077900" y="177800"/>
                </a:lnTo>
                <a:close/>
              </a:path>
              <a:path w="7131684" h="2171700">
                <a:moveTo>
                  <a:pt x="75171" y="190500"/>
                </a:moveTo>
                <a:lnTo>
                  <a:pt x="44703" y="190500"/>
                </a:lnTo>
                <a:lnTo>
                  <a:pt x="49072" y="177800"/>
                </a:lnTo>
                <a:lnTo>
                  <a:pt x="79743" y="177800"/>
                </a:lnTo>
                <a:lnTo>
                  <a:pt x="75171" y="190500"/>
                </a:lnTo>
                <a:close/>
              </a:path>
              <a:path w="7131684" h="2171700">
                <a:moveTo>
                  <a:pt x="7086815" y="190500"/>
                </a:moveTo>
                <a:lnTo>
                  <a:pt x="7056183" y="190500"/>
                </a:lnTo>
                <a:lnTo>
                  <a:pt x="7051624" y="177800"/>
                </a:lnTo>
                <a:lnTo>
                  <a:pt x="7082447" y="177800"/>
                </a:lnTo>
                <a:lnTo>
                  <a:pt x="7086815" y="190500"/>
                </a:lnTo>
                <a:close/>
              </a:path>
              <a:path w="7131684" h="2171700">
                <a:moveTo>
                  <a:pt x="59385" y="215900"/>
                </a:moveTo>
                <a:lnTo>
                  <a:pt x="32562" y="215900"/>
                </a:lnTo>
                <a:lnTo>
                  <a:pt x="36512" y="203200"/>
                </a:lnTo>
                <a:lnTo>
                  <a:pt x="40512" y="190500"/>
                </a:lnTo>
                <a:lnTo>
                  <a:pt x="71094" y="190500"/>
                </a:lnTo>
                <a:lnTo>
                  <a:pt x="66865" y="203200"/>
                </a:lnTo>
                <a:lnTo>
                  <a:pt x="63118" y="203200"/>
                </a:lnTo>
                <a:lnTo>
                  <a:pt x="59385" y="215900"/>
                </a:lnTo>
                <a:close/>
              </a:path>
              <a:path w="7131684" h="2171700">
                <a:moveTo>
                  <a:pt x="7098804" y="215900"/>
                </a:moveTo>
                <a:lnTo>
                  <a:pt x="7072109" y="215900"/>
                </a:lnTo>
                <a:lnTo>
                  <a:pt x="7068248" y="203200"/>
                </a:lnTo>
                <a:lnTo>
                  <a:pt x="7064502" y="203200"/>
                </a:lnTo>
                <a:lnTo>
                  <a:pt x="7060272" y="190500"/>
                </a:lnTo>
                <a:lnTo>
                  <a:pt x="7090994" y="190500"/>
                </a:lnTo>
                <a:lnTo>
                  <a:pt x="7094994" y="203200"/>
                </a:lnTo>
                <a:lnTo>
                  <a:pt x="7098804" y="215900"/>
                </a:lnTo>
                <a:close/>
              </a:path>
              <a:path w="7131684" h="2171700">
                <a:moveTo>
                  <a:pt x="49275" y="241300"/>
                </a:moveTo>
                <a:lnTo>
                  <a:pt x="22326" y="241300"/>
                </a:lnTo>
                <a:lnTo>
                  <a:pt x="25539" y="228600"/>
                </a:lnTo>
                <a:lnTo>
                  <a:pt x="28955" y="215900"/>
                </a:lnTo>
                <a:lnTo>
                  <a:pt x="55841" y="215900"/>
                </a:lnTo>
                <a:lnTo>
                  <a:pt x="52463" y="228600"/>
                </a:lnTo>
                <a:lnTo>
                  <a:pt x="49275" y="241300"/>
                </a:lnTo>
                <a:close/>
              </a:path>
              <a:path w="7131684" h="2171700">
                <a:moveTo>
                  <a:pt x="7108939" y="241300"/>
                </a:moveTo>
                <a:lnTo>
                  <a:pt x="7082193" y="241300"/>
                </a:lnTo>
                <a:lnTo>
                  <a:pt x="7079018" y="228600"/>
                </a:lnTo>
                <a:lnTo>
                  <a:pt x="7075652" y="215900"/>
                </a:lnTo>
                <a:lnTo>
                  <a:pt x="7102284" y="215900"/>
                </a:lnTo>
                <a:lnTo>
                  <a:pt x="7105713" y="228600"/>
                </a:lnTo>
                <a:lnTo>
                  <a:pt x="7108939" y="241300"/>
                </a:lnTo>
                <a:close/>
              </a:path>
              <a:path w="7131684" h="2171700">
                <a:moveTo>
                  <a:pt x="40843" y="266700"/>
                </a:moveTo>
                <a:lnTo>
                  <a:pt x="13982" y="266700"/>
                </a:lnTo>
                <a:lnTo>
                  <a:pt x="16497" y="254000"/>
                </a:lnTo>
                <a:lnTo>
                  <a:pt x="19303" y="241300"/>
                </a:lnTo>
                <a:lnTo>
                  <a:pt x="46278" y="241300"/>
                </a:lnTo>
                <a:lnTo>
                  <a:pt x="43472" y="254000"/>
                </a:lnTo>
                <a:lnTo>
                  <a:pt x="40843" y="266700"/>
                </a:lnTo>
                <a:close/>
              </a:path>
              <a:path w="7131684" h="2171700">
                <a:moveTo>
                  <a:pt x="7117372" y="266700"/>
                </a:moveTo>
                <a:lnTo>
                  <a:pt x="7090613" y="266700"/>
                </a:lnTo>
                <a:lnTo>
                  <a:pt x="7087996" y="254000"/>
                </a:lnTo>
                <a:lnTo>
                  <a:pt x="7085190" y="241300"/>
                </a:lnTo>
                <a:lnTo>
                  <a:pt x="7111949" y="241300"/>
                </a:lnTo>
                <a:lnTo>
                  <a:pt x="7114768" y="254000"/>
                </a:lnTo>
                <a:lnTo>
                  <a:pt x="7117372" y="266700"/>
                </a:lnTo>
                <a:close/>
              </a:path>
              <a:path w="7131684" h="2171700">
                <a:moveTo>
                  <a:pt x="26301" y="1828800"/>
                </a:moveTo>
                <a:lnTo>
                  <a:pt x="977" y="1828800"/>
                </a:lnTo>
                <a:lnTo>
                  <a:pt x="368" y="1816100"/>
                </a:lnTo>
                <a:lnTo>
                  <a:pt x="12" y="1803400"/>
                </a:lnTo>
                <a:lnTo>
                  <a:pt x="0" y="355600"/>
                </a:lnTo>
                <a:lnTo>
                  <a:pt x="355" y="342900"/>
                </a:lnTo>
                <a:lnTo>
                  <a:pt x="952" y="330200"/>
                </a:lnTo>
                <a:lnTo>
                  <a:pt x="1777" y="330200"/>
                </a:lnTo>
                <a:lnTo>
                  <a:pt x="2844" y="317500"/>
                </a:lnTo>
                <a:lnTo>
                  <a:pt x="4127" y="304800"/>
                </a:lnTo>
                <a:lnTo>
                  <a:pt x="5638" y="304800"/>
                </a:lnTo>
                <a:lnTo>
                  <a:pt x="7378" y="292100"/>
                </a:lnTo>
                <a:lnTo>
                  <a:pt x="9334" y="279400"/>
                </a:lnTo>
                <a:lnTo>
                  <a:pt x="11518" y="266700"/>
                </a:lnTo>
                <a:lnTo>
                  <a:pt x="38417" y="266700"/>
                </a:lnTo>
                <a:lnTo>
                  <a:pt x="36194" y="279400"/>
                </a:lnTo>
                <a:lnTo>
                  <a:pt x="34162" y="292100"/>
                </a:lnTo>
                <a:lnTo>
                  <a:pt x="32321" y="292100"/>
                </a:lnTo>
                <a:lnTo>
                  <a:pt x="30695" y="304800"/>
                </a:lnTo>
                <a:lnTo>
                  <a:pt x="29286" y="317500"/>
                </a:lnTo>
                <a:lnTo>
                  <a:pt x="28079" y="317500"/>
                </a:lnTo>
                <a:lnTo>
                  <a:pt x="27076" y="330200"/>
                </a:lnTo>
                <a:lnTo>
                  <a:pt x="26301" y="342900"/>
                </a:lnTo>
                <a:lnTo>
                  <a:pt x="25742" y="342900"/>
                </a:lnTo>
                <a:lnTo>
                  <a:pt x="25400" y="355600"/>
                </a:lnTo>
                <a:lnTo>
                  <a:pt x="25387" y="1803400"/>
                </a:lnTo>
                <a:lnTo>
                  <a:pt x="25717" y="1816100"/>
                </a:lnTo>
                <a:lnTo>
                  <a:pt x="26301" y="1828800"/>
                </a:lnTo>
                <a:close/>
              </a:path>
              <a:path w="7131684" h="2171700">
                <a:moveTo>
                  <a:pt x="7123925" y="292100"/>
                </a:moveTo>
                <a:lnTo>
                  <a:pt x="7097280" y="292100"/>
                </a:lnTo>
                <a:lnTo>
                  <a:pt x="7095261" y="279400"/>
                </a:lnTo>
                <a:lnTo>
                  <a:pt x="7093026" y="266700"/>
                </a:lnTo>
                <a:lnTo>
                  <a:pt x="7119772" y="266700"/>
                </a:lnTo>
                <a:lnTo>
                  <a:pt x="7121956" y="279400"/>
                </a:lnTo>
                <a:lnTo>
                  <a:pt x="7123925" y="292100"/>
                </a:lnTo>
                <a:close/>
              </a:path>
              <a:path w="7131684" h="2171700">
                <a:moveTo>
                  <a:pt x="7130415" y="1828800"/>
                </a:moveTo>
                <a:lnTo>
                  <a:pt x="7105065" y="1828800"/>
                </a:lnTo>
                <a:lnTo>
                  <a:pt x="7105624" y="1816100"/>
                </a:lnTo>
                <a:lnTo>
                  <a:pt x="7105967" y="1803400"/>
                </a:lnTo>
                <a:lnTo>
                  <a:pt x="7105980" y="355600"/>
                </a:lnTo>
                <a:lnTo>
                  <a:pt x="7105637" y="342900"/>
                </a:lnTo>
                <a:lnTo>
                  <a:pt x="7105091" y="342900"/>
                </a:lnTo>
                <a:lnTo>
                  <a:pt x="7104316" y="330200"/>
                </a:lnTo>
                <a:lnTo>
                  <a:pt x="7103325" y="317500"/>
                </a:lnTo>
                <a:lnTo>
                  <a:pt x="7102132" y="317500"/>
                </a:lnTo>
                <a:lnTo>
                  <a:pt x="7100722" y="304800"/>
                </a:lnTo>
                <a:lnTo>
                  <a:pt x="7099096" y="292100"/>
                </a:lnTo>
                <a:lnTo>
                  <a:pt x="7125665" y="292100"/>
                </a:lnTo>
                <a:lnTo>
                  <a:pt x="7127189" y="304800"/>
                </a:lnTo>
                <a:lnTo>
                  <a:pt x="7128484" y="317500"/>
                </a:lnTo>
                <a:lnTo>
                  <a:pt x="7129551" y="330200"/>
                </a:lnTo>
                <a:lnTo>
                  <a:pt x="7130389" y="330200"/>
                </a:lnTo>
                <a:lnTo>
                  <a:pt x="7130986" y="342900"/>
                </a:lnTo>
                <a:lnTo>
                  <a:pt x="7131354" y="355600"/>
                </a:lnTo>
                <a:lnTo>
                  <a:pt x="7131354" y="1803400"/>
                </a:lnTo>
                <a:lnTo>
                  <a:pt x="7131011" y="1816100"/>
                </a:lnTo>
                <a:lnTo>
                  <a:pt x="7130415" y="1828800"/>
                </a:lnTo>
                <a:close/>
              </a:path>
              <a:path w="7131684" h="2171700">
                <a:moveTo>
                  <a:pt x="46177" y="1917700"/>
                </a:moveTo>
                <a:lnTo>
                  <a:pt x="19405" y="1917700"/>
                </a:lnTo>
                <a:lnTo>
                  <a:pt x="16497" y="1905000"/>
                </a:lnTo>
                <a:lnTo>
                  <a:pt x="13982" y="1892300"/>
                </a:lnTo>
                <a:lnTo>
                  <a:pt x="11595" y="1892300"/>
                </a:lnTo>
                <a:lnTo>
                  <a:pt x="9410" y="1879600"/>
                </a:lnTo>
                <a:lnTo>
                  <a:pt x="7442" y="1866900"/>
                </a:lnTo>
                <a:lnTo>
                  <a:pt x="5702" y="1866900"/>
                </a:lnTo>
                <a:lnTo>
                  <a:pt x="4178" y="1854200"/>
                </a:lnTo>
                <a:lnTo>
                  <a:pt x="2882" y="1841500"/>
                </a:lnTo>
                <a:lnTo>
                  <a:pt x="1816" y="1828800"/>
                </a:lnTo>
                <a:lnTo>
                  <a:pt x="26301" y="1828800"/>
                </a:lnTo>
                <a:lnTo>
                  <a:pt x="26276" y="1816100"/>
                </a:lnTo>
                <a:lnTo>
                  <a:pt x="27050" y="1828800"/>
                </a:lnTo>
                <a:lnTo>
                  <a:pt x="28028" y="1841500"/>
                </a:lnTo>
                <a:lnTo>
                  <a:pt x="29235" y="1854200"/>
                </a:lnTo>
                <a:lnTo>
                  <a:pt x="30645" y="1854200"/>
                </a:lnTo>
                <a:lnTo>
                  <a:pt x="32257" y="1866900"/>
                </a:lnTo>
                <a:lnTo>
                  <a:pt x="34086" y="1879600"/>
                </a:lnTo>
                <a:lnTo>
                  <a:pt x="36106" y="1879600"/>
                </a:lnTo>
                <a:lnTo>
                  <a:pt x="38328" y="1892300"/>
                </a:lnTo>
                <a:lnTo>
                  <a:pt x="40843" y="1905000"/>
                </a:lnTo>
                <a:lnTo>
                  <a:pt x="43370" y="1905000"/>
                </a:lnTo>
                <a:lnTo>
                  <a:pt x="46177" y="1917700"/>
                </a:lnTo>
                <a:close/>
              </a:path>
              <a:path w="7131684" h="2171700">
                <a:moveTo>
                  <a:pt x="7114857" y="1905000"/>
                </a:moveTo>
                <a:lnTo>
                  <a:pt x="7090511" y="1905000"/>
                </a:lnTo>
                <a:lnTo>
                  <a:pt x="7092950" y="1892300"/>
                </a:lnTo>
                <a:lnTo>
                  <a:pt x="7095172" y="1879600"/>
                </a:lnTo>
                <a:lnTo>
                  <a:pt x="7097204" y="1879600"/>
                </a:lnTo>
                <a:lnTo>
                  <a:pt x="7099033" y="1866900"/>
                </a:lnTo>
                <a:lnTo>
                  <a:pt x="7100658" y="1854200"/>
                </a:lnTo>
                <a:lnTo>
                  <a:pt x="7102081" y="1854200"/>
                </a:lnTo>
                <a:lnTo>
                  <a:pt x="7103287" y="1841500"/>
                </a:lnTo>
                <a:lnTo>
                  <a:pt x="7104291" y="1828800"/>
                </a:lnTo>
                <a:lnTo>
                  <a:pt x="7105091" y="1816100"/>
                </a:lnTo>
                <a:lnTo>
                  <a:pt x="7105065" y="1828800"/>
                </a:lnTo>
                <a:lnTo>
                  <a:pt x="7129589" y="1828800"/>
                </a:lnTo>
                <a:lnTo>
                  <a:pt x="7128522" y="1841500"/>
                </a:lnTo>
                <a:lnTo>
                  <a:pt x="7127240" y="1854200"/>
                </a:lnTo>
                <a:lnTo>
                  <a:pt x="7125715" y="1866900"/>
                </a:lnTo>
                <a:lnTo>
                  <a:pt x="7123988" y="1866900"/>
                </a:lnTo>
                <a:lnTo>
                  <a:pt x="7122020" y="1879600"/>
                </a:lnTo>
                <a:lnTo>
                  <a:pt x="7119848" y="1892300"/>
                </a:lnTo>
                <a:lnTo>
                  <a:pt x="7117461" y="1892300"/>
                </a:lnTo>
                <a:lnTo>
                  <a:pt x="7114857" y="1905000"/>
                </a:lnTo>
                <a:close/>
              </a:path>
              <a:path w="7131684" h="2171700">
                <a:moveTo>
                  <a:pt x="43370" y="1905000"/>
                </a:moveTo>
                <a:lnTo>
                  <a:pt x="40843" y="1905000"/>
                </a:lnTo>
                <a:lnTo>
                  <a:pt x="40754" y="1892300"/>
                </a:lnTo>
                <a:lnTo>
                  <a:pt x="43370" y="1905000"/>
                </a:lnTo>
                <a:close/>
              </a:path>
              <a:path w="7131684" h="2171700">
                <a:moveTo>
                  <a:pt x="7112050" y="1917700"/>
                </a:moveTo>
                <a:lnTo>
                  <a:pt x="7085088" y="1917700"/>
                </a:lnTo>
                <a:lnTo>
                  <a:pt x="7087895" y="1905000"/>
                </a:lnTo>
                <a:lnTo>
                  <a:pt x="7090613" y="1892300"/>
                </a:lnTo>
                <a:lnTo>
                  <a:pt x="7090511" y="1905000"/>
                </a:lnTo>
                <a:lnTo>
                  <a:pt x="7114857" y="1905000"/>
                </a:lnTo>
                <a:lnTo>
                  <a:pt x="7112050" y="1917700"/>
                </a:lnTo>
                <a:close/>
              </a:path>
              <a:path w="7131684" h="2171700">
                <a:moveTo>
                  <a:pt x="55714" y="1943100"/>
                </a:moveTo>
                <a:lnTo>
                  <a:pt x="29070" y="1943100"/>
                </a:lnTo>
                <a:lnTo>
                  <a:pt x="25653" y="1930400"/>
                </a:lnTo>
                <a:lnTo>
                  <a:pt x="22428" y="1917700"/>
                </a:lnTo>
                <a:lnTo>
                  <a:pt x="49161" y="1917700"/>
                </a:lnTo>
                <a:lnTo>
                  <a:pt x="52349" y="1930400"/>
                </a:lnTo>
                <a:lnTo>
                  <a:pt x="55714" y="1943100"/>
                </a:lnTo>
                <a:close/>
              </a:path>
              <a:path w="7131684" h="2171700">
                <a:moveTo>
                  <a:pt x="7102411" y="1943100"/>
                </a:moveTo>
                <a:lnTo>
                  <a:pt x="7075525" y="1943100"/>
                </a:lnTo>
                <a:lnTo>
                  <a:pt x="7078891" y="1930400"/>
                </a:lnTo>
                <a:lnTo>
                  <a:pt x="7082078" y="1917700"/>
                </a:lnTo>
                <a:lnTo>
                  <a:pt x="7109040" y="1917700"/>
                </a:lnTo>
                <a:lnTo>
                  <a:pt x="7105827" y="1930400"/>
                </a:lnTo>
                <a:lnTo>
                  <a:pt x="7102411" y="1943100"/>
                </a:lnTo>
                <a:close/>
              </a:path>
              <a:path w="7131684" h="2171700">
                <a:moveTo>
                  <a:pt x="71094" y="1968500"/>
                </a:moveTo>
                <a:lnTo>
                  <a:pt x="40373" y="1968500"/>
                </a:lnTo>
                <a:lnTo>
                  <a:pt x="36372" y="1955800"/>
                </a:lnTo>
                <a:lnTo>
                  <a:pt x="32689" y="1943100"/>
                </a:lnTo>
                <a:lnTo>
                  <a:pt x="59258" y="1943100"/>
                </a:lnTo>
                <a:lnTo>
                  <a:pt x="63118" y="1955800"/>
                </a:lnTo>
                <a:lnTo>
                  <a:pt x="66865" y="1955800"/>
                </a:lnTo>
                <a:lnTo>
                  <a:pt x="71094" y="1968500"/>
                </a:lnTo>
                <a:close/>
              </a:path>
              <a:path w="7131684" h="2171700">
                <a:moveTo>
                  <a:pt x="7090854" y="1968500"/>
                </a:moveTo>
                <a:lnTo>
                  <a:pt x="7060272" y="1968500"/>
                </a:lnTo>
                <a:lnTo>
                  <a:pt x="7064502" y="1955800"/>
                </a:lnTo>
                <a:lnTo>
                  <a:pt x="7068248" y="1955800"/>
                </a:lnTo>
                <a:lnTo>
                  <a:pt x="7071982" y="1943100"/>
                </a:lnTo>
                <a:lnTo>
                  <a:pt x="7098804" y="1943100"/>
                </a:lnTo>
                <a:lnTo>
                  <a:pt x="7094854" y="1955800"/>
                </a:lnTo>
                <a:lnTo>
                  <a:pt x="7090854" y="1968500"/>
                </a:lnTo>
                <a:close/>
              </a:path>
              <a:path w="7131684" h="2171700">
                <a:moveTo>
                  <a:pt x="84327" y="1993900"/>
                </a:moveTo>
                <a:lnTo>
                  <a:pt x="53466" y="1993900"/>
                </a:lnTo>
                <a:lnTo>
                  <a:pt x="48920" y="1981200"/>
                </a:lnTo>
                <a:lnTo>
                  <a:pt x="44551" y="1968500"/>
                </a:lnTo>
                <a:lnTo>
                  <a:pt x="70942" y="1968500"/>
                </a:lnTo>
                <a:lnTo>
                  <a:pt x="75336" y="1981200"/>
                </a:lnTo>
                <a:lnTo>
                  <a:pt x="79578" y="1981200"/>
                </a:lnTo>
                <a:lnTo>
                  <a:pt x="84327" y="1993900"/>
                </a:lnTo>
                <a:close/>
              </a:path>
              <a:path w="7131684" h="2171700">
                <a:moveTo>
                  <a:pt x="79743" y="1981200"/>
                </a:moveTo>
                <a:lnTo>
                  <a:pt x="75336" y="1981200"/>
                </a:lnTo>
                <a:lnTo>
                  <a:pt x="75171" y="1968500"/>
                </a:lnTo>
                <a:lnTo>
                  <a:pt x="79743" y="1981200"/>
                </a:lnTo>
                <a:close/>
              </a:path>
              <a:path w="7131684" h="2171700">
                <a:moveTo>
                  <a:pt x="7056031" y="1981200"/>
                </a:moveTo>
                <a:lnTo>
                  <a:pt x="7051624" y="1981200"/>
                </a:lnTo>
                <a:lnTo>
                  <a:pt x="7056183" y="1968500"/>
                </a:lnTo>
                <a:lnTo>
                  <a:pt x="7056031" y="1981200"/>
                </a:lnTo>
                <a:close/>
              </a:path>
              <a:path w="7131684" h="2171700">
                <a:moveTo>
                  <a:pt x="7077735" y="1993900"/>
                </a:moveTo>
                <a:lnTo>
                  <a:pt x="7047039" y="1993900"/>
                </a:lnTo>
                <a:lnTo>
                  <a:pt x="7051789" y="1981200"/>
                </a:lnTo>
                <a:lnTo>
                  <a:pt x="7056031" y="1981200"/>
                </a:lnTo>
                <a:lnTo>
                  <a:pt x="7060425" y="1968500"/>
                </a:lnTo>
                <a:lnTo>
                  <a:pt x="7086663" y="1968500"/>
                </a:lnTo>
                <a:lnTo>
                  <a:pt x="7082294" y="1981200"/>
                </a:lnTo>
                <a:lnTo>
                  <a:pt x="7077735" y="1993900"/>
                </a:lnTo>
                <a:close/>
              </a:path>
              <a:path w="7131684" h="2171700">
                <a:moveTo>
                  <a:pt x="93954" y="2006600"/>
                </a:moveTo>
                <a:lnTo>
                  <a:pt x="63106" y="2006600"/>
                </a:lnTo>
                <a:lnTo>
                  <a:pt x="58204" y="1993900"/>
                </a:lnTo>
                <a:lnTo>
                  <a:pt x="88887" y="1993900"/>
                </a:lnTo>
                <a:lnTo>
                  <a:pt x="93954" y="2006600"/>
                </a:lnTo>
                <a:close/>
              </a:path>
              <a:path w="7131684" h="2171700">
                <a:moveTo>
                  <a:pt x="7068083" y="2006600"/>
                </a:moveTo>
                <a:lnTo>
                  <a:pt x="7037412" y="2006600"/>
                </a:lnTo>
                <a:lnTo>
                  <a:pt x="7042480" y="1993900"/>
                </a:lnTo>
                <a:lnTo>
                  <a:pt x="7072998" y="1993900"/>
                </a:lnTo>
                <a:lnTo>
                  <a:pt x="7068083" y="2006600"/>
                </a:lnTo>
                <a:close/>
              </a:path>
              <a:path w="7131684" h="2171700">
                <a:moveTo>
                  <a:pt x="104216" y="2019300"/>
                </a:moveTo>
                <a:lnTo>
                  <a:pt x="73431" y="2019300"/>
                </a:lnTo>
                <a:lnTo>
                  <a:pt x="68186" y="2006600"/>
                </a:lnTo>
                <a:lnTo>
                  <a:pt x="98818" y="2006600"/>
                </a:lnTo>
                <a:lnTo>
                  <a:pt x="104216" y="2019300"/>
                </a:lnTo>
                <a:close/>
              </a:path>
              <a:path w="7131684" h="2171700">
                <a:moveTo>
                  <a:pt x="7057745" y="2019300"/>
                </a:moveTo>
                <a:lnTo>
                  <a:pt x="7027151" y="2019300"/>
                </a:lnTo>
                <a:lnTo>
                  <a:pt x="7032548" y="2006600"/>
                </a:lnTo>
                <a:lnTo>
                  <a:pt x="7063003" y="2006600"/>
                </a:lnTo>
                <a:lnTo>
                  <a:pt x="7057745" y="2019300"/>
                </a:lnTo>
                <a:close/>
              </a:path>
              <a:path w="7131684" h="2171700">
                <a:moveTo>
                  <a:pt x="126504" y="2044700"/>
                </a:moveTo>
                <a:lnTo>
                  <a:pt x="90169" y="2044700"/>
                </a:lnTo>
                <a:lnTo>
                  <a:pt x="84429" y="2032000"/>
                </a:lnTo>
                <a:lnTo>
                  <a:pt x="78854" y="2019300"/>
                </a:lnTo>
                <a:lnTo>
                  <a:pt x="109372" y="2019300"/>
                </a:lnTo>
                <a:lnTo>
                  <a:pt x="115074" y="2032000"/>
                </a:lnTo>
                <a:lnTo>
                  <a:pt x="120510" y="2032000"/>
                </a:lnTo>
                <a:lnTo>
                  <a:pt x="126504" y="2044700"/>
                </a:lnTo>
                <a:close/>
              </a:path>
              <a:path w="7131684" h="2171700">
                <a:moveTo>
                  <a:pt x="7040994" y="2044700"/>
                </a:moveTo>
                <a:lnTo>
                  <a:pt x="7004850" y="2044700"/>
                </a:lnTo>
                <a:lnTo>
                  <a:pt x="7010857" y="2032000"/>
                </a:lnTo>
                <a:lnTo>
                  <a:pt x="7016292" y="2032000"/>
                </a:lnTo>
                <a:lnTo>
                  <a:pt x="7021995" y="2019300"/>
                </a:lnTo>
                <a:lnTo>
                  <a:pt x="7052335" y="2019300"/>
                </a:lnTo>
                <a:lnTo>
                  <a:pt x="7046747" y="2032000"/>
                </a:lnTo>
                <a:lnTo>
                  <a:pt x="7040994" y="2044700"/>
                </a:lnTo>
                <a:close/>
              </a:path>
              <a:path w="7131684" h="2171700">
                <a:moveTo>
                  <a:pt x="138506" y="2057400"/>
                </a:moveTo>
                <a:lnTo>
                  <a:pt x="102120" y="2057400"/>
                </a:lnTo>
                <a:lnTo>
                  <a:pt x="96075" y="2044700"/>
                </a:lnTo>
                <a:lnTo>
                  <a:pt x="132219" y="2044700"/>
                </a:lnTo>
                <a:lnTo>
                  <a:pt x="138506" y="2057400"/>
                </a:lnTo>
                <a:close/>
              </a:path>
              <a:path w="7131684" h="2171700">
                <a:moveTo>
                  <a:pt x="7029030" y="2057400"/>
                </a:moveTo>
                <a:lnTo>
                  <a:pt x="6992861" y="2057400"/>
                </a:lnTo>
                <a:lnTo>
                  <a:pt x="6999147" y="2044700"/>
                </a:lnTo>
                <a:lnTo>
                  <a:pt x="7035088" y="2044700"/>
                </a:lnTo>
                <a:lnTo>
                  <a:pt x="7029030" y="2057400"/>
                </a:lnTo>
                <a:close/>
              </a:path>
              <a:path w="7131684" h="2171700">
                <a:moveTo>
                  <a:pt x="157505" y="2070100"/>
                </a:moveTo>
                <a:lnTo>
                  <a:pt x="114693" y="2070100"/>
                </a:lnTo>
                <a:lnTo>
                  <a:pt x="108330" y="2057400"/>
                </a:lnTo>
                <a:lnTo>
                  <a:pt x="150812" y="2057400"/>
                </a:lnTo>
                <a:lnTo>
                  <a:pt x="157505" y="2070100"/>
                </a:lnTo>
                <a:close/>
              </a:path>
              <a:path w="7131684" h="2171700">
                <a:moveTo>
                  <a:pt x="7016673" y="2070100"/>
                </a:moveTo>
                <a:lnTo>
                  <a:pt x="6973862" y="2070100"/>
                </a:lnTo>
                <a:lnTo>
                  <a:pt x="6980554" y="2057400"/>
                </a:lnTo>
                <a:lnTo>
                  <a:pt x="7022820" y="2057400"/>
                </a:lnTo>
                <a:lnTo>
                  <a:pt x="7016673" y="2070100"/>
                </a:lnTo>
                <a:close/>
              </a:path>
              <a:path w="7131684" h="2171700">
                <a:moveTo>
                  <a:pt x="170802" y="2082800"/>
                </a:moveTo>
                <a:lnTo>
                  <a:pt x="134645" y="2082800"/>
                </a:lnTo>
                <a:lnTo>
                  <a:pt x="127850" y="2070100"/>
                </a:lnTo>
                <a:lnTo>
                  <a:pt x="163842" y="2070100"/>
                </a:lnTo>
                <a:lnTo>
                  <a:pt x="170802" y="2082800"/>
                </a:lnTo>
                <a:close/>
              </a:path>
              <a:path w="7131684" h="2171700">
                <a:moveTo>
                  <a:pt x="6996493" y="2082800"/>
                </a:moveTo>
                <a:lnTo>
                  <a:pt x="6960565" y="2082800"/>
                </a:lnTo>
                <a:lnTo>
                  <a:pt x="6967512" y="2070100"/>
                </a:lnTo>
                <a:lnTo>
                  <a:pt x="7003288" y="2070100"/>
                </a:lnTo>
                <a:lnTo>
                  <a:pt x="6996493" y="2082800"/>
                </a:lnTo>
                <a:close/>
              </a:path>
              <a:path w="7131684" h="2171700">
                <a:moveTo>
                  <a:pt x="191642" y="2095500"/>
                </a:moveTo>
                <a:lnTo>
                  <a:pt x="148640" y="2095500"/>
                </a:lnTo>
                <a:lnTo>
                  <a:pt x="141566" y="2082800"/>
                </a:lnTo>
                <a:lnTo>
                  <a:pt x="184327" y="2082800"/>
                </a:lnTo>
                <a:lnTo>
                  <a:pt x="191642" y="2095500"/>
                </a:lnTo>
                <a:close/>
              </a:path>
              <a:path w="7131684" h="2171700">
                <a:moveTo>
                  <a:pt x="6982485" y="2095500"/>
                </a:moveTo>
                <a:lnTo>
                  <a:pt x="6939724" y="2095500"/>
                </a:lnTo>
                <a:lnTo>
                  <a:pt x="6947039" y="2082800"/>
                </a:lnTo>
                <a:lnTo>
                  <a:pt x="6989559" y="2082800"/>
                </a:lnTo>
                <a:lnTo>
                  <a:pt x="6982485" y="2095500"/>
                </a:lnTo>
                <a:close/>
              </a:path>
              <a:path w="7131684" h="2171700">
                <a:moveTo>
                  <a:pt x="213499" y="2108200"/>
                </a:moveTo>
                <a:lnTo>
                  <a:pt x="163156" y="2108200"/>
                </a:lnTo>
                <a:lnTo>
                  <a:pt x="155828" y="2095500"/>
                </a:lnTo>
                <a:lnTo>
                  <a:pt x="205841" y="2095500"/>
                </a:lnTo>
                <a:lnTo>
                  <a:pt x="213499" y="2108200"/>
                </a:lnTo>
                <a:close/>
              </a:path>
              <a:path w="7131684" h="2171700">
                <a:moveTo>
                  <a:pt x="6967956" y="2108200"/>
                </a:moveTo>
                <a:lnTo>
                  <a:pt x="6917867" y="2108200"/>
                </a:lnTo>
                <a:lnTo>
                  <a:pt x="6925525" y="2095500"/>
                </a:lnTo>
                <a:lnTo>
                  <a:pt x="6975284" y="2095500"/>
                </a:lnTo>
                <a:lnTo>
                  <a:pt x="6967956" y="2108200"/>
                </a:lnTo>
                <a:close/>
              </a:path>
              <a:path w="7131684" h="2171700">
                <a:moveTo>
                  <a:pt x="244081" y="2120900"/>
                </a:moveTo>
                <a:lnTo>
                  <a:pt x="185889" y="2120900"/>
                </a:lnTo>
                <a:lnTo>
                  <a:pt x="178193" y="2108200"/>
                </a:lnTo>
                <a:lnTo>
                  <a:pt x="236004" y="2108200"/>
                </a:lnTo>
                <a:lnTo>
                  <a:pt x="244081" y="2120900"/>
                </a:lnTo>
                <a:close/>
              </a:path>
              <a:path w="7131684" h="2171700">
                <a:moveTo>
                  <a:pt x="6945198" y="2120900"/>
                </a:moveTo>
                <a:lnTo>
                  <a:pt x="6887286" y="2120900"/>
                </a:lnTo>
                <a:lnTo>
                  <a:pt x="6895363" y="2108200"/>
                </a:lnTo>
                <a:lnTo>
                  <a:pt x="6952907" y="2108200"/>
                </a:lnTo>
                <a:lnTo>
                  <a:pt x="6945198" y="2120900"/>
                </a:lnTo>
                <a:close/>
              </a:path>
              <a:path w="7131684" h="2171700">
                <a:moveTo>
                  <a:pt x="276161" y="2133600"/>
                </a:moveTo>
                <a:lnTo>
                  <a:pt x="209689" y="2133600"/>
                </a:lnTo>
                <a:lnTo>
                  <a:pt x="201650" y="2120900"/>
                </a:lnTo>
                <a:lnTo>
                  <a:pt x="267703" y="2120900"/>
                </a:lnTo>
                <a:lnTo>
                  <a:pt x="276161" y="2133600"/>
                </a:lnTo>
                <a:close/>
              </a:path>
              <a:path w="7131684" h="2171700">
                <a:moveTo>
                  <a:pt x="6921398" y="2133600"/>
                </a:moveTo>
                <a:lnTo>
                  <a:pt x="6855206" y="2133600"/>
                </a:lnTo>
                <a:lnTo>
                  <a:pt x="6863651" y="2120900"/>
                </a:lnTo>
                <a:lnTo>
                  <a:pt x="6929437" y="2120900"/>
                </a:lnTo>
                <a:lnTo>
                  <a:pt x="6921398" y="2133600"/>
                </a:lnTo>
                <a:close/>
              </a:path>
              <a:path w="7131684" h="2171700">
                <a:moveTo>
                  <a:pt x="344106" y="2146300"/>
                </a:moveTo>
                <a:lnTo>
                  <a:pt x="234772" y="2146300"/>
                </a:lnTo>
                <a:lnTo>
                  <a:pt x="226110" y="2133600"/>
                </a:lnTo>
                <a:lnTo>
                  <a:pt x="335051" y="2133600"/>
                </a:lnTo>
                <a:lnTo>
                  <a:pt x="344106" y="2146300"/>
                </a:lnTo>
                <a:close/>
              </a:path>
              <a:path w="7131684" h="2171700">
                <a:moveTo>
                  <a:pt x="6896887" y="2146300"/>
                </a:moveTo>
                <a:lnTo>
                  <a:pt x="6787248" y="2146300"/>
                </a:lnTo>
                <a:lnTo>
                  <a:pt x="6796316" y="2133600"/>
                </a:lnTo>
                <a:lnTo>
                  <a:pt x="6904964" y="2133600"/>
                </a:lnTo>
                <a:lnTo>
                  <a:pt x="6896887" y="2146300"/>
                </a:lnTo>
                <a:close/>
              </a:path>
              <a:path w="7131684" h="2171700">
                <a:moveTo>
                  <a:pt x="6853605" y="2159000"/>
                </a:moveTo>
                <a:lnTo>
                  <a:pt x="278066" y="2159000"/>
                </a:lnTo>
                <a:lnTo>
                  <a:pt x="269214" y="2146300"/>
                </a:lnTo>
                <a:lnTo>
                  <a:pt x="6862444" y="2146300"/>
                </a:lnTo>
                <a:lnTo>
                  <a:pt x="6853605" y="2159000"/>
                </a:lnTo>
                <a:close/>
              </a:path>
              <a:path w="7131684" h="2171700">
                <a:moveTo>
                  <a:pt x="6789496" y="2171700"/>
                </a:moveTo>
                <a:lnTo>
                  <a:pt x="342188" y="2171700"/>
                </a:lnTo>
                <a:lnTo>
                  <a:pt x="332803" y="2159000"/>
                </a:lnTo>
                <a:lnTo>
                  <a:pt x="6798881" y="2159000"/>
                </a:lnTo>
                <a:lnTo>
                  <a:pt x="6789496" y="21717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47077" y="257492"/>
            <a:ext cx="55626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线性回归</a:t>
            </a:r>
            <a:r>
              <a:rPr spc="-20" dirty="0">
                <a:latin typeface="Arial" panose="020B0604020202020204"/>
                <a:cs typeface="Arial" panose="020B0604020202020204"/>
              </a:rPr>
              <a:t>-</a:t>
            </a:r>
            <a:r>
              <a:rPr dirty="0"/>
              <a:t>最小二乘法</a:t>
            </a:r>
            <a:r>
              <a:rPr spc="-10" dirty="0">
                <a:latin typeface="Arial" panose="020B0604020202020204"/>
                <a:cs typeface="Arial" panose="020B0604020202020204"/>
              </a:rPr>
              <a:t>(LSM)</a:t>
            </a:r>
            <a:endParaRPr spc="-1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93330" y="2628557"/>
            <a:ext cx="763905" cy="20320"/>
          </a:xfrm>
          <a:custGeom>
            <a:avLst/>
            <a:gdLst/>
            <a:ahLst/>
            <a:cxnLst/>
            <a:rect l="l" t="t" r="r" b="b"/>
            <a:pathLst>
              <a:path w="763905" h="20319">
                <a:moveTo>
                  <a:pt x="763905" y="20002"/>
                </a:moveTo>
                <a:lnTo>
                  <a:pt x="0" y="20002"/>
                </a:lnTo>
                <a:lnTo>
                  <a:pt x="0" y="0"/>
                </a:lnTo>
                <a:lnTo>
                  <a:pt x="763905" y="0"/>
                </a:lnTo>
                <a:lnTo>
                  <a:pt x="763905" y="200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155380" y="2628557"/>
            <a:ext cx="168910" cy="20320"/>
          </a:xfrm>
          <a:custGeom>
            <a:avLst/>
            <a:gdLst/>
            <a:ahLst/>
            <a:cxnLst/>
            <a:rect l="l" t="t" r="r" b="b"/>
            <a:pathLst>
              <a:path w="168910" h="20319">
                <a:moveTo>
                  <a:pt x="168909" y="20002"/>
                </a:moveTo>
                <a:lnTo>
                  <a:pt x="0" y="20002"/>
                </a:lnTo>
                <a:lnTo>
                  <a:pt x="0" y="0"/>
                </a:lnTo>
                <a:lnTo>
                  <a:pt x="168909" y="0"/>
                </a:lnTo>
                <a:lnTo>
                  <a:pt x="168909" y="200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375090" y="2628557"/>
            <a:ext cx="394970" cy="20320"/>
          </a:xfrm>
          <a:custGeom>
            <a:avLst/>
            <a:gdLst/>
            <a:ahLst/>
            <a:cxnLst/>
            <a:rect l="l" t="t" r="r" b="b"/>
            <a:pathLst>
              <a:path w="394969" h="20319">
                <a:moveTo>
                  <a:pt x="394970" y="20002"/>
                </a:moveTo>
                <a:lnTo>
                  <a:pt x="0" y="20002"/>
                </a:lnTo>
                <a:lnTo>
                  <a:pt x="0" y="0"/>
                </a:lnTo>
                <a:lnTo>
                  <a:pt x="394970" y="0"/>
                </a:lnTo>
                <a:lnTo>
                  <a:pt x="394970" y="200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929830" y="2408694"/>
            <a:ext cx="4558030" cy="1112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>
              <a:lnSpc>
                <a:spcPts val="2240"/>
              </a:lnSpc>
              <a:spcBef>
                <a:spcPts val="100"/>
              </a:spcBef>
              <a:tabLst>
                <a:tab pos="1557655" algn="l"/>
                <a:tab pos="1890395" algn="l"/>
              </a:tabLst>
            </a:pPr>
            <a:r>
              <a:rPr sz="3600" baseline="42000" dirty="0">
                <a:latin typeface="Cambria Math" panose="02040503050406030204"/>
                <a:cs typeface="Cambria Math" panose="02040503050406030204"/>
              </a:rPr>
              <a:t>𝜕𝐽(𝑤</a:t>
            </a:r>
            <a:r>
              <a:rPr sz="3600" baseline="44000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3600" spc="165" baseline="44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2400" spc="10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3600" spc="-75" baseline="42000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3600" baseline="420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3600" spc="-75" baseline="42000" dirty="0">
                <a:latin typeface="Cambria Math" panose="02040503050406030204"/>
                <a:cs typeface="Cambria Math" panose="02040503050406030204"/>
              </a:rPr>
              <a:t>𝜕</a:t>
            </a:r>
            <a:r>
              <a:rPr sz="3600" baseline="420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3600" baseline="200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X𝑤</a:t>
            </a:r>
            <a:r>
              <a:rPr sz="2400" spc="11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400" spc="114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𝑌</a:t>
            </a:r>
            <a:r>
              <a:rPr sz="3600" baseline="2000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2625" baseline="27000" dirty="0">
                <a:latin typeface="Cambria Math" panose="02040503050406030204"/>
                <a:cs typeface="Cambria Math" panose="02040503050406030204"/>
              </a:rPr>
              <a:t>T</a:t>
            </a:r>
            <a:r>
              <a:rPr sz="3600" baseline="200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X𝑤</a:t>
            </a:r>
            <a:r>
              <a:rPr sz="2400" spc="114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400" spc="11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25" dirty="0">
                <a:latin typeface="Cambria Math" panose="02040503050406030204"/>
                <a:cs typeface="Cambria Math" panose="02040503050406030204"/>
              </a:rPr>
              <a:t>𝑌</a:t>
            </a:r>
            <a:r>
              <a:rPr sz="3600" spc="-37" baseline="2000" dirty="0">
                <a:latin typeface="Cambria Math" panose="02040503050406030204"/>
                <a:cs typeface="Cambria Math" panose="02040503050406030204"/>
              </a:rPr>
              <a:t>)</a:t>
            </a:r>
            <a:endParaRPr sz="3600" baseline="2000">
              <a:latin typeface="Cambria Math" panose="02040503050406030204"/>
              <a:cs typeface="Cambria Math" panose="02040503050406030204"/>
            </a:endParaRPr>
          </a:p>
          <a:p>
            <a:pPr marL="247650">
              <a:lnSpc>
                <a:spcPts val="2240"/>
              </a:lnSpc>
              <a:tabLst>
                <a:tab pos="1224915" algn="l"/>
              </a:tabLst>
            </a:pPr>
            <a:r>
              <a:rPr sz="2400" spc="-25" dirty="0">
                <a:latin typeface="Cambria Math" panose="02040503050406030204"/>
                <a:cs typeface="Cambria Math" panose="02040503050406030204"/>
              </a:rPr>
              <a:t>𝜕𝑤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	2</a:t>
            </a:r>
            <a:r>
              <a:rPr sz="2400" spc="-13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25" dirty="0">
                <a:latin typeface="Cambria Math" panose="02040503050406030204"/>
                <a:cs typeface="Cambria Math" panose="02040503050406030204"/>
              </a:rPr>
              <a:t>𝜕𝑤</a:t>
            </a:r>
            <a:endParaRPr sz="2400">
              <a:latin typeface="Cambria Math" panose="02040503050406030204"/>
              <a:cs typeface="Cambria Math" panose="02040503050406030204"/>
            </a:endParaRPr>
          </a:p>
          <a:p>
            <a:pPr marL="63500">
              <a:lnSpc>
                <a:spcPct val="100000"/>
              </a:lnSpc>
              <a:spcBef>
                <a:spcPts val="1195"/>
              </a:spcBef>
            </a:pPr>
            <a:r>
              <a:rPr sz="2400" spc="-5" dirty="0">
                <a:latin typeface="微软雅黑" panose="020B0503020204020204" charset="-122"/>
                <a:cs typeface="微软雅黑" panose="020B0503020204020204" charset="-122"/>
              </a:rPr>
              <a:t>由于中间两项互为转置: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80630" y="1502105"/>
            <a:ext cx="42773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为最小化，接下来对</a:t>
            </a:r>
            <a:r>
              <a:rPr sz="2400" spc="-20" dirty="0">
                <a:latin typeface="Cambria Math" panose="02040503050406030204"/>
                <a:cs typeface="Cambria Math" panose="02040503050406030204"/>
              </a:rPr>
              <a:t>𝐽(𝑤)</a:t>
            </a:r>
            <a:r>
              <a:rPr sz="2400" spc="-20" dirty="0">
                <a:latin typeface="微软雅黑" panose="020B0503020204020204" charset="-122"/>
                <a:cs typeface="微软雅黑" panose="020B0503020204020204" charset="-122"/>
              </a:rPr>
              <a:t>偏导，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071435" y="4138676"/>
            <a:ext cx="763905" cy="20320"/>
          </a:xfrm>
          <a:custGeom>
            <a:avLst/>
            <a:gdLst/>
            <a:ahLst/>
            <a:cxnLst/>
            <a:rect l="l" t="t" r="r" b="b"/>
            <a:pathLst>
              <a:path w="763905" h="20320">
                <a:moveTo>
                  <a:pt x="763904" y="20002"/>
                </a:moveTo>
                <a:lnTo>
                  <a:pt x="0" y="20002"/>
                </a:lnTo>
                <a:lnTo>
                  <a:pt x="0" y="0"/>
                </a:lnTo>
                <a:lnTo>
                  <a:pt x="763904" y="0"/>
                </a:lnTo>
                <a:lnTo>
                  <a:pt x="763904" y="200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233485" y="4138676"/>
            <a:ext cx="168910" cy="20320"/>
          </a:xfrm>
          <a:custGeom>
            <a:avLst/>
            <a:gdLst/>
            <a:ahLst/>
            <a:cxnLst/>
            <a:rect l="l" t="t" r="r" b="b"/>
            <a:pathLst>
              <a:path w="168910" h="20320">
                <a:moveTo>
                  <a:pt x="168909" y="20002"/>
                </a:moveTo>
                <a:lnTo>
                  <a:pt x="0" y="20002"/>
                </a:lnTo>
                <a:lnTo>
                  <a:pt x="0" y="0"/>
                </a:lnTo>
                <a:lnTo>
                  <a:pt x="168909" y="0"/>
                </a:lnTo>
                <a:lnTo>
                  <a:pt x="168909" y="200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453195" y="4138676"/>
            <a:ext cx="394970" cy="20320"/>
          </a:xfrm>
          <a:custGeom>
            <a:avLst/>
            <a:gdLst/>
            <a:ahLst/>
            <a:cxnLst/>
            <a:rect l="l" t="t" r="r" b="b"/>
            <a:pathLst>
              <a:path w="394969" h="20320">
                <a:moveTo>
                  <a:pt x="394969" y="20002"/>
                </a:moveTo>
                <a:lnTo>
                  <a:pt x="0" y="20002"/>
                </a:lnTo>
                <a:lnTo>
                  <a:pt x="0" y="0"/>
                </a:lnTo>
                <a:lnTo>
                  <a:pt x="394969" y="0"/>
                </a:lnTo>
                <a:lnTo>
                  <a:pt x="394969" y="200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243520" y="4122013"/>
            <a:ext cx="16173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89330" algn="l"/>
              </a:tabLst>
            </a:pPr>
            <a:r>
              <a:rPr sz="2400" spc="-25" dirty="0">
                <a:latin typeface="Cambria Math" panose="02040503050406030204"/>
                <a:cs typeface="Cambria Math" panose="02040503050406030204"/>
              </a:rPr>
              <a:t>𝜕𝑤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	2</a:t>
            </a:r>
            <a:r>
              <a:rPr sz="2400" spc="-13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25" dirty="0">
                <a:latin typeface="Cambria Math" panose="02040503050406030204"/>
                <a:cs typeface="Cambria Math" panose="02040503050406030204"/>
              </a:rPr>
              <a:t>𝜕𝑤</a:t>
            </a:r>
            <a:endParaRPr sz="24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22540" y="4714671"/>
            <a:ext cx="20669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2400" spc="1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120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2625" spc="179" baseline="27000" dirty="0">
                <a:latin typeface="Cambria Math" panose="02040503050406030204"/>
                <a:cs typeface="Cambria Math" panose="02040503050406030204"/>
              </a:rPr>
              <a:t>T</a:t>
            </a:r>
            <a:r>
              <a:rPr sz="2400" spc="120" dirty="0">
                <a:latin typeface="Cambria Math" panose="02040503050406030204"/>
                <a:cs typeface="Cambria Math" panose="02040503050406030204"/>
              </a:rPr>
              <a:t>X𝑤</a:t>
            </a:r>
            <a:r>
              <a:rPr sz="2400" spc="1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400" spc="1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85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2625" spc="127" baseline="27000" dirty="0">
                <a:latin typeface="Cambria Math" panose="02040503050406030204"/>
                <a:cs typeface="Cambria Math" panose="02040503050406030204"/>
              </a:rPr>
              <a:t>T</a:t>
            </a:r>
            <a:r>
              <a:rPr sz="2400" spc="85" dirty="0">
                <a:latin typeface="Cambria Math" panose="02040503050406030204"/>
                <a:cs typeface="Cambria Math" panose="02040503050406030204"/>
              </a:rPr>
              <a:t>𝑌</a:t>
            </a:r>
            <a:endParaRPr sz="24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85430" y="5316651"/>
            <a:ext cx="582930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10" dirty="0">
                <a:latin typeface="Cambria Math" panose="02040503050406030204"/>
                <a:cs typeface="Cambria Math" panose="02040503050406030204"/>
              </a:rPr>
              <a:t>𝜕𝐽</a:t>
            </a:r>
            <a:r>
              <a:rPr sz="2625" spc="-15" baseline="300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1750" spc="-10" dirty="0">
                <a:latin typeface="Cambria Math" panose="02040503050406030204"/>
                <a:cs typeface="Cambria Math" panose="02040503050406030204"/>
              </a:rPr>
              <a:t>𝑤</a:t>
            </a:r>
            <a:r>
              <a:rPr sz="2625" spc="-15" baseline="3000" dirty="0">
                <a:latin typeface="Cambria Math" panose="02040503050406030204"/>
                <a:cs typeface="Cambria Math" panose="02040503050406030204"/>
              </a:rPr>
              <a:t>)</a:t>
            </a:r>
            <a:endParaRPr sz="2625" baseline="3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298130" y="5632348"/>
            <a:ext cx="557530" cy="20320"/>
          </a:xfrm>
          <a:custGeom>
            <a:avLst/>
            <a:gdLst/>
            <a:ahLst/>
            <a:cxnLst/>
            <a:rect l="l" t="t" r="r" b="b"/>
            <a:pathLst>
              <a:path w="557530" h="20320">
                <a:moveTo>
                  <a:pt x="557530" y="20002"/>
                </a:moveTo>
                <a:lnTo>
                  <a:pt x="0" y="20002"/>
                </a:lnTo>
                <a:lnTo>
                  <a:pt x="0" y="0"/>
                </a:lnTo>
                <a:lnTo>
                  <a:pt x="557530" y="0"/>
                </a:lnTo>
                <a:lnTo>
                  <a:pt x="557530" y="200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980630" y="5411901"/>
            <a:ext cx="1517650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370"/>
              </a:lnSpc>
              <a:spcBef>
                <a:spcPts val="100"/>
              </a:spcBef>
              <a:tabLst>
                <a:tab pos="959485" algn="l"/>
              </a:tabLst>
            </a:pPr>
            <a:r>
              <a:rPr sz="2400" spc="-50" dirty="0">
                <a:latin typeface="宋体" panose="02010600030101010101" pitchFamily="2" charset="-122"/>
                <a:cs typeface="宋体" panose="02010600030101010101" pitchFamily="2" charset="-122"/>
              </a:rPr>
              <a:t>令</a:t>
            </a:r>
            <a:r>
              <a:rPr sz="2400" dirty="0">
                <a:latin typeface="宋体" panose="02010600030101010101" pitchFamily="2" charset="-122"/>
                <a:cs typeface="宋体" panose="02010600030101010101" pitchFamily="2" charset="-122"/>
              </a:rPr>
              <a:t>	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2400" spc="14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25" dirty="0">
                <a:latin typeface="Cambria Math" panose="02040503050406030204"/>
                <a:cs typeface="Cambria Math" panose="02040503050406030204"/>
              </a:rPr>
              <a:t>0</a:t>
            </a:r>
            <a:r>
              <a:rPr sz="2400" spc="-25" dirty="0">
                <a:latin typeface="Cambria" panose="02040503050406030204"/>
                <a:cs typeface="Cambria" panose="02040503050406030204"/>
              </a:rPr>
              <a:t>,</a:t>
            </a:r>
            <a:endParaRPr sz="2400">
              <a:latin typeface="Cambria" panose="02040503050406030204"/>
              <a:cs typeface="Cambria" panose="02040503050406030204"/>
            </a:endParaRPr>
          </a:p>
          <a:p>
            <a:pPr marL="451485">
              <a:lnSpc>
                <a:spcPts val="1590"/>
              </a:lnSpc>
            </a:pPr>
            <a:r>
              <a:rPr sz="1750" spc="-25" dirty="0">
                <a:latin typeface="Cambria Math" panose="02040503050406030204"/>
                <a:cs typeface="Cambria Math" panose="02040503050406030204"/>
              </a:rPr>
              <a:t>𝜕𝑤</a:t>
            </a:r>
            <a:endParaRPr sz="17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016440" y="6057696"/>
            <a:ext cx="316230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25" dirty="0">
                <a:latin typeface="Cambria Math" panose="02040503050406030204"/>
                <a:cs typeface="Cambria Math" panose="02040503050406030204"/>
              </a:rPr>
              <a:t>−1</a:t>
            </a:r>
            <a:endParaRPr sz="17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537015" y="6148501"/>
            <a:ext cx="1149350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91235" algn="l"/>
              </a:tabLst>
            </a:pPr>
            <a:r>
              <a:rPr sz="1750" spc="40" dirty="0">
                <a:latin typeface="Cambria Math" panose="02040503050406030204"/>
                <a:cs typeface="Cambria Math" panose="02040503050406030204"/>
              </a:rPr>
              <a:t>T</a:t>
            </a:r>
            <a:r>
              <a:rPr sz="175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1750" spc="30" dirty="0">
                <a:latin typeface="Cambria Math" panose="02040503050406030204"/>
                <a:cs typeface="Cambria Math" panose="02040503050406030204"/>
              </a:rPr>
              <a:t>T</a:t>
            </a:r>
            <a:endParaRPr sz="17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80630" y="6177076"/>
            <a:ext cx="29013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24660" algn="l"/>
                <a:tab pos="2350770" algn="l"/>
                <a:tab pos="2703830" algn="l"/>
              </a:tabLst>
            </a:pPr>
            <a:r>
              <a:rPr sz="2400" dirty="0">
                <a:latin typeface="宋体" panose="02010600030101010101" pitchFamily="2" charset="-122"/>
                <a:cs typeface="宋体" panose="02010600030101010101" pitchFamily="2" charset="-122"/>
              </a:rPr>
              <a:t>则有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𝑤</a:t>
            </a:r>
            <a:r>
              <a:rPr sz="2400" spc="13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2400" spc="13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3600" spc="75" baseline="200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2400" spc="50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2400" spc="50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3600" spc="75" baseline="2000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3600" baseline="20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2400" spc="114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2400" spc="-50" dirty="0">
                <a:latin typeface="Cambria Math" panose="02040503050406030204"/>
                <a:cs typeface="Cambria Math" panose="02040503050406030204"/>
              </a:rPr>
              <a:t>𝑌</a:t>
            </a:r>
            <a:endParaRPr sz="24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300061" y="4077309"/>
            <a:ext cx="168910" cy="20320"/>
          </a:xfrm>
          <a:custGeom>
            <a:avLst/>
            <a:gdLst/>
            <a:ahLst/>
            <a:cxnLst/>
            <a:rect l="l" t="t" r="r" b="b"/>
            <a:pathLst>
              <a:path w="168909" h="20320">
                <a:moveTo>
                  <a:pt x="168909" y="20002"/>
                </a:moveTo>
                <a:lnTo>
                  <a:pt x="0" y="20002"/>
                </a:lnTo>
                <a:lnTo>
                  <a:pt x="0" y="0"/>
                </a:lnTo>
                <a:lnTo>
                  <a:pt x="168909" y="0"/>
                </a:lnTo>
                <a:lnTo>
                  <a:pt x="168909" y="200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6423990" y="4060647"/>
            <a:ext cx="4671060" cy="1034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75665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 panose="02040503050406030204"/>
                <a:cs typeface="Cambria Math" panose="02040503050406030204"/>
              </a:rPr>
              <a:t>2</a:t>
            </a:r>
            <a:endParaRPr sz="2400">
              <a:latin typeface="Cambria Math" panose="02040503050406030204"/>
              <a:cs typeface="Cambria Math" panose="02040503050406030204"/>
            </a:endParaRPr>
          </a:p>
          <a:p>
            <a:pPr marL="12700">
              <a:lnSpc>
                <a:spcPct val="100000"/>
              </a:lnSpc>
              <a:spcBef>
                <a:spcPts val="2185"/>
              </a:spcBef>
            </a:pPr>
            <a:r>
              <a:rPr sz="2400" spc="-5" dirty="0">
                <a:latin typeface="微软雅黑" panose="020B0503020204020204" charset="-122"/>
                <a:cs typeface="微软雅黑" panose="020B0503020204020204" charset="-122"/>
              </a:rPr>
              <a:t>需要用到以下几个矩阵的求导法则: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33335" y="3918178"/>
            <a:ext cx="93262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532255" algn="l"/>
                <a:tab pos="1865630" algn="l"/>
                <a:tab pos="5953125" algn="l"/>
              </a:tabLst>
            </a:pPr>
            <a:r>
              <a:rPr sz="3600" baseline="42000" dirty="0">
                <a:latin typeface="Cambria Math" panose="02040503050406030204"/>
                <a:cs typeface="Cambria Math" panose="02040503050406030204"/>
              </a:rPr>
              <a:t>𝜕𝐽(𝑤</a:t>
            </a:r>
            <a:r>
              <a:rPr sz="3600" baseline="44000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3600" spc="165" baseline="44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2400" spc="10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3600" spc="-75" baseline="42000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3600" baseline="420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3600" spc="-75" baseline="42000" dirty="0">
                <a:latin typeface="Cambria Math" panose="02040503050406030204"/>
                <a:cs typeface="Cambria Math" panose="02040503050406030204"/>
              </a:rPr>
              <a:t>𝜕</a:t>
            </a:r>
            <a:r>
              <a:rPr sz="3600" baseline="420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2400" spc="90" dirty="0">
                <a:latin typeface="Cambria Math" panose="02040503050406030204"/>
                <a:cs typeface="Cambria Math" panose="02040503050406030204"/>
              </a:rPr>
              <a:t>(𝑤</a:t>
            </a:r>
            <a:r>
              <a:rPr sz="2625" spc="135" baseline="27000" dirty="0">
                <a:latin typeface="Cambria Math" panose="02040503050406030204"/>
                <a:cs typeface="Cambria Math" panose="02040503050406030204"/>
              </a:rPr>
              <a:t>T</a:t>
            </a:r>
            <a:r>
              <a:rPr sz="2400" spc="90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2625" spc="135" baseline="27000" dirty="0">
                <a:latin typeface="Cambria Math" panose="02040503050406030204"/>
                <a:cs typeface="Cambria Math" panose="02040503050406030204"/>
              </a:rPr>
              <a:t>T</a:t>
            </a:r>
            <a:r>
              <a:rPr sz="2400" spc="90" dirty="0">
                <a:latin typeface="Cambria Math" panose="02040503050406030204"/>
                <a:cs typeface="Cambria Math" panose="02040503050406030204"/>
              </a:rPr>
              <a:t>X𝑤</a:t>
            </a:r>
            <a:r>
              <a:rPr sz="2400" spc="1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400" spc="2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8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2𝑤</a:t>
            </a:r>
            <a:r>
              <a:rPr sz="2625" spc="120" baseline="27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T</a:t>
            </a:r>
            <a:r>
              <a:rPr sz="2400" spc="8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X</a:t>
            </a:r>
            <a:r>
              <a:rPr sz="2625" spc="120" baseline="27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T</a:t>
            </a:r>
            <a:r>
              <a:rPr sz="2400" spc="8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𝑌</a:t>
            </a:r>
            <a:r>
              <a:rPr sz="2400" spc="2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+</a:t>
            </a:r>
            <a:r>
              <a:rPr sz="2400" spc="2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20" dirty="0">
                <a:latin typeface="Cambria Math" panose="02040503050406030204"/>
                <a:cs typeface="Cambria Math" panose="02040503050406030204"/>
              </a:rPr>
              <a:t>𝑌</a:t>
            </a:r>
            <a:r>
              <a:rPr sz="2625" spc="-30" baseline="27000" dirty="0">
                <a:latin typeface="Cambria Math" panose="02040503050406030204"/>
                <a:cs typeface="Cambria Math" panose="02040503050406030204"/>
              </a:rPr>
              <a:t>T</a:t>
            </a:r>
            <a:r>
              <a:rPr sz="2400" spc="-20" dirty="0">
                <a:latin typeface="Cambria Math" panose="02040503050406030204"/>
                <a:cs typeface="Cambria Math" panose="02040503050406030204"/>
              </a:rPr>
              <a:t>𝑌</a:t>
            </a:r>
            <a:r>
              <a:rPr sz="2400" spc="-20" dirty="0">
                <a:latin typeface="微软雅黑" panose="020B0503020204020204" charset="-122"/>
                <a:cs typeface="微软雅黑" panose="020B0503020204020204" charset="-122"/>
              </a:rPr>
              <a:t>）</a:t>
            </a: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	</a:t>
            </a:r>
            <a:r>
              <a:rPr sz="3600" baseline="12000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3600" spc="209" baseline="12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3600" baseline="53000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3600" spc="-195" baseline="53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3600" spc="120" baseline="1400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3600" spc="120" baseline="12000" dirty="0">
                <a:latin typeface="Cambria Math" panose="02040503050406030204"/>
                <a:cs typeface="Cambria Math" panose="02040503050406030204"/>
              </a:rPr>
              <a:t>2X</a:t>
            </a:r>
            <a:r>
              <a:rPr sz="2625" spc="120" baseline="43000" dirty="0">
                <a:latin typeface="Cambria Math" panose="02040503050406030204"/>
                <a:cs typeface="Cambria Math" panose="02040503050406030204"/>
              </a:rPr>
              <a:t>T</a:t>
            </a:r>
            <a:r>
              <a:rPr sz="3600" spc="120" baseline="12000" dirty="0">
                <a:latin typeface="Cambria Math" panose="02040503050406030204"/>
                <a:cs typeface="Cambria Math" panose="02040503050406030204"/>
              </a:rPr>
              <a:t>X𝑤</a:t>
            </a:r>
            <a:r>
              <a:rPr sz="3600" spc="22" baseline="12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3600" baseline="1200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3600" spc="15" baseline="12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3600" spc="120" baseline="12000" dirty="0">
                <a:latin typeface="Cambria Math" panose="02040503050406030204"/>
                <a:cs typeface="Cambria Math" panose="02040503050406030204"/>
              </a:rPr>
              <a:t>2X</a:t>
            </a:r>
            <a:r>
              <a:rPr sz="2625" spc="120" baseline="43000" dirty="0">
                <a:latin typeface="Cambria Math" panose="02040503050406030204"/>
                <a:cs typeface="Cambria Math" panose="02040503050406030204"/>
              </a:rPr>
              <a:t>T</a:t>
            </a:r>
            <a:r>
              <a:rPr sz="3600" spc="120" baseline="12000" dirty="0">
                <a:latin typeface="Cambria Math" panose="02040503050406030204"/>
                <a:cs typeface="Cambria Math" panose="02040503050406030204"/>
              </a:rPr>
              <a:t>𝑌</a:t>
            </a:r>
            <a:r>
              <a:rPr sz="3600" spc="22" baseline="12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3600" baseline="12000" dirty="0">
                <a:latin typeface="Cambria Math" panose="02040503050406030204"/>
                <a:cs typeface="Cambria Math" panose="02040503050406030204"/>
              </a:rPr>
              <a:t>+</a:t>
            </a:r>
            <a:r>
              <a:rPr sz="3600" spc="15" baseline="12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3600" spc="-37" baseline="12000" dirty="0">
                <a:latin typeface="Cambria Math" panose="02040503050406030204"/>
                <a:cs typeface="Cambria Math" panose="02040503050406030204"/>
              </a:rPr>
              <a:t>0</a:t>
            </a:r>
            <a:r>
              <a:rPr sz="3600" spc="-37" baseline="14000" dirty="0">
                <a:latin typeface="Cambria Math" panose="02040503050406030204"/>
                <a:cs typeface="Cambria Math" panose="02040503050406030204"/>
              </a:rPr>
              <a:t>)</a:t>
            </a:r>
            <a:endParaRPr sz="3600" baseline="14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059779" y="2626474"/>
            <a:ext cx="168910" cy="20320"/>
          </a:xfrm>
          <a:custGeom>
            <a:avLst/>
            <a:gdLst/>
            <a:ahLst/>
            <a:cxnLst/>
            <a:rect l="l" t="t" r="r" b="b"/>
            <a:pathLst>
              <a:path w="168910" h="20319">
                <a:moveTo>
                  <a:pt x="168909" y="20002"/>
                </a:moveTo>
                <a:lnTo>
                  <a:pt x="0" y="20002"/>
                </a:lnTo>
                <a:lnTo>
                  <a:pt x="0" y="0"/>
                </a:lnTo>
                <a:lnTo>
                  <a:pt x="168909" y="0"/>
                </a:lnTo>
                <a:lnTo>
                  <a:pt x="168909" y="200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6279489" y="2626474"/>
            <a:ext cx="394970" cy="20320"/>
          </a:xfrm>
          <a:custGeom>
            <a:avLst/>
            <a:gdLst/>
            <a:ahLst/>
            <a:cxnLst/>
            <a:rect l="l" t="t" r="r" b="b"/>
            <a:pathLst>
              <a:path w="394970" h="20319">
                <a:moveTo>
                  <a:pt x="394970" y="20002"/>
                </a:moveTo>
                <a:lnTo>
                  <a:pt x="0" y="20002"/>
                </a:lnTo>
                <a:lnTo>
                  <a:pt x="0" y="0"/>
                </a:lnTo>
                <a:lnTo>
                  <a:pt x="394970" y="0"/>
                </a:lnTo>
                <a:lnTo>
                  <a:pt x="394970" y="200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6047079" y="2609812"/>
            <a:ext cx="6400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2400" spc="-13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25" dirty="0">
                <a:latin typeface="Cambria Math" panose="02040503050406030204"/>
                <a:cs typeface="Cambria Math" panose="02040503050406030204"/>
              </a:rPr>
              <a:t>𝜕𝑤</a:t>
            </a:r>
            <a:endParaRPr sz="24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708624" y="2405976"/>
            <a:ext cx="59423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683260" algn="l"/>
                <a:tab pos="1016635" algn="l"/>
              </a:tabLst>
            </a:pPr>
            <a:r>
              <a:rPr sz="2400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2400" spc="14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3600" spc="-89" baseline="42000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3600" baseline="420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3600" spc="-75" baseline="42000" dirty="0">
                <a:latin typeface="Cambria Math" panose="02040503050406030204"/>
                <a:cs typeface="Cambria Math" panose="02040503050406030204"/>
              </a:rPr>
              <a:t>𝜕</a:t>
            </a:r>
            <a:r>
              <a:rPr sz="3600" baseline="420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2400" spc="90" dirty="0">
                <a:latin typeface="Cambria Math" panose="02040503050406030204"/>
                <a:cs typeface="Cambria Math" panose="02040503050406030204"/>
              </a:rPr>
              <a:t>(𝑤</a:t>
            </a:r>
            <a:r>
              <a:rPr sz="2625" spc="135" baseline="27000" dirty="0">
                <a:latin typeface="Cambria Math" panose="02040503050406030204"/>
                <a:cs typeface="Cambria Math" panose="02040503050406030204"/>
              </a:rPr>
              <a:t>T</a:t>
            </a:r>
            <a:r>
              <a:rPr sz="2400" spc="90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2625" spc="135" baseline="27000" dirty="0">
                <a:latin typeface="Cambria Math" panose="02040503050406030204"/>
                <a:cs typeface="Cambria Math" panose="02040503050406030204"/>
              </a:rPr>
              <a:t>T</a:t>
            </a:r>
            <a:r>
              <a:rPr sz="2400" spc="90" dirty="0">
                <a:latin typeface="Cambria Math" panose="02040503050406030204"/>
                <a:cs typeface="Cambria Math" panose="02040503050406030204"/>
              </a:rPr>
              <a:t>X𝑤</a:t>
            </a:r>
            <a:r>
              <a:rPr sz="2400" spc="1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400" spc="2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7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𝑌</a:t>
            </a:r>
            <a:r>
              <a:rPr sz="2625" spc="112" baseline="27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T</a:t>
            </a:r>
            <a:r>
              <a:rPr sz="2400" spc="7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X𝑤</a:t>
            </a:r>
            <a:r>
              <a:rPr sz="2400" spc="2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−</a:t>
            </a:r>
            <a:r>
              <a:rPr sz="2400" spc="1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9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𝑤</a:t>
            </a:r>
            <a:r>
              <a:rPr sz="2625" spc="142" baseline="27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T</a:t>
            </a:r>
            <a:r>
              <a:rPr sz="2400" spc="9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X</a:t>
            </a:r>
            <a:r>
              <a:rPr sz="2625" spc="142" baseline="27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T</a:t>
            </a:r>
            <a:r>
              <a:rPr sz="2400" spc="9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𝑌</a:t>
            </a:r>
            <a:r>
              <a:rPr sz="2400" spc="2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+</a:t>
            </a:r>
            <a:r>
              <a:rPr sz="2400" spc="2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20" dirty="0">
                <a:latin typeface="Cambria Math" panose="02040503050406030204"/>
                <a:cs typeface="Cambria Math" panose="02040503050406030204"/>
              </a:rPr>
              <a:t>𝑌</a:t>
            </a:r>
            <a:r>
              <a:rPr sz="2625" spc="-30" baseline="27000" dirty="0">
                <a:latin typeface="Cambria Math" panose="02040503050406030204"/>
                <a:cs typeface="Cambria Math" panose="02040503050406030204"/>
              </a:rPr>
              <a:t>T</a:t>
            </a:r>
            <a:r>
              <a:rPr sz="2400" spc="-20" dirty="0">
                <a:latin typeface="Cambria Math" panose="02040503050406030204"/>
                <a:cs typeface="Cambria Math" panose="02040503050406030204"/>
              </a:rPr>
              <a:t>𝑌</a:t>
            </a:r>
            <a:r>
              <a:rPr sz="2400" spc="-20" dirty="0">
                <a:latin typeface="微软雅黑" panose="020B0503020204020204" charset="-122"/>
                <a:cs typeface="微软雅黑" panose="020B0503020204020204" charset="-122"/>
              </a:rPr>
              <a:t>）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5262765" y="5506008"/>
            <a:ext cx="2054225" cy="20320"/>
          </a:xfrm>
          <a:custGeom>
            <a:avLst/>
            <a:gdLst/>
            <a:ahLst/>
            <a:cxnLst/>
            <a:rect l="l" t="t" r="r" b="b"/>
            <a:pathLst>
              <a:path w="2054225" h="20320">
                <a:moveTo>
                  <a:pt x="556260" y="0"/>
                </a:moveTo>
                <a:lnTo>
                  <a:pt x="0" y="0"/>
                </a:lnTo>
                <a:lnTo>
                  <a:pt x="0" y="20002"/>
                </a:lnTo>
                <a:lnTo>
                  <a:pt x="556260" y="20002"/>
                </a:lnTo>
                <a:lnTo>
                  <a:pt x="556260" y="0"/>
                </a:lnTo>
                <a:close/>
              </a:path>
              <a:path w="2054225" h="20320">
                <a:moveTo>
                  <a:pt x="2054225" y="0"/>
                </a:moveTo>
                <a:lnTo>
                  <a:pt x="1640840" y="0"/>
                </a:lnTo>
                <a:lnTo>
                  <a:pt x="1640840" y="20002"/>
                </a:lnTo>
                <a:lnTo>
                  <a:pt x="2054225" y="20002"/>
                </a:lnTo>
                <a:lnTo>
                  <a:pt x="20542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5199265" y="5041576"/>
            <a:ext cx="2917190" cy="772795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620"/>
              </a:spcBef>
              <a:tabLst>
                <a:tab pos="1703705" algn="l"/>
              </a:tabLst>
            </a:pPr>
            <a:r>
              <a:rPr sz="1750" spc="95" dirty="0">
                <a:latin typeface="Cambria Math" panose="02040503050406030204"/>
                <a:cs typeface="Cambria Math" panose="02040503050406030204"/>
              </a:rPr>
              <a:t>𝑑𝑋</a:t>
            </a:r>
            <a:r>
              <a:rPr sz="2100" spc="142" baseline="26000" dirty="0">
                <a:latin typeface="Cambria Math" panose="02040503050406030204"/>
                <a:cs typeface="Cambria Math" panose="02040503050406030204"/>
              </a:rPr>
              <a:t>T</a:t>
            </a:r>
            <a:r>
              <a:rPr sz="1750" spc="95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1750" spc="29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3600" baseline="-32000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3600" spc="225" baseline="-32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3600" spc="82" baseline="-32000" dirty="0">
                <a:latin typeface="Cambria Math" panose="02040503050406030204"/>
                <a:cs typeface="Cambria Math" panose="02040503050406030204"/>
              </a:rPr>
              <a:t>2X</a:t>
            </a:r>
            <a:r>
              <a:rPr sz="3600" baseline="-320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1750" dirty="0">
                <a:latin typeface="Cambria Math" panose="02040503050406030204"/>
                <a:cs typeface="Cambria Math" panose="02040503050406030204"/>
              </a:rPr>
              <a:t>𝑑𝐴X</a:t>
            </a:r>
            <a:r>
              <a:rPr sz="1750" spc="33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3600" baseline="-32000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3600" spc="292" baseline="-32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3600" spc="-37" baseline="-32000" dirty="0">
                <a:latin typeface="Cambria Math" panose="02040503050406030204"/>
                <a:cs typeface="Cambria Math" panose="02040503050406030204"/>
              </a:rPr>
              <a:t>𝐴</a:t>
            </a:r>
            <a:r>
              <a:rPr sz="2625" spc="-37" baseline="-17000" dirty="0">
                <a:latin typeface="Cambria Math" panose="02040503050406030204"/>
                <a:cs typeface="Cambria Math" panose="02040503050406030204"/>
              </a:rPr>
              <a:t>T</a:t>
            </a:r>
            <a:endParaRPr sz="2625" baseline="-17000">
              <a:latin typeface="Cambria Math" panose="02040503050406030204"/>
              <a:cs typeface="Cambria Math" panose="02040503050406030204"/>
            </a:endParaRPr>
          </a:p>
          <a:p>
            <a:pPr marL="205105">
              <a:lnSpc>
                <a:spcPct val="100000"/>
              </a:lnSpc>
              <a:spcBef>
                <a:spcPts val="380"/>
              </a:spcBef>
              <a:tabLst>
                <a:tab pos="1773555" algn="l"/>
              </a:tabLst>
            </a:pPr>
            <a:r>
              <a:rPr sz="1750" spc="35" dirty="0">
                <a:latin typeface="Cambria Math" panose="02040503050406030204"/>
                <a:cs typeface="Cambria Math" panose="02040503050406030204"/>
              </a:rPr>
              <a:t>𝑑X</a:t>
            </a:r>
            <a:r>
              <a:rPr sz="175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1750" spc="35" dirty="0">
                <a:latin typeface="Cambria Math" panose="02040503050406030204"/>
                <a:cs typeface="Cambria Math" panose="02040503050406030204"/>
              </a:rPr>
              <a:t>𝑑X</a:t>
            </a:r>
            <a:endParaRPr sz="17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5381511" y="6306743"/>
            <a:ext cx="5442585" cy="20320"/>
          </a:xfrm>
          <a:custGeom>
            <a:avLst/>
            <a:gdLst/>
            <a:ahLst/>
            <a:cxnLst/>
            <a:rect l="l" t="t" r="r" b="b"/>
            <a:pathLst>
              <a:path w="5442584" h="20320">
                <a:moveTo>
                  <a:pt x="692150" y="0"/>
                </a:moveTo>
                <a:lnTo>
                  <a:pt x="0" y="0"/>
                </a:lnTo>
                <a:lnTo>
                  <a:pt x="0" y="20002"/>
                </a:lnTo>
                <a:lnTo>
                  <a:pt x="692150" y="20002"/>
                </a:lnTo>
                <a:lnTo>
                  <a:pt x="692150" y="0"/>
                </a:lnTo>
                <a:close/>
              </a:path>
              <a:path w="5442584" h="20320">
                <a:moveTo>
                  <a:pt x="5442585" y="0"/>
                </a:moveTo>
                <a:lnTo>
                  <a:pt x="4750435" y="0"/>
                </a:lnTo>
                <a:lnTo>
                  <a:pt x="4750435" y="20002"/>
                </a:lnTo>
                <a:lnTo>
                  <a:pt x="5442585" y="20002"/>
                </a:lnTo>
                <a:lnTo>
                  <a:pt x="54425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5330710" y="6086297"/>
            <a:ext cx="6416675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ts val="2370"/>
              </a:lnSpc>
              <a:spcBef>
                <a:spcPts val="100"/>
              </a:spcBef>
              <a:tabLst>
                <a:tab pos="2632075" algn="l"/>
              </a:tabLst>
            </a:pPr>
            <a:r>
              <a:rPr sz="2625" spc="112" baseline="44000" dirty="0">
                <a:latin typeface="Cambria Math" panose="02040503050406030204"/>
                <a:cs typeface="Cambria Math" panose="02040503050406030204"/>
              </a:rPr>
              <a:t>𝜕𝑋</a:t>
            </a:r>
            <a:r>
              <a:rPr sz="2100" spc="112" baseline="81000" dirty="0">
                <a:latin typeface="Cambria Math" panose="02040503050406030204"/>
                <a:cs typeface="Cambria Math" panose="02040503050406030204"/>
              </a:rPr>
              <a:t>T</a:t>
            </a:r>
            <a:r>
              <a:rPr sz="2625" spc="112" baseline="44000" dirty="0">
                <a:latin typeface="Cambria Math" panose="02040503050406030204"/>
                <a:cs typeface="Cambria Math" panose="02040503050406030204"/>
              </a:rPr>
              <a:t>𝐴X</a:t>
            </a:r>
            <a:r>
              <a:rPr sz="2625" spc="412" baseline="44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65" dirty="0">
                <a:latin typeface="Cambria Math" panose="02040503050406030204"/>
                <a:cs typeface="Cambria Math" panose="02040503050406030204"/>
              </a:rPr>
              <a:t>= </a:t>
            </a:r>
            <a:r>
              <a:rPr sz="3600" baseline="200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𝐴 + </a:t>
            </a:r>
            <a:r>
              <a:rPr sz="2400" spc="55" dirty="0">
                <a:latin typeface="Cambria Math" panose="02040503050406030204"/>
                <a:cs typeface="Cambria Math" panose="02040503050406030204"/>
              </a:rPr>
              <a:t>𝐴</a:t>
            </a:r>
            <a:r>
              <a:rPr sz="2625" spc="82" baseline="27000" dirty="0">
                <a:latin typeface="Cambria Math" panose="02040503050406030204"/>
                <a:cs typeface="Cambria Math" panose="02040503050406030204"/>
              </a:rPr>
              <a:t>T</a:t>
            </a:r>
            <a:r>
              <a:rPr sz="3600" spc="82" baseline="2000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2400" spc="55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2400" spc="-10" dirty="0">
                <a:latin typeface="Cambria" panose="02040503050406030204"/>
                <a:cs typeface="Cambria" panose="02040503050406030204"/>
              </a:rPr>
              <a:t>,</a:t>
            </a: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若</a:t>
            </a:r>
            <a:r>
              <a:rPr sz="2400" spc="-25" dirty="0">
                <a:latin typeface="Cambria Math" panose="02040503050406030204"/>
                <a:cs typeface="Cambria Math" panose="02040503050406030204"/>
              </a:rPr>
              <a:t>𝐴</a:t>
            </a:r>
            <a:r>
              <a:rPr sz="2400" spc="-10" dirty="0">
                <a:latin typeface="微软雅黑" panose="020B0503020204020204" charset="-122"/>
                <a:cs typeface="微软雅黑" panose="020B0503020204020204" charset="-122"/>
              </a:rPr>
              <a:t>为对称阵， </a:t>
            </a:r>
            <a:r>
              <a:rPr sz="2625" spc="112" baseline="44000" dirty="0">
                <a:latin typeface="Cambria Math" panose="02040503050406030204"/>
                <a:cs typeface="Cambria Math" panose="02040503050406030204"/>
              </a:rPr>
              <a:t>𝜕𝑋</a:t>
            </a:r>
            <a:r>
              <a:rPr sz="2100" spc="112" baseline="81000" dirty="0">
                <a:latin typeface="Cambria Math" panose="02040503050406030204"/>
                <a:cs typeface="Cambria Math" panose="02040503050406030204"/>
              </a:rPr>
              <a:t>T</a:t>
            </a:r>
            <a:r>
              <a:rPr sz="2625" spc="112" baseline="44000" dirty="0">
                <a:latin typeface="Cambria Math" panose="02040503050406030204"/>
                <a:cs typeface="Cambria Math" panose="02040503050406030204"/>
              </a:rPr>
              <a:t>𝐴X</a:t>
            </a:r>
            <a:r>
              <a:rPr sz="2625" spc="442" baseline="44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20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2400" spc="-20" dirty="0">
                <a:latin typeface="Arial MT"/>
                <a:cs typeface="Arial MT"/>
              </a:rPr>
              <a:t>2</a:t>
            </a:r>
            <a:r>
              <a:rPr sz="2400" spc="-20" dirty="0">
                <a:latin typeface="Cambria Math" panose="02040503050406030204"/>
                <a:cs typeface="Cambria Math" panose="02040503050406030204"/>
              </a:rPr>
              <a:t>𝐴X</a:t>
            </a:r>
            <a:endParaRPr sz="2400">
              <a:latin typeface="Cambria Math" panose="02040503050406030204"/>
              <a:cs typeface="Cambria Math" panose="02040503050406030204"/>
            </a:endParaRPr>
          </a:p>
          <a:p>
            <a:pPr marL="263525">
              <a:lnSpc>
                <a:spcPts val="1590"/>
              </a:lnSpc>
              <a:tabLst>
                <a:tab pos="5013325" algn="l"/>
              </a:tabLst>
            </a:pPr>
            <a:r>
              <a:rPr sz="1750" spc="30" dirty="0">
                <a:latin typeface="Cambria Math" panose="02040503050406030204"/>
                <a:cs typeface="Cambria Math" panose="02040503050406030204"/>
              </a:rPr>
              <a:t>𝜕X</a:t>
            </a:r>
            <a:r>
              <a:rPr sz="175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1750" spc="20" dirty="0">
                <a:latin typeface="Cambria Math" panose="02040503050406030204"/>
                <a:cs typeface="Cambria Math" panose="02040503050406030204"/>
              </a:rPr>
              <a:t>𝜕X</a:t>
            </a:r>
            <a:endParaRPr sz="1750">
              <a:latin typeface="Cambria Math" panose="02040503050406030204"/>
              <a:cs typeface="Cambria Math" panose="020405030504060302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999744"/>
            <a:ext cx="646430" cy="262255"/>
          </a:xfrm>
          <a:prstGeom prst="rect">
            <a:avLst/>
          </a:prstGeom>
          <a:solidFill>
            <a:srgbClr val="A40020"/>
          </a:solidFill>
        </p:spPr>
        <p:txBody>
          <a:bodyPr vert="horz" wrap="square" lIns="0" tIns="635" rIns="0" bIns="0" rtlCol="0">
            <a:spAutoFit/>
          </a:bodyPr>
          <a:lstStyle/>
          <a:p>
            <a:pPr marL="375285">
              <a:lnSpc>
                <a:spcPct val="100000"/>
              </a:lnSpc>
              <a:spcBef>
                <a:spcPts val="5"/>
              </a:spcBef>
            </a:pPr>
            <a:r>
              <a:rPr sz="1400" b="1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18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47077" y="257492"/>
            <a:ext cx="55626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线性回归</a:t>
            </a:r>
            <a:r>
              <a:rPr spc="-20" dirty="0">
                <a:latin typeface="Arial" panose="020B0604020202020204"/>
                <a:cs typeface="Arial" panose="020B0604020202020204"/>
              </a:rPr>
              <a:t>-</a:t>
            </a:r>
            <a:r>
              <a:rPr dirty="0"/>
              <a:t>最小二乘法</a:t>
            </a:r>
            <a:r>
              <a:rPr spc="-10" dirty="0">
                <a:latin typeface="Arial" panose="020B0604020202020204"/>
                <a:cs typeface="Arial" panose="020B0604020202020204"/>
              </a:rPr>
              <a:t>(LSM)</a:t>
            </a:r>
            <a:endParaRPr spc="-1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4669" y="1440179"/>
            <a:ext cx="10836910" cy="2988945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494665" indent="-456565">
              <a:lnSpc>
                <a:spcPct val="100000"/>
              </a:lnSpc>
              <a:spcBef>
                <a:spcPts val="1540"/>
              </a:spcBef>
              <a:buAutoNum type="arabicPeriod"/>
              <a:tabLst>
                <a:tab pos="494665" algn="l"/>
              </a:tabLst>
            </a:pPr>
            <a:r>
              <a:rPr sz="2400" spc="-20" dirty="0">
                <a:latin typeface="Arial MT"/>
                <a:cs typeface="Arial MT"/>
              </a:rPr>
              <a:t>LSM</a:t>
            </a:r>
            <a:r>
              <a:rPr sz="2400" spc="-5" dirty="0">
                <a:latin typeface="微软雅黑" panose="020B0503020204020204" charset="-122"/>
                <a:cs typeface="微软雅黑" panose="020B0503020204020204" charset="-122"/>
              </a:rPr>
              <a:t>仅适用于线性回归模型；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  <a:p>
            <a:pPr marL="494665" indent="-456565">
              <a:lnSpc>
                <a:spcPct val="100000"/>
              </a:lnSpc>
              <a:spcBef>
                <a:spcPts val="1440"/>
              </a:spcBef>
              <a:buFont typeface="Arial MT"/>
              <a:buAutoNum type="arabicPeriod"/>
              <a:tabLst>
                <a:tab pos="494665" algn="l"/>
              </a:tabLst>
            </a:pPr>
            <a:r>
              <a:rPr sz="2400" spc="-5" dirty="0">
                <a:latin typeface="微软雅黑" panose="020B0503020204020204" charset="-122"/>
                <a:cs typeface="微软雅黑" panose="020B0503020204020204" charset="-122"/>
              </a:rPr>
              <a:t>在使用正规方程求解时无需进行特征缩放；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  <a:p>
            <a:pPr marL="494665" indent="-456565">
              <a:lnSpc>
                <a:spcPct val="100000"/>
              </a:lnSpc>
              <a:spcBef>
                <a:spcPts val="1630"/>
              </a:spcBef>
              <a:buFont typeface="Arial MT"/>
              <a:buAutoNum type="arabicPeriod"/>
              <a:tabLst>
                <a:tab pos="494665" algn="l"/>
              </a:tabLst>
            </a:pP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若</a:t>
            </a:r>
            <a:r>
              <a:rPr sz="2400" spc="170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2625" spc="254" baseline="27000" dirty="0">
                <a:latin typeface="Cambria Math" panose="02040503050406030204"/>
                <a:cs typeface="Cambria Math" panose="02040503050406030204"/>
              </a:rPr>
              <a:t>T</a:t>
            </a:r>
            <a:r>
              <a:rPr sz="2400" spc="170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2400" spc="-5" dirty="0">
                <a:latin typeface="微软雅黑" panose="020B0503020204020204" charset="-122"/>
                <a:cs typeface="微软雅黑" panose="020B0503020204020204" charset="-122"/>
              </a:rPr>
              <a:t>为奇异矩阵则无法求其逆矩阵，使用正则化的方法可以保证矩阵可逆；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  <a:p>
            <a:pPr marL="494665" marR="49530" indent="-457200">
              <a:lnSpc>
                <a:spcPct val="149000"/>
              </a:lnSpc>
              <a:spcBef>
                <a:spcPts val="1495"/>
              </a:spcBef>
              <a:buFont typeface="Arial MT"/>
              <a:buAutoNum type="arabicPeriod"/>
              <a:tabLst>
                <a:tab pos="494665" algn="l"/>
              </a:tabLst>
            </a:pP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使用</a:t>
            </a:r>
            <a:r>
              <a:rPr sz="2400" spc="-20" dirty="0">
                <a:latin typeface="Arial MT"/>
                <a:cs typeface="Arial MT"/>
              </a:rPr>
              <a:t>LSM</a:t>
            </a: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时应该注意当特征数量规模大于</a:t>
            </a:r>
            <a:r>
              <a:rPr sz="2400" spc="-20" dirty="0">
                <a:latin typeface="Arial MT"/>
                <a:cs typeface="Arial MT"/>
              </a:rPr>
              <a:t>10000</a:t>
            </a: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时， </a:t>
            </a:r>
            <a:r>
              <a:rPr sz="3600" spc="120" baseline="200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2400" spc="80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2625" spc="120" baseline="27000" dirty="0">
                <a:latin typeface="Cambria Math" panose="02040503050406030204"/>
                <a:cs typeface="Cambria Math" panose="02040503050406030204"/>
              </a:rPr>
              <a:t>T</a:t>
            </a:r>
            <a:r>
              <a:rPr sz="2400" spc="80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3600" spc="120" baseline="2000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2625" spc="120" baseline="51000" dirty="0">
                <a:latin typeface="Cambria Math" panose="02040503050406030204"/>
                <a:cs typeface="Cambria Math" panose="02040503050406030204"/>
              </a:rPr>
              <a:t>−1</a:t>
            </a:r>
            <a:r>
              <a:rPr sz="2400" spc="-10" dirty="0">
                <a:latin typeface="微软雅黑" panose="020B0503020204020204" charset="-122"/>
                <a:cs typeface="微软雅黑" panose="020B0503020204020204" charset="-122"/>
              </a:rPr>
              <a:t>求其逆矩阵的时</a:t>
            </a:r>
            <a:r>
              <a:rPr sz="2400" spc="-5" dirty="0">
                <a:latin typeface="微软雅黑" panose="020B0503020204020204" charset="-122"/>
                <a:cs typeface="微软雅黑" panose="020B0503020204020204" charset="-122"/>
              </a:rPr>
              <a:t>间复杂度会很高，不宜用正规方程求解。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726565" y="4087495"/>
            <a:ext cx="6257925" cy="2352675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46760" y="257175"/>
            <a:ext cx="5370195" cy="737870"/>
          </a:xfrm>
        </p:spPr>
        <p:txBody>
          <a:bodyPr>
            <a:noAutofit/>
          </a:bodyPr>
          <a:p>
            <a:r>
              <a:rPr lang="zh-CN" altLang="en-US"/>
              <a:t>从线性回归到感知机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737360" y="1410335"/>
            <a:ext cx="8829040" cy="50431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线性回归</a:t>
            </a:r>
            <a:r>
              <a:rPr lang="zh-CN" altLang="en-US"/>
              <a:t>模型：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把这个输出不再解释为</a:t>
            </a:r>
            <a:r>
              <a:rPr lang="en-US" altLang="zh-CN"/>
              <a:t>“</a:t>
            </a:r>
            <a:r>
              <a:rPr lang="zh-CN" altLang="en-US"/>
              <a:t>数值预测</a:t>
            </a:r>
            <a:r>
              <a:rPr lang="en-US" altLang="zh-CN"/>
              <a:t>”</a:t>
            </a:r>
            <a:r>
              <a:rPr lang="zh-CN" altLang="en-US"/>
              <a:t>，而是解释为</a:t>
            </a:r>
            <a:r>
              <a:rPr lang="en-US" altLang="zh-CN"/>
              <a:t>“</a:t>
            </a:r>
            <a:r>
              <a:rPr lang="zh-CN" altLang="en-US"/>
              <a:t>分类分数</a:t>
            </a:r>
            <a:r>
              <a:rPr lang="en-US" altLang="zh-CN"/>
              <a:t>”</a:t>
            </a:r>
            <a:r>
              <a:rPr lang="zh-CN" altLang="en-US"/>
              <a:t>，那么只需要再加一个判定规则，就可以把它变成分类器，</a:t>
            </a:r>
            <a:r>
              <a:rPr lang="zh-CN" altLang="en-US"/>
              <a:t>例如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5320" y="2959735"/>
            <a:ext cx="3076575" cy="71437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rcRect l="68339" t="2857" r="-1063" b="68186"/>
          <a:stretch>
            <a:fillRect/>
          </a:stretch>
        </p:blipFill>
        <p:spPr>
          <a:xfrm>
            <a:off x="3815080" y="1252855"/>
            <a:ext cx="1838960" cy="71437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770890" y="1342390"/>
            <a:ext cx="9903460" cy="3626485"/>
          </a:xfrm>
        </p:spPr>
        <p:txBody>
          <a:bodyPr>
            <a:noAutofit/>
          </a:bodyPr>
          <a:p>
            <a:pPr marL="0" indent="0">
              <a:buNone/>
            </a:pPr>
            <a:r>
              <a:rPr lang="zh-CN" altLang="en-US" sz="1800"/>
              <a:t>先初始化权重向量</a:t>
            </a:r>
            <a:r>
              <a:rPr lang="en-US" altLang="zh-CN" sz="1800"/>
              <a:t> w</a:t>
            </a:r>
            <a:r>
              <a:rPr lang="zh-CN" altLang="en-US" sz="1800"/>
              <a:t>，例如直接设为</a:t>
            </a:r>
            <a:r>
              <a:rPr lang="en-US" altLang="zh-CN" sz="1800"/>
              <a:t> 0</a:t>
            </a:r>
            <a:endParaRPr lang="en-US" altLang="zh-CN" sz="1800"/>
          </a:p>
          <a:p>
            <a:pPr marL="0" indent="0">
              <a:buNone/>
            </a:pPr>
            <a:r>
              <a:rPr lang="zh-CN" altLang="en-US" sz="1800"/>
              <a:t>逐轮扫描训练样本</a:t>
            </a:r>
            <a:endParaRPr lang="zh-CN" altLang="en-US" sz="1800"/>
          </a:p>
          <a:p>
            <a:pPr marL="0" indent="0">
              <a:buNone/>
            </a:pPr>
            <a:r>
              <a:rPr lang="zh-CN" altLang="en-US" sz="1800"/>
              <a:t>对每个样本，用当前权重预测类别</a:t>
            </a:r>
            <a:endParaRPr lang="zh-CN" altLang="en-US" sz="1800"/>
          </a:p>
          <a:p>
            <a:pPr marL="0" indent="0">
              <a:buNone/>
            </a:pPr>
            <a:r>
              <a:rPr lang="zh-CN" altLang="en-US" sz="1800"/>
              <a:t>如果预测正确，不更新</a:t>
            </a:r>
            <a:endParaRPr lang="zh-CN" altLang="en-US" sz="1800"/>
          </a:p>
          <a:p>
            <a:pPr marL="0" indent="0">
              <a:buNone/>
            </a:pPr>
            <a:endParaRPr lang="zh-CN" altLang="en-US" sz="1800"/>
          </a:p>
          <a:p>
            <a:pPr marL="0" indent="0">
              <a:buNone/>
            </a:pPr>
            <a:endParaRPr lang="zh-CN" altLang="en-US" sz="1800"/>
          </a:p>
          <a:p>
            <a:pPr marL="0" indent="0">
              <a:buNone/>
            </a:pPr>
            <a:endParaRPr lang="zh-CN" altLang="en-US" sz="1800"/>
          </a:p>
          <a:p>
            <a:pPr marL="0" indent="0">
              <a:buNone/>
            </a:pPr>
            <a:r>
              <a:rPr lang="zh-CN" altLang="en-US" sz="1800"/>
              <a:t>如果预测错误，</a:t>
            </a:r>
            <a:endParaRPr lang="zh-CN" altLang="en-US" sz="1800"/>
          </a:p>
          <a:p>
            <a:pPr marL="0" indent="0">
              <a:buNone/>
            </a:pPr>
            <a:r>
              <a:rPr lang="zh-CN" altLang="en-US" sz="1800"/>
              <a:t>如果</a:t>
            </a:r>
            <a:r>
              <a:rPr lang="en-US" altLang="zh-CN" sz="1800"/>
              <a:t>yi= + 1</a:t>
            </a:r>
            <a:r>
              <a:rPr lang="zh-CN" altLang="en-US" sz="1800"/>
              <a:t>（即，第</a:t>
            </a:r>
            <a:r>
              <a:rPr lang="en-US" altLang="zh-CN" sz="1800"/>
              <a:t>i</a:t>
            </a:r>
            <a:r>
              <a:rPr lang="zh-CN" altLang="en-US" sz="1800"/>
              <a:t>个元组是正元组，但当前分类器预测它是负元组），我们将权重向量更新为</a:t>
            </a:r>
            <a:r>
              <a:rPr lang="en-US" altLang="zh-CN" sz="1800"/>
              <a:t>w</a:t>
            </a:r>
            <a:r>
              <a:rPr lang="en-US" altLang="en-US" sz="1800"/>
              <a:t>←</a:t>
            </a:r>
            <a:r>
              <a:rPr lang="en-US" altLang="zh-CN" sz="1800"/>
              <a:t>w+ηxi</a:t>
            </a:r>
            <a:r>
              <a:rPr lang="zh-CN" altLang="en-US" sz="1800"/>
              <a:t>。</a:t>
            </a:r>
            <a:endParaRPr lang="zh-CN" altLang="en-US" sz="1800"/>
          </a:p>
          <a:p>
            <a:pPr marL="0" indent="0">
              <a:buNone/>
            </a:pPr>
            <a:r>
              <a:rPr lang="zh-CN" altLang="en-US" sz="1800"/>
              <a:t>如果</a:t>
            </a:r>
            <a:r>
              <a:rPr lang="en-US" altLang="zh-CN" sz="1800"/>
              <a:t>yi= 0</a:t>
            </a:r>
            <a:r>
              <a:rPr lang="zh-CN" altLang="en-US" sz="1800"/>
              <a:t>（即第</a:t>
            </a:r>
            <a:r>
              <a:rPr lang="en-US" altLang="zh-CN" sz="1800"/>
              <a:t>i </a:t>
            </a:r>
            <a:r>
              <a:rPr lang="zh-CN" altLang="en-US" sz="1800"/>
              <a:t>个元组是负元组，当前分类器错误地预</a:t>
            </a:r>
            <a:r>
              <a:rPr lang="zh-CN" altLang="en-US" sz="1800">
                <a:sym typeface="+mn-ea"/>
              </a:rPr>
              <a:t>测为正元组），我们将权重向量更新为</a:t>
            </a:r>
            <a:r>
              <a:rPr lang="en-US" altLang="zh-CN" sz="1800">
                <a:sym typeface="+mn-ea"/>
              </a:rPr>
              <a:t>w</a:t>
            </a:r>
            <a:r>
              <a:rPr lang="en-US" altLang="en-US" sz="1800">
                <a:sym typeface="+mn-ea"/>
              </a:rPr>
              <a:t>←</a:t>
            </a:r>
            <a:r>
              <a:rPr lang="en-US" altLang="zh-CN" sz="1800">
                <a:sym typeface="+mn-ea"/>
              </a:rPr>
              <a:t>w−ηxi</a:t>
            </a:r>
            <a:r>
              <a:rPr lang="zh-CN" altLang="en-US" sz="1800">
                <a:sym typeface="+mn-ea"/>
              </a:rPr>
              <a:t>，其中</a:t>
            </a:r>
            <a:r>
              <a:rPr lang="en-US" altLang="zh-CN" sz="1800">
                <a:sym typeface="+mn-ea"/>
              </a:rPr>
              <a:t>η &gt;</a:t>
            </a:r>
            <a:r>
              <a:rPr lang="en-US" altLang="zh-CN" sz="1800"/>
              <a:t>0 </a:t>
            </a:r>
            <a:r>
              <a:rPr lang="zh-CN" altLang="en-US" sz="1800"/>
              <a:t>是指定的学习率。</a:t>
            </a:r>
            <a:endParaRPr lang="zh-CN" altLang="en-US" sz="180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46760" y="257175"/>
            <a:ext cx="4681220" cy="641350"/>
          </a:xfrm>
        </p:spPr>
        <p:txBody>
          <a:bodyPr>
            <a:noAutofit/>
          </a:bodyPr>
          <a:p>
            <a:r>
              <a:rPr lang="zh-CN" altLang="en-US"/>
              <a:t>感知机</a:t>
            </a:r>
            <a:r>
              <a:rPr lang="zh-CN" altLang="en-US"/>
              <a:t>算法流程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0240" y="1652270"/>
            <a:ext cx="4493895" cy="237934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73075" y="5763895"/>
            <a:ext cx="10458450" cy="10274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ym typeface="+mn-ea"/>
              </a:rPr>
              <a:t>感知机是最早的线性分类器之一，最早提出于</a:t>
            </a:r>
            <a:r>
              <a:rPr lang="en-US" altLang="zh-CN">
                <a:sym typeface="+mn-ea"/>
              </a:rPr>
              <a:t> 1958 </a:t>
            </a:r>
            <a:r>
              <a:rPr lang="zh-CN" altLang="en-US">
                <a:sym typeface="+mn-ea"/>
              </a:rPr>
              <a:t>年；同时，它也可以作为后续深度神经网络中的构建模块，即</a:t>
            </a:r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神经元</a:t>
            </a:r>
            <a:r>
              <a:rPr lang="en-US" altLang="zh-CN">
                <a:sym typeface="+mn-ea"/>
              </a:rPr>
              <a:t>”</a:t>
            </a:r>
            <a:r>
              <a:rPr lang="zh-CN" altLang="en-US">
                <a:sym typeface="+mn-ea"/>
              </a:rPr>
              <a:t>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999744"/>
            <a:ext cx="646430" cy="262255"/>
          </a:xfrm>
          <a:custGeom>
            <a:avLst/>
            <a:gdLst/>
            <a:ahLst/>
            <a:cxnLst/>
            <a:rect l="l" t="t" r="r" b="b"/>
            <a:pathLst>
              <a:path w="646430" h="262255">
                <a:moveTo>
                  <a:pt x="646176" y="262127"/>
                </a:moveTo>
                <a:lnTo>
                  <a:pt x="0" y="262127"/>
                </a:lnTo>
                <a:lnTo>
                  <a:pt x="0" y="0"/>
                </a:lnTo>
                <a:lnTo>
                  <a:pt x="646176" y="0"/>
                </a:lnTo>
                <a:lnTo>
                  <a:pt x="646176" y="262127"/>
                </a:lnTo>
                <a:close/>
              </a:path>
            </a:pathLst>
          </a:custGeom>
          <a:solidFill>
            <a:srgbClr val="A400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02563" y="996696"/>
            <a:ext cx="11489690" cy="262255"/>
          </a:xfrm>
          <a:custGeom>
            <a:avLst/>
            <a:gdLst/>
            <a:ahLst/>
            <a:cxnLst/>
            <a:rect l="l" t="t" r="r" b="b"/>
            <a:pathLst>
              <a:path w="11489690" h="262255">
                <a:moveTo>
                  <a:pt x="11489436" y="262127"/>
                </a:moveTo>
                <a:lnTo>
                  <a:pt x="0" y="262127"/>
                </a:lnTo>
                <a:lnTo>
                  <a:pt x="0" y="0"/>
                </a:lnTo>
                <a:lnTo>
                  <a:pt x="11489436" y="0"/>
                </a:lnTo>
                <a:lnTo>
                  <a:pt x="11489436" y="262127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62902" y="987107"/>
            <a:ext cx="224154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19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47077" y="257492"/>
            <a:ext cx="23622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Arial" panose="020B0604020202020204"/>
                <a:cs typeface="Arial" panose="020B0604020202020204"/>
              </a:rPr>
              <a:t>1</a:t>
            </a:r>
            <a:r>
              <a:rPr spc="-5" dirty="0">
                <a:latin typeface="Arial" panose="020B0604020202020204"/>
                <a:cs typeface="Arial" panose="020B0604020202020204"/>
              </a:rPr>
              <a:t>. </a:t>
            </a:r>
            <a:r>
              <a:rPr spc="-15" dirty="0"/>
              <a:t>线性回归</a:t>
            </a:r>
            <a:endParaRPr spc="-15" dirty="0"/>
          </a:p>
        </p:txBody>
      </p:sp>
      <p:sp>
        <p:nvSpPr>
          <p:cNvPr id="6" name="object 6"/>
          <p:cNvSpPr/>
          <p:nvPr/>
        </p:nvSpPr>
        <p:spPr>
          <a:xfrm>
            <a:off x="2535935" y="2703576"/>
            <a:ext cx="6278880" cy="647700"/>
          </a:xfrm>
          <a:custGeom>
            <a:avLst/>
            <a:gdLst/>
            <a:ahLst/>
            <a:cxnLst/>
            <a:rect l="l" t="t" r="r" b="b"/>
            <a:pathLst>
              <a:path w="6278880" h="647700">
                <a:moveTo>
                  <a:pt x="6143244" y="647700"/>
                </a:moveTo>
                <a:lnTo>
                  <a:pt x="0" y="647700"/>
                </a:lnTo>
                <a:lnTo>
                  <a:pt x="0" y="135636"/>
                </a:lnTo>
                <a:lnTo>
                  <a:pt x="6799" y="92425"/>
                </a:lnTo>
                <a:lnTo>
                  <a:pt x="25997" y="55021"/>
                </a:lnTo>
                <a:lnTo>
                  <a:pt x="55359" y="25659"/>
                </a:lnTo>
                <a:lnTo>
                  <a:pt x="92650" y="6573"/>
                </a:lnTo>
                <a:lnTo>
                  <a:pt x="135636" y="0"/>
                </a:lnTo>
                <a:lnTo>
                  <a:pt x="6278880" y="0"/>
                </a:lnTo>
                <a:lnTo>
                  <a:pt x="6278880" y="512063"/>
                </a:lnTo>
                <a:lnTo>
                  <a:pt x="6271824" y="554592"/>
                </a:lnTo>
                <a:lnTo>
                  <a:pt x="6252498" y="591654"/>
                </a:lnTo>
                <a:lnTo>
                  <a:pt x="6223136" y="621016"/>
                </a:lnTo>
                <a:lnTo>
                  <a:pt x="6185973" y="640443"/>
                </a:lnTo>
                <a:lnTo>
                  <a:pt x="6143244" y="647700"/>
                </a:lnTo>
                <a:close/>
              </a:path>
            </a:pathLst>
          </a:custGeom>
          <a:solidFill>
            <a:srgbClr val="1352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989808" y="1816290"/>
            <a:ext cx="4049395" cy="3097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89940" indent="-750570">
              <a:lnSpc>
                <a:spcPct val="100000"/>
              </a:lnSpc>
              <a:spcBef>
                <a:spcPts val="100"/>
              </a:spcBef>
              <a:buFont typeface="Impact" panose="020B0806030902050204"/>
              <a:buAutoNum type="arabicPeriod"/>
              <a:tabLst>
                <a:tab pos="789940" algn="l"/>
              </a:tabLst>
            </a:pPr>
            <a:r>
              <a:rPr sz="3600" spc="-15" dirty="0">
                <a:latin typeface="微软雅黑" panose="020B0503020204020204" charset="-122"/>
                <a:cs typeface="微软雅黑" panose="020B0503020204020204" charset="-122"/>
              </a:rPr>
              <a:t>线性回归</a:t>
            </a:r>
            <a:endParaRPr sz="3600">
              <a:latin typeface="微软雅黑" panose="020B0503020204020204" charset="-122"/>
              <a:cs typeface="微软雅黑" panose="020B0503020204020204" charset="-122"/>
            </a:endParaRPr>
          </a:p>
          <a:p>
            <a:pPr marL="808990" indent="-796290">
              <a:lnSpc>
                <a:spcPct val="100000"/>
              </a:lnSpc>
              <a:spcBef>
                <a:spcPts val="2710"/>
              </a:spcBef>
              <a:buFont typeface="Impact" panose="020B0806030902050204"/>
              <a:buAutoNum type="arabicPeriod"/>
              <a:tabLst>
                <a:tab pos="808990" algn="l"/>
              </a:tabLst>
            </a:pPr>
            <a:r>
              <a:rPr sz="3600" spc="-1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梯度下降</a:t>
            </a:r>
            <a:endParaRPr sz="3600">
              <a:latin typeface="微软雅黑" panose="020B0503020204020204" charset="-122"/>
              <a:cs typeface="微软雅黑" panose="020B0503020204020204" charset="-122"/>
            </a:endParaRPr>
          </a:p>
          <a:p>
            <a:pPr marL="822325" indent="-809625">
              <a:lnSpc>
                <a:spcPct val="100000"/>
              </a:lnSpc>
              <a:spcBef>
                <a:spcPts val="2095"/>
              </a:spcBef>
              <a:buFont typeface="Impact" panose="020B0806030902050204"/>
              <a:buAutoNum type="arabicPeriod"/>
              <a:tabLst>
                <a:tab pos="822325" algn="l"/>
              </a:tabLst>
            </a:pPr>
            <a:r>
              <a:rPr sz="3600" spc="-20" dirty="0">
                <a:latin typeface="微软雅黑" panose="020B0503020204020204" charset="-122"/>
                <a:cs typeface="微软雅黑" panose="020B0503020204020204" charset="-122"/>
              </a:rPr>
              <a:t>正则化</a:t>
            </a:r>
            <a:endParaRPr sz="3600">
              <a:latin typeface="微软雅黑" panose="020B0503020204020204" charset="-122"/>
              <a:cs typeface="微软雅黑" panose="020B0503020204020204" charset="-122"/>
            </a:endParaRPr>
          </a:p>
          <a:p>
            <a:pPr marL="835660" indent="-796290">
              <a:lnSpc>
                <a:spcPct val="100000"/>
              </a:lnSpc>
              <a:spcBef>
                <a:spcPts val="2100"/>
              </a:spcBef>
              <a:buFont typeface="Impact" panose="020B0806030902050204"/>
              <a:buAutoNum type="arabicPeriod"/>
              <a:tabLst>
                <a:tab pos="835660" algn="l"/>
              </a:tabLst>
            </a:pPr>
            <a:r>
              <a:rPr sz="3600" spc="-10" dirty="0">
                <a:latin typeface="微软雅黑" panose="020B0503020204020204" charset="-122"/>
                <a:cs typeface="微软雅黑" panose="020B0503020204020204" charset="-122"/>
              </a:rPr>
              <a:t>回归的评价指标</a:t>
            </a:r>
            <a:endParaRPr sz="3600"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999744"/>
            <a:ext cx="646430" cy="262255"/>
          </a:xfrm>
          <a:prstGeom prst="rect">
            <a:avLst/>
          </a:prstGeom>
          <a:solidFill>
            <a:srgbClr val="A40020"/>
          </a:solidFill>
        </p:spPr>
        <p:txBody>
          <a:bodyPr vert="horz" wrap="square" lIns="0" tIns="635" rIns="0" bIns="0" rtlCol="0">
            <a:spAutoFit/>
          </a:bodyPr>
          <a:lstStyle/>
          <a:p>
            <a:pPr marL="375285">
              <a:lnSpc>
                <a:spcPct val="100000"/>
              </a:lnSpc>
              <a:spcBef>
                <a:spcPts val="5"/>
              </a:spcBef>
            </a:pPr>
            <a:r>
              <a:rPr sz="1400" b="1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20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93102" y="312826"/>
            <a:ext cx="18542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梯度下降</a:t>
            </a:r>
            <a:endParaRPr spc="-15" dirty="0"/>
          </a:p>
        </p:txBody>
      </p:sp>
      <p:grpSp>
        <p:nvGrpSpPr>
          <p:cNvPr id="4" name="object 4"/>
          <p:cNvGrpSpPr/>
          <p:nvPr/>
        </p:nvGrpSpPr>
        <p:grpSpPr>
          <a:xfrm>
            <a:off x="3686303" y="1823453"/>
            <a:ext cx="8201025" cy="4752975"/>
            <a:chOff x="3686303" y="1823453"/>
            <a:chExt cx="8201025" cy="4752975"/>
          </a:xfrm>
        </p:grpSpPr>
        <p:pic>
          <p:nvPicPr>
            <p:cNvPr id="5" name="object 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686303" y="2024929"/>
              <a:ext cx="5744731" cy="366972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226951" y="1823453"/>
              <a:ext cx="93345" cy="378460"/>
            </a:xfrm>
            <a:custGeom>
              <a:avLst/>
              <a:gdLst/>
              <a:ahLst/>
              <a:cxnLst/>
              <a:rect l="l" t="t" r="r" b="b"/>
              <a:pathLst>
                <a:path w="93345" h="378460">
                  <a:moveTo>
                    <a:pt x="51010" y="304041"/>
                  </a:moveTo>
                  <a:lnTo>
                    <a:pt x="0" y="1587"/>
                  </a:lnTo>
                  <a:lnTo>
                    <a:pt x="9385" y="0"/>
                  </a:lnTo>
                  <a:lnTo>
                    <a:pt x="60408" y="302456"/>
                  </a:lnTo>
                  <a:lnTo>
                    <a:pt x="51010" y="304041"/>
                  </a:lnTo>
                  <a:close/>
                </a:path>
                <a:path w="93345" h="378460">
                  <a:moveTo>
                    <a:pt x="85353" y="322821"/>
                  </a:moveTo>
                  <a:lnTo>
                    <a:pt x="54178" y="322821"/>
                  </a:lnTo>
                  <a:lnTo>
                    <a:pt x="63576" y="321233"/>
                  </a:lnTo>
                  <a:lnTo>
                    <a:pt x="60408" y="302456"/>
                  </a:lnTo>
                  <a:lnTo>
                    <a:pt x="93268" y="296913"/>
                  </a:lnTo>
                  <a:lnTo>
                    <a:pt x="85353" y="322821"/>
                  </a:lnTo>
                  <a:close/>
                </a:path>
                <a:path w="93345" h="378460">
                  <a:moveTo>
                    <a:pt x="54178" y="322821"/>
                  </a:moveTo>
                  <a:lnTo>
                    <a:pt x="51010" y="304041"/>
                  </a:lnTo>
                  <a:lnTo>
                    <a:pt x="60408" y="302456"/>
                  </a:lnTo>
                  <a:lnTo>
                    <a:pt x="63576" y="321233"/>
                  </a:lnTo>
                  <a:lnTo>
                    <a:pt x="54178" y="322821"/>
                  </a:lnTo>
                  <a:close/>
                </a:path>
                <a:path w="93345" h="378460">
                  <a:moveTo>
                    <a:pt x="68376" y="378383"/>
                  </a:moveTo>
                  <a:lnTo>
                    <a:pt x="18135" y="309587"/>
                  </a:lnTo>
                  <a:lnTo>
                    <a:pt x="51010" y="304041"/>
                  </a:lnTo>
                  <a:lnTo>
                    <a:pt x="54178" y="322821"/>
                  </a:lnTo>
                  <a:lnTo>
                    <a:pt x="85353" y="322821"/>
                  </a:lnTo>
                  <a:lnTo>
                    <a:pt x="68376" y="378383"/>
                  </a:lnTo>
                  <a:close/>
                </a:path>
              </a:pathLst>
            </a:custGeom>
            <a:solidFill>
              <a:srgbClr val="33339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50027" y="2190673"/>
              <a:ext cx="153149" cy="40694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395455" y="2574708"/>
              <a:ext cx="160020" cy="746760"/>
            </a:xfrm>
            <a:custGeom>
              <a:avLst/>
              <a:gdLst/>
              <a:ahLst/>
              <a:cxnLst/>
              <a:rect l="l" t="t" r="r" b="b"/>
              <a:pathLst>
                <a:path w="160020" h="746760">
                  <a:moveTo>
                    <a:pt x="159550" y="418592"/>
                  </a:moveTo>
                  <a:lnTo>
                    <a:pt x="126796" y="424853"/>
                  </a:lnTo>
                  <a:lnTo>
                    <a:pt x="101993" y="295148"/>
                  </a:lnTo>
                  <a:lnTo>
                    <a:pt x="104597" y="297713"/>
                  </a:lnTo>
                  <a:lnTo>
                    <a:pt x="111887" y="245084"/>
                  </a:lnTo>
                  <a:lnTo>
                    <a:pt x="116293" y="213321"/>
                  </a:lnTo>
                  <a:lnTo>
                    <a:pt x="84696" y="224002"/>
                  </a:lnTo>
                  <a:lnTo>
                    <a:pt x="9017" y="0"/>
                  </a:lnTo>
                  <a:lnTo>
                    <a:pt x="0" y="3048"/>
                  </a:lnTo>
                  <a:lnTo>
                    <a:pt x="75679" y="227050"/>
                  </a:lnTo>
                  <a:lnTo>
                    <a:pt x="44107" y="237718"/>
                  </a:lnTo>
                  <a:lnTo>
                    <a:pt x="90030" y="283273"/>
                  </a:lnTo>
                  <a:lnTo>
                    <a:pt x="117449" y="426643"/>
                  </a:lnTo>
                  <a:lnTo>
                    <a:pt x="84709" y="432892"/>
                  </a:lnTo>
                  <a:lnTo>
                    <a:pt x="123647" y="483857"/>
                  </a:lnTo>
                  <a:lnTo>
                    <a:pt x="80632" y="670928"/>
                  </a:lnTo>
                  <a:lnTo>
                    <a:pt x="48145" y="663448"/>
                  </a:lnTo>
                  <a:lnTo>
                    <a:pt x="68199" y="746252"/>
                  </a:lnTo>
                  <a:lnTo>
                    <a:pt x="113245" y="691616"/>
                  </a:lnTo>
                  <a:lnTo>
                    <a:pt x="122402" y="680516"/>
                  </a:lnTo>
                  <a:lnTo>
                    <a:pt x="89916" y="673061"/>
                  </a:lnTo>
                  <a:lnTo>
                    <a:pt x="131152" y="493687"/>
                  </a:lnTo>
                  <a:lnTo>
                    <a:pt x="136436" y="500583"/>
                  </a:lnTo>
                  <a:lnTo>
                    <a:pt x="152006" y="445350"/>
                  </a:lnTo>
                  <a:lnTo>
                    <a:pt x="159550" y="418592"/>
                  </a:lnTo>
                  <a:close/>
                </a:path>
              </a:pathLst>
            </a:custGeom>
            <a:solidFill>
              <a:srgbClr val="33339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63692" y="3319411"/>
              <a:ext cx="79629" cy="188061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482742" y="3468306"/>
              <a:ext cx="749935" cy="1412240"/>
            </a:xfrm>
            <a:custGeom>
              <a:avLst/>
              <a:gdLst/>
              <a:ahLst/>
              <a:cxnLst/>
              <a:rect l="l" t="t" r="r" b="b"/>
              <a:pathLst>
                <a:path w="749935" h="1412239">
                  <a:moveTo>
                    <a:pt x="749731" y="1408493"/>
                  </a:moveTo>
                  <a:lnTo>
                    <a:pt x="734098" y="1389227"/>
                  </a:lnTo>
                  <a:lnTo>
                    <a:pt x="696074" y="1342326"/>
                  </a:lnTo>
                  <a:lnTo>
                    <a:pt x="682294" y="1372692"/>
                  </a:lnTo>
                  <a:lnTo>
                    <a:pt x="472960" y="1277785"/>
                  </a:lnTo>
                  <a:lnTo>
                    <a:pt x="485876" y="1281112"/>
                  </a:lnTo>
                  <a:lnTo>
                    <a:pt x="471893" y="1247190"/>
                  </a:lnTo>
                  <a:lnTo>
                    <a:pt x="453415" y="1202347"/>
                  </a:lnTo>
                  <a:lnTo>
                    <a:pt x="431520" y="1227505"/>
                  </a:lnTo>
                  <a:lnTo>
                    <a:pt x="297942" y="1111211"/>
                  </a:lnTo>
                  <a:lnTo>
                    <a:pt x="295186" y="1114374"/>
                  </a:lnTo>
                  <a:lnTo>
                    <a:pt x="296430" y="1076502"/>
                  </a:lnTo>
                  <a:lnTo>
                    <a:pt x="296545" y="1073124"/>
                  </a:lnTo>
                  <a:lnTo>
                    <a:pt x="296557" y="1072527"/>
                  </a:lnTo>
                  <a:lnTo>
                    <a:pt x="297586" y="1041285"/>
                  </a:lnTo>
                  <a:lnTo>
                    <a:pt x="267296" y="1055217"/>
                  </a:lnTo>
                  <a:lnTo>
                    <a:pt x="194500" y="896912"/>
                  </a:lnTo>
                  <a:lnTo>
                    <a:pt x="187655" y="900074"/>
                  </a:lnTo>
                  <a:lnTo>
                    <a:pt x="183692" y="873036"/>
                  </a:lnTo>
                  <a:lnTo>
                    <a:pt x="177800" y="832878"/>
                  </a:lnTo>
                  <a:lnTo>
                    <a:pt x="150456" y="851966"/>
                  </a:lnTo>
                  <a:lnTo>
                    <a:pt x="53606" y="713232"/>
                  </a:lnTo>
                  <a:lnTo>
                    <a:pt x="75196" y="658647"/>
                  </a:lnTo>
                  <a:lnTo>
                    <a:pt x="84188" y="635952"/>
                  </a:lnTo>
                  <a:lnTo>
                    <a:pt x="50965" y="638848"/>
                  </a:lnTo>
                  <a:lnTo>
                    <a:pt x="51041" y="639686"/>
                  </a:lnTo>
                  <a:lnTo>
                    <a:pt x="52628" y="657821"/>
                  </a:lnTo>
                  <a:lnTo>
                    <a:pt x="50965" y="638848"/>
                  </a:lnTo>
                  <a:lnTo>
                    <a:pt x="35953" y="466559"/>
                  </a:lnTo>
                  <a:lnTo>
                    <a:pt x="64947" y="433679"/>
                  </a:lnTo>
                  <a:lnTo>
                    <a:pt x="73660" y="423811"/>
                  </a:lnTo>
                  <a:lnTo>
                    <a:pt x="41427" y="415277"/>
                  </a:lnTo>
                  <a:lnTo>
                    <a:pt x="87261" y="242379"/>
                  </a:lnTo>
                  <a:lnTo>
                    <a:pt x="103746" y="262077"/>
                  </a:lnTo>
                  <a:lnTo>
                    <a:pt x="116547" y="207568"/>
                  </a:lnTo>
                  <a:lnTo>
                    <a:pt x="123240" y="179146"/>
                  </a:lnTo>
                  <a:lnTo>
                    <a:pt x="90805" y="186842"/>
                  </a:lnTo>
                  <a:lnTo>
                    <a:pt x="46532" y="0"/>
                  </a:lnTo>
                  <a:lnTo>
                    <a:pt x="37261" y="2197"/>
                  </a:lnTo>
                  <a:lnTo>
                    <a:pt x="81534" y="189039"/>
                  </a:lnTo>
                  <a:lnTo>
                    <a:pt x="49098" y="196723"/>
                  </a:lnTo>
                  <a:lnTo>
                    <a:pt x="79781" y="233438"/>
                  </a:lnTo>
                  <a:lnTo>
                    <a:pt x="32219" y="412838"/>
                  </a:lnTo>
                  <a:lnTo>
                    <a:pt x="0" y="404291"/>
                  </a:lnTo>
                  <a:lnTo>
                    <a:pt x="17310" y="487705"/>
                  </a:lnTo>
                  <a:lnTo>
                    <a:pt x="27254" y="476427"/>
                  </a:lnTo>
                  <a:lnTo>
                    <a:pt x="41478" y="639686"/>
                  </a:lnTo>
                  <a:lnTo>
                    <a:pt x="8280" y="642569"/>
                  </a:lnTo>
                  <a:lnTo>
                    <a:pt x="51739" y="713371"/>
                  </a:lnTo>
                  <a:lnTo>
                    <a:pt x="45250" y="717892"/>
                  </a:lnTo>
                  <a:lnTo>
                    <a:pt x="142646" y="857427"/>
                  </a:lnTo>
                  <a:lnTo>
                    <a:pt x="115316" y="876503"/>
                  </a:lnTo>
                  <a:lnTo>
                    <a:pt x="190182" y="917168"/>
                  </a:lnTo>
                  <a:lnTo>
                    <a:pt x="188696" y="907097"/>
                  </a:lnTo>
                  <a:lnTo>
                    <a:pt x="258648" y="1059205"/>
                  </a:lnTo>
                  <a:lnTo>
                    <a:pt x="228358" y="1073124"/>
                  </a:lnTo>
                  <a:lnTo>
                    <a:pt x="294805" y="1126439"/>
                  </a:lnTo>
                  <a:lnTo>
                    <a:pt x="294970" y="1121270"/>
                  </a:lnTo>
                  <a:lnTo>
                    <a:pt x="425272" y="1234681"/>
                  </a:lnTo>
                  <a:lnTo>
                    <a:pt x="403390" y="1259827"/>
                  </a:lnTo>
                  <a:lnTo>
                    <a:pt x="470585" y="1277175"/>
                  </a:lnTo>
                  <a:lnTo>
                    <a:pt x="466826" y="1285455"/>
                  </a:lnTo>
                  <a:lnTo>
                    <a:pt x="678370" y="1381366"/>
                  </a:lnTo>
                  <a:lnTo>
                    <a:pt x="664603" y="1411732"/>
                  </a:lnTo>
                  <a:lnTo>
                    <a:pt x="749731" y="1408493"/>
                  </a:lnTo>
                  <a:close/>
                </a:path>
              </a:pathLst>
            </a:custGeom>
            <a:solidFill>
              <a:srgbClr val="33339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00254" y="4856657"/>
              <a:ext cx="236943" cy="12065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970263" y="4408931"/>
              <a:ext cx="2916935" cy="2167128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9747719" y="1636077"/>
            <a:ext cx="1140460" cy="1126490"/>
            <a:chOff x="9747719" y="1636077"/>
            <a:chExt cx="1140460" cy="1126490"/>
          </a:xfrm>
        </p:grpSpPr>
        <p:sp>
          <p:nvSpPr>
            <p:cNvPr id="14" name="object 14"/>
            <p:cNvSpPr/>
            <p:nvPr/>
          </p:nvSpPr>
          <p:spPr>
            <a:xfrm>
              <a:off x="9759695" y="1648967"/>
              <a:ext cx="1115695" cy="1100455"/>
            </a:xfrm>
            <a:custGeom>
              <a:avLst/>
              <a:gdLst/>
              <a:ahLst/>
              <a:cxnLst/>
              <a:rect l="l" t="t" r="r" b="b"/>
              <a:pathLst>
                <a:path w="1115695" h="1100455">
                  <a:moveTo>
                    <a:pt x="681227" y="1100327"/>
                  </a:moveTo>
                  <a:lnTo>
                    <a:pt x="650748" y="367283"/>
                  </a:lnTo>
                  <a:lnTo>
                    <a:pt x="0" y="367283"/>
                  </a:lnTo>
                  <a:lnTo>
                    <a:pt x="0" y="0"/>
                  </a:lnTo>
                  <a:lnTo>
                    <a:pt x="1115568" y="0"/>
                  </a:lnTo>
                  <a:lnTo>
                    <a:pt x="1115568" y="367283"/>
                  </a:lnTo>
                  <a:lnTo>
                    <a:pt x="929639" y="367283"/>
                  </a:lnTo>
                  <a:lnTo>
                    <a:pt x="681227" y="11003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9747719" y="1636077"/>
              <a:ext cx="1140460" cy="1126490"/>
            </a:xfrm>
            <a:custGeom>
              <a:avLst/>
              <a:gdLst/>
              <a:ahLst/>
              <a:cxnLst/>
              <a:rect l="l" t="t" r="r" b="b"/>
              <a:pathLst>
                <a:path w="1140459" h="1126489">
                  <a:moveTo>
                    <a:pt x="650670" y="392531"/>
                  </a:moveTo>
                  <a:lnTo>
                    <a:pt x="12700" y="392531"/>
                  </a:lnTo>
                  <a:lnTo>
                    <a:pt x="10223" y="392290"/>
                  </a:lnTo>
                  <a:lnTo>
                    <a:pt x="0" y="12700"/>
                  </a:lnTo>
                  <a:lnTo>
                    <a:pt x="241" y="10223"/>
                  </a:lnTo>
                  <a:lnTo>
                    <a:pt x="12700" y="0"/>
                  </a:lnTo>
                  <a:lnTo>
                    <a:pt x="1127264" y="0"/>
                  </a:lnTo>
                  <a:lnTo>
                    <a:pt x="1139964" y="12700"/>
                  </a:lnTo>
                  <a:lnTo>
                    <a:pt x="25400" y="12700"/>
                  </a:lnTo>
                  <a:lnTo>
                    <a:pt x="12700" y="25400"/>
                  </a:lnTo>
                  <a:lnTo>
                    <a:pt x="25400" y="25400"/>
                  </a:lnTo>
                  <a:lnTo>
                    <a:pt x="25400" y="367131"/>
                  </a:lnTo>
                  <a:lnTo>
                    <a:pt x="12700" y="367131"/>
                  </a:lnTo>
                  <a:lnTo>
                    <a:pt x="25400" y="379831"/>
                  </a:lnTo>
                  <a:lnTo>
                    <a:pt x="675571" y="379831"/>
                  </a:lnTo>
                  <a:lnTo>
                    <a:pt x="675592" y="380352"/>
                  </a:lnTo>
                  <a:lnTo>
                    <a:pt x="650176" y="380352"/>
                  </a:lnTo>
                  <a:lnTo>
                    <a:pt x="650256" y="382320"/>
                  </a:lnTo>
                  <a:lnTo>
                    <a:pt x="650352" y="384695"/>
                  </a:lnTo>
                  <a:lnTo>
                    <a:pt x="650441" y="386892"/>
                  </a:lnTo>
                  <a:lnTo>
                    <a:pt x="650520" y="388823"/>
                  </a:lnTo>
                  <a:lnTo>
                    <a:pt x="650631" y="391566"/>
                  </a:lnTo>
                  <a:lnTo>
                    <a:pt x="650670" y="392531"/>
                  </a:lnTo>
                  <a:close/>
                </a:path>
                <a:path w="1140459" h="1126489">
                  <a:moveTo>
                    <a:pt x="25400" y="25400"/>
                  </a:moveTo>
                  <a:lnTo>
                    <a:pt x="12700" y="25400"/>
                  </a:lnTo>
                  <a:lnTo>
                    <a:pt x="25400" y="12700"/>
                  </a:lnTo>
                  <a:lnTo>
                    <a:pt x="25400" y="25400"/>
                  </a:lnTo>
                  <a:close/>
                </a:path>
                <a:path w="1140459" h="1126489">
                  <a:moveTo>
                    <a:pt x="1114564" y="25400"/>
                  </a:moveTo>
                  <a:lnTo>
                    <a:pt x="25400" y="25400"/>
                  </a:lnTo>
                  <a:lnTo>
                    <a:pt x="25400" y="12700"/>
                  </a:lnTo>
                  <a:lnTo>
                    <a:pt x="1114564" y="12700"/>
                  </a:lnTo>
                  <a:lnTo>
                    <a:pt x="1114564" y="25400"/>
                  </a:lnTo>
                  <a:close/>
                </a:path>
                <a:path w="1140459" h="1126489">
                  <a:moveTo>
                    <a:pt x="1114564" y="379831"/>
                  </a:moveTo>
                  <a:lnTo>
                    <a:pt x="1114564" y="12700"/>
                  </a:lnTo>
                  <a:lnTo>
                    <a:pt x="1127264" y="25400"/>
                  </a:lnTo>
                  <a:lnTo>
                    <a:pt x="1139964" y="25400"/>
                  </a:lnTo>
                  <a:lnTo>
                    <a:pt x="1139964" y="367131"/>
                  </a:lnTo>
                  <a:lnTo>
                    <a:pt x="1127264" y="367131"/>
                  </a:lnTo>
                  <a:lnTo>
                    <a:pt x="1114564" y="379831"/>
                  </a:lnTo>
                  <a:close/>
                </a:path>
                <a:path w="1140459" h="1126489">
                  <a:moveTo>
                    <a:pt x="1139964" y="25400"/>
                  </a:moveTo>
                  <a:lnTo>
                    <a:pt x="1127264" y="25400"/>
                  </a:lnTo>
                  <a:lnTo>
                    <a:pt x="1114564" y="12700"/>
                  </a:lnTo>
                  <a:lnTo>
                    <a:pt x="1139964" y="12700"/>
                  </a:lnTo>
                  <a:lnTo>
                    <a:pt x="1139964" y="25400"/>
                  </a:lnTo>
                  <a:close/>
                </a:path>
                <a:path w="1140459" h="1126489">
                  <a:moveTo>
                    <a:pt x="25400" y="379831"/>
                  </a:moveTo>
                  <a:lnTo>
                    <a:pt x="12700" y="367131"/>
                  </a:lnTo>
                  <a:lnTo>
                    <a:pt x="25400" y="367131"/>
                  </a:lnTo>
                  <a:lnTo>
                    <a:pt x="25400" y="379831"/>
                  </a:lnTo>
                  <a:close/>
                </a:path>
                <a:path w="1140459" h="1126489">
                  <a:moveTo>
                    <a:pt x="675571" y="379831"/>
                  </a:moveTo>
                  <a:lnTo>
                    <a:pt x="25400" y="379831"/>
                  </a:lnTo>
                  <a:lnTo>
                    <a:pt x="25400" y="367131"/>
                  </a:lnTo>
                  <a:lnTo>
                    <a:pt x="662863" y="367131"/>
                  </a:lnTo>
                  <a:lnTo>
                    <a:pt x="665390" y="367411"/>
                  </a:lnTo>
                  <a:lnTo>
                    <a:pt x="665545" y="367411"/>
                  </a:lnTo>
                  <a:lnTo>
                    <a:pt x="667878" y="368211"/>
                  </a:lnTo>
                  <a:lnTo>
                    <a:pt x="668039" y="368211"/>
                  </a:lnTo>
                  <a:lnTo>
                    <a:pt x="670610" y="369773"/>
                  </a:lnTo>
                  <a:lnTo>
                    <a:pt x="672604" y="371690"/>
                  </a:lnTo>
                  <a:lnTo>
                    <a:pt x="674141" y="374002"/>
                  </a:lnTo>
                  <a:lnTo>
                    <a:pt x="675144" y="376580"/>
                  </a:lnTo>
                  <a:lnTo>
                    <a:pt x="675551" y="379323"/>
                  </a:lnTo>
                  <a:lnTo>
                    <a:pt x="675571" y="379831"/>
                  </a:lnTo>
                  <a:close/>
                </a:path>
                <a:path w="1140459" h="1126489">
                  <a:moveTo>
                    <a:pt x="706201" y="1113116"/>
                  </a:moveTo>
                  <a:lnTo>
                    <a:pt x="705307" y="1113116"/>
                  </a:lnTo>
                  <a:lnTo>
                    <a:pt x="702538" y="1044847"/>
                  </a:lnTo>
                  <a:lnTo>
                    <a:pt x="929487" y="375754"/>
                  </a:lnTo>
                  <a:lnTo>
                    <a:pt x="941514" y="367131"/>
                  </a:lnTo>
                  <a:lnTo>
                    <a:pt x="1114564" y="367131"/>
                  </a:lnTo>
                  <a:lnTo>
                    <a:pt x="1114564" y="379831"/>
                  </a:lnTo>
                  <a:lnTo>
                    <a:pt x="1139964" y="379831"/>
                  </a:lnTo>
                  <a:lnTo>
                    <a:pt x="1139723" y="382320"/>
                  </a:lnTo>
                  <a:lnTo>
                    <a:pt x="1139235" y="383921"/>
                  </a:lnTo>
                  <a:lnTo>
                    <a:pt x="953541" y="383921"/>
                  </a:lnTo>
                  <a:lnTo>
                    <a:pt x="941514" y="392531"/>
                  </a:lnTo>
                  <a:lnTo>
                    <a:pt x="950620" y="392531"/>
                  </a:lnTo>
                  <a:lnTo>
                    <a:pt x="706201" y="1113116"/>
                  </a:lnTo>
                  <a:close/>
                </a:path>
                <a:path w="1140459" h="1126489">
                  <a:moveTo>
                    <a:pt x="1139964" y="379831"/>
                  </a:moveTo>
                  <a:lnTo>
                    <a:pt x="1114564" y="379831"/>
                  </a:lnTo>
                  <a:lnTo>
                    <a:pt x="1127264" y="367131"/>
                  </a:lnTo>
                  <a:lnTo>
                    <a:pt x="1139964" y="367131"/>
                  </a:lnTo>
                  <a:lnTo>
                    <a:pt x="1139964" y="379831"/>
                  </a:lnTo>
                  <a:close/>
                </a:path>
                <a:path w="1140459" h="1126489">
                  <a:moveTo>
                    <a:pt x="692162" y="1126312"/>
                  </a:moveTo>
                  <a:lnTo>
                    <a:pt x="650670" y="392531"/>
                  </a:lnTo>
                  <a:lnTo>
                    <a:pt x="650631" y="391566"/>
                  </a:lnTo>
                  <a:lnTo>
                    <a:pt x="650520" y="388823"/>
                  </a:lnTo>
                  <a:lnTo>
                    <a:pt x="650441" y="386892"/>
                  </a:lnTo>
                  <a:lnTo>
                    <a:pt x="650352" y="384695"/>
                  </a:lnTo>
                  <a:lnTo>
                    <a:pt x="650256" y="382320"/>
                  </a:lnTo>
                  <a:lnTo>
                    <a:pt x="650176" y="380352"/>
                  </a:lnTo>
                  <a:lnTo>
                    <a:pt x="662863" y="392531"/>
                  </a:lnTo>
                  <a:lnTo>
                    <a:pt x="676086" y="392531"/>
                  </a:lnTo>
                  <a:lnTo>
                    <a:pt x="702538" y="1044847"/>
                  </a:lnTo>
                  <a:lnTo>
                    <a:pt x="680592" y="1109548"/>
                  </a:lnTo>
                  <a:lnTo>
                    <a:pt x="705307" y="1113116"/>
                  </a:lnTo>
                  <a:lnTo>
                    <a:pt x="706201" y="1113116"/>
                  </a:lnTo>
                  <a:lnTo>
                    <a:pt x="704646" y="1117701"/>
                  </a:lnTo>
                  <a:lnTo>
                    <a:pt x="694855" y="1126134"/>
                  </a:lnTo>
                  <a:lnTo>
                    <a:pt x="692162" y="1126312"/>
                  </a:lnTo>
                  <a:close/>
                </a:path>
                <a:path w="1140459" h="1126489">
                  <a:moveTo>
                    <a:pt x="676086" y="392531"/>
                  </a:moveTo>
                  <a:lnTo>
                    <a:pt x="662863" y="392531"/>
                  </a:lnTo>
                  <a:lnTo>
                    <a:pt x="650176" y="380352"/>
                  </a:lnTo>
                  <a:lnTo>
                    <a:pt x="675592" y="380352"/>
                  </a:lnTo>
                  <a:lnTo>
                    <a:pt x="675672" y="382320"/>
                  </a:lnTo>
                  <a:lnTo>
                    <a:pt x="675768" y="384695"/>
                  </a:lnTo>
                  <a:lnTo>
                    <a:pt x="675858" y="386892"/>
                  </a:lnTo>
                  <a:lnTo>
                    <a:pt x="675936" y="388823"/>
                  </a:lnTo>
                  <a:lnTo>
                    <a:pt x="676047" y="391566"/>
                  </a:lnTo>
                  <a:lnTo>
                    <a:pt x="676086" y="392531"/>
                  </a:lnTo>
                  <a:close/>
                </a:path>
                <a:path w="1140459" h="1126489">
                  <a:moveTo>
                    <a:pt x="950620" y="392531"/>
                  </a:moveTo>
                  <a:lnTo>
                    <a:pt x="941514" y="392531"/>
                  </a:lnTo>
                  <a:lnTo>
                    <a:pt x="953541" y="383921"/>
                  </a:lnTo>
                  <a:lnTo>
                    <a:pt x="950702" y="392290"/>
                  </a:lnTo>
                  <a:lnTo>
                    <a:pt x="950620" y="392531"/>
                  </a:lnTo>
                  <a:close/>
                </a:path>
                <a:path w="1140459" h="1126489">
                  <a:moveTo>
                    <a:pt x="1127264" y="392531"/>
                  </a:moveTo>
                  <a:lnTo>
                    <a:pt x="950620" y="392531"/>
                  </a:lnTo>
                  <a:lnTo>
                    <a:pt x="953541" y="383921"/>
                  </a:lnTo>
                  <a:lnTo>
                    <a:pt x="1139235" y="383921"/>
                  </a:lnTo>
                  <a:lnTo>
                    <a:pt x="1138999" y="384695"/>
                  </a:lnTo>
                  <a:lnTo>
                    <a:pt x="1127264" y="392531"/>
                  </a:lnTo>
                  <a:close/>
                </a:path>
                <a:path w="1140459" h="1126489">
                  <a:moveTo>
                    <a:pt x="705307" y="1113116"/>
                  </a:moveTo>
                  <a:lnTo>
                    <a:pt x="680592" y="1109548"/>
                  </a:lnTo>
                  <a:lnTo>
                    <a:pt x="702538" y="1044847"/>
                  </a:lnTo>
                  <a:lnTo>
                    <a:pt x="705307" y="1113116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9847415" y="1616392"/>
            <a:ext cx="939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微软雅黑" panose="020B0503020204020204" charset="-122"/>
                <a:cs typeface="微软雅黑" panose="020B0503020204020204" charset="-122"/>
              </a:rPr>
              <a:t>学习率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107523" y="2540673"/>
            <a:ext cx="635000" cy="1606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1600">
              <a:lnSpc>
                <a:spcPct val="100000"/>
              </a:lnSpc>
              <a:spcBef>
                <a:spcPts val="105"/>
              </a:spcBef>
            </a:pPr>
            <a:r>
              <a:rPr sz="4400" spc="-50" dirty="0">
                <a:latin typeface="Cambria Math" panose="02040503050406030204"/>
                <a:cs typeface="Cambria Math" panose="02040503050406030204"/>
              </a:rPr>
              <a:t>𝛼</a:t>
            </a:r>
            <a:endParaRPr sz="4400">
              <a:latin typeface="Cambria Math" panose="02040503050406030204"/>
              <a:cs typeface="Cambria Math" panose="02040503050406030204"/>
            </a:endParaRPr>
          </a:p>
          <a:p>
            <a:pPr marL="12700">
              <a:lnSpc>
                <a:spcPct val="100000"/>
              </a:lnSpc>
              <a:spcBef>
                <a:spcPts val="4280"/>
              </a:spcBef>
            </a:pPr>
            <a:r>
              <a:rPr sz="2400" spc="-25" dirty="0">
                <a:latin typeface="微软雅黑" panose="020B0503020204020204" charset="-122"/>
                <a:cs typeface="微软雅黑" panose="020B0503020204020204" charset="-122"/>
              </a:rPr>
              <a:t>步长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8" name="object 1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341838" y="3385248"/>
            <a:ext cx="174117" cy="414096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234950" y="1293622"/>
            <a:ext cx="3398520" cy="5511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5565">
              <a:lnSpc>
                <a:spcPct val="150000"/>
              </a:lnSpc>
              <a:spcBef>
                <a:spcPts val="100"/>
              </a:spcBef>
            </a:pPr>
            <a:r>
              <a:rPr sz="2000" spc="-15" dirty="0">
                <a:latin typeface="微软雅黑" panose="020B0503020204020204" charset="-122"/>
                <a:cs typeface="微软雅黑" panose="020B0503020204020204" charset="-122"/>
              </a:rPr>
              <a:t>首先，我们有一个可微分的函数。这个函数就代表着一座山</a:t>
            </a:r>
            <a:endParaRPr sz="2000">
              <a:latin typeface="微软雅黑" panose="020B0503020204020204" charset="-122"/>
              <a:cs typeface="微软雅黑" panose="020B0503020204020204" charset="-122"/>
            </a:endParaRPr>
          </a:p>
          <a:p>
            <a:pPr marL="12700" marR="5080" algn="just">
              <a:lnSpc>
                <a:spcPct val="150000"/>
              </a:lnSpc>
            </a:pPr>
            <a:r>
              <a:rPr sz="2000" spc="-10" dirty="0">
                <a:latin typeface="微软雅黑" panose="020B0503020204020204" charset="-122"/>
                <a:cs typeface="微软雅黑" panose="020B0503020204020204" charset="-122"/>
              </a:rPr>
              <a:t>。</a:t>
            </a:r>
            <a:r>
              <a:rPr sz="2000" spc="-15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我们的目标就是找到这个函</a:t>
            </a:r>
            <a:r>
              <a:rPr sz="2000" spc="-1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数的最小值，也就是山底</a:t>
            </a:r>
            <a:r>
              <a:rPr sz="2000" spc="-35" dirty="0">
                <a:latin typeface="微软雅黑" panose="020B0503020204020204" charset="-122"/>
                <a:cs typeface="微软雅黑" panose="020B0503020204020204" charset="-122"/>
              </a:rPr>
              <a:t>。根</a:t>
            </a:r>
            <a:r>
              <a:rPr sz="2000" spc="-10" dirty="0">
                <a:latin typeface="微软雅黑" panose="020B0503020204020204" charset="-122"/>
                <a:cs typeface="微软雅黑" panose="020B0503020204020204" charset="-122"/>
              </a:rPr>
              <a:t>据之前的场景假设，</a:t>
            </a:r>
            <a:r>
              <a:rPr sz="2000" spc="-25" dirty="0">
                <a:solidFill>
                  <a:srgbClr val="0000FF"/>
                </a:solidFill>
                <a:latin typeface="微软雅黑" panose="020B0503020204020204" charset="-122"/>
                <a:cs typeface="微软雅黑" panose="020B0503020204020204" charset="-122"/>
              </a:rPr>
              <a:t>最快的下</a:t>
            </a:r>
            <a:r>
              <a:rPr sz="2000" spc="-15" dirty="0">
                <a:solidFill>
                  <a:srgbClr val="0000FF"/>
                </a:solidFill>
                <a:latin typeface="微软雅黑" panose="020B0503020204020204" charset="-122"/>
                <a:cs typeface="微软雅黑" panose="020B0503020204020204" charset="-122"/>
              </a:rPr>
              <a:t>山的方式就是找到当前位置最陡峭的方向，然后沿着此方向向下走，对应到函数中，就是</a:t>
            </a:r>
            <a:r>
              <a:rPr sz="2000" spc="-20" dirty="0">
                <a:solidFill>
                  <a:srgbClr val="0000FF"/>
                </a:solidFill>
                <a:latin typeface="微软雅黑" panose="020B0503020204020204" charset="-122"/>
                <a:cs typeface="微软雅黑" panose="020B0503020204020204" charset="-122"/>
              </a:rPr>
              <a:t>找到给定点的梯度 ，然后朝着</a:t>
            </a:r>
            <a:r>
              <a:rPr sz="2000" spc="-15" dirty="0">
                <a:solidFill>
                  <a:srgbClr val="0000FF"/>
                </a:solidFill>
                <a:latin typeface="微软雅黑" panose="020B0503020204020204" charset="-122"/>
                <a:cs typeface="微软雅黑" panose="020B0503020204020204" charset="-122"/>
              </a:rPr>
              <a:t>梯度相反的方向，就能让函数</a:t>
            </a:r>
            <a:r>
              <a:rPr sz="2000" spc="-10" dirty="0">
                <a:solidFill>
                  <a:srgbClr val="0000FF"/>
                </a:solidFill>
                <a:latin typeface="微软雅黑" panose="020B0503020204020204" charset="-122"/>
                <a:cs typeface="微软雅黑" panose="020B0503020204020204" charset="-122"/>
              </a:rPr>
              <a:t>值下降的最快！</a:t>
            </a:r>
            <a:r>
              <a:rPr sz="2000" spc="-20" dirty="0">
                <a:latin typeface="微软雅黑" panose="020B0503020204020204" charset="-122"/>
                <a:cs typeface="微软雅黑" panose="020B0503020204020204" charset="-122"/>
              </a:rPr>
              <a:t>因为梯度的方</a:t>
            </a:r>
            <a:r>
              <a:rPr sz="2000" spc="-15" dirty="0">
                <a:latin typeface="微软雅黑" panose="020B0503020204020204" charset="-122"/>
                <a:cs typeface="微软雅黑" panose="020B0503020204020204" charset="-122"/>
              </a:rPr>
              <a:t>向就是函数之变化最快的方向</a:t>
            </a:r>
            <a:endParaRPr sz="2000"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02563" y="996696"/>
            <a:ext cx="11489690" cy="2999740"/>
            <a:chOff x="702563" y="996696"/>
            <a:chExt cx="11489690" cy="299974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7103363" y="1260348"/>
              <a:ext cx="4914900" cy="273557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70987" y="2773680"/>
              <a:ext cx="1981927" cy="381000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0" y="999744"/>
            <a:ext cx="646430" cy="262255"/>
          </a:xfrm>
          <a:prstGeom prst="rect">
            <a:avLst/>
          </a:prstGeom>
          <a:solidFill>
            <a:srgbClr val="A40020"/>
          </a:solidFill>
        </p:spPr>
        <p:txBody>
          <a:bodyPr vert="horz" wrap="square" lIns="0" tIns="635" rIns="0" bIns="0" rtlCol="0">
            <a:spAutoFit/>
          </a:bodyPr>
          <a:lstStyle/>
          <a:p>
            <a:pPr marL="375285">
              <a:lnSpc>
                <a:spcPct val="100000"/>
              </a:lnSpc>
              <a:spcBef>
                <a:spcPts val="5"/>
              </a:spcBef>
            </a:pPr>
            <a:r>
              <a:rPr sz="1400" b="1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21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93102" y="312826"/>
            <a:ext cx="18542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梯度下降</a:t>
            </a:r>
            <a:endParaRPr spc="-15" dirty="0"/>
          </a:p>
        </p:txBody>
      </p:sp>
      <p:sp>
        <p:nvSpPr>
          <p:cNvPr id="7" name="object 7"/>
          <p:cNvSpPr txBox="1"/>
          <p:nvPr/>
        </p:nvSpPr>
        <p:spPr>
          <a:xfrm>
            <a:off x="394334" y="1447800"/>
            <a:ext cx="6426200" cy="3377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微软雅黑" panose="020B0503020204020204" charset="-122"/>
                <a:cs typeface="微软雅黑" panose="020B0503020204020204" charset="-122"/>
              </a:rPr>
              <a:t>由导数知识我们不难发现，要使损失函数的值减小，我们只需让回归系数向与当前位置偏导数符号相反的方向更新即可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0000"/>
              </a:lnSpc>
              <a:spcBef>
                <a:spcPts val="1810"/>
              </a:spcBef>
            </a:pPr>
            <a:endParaRPr sz="2400">
              <a:latin typeface="微软雅黑" panose="020B0503020204020204" charset="-122"/>
              <a:cs typeface="微软雅黑" panose="020B0503020204020204" charset="-122"/>
            </a:endParaRPr>
          </a:p>
          <a:p>
            <a:pPr marL="150495">
              <a:lnSpc>
                <a:spcPct val="100000"/>
              </a:lnSpc>
            </a:pP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其中，超参数</a:t>
            </a: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代表学习速率</a:t>
            </a:r>
            <a:r>
              <a:rPr sz="2400" spc="-10" dirty="0">
                <a:latin typeface="Arial MT"/>
                <a:cs typeface="Arial MT"/>
              </a:rPr>
              <a:t>(learning_rate)</a:t>
            </a:r>
            <a:endParaRPr sz="2400">
              <a:latin typeface="Arial MT"/>
              <a:cs typeface="Arial MT"/>
            </a:endParaRPr>
          </a:p>
          <a:p>
            <a:pPr marL="150495" marR="317500">
              <a:lnSpc>
                <a:spcPct val="100000"/>
              </a:lnSpc>
            </a:pP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，即单次更新步长。</a:t>
            </a:r>
            <a:r>
              <a:rPr sz="2400" spc="-5" dirty="0">
                <a:latin typeface="微软雅黑" panose="020B0503020204020204" charset="-122"/>
                <a:cs typeface="微软雅黑" panose="020B0503020204020204" charset="-122"/>
              </a:rPr>
              <a:t>值的选择需谨慎，如果太小更新速率太慢则很难到达；如果太大则容易直接越过极值点。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03364" y="4061459"/>
            <a:ext cx="4914900" cy="252222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999744"/>
            <a:ext cx="646430" cy="262255"/>
          </a:xfrm>
          <a:prstGeom prst="rect">
            <a:avLst/>
          </a:prstGeom>
          <a:solidFill>
            <a:srgbClr val="A40020"/>
          </a:solidFill>
        </p:spPr>
        <p:txBody>
          <a:bodyPr vert="horz" wrap="square" lIns="0" tIns="635" rIns="0" bIns="0" rtlCol="0">
            <a:spAutoFit/>
          </a:bodyPr>
          <a:lstStyle/>
          <a:p>
            <a:pPr marL="375285">
              <a:lnSpc>
                <a:spcPct val="100000"/>
              </a:lnSpc>
              <a:spcBef>
                <a:spcPts val="5"/>
              </a:spcBef>
            </a:pPr>
            <a:r>
              <a:rPr sz="1400" b="1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22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93102" y="319811"/>
            <a:ext cx="41402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梯度下降的三种形式</a:t>
            </a:r>
            <a:endParaRPr spc="-10" dirty="0"/>
          </a:p>
        </p:txBody>
      </p:sp>
      <p:sp>
        <p:nvSpPr>
          <p:cNvPr id="4" name="object 4"/>
          <p:cNvSpPr txBox="1"/>
          <p:nvPr/>
        </p:nvSpPr>
        <p:spPr>
          <a:xfrm>
            <a:off x="1215948" y="1455527"/>
            <a:ext cx="10648950" cy="4725670"/>
          </a:xfrm>
          <a:prstGeom prst="rect">
            <a:avLst/>
          </a:prstGeom>
        </p:spPr>
        <p:txBody>
          <a:bodyPr vert="horz" wrap="square" lIns="0" tIns="142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sz="3200" spc="-1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批量梯度下降</a:t>
            </a:r>
            <a:r>
              <a:rPr sz="320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（Batch</a:t>
            </a:r>
            <a:r>
              <a:rPr sz="3200" spc="-11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320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Gradient</a:t>
            </a:r>
            <a:r>
              <a:rPr sz="3200" spc="-105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3200" spc="-1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Descent,BGD）</a:t>
            </a:r>
            <a:endParaRPr sz="3200">
              <a:latin typeface="微软雅黑" panose="020B0503020204020204" charset="-122"/>
              <a:cs typeface="微软雅黑" panose="020B0503020204020204" charset="-122"/>
            </a:endParaRPr>
          </a:p>
          <a:p>
            <a:pPr marL="52705">
              <a:lnSpc>
                <a:spcPct val="100000"/>
              </a:lnSpc>
              <a:spcBef>
                <a:spcPts val="880"/>
              </a:spcBef>
            </a:pPr>
            <a:r>
              <a:rPr sz="2800" spc="-30" dirty="0">
                <a:latin typeface="微软雅黑" panose="020B0503020204020204" charset="-122"/>
                <a:cs typeface="微软雅黑" panose="020B0503020204020204" charset="-122"/>
              </a:rPr>
              <a:t>梯度下降的每一步中，都用到了</a:t>
            </a:r>
            <a:r>
              <a:rPr sz="2800" spc="-3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所有</a:t>
            </a:r>
            <a:r>
              <a:rPr sz="2800" spc="-35" dirty="0">
                <a:latin typeface="微软雅黑" panose="020B0503020204020204" charset="-122"/>
                <a:cs typeface="微软雅黑" panose="020B0503020204020204" charset="-122"/>
              </a:rPr>
              <a:t>的训练样本</a:t>
            </a:r>
            <a:endParaRPr sz="2800">
              <a:latin typeface="微软雅黑" panose="020B0503020204020204" charset="-122"/>
              <a:cs typeface="微软雅黑" panose="020B0503020204020204" charset="-122"/>
            </a:endParaRPr>
          </a:p>
          <a:p>
            <a:pPr marL="52705">
              <a:lnSpc>
                <a:spcPct val="100000"/>
              </a:lnSpc>
              <a:spcBef>
                <a:spcPts val="3705"/>
              </a:spcBef>
            </a:pPr>
            <a:r>
              <a:rPr sz="3200" spc="-1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随机梯度下降（Stochastic</a:t>
            </a:r>
            <a:r>
              <a:rPr sz="3200" spc="-114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320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Gradient</a:t>
            </a:r>
            <a:r>
              <a:rPr sz="3200" spc="-12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3200" spc="-1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Descent,SGD）</a:t>
            </a:r>
            <a:endParaRPr sz="3200">
              <a:latin typeface="微软雅黑" panose="020B0503020204020204" charset="-122"/>
              <a:cs typeface="微软雅黑" panose="020B0503020204020204" charset="-122"/>
            </a:endParaRPr>
          </a:p>
          <a:p>
            <a:pPr marL="52705" marR="1698625">
              <a:lnSpc>
                <a:spcPct val="100000"/>
              </a:lnSpc>
              <a:spcBef>
                <a:spcPts val="1705"/>
              </a:spcBef>
            </a:pPr>
            <a:r>
              <a:rPr sz="2800" spc="-30" dirty="0">
                <a:latin typeface="微软雅黑" panose="020B0503020204020204" charset="-122"/>
                <a:cs typeface="微软雅黑" panose="020B0503020204020204" charset="-122"/>
              </a:rPr>
              <a:t>梯度下降的每一步中，用到</a:t>
            </a:r>
            <a:r>
              <a:rPr sz="2800" spc="-3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一个</a:t>
            </a:r>
            <a:r>
              <a:rPr sz="2800" spc="-35" dirty="0">
                <a:latin typeface="微软雅黑" panose="020B0503020204020204" charset="-122"/>
                <a:cs typeface="微软雅黑" panose="020B0503020204020204" charset="-122"/>
              </a:rPr>
              <a:t>样本，在每一次计算之后便更新参数 ，而不需要首先将所有的训练集求和</a:t>
            </a:r>
            <a:endParaRPr sz="2800">
              <a:latin typeface="微软雅黑" panose="020B0503020204020204" charset="-122"/>
              <a:cs typeface="微软雅黑" panose="020B0503020204020204" charset="-122"/>
            </a:endParaRPr>
          </a:p>
          <a:p>
            <a:pPr marL="12700">
              <a:lnSpc>
                <a:spcPct val="100000"/>
              </a:lnSpc>
              <a:spcBef>
                <a:spcPts val="3605"/>
              </a:spcBef>
            </a:pPr>
            <a:r>
              <a:rPr sz="3200" spc="-1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小批量梯度下降</a:t>
            </a:r>
            <a:r>
              <a:rPr sz="3200" spc="-2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（Mini-</a:t>
            </a:r>
            <a:r>
              <a:rPr sz="320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Batch</a:t>
            </a:r>
            <a:r>
              <a:rPr sz="3200" spc="-8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320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Gradient</a:t>
            </a:r>
            <a:r>
              <a:rPr sz="3200" spc="-75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3200" spc="-1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Descent,MBGD）</a:t>
            </a:r>
            <a:endParaRPr sz="3200">
              <a:latin typeface="微软雅黑" panose="020B0503020204020204" charset="-122"/>
              <a:cs typeface="微软雅黑" panose="020B0503020204020204" charset="-122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sz="2800" spc="-30" dirty="0">
                <a:latin typeface="微软雅黑" panose="020B0503020204020204" charset="-122"/>
                <a:cs typeface="微软雅黑" panose="020B0503020204020204" charset="-122"/>
              </a:rPr>
              <a:t>梯度下降的每一步中，用到了</a:t>
            </a:r>
            <a:r>
              <a:rPr sz="2800" spc="-3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一定批量</a:t>
            </a:r>
            <a:r>
              <a:rPr sz="2800" spc="-35" dirty="0">
                <a:latin typeface="微软雅黑" panose="020B0503020204020204" charset="-122"/>
                <a:cs typeface="微软雅黑" panose="020B0503020204020204" charset="-122"/>
              </a:rPr>
              <a:t>的训练样本</a:t>
            </a:r>
            <a:endParaRPr sz="2800"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999744"/>
            <a:ext cx="646430" cy="262255"/>
          </a:xfrm>
          <a:prstGeom prst="rect">
            <a:avLst/>
          </a:prstGeom>
          <a:solidFill>
            <a:srgbClr val="A40020"/>
          </a:solidFill>
        </p:spPr>
        <p:txBody>
          <a:bodyPr vert="horz" wrap="square" lIns="0" tIns="635" rIns="0" bIns="0" rtlCol="0">
            <a:spAutoFit/>
          </a:bodyPr>
          <a:lstStyle/>
          <a:p>
            <a:pPr marL="375285">
              <a:lnSpc>
                <a:spcPct val="100000"/>
              </a:lnSpc>
              <a:spcBef>
                <a:spcPts val="5"/>
              </a:spcBef>
            </a:pPr>
            <a:r>
              <a:rPr sz="1400" b="1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23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13422" y="306108"/>
            <a:ext cx="41402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梯度下降的三种形式</a:t>
            </a:r>
            <a:endParaRPr spc="-10" dirty="0"/>
          </a:p>
        </p:txBody>
      </p:sp>
      <p:sp>
        <p:nvSpPr>
          <p:cNvPr id="4" name="object 4"/>
          <p:cNvSpPr txBox="1"/>
          <p:nvPr/>
        </p:nvSpPr>
        <p:spPr>
          <a:xfrm>
            <a:off x="5823877" y="3434702"/>
            <a:ext cx="22225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 dirty="0">
                <a:latin typeface="Cambria Math" panose="02040503050406030204"/>
                <a:cs typeface="Cambria Math" panose="02040503050406030204"/>
              </a:rPr>
              <a:t>1</a:t>
            </a:r>
            <a:endParaRPr sz="28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785777" y="3957485"/>
            <a:ext cx="297815" cy="23495"/>
          </a:xfrm>
          <a:custGeom>
            <a:avLst/>
            <a:gdLst/>
            <a:ahLst/>
            <a:cxnLst/>
            <a:rect l="l" t="t" r="r" b="b"/>
            <a:pathLst>
              <a:path w="297814" h="23495">
                <a:moveTo>
                  <a:pt x="297815" y="23342"/>
                </a:moveTo>
                <a:lnTo>
                  <a:pt x="0" y="23342"/>
                </a:lnTo>
                <a:lnTo>
                  <a:pt x="0" y="0"/>
                </a:lnTo>
                <a:lnTo>
                  <a:pt x="297815" y="0"/>
                </a:lnTo>
                <a:lnTo>
                  <a:pt x="297815" y="2334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5773077" y="3940797"/>
            <a:ext cx="32321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 dirty="0">
                <a:latin typeface="Cambria Math" panose="02040503050406030204"/>
                <a:cs typeface="Cambria Math" panose="02040503050406030204"/>
              </a:rPr>
              <a:t>𝑚</a:t>
            </a:r>
            <a:endParaRPr sz="28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60427" y="4263377"/>
            <a:ext cx="43751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25" dirty="0">
                <a:latin typeface="Cambria Math" panose="02040503050406030204"/>
                <a:cs typeface="Cambria Math" panose="02040503050406030204"/>
              </a:rPr>
              <a:t>𝑖=1</a:t>
            </a:r>
            <a:endParaRPr sz="2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540917" y="3674097"/>
            <a:ext cx="142367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109980" algn="l"/>
              </a:tabLst>
            </a:pPr>
            <a:r>
              <a:rPr sz="2000" spc="-25" dirty="0">
                <a:latin typeface="Cambria Math" panose="02040503050406030204"/>
                <a:cs typeface="Cambria Math" panose="02040503050406030204"/>
              </a:rPr>
              <a:t>(𝑖)</a:t>
            </a:r>
            <a:r>
              <a:rPr sz="20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2000" spc="-25" dirty="0">
                <a:latin typeface="Cambria Math" panose="02040503050406030204"/>
                <a:cs typeface="Cambria Math" panose="02040503050406030204"/>
              </a:rPr>
              <a:t>(𝑖)</a:t>
            </a:r>
            <a:endParaRPr sz="2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562121" y="3917302"/>
            <a:ext cx="14541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350" dirty="0">
                <a:latin typeface="Cambria Math" panose="02040503050406030204"/>
                <a:cs typeface="Cambria Math" panose="02040503050406030204"/>
              </a:rPr>
              <a:t>j</a:t>
            </a:r>
            <a:endParaRPr sz="2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562121" y="3614407"/>
            <a:ext cx="32575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25" dirty="0">
                <a:latin typeface="Cambria Math" panose="02040503050406030204"/>
                <a:cs typeface="Cambria Math" panose="02040503050406030204"/>
              </a:rPr>
              <a:t>(𝑖)</a:t>
            </a:r>
            <a:endParaRPr sz="2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85831" y="3703307"/>
            <a:ext cx="641540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2456815" algn="l"/>
                <a:tab pos="4180840" algn="l"/>
                <a:tab pos="5278755" algn="l"/>
                <a:tab pos="6202045" algn="l"/>
              </a:tabLst>
            </a:pPr>
            <a:r>
              <a:rPr sz="2800" spc="165" dirty="0">
                <a:latin typeface="Cambria Math" panose="02040503050406030204"/>
                <a:cs typeface="Cambria Math" panose="02040503050406030204"/>
              </a:rPr>
              <a:t>𝑤</a:t>
            </a:r>
            <a:r>
              <a:rPr sz="3000" spc="247" baseline="-15000" dirty="0">
                <a:latin typeface="Cambria Math" panose="02040503050406030204"/>
                <a:cs typeface="Cambria Math" panose="02040503050406030204"/>
              </a:rPr>
              <a:t>j</a:t>
            </a:r>
            <a:r>
              <a:rPr sz="2800" spc="165" dirty="0">
                <a:latin typeface="Cambria Math" panose="02040503050406030204"/>
                <a:cs typeface="Cambria Math" panose="02040503050406030204"/>
              </a:rPr>
              <a:t>:</a:t>
            </a:r>
            <a:r>
              <a:rPr sz="2800" spc="17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800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2800" spc="17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800" spc="200" dirty="0">
                <a:latin typeface="Cambria Math" panose="02040503050406030204"/>
                <a:cs typeface="Cambria Math" panose="02040503050406030204"/>
              </a:rPr>
              <a:t>𝑤</a:t>
            </a:r>
            <a:r>
              <a:rPr sz="3000" spc="300" baseline="-15000" dirty="0">
                <a:latin typeface="Cambria Math" panose="02040503050406030204"/>
                <a:cs typeface="Cambria Math" panose="02040503050406030204"/>
              </a:rPr>
              <a:t>j</a:t>
            </a:r>
            <a:r>
              <a:rPr sz="3000" spc="434" baseline="-15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80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800" spc="2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800" spc="-50" dirty="0">
                <a:latin typeface="Cambria Math" panose="02040503050406030204"/>
                <a:cs typeface="Cambria Math" panose="02040503050406030204"/>
              </a:rPr>
              <a:t>𝛼</a:t>
            </a:r>
            <a:r>
              <a:rPr sz="28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2800" spc="1705" dirty="0">
                <a:latin typeface="Cambria Math" panose="02040503050406030204"/>
                <a:cs typeface="Cambria Math" panose="02040503050406030204"/>
              </a:rPr>
              <a:t>∑</a:t>
            </a:r>
            <a:r>
              <a:rPr sz="2800" spc="-1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800" spc="50" dirty="0">
                <a:latin typeface="Cambria Math" panose="02040503050406030204"/>
                <a:cs typeface="Cambria Math" panose="02040503050406030204"/>
              </a:rPr>
              <a:t>((ℎ(𝑥</a:t>
            </a:r>
            <a:r>
              <a:rPr sz="28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2800" spc="90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2800" spc="1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80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800" spc="1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800" spc="-50" dirty="0">
                <a:latin typeface="Cambria Math" panose="02040503050406030204"/>
                <a:cs typeface="Cambria Math" panose="02040503050406030204"/>
              </a:rPr>
              <a:t>𝑦</a:t>
            </a:r>
            <a:r>
              <a:rPr sz="28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2800" spc="90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2800" spc="1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800" dirty="0">
                <a:latin typeface="Cambria Math" panose="02040503050406030204"/>
                <a:cs typeface="Cambria Math" panose="02040503050406030204"/>
              </a:rPr>
              <a:t>⋅</a:t>
            </a:r>
            <a:r>
              <a:rPr sz="2800" spc="1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800" spc="-50" dirty="0">
                <a:latin typeface="Cambria Math" panose="02040503050406030204"/>
                <a:cs typeface="Cambria Math" panose="02040503050406030204"/>
              </a:rPr>
              <a:t>𝑥</a:t>
            </a:r>
            <a:r>
              <a:rPr sz="28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2800" spc="145" dirty="0">
                <a:latin typeface="Cambria Math" panose="02040503050406030204"/>
                <a:cs typeface="Cambria Math" panose="02040503050406030204"/>
              </a:rPr>
              <a:t>)</a:t>
            </a:r>
            <a:endParaRPr sz="28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9740" y="4757407"/>
            <a:ext cx="11049000" cy="1826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6992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mbria" panose="02040503050406030204"/>
                <a:cs typeface="Cambria" panose="02040503050406030204"/>
              </a:rPr>
              <a:t>(</a:t>
            </a: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同步更新</a:t>
            </a:r>
            <a:r>
              <a:rPr sz="2400" spc="165" dirty="0">
                <a:latin typeface="Cambria Math" panose="02040503050406030204"/>
                <a:cs typeface="Cambria Math" panose="02040503050406030204"/>
              </a:rPr>
              <a:t>𝑤</a:t>
            </a:r>
            <a:r>
              <a:rPr sz="2625" spc="247" baseline="-16000" dirty="0">
                <a:latin typeface="Cambria Math" panose="02040503050406030204"/>
                <a:cs typeface="Cambria Math" panose="02040503050406030204"/>
              </a:rPr>
              <a:t>j</a:t>
            </a:r>
            <a:r>
              <a:rPr sz="2625" spc="322" baseline="-16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，</a:t>
            </a:r>
            <a:r>
              <a:rPr sz="2400" dirty="0">
                <a:latin typeface="Cambria" panose="02040503050406030204"/>
                <a:cs typeface="Cambria" panose="02040503050406030204"/>
              </a:rPr>
              <a:t>(</a:t>
            </a:r>
            <a:r>
              <a:rPr sz="2400" i="1" dirty="0">
                <a:latin typeface="Cambria" panose="02040503050406030204"/>
                <a:cs typeface="Cambria" panose="02040503050406030204"/>
              </a:rPr>
              <a:t>j</a:t>
            </a:r>
            <a:r>
              <a:rPr sz="2400" dirty="0">
                <a:latin typeface="Cambria" panose="02040503050406030204"/>
                <a:cs typeface="Cambria" panose="02040503050406030204"/>
              </a:rPr>
              <a:t>=0,1,...,</a:t>
            </a:r>
            <a:r>
              <a:rPr sz="2400" i="1" dirty="0">
                <a:latin typeface="Cambria" panose="02040503050406030204"/>
                <a:cs typeface="Cambria" panose="02040503050406030204"/>
              </a:rPr>
              <a:t>n</a:t>
            </a:r>
            <a:r>
              <a:rPr sz="2400" i="1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2400" spc="-25" dirty="0">
                <a:latin typeface="Cambria" panose="02040503050406030204"/>
                <a:cs typeface="Cambria" panose="02040503050406030204"/>
              </a:rPr>
              <a:t>))</a:t>
            </a:r>
            <a:endParaRPr sz="2400">
              <a:latin typeface="Cambria" panose="02040503050406030204"/>
              <a:cs typeface="Cambria" panose="02040503050406030204"/>
            </a:endParaRPr>
          </a:p>
          <a:p>
            <a:pPr marL="38100" marR="30480">
              <a:lnSpc>
                <a:spcPct val="100000"/>
              </a:lnSpc>
              <a:spcBef>
                <a:spcPts val="2655"/>
              </a:spcBef>
            </a:pPr>
            <a:r>
              <a:rPr sz="2400" spc="-5" dirty="0">
                <a:latin typeface="微软雅黑" panose="020B0503020204020204" charset="-122"/>
                <a:cs typeface="微软雅黑" panose="020B0503020204020204" charset="-122"/>
              </a:rPr>
              <a:t>通过下面这个公式可以看出，如果想要求出梯度，每一项都要对所有的样本进行一</a:t>
            </a: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次计算。这种计算方式一定能精确地求出最优梯度。但如果样本量</a:t>
            </a:r>
            <a:r>
              <a:rPr sz="2400" spc="-20" dirty="0">
                <a:latin typeface="Arial MT"/>
                <a:cs typeface="Arial MT"/>
              </a:rPr>
              <a:t>m</a:t>
            </a:r>
            <a:r>
              <a:rPr sz="2400" spc="-10" dirty="0">
                <a:latin typeface="微软雅黑" panose="020B0503020204020204" charset="-122"/>
                <a:cs typeface="微软雅黑" panose="020B0503020204020204" charset="-122"/>
              </a:rPr>
              <a:t>比较大的时候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  <a:p>
            <a:pPr marL="38100">
              <a:lnSpc>
                <a:spcPct val="100000"/>
              </a:lnSpc>
            </a:pPr>
            <a:r>
              <a:rPr sz="2400" spc="-5" dirty="0">
                <a:latin typeface="微软雅黑" panose="020B0503020204020204" charset="-122"/>
                <a:cs typeface="微软雅黑" panose="020B0503020204020204" charset="-122"/>
              </a:rPr>
              <a:t>，计算梯度那是相当耗时的。因此，基于这个问题就有了随机梯度下降。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3" name="object 1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717531" y="2982817"/>
            <a:ext cx="3264860" cy="548690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7912100" y="2403094"/>
            <a:ext cx="1140460" cy="457834"/>
          </a:xfrm>
          <a:custGeom>
            <a:avLst/>
            <a:gdLst/>
            <a:ahLst/>
            <a:cxnLst/>
            <a:rect l="l" t="t" r="r" b="b"/>
            <a:pathLst>
              <a:path w="1140459" h="457835">
                <a:moveTo>
                  <a:pt x="1127264" y="457568"/>
                </a:moveTo>
                <a:lnTo>
                  <a:pt x="12700" y="457568"/>
                </a:lnTo>
                <a:lnTo>
                  <a:pt x="10223" y="457326"/>
                </a:lnTo>
                <a:lnTo>
                  <a:pt x="0" y="444868"/>
                </a:lnTo>
                <a:lnTo>
                  <a:pt x="0" y="12699"/>
                </a:lnTo>
                <a:lnTo>
                  <a:pt x="12700" y="0"/>
                </a:lnTo>
                <a:lnTo>
                  <a:pt x="1127264" y="0"/>
                </a:lnTo>
                <a:lnTo>
                  <a:pt x="1139964" y="12699"/>
                </a:lnTo>
                <a:lnTo>
                  <a:pt x="25400" y="12699"/>
                </a:lnTo>
                <a:lnTo>
                  <a:pt x="12700" y="25399"/>
                </a:lnTo>
                <a:lnTo>
                  <a:pt x="25400" y="25399"/>
                </a:lnTo>
                <a:lnTo>
                  <a:pt x="25400" y="432168"/>
                </a:lnTo>
                <a:lnTo>
                  <a:pt x="12700" y="432168"/>
                </a:lnTo>
                <a:lnTo>
                  <a:pt x="25400" y="444868"/>
                </a:lnTo>
                <a:lnTo>
                  <a:pt x="1139964" y="444868"/>
                </a:lnTo>
                <a:lnTo>
                  <a:pt x="1139723" y="447344"/>
                </a:lnTo>
                <a:lnTo>
                  <a:pt x="1129741" y="457326"/>
                </a:lnTo>
                <a:lnTo>
                  <a:pt x="1127264" y="457568"/>
                </a:lnTo>
                <a:close/>
              </a:path>
              <a:path w="1140459" h="457835">
                <a:moveTo>
                  <a:pt x="25400" y="25399"/>
                </a:moveTo>
                <a:lnTo>
                  <a:pt x="12700" y="25399"/>
                </a:lnTo>
                <a:lnTo>
                  <a:pt x="25400" y="12699"/>
                </a:lnTo>
                <a:lnTo>
                  <a:pt x="25400" y="25399"/>
                </a:lnTo>
                <a:close/>
              </a:path>
              <a:path w="1140459" h="457835">
                <a:moveTo>
                  <a:pt x="1114564" y="25399"/>
                </a:moveTo>
                <a:lnTo>
                  <a:pt x="25400" y="25399"/>
                </a:lnTo>
                <a:lnTo>
                  <a:pt x="25400" y="12699"/>
                </a:lnTo>
                <a:lnTo>
                  <a:pt x="1114564" y="12699"/>
                </a:lnTo>
                <a:lnTo>
                  <a:pt x="1114564" y="25399"/>
                </a:lnTo>
                <a:close/>
              </a:path>
              <a:path w="1140459" h="457835">
                <a:moveTo>
                  <a:pt x="1114564" y="444868"/>
                </a:moveTo>
                <a:lnTo>
                  <a:pt x="1114564" y="12699"/>
                </a:lnTo>
                <a:lnTo>
                  <a:pt x="1127264" y="25399"/>
                </a:lnTo>
                <a:lnTo>
                  <a:pt x="1139964" y="25399"/>
                </a:lnTo>
                <a:lnTo>
                  <a:pt x="1139964" y="432168"/>
                </a:lnTo>
                <a:lnTo>
                  <a:pt x="1127264" y="432168"/>
                </a:lnTo>
                <a:lnTo>
                  <a:pt x="1114564" y="444868"/>
                </a:lnTo>
                <a:close/>
              </a:path>
              <a:path w="1140459" h="457835">
                <a:moveTo>
                  <a:pt x="1139964" y="25399"/>
                </a:moveTo>
                <a:lnTo>
                  <a:pt x="1127264" y="25399"/>
                </a:lnTo>
                <a:lnTo>
                  <a:pt x="1114564" y="12699"/>
                </a:lnTo>
                <a:lnTo>
                  <a:pt x="1139964" y="12699"/>
                </a:lnTo>
                <a:lnTo>
                  <a:pt x="1139964" y="25399"/>
                </a:lnTo>
                <a:close/>
              </a:path>
              <a:path w="1140459" h="457835">
                <a:moveTo>
                  <a:pt x="25400" y="444868"/>
                </a:moveTo>
                <a:lnTo>
                  <a:pt x="12700" y="432168"/>
                </a:lnTo>
                <a:lnTo>
                  <a:pt x="25400" y="432168"/>
                </a:lnTo>
                <a:lnTo>
                  <a:pt x="25400" y="444868"/>
                </a:lnTo>
                <a:close/>
              </a:path>
              <a:path w="1140459" h="457835">
                <a:moveTo>
                  <a:pt x="1114564" y="444868"/>
                </a:moveTo>
                <a:lnTo>
                  <a:pt x="25400" y="444868"/>
                </a:lnTo>
                <a:lnTo>
                  <a:pt x="25400" y="432168"/>
                </a:lnTo>
                <a:lnTo>
                  <a:pt x="1114564" y="432168"/>
                </a:lnTo>
                <a:lnTo>
                  <a:pt x="1114564" y="444868"/>
                </a:lnTo>
                <a:close/>
              </a:path>
              <a:path w="1140459" h="457835">
                <a:moveTo>
                  <a:pt x="1139964" y="444868"/>
                </a:moveTo>
                <a:lnTo>
                  <a:pt x="1114564" y="444868"/>
                </a:lnTo>
                <a:lnTo>
                  <a:pt x="1127264" y="432168"/>
                </a:lnTo>
                <a:lnTo>
                  <a:pt x="1139964" y="432168"/>
                </a:lnTo>
                <a:lnTo>
                  <a:pt x="1139964" y="44486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8164194" y="2415794"/>
            <a:ext cx="635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微软雅黑" panose="020B0503020204020204" charset="-122"/>
                <a:cs typeface="微软雅黑" panose="020B0503020204020204" charset="-122"/>
              </a:rPr>
              <a:t>梯度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793589" y="2484843"/>
            <a:ext cx="1140460" cy="1321435"/>
            <a:chOff x="4793589" y="2484843"/>
            <a:chExt cx="1140460" cy="1321435"/>
          </a:xfrm>
        </p:grpSpPr>
        <p:sp>
          <p:nvSpPr>
            <p:cNvPr id="17" name="object 17"/>
            <p:cNvSpPr/>
            <p:nvPr/>
          </p:nvSpPr>
          <p:spPr>
            <a:xfrm>
              <a:off x="4806695" y="2497835"/>
              <a:ext cx="1114425" cy="1295400"/>
            </a:xfrm>
            <a:custGeom>
              <a:avLst/>
              <a:gdLst/>
              <a:ahLst/>
              <a:cxnLst/>
              <a:rect l="l" t="t" r="r" b="b"/>
              <a:pathLst>
                <a:path w="1114425" h="1295400">
                  <a:moveTo>
                    <a:pt x="679703" y="1295400"/>
                  </a:moveTo>
                  <a:lnTo>
                    <a:pt x="649224" y="431291"/>
                  </a:lnTo>
                  <a:lnTo>
                    <a:pt x="0" y="431291"/>
                  </a:lnTo>
                  <a:lnTo>
                    <a:pt x="0" y="0"/>
                  </a:lnTo>
                  <a:lnTo>
                    <a:pt x="1114043" y="0"/>
                  </a:lnTo>
                  <a:lnTo>
                    <a:pt x="1114043" y="431291"/>
                  </a:lnTo>
                  <a:lnTo>
                    <a:pt x="928115" y="431291"/>
                  </a:lnTo>
                  <a:lnTo>
                    <a:pt x="679703" y="12954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793589" y="2484843"/>
              <a:ext cx="1140460" cy="1321435"/>
            </a:xfrm>
            <a:custGeom>
              <a:avLst/>
              <a:gdLst/>
              <a:ahLst/>
              <a:cxnLst/>
              <a:rect l="l" t="t" r="r" b="b"/>
              <a:pathLst>
                <a:path w="1140460" h="1321435">
                  <a:moveTo>
                    <a:pt x="650585" y="457568"/>
                  </a:moveTo>
                  <a:lnTo>
                    <a:pt x="12700" y="457568"/>
                  </a:lnTo>
                  <a:lnTo>
                    <a:pt x="10223" y="457326"/>
                  </a:lnTo>
                  <a:lnTo>
                    <a:pt x="0" y="12699"/>
                  </a:lnTo>
                  <a:lnTo>
                    <a:pt x="241" y="10223"/>
                  </a:lnTo>
                  <a:lnTo>
                    <a:pt x="12700" y="0"/>
                  </a:lnTo>
                  <a:lnTo>
                    <a:pt x="1127264" y="0"/>
                  </a:lnTo>
                  <a:lnTo>
                    <a:pt x="1139964" y="12699"/>
                  </a:lnTo>
                  <a:lnTo>
                    <a:pt x="25400" y="12699"/>
                  </a:lnTo>
                  <a:lnTo>
                    <a:pt x="12700" y="25399"/>
                  </a:lnTo>
                  <a:lnTo>
                    <a:pt x="25400" y="25399"/>
                  </a:lnTo>
                  <a:lnTo>
                    <a:pt x="25400" y="432168"/>
                  </a:lnTo>
                  <a:lnTo>
                    <a:pt x="12700" y="432168"/>
                  </a:lnTo>
                  <a:lnTo>
                    <a:pt x="25400" y="444868"/>
                  </a:lnTo>
                  <a:lnTo>
                    <a:pt x="675565" y="444868"/>
                  </a:lnTo>
                  <a:lnTo>
                    <a:pt x="675581" y="445312"/>
                  </a:lnTo>
                  <a:lnTo>
                    <a:pt x="650163" y="445312"/>
                  </a:lnTo>
                  <a:lnTo>
                    <a:pt x="650269" y="448386"/>
                  </a:lnTo>
                  <a:lnTo>
                    <a:pt x="650391" y="451929"/>
                  </a:lnTo>
                  <a:lnTo>
                    <a:pt x="650512" y="455434"/>
                  </a:lnTo>
                  <a:lnTo>
                    <a:pt x="650585" y="457568"/>
                  </a:lnTo>
                  <a:close/>
                </a:path>
                <a:path w="1140460" h="1321435">
                  <a:moveTo>
                    <a:pt x="25400" y="25399"/>
                  </a:moveTo>
                  <a:lnTo>
                    <a:pt x="12700" y="25399"/>
                  </a:lnTo>
                  <a:lnTo>
                    <a:pt x="25400" y="12699"/>
                  </a:lnTo>
                  <a:lnTo>
                    <a:pt x="25400" y="25399"/>
                  </a:lnTo>
                  <a:close/>
                </a:path>
                <a:path w="1140460" h="1321435">
                  <a:moveTo>
                    <a:pt x="1114564" y="25399"/>
                  </a:moveTo>
                  <a:lnTo>
                    <a:pt x="25400" y="25399"/>
                  </a:lnTo>
                  <a:lnTo>
                    <a:pt x="25400" y="12699"/>
                  </a:lnTo>
                  <a:lnTo>
                    <a:pt x="1114564" y="12699"/>
                  </a:lnTo>
                  <a:lnTo>
                    <a:pt x="1114564" y="25399"/>
                  </a:lnTo>
                  <a:close/>
                </a:path>
                <a:path w="1140460" h="1321435">
                  <a:moveTo>
                    <a:pt x="1114564" y="444868"/>
                  </a:moveTo>
                  <a:lnTo>
                    <a:pt x="1114564" y="12699"/>
                  </a:lnTo>
                  <a:lnTo>
                    <a:pt x="1127264" y="25399"/>
                  </a:lnTo>
                  <a:lnTo>
                    <a:pt x="1139964" y="25399"/>
                  </a:lnTo>
                  <a:lnTo>
                    <a:pt x="1139964" y="432168"/>
                  </a:lnTo>
                  <a:lnTo>
                    <a:pt x="1127264" y="432168"/>
                  </a:lnTo>
                  <a:lnTo>
                    <a:pt x="1114564" y="444868"/>
                  </a:lnTo>
                  <a:close/>
                </a:path>
                <a:path w="1140460" h="1321435">
                  <a:moveTo>
                    <a:pt x="1139964" y="25399"/>
                  </a:moveTo>
                  <a:lnTo>
                    <a:pt x="1127264" y="25399"/>
                  </a:lnTo>
                  <a:lnTo>
                    <a:pt x="1114564" y="12699"/>
                  </a:lnTo>
                  <a:lnTo>
                    <a:pt x="1139964" y="12699"/>
                  </a:lnTo>
                  <a:lnTo>
                    <a:pt x="1139964" y="25399"/>
                  </a:lnTo>
                  <a:close/>
                </a:path>
                <a:path w="1140460" h="1321435">
                  <a:moveTo>
                    <a:pt x="25400" y="444868"/>
                  </a:moveTo>
                  <a:lnTo>
                    <a:pt x="12700" y="432168"/>
                  </a:lnTo>
                  <a:lnTo>
                    <a:pt x="25400" y="432168"/>
                  </a:lnTo>
                  <a:lnTo>
                    <a:pt x="25400" y="444868"/>
                  </a:lnTo>
                  <a:close/>
                </a:path>
                <a:path w="1140460" h="1321435">
                  <a:moveTo>
                    <a:pt x="675565" y="444868"/>
                  </a:moveTo>
                  <a:lnTo>
                    <a:pt x="25400" y="444868"/>
                  </a:lnTo>
                  <a:lnTo>
                    <a:pt x="25400" y="432168"/>
                  </a:lnTo>
                  <a:lnTo>
                    <a:pt x="662863" y="432168"/>
                  </a:lnTo>
                  <a:lnTo>
                    <a:pt x="665504" y="432460"/>
                  </a:lnTo>
                  <a:lnTo>
                    <a:pt x="675565" y="444868"/>
                  </a:lnTo>
                  <a:close/>
                </a:path>
                <a:path w="1140460" h="1321435">
                  <a:moveTo>
                    <a:pt x="705962" y="1308226"/>
                  </a:moveTo>
                  <a:lnTo>
                    <a:pt x="705307" y="1308226"/>
                  </a:lnTo>
                  <a:lnTo>
                    <a:pt x="702554" y="1228305"/>
                  </a:lnTo>
                  <a:lnTo>
                    <a:pt x="929205" y="441680"/>
                  </a:lnTo>
                  <a:lnTo>
                    <a:pt x="941501" y="432168"/>
                  </a:lnTo>
                  <a:lnTo>
                    <a:pt x="1114564" y="432168"/>
                  </a:lnTo>
                  <a:lnTo>
                    <a:pt x="1114564" y="444868"/>
                  </a:lnTo>
                  <a:lnTo>
                    <a:pt x="1139964" y="444868"/>
                  </a:lnTo>
                  <a:lnTo>
                    <a:pt x="1139723" y="447357"/>
                  </a:lnTo>
                  <a:lnTo>
                    <a:pt x="1139409" y="448386"/>
                  </a:lnTo>
                  <a:lnTo>
                    <a:pt x="953706" y="448386"/>
                  </a:lnTo>
                  <a:lnTo>
                    <a:pt x="941501" y="457568"/>
                  </a:lnTo>
                  <a:lnTo>
                    <a:pt x="951060" y="457568"/>
                  </a:lnTo>
                  <a:lnTo>
                    <a:pt x="705962" y="1308226"/>
                  </a:lnTo>
                  <a:close/>
                </a:path>
                <a:path w="1140460" h="1321435">
                  <a:moveTo>
                    <a:pt x="1139964" y="444868"/>
                  </a:moveTo>
                  <a:lnTo>
                    <a:pt x="1114564" y="444868"/>
                  </a:lnTo>
                  <a:lnTo>
                    <a:pt x="1127264" y="432168"/>
                  </a:lnTo>
                  <a:lnTo>
                    <a:pt x="1139964" y="432168"/>
                  </a:lnTo>
                  <a:lnTo>
                    <a:pt x="1139964" y="444868"/>
                  </a:lnTo>
                  <a:close/>
                </a:path>
                <a:path w="1140460" h="1321435">
                  <a:moveTo>
                    <a:pt x="692429" y="1321358"/>
                  </a:moveTo>
                  <a:lnTo>
                    <a:pt x="650585" y="457568"/>
                  </a:lnTo>
                  <a:lnTo>
                    <a:pt x="650512" y="455434"/>
                  </a:lnTo>
                  <a:lnTo>
                    <a:pt x="650391" y="451929"/>
                  </a:lnTo>
                  <a:lnTo>
                    <a:pt x="650269" y="448386"/>
                  </a:lnTo>
                  <a:lnTo>
                    <a:pt x="650163" y="445312"/>
                  </a:lnTo>
                  <a:lnTo>
                    <a:pt x="662863" y="457568"/>
                  </a:lnTo>
                  <a:lnTo>
                    <a:pt x="676003" y="457568"/>
                  </a:lnTo>
                  <a:lnTo>
                    <a:pt x="702554" y="1228305"/>
                  </a:lnTo>
                  <a:lnTo>
                    <a:pt x="680415" y="1305140"/>
                  </a:lnTo>
                  <a:lnTo>
                    <a:pt x="705307" y="1308226"/>
                  </a:lnTo>
                  <a:lnTo>
                    <a:pt x="705962" y="1308226"/>
                  </a:lnTo>
                  <a:lnTo>
                    <a:pt x="704927" y="1311821"/>
                  </a:lnTo>
                  <a:lnTo>
                    <a:pt x="704824" y="1312176"/>
                  </a:lnTo>
                  <a:lnTo>
                    <a:pt x="695447" y="1321015"/>
                  </a:lnTo>
                  <a:lnTo>
                    <a:pt x="696132" y="1321015"/>
                  </a:lnTo>
                  <a:lnTo>
                    <a:pt x="692429" y="1321358"/>
                  </a:lnTo>
                  <a:close/>
                </a:path>
                <a:path w="1140460" h="1321435">
                  <a:moveTo>
                    <a:pt x="676003" y="457568"/>
                  </a:moveTo>
                  <a:lnTo>
                    <a:pt x="662863" y="457568"/>
                  </a:lnTo>
                  <a:lnTo>
                    <a:pt x="650163" y="445312"/>
                  </a:lnTo>
                  <a:lnTo>
                    <a:pt x="675581" y="445312"/>
                  </a:lnTo>
                  <a:lnTo>
                    <a:pt x="675687" y="448386"/>
                  </a:lnTo>
                  <a:lnTo>
                    <a:pt x="675809" y="451929"/>
                  </a:lnTo>
                  <a:lnTo>
                    <a:pt x="675929" y="455434"/>
                  </a:lnTo>
                  <a:lnTo>
                    <a:pt x="676003" y="457568"/>
                  </a:lnTo>
                  <a:close/>
                </a:path>
                <a:path w="1140460" h="1321435">
                  <a:moveTo>
                    <a:pt x="951060" y="457568"/>
                  </a:moveTo>
                  <a:lnTo>
                    <a:pt x="941501" y="457568"/>
                  </a:lnTo>
                  <a:lnTo>
                    <a:pt x="953706" y="448386"/>
                  </a:lnTo>
                  <a:lnTo>
                    <a:pt x="951130" y="457326"/>
                  </a:lnTo>
                  <a:lnTo>
                    <a:pt x="951060" y="457568"/>
                  </a:lnTo>
                  <a:close/>
                </a:path>
                <a:path w="1140460" h="1321435">
                  <a:moveTo>
                    <a:pt x="1127264" y="457568"/>
                  </a:moveTo>
                  <a:lnTo>
                    <a:pt x="951060" y="457568"/>
                  </a:lnTo>
                  <a:lnTo>
                    <a:pt x="953706" y="448386"/>
                  </a:lnTo>
                  <a:lnTo>
                    <a:pt x="1139409" y="448386"/>
                  </a:lnTo>
                  <a:lnTo>
                    <a:pt x="1138999" y="449732"/>
                  </a:lnTo>
                  <a:lnTo>
                    <a:pt x="1127264" y="457568"/>
                  </a:lnTo>
                  <a:close/>
                </a:path>
                <a:path w="1140460" h="1321435">
                  <a:moveTo>
                    <a:pt x="705307" y="1308226"/>
                  </a:moveTo>
                  <a:lnTo>
                    <a:pt x="680415" y="1305140"/>
                  </a:lnTo>
                  <a:lnTo>
                    <a:pt x="702554" y="1228305"/>
                  </a:lnTo>
                  <a:lnTo>
                    <a:pt x="705200" y="1305140"/>
                  </a:lnTo>
                  <a:lnTo>
                    <a:pt x="705307" y="1308226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1215948" y="1239367"/>
            <a:ext cx="6426200" cy="2365375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400" b="1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批量梯度下降（Batch</a:t>
            </a:r>
            <a:r>
              <a:rPr sz="2400" b="1" spc="-9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b="1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Gradient</a:t>
            </a:r>
            <a:r>
              <a:rPr sz="2400" b="1" spc="-85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Descent）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梯度下降的每一步中，都用到了</a:t>
            </a:r>
            <a:r>
              <a:rPr sz="240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所有</a:t>
            </a:r>
            <a:r>
              <a:rPr sz="2400" spc="-10" dirty="0">
                <a:latin typeface="微软雅黑" panose="020B0503020204020204" charset="-122"/>
                <a:cs typeface="微软雅黑" panose="020B0503020204020204" charset="-122"/>
              </a:rPr>
              <a:t>的训练样本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  <a:p>
            <a:pPr marL="3689985">
              <a:lnSpc>
                <a:spcPct val="100000"/>
              </a:lnSpc>
              <a:spcBef>
                <a:spcPts val="1550"/>
              </a:spcBef>
            </a:pPr>
            <a:r>
              <a:rPr sz="2400" spc="-20" dirty="0">
                <a:latin typeface="微软雅黑" panose="020B0503020204020204" charset="-122"/>
                <a:cs typeface="微软雅黑" panose="020B0503020204020204" charset="-122"/>
              </a:rPr>
              <a:t>学习率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  <a:p>
            <a:pPr marL="1336675">
              <a:lnSpc>
                <a:spcPct val="100000"/>
              </a:lnSpc>
              <a:spcBef>
                <a:spcPts val="80"/>
              </a:spcBef>
            </a:pPr>
            <a:r>
              <a:rPr sz="2400" b="1" spc="-15" dirty="0">
                <a:latin typeface="微软雅黑" panose="020B0503020204020204" charset="-122"/>
                <a:cs typeface="微软雅黑" panose="020B0503020204020204" charset="-122"/>
              </a:rPr>
              <a:t>参数更新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  <a:p>
            <a:pPr marR="1148715" algn="r">
              <a:lnSpc>
                <a:spcPct val="100000"/>
              </a:lnSpc>
              <a:spcBef>
                <a:spcPts val="275"/>
              </a:spcBef>
            </a:pPr>
            <a:r>
              <a:rPr sz="2000" spc="-50" dirty="0">
                <a:latin typeface="Cambria Math" panose="02040503050406030204"/>
                <a:cs typeface="Cambria Math" panose="02040503050406030204"/>
              </a:rPr>
              <a:t>𝑚</a:t>
            </a:r>
            <a:endParaRPr sz="2000">
              <a:latin typeface="Cambria Math" panose="02040503050406030204"/>
              <a:cs typeface="Cambria Math" panose="02040503050406030204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999744"/>
            <a:ext cx="646430" cy="262255"/>
          </a:xfrm>
          <a:prstGeom prst="rect">
            <a:avLst/>
          </a:prstGeom>
          <a:solidFill>
            <a:srgbClr val="A40020"/>
          </a:solidFill>
        </p:spPr>
        <p:txBody>
          <a:bodyPr vert="horz" wrap="square" lIns="0" tIns="635" rIns="0" bIns="0" rtlCol="0">
            <a:spAutoFit/>
          </a:bodyPr>
          <a:lstStyle/>
          <a:p>
            <a:pPr marL="375285">
              <a:lnSpc>
                <a:spcPct val="100000"/>
              </a:lnSpc>
              <a:spcBef>
                <a:spcPts val="5"/>
              </a:spcBef>
            </a:pPr>
            <a:r>
              <a:rPr sz="1400" b="1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24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7621" y="350126"/>
            <a:ext cx="41402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梯度下降的三种形式</a:t>
            </a:r>
            <a:endParaRPr spc="-10" dirty="0"/>
          </a:p>
        </p:txBody>
      </p:sp>
      <p:sp>
        <p:nvSpPr>
          <p:cNvPr id="4" name="object 4"/>
          <p:cNvSpPr txBox="1"/>
          <p:nvPr/>
        </p:nvSpPr>
        <p:spPr>
          <a:xfrm>
            <a:off x="795947" y="1500670"/>
            <a:ext cx="67583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随机梯度下降</a:t>
            </a:r>
            <a:r>
              <a:rPr sz="2400" b="1" spc="-1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（Stochastic</a:t>
            </a:r>
            <a:r>
              <a:rPr sz="2400" b="1" spc="-95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b="1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Gradient</a:t>
            </a:r>
            <a:r>
              <a:rPr sz="2400" b="1" spc="-9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Descent）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5947" y="2018283"/>
            <a:ext cx="262826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06450" algn="l"/>
              </a:tabLst>
            </a:pPr>
            <a:r>
              <a:rPr sz="3600" b="1" baseline="-5000" dirty="0">
                <a:latin typeface="微软雅黑" panose="020B0503020204020204" charset="-122"/>
                <a:cs typeface="微软雅黑" panose="020B0503020204020204" charset="-122"/>
              </a:rPr>
              <a:t>推</a:t>
            </a:r>
            <a:r>
              <a:rPr sz="3600" b="1" spc="-75" baseline="-5000" dirty="0">
                <a:latin typeface="微软雅黑" panose="020B0503020204020204" charset="-122"/>
                <a:cs typeface="微软雅黑" panose="020B0503020204020204" charset="-122"/>
              </a:rPr>
              <a:t>导</a:t>
            </a:r>
            <a:r>
              <a:rPr sz="3600" b="1" baseline="-5000" dirty="0">
                <a:latin typeface="微软雅黑" panose="020B0503020204020204" charset="-122"/>
                <a:cs typeface="微软雅黑" panose="020B0503020204020204" charset="-122"/>
              </a:rPr>
              <a:t>	</a:t>
            </a:r>
            <a:r>
              <a:rPr sz="2800" dirty="0">
                <a:latin typeface="Cambria Math" panose="02040503050406030204"/>
                <a:cs typeface="Cambria Math" panose="02040503050406030204"/>
              </a:rPr>
              <a:t>𝑤</a:t>
            </a:r>
            <a:r>
              <a:rPr sz="2800" spc="16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800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2800" spc="16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800" dirty="0">
                <a:latin typeface="Cambria Math" panose="02040503050406030204"/>
                <a:cs typeface="Cambria Math" panose="02040503050406030204"/>
              </a:rPr>
              <a:t>𝑤</a:t>
            </a:r>
            <a:r>
              <a:rPr sz="2800" spc="1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80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800" spc="1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800" dirty="0">
                <a:latin typeface="Cambria Math" panose="02040503050406030204"/>
                <a:cs typeface="Cambria Math" panose="02040503050406030204"/>
              </a:rPr>
              <a:t>𝛼</a:t>
            </a:r>
            <a:r>
              <a:rPr sz="2800" spc="1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800" spc="-50" dirty="0">
                <a:latin typeface="Cambria Math" panose="02040503050406030204"/>
                <a:cs typeface="Cambria Math" panose="02040503050406030204"/>
              </a:rPr>
              <a:t>⋅</a:t>
            </a:r>
            <a:endParaRPr sz="28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78479" y="1850008"/>
            <a:ext cx="66294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Cambria Math" panose="02040503050406030204"/>
                <a:cs typeface="Cambria Math" panose="02040503050406030204"/>
              </a:rPr>
              <a:t>𝜕𝐽(𝑤)</a:t>
            </a:r>
            <a:endParaRPr sz="2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491179" y="2272461"/>
            <a:ext cx="636905" cy="23495"/>
          </a:xfrm>
          <a:custGeom>
            <a:avLst/>
            <a:gdLst/>
            <a:ahLst/>
            <a:cxnLst/>
            <a:rect l="l" t="t" r="r" b="b"/>
            <a:pathLst>
              <a:path w="636904" h="23494">
                <a:moveTo>
                  <a:pt x="636904" y="23329"/>
                </a:moveTo>
                <a:lnTo>
                  <a:pt x="0" y="23329"/>
                </a:lnTo>
                <a:lnTo>
                  <a:pt x="0" y="0"/>
                </a:lnTo>
                <a:lnTo>
                  <a:pt x="636904" y="0"/>
                </a:lnTo>
                <a:lnTo>
                  <a:pt x="636904" y="2332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3632784" y="2356104"/>
            <a:ext cx="35496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25" dirty="0">
                <a:latin typeface="Cambria Math" panose="02040503050406030204"/>
                <a:cs typeface="Cambria Math" panose="02040503050406030204"/>
              </a:rPr>
              <a:t>𝜕𝑤</a:t>
            </a:r>
            <a:endParaRPr sz="2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663532" y="3883494"/>
            <a:ext cx="511175" cy="20320"/>
          </a:xfrm>
          <a:custGeom>
            <a:avLst/>
            <a:gdLst/>
            <a:ahLst/>
            <a:cxnLst/>
            <a:rect l="l" t="t" r="r" b="b"/>
            <a:pathLst>
              <a:path w="511175" h="20320">
                <a:moveTo>
                  <a:pt x="511175" y="20002"/>
                </a:moveTo>
                <a:lnTo>
                  <a:pt x="0" y="20002"/>
                </a:lnTo>
                <a:lnTo>
                  <a:pt x="0" y="0"/>
                </a:lnTo>
                <a:lnTo>
                  <a:pt x="511175" y="0"/>
                </a:lnTo>
                <a:lnTo>
                  <a:pt x="511175" y="200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225507" y="3883494"/>
            <a:ext cx="168910" cy="20320"/>
          </a:xfrm>
          <a:custGeom>
            <a:avLst/>
            <a:gdLst/>
            <a:ahLst/>
            <a:cxnLst/>
            <a:rect l="l" t="t" r="r" b="b"/>
            <a:pathLst>
              <a:path w="168910" h="20320">
                <a:moveTo>
                  <a:pt x="168909" y="20002"/>
                </a:moveTo>
                <a:lnTo>
                  <a:pt x="0" y="20002"/>
                </a:lnTo>
                <a:lnTo>
                  <a:pt x="0" y="0"/>
                </a:lnTo>
                <a:lnTo>
                  <a:pt x="168909" y="0"/>
                </a:lnTo>
                <a:lnTo>
                  <a:pt x="168909" y="200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821647" y="3433127"/>
            <a:ext cx="36836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03225" algn="l"/>
                <a:tab pos="3501390" algn="l"/>
              </a:tabLst>
            </a:pPr>
            <a:r>
              <a:rPr sz="2400" spc="-50" dirty="0">
                <a:latin typeface="Cambria Math" panose="02040503050406030204"/>
                <a:cs typeface="Cambria Math" panose="02040503050406030204"/>
              </a:rPr>
              <a:t>𝜕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2400" spc="-50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2400" spc="-50" dirty="0">
                <a:latin typeface="Cambria Math" panose="02040503050406030204"/>
                <a:cs typeface="Cambria Math" panose="02040503050406030204"/>
              </a:rPr>
              <a:t>1</a:t>
            </a:r>
            <a:endParaRPr sz="24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323672" y="3883494"/>
            <a:ext cx="168910" cy="20320"/>
          </a:xfrm>
          <a:custGeom>
            <a:avLst/>
            <a:gdLst/>
            <a:ahLst/>
            <a:cxnLst/>
            <a:rect l="l" t="t" r="r" b="b"/>
            <a:pathLst>
              <a:path w="168910" h="20320">
                <a:moveTo>
                  <a:pt x="168909" y="20002"/>
                </a:moveTo>
                <a:lnTo>
                  <a:pt x="0" y="20002"/>
                </a:lnTo>
                <a:lnTo>
                  <a:pt x="0" y="0"/>
                </a:lnTo>
                <a:lnTo>
                  <a:pt x="168909" y="0"/>
                </a:lnTo>
                <a:lnTo>
                  <a:pt x="168909" y="200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8871928" y="3433127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 panose="02040503050406030204"/>
                <a:cs typeface="Cambria Math" panose="02040503050406030204"/>
              </a:rPr>
              <a:t>𝜕</a:t>
            </a:r>
            <a:endParaRPr sz="24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713813" y="3883494"/>
            <a:ext cx="511175" cy="20320"/>
          </a:xfrm>
          <a:custGeom>
            <a:avLst/>
            <a:gdLst/>
            <a:ahLst/>
            <a:cxnLst/>
            <a:rect l="l" t="t" r="r" b="b"/>
            <a:pathLst>
              <a:path w="511175" h="20320">
                <a:moveTo>
                  <a:pt x="511175" y="20002"/>
                </a:moveTo>
                <a:lnTo>
                  <a:pt x="0" y="20002"/>
                </a:lnTo>
                <a:lnTo>
                  <a:pt x="0" y="0"/>
                </a:lnTo>
                <a:lnTo>
                  <a:pt x="511175" y="0"/>
                </a:lnTo>
                <a:lnTo>
                  <a:pt x="511175" y="200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3972902" y="3633787"/>
            <a:ext cx="7139305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100"/>
              </a:spcBef>
              <a:tabLst>
                <a:tab pos="1015365" algn="l"/>
                <a:tab pos="1419225" algn="l"/>
                <a:tab pos="3173730" algn="l"/>
                <a:tab pos="4112895" algn="l"/>
                <a:tab pos="5906135" algn="l"/>
                <a:tab pos="6845300" algn="l"/>
              </a:tabLst>
            </a:pPr>
            <a:r>
              <a:rPr sz="2625" spc="-37" baseline="200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1750" spc="-25" dirty="0">
                <a:latin typeface="Cambria Math" panose="02040503050406030204"/>
                <a:cs typeface="Cambria Math" panose="02040503050406030204"/>
              </a:rPr>
              <a:t>𝑖</a:t>
            </a:r>
            <a:r>
              <a:rPr sz="2625" spc="-37" baseline="2000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2625" baseline="20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2625" spc="-37" baseline="200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1750" spc="-25" dirty="0">
                <a:latin typeface="Cambria Math" panose="02040503050406030204"/>
                <a:cs typeface="Cambria Math" panose="02040503050406030204"/>
              </a:rPr>
              <a:t>𝑖</a:t>
            </a:r>
            <a:r>
              <a:rPr sz="2625" spc="-37" baseline="2000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2625" baseline="20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2625" spc="-75" baseline="2400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2625" baseline="240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2625" spc="-37" baseline="200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1750" spc="-25" dirty="0">
                <a:latin typeface="Cambria Math" panose="02040503050406030204"/>
                <a:cs typeface="Cambria Math" panose="02040503050406030204"/>
              </a:rPr>
              <a:t>𝑖</a:t>
            </a:r>
            <a:r>
              <a:rPr sz="2625" spc="-37" baseline="2000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2625" baseline="20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2625" spc="-37" baseline="200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1750" spc="-25" dirty="0">
                <a:latin typeface="Cambria Math" panose="02040503050406030204"/>
                <a:cs typeface="Cambria Math" panose="02040503050406030204"/>
              </a:rPr>
              <a:t>𝑖</a:t>
            </a:r>
            <a:r>
              <a:rPr sz="2625" spc="-37" baseline="2000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2625" baseline="20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2625" spc="-37" baseline="200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1750" spc="-25" dirty="0">
                <a:latin typeface="Cambria Math" panose="02040503050406030204"/>
                <a:cs typeface="Cambria Math" panose="02040503050406030204"/>
              </a:rPr>
              <a:t>𝑖</a:t>
            </a:r>
            <a:r>
              <a:rPr sz="2625" spc="-37" baseline="2000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2625" baseline="20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2625" spc="-37" baseline="200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1750" spc="-25" dirty="0">
                <a:latin typeface="Cambria Math" panose="02040503050406030204"/>
                <a:cs typeface="Cambria Math" panose="02040503050406030204"/>
              </a:rPr>
              <a:t>𝑖</a:t>
            </a:r>
            <a:r>
              <a:rPr sz="2625" spc="-37" baseline="2000" dirty="0">
                <a:latin typeface="Cambria Math" panose="02040503050406030204"/>
                <a:cs typeface="Cambria Math" panose="02040503050406030204"/>
              </a:rPr>
              <a:t>)</a:t>
            </a:r>
            <a:endParaRPr sz="2625" baseline="2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312377" y="3662997"/>
            <a:ext cx="89490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2002155" algn="l"/>
                <a:tab pos="2942590" algn="l"/>
                <a:tab pos="3305810" algn="l"/>
                <a:tab pos="5100955" algn="l"/>
                <a:tab pos="6040755" algn="l"/>
                <a:tab pos="7832725" algn="l"/>
                <a:tab pos="8773160" algn="l"/>
              </a:tabLst>
            </a:pPr>
            <a:r>
              <a:rPr sz="2400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2400" spc="14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3600" spc="157" baseline="-37000" dirty="0">
                <a:latin typeface="Cambria Math" panose="02040503050406030204"/>
                <a:cs typeface="Cambria Math" panose="02040503050406030204"/>
              </a:rPr>
              <a:t>𝜕𝑤</a:t>
            </a:r>
            <a:r>
              <a:rPr sz="2625" spc="157" baseline="-67000" dirty="0">
                <a:latin typeface="Cambria Math" panose="02040503050406030204"/>
                <a:cs typeface="Cambria Math" panose="02040503050406030204"/>
              </a:rPr>
              <a:t>j</a:t>
            </a:r>
            <a:r>
              <a:rPr sz="2625" spc="165" baseline="-67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3600" baseline="-3700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3600" spc="-187" baseline="-37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20" dirty="0">
                <a:latin typeface="Cambria Math" panose="02040503050406030204"/>
                <a:cs typeface="Cambria Math" panose="02040503050406030204"/>
              </a:rPr>
              <a:t>(ℎ(𝑥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2400" spc="70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 −</a:t>
            </a:r>
            <a:r>
              <a:rPr sz="2400" spc="1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50" dirty="0">
                <a:latin typeface="Cambria Math" panose="02040503050406030204"/>
                <a:cs typeface="Cambria Math" panose="02040503050406030204"/>
              </a:rPr>
              <a:t>𝑦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2400" spc="20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	=</a:t>
            </a:r>
            <a:r>
              <a:rPr sz="2400" spc="14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2400" spc="1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⋅</a:t>
            </a:r>
            <a:r>
              <a:rPr sz="2400" spc="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3600" baseline="-3700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3600" spc="-195" baseline="-37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20" dirty="0">
                <a:latin typeface="Cambria Math" panose="02040503050406030204"/>
                <a:cs typeface="Cambria Math" panose="02040503050406030204"/>
              </a:rPr>
              <a:t>(ℎ(𝑥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2400" spc="70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2400" spc="1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400" spc="1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50" dirty="0">
                <a:latin typeface="Cambria Math" panose="02040503050406030204"/>
                <a:cs typeface="Cambria Math" panose="02040503050406030204"/>
              </a:rPr>
              <a:t>𝑦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2400" spc="70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 ⋅</a:t>
            </a:r>
            <a:r>
              <a:rPr sz="2400" spc="1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3600" spc="157" baseline="-37000" dirty="0">
                <a:latin typeface="Cambria Math" panose="02040503050406030204"/>
                <a:cs typeface="Cambria Math" panose="02040503050406030204"/>
              </a:rPr>
              <a:t>𝜕𝑤</a:t>
            </a:r>
            <a:r>
              <a:rPr sz="2625" spc="157" baseline="-67000" dirty="0">
                <a:latin typeface="Cambria Math" panose="02040503050406030204"/>
                <a:cs typeface="Cambria Math" panose="02040503050406030204"/>
              </a:rPr>
              <a:t>j</a:t>
            </a:r>
            <a:r>
              <a:rPr sz="2625" spc="165" baseline="-67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20" dirty="0">
                <a:latin typeface="Cambria Math" panose="02040503050406030204"/>
                <a:cs typeface="Cambria Math" panose="02040503050406030204"/>
              </a:rPr>
              <a:t>(ℎ(𝑥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2400" spc="70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2400" spc="1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400" spc="1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50" dirty="0">
                <a:latin typeface="Cambria Math" panose="02040503050406030204"/>
                <a:cs typeface="Cambria Math" panose="02040503050406030204"/>
              </a:rPr>
              <a:t>𝑦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2400" spc="20" dirty="0">
                <a:latin typeface="Cambria Math" panose="02040503050406030204"/>
                <a:cs typeface="Cambria Math" panose="02040503050406030204"/>
              </a:rPr>
              <a:t>)</a:t>
            </a:r>
            <a:endParaRPr sz="24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86637" y="3411397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 panose="02040503050406030204"/>
                <a:cs typeface="Cambria Math" panose="02040503050406030204"/>
              </a:rPr>
              <a:t>𝜕</a:t>
            </a:r>
            <a:endParaRPr sz="24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28522" y="3861765"/>
            <a:ext cx="511175" cy="20320"/>
          </a:xfrm>
          <a:custGeom>
            <a:avLst/>
            <a:gdLst/>
            <a:ahLst/>
            <a:cxnLst/>
            <a:rect l="l" t="t" r="r" b="b"/>
            <a:pathLst>
              <a:path w="511175" h="20320">
                <a:moveTo>
                  <a:pt x="511175" y="20002"/>
                </a:moveTo>
                <a:lnTo>
                  <a:pt x="0" y="20002"/>
                </a:lnTo>
                <a:lnTo>
                  <a:pt x="0" y="0"/>
                </a:lnTo>
                <a:lnTo>
                  <a:pt x="511175" y="0"/>
                </a:lnTo>
                <a:lnTo>
                  <a:pt x="511175" y="200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890422" y="3845102"/>
            <a:ext cx="575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80" dirty="0">
                <a:latin typeface="Cambria Math" panose="02040503050406030204"/>
                <a:cs typeface="Cambria Math" panose="02040503050406030204"/>
              </a:rPr>
              <a:t>𝜕𝑤</a:t>
            </a:r>
            <a:r>
              <a:rPr sz="2625" spc="120" baseline="-16000" dirty="0">
                <a:latin typeface="Cambria Math" panose="02040503050406030204"/>
                <a:cs typeface="Cambria Math" panose="02040503050406030204"/>
              </a:rPr>
              <a:t>j</a:t>
            </a:r>
            <a:endParaRPr sz="2625" baseline="-16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478432" y="3641267"/>
            <a:ext cx="6203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Cambria Math" panose="02040503050406030204"/>
                <a:cs typeface="Cambria Math" panose="02040503050406030204"/>
              </a:rPr>
              <a:t>𝐽(𝑤)</a:t>
            </a:r>
            <a:endParaRPr sz="24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083765" y="2607830"/>
            <a:ext cx="1943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 panose="02040503050406030204"/>
                <a:cs typeface="Cambria Math" panose="02040503050406030204"/>
              </a:rPr>
              <a:t>1</a:t>
            </a:r>
            <a:endParaRPr sz="24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096465" y="3058198"/>
            <a:ext cx="168910" cy="20320"/>
          </a:xfrm>
          <a:custGeom>
            <a:avLst/>
            <a:gdLst/>
            <a:ahLst/>
            <a:cxnLst/>
            <a:rect l="l" t="t" r="r" b="b"/>
            <a:pathLst>
              <a:path w="168910" h="20319">
                <a:moveTo>
                  <a:pt x="168910" y="20002"/>
                </a:moveTo>
                <a:lnTo>
                  <a:pt x="0" y="20002"/>
                </a:lnTo>
                <a:lnTo>
                  <a:pt x="0" y="0"/>
                </a:lnTo>
                <a:lnTo>
                  <a:pt x="168910" y="0"/>
                </a:lnTo>
                <a:lnTo>
                  <a:pt x="168910" y="200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1065860" y="2837700"/>
            <a:ext cx="32359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2120265" algn="l"/>
                <a:tab pos="3060065" algn="l"/>
              </a:tabLst>
            </a:pPr>
            <a:r>
              <a:rPr sz="2400" dirty="0">
                <a:latin typeface="Cambria Math" panose="02040503050406030204"/>
                <a:cs typeface="Cambria Math" panose="02040503050406030204"/>
              </a:rPr>
              <a:t>𝐽(𝑤)</a:t>
            </a:r>
            <a:r>
              <a:rPr sz="2400" spc="11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2400" spc="12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3600" baseline="-3700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3600" spc="-195" baseline="-37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20" dirty="0">
                <a:latin typeface="Cambria Math" panose="02040503050406030204"/>
                <a:cs typeface="Cambria Math" panose="02040503050406030204"/>
              </a:rPr>
              <a:t>(ℎ(𝑥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2400" spc="70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 −</a:t>
            </a:r>
            <a:r>
              <a:rPr sz="2400" spc="1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50" dirty="0">
                <a:latin typeface="Cambria Math" panose="02040503050406030204"/>
                <a:cs typeface="Cambria Math" panose="02040503050406030204"/>
              </a:rPr>
              <a:t>𝑦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2400" spc="20" dirty="0">
                <a:latin typeface="Cambria Math" panose="02040503050406030204"/>
                <a:cs typeface="Cambria Math" panose="02040503050406030204"/>
              </a:rPr>
              <a:t>)</a:t>
            </a:r>
            <a:endParaRPr sz="24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881960" y="2808490"/>
            <a:ext cx="1561465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977265" algn="l"/>
                <a:tab pos="1381125" algn="l"/>
              </a:tabLst>
            </a:pPr>
            <a:r>
              <a:rPr sz="2625" spc="-37" baseline="200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1750" spc="-25" dirty="0">
                <a:latin typeface="Cambria Math" panose="02040503050406030204"/>
                <a:cs typeface="Cambria Math" panose="02040503050406030204"/>
              </a:rPr>
              <a:t>𝑖</a:t>
            </a:r>
            <a:r>
              <a:rPr sz="2625" spc="-37" baseline="2000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2625" baseline="20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2625" spc="-37" baseline="200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1750" spc="-25" dirty="0">
                <a:latin typeface="Cambria Math" panose="02040503050406030204"/>
                <a:cs typeface="Cambria Math" panose="02040503050406030204"/>
              </a:rPr>
              <a:t>𝑖</a:t>
            </a:r>
            <a:r>
              <a:rPr sz="2625" spc="-37" baseline="2000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2625" baseline="20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2625" spc="-75" baseline="24000" dirty="0">
                <a:latin typeface="Cambria Math" panose="02040503050406030204"/>
                <a:cs typeface="Cambria Math" panose="02040503050406030204"/>
              </a:rPr>
              <a:t>2</a:t>
            </a:r>
            <a:endParaRPr sz="2625" baseline="24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468266" y="2105139"/>
            <a:ext cx="64820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 panose="02040503050406030204"/>
                <a:cs typeface="Cambria Math" panose="02040503050406030204"/>
              </a:rPr>
              <a:t>ℎ</a:t>
            </a:r>
            <a:r>
              <a:rPr sz="3600" baseline="200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𝑥</a:t>
            </a:r>
            <a:r>
              <a:rPr sz="3600" baseline="2000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3600" spc="254" baseline="2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2400" spc="17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110" dirty="0">
                <a:latin typeface="Cambria Math" panose="02040503050406030204"/>
                <a:cs typeface="Cambria Math" panose="02040503050406030204"/>
              </a:rPr>
              <a:t>𝑤</a:t>
            </a:r>
            <a:r>
              <a:rPr sz="2625" spc="165" baseline="27000" dirty="0">
                <a:latin typeface="Cambria Math" panose="02040503050406030204"/>
                <a:cs typeface="Cambria Math" panose="02040503050406030204"/>
              </a:rPr>
              <a:t>T</a:t>
            </a:r>
            <a:r>
              <a:rPr sz="2400" spc="110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2400" spc="16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2400" spc="17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𝑤</a:t>
            </a:r>
            <a:r>
              <a:rPr sz="2625" baseline="-16000" dirty="0">
                <a:latin typeface="Cambria Math" panose="02040503050406030204"/>
                <a:cs typeface="Cambria Math" panose="02040503050406030204"/>
              </a:rPr>
              <a:t>0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𝑥</a:t>
            </a:r>
            <a:r>
              <a:rPr sz="2625" baseline="-16000" dirty="0">
                <a:latin typeface="Cambria Math" panose="02040503050406030204"/>
                <a:cs typeface="Cambria Math" panose="02040503050406030204"/>
              </a:rPr>
              <a:t>0</a:t>
            </a:r>
            <a:r>
              <a:rPr sz="2625" spc="412" baseline="-16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+</a:t>
            </a:r>
            <a:r>
              <a:rPr sz="2400" spc="3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𝑤</a:t>
            </a:r>
            <a:r>
              <a:rPr sz="2625" baseline="-16000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𝑥</a:t>
            </a:r>
            <a:r>
              <a:rPr sz="2625" baseline="-16000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2625" spc="412" baseline="-16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+</a:t>
            </a:r>
            <a:r>
              <a:rPr sz="2400" spc="3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𝑤</a:t>
            </a:r>
            <a:r>
              <a:rPr sz="2625" baseline="-1600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𝑥</a:t>
            </a:r>
            <a:r>
              <a:rPr sz="2625" baseline="-1600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2625" spc="412" baseline="-16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+</a:t>
            </a:r>
            <a:r>
              <a:rPr sz="2400" spc="3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.</a:t>
            </a:r>
            <a:r>
              <a:rPr sz="2400" spc="-11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.</a:t>
            </a:r>
            <a:r>
              <a:rPr sz="2400" spc="-11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.</a:t>
            </a:r>
            <a:r>
              <a:rPr sz="2400" spc="3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+</a:t>
            </a:r>
            <a:r>
              <a:rPr sz="2400" spc="3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60" dirty="0">
                <a:latin typeface="Cambria Math" panose="02040503050406030204"/>
                <a:cs typeface="Cambria Math" panose="02040503050406030204"/>
              </a:rPr>
              <a:t>𝑤</a:t>
            </a:r>
            <a:r>
              <a:rPr sz="2625" spc="89" baseline="-16000" dirty="0">
                <a:latin typeface="Cambria Math" panose="02040503050406030204"/>
                <a:cs typeface="Cambria Math" panose="02040503050406030204"/>
              </a:rPr>
              <a:t>𝑛</a:t>
            </a:r>
            <a:r>
              <a:rPr sz="2400" spc="60" dirty="0">
                <a:latin typeface="Cambria Math" panose="02040503050406030204"/>
                <a:cs typeface="Cambria Math" panose="02040503050406030204"/>
              </a:rPr>
              <a:t>𝑥</a:t>
            </a:r>
            <a:r>
              <a:rPr sz="2625" spc="89" baseline="-16000" dirty="0">
                <a:latin typeface="Cambria Math" panose="02040503050406030204"/>
                <a:cs typeface="Cambria Math" panose="02040503050406030204"/>
              </a:rPr>
              <a:t>𝑛</a:t>
            </a:r>
            <a:endParaRPr sz="2625" baseline="-16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269261" y="4673498"/>
            <a:ext cx="24917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2400" spc="26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(ℎ(𝑥</a:t>
            </a:r>
            <a:r>
              <a:rPr sz="2625" baseline="3000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2625" baseline="29000" dirty="0">
                <a:latin typeface="Cambria Math" panose="02040503050406030204"/>
                <a:cs typeface="Cambria Math" panose="02040503050406030204"/>
              </a:rPr>
              <a:t>𝑖</a:t>
            </a:r>
            <a:r>
              <a:rPr sz="2625" baseline="30000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2400" spc="11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400" spc="10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𝑦</a:t>
            </a:r>
            <a:r>
              <a:rPr sz="2625" baseline="3000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2625" baseline="29000" dirty="0">
                <a:latin typeface="Cambria Math" panose="02040503050406030204"/>
                <a:cs typeface="Cambria Math" panose="02040503050406030204"/>
              </a:rPr>
              <a:t>𝑖</a:t>
            </a:r>
            <a:r>
              <a:rPr sz="2625" baseline="30000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2400" spc="11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50" dirty="0">
                <a:latin typeface="Cambria Math" panose="02040503050406030204"/>
                <a:cs typeface="Cambria Math" panose="02040503050406030204"/>
              </a:rPr>
              <a:t>⋅</a:t>
            </a:r>
            <a:endParaRPr sz="24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948961" y="4443628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 panose="02040503050406030204"/>
                <a:cs typeface="Cambria Math" panose="02040503050406030204"/>
              </a:rPr>
              <a:t>𝜕</a:t>
            </a:r>
            <a:endParaRPr sz="24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790846" y="4893995"/>
            <a:ext cx="511175" cy="20320"/>
          </a:xfrm>
          <a:custGeom>
            <a:avLst/>
            <a:gdLst/>
            <a:ahLst/>
            <a:cxnLst/>
            <a:rect l="l" t="t" r="r" b="b"/>
            <a:pathLst>
              <a:path w="511175" h="20320">
                <a:moveTo>
                  <a:pt x="511175" y="20002"/>
                </a:moveTo>
                <a:lnTo>
                  <a:pt x="0" y="20002"/>
                </a:lnTo>
                <a:lnTo>
                  <a:pt x="0" y="0"/>
                </a:lnTo>
                <a:lnTo>
                  <a:pt x="511175" y="0"/>
                </a:lnTo>
                <a:lnTo>
                  <a:pt x="511175" y="200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4752746" y="4877333"/>
            <a:ext cx="575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80" dirty="0">
                <a:latin typeface="Cambria Math" panose="02040503050406030204"/>
                <a:cs typeface="Cambria Math" panose="02040503050406030204"/>
              </a:rPr>
              <a:t>𝜕𝑤</a:t>
            </a:r>
            <a:r>
              <a:rPr sz="2625" spc="120" baseline="-16000" dirty="0">
                <a:latin typeface="Cambria Math" panose="02040503050406030204"/>
                <a:cs typeface="Cambria Math" panose="02040503050406030204"/>
              </a:rPr>
              <a:t>j</a:t>
            </a:r>
            <a:endParaRPr sz="2625" baseline="-16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540146" y="5153558"/>
            <a:ext cx="384810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25" dirty="0">
                <a:latin typeface="Cambria Math" panose="02040503050406030204"/>
                <a:cs typeface="Cambria Math" panose="02040503050406030204"/>
              </a:rPr>
              <a:t>𝑖=0</a:t>
            </a:r>
            <a:endParaRPr sz="17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655716" y="4302023"/>
            <a:ext cx="153035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50" dirty="0">
                <a:latin typeface="Cambria Math" panose="02040503050406030204"/>
                <a:cs typeface="Cambria Math" panose="02040503050406030204"/>
              </a:rPr>
              <a:t>𝑛</a:t>
            </a:r>
            <a:endParaRPr sz="17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375171" y="4817643"/>
            <a:ext cx="103505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10" dirty="0">
                <a:latin typeface="Cambria Math" panose="02040503050406030204"/>
                <a:cs typeface="Cambria Math" panose="02040503050406030204"/>
              </a:rPr>
              <a:t>𝑖</a:t>
            </a:r>
            <a:endParaRPr sz="17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627266" y="4855108"/>
            <a:ext cx="103505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10" dirty="0">
                <a:latin typeface="Cambria Math" panose="02040503050406030204"/>
                <a:cs typeface="Cambria Math" panose="02040503050406030204"/>
              </a:rPr>
              <a:t>𝑖</a:t>
            </a:r>
            <a:endParaRPr sz="17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315356" y="4673498"/>
            <a:ext cx="27006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2400" spc="-13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1475" dirty="0">
                <a:latin typeface="Cambria Math" panose="02040503050406030204"/>
                <a:cs typeface="Cambria Math" panose="02040503050406030204"/>
              </a:rPr>
              <a:t>∑</a:t>
            </a:r>
            <a:r>
              <a:rPr sz="2400" spc="-13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1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2400" spc="-12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𝑤</a:t>
            </a:r>
            <a:r>
              <a:rPr sz="2400" spc="19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𝑥</a:t>
            </a:r>
            <a:r>
              <a:rPr sz="2625" baseline="41000" dirty="0">
                <a:latin typeface="Cambria Math" panose="02040503050406030204"/>
                <a:cs typeface="Cambria Math" panose="02040503050406030204"/>
              </a:rPr>
              <a:t>(𝑖)</a:t>
            </a:r>
            <a:r>
              <a:rPr sz="2625" spc="382" baseline="41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400" spc="1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10" dirty="0">
                <a:latin typeface="Cambria Math" panose="02040503050406030204"/>
                <a:cs typeface="Cambria Math" panose="02040503050406030204"/>
              </a:rPr>
              <a:t>𝑦</a:t>
            </a:r>
            <a:r>
              <a:rPr sz="2625" spc="-15" baseline="27000" dirty="0">
                <a:latin typeface="Cambria Math" panose="02040503050406030204"/>
                <a:cs typeface="Cambria Math" panose="02040503050406030204"/>
              </a:rPr>
              <a:t>(𝑖)</a:t>
            </a:r>
            <a:r>
              <a:rPr sz="2400" spc="-10" dirty="0">
                <a:latin typeface="Cambria Math" panose="02040503050406030204"/>
                <a:cs typeface="Cambria Math" panose="02040503050406030204"/>
              </a:rPr>
              <a:t>))</a:t>
            </a:r>
            <a:endParaRPr sz="24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363825" y="5865253"/>
            <a:ext cx="28695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2400" spc="24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(ℎ(𝑥</a:t>
            </a:r>
            <a:r>
              <a:rPr sz="2625" baseline="3000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2625" baseline="29000" dirty="0">
                <a:latin typeface="Cambria Math" panose="02040503050406030204"/>
                <a:cs typeface="Cambria Math" panose="02040503050406030204"/>
              </a:rPr>
              <a:t>𝑖</a:t>
            </a:r>
            <a:r>
              <a:rPr sz="2625" baseline="30000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2400" spc="9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400" spc="9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45" dirty="0">
                <a:latin typeface="Cambria Math" panose="02040503050406030204"/>
                <a:cs typeface="Cambria Math" panose="02040503050406030204"/>
              </a:rPr>
              <a:t>𝑦</a:t>
            </a:r>
            <a:r>
              <a:rPr sz="2625" spc="67" baseline="3000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2625" spc="67" baseline="29000" dirty="0">
                <a:latin typeface="Cambria Math" panose="02040503050406030204"/>
                <a:cs typeface="Cambria Math" panose="02040503050406030204"/>
              </a:rPr>
              <a:t>𝑖</a:t>
            </a:r>
            <a:r>
              <a:rPr sz="2625" spc="67" baseline="30000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2400" spc="45" dirty="0">
                <a:latin typeface="Cambria Math" panose="02040503050406030204"/>
                <a:cs typeface="Cambria Math" panose="02040503050406030204"/>
              </a:rPr>
              <a:t>)𝑥</a:t>
            </a:r>
            <a:r>
              <a:rPr sz="2625" spc="67" baseline="-16000" dirty="0">
                <a:latin typeface="Cambria Math" panose="02040503050406030204"/>
                <a:cs typeface="Cambria Math" panose="02040503050406030204"/>
              </a:rPr>
              <a:t>j</a:t>
            </a:r>
            <a:r>
              <a:rPr sz="2625" spc="67" baseline="2200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2625" spc="67" baseline="19000" dirty="0">
                <a:latin typeface="Cambria Math" panose="02040503050406030204"/>
                <a:cs typeface="Cambria Math" panose="02040503050406030204"/>
              </a:rPr>
              <a:t>𝑖</a:t>
            </a:r>
            <a:r>
              <a:rPr sz="2625" spc="67" baseline="22000" dirty="0">
                <a:latin typeface="Cambria Math" panose="02040503050406030204"/>
                <a:cs typeface="Cambria Math" panose="02040503050406030204"/>
              </a:rPr>
              <a:t>)</a:t>
            </a:r>
            <a:endParaRPr sz="2625" baseline="22000">
              <a:latin typeface="Cambria Math" panose="02040503050406030204"/>
              <a:cs typeface="Cambria Math" panose="02040503050406030204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999744"/>
            <a:ext cx="646430" cy="262255"/>
          </a:xfrm>
          <a:prstGeom prst="rect">
            <a:avLst/>
          </a:prstGeom>
          <a:solidFill>
            <a:srgbClr val="A40020"/>
          </a:solidFill>
        </p:spPr>
        <p:txBody>
          <a:bodyPr vert="horz" wrap="square" lIns="0" tIns="635" rIns="0" bIns="0" rtlCol="0">
            <a:spAutoFit/>
          </a:bodyPr>
          <a:lstStyle/>
          <a:p>
            <a:pPr marL="375285">
              <a:lnSpc>
                <a:spcPct val="100000"/>
              </a:lnSpc>
              <a:spcBef>
                <a:spcPts val="5"/>
              </a:spcBef>
            </a:pPr>
            <a:r>
              <a:rPr sz="1400" b="1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25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7621" y="350126"/>
            <a:ext cx="41402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梯度下降的三种形式</a:t>
            </a:r>
            <a:endParaRPr spc="-10" dirty="0"/>
          </a:p>
        </p:txBody>
      </p:sp>
      <p:sp>
        <p:nvSpPr>
          <p:cNvPr id="4" name="object 4"/>
          <p:cNvSpPr txBox="1"/>
          <p:nvPr/>
        </p:nvSpPr>
        <p:spPr>
          <a:xfrm>
            <a:off x="627621" y="1530527"/>
            <a:ext cx="10083800" cy="1971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随机梯度下降</a:t>
            </a:r>
            <a:r>
              <a:rPr sz="2400" b="1" spc="-1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（Stochastic</a:t>
            </a:r>
            <a:r>
              <a:rPr sz="2400" b="1" spc="-95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b="1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Gradient</a:t>
            </a:r>
            <a:r>
              <a:rPr sz="2400" b="1" spc="-9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Descent）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  <a:p>
            <a:pPr marL="12700" marR="5080">
              <a:lnSpc>
                <a:spcPct val="100000"/>
              </a:lnSpc>
              <a:spcBef>
                <a:spcPts val="1825"/>
              </a:spcBef>
            </a:pP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梯度下降的每一步中，用到</a:t>
            </a:r>
            <a:r>
              <a:rPr sz="240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一个</a:t>
            </a:r>
            <a:r>
              <a:rPr sz="2400" spc="-5" dirty="0">
                <a:latin typeface="微软雅黑" panose="020B0503020204020204" charset="-122"/>
                <a:cs typeface="微软雅黑" panose="020B0503020204020204" charset="-122"/>
              </a:rPr>
              <a:t>样本，在每一次计算之后便更新参数，而不需要首先将所有的训练集求和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  <a:p>
            <a:pPr marL="390525">
              <a:lnSpc>
                <a:spcPct val="100000"/>
              </a:lnSpc>
              <a:spcBef>
                <a:spcPts val="1975"/>
              </a:spcBef>
            </a:pPr>
            <a:r>
              <a:rPr sz="2400" b="1" spc="-15" dirty="0">
                <a:latin typeface="微软雅黑" panose="020B0503020204020204" charset="-122"/>
                <a:cs typeface="微软雅黑" panose="020B0503020204020204" charset="-122"/>
              </a:rPr>
              <a:t>参数更新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79208" y="3764013"/>
            <a:ext cx="4965065" cy="9105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spc="165" dirty="0">
                <a:latin typeface="Cambria Math" panose="02040503050406030204"/>
                <a:cs typeface="Cambria Math" panose="02040503050406030204"/>
              </a:rPr>
              <a:t>𝑤</a:t>
            </a:r>
            <a:r>
              <a:rPr sz="3000" spc="247" baseline="-15000" dirty="0">
                <a:latin typeface="Cambria Math" panose="02040503050406030204"/>
                <a:cs typeface="Cambria Math" panose="02040503050406030204"/>
              </a:rPr>
              <a:t>j</a:t>
            </a:r>
            <a:r>
              <a:rPr sz="2800" spc="165" dirty="0">
                <a:latin typeface="Cambria Math" panose="02040503050406030204"/>
                <a:cs typeface="Cambria Math" panose="02040503050406030204"/>
              </a:rPr>
              <a:t>:</a:t>
            </a:r>
            <a:r>
              <a:rPr sz="2800" spc="17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800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2800" spc="17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800" spc="200" dirty="0">
                <a:latin typeface="Cambria Math" panose="02040503050406030204"/>
                <a:cs typeface="Cambria Math" panose="02040503050406030204"/>
              </a:rPr>
              <a:t>𝑤</a:t>
            </a:r>
            <a:r>
              <a:rPr sz="3000" spc="300" baseline="-15000" dirty="0">
                <a:latin typeface="Cambria Math" panose="02040503050406030204"/>
                <a:cs typeface="Cambria Math" panose="02040503050406030204"/>
              </a:rPr>
              <a:t>j</a:t>
            </a:r>
            <a:r>
              <a:rPr sz="3000" spc="442" baseline="-15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80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800" spc="2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800" spc="45" dirty="0">
                <a:latin typeface="Cambria Math" panose="02040503050406030204"/>
                <a:cs typeface="Cambria Math" panose="02040503050406030204"/>
              </a:rPr>
              <a:t>𝛼(ℎ(𝑥</a:t>
            </a:r>
            <a:r>
              <a:rPr sz="3000" spc="67" baseline="28000" dirty="0">
                <a:latin typeface="Cambria Math" panose="02040503050406030204"/>
                <a:cs typeface="Cambria Math" panose="02040503050406030204"/>
              </a:rPr>
              <a:t>(𝑖)</a:t>
            </a:r>
            <a:r>
              <a:rPr sz="2800" spc="45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2800" spc="2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80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800" spc="2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800" spc="70" dirty="0">
                <a:latin typeface="Cambria Math" panose="02040503050406030204"/>
                <a:cs typeface="Cambria Math" panose="02040503050406030204"/>
              </a:rPr>
              <a:t>𝑦</a:t>
            </a:r>
            <a:r>
              <a:rPr sz="3000" spc="104" baseline="28000" dirty="0">
                <a:latin typeface="Cambria Math" panose="02040503050406030204"/>
                <a:cs typeface="Cambria Math" panose="02040503050406030204"/>
              </a:rPr>
              <a:t>(𝑖)</a:t>
            </a:r>
            <a:r>
              <a:rPr sz="2800" spc="70" dirty="0">
                <a:latin typeface="Cambria Math" panose="02040503050406030204"/>
                <a:cs typeface="Cambria Math" panose="02040503050406030204"/>
              </a:rPr>
              <a:t>)𝑥</a:t>
            </a:r>
            <a:r>
              <a:rPr sz="3000" spc="104" baseline="-15000" dirty="0">
                <a:latin typeface="Cambria Math" panose="02040503050406030204"/>
                <a:cs typeface="Cambria Math" panose="02040503050406030204"/>
              </a:rPr>
              <a:t>j</a:t>
            </a:r>
            <a:r>
              <a:rPr sz="3000" spc="104" baseline="21000" dirty="0">
                <a:latin typeface="Cambria Math" panose="02040503050406030204"/>
                <a:cs typeface="Cambria Math" panose="02040503050406030204"/>
              </a:rPr>
              <a:t>(𝑖)</a:t>
            </a:r>
            <a:endParaRPr sz="3000" baseline="21000">
              <a:latin typeface="Cambria Math" panose="02040503050406030204"/>
              <a:cs typeface="Cambria Math" panose="02040503050406030204"/>
            </a:endParaRPr>
          </a:p>
          <a:p>
            <a:pPr marL="723265">
              <a:lnSpc>
                <a:spcPct val="100000"/>
              </a:lnSpc>
              <a:spcBef>
                <a:spcPts val="1455"/>
              </a:spcBef>
            </a:pPr>
            <a:r>
              <a:rPr sz="1800" spc="-20" dirty="0">
                <a:latin typeface="Cambria" panose="02040503050406030204"/>
                <a:cs typeface="Cambria" panose="02040503050406030204"/>
              </a:rPr>
              <a:t>(</a:t>
            </a:r>
            <a:r>
              <a:rPr sz="1800" dirty="0">
                <a:latin typeface="微软雅黑" panose="020B0503020204020204" charset="-122"/>
                <a:cs typeface="微软雅黑" panose="020B0503020204020204" charset="-122"/>
              </a:rPr>
              <a:t>同步更新</a:t>
            </a:r>
            <a:r>
              <a:rPr sz="1800" spc="125" dirty="0">
                <a:latin typeface="Cambria Math" panose="02040503050406030204"/>
                <a:cs typeface="Cambria Math" panose="02040503050406030204"/>
              </a:rPr>
              <a:t>𝑤</a:t>
            </a:r>
            <a:r>
              <a:rPr sz="1950" spc="187" baseline="-15000" dirty="0">
                <a:latin typeface="Cambria Math" panose="02040503050406030204"/>
                <a:cs typeface="Cambria Math" panose="02040503050406030204"/>
              </a:rPr>
              <a:t>j</a:t>
            </a:r>
            <a:r>
              <a:rPr sz="1950" spc="292" baseline="-15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800" spc="-10" dirty="0">
                <a:latin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800" spc="-10" dirty="0">
                <a:latin typeface="Cambria" panose="02040503050406030204"/>
                <a:cs typeface="Cambria" panose="02040503050406030204"/>
              </a:rPr>
              <a:t>(</a:t>
            </a:r>
            <a:r>
              <a:rPr sz="1800" i="1" spc="-10" dirty="0">
                <a:latin typeface="Cambria" panose="02040503050406030204"/>
                <a:cs typeface="Cambria" panose="02040503050406030204"/>
              </a:rPr>
              <a:t>j</a:t>
            </a:r>
            <a:r>
              <a:rPr sz="1800" spc="-10" dirty="0">
                <a:latin typeface="Cambria" panose="02040503050406030204"/>
                <a:cs typeface="Cambria" panose="02040503050406030204"/>
              </a:rPr>
              <a:t>=0,1,...,</a:t>
            </a:r>
            <a:r>
              <a:rPr sz="1800" i="1" spc="-10" dirty="0">
                <a:latin typeface="Cambria" panose="02040503050406030204"/>
                <a:cs typeface="Cambria" panose="02040503050406030204"/>
              </a:rPr>
              <a:t>n</a:t>
            </a:r>
            <a:r>
              <a:rPr sz="1800" i="1" spc="20" dirty="0">
                <a:latin typeface="Cambria" panose="02040503050406030204"/>
                <a:cs typeface="Cambria" panose="02040503050406030204"/>
              </a:rPr>
              <a:t> </a:t>
            </a:r>
            <a:r>
              <a:rPr sz="1800" spc="-25" dirty="0">
                <a:latin typeface="Cambria" panose="02040503050406030204"/>
                <a:cs typeface="Cambria" panose="02040503050406030204"/>
              </a:rPr>
              <a:t>))</a:t>
            </a:r>
            <a:endParaRPr sz="18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4044" y="4798695"/>
            <a:ext cx="10998200" cy="1854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每次只对一个样本进行求梯度，这样也就不用除以</a:t>
            </a:r>
            <a:r>
              <a:rPr sz="2400" spc="-20" dirty="0">
                <a:latin typeface="Arial MT"/>
                <a:cs typeface="Arial MT"/>
              </a:rPr>
              <a:t>m</a:t>
            </a:r>
            <a:r>
              <a:rPr sz="2400" spc="-5" dirty="0">
                <a:latin typeface="微软雅黑" panose="020B0503020204020204" charset="-122"/>
                <a:cs typeface="微软雅黑" panose="020B0503020204020204" charset="-122"/>
              </a:rPr>
              <a:t>了。基于这样的想法就出现了随机选择样本求梯度的方法，既然不确定这个搜索方向是不是梯度方向，那么学习</a:t>
            </a: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率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𝛼</a:t>
            </a:r>
            <a:r>
              <a:rPr sz="2400" spc="-5" dirty="0">
                <a:latin typeface="微软雅黑" panose="020B0503020204020204" charset="-122"/>
                <a:cs typeface="微软雅黑" panose="020B0503020204020204" charset="-122"/>
              </a:rPr>
              <a:t>这个参数就更加重要了，如果一直取个不变的学习率，很有可能到达最优解之后还会跳出去。因此，在实际的使用过程中，在随机梯度下降法中需要让学习率逐</a:t>
            </a:r>
            <a:r>
              <a:rPr sz="2400" spc="-15" dirty="0">
                <a:latin typeface="微软雅黑" panose="020B0503020204020204" charset="-122"/>
                <a:cs typeface="微软雅黑" panose="020B0503020204020204" charset="-122"/>
              </a:rPr>
              <a:t>渐递减。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713219" y="3999229"/>
            <a:ext cx="52133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 panose="02040503050406030204"/>
                <a:cs typeface="Cambria Math" panose="02040503050406030204"/>
              </a:rPr>
              <a:t>𝛼</a:t>
            </a:r>
            <a:r>
              <a:rPr sz="2400" spc="14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60" dirty="0">
                <a:latin typeface="Cambria Math" panose="02040503050406030204"/>
                <a:cs typeface="Cambria Math" panose="02040503050406030204"/>
              </a:rPr>
              <a:t>=</a:t>
            </a:r>
            <a:endParaRPr sz="24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82890" y="3769359"/>
            <a:ext cx="3251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 panose="02040503050406030204"/>
                <a:cs typeface="Cambria Math" panose="02040503050406030204"/>
              </a:rPr>
              <a:t>𝑡</a:t>
            </a:r>
            <a:r>
              <a:rPr sz="2625" spc="-37" baseline="-16000" dirty="0">
                <a:latin typeface="Cambria Math" panose="02040503050406030204"/>
                <a:cs typeface="Cambria Math" panose="02040503050406030204"/>
              </a:rPr>
              <a:t>0</a:t>
            </a:r>
            <a:endParaRPr sz="2625" baseline="-16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306944" y="4219727"/>
            <a:ext cx="1489075" cy="20320"/>
          </a:xfrm>
          <a:custGeom>
            <a:avLst/>
            <a:gdLst/>
            <a:ahLst/>
            <a:cxnLst/>
            <a:rect l="l" t="t" r="r" b="b"/>
            <a:pathLst>
              <a:path w="1489075" h="20320">
                <a:moveTo>
                  <a:pt x="1489075" y="20002"/>
                </a:moveTo>
                <a:lnTo>
                  <a:pt x="0" y="20002"/>
                </a:lnTo>
                <a:lnTo>
                  <a:pt x="0" y="0"/>
                </a:lnTo>
                <a:lnTo>
                  <a:pt x="1489075" y="0"/>
                </a:lnTo>
                <a:lnTo>
                  <a:pt x="1489075" y="200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7268844" y="4203065"/>
            <a:ext cx="15532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 panose="02040503050406030204"/>
                <a:cs typeface="Cambria Math" panose="02040503050406030204"/>
              </a:rPr>
              <a:t>𝑖_𝑖𝑡𝑒𝑟𝑠</a:t>
            </a:r>
            <a:r>
              <a:rPr sz="2400" spc="-2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+</a:t>
            </a:r>
            <a:r>
              <a:rPr sz="2400" spc="-2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25" dirty="0">
                <a:latin typeface="Cambria Math" panose="02040503050406030204"/>
                <a:cs typeface="Cambria Math" panose="02040503050406030204"/>
              </a:rPr>
              <a:t>𝑡</a:t>
            </a:r>
            <a:r>
              <a:rPr sz="2625" spc="-37" baseline="-16000" dirty="0">
                <a:latin typeface="Cambria Math" panose="02040503050406030204"/>
                <a:cs typeface="Cambria Math" panose="02040503050406030204"/>
              </a:rPr>
              <a:t>1</a:t>
            </a:r>
            <a:endParaRPr sz="2625" baseline="-16000">
              <a:latin typeface="Cambria Math" panose="02040503050406030204"/>
              <a:cs typeface="Cambria Math" panose="02040503050406030204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999744"/>
            <a:ext cx="646430" cy="262255"/>
          </a:xfrm>
          <a:prstGeom prst="rect">
            <a:avLst/>
          </a:prstGeom>
          <a:solidFill>
            <a:srgbClr val="A40020"/>
          </a:solidFill>
        </p:spPr>
        <p:txBody>
          <a:bodyPr vert="horz" wrap="square" lIns="0" tIns="635" rIns="0" bIns="0" rtlCol="0">
            <a:spAutoFit/>
          </a:bodyPr>
          <a:lstStyle/>
          <a:p>
            <a:pPr marL="375285">
              <a:lnSpc>
                <a:spcPct val="100000"/>
              </a:lnSpc>
              <a:spcBef>
                <a:spcPts val="5"/>
              </a:spcBef>
            </a:pPr>
            <a:r>
              <a:rPr sz="1400" b="1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26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839443" y="3012554"/>
            <a:ext cx="4147185" cy="2489200"/>
          </a:xfrm>
          <a:custGeom>
            <a:avLst/>
            <a:gdLst/>
            <a:ahLst/>
            <a:cxnLst/>
            <a:rect l="l" t="t" r="r" b="b"/>
            <a:pathLst>
              <a:path w="4147184" h="2489200">
                <a:moveTo>
                  <a:pt x="3827818" y="12700"/>
                </a:moveTo>
                <a:lnTo>
                  <a:pt x="318643" y="12700"/>
                </a:lnTo>
                <a:lnTo>
                  <a:pt x="328879" y="0"/>
                </a:lnTo>
                <a:lnTo>
                  <a:pt x="3817886" y="0"/>
                </a:lnTo>
                <a:lnTo>
                  <a:pt x="3827818" y="12700"/>
                </a:lnTo>
                <a:close/>
              </a:path>
              <a:path w="4147184" h="2489200">
                <a:moveTo>
                  <a:pt x="3867759" y="25400"/>
                </a:moveTo>
                <a:lnTo>
                  <a:pt x="278701" y="25400"/>
                </a:lnTo>
                <a:lnTo>
                  <a:pt x="288531" y="12700"/>
                </a:lnTo>
                <a:lnTo>
                  <a:pt x="3857929" y="12700"/>
                </a:lnTo>
                <a:lnTo>
                  <a:pt x="3867759" y="25400"/>
                </a:lnTo>
                <a:close/>
              </a:path>
              <a:path w="4147184" h="2489200">
                <a:moveTo>
                  <a:pt x="315442" y="38100"/>
                </a:moveTo>
                <a:lnTo>
                  <a:pt x="240563" y="38100"/>
                </a:lnTo>
                <a:lnTo>
                  <a:pt x="249923" y="25400"/>
                </a:lnTo>
                <a:lnTo>
                  <a:pt x="325272" y="25400"/>
                </a:lnTo>
                <a:lnTo>
                  <a:pt x="315442" y="38100"/>
                </a:lnTo>
                <a:close/>
              </a:path>
              <a:path w="4147184" h="2489200">
                <a:moveTo>
                  <a:pt x="3905910" y="38100"/>
                </a:moveTo>
                <a:lnTo>
                  <a:pt x="3831323" y="38100"/>
                </a:lnTo>
                <a:lnTo>
                  <a:pt x="3821480" y="25400"/>
                </a:lnTo>
                <a:lnTo>
                  <a:pt x="3896550" y="25400"/>
                </a:lnTo>
                <a:lnTo>
                  <a:pt x="3905910" y="38100"/>
                </a:lnTo>
                <a:close/>
              </a:path>
              <a:path w="4147184" h="2489200">
                <a:moveTo>
                  <a:pt x="278307" y="50800"/>
                </a:moveTo>
                <a:lnTo>
                  <a:pt x="222503" y="50800"/>
                </a:lnTo>
                <a:lnTo>
                  <a:pt x="231609" y="38100"/>
                </a:lnTo>
                <a:lnTo>
                  <a:pt x="287731" y="38100"/>
                </a:lnTo>
                <a:lnTo>
                  <a:pt x="278307" y="50800"/>
                </a:lnTo>
                <a:close/>
              </a:path>
              <a:path w="4147184" h="2489200">
                <a:moveTo>
                  <a:pt x="3924528" y="50800"/>
                </a:moveTo>
                <a:lnTo>
                  <a:pt x="3868445" y="50800"/>
                </a:lnTo>
                <a:lnTo>
                  <a:pt x="3859022" y="38100"/>
                </a:lnTo>
                <a:lnTo>
                  <a:pt x="3915422" y="38100"/>
                </a:lnTo>
                <a:lnTo>
                  <a:pt x="3924528" y="50800"/>
                </a:lnTo>
                <a:close/>
              </a:path>
              <a:path w="4147184" h="2489200">
                <a:moveTo>
                  <a:pt x="251587" y="63500"/>
                </a:moveTo>
                <a:lnTo>
                  <a:pt x="195999" y="63500"/>
                </a:lnTo>
                <a:lnTo>
                  <a:pt x="204698" y="50800"/>
                </a:lnTo>
                <a:lnTo>
                  <a:pt x="260667" y="50800"/>
                </a:lnTo>
                <a:lnTo>
                  <a:pt x="251587" y="63500"/>
                </a:lnTo>
                <a:close/>
              </a:path>
              <a:path w="4147184" h="2489200">
                <a:moveTo>
                  <a:pt x="3951020" y="63500"/>
                </a:moveTo>
                <a:lnTo>
                  <a:pt x="3895166" y="63500"/>
                </a:lnTo>
                <a:lnTo>
                  <a:pt x="3886098" y="50800"/>
                </a:lnTo>
                <a:lnTo>
                  <a:pt x="3942321" y="50800"/>
                </a:lnTo>
                <a:lnTo>
                  <a:pt x="3951020" y="63500"/>
                </a:lnTo>
                <a:close/>
              </a:path>
              <a:path w="4147184" h="2489200">
                <a:moveTo>
                  <a:pt x="225932" y="76200"/>
                </a:moveTo>
                <a:lnTo>
                  <a:pt x="179031" y="76200"/>
                </a:lnTo>
                <a:lnTo>
                  <a:pt x="187439" y="63500"/>
                </a:lnTo>
                <a:lnTo>
                  <a:pt x="234632" y="63500"/>
                </a:lnTo>
                <a:lnTo>
                  <a:pt x="225932" y="76200"/>
                </a:lnTo>
                <a:close/>
              </a:path>
              <a:path w="4147184" h="2489200">
                <a:moveTo>
                  <a:pt x="3967975" y="76200"/>
                </a:moveTo>
                <a:lnTo>
                  <a:pt x="3920832" y="76200"/>
                </a:lnTo>
                <a:lnTo>
                  <a:pt x="3912133" y="63500"/>
                </a:lnTo>
                <a:lnTo>
                  <a:pt x="3959567" y="63500"/>
                </a:lnTo>
                <a:lnTo>
                  <a:pt x="3967975" y="76200"/>
                </a:lnTo>
                <a:close/>
              </a:path>
              <a:path w="4147184" h="2489200">
                <a:moveTo>
                  <a:pt x="201409" y="88900"/>
                </a:moveTo>
                <a:lnTo>
                  <a:pt x="162661" y="88900"/>
                </a:lnTo>
                <a:lnTo>
                  <a:pt x="170764" y="76200"/>
                </a:lnTo>
                <a:lnTo>
                  <a:pt x="209702" y="76200"/>
                </a:lnTo>
                <a:lnTo>
                  <a:pt x="201409" y="88900"/>
                </a:lnTo>
                <a:close/>
              </a:path>
              <a:path w="4147184" h="2489200">
                <a:moveTo>
                  <a:pt x="3984345" y="88900"/>
                </a:moveTo>
                <a:lnTo>
                  <a:pt x="3945356" y="88900"/>
                </a:lnTo>
                <a:lnTo>
                  <a:pt x="3937050" y="76200"/>
                </a:lnTo>
                <a:lnTo>
                  <a:pt x="3976230" y="76200"/>
                </a:lnTo>
                <a:lnTo>
                  <a:pt x="3984345" y="88900"/>
                </a:lnTo>
                <a:close/>
              </a:path>
              <a:path w="4147184" h="2489200">
                <a:moveTo>
                  <a:pt x="185737" y="101600"/>
                </a:moveTo>
                <a:lnTo>
                  <a:pt x="146913" y="101600"/>
                </a:lnTo>
                <a:lnTo>
                  <a:pt x="154698" y="88900"/>
                </a:lnTo>
                <a:lnTo>
                  <a:pt x="193751" y="88900"/>
                </a:lnTo>
                <a:lnTo>
                  <a:pt x="185737" y="101600"/>
                </a:lnTo>
                <a:close/>
              </a:path>
              <a:path w="4147184" h="2489200">
                <a:moveTo>
                  <a:pt x="4000080" y="101600"/>
                </a:moveTo>
                <a:lnTo>
                  <a:pt x="3961028" y="101600"/>
                </a:lnTo>
                <a:lnTo>
                  <a:pt x="3953014" y="88900"/>
                </a:lnTo>
                <a:lnTo>
                  <a:pt x="3992295" y="88900"/>
                </a:lnTo>
                <a:lnTo>
                  <a:pt x="4000080" y="101600"/>
                </a:lnTo>
                <a:close/>
              </a:path>
              <a:path w="4147184" h="2489200">
                <a:moveTo>
                  <a:pt x="170637" y="114300"/>
                </a:moveTo>
                <a:lnTo>
                  <a:pt x="131800" y="114300"/>
                </a:lnTo>
                <a:lnTo>
                  <a:pt x="139268" y="101600"/>
                </a:lnTo>
                <a:lnTo>
                  <a:pt x="178346" y="101600"/>
                </a:lnTo>
                <a:lnTo>
                  <a:pt x="170637" y="114300"/>
                </a:lnTo>
                <a:close/>
              </a:path>
              <a:path w="4147184" h="2489200">
                <a:moveTo>
                  <a:pt x="4015168" y="114300"/>
                </a:moveTo>
                <a:lnTo>
                  <a:pt x="3976128" y="114300"/>
                </a:lnTo>
                <a:lnTo>
                  <a:pt x="3968407" y="101600"/>
                </a:lnTo>
                <a:lnTo>
                  <a:pt x="4007713" y="101600"/>
                </a:lnTo>
                <a:lnTo>
                  <a:pt x="4015168" y="114300"/>
                </a:lnTo>
                <a:close/>
              </a:path>
              <a:path w="4147184" h="2489200">
                <a:moveTo>
                  <a:pt x="156133" y="127000"/>
                </a:moveTo>
                <a:lnTo>
                  <a:pt x="117373" y="127000"/>
                </a:lnTo>
                <a:lnTo>
                  <a:pt x="124510" y="114300"/>
                </a:lnTo>
                <a:lnTo>
                  <a:pt x="163537" y="114300"/>
                </a:lnTo>
                <a:lnTo>
                  <a:pt x="156133" y="127000"/>
                </a:lnTo>
                <a:close/>
              </a:path>
              <a:path w="4147184" h="2489200">
                <a:moveTo>
                  <a:pt x="4029595" y="127000"/>
                </a:moveTo>
                <a:lnTo>
                  <a:pt x="3990632" y="127000"/>
                </a:lnTo>
                <a:lnTo>
                  <a:pt x="3983228" y="114300"/>
                </a:lnTo>
                <a:lnTo>
                  <a:pt x="4022471" y="114300"/>
                </a:lnTo>
                <a:lnTo>
                  <a:pt x="4029595" y="127000"/>
                </a:lnTo>
                <a:close/>
              </a:path>
              <a:path w="4147184" h="2489200">
                <a:moveTo>
                  <a:pt x="129019" y="152400"/>
                </a:moveTo>
                <a:lnTo>
                  <a:pt x="97053" y="152400"/>
                </a:lnTo>
                <a:lnTo>
                  <a:pt x="103657" y="139700"/>
                </a:lnTo>
                <a:lnTo>
                  <a:pt x="110426" y="127000"/>
                </a:lnTo>
                <a:lnTo>
                  <a:pt x="149326" y="127000"/>
                </a:lnTo>
                <a:lnTo>
                  <a:pt x="142252" y="139700"/>
                </a:lnTo>
                <a:lnTo>
                  <a:pt x="135763" y="139700"/>
                </a:lnTo>
                <a:lnTo>
                  <a:pt x="129019" y="152400"/>
                </a:lnTo>
                <a:close/>
              </a:path>
              <a:path w="4147184" h="2489200">
                <a:moveTo>
                  <a:pt x="4049890" y="152400"/>
                </a:moveTo>
                <a:lnTo>
                  <a:pt x="4017746" y="152400"/>
                </a:lnTo>
                <a:lnTo>
                  <a:pt x="4011002" y="139700"/>
                </a:lnTo>
                <a:lnTo>
                  <a:pt x="4004513" y="139700"/>
                </a:lnTo>
                <a:lnTo>
                  <a:pt x="3997426" y="127000"/>
                </a:lnTo>
                <a:lnTo>
                  <a:pt x="4036542" y="127000"/>
                </a:lnTo>
                <a:lnTo>
                  <a:pt x="4043311" y="139700"/>
                </a:lnTo>
                <a:lnTo>
                  <a:pt x="4049890" y="152400"/>
                </a:lnTo>
                <a:close/>
              </a:path>
              <a:path w="4147184" h="2489200">
                <a:moveTo>
                  <a:pt x="110439" y="177800"/>
                </a:moveTo>
                <a:lnTo>
                  <a:pt x="78409" y="177800"/>
                </a:lnTo>
                <a:lnTo>
                  <a:pt x="84429" y="165100"/>
                </a:lnTo>
                <a:lnTo>
                  <a:pt x="90652" y="152400"/>
                </a:lnTo>
                <a:lnTo>
                  <a:pt x="122847" y="152400"/>
                </a:lnTo>
                <a:lnTo>
                  <a:pt x="116458" y="165100"/>
                </a:lnTo>
                <a:lnTo>
                  <a:pt x="116649" y="165100"/>
                </a:lnTo>
                <a:lnTo>
                  <a:pt x="110439" y="177800"/>
                </a:lnTo>
                <a:close/>
              </a:path>
              <a:path w="4147184" h="2489200">
                <a:moveTo>
                  <a:pt x="4068533" y="177800"/>
                </a:moveTo>
                <a:lnTo>
                  <a:pt x="4036326" y="177800"/>
                </a:lnTo>
                <a:lnTo>
                  <a:pt x="4030116" y="165100"/>
                </a:lnTo>
                <a:lnTo>
                  <a:pt x="4030306" y="165100"/>
                </a:lnTo>
                <a:lnTo>
                  <a:pt x="4023906" y="152400"/>
                </a:lnTo>
                <a:lnTo>
                  <a:pt x="4056113" y="152400"/>
                </a:lnTo>
                <a:lnTo>
                  <a:pt x="4062514" y="165100"/>
                </a:lnTo>
                <a:lnTo>
                  <a:pt x="4068533" y="177800"/>
                </a:lnTo>
                <a:close/>
              </a:path>
              <a:path w="4147184" h="2489200">
                <a:moveTo>
                  <a:pt x="88163" y="203200"/>
                </a:moveTo>
                <a:lnTo>
                  <a:pt x="61506" y="203200"/>
                </a:lnTo>
                <a:lnTo>
                  <a:pt x="66941" y="190500"/>
                </a:lnTo>
                <a:lnTo>
                  <a:pt x="72580" y="177800"/>
                </a:lnTo>
                <a:lnTo>
                  <a:pt x="104775" y="177800"/>
                </a:lnTo>
                <a:lnTo>
                  <a:pt x="98932" y="190500"/>
                </a:lnTo>
                <a:lnTo>
                  <a:pt x="93624" y="190500"/>
                </a:lnTo>
                <a:lnTo>
                  <a:pt x="88163" y="203200"/>
                </a:lnTo>
                <a:close/>
              </a:path>
              <a:path w="4147184" h="2489200">
                <a:moveTo>
                  <a:pt x="4085412" y="203200"/>
                </a:moveTo>
                <a:lnTo>
                  <a:pt x="4058602" y="203200"/>
                </a:lnTo>
                <a:lnTo>
                  <a:pt x="4053141" y="190500"/>
                </a:lnTo>
                <a:lnTo>
                  <a:pt x="4047832" y="190500"/>
                </a:lnTo>
                <a:lnTo>
                  <a:pt x="4041990" y="177800"/>
                </a:lnTo>
                <a:lnTo>
                  <a:pt x="4074350" y="177800"/>
                </a:lnTo>
                <a:lnTo>
                  <a:pt x="4079989" y="190500"/>
                </a:lnTo>
                <a:lnTo>
                  <a:pt x="4085412" y="203200"/>
                </a:lnTo>
                <a:close/>
              </a:path>
              <a:path w="4147184" h="2489200">
                <a:moveTo>
                  <a:pt x="73449" y="228553"/>
                </a:moveTo>
                <a:lnTo>
                  <a:pt x="46474" y="228553"/>
                </a:lnTo>
                <a:lnTo>
                  <a:pt x="51269" y="215900"/>
                </a:lnTo>
                <a:lnTo>
                  <a:pt x="56286" y="203200"/>
                </a:lnTo>
                <a:lnTo>
                  <a:pt x="88328" y="203200"/>
                </a:lnTo>
                <a:lnTo>
                  <a:pt x="83057" y="215900"/>
                </a:lnTo>
                <a:lnTo>
                  <a:pt x="78295" y="215900"/>
                </a:lnTo>
                <a:lnTo>
                  <a:pt x="73449" y="228553"/>
                </a:lnTo>
                <a:close/>
              </a:path>
              <a:path w="4147184" h="2489200">
                <a:moveTo>
                  <a:pt x="4100418" y="228553"/>
                </a:moveTo>
                <a:lnTo>
                  <a:pt x="4073303" y="228553"/>
                </a:lnTo>
                <a:lnTo>
                  <a:pt x="4068457" y="215900"/>
                </a:lnTo>
                <a:lnTo>
                  <a:pt x="4063707" y="215900"/>
                </a:lnTo>
                <a:lnTo>
                  <a:pt x="4058437" y="203200"/>
                </a:lnTo>
                <a:lnTo>
                  <a:pt x="4090631" y="203200"/>
                </a:lnTo>
                <a:lnTo>
                  <a:pt x="4095496" y="215900"/>
                </a:lnTo>
                <a:lnTo>
                  <a:pt x="4100418" y="228553"/>
                </a:lnTo>
                <a:close/>
              </a:path>
              <a:path w="4147184" h="2489200">
                <a:moveTo>
                  <a:pt x="4117340" y="266700"/>
                </a:moveTo>
                <a:lnTo>
                  <a:pt x="4090136" y="266700"/>
                </a:lnTo>
                <a:lnTo>
                  <a:pt x="4086250" y="254000"/>
                </a:lnTo>
                <a:lnTo>
                  <a:pt x="4082008" y="241300"/>
                </a:lnTo>
                <a:lnTo>
                  <a:pt x="4077830" y="241300"/>
                </a:lnTo>
                <a:lnTo>
                  <a:pt x="4070174" y="220382"/>
                </a:lnTo>
                <a:lnTo>
                  <a:pt x="4073303" y="228553"/>
                </a:lnTo>
                <a:lnTo>
                  <a:pt x="4104877" y="228553"/>
                </a:lnTo>
                <a:lnTo>
                  <a:pt x="4109262" y="241300"/>
                </a:lnTo>
                <a:lnTo>
                  <a:pt x="4113415" y="254000"/>
                </a:lnTo>
                <a:lnTo>
                  <a:pt x="4117340" y="266700"/>
                </a:lnTo>
                <a:close/>
              </a:path>
              <a:path w="4147184" h="2489200">
                <a:moveTo>
                  <a:pt x="56743" y="266700"/>
                </a:moveTo>
                <a:lnTo>
                  <a:pt x="29311" y="266700"/>
                </a:lnTo>
                <a:lnTo>
                  <a:pt x="33223" y="254000"/>
                </a:lnTo>
                <a:lnTo>
                  <a:pt x="37363" y="241300"/>
                </a:lnTo>
                <a:lnTo>
                  <a:pt x="41888" y="228553"/>
                </a:lnTo>
                <a:lnTo>
                  <a:pt x="73600" y="228553"/>
                </a:lnTo>
                <a:lnTo>
                  <a:pt x="68922" y="241300"/>
                </a:lnTo>
                <a:lnTo>
                  <a:pt x="64744" y="241300"/>
                </a:lnTo>
                <a:lnTo>
                  <a:pt x="60642" y="254000"/>
                </a:lnTo>
                <a:lnTo>
                  <a:pt x="56743" y="266700"/>
                </a:lnTo>
                <a:close/>
              </a:path>
              <a:path w="4147184" h="2489200">
                <a:moveTo>
                  <a:pt x="25793" y="2095500"/>
                </a:moveTo>
                <a:lnTo>
                  <a:pt x="431" y="2095500"/>
                </a:lnTo>
                <a:lnTo>
                  <a:pt x="12" y="2082800"/>
                </a:lnTo>
                <a:lnTo>
                  <a:pt x="0" y="406400"/>
                </a:lnTo>
                <a:lnTo>
                  <a:pt x="419" y="393700"/>
                </a:lnTo>
                <a:lnTo>
                  <a:pt x="1092" y="381000"/>
                </a:lnTo>
                <a:lnTo>
                  <a:pt x="2044" y="381000"/>
                </a:lnTo>
                <a:lnTo>
                  <a:pt x="3263" y="368300"/>
                </a:lnTo>
                <a:lnTo>
                  <a:pt x="4737" y="355600"/>
                </a:lnTo>
                <a:lnTo>
                  <a:pt x="6476" y="342900"/>
                </a:lnTo>
                <a:lnTo>
                  <a:pt x="8470" y="330200"/>
                </a:lnTo>
                <a:lnTo>
                  <a:pt x="10718" y="317500"/>
                </a:lnTo>
                <a:lnTo>
                  <a:pt x="13220" y="317500"/>
                </a:lnTo>
                <a:lnTo>
                  <a:pt x="15951" y="304800"/>
                </a:lnTo>
                <a:lnTo>
                  <a:pt x="18935" y="292100"/>
                </a:lnTo>
                <a:lnTo>
                  <a:pt x="22161" y="279400"/>
                </a:lnTo>
                <a:lnTo>
                  <a:pt x="25615" y="266700"/>
                </a:lnTo>
                <a:lnTo>
                  <a:pt x="53047" y="266700"/>
                </a:lnTo>
                <a:lnTo>
                  <a:pt x="49580" y="279400"/>
                </a:lnTo>
                <a:lnTo>
                  <a:pt x="46316" y="292100"/>
                </a:lnTo>
                <a:lnTo>
                  <a:pt x="43281" y="304800"/>
                </a:lnTo>
                <a:lnTo>
                  <a:pt x="40474" y="304800"/>
                </a:lnTo>
                <a:lnTo>
                  <a:pt x="37896" y="317500"/>
                </a:lnTo>
                <a:lnTo>
                  <a:pt x="35534" y="330200"/>
                </a:lnTo>
                <a:lnTo>
                  <a:pt x="33426" y="342900"/>
                </a:lnTo>
                <a:lnTo>
                  <a:pt x="31534" y="342900"/>
                </a:lnTo>
                <a:lnTo>
                  <a:pt x="29895" y="355600"/>
                </a:lnTo>
                <a:lnTo>
                  <a:pt x="28498" y="368300"/>
                </a:lnTo>
                <a:lnTo>
                  <a:pt x="27343" y="381000"/>
                </a:lnTo>
                <a:lnTo>
                  <a:pt x="26441" y="393700"/>
                </a:lnTo>
                <a:lnTo>
                  <a:pt x="25793" y="393700"/>
                </a:lnTo>
                <a:lnTo>
                  <a:pt x="25400" y="406400"/>
                </a:lnTo>
                <a:lnTo>
                  <a:pt x="25400" y="2082800"/>
                </a:lnTo>
                <a:lnTo>
                  <a:pt x="25793" y="2095500"/>
                </a:lnTo>
                <a:close/>
              </a:path>
              <a:path w="4147184" h="2489200">
                <a:moveTo>
                  <a:pt x="4146346" y="2095500"/>
                </a:moveTo>
                <a:lnTo>
                  <a:pt x="4120959" y="2095500"/>
                </a:lnTo>
                <a:lnTo>
                  <a:pt x="4121353" y="2082800"/>
                </a:lnTo>
                <a:lnTo>
                  <a:pt x="4121365" y="406400"/>
                </a:lnTo>
                <a:lnTo>
                  <a:pt x="4120984" y="393700"/>
                </a:lnTo>
                <a:lnTo>
                  <a:pt x="4120337" y="393700"/>
                </a:lnTo>
                <a:lnTo>
                  <a:pt x="4119448" y="381000"/>
                </a:lnTo>
                <a:lnTo>
                  <a:pt x="4118305" y="368300"/>
                </a:lnTo>
                <a:lnTo>
                  <a:pt x="4116908" y="355600"/>
                </a:lnTo>
                <a:lnTo>
                  <a:pt x="4115269" y="342900"/>
                </a:lnTo>
                <a:lnTo>
                  <a:pt x="4113403" y="342900"/>
                </a:lnTo>
                <a:lnTo>
                  <a:pt x="4111294" y="330200"/>
                </a:lnTo>
                <a:lnTo>
                  <a:pt x="4108945" y="317500"/>
                </a:lnTo>
                <a:lnTo>
                  <a:pt x="4106367" y="304800"/>
                </a:lnTo>
                <a:lnTo>
                  <a:pt x="4103573" y="304800"/>
                </a:lnTo>
                <a:lnTo>
                  <a:pt x="4100537" y="292100"/>
                </a:lnTo>
                <a:lnTo>
                  <a:pt x="4097286" y="279400"/>
                </a:lnTo>
                <a:lnTo>
                  <a:pt x="4093819" y="266700"/>
                </a:lnTo>
                <a:lnTo>
                  <a:pt x="4121035" y="266700"/>
                </a:lnTo>
                <a:lnTo>
                  <a:pt x="4124502" y="279400"/>
                </a:lnTo>
                <a:lnTo>
                  <a:pt x="4127728" y="292100"/>
                </a:lnTo>
                <a:lnTo>
                  <a:pt x="4130713" y="304800"/>
                </a:lnTo>
                <a:lnTo>
                  <a:pt x="4133469" y="317500"/>
                </a:lnTo>
                <a:lnTo>
                  <a:pt x="4135970" y="317500"/>
                </a:lnTo>
                <a:lnTo>
                  <a:pt x="4141965" y="355600"/>
                </a:lnTo>
                <a:lnTo>
                  <a:pt x="4144683" y="381000"/>
                </a:lnTo>
                <a:lnTo>
                  <a:pt x="4145635" y="381000"/>
                </a:lnTo>
                <a:lnTo>
                  <a:pt x="4146334" y="393700"/>
                </a:lnTo>
                <a:lnTo>
                  <a:pt x="4146753" y="406400"/>
                </a:lnTo>
                <a:lnTo>
                  <a:pt x="4146892" y="419100"/>
                </a:lnTo>
                <a:lnTo>
                  <a:pt x="4146892" y="2070100"/>
                </a:lnTo>
                <a:lnTo>
                  <a:pt x="4146753" y="2082800"/>
                </a:lnTo>
                <a:lnTo>
                  <a:pt x="4146346" y="2095500"/>
                </a:lnTo>
                <a:close/>
              </a:path>
              <a:path w="4147184" h="2489200">
                <a:moveTo>
                  <a:pt x="49466" y="2209800"/>
                </a:moveTo>
                <a:lnTo>
                  <a:pt x="22263" y="2209800"/>
                </a:lnTo>
                <a:lnTo>
                  <a:pt x="18935" y="2197100"/>
                </a:lnTo>
                <a:lnTo>
                  <a:pt x="16040" y="2184400"/>
                </a:lnTo>
                <a:lnTo>
                  <a:pt x="13296" y="2171700"/>
                </a:lnTo>
                <a:lnTo>
                  <a:pt x="10795" y="2159000"/>
                </a:lnTo>
                <a:lnTo>
                  <a:pt x="8534" y="2159000"/>
                </a:lnTo>
                <a:lnTo>
                  <a:pt x="3301" y="2120900"/>
                </a:lnTo>
                <a:lnTo>
                  <a:pt x="1117" y="2095500"/>
                </a:lnTo>
                <a:lnTo>
                  <a:pt x="25793" y="2095500"/>
                </a:lnTo>
                <a:lnTo>
                  <a:pt x="25780" y="2082800"/>
                </a:lnTo>
                <a:lnTo>
                  <a:pt x="26416" y="2095500"/>
                </a:lnTo>
                <a:lnTo>
                  <a:pt x="27317" y="2108200"/>
                </a:lnTo>
                <a:lnTo>
                  <a:pt x="28460" y="2120900"/>
                </a:lnTo>
                <a:lnTo>
                  <a:pt x="29845" y="2133600"/>
                </a:lnTo>
                <a:lnTo>
                  <a:pt x="31483" y="2133600"/>
                </a:lnTo>
                <a:lnTo>
                  <a:pt x="33362" y="2146300"/>
                </a:lnTo>
                <a:lnTo>
                  <a:pt x="35471" y="2159000"/>
                </a:lnTo>
                <a:lnTo>
                  <a:pt x="37807" y="2171700"/>
                </a:lnTo>
                <a:lnTo>
                  <a:pt x="40474" y="2184400"/>
                </a:lnTo>
                <a:lnTo>
                  <a:pt x="43192" y="2184400"/>
                </a:lnTo>
                <a:lnTo>
                  <a:pt x="46215" y="2197100"/>
                </a:lnTo>
                <a:lnTo>
                  <a:pt x="49466" y="2209800"/>
                </a:lnTo>
                <a:close/>
              </a:path>
              <a:path w="4147184" h="2489200">
                <a:moveTo>
                  <a:pt x="4130802" y="2184400"/>
                </a:moveTo>
                <a:lnTo>
                  <a:pt x="4106291" y="2184400"/>
                </a:lnTo>
                <a:lnTo>
                  <a:pt x="4108869" y="2171700"/>
                </a:lnTo>
                <a:lnTo>
                  <a:pt x="4111218" y="2159000"/>
                </a:lnTo>
                <a:lnTo>
                  <a:pt x="4113339" y="2146300"/>
                </a:lnTo>
                <a:lnTo>
                  <a:pt x="4115219" y="2133600"/>
                </a:lnTo>
                <a:lnTo>
                  <a:pt x="4116857" y="2133600"/>
                </a:lnTo>
                <a:lnTo>
                  <a:pt x="4118254" y="2120900"/>
                </a:lnTo>
                <a:lnTo>
                  <a:pt x="4119410" y="2108200"/>
                </a:lnTo>
                <a:lnTo>
                  <a:pt x="4120311" y="2095500"/>
                </a:lnTo>
                <a:lnTo>
                  <a:pt x="4120984" y="2082800"/>
                </a:lnTo>
                <a:lnTo>
                  <a:pt x="4120959" y="2095500"/>
                </a:lnTo>
                <a:lnTo>
                  <a:pt x="4145660" y="2095500"/>
                </a:lnTo>
                <a:lnTo>
                  <a:pt x="4144708" y="2108200"/>
                </a:lnTo>
                <a:lnTo>
                  <a:pt x="4143502" y="2120900"/>
                </a:lnTo>
                <a:lnTo>
                  <a:pt x="4142016" y="2133600"/>
                </a:lnTo>
                <a:lnTo>
                  <a:pt x="4140276" y="2146300"/>
                </a:lnTo>
                <a:lnTo>
                  <a:pt x="4138282" y="2159000"/>
                </a:lnTo>
                <a:lnTo>
                  <a:pt x="4136034" y="2159000"/>
                </a:lnTo>
                <a:lnTo>
                  <a:pt x="4133545" y="2171700"/>
                </a:lnTo>
                <a:lnTo>
                  <a:pt x="4130802" y="2184400"/>
                </a:lnTo>
                <a:close/>
              </a:path>
              <a:path w="4147184" h="2489200">
                <a:moveTo>
                  <a:pt x="43192" y="2184400"/>
                </a:moveTo>
                <a:lnTo>
                  <a:pt x="40474" y="2184400"/>
                </a:lnTo>
                <a:lnTo>
                  <a:pt x="40385" y="2171700"/>
                </a:lnTo>
                <a:lnTo>
                  <a:pt x="43192" y="2184400"/>
                </a:lnTo>
                <a:close/>
              </a:path>
              <a:path w="4147184" h="2489200">
                <a:moveTo>
                  <a:pt x="4124604" y="2209800"/>
                </a:moveTo>
                <a:lnTo>
                  <a:pt x="4097185" y="2209800"/>
                </a:lnTo>
                <a:lnTo>
                  <a:pt x="4100436" y="2197100"/>
                </a:lnTo>
                <a:lnTo>
                  <a:pt x="4103471" y="2184400"/>
                </a:lnTo>
                <a:lnTo>
                  <a:pt x="4106367" y="2171700"/>
                </a:lnTo>
                <a:lnTo>
                  <a:pt x="4106291" y="2184400"/>
                </a:lnTo>
                <a:lnTo>
                  <a:pt x="4130802" y="2184400"/>
                </a:lnTo>
                <a:lnTo>
                  <a:pt x="4127817" y="2197100"/>
                </a:lnTo>
                <a:lnTo>
                  <a:pt x="4124604" y="2209800"/>
                </a:lnTo>
                <a:close/>
              </a:path>
              <a:path w="4147184" h="2489200">
                <a:moveTo>
                  <a:pt x="64617" y="2247900"/>
                </a:moveTo>
                <a:lnTo>
                  <a:pt x="37363" y="2247900"/>
                </a:lnTo>
                <a:lnTo>
                  <a:pt x="33350" y="2235200"/>
                </a:lnTo>
                <a:lnTo>
                  <a:pt x="29425" y="2222500"/>
                </a:lnTo>
                <a:lnTo>
                  <a:pt x="25730" y="2209800"/>
                </a:lnTo>
                <a:lnTo>
                  <a:pt x="52933" y="2209800"/>
                </a:lnTo>
                <a:lnTo>
                  <a:pt x="56616" y="2222500"/>
                </a:lnTo>
                <a:lnTo>
                  <a:pt x="60515" y="2235200"/>
                </a:lnTo>
                <a:lnTo>
                  <a:pt x="64617" y="2247900"/>
                </a:lnTo>
                <a:close/>
              </a:path>
              <a:path w="4147184" h="2489200">
                <a:moveTo>
                  <a:pt x="4109389" y="2247900"/>
                </a:moveTo>
                <a:lnTo>
                  <a:pt x="4082008" y="2247900"/>
                </a:lnTo>
                <a:lnTo>
                  <a:pt x="4086123" y="2235200"/>
                </a:lnTo>
                <a:lnTo>
                  <a:pt x="4090022" y="2222500"/>
                </a:lnTo>
                <a:lnTo>
                  <a:pt x="4093705" y="2209800"/>
                </a:lnTo>
                <a:lnTo>
                  <a:pt x="4121137" y="2209800"/>
                </a:lnTo>
                <a:lnTo>
                  <a:pt x="4117454" y="2222500"/>
                </a:lnTo>
                <a:lnTo>
                  <a:pt x="4113529" y="2235200"/>
                </a:lnTo>
                <a:lnTo>
                  <a:pt x="4109389" y="2247900"/>
                </a:lnTo>
                <a:close/>
              </a:path>
              <a:path w="4147184" h="2489200">
                <a:moveTo>
                  <a:pt x="88328" y="2286000"/>
                </a:moveTo>
                <a:lnTo>
                  <a:pt x="56133" y="2286000"/>
                </a:lnTo>
                <a:lnTo>
                  <a:pt x="51117" y="2273300"/>
                </a:lnTo>
                <a:lnTo>
                  <a:pt x="46300" y="2260554"/>
                </a:lnTo>
                <a:lnTo>
                  <a:pt x="41732" y="2247900"/>
                </a:lnTo>
                <a:lnTo>
                  <a:pt x="68922" y="2247900"/>
                </a:lnTo>
                <a:lnTo>
                  <a:pt x="73567" y="2260554"/>
                </a:lnTo>
                <a:lnTo>
                  <a:pt x="73414" y="2260554"/>
                </a:lnTo>
                <a:lnTo>
                  <a:pt x="78295" y="2273300"/>
                </a:lnTo>
                <a:lnTo>
                  <a:pt x="83057" y="2273300"/>
                </a:lnTo>
                <a:lnTo>
                  <a:pt x="88328" y="2286000"/>
                </a:lnTo>
                <a:close/>
              </a:path>
              <a:path w="4147184" h="2489200">
                <a:moveTo>
                  <a:pt x="4090479" y="2286000"/>
                </a:moveTo>
                <a:lnTo>
                  <a:pt x="4058437" y="2286000"/>
                </a:lnTo>
                <a:lnTo>
                  <a:pt x="4063707" y="2273300"/>
                </a:lnTo>
                <a:lnTo>
                  <a:pt x="4068457" y="2273300"/>
                </a:lnTo>
                <a:lnTo>
                  <a:pt x="4070174" y="2268817"/>
                </a:lnTo>
                <a:lnTo>
                  <a:pt x="4077830" y="2247900"/>
                </a:lnTo>
                <a:lnTo>
                  <a:pt x="4105021" y="2247900"/>
                </a:lnTo>
                <a:lnTo>
                  <a:pt x="4100313" y="2260554"/>
                </a:lnTo>
                <a:lnTo>
                  <a:pt x="4095496" y="2273300"/>
                </a:lnTo>
                <a:lnTo>
                  <a:pt x="4090479" y="2286000"/>
                </a:lnTo>
                <a:close/>
              </a:path>
              <a:path w="4147184" h="2489200">
                <a:moveTo>
                  <a:pt x="104775" y="2311400"/>
                </a:moveTo>
                <a:lnTo>
                  <a:pt x="72402" y="2311400"/>
                </a:lnTo>
                <a:lnTo>
                  <a:pt x="66776" y="2298700"/>
                </a:lnTo>
                <a:lnTo>
                  <a:pt x="61353" y="2286000"/>
                </a:lnTo>
                <a:lnTo>
                  <a:pt x="93446" y="2286000"/>
                </a:lnTo>
                <a:lnTo>
                  <a:pt x="99110" y="2298700"/>
                </a:lnTo>
                <a:lnTo>
                  <a:pt x="98932" y="2298700"/>
                </a:lnTo>
                <a:lnTo>
                  <a:pt x="104775" y="2311400"/>
                </a:lnTo>
                <a:close/>
              </a:path>
              <a:path w="4147184" h="2489200">
                <a:moveTo>
                  <a:pt x="4074185" y="2311400"/>
                </a:moveTo>
                <a:lnTo>
                  <a:pt x="4041990" y="2311400"/>
                </a:lnTo>
                <a:lnTo>
                  <a:pt x="4047832" y="2298700"/>
                </a:lnTo>
                <a:lnTo>
                  <a:pt x="4047655" y="2298700"/>
                </a:lnTo>
                <a:lnTo>
                  <a:pt x="4053306" y="2286000"/>
                </a:lnTo>
                <a:lnTo>
                  <a:pt x="4085247" y="2286000"/>
                </a:lnTo>
                <a:lnTo>
                  <a:pt x="4079824" y="2298700"/>
                </a:lnTo>
                <a:lnTo>
                  <a:pt x="4074185" y="2311400"/>
                </a:lnTo>
                <a:close/>
              </a:path>
              <a:path w="4147184" h="2489200">
                <a:moveTo>
                  <a:pt x="129222" y="2336800"/>
                </a:moveTo>
                <a:lnTo>
                  <a:pt x="90462" y="2336800"/>
                </a:lnTo>
                <a:lnTo>
                  <a:pt x="84251" y="2324100"/>
                </a:lnTo>
                <a:lnTo>
                  <a:pt x="78231" y="2311400"/>
                </a:lnTo>
                <a:lnTo>
                  <a:pt x="110439" y="2311400"/>
                </a:lnTo>
                <a:lnTo>
                  <a:pt x="116649" y="2324100"/>
                </a:lnTo>
                <a:lnTo>
                  <a:pt x="122656" y="2324100"/>
                </a:lnTo>
                <a:lnTo>
                  <a:pt x="129222" y="2336800"/>
                </a:lnTo>
                <a:close/>
              </a:path>
              <a:path w="4147184" h="2489200">
                <a:moveTo>
                  <a:pt x="4056113" y="2336800"/>
                </a:moveTo>
                <a:lnTo>
                  <a:pt x="4017543" y="2336800"/>
                </a:lnTo>
                <a:lnTo>
                  <a:pt x="4024109" y="2324100"/>
                </a:lnTo>
                <a:lnTo>
                  <a:pt x="4030116" y="2324100"/>
                </a:lnTo>
                <a:lnTo>
                  <a:pt x="4036326" y="2311400"/>
                </a:lnTo>
                <a:lnTo>
                  <a:pt x="4068356" y="2311400"/>
                </a:lnTo>
                <a:lnTo>
                  <a:pt x="4062323" y="2324100"/>
                </a:lnTo>
                <a:lnTo>
                  <a:pt x="4056113" y="2336800"/>
                </a:lnTo>
                <a:close/>
              </a:path>
              <a:path w="4147184" h="2489200">
                <a:moveTo>
                  <a:pt x="135763" y="2349500"/>
                </a:moveTo>
                <a:lnTo>
                  <a:pt x="103454" y="2349500"/>
                </a:lnTo>
                <a:lnTo>
                  <a:pt x="96862" y="2336800"/>
                </a:lnTo>
                <a:lnTo>
                  <a:pt x="129019" y="2336800"/>
                </a:lnTo>
                <a:lnTo>
                  <a:pt x="135763" y="2349500"/>
                </a:lnTo>
                <a:close/>
              </a:path>
              <a:path w="4147184" h="2489200">
                <a:moveTo>
                  <a:pt x="4043108" y="2349500"/>
                </a:moveTo>
                <a:lnTo>
                  <a:pt x="4011002" y="2349500"/>
                </a:lnTo>
                <a:lnTo>
                  <a:pt x="4017746" y="2336800"/>
                </a:lnTo>
                <a:lnTo>
                  <a:pt x="4049699" y="2336800"/>
                </a:lnTo>
                <a:lnTo>
                  <a:pt x="4043108" y="2349500"/>
                </a:lnTo>
                <a:close/>
              </a:path>
              <a:path w="4147184" h="2489200">
                <a:moveTo>
                  <a:pt x="163537" y="2374900"/>
                </a:moveTo>
                <a:lnTo>
                  <a:pt x="124294" y="2374900"/>
                </a:lnTo>
                <a:lnTo>
                  <a:pt x="117170" y="2362200"/>
                </a:lnTo>
                <a:lnTo>
                  <a:pt x="110223" y="2349500"/>
                </a:lnTo>
                <a:lnTo>
                  <a:pt x="142252" y="2349500"/>
                </a:lnTo>
                <a:lnTo>
                  <a:pt x="149326" y="2362200"/>
                </a:lnTo>
                <a:lnTo>
                  <a:pt x="156133" y="2362200"/>
                </a:lnTo>
                <a:lnTo>
                  <a:pt x="163537" y="2374900"/>
                </a:lnTo>
                <a:close/>
              </a:path>
              <a:path w="4147184" h="2489200">
                <a:moveTo>
                  <a:pt x="4022255" y="2374900"/>
                </a:moveTo>
                <a:lnTo>
                  <a:pt x="3983228" y="2374900"/>
                </a:lnTo>
                <a:lnTo>
                  <a:pt x="3990632" y="2362200"/>
                </a:lnTo>
                <a:lnTo>
                  <a:pt x="3997426" y="2362200"/>
                </a:lnTo>
                <a:lnTo>
                  <a:pt x="4004513" y="2349500"/>
                </a:lnTo>
                <a:lnTo>
                  <a:pt x="4036339" y="2349500"/>
                </a:lnTo>
                <a:lnTo>
                  <a:pt x="4029379" y="2362200"/>
                </a:lnTo>
                <a:lnTo>
                  <a:pt x="4022255" y="2374900"/>
                </a:lnTo>
                <a:close/>
              </a:path>
              <a:path w="4147184" h="2489200">
                <a:moveTo>
                  <a:pt x="178346" y="2387600"/>
                </a:moveTo>
                <a:lnTo>
                  <a:pt x="139052" y="2387600"/>
                </a:lnTo>
                <a:lnTo>
                  <a:pt x="131584" y="2374900"/>
                </a:lnTo>
                <a:lnTo>
                  <a:pt x="170637" y="2374900"/>
                </a:lnTo>
                <a:lnTo>
                  <a:pt x="178346" y="2387600"/>
                </a:lnTo>
                <a:close/>
              </a:path>
              <a:path w="4147184" h="2489200">
                <a:moveTo>
                  <a:pt x="4007484" y="2387600"/>
                </a:moveTo>
                <a:lnTo>
                  <a:pt x="3968407" y="2387600"/>
                </a:lnTo>
                <a:lnTo>
                  <a:pt x="3976128" y="2374900"/>
                </a:lnTo>
                <a:lnTo>
                  <a:pt x="4014952" y="2374900"/>
                </a:lnTo>
                <a:lnTo>
                  <a:pt x="4007484" y="2387600"/>
                </a:lnTo>
                <a:close/>
              </a:path>
              <a:path w="4147184" h="2489200">
                <a:moveTo>
                  <a:pt x="193751" y="2400300"/>
                </a:moveTo>
                <a:lnTo>
                  <a:pt x="154470" y="2400300"/>
                </a:lnTo>
                <a:lnTo>
                  <a:pt x="146684" y="2387600"/>
                </a:lnTo>
                <a:lnTo>
                  <a:pt x="185737" y="2387600"/>
                </a:lnTo>
                <a:lnTo>
                  <a:pt x="193751" y="2400300"/>
                </a:lnTo>
                <a:close/>
              </a:path>
              <a:path w="4147184" h="2489200">
                <a:moveTo>
                  <a:pt x="3992054" y="2400300"/>
                </a:moveTo>
                <a:lnTo>
                  <a:pt x="3953014" y="2400300"/>
                </a:lnTo>
                <a:lnTo>
                  <a:pt x="3961028" y="2387600"/>
                </a:lnTo>
                <a:lnTo>
                  <a:pt x="3999852" y="2387600"/>
                </a:lnTo>
                <a:lnTo>
                  <a:pt x="3992054" y="2400300"/>
                </a:lnTo>
                <a:close/>
              </a:path>
              <a:path w="4147184" h="2489200">
                <a:moveTo>
                  <a:pt x="217881" y="2413000"/>
                </a:moveTo>
                <a:lnTo>
                  <a:pt x="170522" y="2413000"/>
                </a:lnTo>
                <a:lnTo>
                  <a:pt x="162420" y="2400300"/>
                </a:lnTo>
                <a:lnTo>
                  <a:pt x="209448" y="2400300"/>
                </a:lnTo>
                <a:lnTo>
                  <a:pt x="217881" y="2413000"/>
                </a:lnTo>
                <a:close/>
              </a:path>
              <a:path w="4147184" h="2489200">
                <a:moveTo>
                  <a:pt x="3975989" y="2413000"/>
                </a:moveTo>
                <a:lnTo>
                  <a:pt x="3928872" y="2413000"/>
                </a:lnTo>
                <a:lnTo>
                  <a:pt x="3937317" y="2400300"/>
                </a:lnTo>
                <a:lnTo>
                  <a:pt x="3984104" y="2400300"/>
                </a:lnTo>
                <a:lnTo>
                  <a:pt x="3975989" y="2413000"/>
                </a:lnTo>
                <a:close/>
              </a:path>
              <a:path w="4147184" h="2489200">
                <a:moveTo>
                  <a:pt x="234632" y="2425700"/>
                </a:moveTo>
                <a:lnTo>
                  <a:pt x="187185" y="2425700"/>
                </a:lnTo>
                <a:lnTo>
                  <a:pt x="178777" y="2413000"/>
                </a:lnTo>
                <a:lnTo>
                  <a:pt x="225932" y="2413000"/>
                </a:lnTo>
                <a:lnTo>
                  <a:pt x="234632" y="2425700"/>
                </a:lnTo>
                <a:close/>
              </a:path>
              <a:path w="4147184" h="2489200">
                <a:moveTo>
                  <a:pt x="3959313" y="2425700"/>
                </a:moveTo>
                <a:lnTo>
                  <a:pt x="3912133" y="2425700"/>
                </a:lnTo>
                <a:lnTo>
                  <a:pt x="3920832" y="2413000"/>
                </a:lnTo>
                <a:lnTo>
                  <a:pt x="3967733" y="2413000"/>
                </a:lnTo>
                <a:lnTo>
                  <a:pt x="3959313" y="2425700"/>
                </a:lnTo>
                <a:close/>
              </a:path>
              <a:path w="4147184" h="2489200">
                <a:moveTo>
                  <a:pt x="260667" y="2438400"/>
                </a:moveTo>
                <a:lnTo>
                  <a:pt x="204431" y="2438400"/>
                </a:lnTo>
                <a:lnTo>
                  <a:pt x="195745" y="2425700"/>
                </a:lnTo>
                <a:lnTo>
                  <a:pt x="251587" y="2425700"/>
                </a:lnTo>
                <a:lnTo>
                  <a:pt x="260667" y="2438400"/>
                </a:lnTo>
                <a:close/>
              </a:path>
              <a:path w="4147184" h="2489200">
                <a:moveTo>
                  <a:pt x="3942067" y="2438400"/>
                </a:moveTo>
                <a:lnTo>
                  <a:pt x="3886098" y="2438400"/>
                </a:lnTo>
                <a:lnTo>
                  <a:pt x="3895166" y="2425700"/>
                </a:lnTo>
                <a:lnTo>
                  <a:pt x="3950766" y="2425700"/>
                </a:lnTo>
                <a:lnTo>
                  <a:pt x="3942067" y="2438400"/>
                </a:lnTo>
                <a:close/>
              </a:path>
              <a:path w="4147184" h="2489200">
                <a:moveTo>
                  <a:pt x="296964" y="2451100"/>
                </a:moveTo>
                <a:lnTo>
                  <a:pt x="231330" y="2451100"/>
                </a:lnTo>
                <a:lnTo>
                  <a:pt x="222237" y="2438400"/>
                </a:lnTo>
                <a:lnTo>
                  <a:pt x="287439" y="2438400"/>
                </a:lnTo>
                <a:lnTo>
                  <a:pt x="296964" y="2451100"/>
                </a:lnTo>
                <a:close/>
              </a:path>
              <a:path w="4147184" h="2489200">
                <a:moveTo>
                  <a:pt x="3915143" y="2451100"/>
                </a:moveTo>
                <a:lnTo>
                  <a:pt x="3849789" y="2451100"/>
                </a:lnTo>
                <a:lnTo>
                  <a:pt x="3859326" y="2438400"/>
                </a:lnTo>
                <a:lnTo>
                  <a:pt x="3924528" y="2438400"/>
                </a:lnTo>
                <a:lnTo>
                  <a:pt x="3915143" y="2451100"/>
                </a:lnTo>
                <a:close/>
              </a:path>
              <a:path w="4147184" h="2489200">
                <a:moveTo>
                  <a:pt x="334899" y="2463800"/>
                </a:moveTo>
                <a:lnTo>
                  <a:pt x="259689" y="2463800"/>
                </a:lnTo>
                <a:lnTo>
                  <a:pt x="250202" y="2451100"/>
                </a:lnTo>
                <a:lnTo>
                  <a:pt x="324967" y="2451100"/>
                </a:lnTo>
                <a:lnTo>
                  <a:pt x="334899" y="2463800"/>
                </a:lnTo>
                <a:close/>
              </a:path>
              <a:path w="4147184" h="2489200">
                <a:moveTo>
                  <a:pt x="3887355" y="2463800"/>
                </a:moveTo>
                <a:lnTo>
                  <a:pt x="3811854" y="2463800"/>
                </a:lnTo>
                <a:lnTo>
                  <a:pt x="3821785" y="2451100"/>
                </a:lnTo>
                <a:lnTo>
                  <a:pt x="3896842" y="2451100"/>
                </a:lnTo>
                <a:lnTo>
                  <a:pt x="3887355" y="2463800"/>
                </a:lnTo>
                <a:close/>
              </a:path>
              <a:path w="4147184" h="2489200">
                <a:moveTo>
                  <a:pt x="3858234" y="2476500"/>
                </a:moveTo>
                <a:lnTo>
                  <a:pt x="288823" y="2476500"/>
                </a:lnTo>
                <a:lnTo>
                  <a:pt x="279006" y="2463800"/>
                </a:lnTo>
                <a:lnTo>
                  <a:pt x="3868051" y="2463800"/>
                </a:lnTo>
                <a:lnTo>
                  <a:pt x="3858234" y="2476500"/>
                </a:lnTo>
                <a:close/>
              </a:path>
              <a:path w="4147184" h="2489200">
                <a:moveTo>
                  <a:pt x="3817886" y="2489200"/>
                </a:moveTo>
                <a:lnTo>
                  <a:pt x="329183" y="2489200"/>
                </a:lnTo>
                <a:lnTo>
                  <a:pt x="318947" y="2476500"/>
                </a:lnTo>
                <a:lnTo>
                  <a:pt x="3827818" y="2476500"/>
                </a:lnTo>
                <a:lnTo>
                  <a:pt x="3817886" y="2489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82942" y="330784"/>
            <a:ext cx="41402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梯度下降的三种形式</a:t>
            </a:r>
            <a:endParaRPr spc="-10" dirty="0"/>
          </a:p>
        </p:txBody>
      </p:sp>
      <p:sp>
        <p:nvSpPr>
          <p:cNvPr id="5" name="object 5"/>
          <p:cNvSpPr txBox="1"/>
          <p:nvPr/>
        </p:nvSpPr>
        <p:spPr>
          <a:xfrm>
            <a:off x="1006475" y="1122400"/>
            <a:ext cx="7197090" cy="1848485"/>
          </a:xfrm>
          <a:prstGeom prst="rect">
            <a:avLst/>
          </a:prstGeom>
        </p:spPr>
        <p:txBody>
          <a:bodyPr vert="horz" wrap="square" lIns="0" tIns="1924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15"/>
              </a:spcBef>
            </a:pPr>
            <a:r>
              <a:rPr sz="2400" b="1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小批量梯度下降</a:t>
            </a:r>
            <a:r>
              <a:rPr sz="2400" b="1" spc="-1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（Mini-</a:t>
            </a:r>
            <a:r>
              <a:rPr sz="2400" b="1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Batch</a:t>
            </a:r>
            <a:r>
              <a:rPr sz="2400" b="1" spc="-8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b="1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Gradient</a:t>
            </a:r>
            <a:r>
              <a:rPr sz="2400" b="1" spc="-75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Descent）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  <a:p>
            <a:pPr marL="12700">
              <a:lnSpc>
                <a:spcPct val="100000"/>
              </a:lnSpc>
              <a:spcBef>
                <a:spcPts val="1415"/>
              </a:spcBef>
            </a:pP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梯度下降的每一步中，用到了</a:t>
            </a:r>
            <a:r>
              <a:rPr sz="240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一定批量</a:t>
            </a:r>
            <a:r>
              <a:rPr sz="2400" spc="-10" dirty="0">
                <a:latin typeface="微软雅黑" panose="020B0503020204020204" charset="-122"/>
                <a:cs typeface="微软雅黑" panose="020B0503020204020204" charset="-122"/>
              </a:rPr>
              <a:t>的训练样本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  <a:p>
            <a:pPr marL="12700">
              <a:lnSpc>
                <a:spcPct val="100000"/>
              </a:lnSpc>
              <a:spcBef>
                <a:spcPts val="2880"/>
              </a:spcBef>
            </a:pP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每计算常数</a:t>
            </a:r>
            <a:r>
              <a:rPr sz="2400" spc="-2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𝑏</a:t>
            </a:r>
            <a:r>
              <a:rPr sz="2400" spc="-5" dirty="0">
                <a:latin typeface="微软雅黑" panose="020B0503020204020204" charset="-122"/>
                <a:cs typeface="微软雅黑" panose="020B0503020204020204" charset="-122"/>
              </a:rPr>
              <a:t>次训练实例，便更新一次参数 </a:t>
            </a:r>
            <a:r>
              <a:rPr sz="2400" spc="-50" dirty="0">
                <a:latin typeface="Cambria Math" panose="02040503050406030204"/>
                <a:cs typeface="Cambria Math" panose="02040503050406030204"/>
              </a:rPr>
              <a:t>𝑤</a:t>
            </a:r>
            <a:endParaRPr sz="24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026286" y="3299193"/>
            <a:ext cx="3823335" cy="1854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mbria Math" panose="02040503050406030204"/>
                <a:cs typeface="Cambria Math" panose="02040503050406030204"/>
              </a:rPr>
              <a:t>𝑏</a:t>
            </a:r>
            <a:r>
              <a:rPr sz="2400" spc="-10" dirty="0">
                <a:latin typeface="Arial MT"/>
                <a:cs typeface="Arial MT"/>
              </a:rPr>
              <a:t>=1</a:t>
            </a:r>
            <a:r>
              <a:rPr sz="2400" spc="-10" dirty="0">
                <a:latin typeface="微软雅黑" panose="020B0503020204020204" charset="-122"/>
                <a:cs typeface="微软雅黑" panose="020B0503020204020204" charset="-122"/>
              </a:rPr>
              <a:t>（</a:t>
            </a: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随机梯度下降</a:t>
            </a:r>
            <a:r>
              <a:rPr sz="2400" spc="-10" dirty="0">
                <a:latin typeface="Arial MT"/>
                <a:cs typeface="Arial MT"/>
              </a:rPr>
              <a:t>,SGD</a:t>
            </a:r>
            <a:r>
              <a:rPr sz="2400" spc="-10" dirty="0">
                <a:latin typeface="微软雅黑" panose="020B0503020204020204" charset="-122"/>
                <a:cs typeface="微软雅黑" panose="020B0503020204020204" charset="-122"/>
              </a:rPr>
              <a:t>）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  <a:p>
            <a:pPr marL="12700">
              <a:lnSpc>
                <a:spcPct val="100000"/>
              </a:lnSpc>
            </a:pPr>
            <a:r>
              <a:rPr sz="2400" spc="-10" dirty="0">
                <a:latin typeface="Cambria Math" panose="02040503050406030204"/>
                <a:cs typeface="Cambria Math" panose="02040503050406030204"/>
              </a:rPr>
              <a:t>𝑏</a:t>
            </a:r>
            <a:r>
              <a:rPr sz="2400" spc="-10" dirty="0">
                <a:latin typeface="Arial MT"/>
                <a:cs typeface="Arial MT"/>
              </a:rPr>
              <a:t>=m</a:t>
            </a:r>
            <a:r>
              <a:rPr sz="2400" spc="-10" dirty="0">
                <a:latin typeface="微软雅黑" panose="020B0503020204020204" charset="-122"/>
                <a:cs typeface="微软雅黑" panose="020B0503020204020204" charset="-122"/>
              </a:rPr>
              <a:t>（</a:t>
            </a: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批量梯度下降</a:t>
            </a:r>
            <a:r>
              <a:rPr sz="2400" spc="-10" dirty="0">
                <a:latin typeface="Arial MT"/>
                <a:cs typeface="Arial MT"/>
              </a:rPr>
              <a:t>,BGD</a:t>
            </a:r>
            <a:r>
              <a:rPr sz="2400" spc="-10" dirty="0">
                <a:latin typeface="微软雅黑" panose="020B0503020204020204" charset="-122"/>
                <a:cs typeface="微软雅黑" panose="020B0503020204020204" charset="-122"/>
              </a:rPr>
              <a:t>）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  <a:p>
            <a:pPr marL="12700" marR="5080">
              <a:lnSpc>
                <a:spcPct val="100000"/>
              </a:lnSpc>
            </a:pPr>
            <a:r>
              <a:rPr sz="2400" spc="-10" dirty="0">
                <a:latin typeface="Cambria Math" panose="02040503050406030204"/>
                <a:cs typeface="Cambria Math" panose="02040503050406030204"/>
              </a:rPr>
              <a:t>𝑏</a:t>
            </a:r>
            <a:r>
              <a:rPr sz="2400" spc="-10" dirty="0">
                <a:latin typeface="Arial MT"/>
                <a:cs typeface="Arial MT"/>
              </a:rPr>
              <a:t>=</a:t>
            </a:r>
            <a:r>
              <a:rPr sz="2400" i="1" spc="-10" dirty="0">
                <a:latin typeface="Arial" panose="020B0604020202020204"/>
                <a:cs typeface="Arial" panose="020B0604020202020204"/>
              </a:rPr>
              <a:t>batch_size</a:t>
            </a:r>
            <a:r>
              <a:rPr sz="2400" spc="-5" dirty="0">
                <a:latin typeface="微软雅黑" panose="020B0503020204020204" charset="-122"/>
                <a:cs typeface="微软雅黑" panose="020B0503020204020204" charset="-122"/>
              </a:rPr>
              <a:t>，通常是</a:t>
            </a:r>
            <a:r>
              <a:rPr sz="2400" spc="-20" dirty="0">
                <a:latin typeface="Arial MT"/>
                <a:cs typeface="Arial MT"/>
              </a:rPr>
              <a:t>2</a:t>
            </a:r>
            <a:r>
              <a:rPr sz="2400" spc="-25" dirty="0">
                <a:latin typeface="微软雅黑" panose="020B0503020204020204" charset="-122"/>
                <a:cs typeface="微软雅黑" panose="020B0503020204020204" charset="-122"/>
              </a:rPr>
              <a:t>的指</a:t>
            </a: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数倍，常见有</a:t>
            </a:r>
            <a:r>
              <a:rPr sz="2400" spc="-20" dirty="0">
                <a:latin typeface="Arial MT"/>
                <a:cs typeface="Arial MT"/>
              </a:rPr>
              <a:t>32,64,128</a:t>
            </a:r>
            <a:r>
              <a:rPr sz="2400" spc="-25" dirty="0">
                <a:latin typeface="微软雅黑" panose="020B0503020204020204" charset="-122"/>
                <a:cs typeface="微软雅黑" panose="020B0503020204020204" charset="-122"/>
              </a:rPr>
              <a:t>等。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（小批量梯度下降</a:t>
            </a:r>
            <a:r>
              <a:rPr sz="2400" spc="-10" dirty="0">
                <a:latin typeface="Arial MT"/>
                <a:cs typeface="Arial MT"/>
              </a:rPr>
              <a:t>,MBGD</a:t>
            </a:r>
            <a:r>
              <a:rPr sz="2400" spc="-10" dirty="0">
                <a:latin typeface="微软雅黑" panose="020B0503020204020204" charset="-122"/>
                <a:cs typeface="微软雅黑" panose="020B0503020204020204" charset="-122"/>
              </a:rPr>
              <a:t>）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91627" y="3294557"/>
            <a:ext cx="1244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5" dirty="0">
                <a:latin typeface="微软雅黑" panose="020B0503020204020204" charset="-122"/>
                <a:cs typeface="微软雅黑" panose="020B0503020204020204" charset="-122"/>
              </a:rPr>
              <a:t>参数更新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74202" y="4576622"/>
            <a:ext cx="17862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140" dirty="0">
                <a:latin typeface="Cambria Math" panose="02040503050406030204"/>
                <a:cs typeface="Cambria Math" panose="02040503050406030204"/>
              </a:rPr>
              <a:t>𝑤</a:t>
            </a:r>
            <a:r>
              <a:rPr sz="2625" spc="209" baseline="-16000" dirty="0">
                <a:latin typeface="Cambria Math" panose="02040503050406030204"/>
                <a:cs typeface="Cambria Math" panose="02040503050406030204"/>
              </a:rPr>
              <a:t>j</a:t>
            </a:r>
            <a:r>
              <a:rPr sz="2400" spc="140" dirty="0">
                <a:latin typeface="Cambria Math" panose="02040503050406030204"/>
                <a:cs typeface="Cambria Math" panose="02040503050406030204"/>
              </a:rPr>
              <a:t>: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2400" spc="1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165" dirty="0">
                <a:latin typeface="Cambria Math" panose="02040503050406030204"/>
                <a:cs typeface="Cambria Math" panose="02040503050406030204"/>
              </a:rPr>
              <a:t>𝑤</a:t>
            </a:r>
            <a:r>
              <a:rPr sz="2625" spc="247" baseline="-16000" dirty="0">
                <a:latin typeface="Cambria Math" panose="02040503050406030204"/>
                <a:cs typeface="Cambria Math" panose="02040503050406030204"/>
              </a:rPr>
              <a:t>j</a:t>
            </a:r>
            <a:r>
              <a:rPr sz="2625" spc="367" baseline="-16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400" spc="1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50" dirty="0">
                <a:latin typeface="Cambria Math" panose="02040503050406030204"/>
                <a:cs typeface="Cambria Math" panose="02040503050406030204"/>
              </a:rPr>
              <a:t>𝛼</a:t>
            </a:r>
            <a:endParaRPr sz="24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473793" y="4797120"/>
            <a:ext cx="168910" cy="20320"/>
          </a:xfrm>
          <a:custGeom>
            <a:avLst/>
            <a:gdLst/>
            <a:ahLst/>
            <a:cxnLst/>
            <a:rect l="l" t="t" r="r" b="b"/>
            <a:pathLst>
              <a:path w="168910" h="20320">
                <a:moveTo>
                  <a:pt x="168910" y="20002"/>
                </a:moveTo>
                <a:lnTo>
                  <a:pt x="0" y="20002"/>
                </a:lnTo>
                <a:lnTo>
                  <a:pt x="0" y="0"/>
                </a:lnTo>
                <a:lnTo>
                  <a:pt x="168910" y="0"/>
                </a:lnTo>
                <a:lnTo>
                  <a:pt x="168910" y="200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3461093" y="4278807"/>
            <a:ext cx="194310" cy="892810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2400" spc="-50" dirty="0">
                <a:latin typeface="Cambria Math" panose="02040503050406030204"/>
                <a:cs typeface="Cambria Math" panose="02040503050406030204"/>
              </a:rPr>
              <a:t>1</a:t>
            </a:r>
            <a:endParaRPr sz="2400">
              <a:latin typeface="Cambria Math" panose="02040503050406030204"/>
              <a:cs typeface="Cambria Math" panose="02040503050406030204"/>
            </a:endParaRPr>
          </a:p>
          <a:p>
            <a:pPr marL="14605">
              <a:lnSpc>
                <a:spcPct val="100000"/>
              </a:lnSpc>
              <a:spcBef>
                <a:spcPts val="535"/>
              </a:spcBef>
            </a:pPr>
            <a:r>
              <a:rPr sz="2400" spc="-50" dirty="0">
                <a:latin typeface="Cambria Math" panose="02040503050406030204"/>
                <a:cs typeface="Cambria Math" panose="02040503050406030204"/>
              </a:rPr>
              <a:t>𝑏</a:t>
            </a:r>
            <a:endParaRPr sz="24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80802" y="4200702"/>
            <a:ext cx="670560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10" dirty="0">
                <a:latin typeface="Cambria Math" panose="02040503050406030204"/>
                <a:cs typeface="Cambria Math" panose="02040503050406030204"/>
              </a:rPr>
              <a:t>𝑖+𝑏−1</a:t>
            </a:r>
            <a:endParaRPr sz="17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980647" y="4548047"/>
            <a:ext cx="344805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25" dirty="0">
                <a:latin typeface="Cambria Math" panose="02040503050406030204"/>
                <a:cs typeface="Cambria Math" panose="02040503050406030204"/>
              </a:rPr>
              <a:t>(𝑘)</a:t>
            </a:r>
            <a:endParaRPr sz="17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84582" y="4548047"/>
            <a:ext cx="344805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25" dirty="0">
                <a:latin typeface="Cambria Math" panose="02040503050406030204"/>
                <a:cs typeface="Cambria Math" panose="02040503050406030204"/>
              </a:rPr>
              <a:t>(𝑘)</a:t>
            </a:r>
            <a:endParaRPr sz="17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800818" y="4413536"/>
            <a:ext cx="2890520" cy="941069"/>
          </a:xfrm>
          <a:prstGeom prst="rect">
            <a:avLst/>
          </a:prstGeom>
        </p:spPr>
        <p:txBody>
          <a:bodyPr vert="horz" wrap="square" lIns="0" tIns="1765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90"/>
              </a:spcBef>
              <a:tabLst>
                <a:tab pos="588010" algn="l"/>
                <a:tab pos="1522730" algn="l"/>
                <a:tab pos="2526665" algn="l"/>
              </a:tabLst>
            </a:pPr>
            <a:r>
              <a:rPr sz="2400" spc="1425" dirty="0">
                <a:latin typeface="Cambria Math" panose="02040503050406030204"/>
                <a:cs typeface="Cambria Math" panose="02040503050406030204"/>
              </a:rPr>
              <a:t>∑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2400" spc="-20" dirty="0">
                <a:latin typeface="Cambria Math" panose="02040503050406030204"/>
                <a:cs typeface="Cambria Math" panose="02040503050406030204"/>
              </a:rPr>
              <a:t>(ℎ(𝑥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2400" spc="70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 −</a:t>
            </a:r>
            <a:r>
              <a:rPr sz="2400" spc="1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50" dirty="0">
                <a:latin typeface="Cambria Math" panose="02040503050406030204"/>
                <a:cs typeface="Cambria Math" panose="02040503050406030204"/>
              </a:rPr>
              <a:t>𝑦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2400" spc="70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2400" spc="-14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50" dirty="0">
                <a:latin typeface="Cambria Math" panose="02040503050406030204"/>
                <a:cs typeface="Cambria Math" panose="02040503050406030204"/>
              </a:rPr>
              <a:t>𝑥</a:t>
            </a:r>
            <a:endParaRPr sz="2400">
              <a:latin typeface="Cambria Math" panose="02040503050406030204"/>
              <a:cs typeface="Cambria Math" panose="02040503050406030204"/>
            </a:endParaRPr>
          </a:p>
          <a:p>
            <a:pPr marL="35560">
              <a:lnSpc>
                <a:spcPct val="100000"/>
              </a:lnSpc>
              <a:spcBef>
                <a:spcPts val="940"/>
              </a:spcBef>
            </a:pPr>
            <a:r>
              <a:rPr sz="1750" spc="-25" dirty="0">
                <a:latin typeface="Cambria Math" panose="02040503050406030204"/>
                <a:cs typeface="Cambria Math" panose="02040503050406030204"/>
              </a:rPr>
              <a:t>𝑘=𝑖</a:t>
            </a:r>
            <a:endParaRPr sz="17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665303" y="4758232"/>
            <a:ext cx="130175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305" dirty="0">
                <a:latin typeface="Cambria Math" panose="02040503050406030204"/>
                <a:cs typeface="Cambria Math" panose="02040503050406030204"/>
              </a:rPr>
              <a:t>j</a:t>
            </a:r>
            <a:endParaRPr sz="17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665303" y="4495977"/>
            <a:ext cx="344805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25" dirty="0">
                <a:latin typeface="Cambria Math" panose="02040503050406030204"/>
                <a:cs typeface="Cambria Math" panose="02040503050406030204"/>
              </a:rPr>
              <a:t>(𝑘)</a:t>
            </a:r>
            <a:endParaRPr sz="17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87207" y="5406567"/>
            <a:ext cx="2468245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Cambria" panose="02040503050406030204"/>
                <a:cs typeface="Cambria" panose="02040503050406030204"/>
              </a:rPr>
              <a:t>(</a:t>
            </a:r>
            <a:r>
              <a:rPr sz="1600" spc="-20" dirty="0">
                <a:latin typeface="微软雅黑" panose="020B0503020204020204" charset="-122"/>
                <a:cs typeface="微软雅黑" panose="020B0503020204020204" charset="-122"/>
              </a:rPr>
              <a:t>同步更新</a:t>
            </a:r>
            <a:r>
              <a:rPr sz="1600" spc="110" dirty="0">
                <a:latin typeface="Cambria Math" panose="02040503050406030204"/>
                <a:cs typeface="Cambria Math" panose="02040503050406030204"/>
              </a:rPr>
              <a:t>𝑤</a:t>
            </a:r>
            <a:r>
              <a:rPr sz="1725" spc="165" baseline="-17000" dirty="0">
                <a:latin typeface="Cambria Math" panose="02040503050406030204"/>
                <a:cs typeface="Cambria Math" panose="02040503050406030204"/>
              </a:rPr>
              <a:t>j</a:t>
            </a:r>
            <a:r>
              <a:rPr sz="1725" spc="202" baseline="-17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600" dirty="0">
                <a:latin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600" dirty="0">
                <a:latin typeface="Cambria" panose="02040503050406030204"/>
                <a:cs typeface="Cambria" panose="02040503050406030204"/>
              </a:rPr>
              <a:t>(</a:t>
            </a:r>
            <a:r>
              <a:rPr sz="1600" i="1" dirty="0">
                <a:latin typeface="Cambria" panose="02040503050406030204"/>
                <a:cs typeface="Cambria" panose="02040503050406030204"/>
              </a:rPr>
              <a:t>j</a:t>
            </a:r>
            <a:r>
              <a:rPr sz="1600" dirty="0">
                <a:latin typeface="Cambria" panose="02040503050406030204"/>
                <a:cs typeface="Cambria" panose="02040503050406030204"/>
              </a:rPr>
              <a:t>=0,1,...,</a:t>
            </a:r>
            <a:r>
              <a:rPr sz="1600" i="1" dirty="0">
                <a:latin typeface="Cambria" panose="02040503050406030204"/>
                <a:cs typeface="Cambria" panose="02040503050406030204"/>
              </a:rPr>
              <a:t>n</a:t>
            </a:r>
            <a:r>
              <a:rPr sz="1600" i="1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1600" spc="-25" dirty="0">
                <a:latin typeface="Cambria" panose="02040503050406030204"/>
                <a:cs typeface="Cambria" panose="02040503050406030204"/>
              </a:rPr>
              <a:t>))</a:t>
            </a:r>
            <a:endParaRPr sz="1600">
              <a:latin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999744"/>
            <a:ext cx="646430" cy="262255"/>
          </a:xfrm>
          <a:prstGeom prst="rect">
            <a:avLst/>
          </a:prstGeom>
          <a:solidFill>
            <a:srgbClr val="A40020"/>
          </a:solidFill>
        </p:spPr>
        <p:txBody>
          <a:bodyPr vert="horz" wrap="square" lIns="0" tIns="635" rIns="0" bIns="0" rtlCol="0">
            <a:spAutoFit/>
          </a:bodyPr>
          <a:lstStyle/>
          <a:p>
            <a:pPr marL="375285">
              <a:lnSpc>
                <a:spcPct val="100000"/>
              </a:lnSpc>
              <a:spcBef>
                <a:spcPts val="5"/>
              </a:spcBef>
            </a:pPr>
            <a:r>
              <a:rPr sz="1400" b="1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27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82942" y="330784"/>
            <a:ext cx="41402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梯度下降的三种形式</a:t>
            </a:r>
            <a:endParaRPr spc="-10" dirty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52400" y="1467622"/>
            <a:ext cx="7315956" cy="259116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30504" y="4435475"/>
            <a:ext cx="6121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0000FF"/>
                </a:solidFill>
                <a:latin typeface="微软雅黑" panose="020B0503020204020204" charset="-122"/>
                <a:cs typeface="微软雅黑" panose="020B0503020204020204" charset="-122"/>
              </a:rPr>
              <a:t>梯度下降法找到的一定是下降最快的方向吗？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0504" y="4801234"/>
            <a:ext cx="11607800" cy="1854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不一定，它只是目标函数在当前的点的切平面上下降最快的方向。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  <a:p>
            <a:pPr marL="12700" marR="5080" algn="just">
              <a:lnSpc>
                <a:spcPct val="100000"/>
              </a:lnSpc>
              <a:spcBef>
                <a:spcPts val="2880"/>
              </a:spcBef>
            </a:pP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在实际执行期中，</a:t>
            </a:r>
            <a:r>
              <a:rPr sz="240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牛顿方向（考虑海森矩阵）才一般被认为是下降最快的方向</a:t>
            </a:r>
            <a:r>
              <a:rPr sz="2400" spc="-15" dirty="0">
                <a:latin typeface="微软雅黑" panose="020B0503020204020204" charset="-122"/>
                <a:cs typeface="微软雅黑" panose="020B0503020204020204" charset="-122"/>
              </a:rPr>
              <a:t>，可以达</a:t>
            </a: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到超线性的收敛速度。梯度下降类的算法的收敛速度一般是线性甚至次线性的（</a:t>
            </a:r>
            <a:r>
              <a:rPr sz="2400" spc="-20" dirty="0">
                <a:latin typeface="微软雅黑" panose="020B0503020204020204" charset="-122"/>
                <a:cs typeface="微软雅黑" panose="020B0503020204020204" charset="-122"/>
              </a:rPr>
              <a:t>在某些</a:t>
            </a: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带复杂约束的问题</a:t>
            </a:r>
            <a:r>
              <a:rPr sz="2400" spc="-50" dirty="0">
                <a:latin typeface="微软雅黑" panose="020B0503020204020204" charset="-122"/>
                <a:cs typeface="微软雅黑" panose="020B0503020204020204" charset="-122"/>
              </a:rPr>
              <a:t>）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14694" y="1433600"/>
            <a:ext cx="4504153" cy="274227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8609965" y="4216400"/>
            <a:ext cx="23114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solidFill>
                  <a:srgbClr val="1C2947"/>
                </a:solidFill>
                <a:latin typeface="微软雅黑" panose="020B0503020204020204" charset="-122"/>
                <a:cs typeface="微软雅黑" panose="020B0503020204020204" charset="-122"/>
              </a:rPr>
              <a:t>更新的频率也会产生噪声梯度，这可能导致错误率波动而不是逐渐下</a:t>
            </a:r>
            <a:r>
              <a:rPr sz="1200" b="1" spc="-25" dirty="0">
                <a:solidFill>
                  <a:srgbClr val="1C2947"/>
                </a:solidFill>
                <a:latin typeface="微软雅黑" panose="020B0503020204020204" charset="-122"/>
                <a:cs typeface="微软雅黑" panose="020B0503020204020204" charset="-122"/>
              </a:rPr>
              <a:t>降。</a:t>
            </a:r>
            <a:endParaRPr sz="12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258684" y="171450"/>
            <a:ext cx="23114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solidFill>
                  <a:srgbClr val="1C2947"/>
                </a:solidFill>
                <a:latin typeface="微软雅黑" panose="020B0503020204020204" charset="-122"/>
                <a:cs typeface="微软雅黑" panose="020B0503020204020204" charset="-122"/>
              </a:rPr>
              <a:t>它产生稳定的误差梯度和稳定的收敛。一些缺点是稳定的误差梯度有时会导致收敛状态不是模型所能达</a:t>
            </a:r>
            <a:r>
              <a:rPr sz="1200" b="1" spc="-10" dirty="0">
                <a:solidFill>
                  <a:srgbClr val="1C2947"/>
                </a:solidFill>
                <a:latin typeface="微软雅黑" panose="020B0503020204020204" charset="-122"/>
                <a:cs typeface="微软雅黑" panose="020B0503020204020204" charset="-122"/>
              </a:rPr>
              <a:t>到的最佳状态。</a:t>
            </a:r>
            <a:endParaRPr sz="1200"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999744"/>
            <a:ext cx="646430" cy="262255"/>
          </a:xfrm>
          <a:prstGeom prst="rect">
            <a:avLst/>
          </a:prstGeom>
          <a:solidFill>
            <a:srgbClr val="A40020"/>
          </a:solidFill>
        </p:spPr>
        <p:txBody>
          <a:bodyPr vert="horz" wrap="square" lIns="0" tIns="635" rIns="0" bIns="0" rtlCol="0">
            <a:spAutoFit/>
          </a:bodyPr>
          <a:lstStyle/>
          <a:p>
            <a:pPr marL="375285">
              <a:lnSpc>
                <a:spcPct val="100000"/>
              </a:lnSpc>
              <a:spcBef>
                <a:spcPts val="5"/>
              </a:spcBef>
            </a:pPr>
            <a:r>
              <a:rPr sz="1400" b="1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28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82942" y="330784"/>
            <a:ext cx="55118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梯度下降与最小二乘法比较</a:t>
            </a:r>
            <a:endParaRPr spc="-5" dirty="0"/>
          </a:p>
        </p:txBody>
      </p:sp>
      <p:sp>
        <p:nvSpPr>
          <p:cNvPr id="4" name="object 4"/>
          <p:cNvSpPr txBox="1"/>
          <p:nvPr/>
        </p:nvSpPr>
        <p:spPr>
          <a:xfrm>
            <a:off x="1006449" y="1674191"/>
            <a:ext cx="9916795" cy="376682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50800" marR="103505">
              <a:lnSpc>
                <a:spcPct val="144000"/>
              </a:lnSpc>
              <a:spcBef>
                <a:spcPts val="340"/>
              </a:spcBef>
            </a:pPr>
            <a:r>
              <a:rPr sz="2800" b="1" spc="-3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梯度下降</a:t>
            </a:r>
            <a:r>
              <a:rPr sz="2800" spc="-30" dirty="0">
                <a:latin typeface="微软雅黑" panose="020B0503020204020204" charset="-122"/>
                <a:cs typeface="微软雅黑" panose="020B0503020204020204" charset="-122"/>
              </a:rPr>
              <a:t>：</a:t>
            </a: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需要选择学习率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𝛼</a:t>
            </a: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，需要多次迭代，当特征数量</a:t>
            </a:r>
            <a:r>
              <a:rPr sz="2400" spc="-10" dirty="0">
                <a:latin typeface="Cambria Math" panose="02040503050406030204"/>
                <a:cs typeface="Cambria Math" panose="02040503050406030204"/>
              </a:rPr>
              <a:t>𝑛</a:t>
            </a:r>
            <a:r>
              <a:rPr sz="2400" spc="-10" dirty="0">
                <a:latin typeface="微软雅黑" panose="020B0503020204020204" charset="-122"/>
                <a:cs typeface="微软雅黑" panose="020B0503020204020204" charset="-122"/>
              </a:rPr>
              <a:t>大时也能较</a:t>
            </a:r>
            <a:r>
              <a:rPr sz="2400" spc="-5" dirty="0">
                <a:latin typeface="微软雅黑" panose="020B0503020204020204" charset="-122"/>
                <a:cs typeface="微软雅黑" panose="020B0503020204020204" charset="-122"/>
              </a:rPr>
              <a:t>好适用，适用于各种类型的模型。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  <a:p>
            <a:pPr marL="50800" marR="43180">
              <a:lnSpc>
                <a:spcPct val="148000"/>
              </a:lnSpc>
              <a:spcBef>
                <a:spcPts val="1815"/>
              </a:spcBef>
            </a:pPr>
            <a:r>
              <a:rPr sz="2800" b="1" spc="-3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最小二乘法</a:t>
            </a:r>
            <a:r>
              <a:rPr sz="2800" spc="-30" dirty="0">
                <a:latin typeface="微软雅黑" panose="020B0503020204020204" charset="-122"/>
                <a:cs typeface="微软雅黑" panose="020B0503020204020204" charset="-122"/>
              </a:rPr>
              <a:t>：</a:t>
            </a: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不需要选择学习率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𝛼</a:t>
            </a: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，一次计算得出，需要计算</a:t>
            </a:r>
            <a:r>
              <a:rPr sz="3600" spc="75" baseline="200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2400" spc="50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2625" spc="75" baseline="29000" dirty="0">
                <a:latin typeface="Cambria Math" panose="02040503050406030204"/>
                <a:cs typeface="Cambria Math" panose="02040503050406030204"/>
              </a:rPr>
              <a:t>𝑇</a:t>
            </a:r>
            <a:r>
              <a:rPr sz="2400" spc="50" dirty="0">
                <a:latin typeface="Cambria Math" panose="02040503050406030204"/>
                <a:cs typeface="Cambria Math" panose="02040503050406030204"/>
              </a:rPr>
              <a:t>X</a:t>
            </a:r>
            <a:r>
              <a:rPr sz="3600" spc="75" baseline="2000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2625" spc="75" baseline="29000" dirty="0">
                <a:latin typeface="Cambria Math" panose="02040503050406030204"/>
                <a:cs typeface="Cambria Math" panose="02040503050406030204"/>
              </a:rPr>
              <a:t>−1</a:t>
            </a:r>
            <a:r>
              <a:rPr sz="2400" spc="50" dirty="0">
                <a:latin typeface="微软雅黑" panose="020B0503020204020204" charset="-122"/>
                <a:cs typeface="微软雅黑" panose="020B0503020204020204" charset="-122"/>
              </a:rPr>
              <a:t>，</a:t>
            </a: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如果特征数量</a:t>
            </a:r>
            <a:r>
              <a:rPr sz="2400" spc="-10" dirty="0">
                <a:latin typeface="Cambria Math" panose="02040503050406030204"/>
                <a:cs typeface="Cambria Math" panose="02040503050406030204"/>
              </a:rPr>
              <a:t>𝑛</a:t>
            </a: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较大则运算代价大，因为矩阵逆的计算时间复杂度为</a:t>
            </a:r>
            <a:r>
              <a:rPr sz="2400" spc="-10" dirty="0">
                <a:latin typeface="Cambria Math" panose="02040503050406030204"/>
                <a:cs typeface="Cambria Math" panose="02040503050406030204"/>
              </a:rPr>
              <a:t>𝑂(𝑛</a:t>
            </a:r>
            <a:r>
              <a:rPr sz="2625" spc="-15" baseline="27000" dirty="0">
                <a:latin typeface="Cambria Math" panose="02040503050406030204"/>
                <a:cs typeface="Cambria Math" panose="02040503050406030204"/>
              </a:rPr>
              <a:t>3</a:t>
            </a:r>
            <a:r>
              <a:rPr sz="2400" spc="-10" dirty="0">
                <a:latin typeface="Cambria Math" panose="02040503050406030204"/>
                <a:cs typeface="Cambria Math" panose="02040503050406030204"/>
              </a:rPr>
              <a:t>)</a:t>
            </a:r>
            <a:endParaRPr sz="2400">
              <a:latin typeface="Cambria Math" panose="02040503050406030204"/>
              <a:cs typeface="Cambria Math" panose="02040503050406030204"/>
            </a:endParaRPr>
          </a:p>
          <a:p>
            <a:pPr marL="50800" marR="167005">
              <a:lnSpc>
                <a:spcPct val="150000"/>
              </a:lnSpc>
              <a:spcBef>
                <a:spcPts val="70"/>
              </a:spcBef>
            </a:pP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，通常来说当</a:t>
            </a:r>
            <a:r>
              <a:rPr sz="2400" spc="-10" dirty="0">
                <a:latin typeface="Cambria Math" panose="02040503050406030204"/>
                <a:cs typeface="Cambria Math" panose="02040503050406030204"/>
              </a:rPr>
              <a:t>𝑛</a:t>
            </a: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小于10000</a:t>
            </a:r>
            <a:r>
              <a:rPr sz="2400" spc="-35" dirty="0">
                <a:latin typeface="微软雅黑" panose="020B0503020204020204" charset="-122"/>
                <a:cs typeface="微软雅黑" panose="020B0503020204020204" charset="-122"/>
              </a:rPr>
              <a:t> 时还是可以接受的，只适用于线性模型，不适</a:t>
            </a:r>
            <a:r>
              <a:rPr sz="2400" spc="-5" dirty="0">
                <a:latin typeface="微软雅黑" panose="020B0503020204020204" charset="-122"/>
                <a:cs typeface="微软雅黑" panose="020B0503020204020204" charset="-122"/>
              </a:rPr>
              <a:t>合逻辑回归模型等其他模型。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999744"/>
            <a:ext cx="646430" cy="262255"/>
          </a:xfrm>
          <a:prstGeom prst="rect">
            <a:avLst/>
          </a:prstGeom>
          <a:solidFill>
            <a:srgbClr val="A40020"/>
          </a:solidFill>
        </p:spPr>
        <p:txBody>
          <a:bodyPr vert="horz" wrap="square" lIns="0" tIns="635" rIns="0" bIns="0" rtlCol="0">
            <a:spAutoFit/>
          </a:bodyPr>
          <a:lstStyle/>
          <a:p>
            <a:pPr marL="375285">
              <a:lnSpc>
                <a:spcPct val="100000"/>
              </a:lnSpc>
              <a:spcBef>
                <a:spcPts val="5"/>
              </a:spcBef>
            </a:pPr>
            <a:r>
              <a:rPr sz="1400" b="1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29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191719" y="3568484"/>
            <a:ext cx="3491229" cy="2736850"/>
            <a:chOff x="6191719" y="3568484"/>
            <a:chExt cx="3491229" cy="2736850"/>
          </a:xfrm>
        </p:grpSpPr>
        <p:sp>
          <p:nvSpPr>
            <p:cNvPr id="4" name="object 4"/>
            <p:cNvSpPr/>
            <p:nvPr/>
          </p:nvSpPr>
          <p:spPr>
            <a:xfrm>
              <a:off x="6954646" y="3800449"/>
              <a:ext cx="2296795" cy="2235200"/>
            </a:xfrm>
            <a:custGeom>
              <a:avLst/>
              <a:gdLst/>
              <a:ahLst/>
              <a:cxnLst/>
              <a:rect l="l" t="t" r="r" b="b"/>
              <a:pathLst>
                <a:path w="2296795" h="2235200">
                  <a:moveTo>
                    <a:pt x="1322908" y="12700"/>
                  </a:moveTo>
                  <a:lnTo>
                    <a:pt x="973251" y="12700"/>
                  </a:lnTo>
                  <a:lnTo>
                    <a:pt x="987526" y="0"/>
                  </a:lnTo>
                  <a:lnTo>
                    <a:pt x="1308633" y="0"/>
                  </a:lnTo>
                  <a:lnTo>
                    <a:pt x="1322908" y="12700"/>
                  </a:lnTo>
                  <a:close/>
                </a:path>
                <a:path w="2296795" h="2235200">
                  <a:moveTo>
                    <a:pt x="975131" y="25400"/>
                  </a:moveTo>
                  <a:lnTo>
                    <a:pt x="902728" y="25400"/>
                  </a:lnTo>
                  <a:lnTo>
                    <a:pt x="916711" y="12700"/>
                  </a:lnTo>
                  <a:lnTo>
                    <a:pt x="989253" y="12700"/>
                  </a:lnTo>
                  <a:lnTo>
                    <a:pt x="975131" y="25400"/>
                  </a:lnTo>
                  <a:close/>
                </a:path>
                <a:path w="2296795" h="2235200">
                  <a:moveTo>
                    <a:pt x="1393431" y="25400"/>
                  </a:moveTo>
                  <a:lnTo>
                    <a:pt x="1321041" y="25400"/>
                  </a:lnTo>
                  <a:lnTo>
                    <a:pt x="1306906" y="12700"/>
                  </a:lnTo>
                  <a:lnTo>
                    <a:pt x="1379448" y="12700"/>
                  </a:lnTo>
                  <a:lnTo>
                    <a:pt x="1393431" y="25400"/>
                  </a:lnTo>
                  <a:close/>
                </a:path>
                <a:path w="2296795" h="2235200">
                  <a:moveTo>
                    <a:pt x="891603" y="38100"/>
                  </a:moveTo>
                  <a:lnTo>
                    <a:pt x="847445" y="38100"/>
                  </a:lnTo>
                  <a:lnTo>
                    <a:pt x="861161" y="25400"/>
                  </a:lnTo>
                  <a:lnTo>
                    <a:pt x="905370" y="25400"/>
                  </a:lnTo>
                  <a:lnTo>
                    <a:pt x="891603" y="38100"/>
                  </a:lnTo>
                  <a:close/>
                </a:path>
                <a:path w="2296795" h="2235200">
                  <a:moveTo>
                    <a:pt x="1448727" y="38100"/>
                  </a:moveTo>
                  <a:lnTo>
                    <a:pt x="1404556" y="38100"/>
                  </a:lnTo>
                  <a:lnTo>
                    <a:pt x="1390789" y="25400"/>
                  </a:lnTo>
                  <a:lnTo>
                    <a:pt x="1434998" y="25400"/>
                  </a:lnTo>
                  <a:lnTo>
                    <a:pt x="1448727" y="38100"/>
                  </a:lnTo>
                  <a:close/>
                </a:path>
                <a:path w="2296795" h="2235200">
                  <a:moveTo>
                    <a:pt x="850684" y="50800"/>
                  </a:moveTo>
                  <a:lnTo>
                    <a:pt x="793229" y="50800"/>
                  </a:lnTo>
                  <a:lnTo>
                    <a:pt x="806678" y="38100"/>
                  </a:lnTo>
                  <a:lnTo>
                    <a:pt x="864260" y="38100"/>
                  </a:lnTo>
                  <a:lnTo>
                    <a:pt x="850684" y="50800"/>
                  </a:lnTo>
                  <a:close/>
                </a:path>
                <a:path w="2296795" h="2235200">
                  <a:moveTo>
                    <a:pt x="1502930" y="50800"/>
                  </a:moveTo>
                  <a:lnTo>
                    <a:pt x="1445475" y="50800"/>
                  </a:lnTo>
                  <a:lnTo>
                    <a:pt x="1431899" y="38100"/>
                  </a:lnTo>
                  <a:lnTo>
                    <a:pt x="1489481" y="38100"/>
                  </a:lnTo>
                  <a:lnTo>
                    <a:pt x="1502930" y="50800"/>
                  </a:lnTo>
                  <a:close/>
                </a:path>
                <a:path w="2296795" h="2235200">
                  <a:moveTo>
                    <a:pt x="797077" y="63500"/>
                  </a:moveTo>
                  <a:lnTo>
                    <a:pt x="753325" y="63500"/>
                  </a:lnTo>
                  <a:lnTo>
                    <a:pt x="766559" y="50800"/>
                  </a:lnTo>
                  <a:lnTo>
                    <a:pt x="810374" y="50800"/>
                  </a:lnTo>
                  <a:lnTo>
                    <a:pt x="797077" y="63500"/>
                  </a:lnTo>
                  <a:close/>
                </a:path>
                <a:path w="2296795" h="2235200">
                  <a:moveTo>
                    <a:pt x="1542834" y="63500"/>
                  </a:moveTo>
                  <a:lnTo>
                    <a:pt x="1499082" y="63500"/>
                  </a:lnTo>
                  <a:lnTo>
                    <a:pt x="1485785" y="50800"/>
                  </a:lnTo>
                  <a:lnTo>
                    <a:pt x="1529613" y="50800"/>
                  </a:lnTo>
                  <a:lnTo>
                    <a:pt x="1542834" y="63500"/>
                  </a:lnTo>
                  <a:close/>
                </a:path>
                <a:path w="2296795" h="2235200">
                  <a:moveTo>
                    <a:pt x="757618" y="76200"/>
                  </a:moveTo>
                  <a:lnTo>
                    <a:pt x="727113" y="76200"/>
                  </a:lnTo>
                  <a:lnTo>
                    <a:pt x="740181" y="63500"/>
                  </a:lnTo>
                  <a:lnTo>
                    <a:pt x="770699" y="63500"/>
                  </a:lnTo>
                  <a:lnTo>
                    <a:pt x="757618" y="76200"/>
                  </a:lnTo>
                  <a:close/>
                </a:path>
                <a:path w="2296795" h="2235200">
                  <a:moveTo>
                    <a:pt x="1569059" y="76200"/>
                  </a:moveTo>
                  <a:lnTo>
                    <a:pt x="1538554" y="76200"/>
                  </a:lnTo>
                  <a:lnTo>
                    <a:pt x="1525473" y="63500"/>
                  </a:lnTo>
                  <a:lnTo>
                    <a:pt x="1555991" y="63500"/>
                  </a:lnTo>
                  <a:lnTo>
                    <a:pt x="1569059" y="76200"/>
                  </a:lnTo>
                  <a:close/>
                </a:path>
                <a:path w="2296795" h="2235200">
                  <a:moveTo>
                    <a:pt x="731672" y="88900"/>
                  </a:moveTo>
                  <a:lnTo>
                    <a:pt x="688352" y="88900"/>
                  </a:lnTo>
                  <a:lnTo>
                    <a:pt x="701192" y="76200"/>
                  </a:lnTo>
                  <a:lnTo>
                    <a:pt x="744613" y="76200"/>
                  </a:lnTo>
                  <a:lnTo>
                    <a:pt x="731672" y="88900"/>
                  </a:lnTo>
                  <a:close/>
                </a:path>
                <a:path w="2296795" h="2235200">
                  <a:moveTo>
                    <a:pt x="1607820" y="88900"/>
                  </a:moveTo>
                  <a:lnTo>
                    <a:pt x="1564487" y="88900"/>
                  </a:lnTo>
                  <a:lnTo>
                    <a:pt x="1551558" y="76200"/>
                  </a:lnTo>
                  <a:lnTo>
                    <a:pt x="1594980" y="76200"/>
                  </a:lnTo>
                  <a:lnTo>
                    <a:pt x="1607820" y="88900"/>
                  </a:lnTo>
                  <a:close/>
                </a:path>
                <a:path w="2296795" h="2235200">
                  <a:moveTo>
                    <a:pt x="693356" y="101600"/>
                  </a:moveTo>
                  <a:lnTo>
                    <a:pt x="662927" y="101600"/>
                  </a:lnTo>
                  <a:lnTo>
                    <a:pt x="675601" y="88900"/>
                  </a:lnTo>
                  <a:lnTo>
                    <a:pt x="706043" y="88900"/>
                  </a:lnTo>
                  <a:lnTo>
                    <a:pt x="693356" y="101600"/>
                  </a:lnTo>
                  <a:close/>
                </a:path>
                <a:path w="2296795" h="2235200">
                  <a:moveTo>
                    <a:pt x="1633245" y="101600"/>
                  </a:moveTo>
                  <a:lnTo>
                    <a:pt x="1602816" y="101600"/>
                  </a:lnTo>
                  <a:lnTo>
                    <a:pt x="1590116" y="88900"/>
                  </a:lnTo>
                  <a:lnTo>
                    <a:pt x="1620570" y="88900"/>
                  </a:lnTo>
                  <a:lnTo>
                    <a:pt x="1633245" y="101600"/>
                  </a:lnTo>
                  <a:close/>
                </a:path>
                <a:path w="2296795" h="2235200">
                  <a:moveTo>
                    <a:pt x="668197" y="114300"/>
                  </a:moveTo>
                  <a:lnTo>
                    <a:pt x="637832" y="114300"/>
                  </a:lnTo>
                  <a:lnTo>
                    <a:pt x="650328" y="101600"/>
                  </a:lnTo>
                  <a:lnTo>
                    <a:pt x="680732" y="101600"/>
                  </a:lnTo>
                  <a:lnTo>
                    <a:pt x="668197" y="114300"/>
                  </a:lnTo>
                  <a:close/>
                </a:path>
                <a:path w="2296795" h="2235200">
                  <a:moveTo>
                    <a:pt x="1658340" y="114300"/>
                  </a:moveTo>
                  <a:lnTo>
                    <a:pt x="1627974" y="114300"/>
                  </a:lnTo>
                  <a:lnTo>
                    <a:pt x="1615439" y="101600"/>
                  </a:lnTo>
                  <a:lnTo>
                    <a:pt x="1645831" y="101600"/>
                  </a:lnTo>
                  <a:lnTo>
                    <a:pt x="1658340" y="114300"/>
                  </a:lnTo>
                  <a:close/>
                </a:path>
                <a:path w="2296795" h="2235200">
                  <a:moveTo>
                    <a:pt x="643381" y="127000"/>
                  </a:moveTo>
                  <a:lnTo>
                    <a:pt x="613067" y="127000"/>
                  </a:lnTo>
                  <a:lnTo>
                    <a:pt x="625411" y="114300"/>
                  </a:lnTo>
                  <a:lnTo>
                    <a:pt x="655751" y="114300"/>
                  </a:lnTo>
                  <a:lnTo>
                    <a:pt x="643381" y="127000"/>
                  </a:lnTo>
                  <a:close/>
                </a:path>
                <a:path w="2296795" h="2235200">
                  <a:moveTo>
                    <a:pt x="1683092" y="127000"/>
                  </a:moveTo>
                  <a:lnTo>
                    <a:pt x="1652790" y="127000"/>
                  </a:lnTo>
                  <a:lnTo>
                    <a:pt x="1640420" y="114300"/>
                  </a:lnTo>
                  <a:lnTo>
                    <a:pt x="1670761" y="114300"/>
                  </a:lnTo>
                  <a:lnTo>
                    <a:pt x="1683092" y="127000"/>
                  </a:lnTo>
                  <a:close/>
                </a:path>
                <a:path w="2296795" h="2235200">
                  <a:moveTo>
                    <a:pt x="618896" y="139700"/>
                  </a:moveTo>
                  <a:lnTo>
                    <a:pt x="588670" y="139700"/>
                  </a:lnTo>
                  <a:lnTo>
                    <a:pt x="600824" y="127000"/>
                  </a:lnTo>
                  <a:lnTo>
                    <a:pt x="631101" y="127000"/>
                  </a:lnTo>
                  <a:lnTo>
                    <a:pt x="618896" y="139700"/>
                  </a:lnTo>
                  <a:close/>
                </a:path>
                <a:path w="2296795" h="2235200">
                  <a:moveTo>
                    <a:pt x="1707502" y="139700"/>
                  </a:moveTo>
                  <a:lnTo>
                    <a:pt x="1677276" y="139700"/>
                  </a:lnTo>
                  <a:lnTo>
                    <a:pt x="1665071" y="127000"/>
                  </a:lnTo>
                  <a:lnTo>
                    <a:pt x="1695348" y="127000"/>
                  </a:lnTo>
                  <a:lnTo>
                    <a:pt x="1707502" y="139700"/>
                  </a:lnTo>
                  <a:close/>
                </a:path>
                <a:path w="2296795" h="2235200">
                  <a:moveTo>
                    <a:pt x="594766" y="152400"/>
                  </a:moveTo>
                  <a:lnTo>
                    <a:pt x="564629" y="152400"/>
                  </a:lnTo>
                  <a:lnTo>
                    <a:pt x="576605" y="139700"/>
                  </a:lnTo>
                  <a:lnTo>
                    <a:pt x="606780" y="139700"/>
                  </a:lnTo>
                  <a:lnTo>
                    <a:pt x="594766" y="152400"/>
                  </a:lnTo>
                  <a:close/>
                </a:path>
                <a:path w="2296795" h="2235200">
                  <a:moveTo>
                    <a:pt x="1731543" y="152400"/>
                  </a:moveTo>
                  <a:lnTo>
                    <a:pt x="1701406" y="152400"/>
                  </a:lnTo>
                  <a:lnTo>
                    <a:pt x="1689392" y="139700"/>
                  </a:lnTo>
                  <a:lnTo>
                    <a:pt x="1719567" y="139700"/>
                  </a:lnTo>
                  <a:lnTo>
                    <a:pt x="1731543" y="152400"/>
                  </a:lnTo>
                  <a:close/>
                </a:path>
                <a:path w="2296795" h="2235200">
                  <a:moveTo>
                    <a:pt x="582891" y="2082800"/>
                  </a:moveTo>
                  <a:lnTo>
                    <a:pt x="552805" y="2082800"/>
                  </a:lnTo>
                  <a:lnTo>
                    <a:pt x="529361" y="2057400"/>
                  </a:lnTo>
                  <a:lnTo>
                    <a:pt x="506260" y="2044700"/>
                  </a:lnTo>
                  <a:lnTo>
                    <a:pt x="461238" y="2019300"/>
                  </a:lnTo>
                  <a:lnTo>
                    <a:pt x="439343" y="2006600"/>
                  </a:lnTo>
                  <a:lnTo>
                    <a:pt x="417855" y="1981200"/>
                  </a:lnTo>
                  <a:lnTo>
                    <a:pt x="396811" y="1968500"/>
                  </a:lnTo>
                  <a:lnTo>
                    <a:pt x="376199" y="1943100"/>
                  </a:lnTo>
                  <a:lnTo>
                    <a:pt x="356031" y="1930400"/>
                  </a:lnTo>
                  <a:lnTo>
                    <a:pt x="336321" y="1905000"/>
                  </a:lnTo>
                  <a:lnTo>
                    <a:pt x="317068" y="1892300"/>
                  </a:lnTo>
                  <a:lnTo>
                    <a:pt x="298297" y="1866900"/>
                  </a:lnTo>
                  <a:lnTo>
                    <a:pt x="279996" y="1854200"/>
                  </a:lnTo>
                  <a:lnTo>
                    <a:pt x="262204" y="1828800"/>
                  </a:lnTo>
                  <a:lnTo>
                    <a:pt x="244894" y="1816100"/>
                  </a:lnTo>
                  <a:lnTo>
                    <a:pt x="228104" y="1790700"/>
                  </a:lnTo>
                  <a:lnTo>
                    <a:pt x="211835" y="1765300"/>
                  </a:lnTo>
                  <a:lnTo>
                    <a:pt x="196087" y="1739900"/>
                  </a:lnTo>
                  <a:lnTo>
                    <a:pt x="180873" y="1727200"/>
                  </a:lnTo>
                  <a:lnTo>
                    <a:pt x="159067" y="1689100"/>
                  </a:lnTo>
                  <a:lnTo>
                    <a:pt x="138544" y="1651000"/>
                  </a:lnTo>
                  <a:lnTo>
                    <a:pt x="119303" y="1612900"/>
                  </a:lnTo>
                  <a:lnTo>
                    <a:pt x="101384" y="1574800"/>
                  </a:lnTo>
                  <a:lnTo>
                    <a:pt x="84810" y="1536700"/>
                  </a:lnTo>
                  <a:lnTo>
                    <a:pt x="69608" y="1498600"/>
                  </a:lnTo>
                  <a:lnTo>
                    <a:pt x="55829" y="1460500"/>
                  </a:lnTo>
                  <a:lnTo>
                    <a:pt x="43484" y="1422400"/>
                  </a:lnTo>
                  <a:lnTo>
                    <a:pt x="32613" y="1384300"/>
                  </a:lnTo>
                  <a:lnTo>
                    <a:pt x="23253" y="1346200"/>
                  </a:lnTo>
                  <a:lnTo>
                    <a:pt x="15417" y="1308100"/>
                  </a:lnTo>
                  <a:lnTo>
                    <a:pt x="13144" y="1282700"/>
                  </a:lnTo>
                  <a:lnTo>
                    <a:pt x="11061" y="1270000"/>
                  </a:lnTo>
                  <a:lnTo>
                    <a:pt x="5842" y="1231900"/>
                  </a:lnTo>
                  <a:lnTo>
                    <a:pt x="2235" y="1193800"/>
                  </a:lnTo>
                  <a:lnTo>
                    <a:pt x="1409" y="1168400"/>
                  </a:lnTo>
                  <a:lnTo>
                    <a:pt x="749" y="1155700"/>
                  </a:lnTo>
                  <a:lnTo>
                    <a:pt x="279" y="1143000"/>
                  </a:lnTo>
                  <a:lnTo>
                    <a:pt x="0" y="1130300"/>
                  </a:lnTo>
                  <a:lnTo>
                    <a:pt x="0" y="1104900"/>
                  </a:lnTo>
                  <a:lnTo>
                    <a:pt x="279" y="1092200"/>
                  </a:lnTo>
                  <a:lnTo>
                    <a:pt x="749" y="1079500"/>
                  </a:lnTo>
                  <a:lnTo>
                    <a:pt x="1397" y="1054100"/>
                  </a:lnTo>
                  <a:lnTo>
                    <a:pt x="4457" y="1016000"/>
                  </a:lnTo>
                  <a:lnTo>
                    <a:pt x="9131" y="977900"/>
                  </a:lnTo>
                  <a:lnTo>
                    <a:pt x="11049" y="965200"/>
                  </a:lnTo>
                  <a:lnTo>
                    <a:pt x="13131" y="939800"/>
                  </a:lnTo>
                  <a:lnTo>
                    <a:pt x="20447" y="901700"/>
                  </a:lnTo>
                  <a:lnTo>
                    <a:pt x="29311" y="863600"/>
                  </a:lnTo>
                  <a:lnTo>
                    <a:pt x="39674" y="825500"/>
                  </a:lnTo>
                  <a:lnTo>
                    <a:pt x="51523" y="787400"/>
                  </a:lnTo>
                  <a:lnTo>
                    <a:pt x="64833" y="749300"/>
                  </a:lnTo>
                  <a:lnTo>
                    <a:pt x="79552" y="711200"/>
                  </a:lnTo>
                  <a:lnTo>
                    <a:pt x="95669" y="673100"/>
                  </a:lnTo>
                  <a:lnTo>
                    <a:pt x="113144" y="635000"/>
                  </a:lnTo>
                  <a:lnTo>
                    <a:pt x="131952" y="596900"/>
                  </a:lnTo>
                  <a:lnTo>
                    <a:pt x="152044" y="558800"/>
                  </a:lnTo>
                  <a:lnTo>
                    <a:pt x="173418" y="520700"/>
                  </a:lnTo>
                  <a:lnTo>
                    <a:pt x="195999" y="482600"/>
                  </a:lnTo>
                  <a:lnTo>
                    <a:pt x="211747" y="469900"/>
                  </a:lnTo>
                  <a:lnTo>
                    <a:pt x="228015" y="444500"/>
                  </a:lnTo>
                  <a:lnTo>
                    <a:pt x="244805" y="419100"/>
                  </a:lnTo>
                  <a:lnTo>
                    <a:pt x="262102" y="406400"/>
                  </a:lnTo>
                  <a:lnTo>
                    <a:pt x="279895" y="381000"/>
                  </a:lnTo>
                  <a:lnTo>
                    <a:pt x="298183" y="355600"/>
                  </a:lnTo>
                  <a:lnTo>
                    <a:pt x="316966" y="342900"/>
                  </a:lnTo>
                  <a:lnTo>
                    <a:pt x="336207" y="317500"/>
                  </a:lnTo>
                  <a:lnTo>
                    <a:pt x="355917" y="304800"/>
                  </a:lnTo>
                  <a:lnTo>
                    <a:pt x="376085" y="279400"/>
                  </a:lnTo>
                  <a:lnTo>
                    <a:pt x="396697" y="266700"/>
                  </a:lnTo>
                  <a:lnTo>
                    <a:pt x="417741" y="254000"/>
                  </a:lnTo>
                  <a:lnTo>
                    <a:pt x="439216" y="228600"/>
                  </a:lnTo>
                  <a:lnTo>
                    <a:pt x="461111" y="215900"/>
                  </a:lnTo>
                  <a:lnTo>
                    <a:pt x="506133" y="190500"/>
                  </a:lnTo>
                  <a:lnTo>
                    <a:pt x="529234" y="165100"/>
                  </a:lnTo>
                  <a:lnTo>
                    <a:pt x="552716" y="152400"/>
                  </a:lnTo>
                  <a:lnTo>
                    <a:pt x="582828" y="152400"/>
                  </a:lnTo>
                  <a:lnTo>
                    <a:pt x="570992" y="165100"/>
                  </a:lnTo>
                  <a:lnTo>
                    <a:pt x="559231" y="165100"/>
                  </a:lnTo>
                  <a:lnTo>
                    <a:pt x="513130" y="190500"/>
                  </a:lnTo>
                  <a:lnTo>
                    <a:pt x="490677" y="215900"/>
                  </a:lnTo>
                  <a:lnTo>
                    <a:pt x="468617" y="228600"/>
                  </a:lnTo>
                  <a:lnTo>
                    <a:pt x="446963" y="241300"/>
                  </a:lnTo>
                  <a:lnTo>
                    <a:pt x="425716" y="254000"/>
                  </a:lnTo>
                  <a:lnTo>
                    <a:pt x="404901" y="279400"/>
                  </a:lnTo>
                  <a:lnTo>
                    <a:pt x="384517" y="292100"/>
                  </a:lnTo>
                  <a:lnTo>
                    <a:pt x="364578" y="317500"/>
                  </a:lnTo>
                  <a:lnTo>
                    <a:pt x="345084" y="330200"/>
                  </a:lnTo>
                  <a:lnTo>
                    <a:pt x="326059" y="355600"/>
                  </a:lnTo>
                  <a:lnTo>
                    <a:pt x="307492" y="368300"/>
                  </a:lnTo>
                  <a:lnTo>
                    <a:pt x="289407" y="393700"/>
                  </a:lnTo>
                  <a:lnTo>
                    <a:pt x="271805" y="406400"/>
                  </a:lnTo>
                  <a:lnTo>
                    <a:pt x="254698" y="431800"/>
                  </a:lnTo>
                  <a:lnTo>
                    <a:pt x="238099" y="457200"/>
                  </a:lnTo>
                  <a:lnTo>
                    <a:pt x="222021" y="469900"/>
                  </a:lnTo>
                  <a:lnTo>
                    <a:pt x="191414" y="520700"/>
                  </a:lnTo>
                  <a:lnTo>
                    <a:pt x="169900" y="558800"/>
                  </a:lnTo>
                  <a:lnTo>
                    <a:pt x="162991" y="558800"/>
                  </a:lnTo>
                  <a:lnTo>
                    <a:pt x="143128" y="596900"/>
                  </a:lnTo>
                  <a:lnTo>
                    <a:pt x="124536" y="635000"/>
                  </a:lnTo>
                  <a:lnTo>
                    <a:pt x="107264" y="673100"/>
                  </a:lnTo>
                  <a:lnTo>
                    <a:pt x="91338" y="711200"/>
                  </a:lnTo>
                  <a:lnTo>
                    <a:pt x="76784" y="749300"/>
                  </a:lnTo>
                  <a:lnTo>
                    <a:pt x="63626" y="787400"/>
                  </a:lnTo>
                  <a:lnTo>
                    <a:pt x="51917" y="825500"/>
                  </a:lnTo>
                  <a:lnTo>
                    <a:pt x="41668" y="863600"/>
                  </a:lnTo>
                  <a:lnTo>
                    <a:pt x="32918" y="901700"/>
                  </a:lnTo>
                  <a:lnTo>
                    <a:pt x="27914" y="939800"/>
                  </a:lnTo>
                  <a:lnTo>
                    <a:pt x="25679" y="952500"/>
                  </a:lnTo>
                  <a:lnTo>
                    <a:pt x="20002" y="990600"/>
                  </a:lnTo>
                  <a:lnTo>
                    <a:pt x="15913" y="1028700"/>
                  </a:lnTo>
                  <a:lnTo>
                    <a:pt x="13436" y="1079500"/>
                  </a:lnTo>
                  <a:lnTo>
                    <a:pt x="12979" y="1092200"/>
                  </a:lnTo>
                  <a:lnTo>
                    <a:pt x="12700" y="1104900"/>
                  </a:lnTo>
                  <a:lnTo>
                    <a:pt x="12700" y="1130300"/>
                  </a:lnTo>
                  <a:lnTo>
                    <a:pt x="12979" y="1143000"/>
                  </a:lnTo>
                  <a:lnTo>
                    <a:pt x="13436" y="1155700"/>
                  </a:lnTo>
                  <a:lnTo>
                    <a:pt x="14084" y="1168400"/>
                  </a:lnTo>
                  <a:lnTo>
                    <a:pt x="14909" y="1193800"/>
                  </a:lnTo>
                  <a:lnTo>
                    <a:pt x="18478" y="1231900"/>
                  </a:lnTo>
                  <a:lnTo>
                    <a:pt x="23622" y="1270000"/>
                  </a:lnTo>
                  <a:lnTo>
                    <a:pt x="30340" y="1308100"/>
                  </a:lnTo>
                  <a:lnTo>
                    <a:pt x="32931" y="1320800"/>
                  </a:lnTo>
                  <a:lnTo>
                    <a:pt x="35674" y="1346200"/>
                  </a:lnTo>
                  <a:lnTo>
                    <a:pt x="44945" y="1384300"/>
                  </a:lnTo>
                  <a:lnTo>
                    <a:pt x="55689" y="1422400"/>
                  </a:lnTo>
                  <a:lnTo>
                    <a:pt x="67881" y="1460500"/>
                  </a:lnTo>
                  <a:lnTo>
                    <a:pt x="81508" y="1498600"/>
                  </a:lnTo>
                  <a:lnTo>
                    <a:pt x="96520" y="1536700"/>
                  </a:lnTo>
                  <a:lnTo>
                    <a:pt x="112902" y="1574800"/>
                  </a:lnTo>
                  <a:lnTo>
                    <a:pt x="130619" y="1612900"/>
                  </a:lnTo>
                  <a:lnTo>
                    <a:pt x="149644" y="1651000"/>
                  </a:lnTo>
                  <a:lnTo>
                    <a:pt x="156273" y="1663700"/>
                  </a:lnTo>
                  <a:lnTo>
                    <a:pt x="163029" y="1663700"/>
                  </a:lnTo>
                  <a:lnTo>
                    <a:pt x="169938" y="1676400"/>
                  </a:lnTo>
                  <a:lnTo>
                    <a:pt x="191477" y="1714500"/>
                  </a:lnTo>
                  <a:lnTo>
                    <a:pt x="222110" y="1765300"/>
                  </a:lnTo>
                  <a:lnTo>
                    <a:pt x="238201" y="1778000"/>
                  </a:lnTo>
                  <a:lnTo>
                    <a:pt x="254800" y="1803400"/>
                  </a:lnTo>
                  <a:lnTo>
                    <a:pt x="271906" y="1828800"/>
                  </a:lnTo>
                  <a:lnTo>
                    <a:pt x="289509" y="1841500"/>
                  </a:lnTo>
                  <a:lnTo>
                    <a:pt x="307594" y="1866900"/>
                  </a:lnTo>
                  <a:lnTo>
                    <a:pt x="326161" y="1879600"/>
                  </a:lnTo>
                  <a:lnTo>
                    <a:pt x="345198" y="1905000"/>
                  </a:lnTo>
                  <a:lnTo>
                    <a:pt x="364693" y="1917700"/>
                  </a:lnTo>
                  <a:lnTo>
                    <a:pt x="384632" y="1943100"/>
                  </a:lnTo>
                  <a:lnTo>
                    <a:pt x="405015" y="1955800"/>
                  </a:lnTo>
                  <a:lnTo>
                    <a:pt x="425830" y="1968500"/>
                  </a:lnTo>
                  <a:lnTo>
                    <a:pt x="447078" y="1993900"/>
                  </a:lnTo>
                  <a:lnTo>
                    <a:pt x="468731" y="2006600"/>
                  </a:lnTo>
                  <a:lnTo>
                    <a:pt x="490791" y="2019300"/>
                  </a:lnTo>
                  <a:lnTo>
                    <a:pt x="513257" y="2032000"/>
                  </a:lnTo>
                  <a:lnTo>
                    <a:pt x="536105" y="2057400"/>
                  </a:lnTo>
                  <a:lnTo>
                    <a:pt x="559333" y="2070100"/>
                  </a:lnTo>
                  <a:lnTo>
                    <a:pt x="571055" y="2070100"/>
                  </a:lnTo>
                  <a:lnTo>
                    <a:pt x="582891" y="2082800"/>
                  </a:lnTo>
                  <a:close/>
                </a:path>
                <a:path w="2296795" h="2235200">
                  <a:moveTo>
                    <a:pt x="1743532" y="2082800"/>
                  </a:moveTo>
                  <a:lnTo>
                    <a:pt x="1713407" y="2082800"/>
                  </a:lnTo>
                  <a:lnTo>
                    <a:pt x="1725256" y="2070100"/>
                  </a:lnTo>
                  <a:lnTo>
                    <a:pt x="1737004" y="2070100"/>
                  </a:lnTo>
                  <a:lnTo>
                    <a:pt x="1760258" y="2057400"/>
                  </a:lnTo>
                  <a:lnTo>
                    <a:pt x="1783105" y="2032000"/>
                  </a:lnTo>
                  <a:lnTo>
                    <a:pt x="1805571" y="2019300"/>
                  </a:lnTo>
                  <a:lnTo>
                    <a:pt x="1827631" y="2006600"/>
                  </a:lnTo>
                  <a:lnTo>
                    <a:pt x="1849285" y="1993900"/>
                  </a:lnTo>
                  <a:lnTo>
                    <a:pt x="1870519" y="1968500"/>
                  </a:lnTo>
                  <a:lnTo>
                    <a:pt x="1891334" y="1955800"/>
                  </a:lnTo>
                  <a:lnTo>
                    <a:pt x="1911718" y="1943100"/>
                  </a:lnTo>
                  <a:lnTo>
                    <a:pt x="1931657" y="1917700"/>
                  </a:lnTo>
                  <a:lnTo>
                    <a:pt x="1951151" y="1905000"/>
                  </a:lnTo>
                  <a:lnTo>
                    <a:pt x="1970189" y="1879600"/>
                  </a:lnTo>
                  <a:lnTo>
                    <a:pt x="1988743" y="1866900"/>
                  </a:lnTo>
                  <a:lnTo>
                    <a:pt x="2006828" y="1841500"/>
                  </a:lnTo>
                  <a:lnTo>
                    <a:pt x="2024430" y="1828800"/>
                  </a:lnTo>
                  <a:lnTo>
                    <a:pt x="2041537" y="1803400"/>
                  </a:lnTo>
                  <a:lnTo>
                    <a:pt x="2058136" y="1778000"/>
                  </a:lnTo>
                  <a:lnTo>
                    <a:pt x="2074227" y="1765300"/>
                  </a:lnTo>
                  <a:lnTo>
                    <a:pt x="2104821" y="1714500"/>
                  </a:lnTo>
                  <a:lnTo>
                    <a:pt x="2126335" y="1676400"/>
                  </a:lnTo>
                  <a:lnTo>
                    <a:pt x="2133244" y="1663700"/>
                  </a:lnTo>
                  <a:lnTo>
                    <a:pt x="2140013" y="1663700"/>
                  </a:lnTo>
                  <a:lnTo>
                    <a:pt x="2159457" y="1625600"/>
                  </a:lnTo>
                  <a:lnTo>
                    <a:pt x="2177605" y="1587500"/>
                  </a:lnTo>
                  <a:lnTo>
                    <a:pt x="2194432" y="1549400"/>
                  </a:lnTo>
                  <a:lnTo>
                    <a:pt x="2209914" y="1511300"/>
                  </a:lnTo>
                  <a:lnTo>
                    <a:pt x="2223998" y="1473200"/>
                  </a:lnTo>
                  <a:lnTo>
                    <a:pt x="2236673" y="1435100"/>
                  </a:lnTo>
                  <a:lnTo>
                    <a:pt x="2247900" y="1397000"/>
                  </a:lnTo>
                  <a:lnTo>
                    <a:pt x="2257653" y="1358900"/>
                  </a:lnTo>
                  <a:lnTo>
                    <a:pt x="2263330" y="1320800"/>
                  </a:lnTo>
                  <a:lnTo>
                    <a:pt x="2265908" y="1308100"/>
                  </a:lnTo>
                  <a:lnTo>
                    <a:pt x="2272626" y="1270000"/>
                  </a:lnTo>
                  <a:lnTo>
                    <a:pt x="2277770" y="1231900"/>
                  </a:lnTo>
                  <a:lnTo>
                    <a:pt x="2281326" y="1193800"/>
                  </a:lnTo>
                  <a:lnTo>
                    <a:pt x="2282151" y="1168400"/>
                  </a:lnTo>
                  <a:lnTo>
                    <a:pt x="2282799" y="1155700"/>
                  </a:lnTo>
                  <a:lnTo>
                    <a:pt x="2283256" y="1143000"/>
                  </a:lnTo>
                  <a:lnTo>
                    <a:pt x="2283536" y="1130300"/>
                  </a:lnTo>
                  <a:lnTo>
                    <a:pt x="2283536" y="1104900"/>
                  </a:lnTo>
                  <a:lnTo>
                    <a:pt x="2283256" y="1092200"/>
                  </a:lnTo>
                  <a:lnTo>
                    <a:pt x="2282799" y="1079500"/>
                  </a:lnTo>
                  <a:lnTo>
                    <a:pt x="2282151" y="1054100"/>
                  </a:lnTo>
                  <a:lnTo>
                    <a:pt x="2279129" y="1016000"/>
                  </a:lnTo>
                  <a:lnTo>
                    <a:pt x="2274506" y="977900"/>
                  </a:lnTo>
                  <a:lnTo>
                    <a:pt x="2268308" y="939800"/>
                  </a:lnTo>
                  <a:lnTo>
                    <a:pt x="2265895" y="914400"/>
                  </a:lnTo>
                  <a:lnTo>
                    <a:pt x="2257640" y="876300"/>
                  </a:lnTo>
                  <a:lnTo>
                    <a:pt x="2247887" y="838200"/>
                  </a:lnTo>
                  <a:lnTo>
                    <a:pt x="2236647" y="800100"/>
                  </a:lnTo>
                  <a:lnTo>
                    <a:pt x="2223973" y="762000"/>
                  </a:lnTo>
                  <a:lnTo>
                    <a:pt x="2209876" y="723900"/>
                  </a:lnTo>
                  <a:lnTo>
                    <a:pt x="2194407" y="685800"/>
                  </a:lnTo>
                  <a:lnTo>
                    <a:pt x="2177580" y="647700"/>
                  </a:lnTo>
                  <a:lnTo>
                    <a:pt x="2159419" y="609600"/>
                  </a:lnTo>
                  <a:lnTo>
                    <a:pt x="2139975" y="571500"/>
                  </a:lnTo>
                  <a:lnTo>
                    <a:pt x="2126297" y="546100"/>
                  </a:lnTo>
                  <a:lnTo>
                    <a:pt x="2119261" y="546100"/>
                  </a:lnTo>
                  <a:lnTo>
                    <a:pt x="2112073" y="533400"/>
                  </a:lnTo>
                  <a:lnTo>
                    <a:pt x="2104758" y="520700"/>
                  </a:lnTo>
                  <a:lnTo>
                    <a:pt x="2089784" y="495300"/>
                  </a:lnTo>
                  <a:lnTo>
                    <a:pt x="2074138" y="469900"/>
                  </a:lnTo>
                  <a:lnTo>
                    <a:pt x="2058047" y="457200"/>
                  </a:lnTo>
                  <a:lnTo>
                    <a:pt x="2041436" y="431800"/>
                  </a:lnTo>
                  <a:lnTo>
                    <a:pt x="2024329" y="406400"/>
                  </a:lnTo>
                  <a:lnTo>
                    <a:pt x="2006727" y="393700"/>
                  </a:lnTo>
                  <a:lnTo>
                    <a:pt x="1988642" y="368300"/>
                  </a:lnTo>
                  <a:lnTo>
                    <a:pt x="1970074" y="355600"/>
                  </a:lnTo>
                  <a:lnTo>
                    <a:pt x="1951050" y="330200"/>
                  </a:lnTo>
                  <a:lnTo>
                    <a:pt x="1931555" y="317500"/>
                  </a:lnTo>
                  <a:lnTo>
                    <a:pt x="1911603" y="292100"/>
                  </a:lnTo>
                  <a:lnTo>
                    <a:pt x="1891220" y="279400"/>
                  </a:lnTo>
                  <a:lnTo>
                    <a:pt x="1870405" y="254000"/>
                  </a:lnTo>
                  <a:lnTo>
                    <a:pt x="1849158" y="241300"/>
                  </a:lnTo>
                  <a:lnTo>
                    <a:pt x="1827504" y="228600"/>
                  </a:lnTo>
                  <a:lnTo>
                    <a:pt x="1805444" y="215900"/>
                  </a:lnTo>
                  <a:lnTo>
                    <a:pt x="1782978" y="190500"/>
                  </a:lnTo>
                  <a:lnTo>
                    <a:pt x="1736902" y="165100"/>
                  </a:lnTo>
                  <a:lnTo>
                    <a:pt x="1725193" y="165100"/>
                  </a:lnTo>
                  <a:lnTo>
                    <a:pt x="1713344" y="152400"/>
                  </a:lnTo>
                  <a:lnTo>
                    <a:pt x="1743430" y="152400"/>
                  </a:lnTo>
                  <a:lnTo>
                    <a:pt x="1766874" y="165100"/>
                  </a:lnTo>
                  <a:lnTo>
                    <a:pt x="1789988" y="190500"/>
                  </a:lnTo>
                  <a:lnTo>
                    <a:pt x="1812696" y="203200"/>
                  </a:lnTo>
                  <a:lnTo>
                    <a:pt x="1834997" y="215900"/>
                  </a:lnTo>
                  <a:lnTo>
                    <a:pt x="1856905" y="228600"/>
                  </a:lnTo>
                  <a:lnTo>
                    <a:pt x="1878380" y="254000"/>
                  </a:lnTo>
                  <a:lnTo>
                    <a:pt x="1899437" y="266700"/>
                  </a:lnTo>
                  <a:lnTo>
                    <a:pt x="1920049" y="279400"/>
                  </a:lnTo>
                  <a:lnTo>
                    <a:pt x="1940217" y="304800"/>
                  </a:lnTo>
                  <a:lnTo>
                    <a:pt x="1959927" y="317500"/>
                  </a:lnTo>
                  <a:lnTo>
                    <a:pt x="1979168" y="342900"/>
                  </a:lnTo>
                  <a:lnTo>
                    <a:pt x="1997951" y="355600"/>
                  </a:lnTo>
                  <a:lnTo>
                    <a:pt x="2016239" y="381000"/>
                  </a:lnTo>
                  <a:lnTo>
                    <a:pt x="2034044" y="406400"/>
                  </a:lnTo>
                  <a:lnTo>
                    <a:pt x="2051342" y="419100"/>
                  </a:lnTo>
                  <a:lnTo>
                    <a:pt x="2068131" y="444500"/>
                  </a:lnTo>
                  <a:lnTo>
                    <a:pt x="2084400" y="469900"/>
                  </a:lnTo>
                  <a:lnTo>
                    <a:pt x="2100148" y="482600"/>
                  </a:lnTo>
                  <a:lnTo>
                    <a:pt x="2115362" y="508000"/>
                  </a:lnTo>
                  <a:lnTo>
                    <a:pt x="2137168" y="546100"/>
                  </a:lnTo>
                  <a:lnTo>
                    <a:pt x="2157704" y="584200"/>
                  </a:lnTo>
                  <a:lnTo>
                    <a:pt x="2176945" y="622300"/>
                  </a:lnTo>
                  <a:lnTo>
                    <a:pt x="2194864" y="660400"/>
                  </a:lnTo>
                  <a:lnTo>
                    <a:pt x="2206066" y="685800"/>
                  </a:lnTo>
                  <a:lnTo>
                    <a:pt x="2211438" y="685800"/>
                  </a:lnTo>
                  <a:lnTo>
                    <a:pt x="2216657" y="698500"/>
                  </a:lnTo>
                  <a:lnTo>
                    <a:pt x="2221712" y="723900"/>
                  </a:lnTo>
                  <a:lnTo>
                    <a:pt x="2226627" y="736600"/>
                  </a:lnTo>
                  <a:lnTo>
                    <a:pt x="2240406" y="774700"/>
                  </a:lnTo>
                  <a:lnTo>
                    <a:pt x="2252751" y="812800"/>
                  </a:lnTo>
                  <a:lnTo>
                    <a:pt x="2263622" y="850900"/>
                  </a:lnTo>
                  <a:lnTo>
                    <a:pt x="2272995" y="889000"/>
                  </a:lnTo>
                  <a:lnTo>
                    <a:pt x="2280831" y="927100"/>
                  </a:lnTo>
                  <a:lnTo>
                    <a:pt x="2285187" y="965200"/>
                  </a:lnTo>
                  <a:lnTo>
                    <a:pt x="2287104" y="977900"/>
                  </a:lnTo>
                  <a:lnTo>
                    <a:pt x="2291778" y="1016000"/>
                  </a:lnTo>
                  <a:lnTo>
                    <a:pt x="2294839" y="1054100"/>
                  </a:lnTo>
                  <a:lnTo>
                    <a:pt x="2295486" y="1079500"/>
                  </a:lnTo>
                  <a:lnTo>
                    <a:pt x="2295956" y="1092200"/>
                  </a:lnTo>
                  <a:lnTo>
                    <a:pt x="2296236" y="1104900"/>
                  </a:lnTo>
                  <a:lnTo>
                    <a:pt x="2296236" y="1130300"/>
                  </a:lnTo>
                  <a:lnTo>
                    <a:pt x="2295956" y="1143000"/>
                  </a:lnTo>
                  <a:lnTo>
                    <a:pt x="2295486" y="1155700"/>
                  </a:lnTo>
                  <a:lnTo>
                    <a:pt x="2294839" y="1168400"/>
                  </a:lnTo>
                  <a:lnTo>
                    <a:pt x="2294001" y="1193800"/>
                  </a:lnTo>
                  <a:lnTo>
                    <a:pt x="2290406" y="1231900"/>
                  </a:lnTo>
                  <a:lnTo>
                    <a:pt x="2285199" y="1270000"/>
                  </a:lnTo>
                  <a:lnTo>
                    <a:pt x="2280843" y="1295400"/>
                  </a:lnTo>
                  <a:lnTo>
                    <a:pt x="2278405" y="1320800"/>
                  </a:lnTo>
                  <a:lnTo>
                    <a:pt x="2270048" y="1358900"/>
                  </a:lnTo>
                  <a:lnTo>
                    <a:pt x="2260180" y="1397000"/>
                  </a:lnTo>
                  <a:lnTo>
                    <a:pt x="2248827" y="1435100"/>
                  </a:lnTo>
                  <a:lnTo>
                    <a:pt x="2236000" y="1473200"/>
                  </a:lnTo>
                  <a:lnTo>
                    <a:pt x="2221750" y="1511300"/>
                  </a:lnTo>
                  <a:lnTo>
                    <a:pt x="2206091" y="1549400"/>
                  </a:lnTo>
                  <a:lnTo>
                    <a:pt x="2189073" y="1587500"/>
                  </a:lnTo>
                  <a:lnTo>
                    <a:pt x="2170709" y="1625600"/>
                  </a:lnTo>
                  <a:lnTo>
                    <a:pt x="2151037" y="1663700"/>
                  </a:lnTo>
                  <a:lnTo>
                    <a:pt x="2130082" y="1701800"/>
                  </a:lnTo>
                  <a:lnTo>
                    <a:pt x="2100237" y="1739900"/>
                  </a:lnTo>
                  <a:lnTo>
                    <a:pt x="2084501" y="1765300"/>
                  </a:lnTo>
                  <a:lnTo>
                    <a:pt x="2068220" y="1790700"/>
                  </a:lnTo>
                  <a:lnTo>
                    <a:pt x="2051430" y="1816100"/>
                  </a:lnTo>
                  <a:lnTo>
                    <a:pt x="2034133" y="1828800"/>
                  </a:lnTo>
                  <a:lnTo>
                    <a:pt x="2016340" y="1854200"/>
                  </a:lnTo>
                  <a:lnTo>
                    <a:pt x="1998052" y="1866900"/>
                  </a:lnTo>
                  <a:lnTo>
                    <a:pt x="1979282" y="1892300"/>
                  </a:lnTo>
                  <a:lnTo>
                    <a:pt x="1960029" y="1905000"/>
                  </a:lnTo>
                  <a:lnTo>
                    <a:pt x="1940318" y="1930400"/>
                  </a:lnTo>
                  <a:lnTo>
                    <a:pt x="1920163" y="1943100"/>
                  </a:lnTo>
                  <a:lnTo>
                    <a:pt x="1899551" y="1968500"/>
                  </a:lnTo>
                  <a:lnTo>
                    <a:pt x="1878495" y="1981200"/>
                  </a:lnTo>
                  <a:lnTo>
                    <a:pt x="1857019" y="2006600"/>
                  </a:lnTo>
                  <a:lnTo>
                    <a:pt x="1835124" y="2019300"/>
                  </a:lnTo>
                  <a:lnTo>
                    <a:pt x="1812823" y="2032000"/>
                  </a:lnTo>
                  <a:lnTo>
                    <a:pt x="1767014" y="2057400"/>
                  </a:lnTo>
                  <a:lnTo>
                    <a:pt x="1743532" y="2082800"/>
                  </a:lnTo>
                  <a:close/>
                </a:path>
                <a:path w="2296795" h="2235200">
                  <a:moveTo>
                    <a:pt x="606856" y="2095500"/>
                  </a:moveTo>
                  <a:lnTo>
                    <a:pt x="576668" y="2095500"/>
                  </a:lnTo>
                  <a:lnTo>
                    <a:pt x="564692" y="2082800"/>
                  </a:lnTo>
                  <a:lnTo>
                    <a:pt x="594829" y="2082800"/>
                  </a:lnTo>
                  <a:lnTo>
                    <a:pt x="606856" y="2095500"/>
                  </a:lnTo>
                  <a:close/>
                </a:path>
                <a:path w="2296795" h="2235200">
                  <a:moveTo>
                    <a:pt x="1719630" y="2095500"/>
                  </a:moveTo>
                  <a:lnTo>
                    <a:pt x="1689455" y="2095500"/>
                  </a:lnTo>
                  <a:lnTo>
                    <a:pt x="1701482" y="2082800"/>
                  </a:lnTo>
                  <a:lnTo>
                    <a:pt x="1731606" y="2082800"/>
                  </a:lnTo>
                  <a:lnTo>
                    <a:pt x="1719630" y="2095500"/>
                  </a:lnTo>
                  <a:close/>
                </a:path>
                <a:path w="2296795" h="2235200">
                  <a:moveTo>
                    <a:pt x="631164" y="2108200"/>
                  </a:moveTo>
                  <a:lnTo>
                    <a:pt x="600900" y="2108200"/>
                  </a:lnTo>
                  <a:lnTo>
                    <a:pt x="588733" y="2095500"/>
                  </a:lnTo>
                  <a:lnTo>
                    <a:pt x="618959" y="2095500"/>
                  </a:lnTo>
                  <a:lnTo>
                    <a:pt x="631164" y="2108200"/>
                  </a:lnTo>
                  <a:close/>
                </a:path>
                <a:path w="2296795" h="2235200">
                  <a:moveTo>
                    <a:pt x="1695411" y="2108200"/>
                  </a:moveTo>
                  <a:lnTo>
                    <a:pt x="1665147" y="2108200"/>
                  </a:lnTo>
                  <a:lnTo>
                    <a:pt x="1677339" y="2095500"/>
                  </a:lnTo>
                  <a:lnTo>
                    <a:pt x="1707565" y="2095500"/>
                  </a:lnTo>
                  <a:lnTo>
                    <a:pt x="1695411" y="2108200"/>
                  </a:lnTo>
                  <a:close/>
                </a:path>
                <a:path w="2296795" h="2235200">
                  <a:moveTo>
                    <a:pt x="655815" y="2120900"/>
                  </a:moveTo>
                  <a:lnTo>
                    <a:pt x="625475" y="2120900"/>
                  </a:lnTo>
                  <a:lnTo>
                    <a:pt x="613143" y="2108200"/>
                  </a:lnTo>
                  <a:lnTo>
                    <a:pt x="643445" y="2108200"/>
                  </a:lnTo>
                  <a:lnTo>
                    <a:pt x="655815" y="2120900"/>
                  </a:lnTo>
                  <a:close/>
                </a:path>
                <a:path w="2296795" h="2235200">
                  <a:moveTo>
                    <a:pt x="1670837" y="2120900"/>
                  </a:moveTo>
                  <a:lnTo>
                    <a:pt x="1640497" y="2120900"/>
                  </a:lnTo>
                  <a:lnTo>
                    <a:pt x="1652866" y="2108200"/>
                  </a:lnTo>
                  <a:lnTo>
                    <a:pt x="1683169" y="2108200"/>
                  </a:lnTo>
                  <a:lnTo>
                    <a:pt x="1670837" y="2120900"/>
                  </a:lnTo>
                  <a:close/>
                </a:path>
                <a:path w="2296795" h="2235200">
                  <a:moveTo>
                    <a:pt x="680808" y="2133600"/>
                  </a:moveTo>
                  <a:lnTo>
                    <a:pt x="650405" y="2133600"/>
                  </a:lnTo>
                  <a:lnTo>
                    <a:pt x="637895" y="2120900"/>
                  </a:lnTo>
                  <a:lnTo>
                    <a:pt x="668274" y="2120900"/>
                  </a:lnTo>
                  <a:lnTo>
                    <a:pt x="680808" y="2133600"/>
                  </a:lnTo>
                  <a:close/>
                </a:path>
                <a:path w="2296795" h="2235200">
                  <a:moveTo>
                    <a:pt x="1645907" y="2133600"/>
                  </a:moveTo>
                  <a:lnTo>
                    <a:pt x="1615503" y="2133600"/>
                  </a:lnTo>
                  <a:lnTo>
                    <a:pt x="1628038" y="2120900"/>
                  </a:lnTo>
                  <a:lnTo>
                    <a:pt x="1658416" y="2120900"/>
                  </a:lnTo>
                  <a:lnTo>
                    <a:pt x="1645907" y="2133600"/>
                  </a:lnTo>
                  <a:close/>
                </a:path>
                <a:path w="2296795" h="2235200">
                  <a:moveTo>
                    <a:pt x="706120" y="2146300"/>
                  </a:moveTo>
                  <a:lnTo>
                    <a:pt x="675665" y="2146300"/>
                  </a:lnTo>
                  <a:lnTo>
                    <a:pt x="662990" y="2133600"/>
                  </a:lnTo>
                  <a:lnTo>
                    <a:pt x="693420" y="2133600"/>
                  </a:lnTo>
                  <a:lnTo>
                    <a:pt x="706120" y="2146300"/>
                  </a:lnTo>
                  <a:close/>
                </a:path>
                <a:path w="2296795" h="2235200">
                  <a:moveTo>
                    <a:pt x="1620647" y="2146300"/>
                  </a:moveTo>
                  <a:lnTo>
                    <a:pt x="1577416" y="2146300"/>
                  </a:lnTo>
                  <a:lnTo>
                    <a:pt x="1590192" y="2133600"/>
                  </a:lnTo>
                  <a:lnTo>
                    <a:pt x="1633321" y="2133600"/>
                  </a:lnTo>
                  <a:lnTo>
                    <a:pt x="1620647" y="2146300"/>
                  </a:lnTo>
                  <a:close/>
                </a:path>
                <a:path w="2296795" h="2235200">
                  <a:moveTo>
                    <a:pt x="744677" y="2159000"/>
                  </a:moveTo>
                  <a:lnTo>
                    <a:pt x="714184" y="2159000"/>
                  </a:lnTo>
                  <a:lnTo>
                    <a:pt x="701268" y="2146300"/>
                  </a:lnTo>
                  <a:lnTo>
                    <a:pt x="731748" y="2146300"/>
                  </a:lnTo>
                  <a:lnTo>
                    <a:pt x="744677" y="2159000"/>
                  </a:lnTo>
                  <a:close/>
                </a:path>
                <a:path w="2296795" h="2235200">
                  <a:moveTo>
                    <a:pt x="1582127" y="2159000"/>
                  </a:moveTo>
                  <a:lnTo>
                    <a:pt x="1551635" y="2159000"/>
                  </a:lnTo>
                  <a:lnTo>
                    <a:pt x="1564563" y="2146300"/>
                  </a:lnTo>
                  <a:lnTo>
                    <a:pt x="1595043" y="2146300"/>
                  </a:lnTo>
                  <a:lnTo>
                    <a:pt x="1582127" y="2159000"/>
                  </a:lnTo>
                  <a:close/>
                </a:path>
                <a:path w="2296795" h="2235200">
                  <a:moveTo>
                    <a:pt x="783920" y="2171700"/>
                  </a:moveTo>
                  <a:lnTo>
                    <a:pt x="740257" y="2171700"/>
                  </a:lnTo>
                  <a:lnTo>
                    <a:pt x="727176" y="2159000"/>
                  </a:lnTo>
                  <a:lnTo>
                    <a:pt x="770762" y="2159000"/>
                  </a:lnTo>
                  <a:lnTo>
                    <a:pt x="783920" y="2171700"/>
                  </a:lnTo>
                  <a:close/>
                </a:path>
                <a:path w="2296795" h="2235200">
                  <a:moveTo>
                    <a:pt x="1556054" y="2171700"/>
                  </a:moveTo>
                  <a:lnTo>
                    <a:pt x="1512392" y="2171700"/>
                  </a:lnTo>
                  <a:lnTo>
                    <a:pt x="1525549" y="2159000"/>
                  </a:lnTo>
                  <a:lnTo>
                    <a:pt x="1569135" y="2159000"/>
                  </a:lnTo>
                  <a:lnTo>
                    <a:pt x="1556054" y="2171700"/>
                  </a:lnTo>
                  <a:close/>
                </a:path>
                <a:path w="2296795" h="2235200">
                  <a:moveTo>
                    <a:pt x="823823" y="2184400"/>
                  </a:moveTo>
                  <a:lnTo>
                    <a:pt x="779932" y="2184400"/>
                  </a:lnTo>
                  <a:lnTo>
                    <a:pt x="766635" y="2171700"/>
                  </a:lnTo>
                  <a:lnTo>
                    <a:pt x="810450" y="2171700"/>
                  </a:lnTo>
                  <a:lnTo>
                    <a:pt x="823823" y="2184400"/>
                  </a:lnTo>
                  <a:close/>
                </a:path>
                <a:path w="2296795" h="2235200">
                  <a:moveTo>
                    <a:pt x="1516379" y="2184400"/>
                  </a:moveTo>
                  <a:lnTo>
                    <a:pt x="1472488" y="2184400"/>
                  </a:lnTo>
                  <a:lnTo>
                    <a:pt x="1485861" y="2171700"/>
                  </a:lnTo>
                  <a:lnTo>
                    <a:pt x="1529676" y="2171700"/>
                  </a:lnTo>
                  <a:lnTo>
                    <a:pt x="1516379" y="2184400"/>
                  </a:lnTo>
                  <a:close/>
                </a:path>
                <a:path w="2296795" h="2235200">
                  <a:moveTo>
                    <a:pt x="864336" y="2197100"/>
                  </a:moveTo>
                  <a:lnTo>
                    <a:pt x="820267" y="2197100"/>
                  </a:lnTo>
                  <a:lnTo>
                    <a:pt x="806754" y="2184400"/>
                  </a:lnTo>
                  <a:lnTo>
                    <a:pt x="850760" y="2184400"/>
                  </a:lnTo>
                  <a:lnTo>
                    <a:pt x="864336" y="2197100"/>
                  </a:lnTo>
                  <a:close/>
                </a:path>
                <a:path w="2296795" h="2235200">
                  <a:moveTo>
                    <a:pt x="1476044" y="2197100"/>
                  </a:moveTo>
                  <a:lnTo>
                    <a:pt x="1431975" y="2197100"/>
                  </a:lnTo>
                  <a:lnTo>
                    <a:pt x="1445552" y="2184400"/>
                  </a:lnTo>
                  <a:lnTo>
                    <a:pt x="1489557" y="2184400"/>
                  </a:lnTo>
                  <a:lnTo>
                    <a:pt x="1476044" y="2197100"/>
                  </a:lnTo>
                  <a:close/>
                </a:path>
                <a:path w="2296795" h="2235200">
                  <a:moveTo>
                    <a:pt x="919276" y="2209800"/>
                  </a:moveTo>
                  <a:lnTo>
                    <a:pt x="861237" y="2209800"/>
                  </a:lnTo>
                  <a:lnTo>
                    <a:pt x="847509" y="2197100"/>
                  </a:lnTo>
                  <a:lnTo>
                    <a:pt x="905446" y="2197100"/>
                  </a:lnTo>
                  <a:lnTo>
                    <a:pt x="919276" y="2209800"/>
                  </a:lnTo>
                  <a:close/>
                </a:path>
                <a:path w="2296795" h="2235200">
                  <a:moveTo>
                    <a:pt x="1435074" y="2209800"/>
                  </a:moveTo>
                  <a:lnTo>
                    <a:pt x="1377035" y="2209800"/>
                  </a:lnTo>
                  <a:lnTo>
                    <a:pt x="1390865" y="2197100"/>
                  </a:lnTo>
                  <a:lnTo>
                    <a:pt x="1448803" y="2197100"/>
                  </a:lnTo>
                  <a:lnTo>
                    <a:pt x="1435074" y="2209800"/>
                  </a:lnTo>
                  <a:close/>
                </a:path>
                <a:path w="2296795" h="2235200">
                  <a:moveTo>
                    <a:pt x="989329" y="2222500"/>
                  </a:moveTo>
                  <a:lnTo>
                    <a:pt x="916787" y="2222500"/>
                  </a:lnTo>
                  <a:lnTo>
                    <a:pt x="902804" y="2209800"/>
                  </a:lnTo>
                  <a:lnTo>
                    <a:pt x="975207" y="2209800"/>
                  </a:lnTo>
                  <a:lnTo>
                    <a:pt x="989329" y="2222500"/>
                  </a:lnTo>
                  <a:close/>
                </a:path>
                <a:path w="2296795" h="2235200">
                  <a:moveTo>
                    <a:pt x="1379524" y="2222500"/>
                  </a:moveTo>
                  <a:lnTo>
                    <a:pt x="1306982" y="2222500"/>
                  </a:lnTo>
                  <a:lnTo>
                    <a:pt x="1321117" y="2209800"/>
                  </a:lnTo>
                  <a:lnTo>
                    <a:pt x="1393507" y="2209800"/>
                  </a:lnTo>
                  <a:lnTo>
                    <a:pt x="1379524" y="2222500"/>
                  </a:lnTo>
                  <a:close/>
                </a:path>
                <a:path w="2296795" h="2235200">
                  <a:moveTo>
                    <a:pt x="1308709" y="2235200"/>
                  </a:moveTo>
                  <a:lnTo>
                    <a:pt x="987602" y="2235200"/>
                  </a:lnTo>
                  <a:lnTo>
                    <a:pt x="973327" y="2222500"/>
                  </a:lnTo>
                  <a:lnTo>
                    <a:pt x="1322997" y="2222500"/>
                  </a:lnTo>
                  <a:lnTo>
                    <a:pt x="1308709" y="22352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6250278" y="6173220"/>
              <a:ext cx="3432333" cy="12740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91719" y="3568484"/>
              <a:ext cx="174116" cy="273653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41222" y="4127893"/>
              <a:ext cx="1806003" cy="1707476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747077" y="257492"/>
            <a:ext cx="38100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数据归一化</a:t>
            </a:r>
            <a:r>
              <a:rPr spc="-10" dirty="0">
                <a:latin typeface="Arial" panose="020B0604020202020204"/>
                <a:cs typeface="Arial" panose="020B0604020202020204"/>
              </a:rPr>
              <a:t>/</a:t>
            </a:r>
            <a:r>
              <a:rPr spc="-20" dirty="0"/>
              <a:t>标准化</a:t>
            </a:r>
            <a:endParaRPr spc="-20" dirty="0"/>
          </a:p>
        </p:txBody>
      </p:sp>
      <p:sp>
        <p:nvSpPr>
          <p:cNvPr id="9" name="object 9"/>
          <p:cNvSpPr txBox="1"/>
          <p:nvPr/>
        </p:nvSpPr>
        <p:spPr>
          <a:xfrm>
            <a:off x="8803665" y="6218554"/>
            <a:ext cx="4305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 panose="02040503050406030204"/>
                <a:cs typeface="Cambria Math" panose="02040503050406030204"/>
              </a:rPr>
              <a:t>𝑤</a:t>
            </a:r>
            <a:r>
              <a:rPr sz="2625" spc="-37" baseline="-16000" dirty="0">
                <a:latin typeface="Cambria Math" panose="02040503050406030204"/>
                <a:cs typeface="Cambria Math" panose="02040503050406030204"/>
              </a:rPr>
              <a:t>1</a:t>
            </a:r>
            <a:endParaRPr sz="2625" baseline="-16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64809" y="4034955"/>
            <a:ext cx="4305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 panose="02040503050406030204"/>
                <a:cs typeface="Cambria Math" panose="02040503050406030204"/>
              </a:rPr>
              <a:t>𝑤</a:t>
            </a:r>
            <a:r>
              <a:rPr sz="2625" spc="-37" baseline="-16000" dirty="0">
                <a:latin typeface="Cambria Math" panose="02040503050406030204"/>
                <a:cs typeface="Cambria Math" panose="02040503050406030204"/>
              </a:rPr>
              <a:t>2</a:t>
            </a:r>
            <a:endParaRPr sz="2625" baseline="-16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586664" y="5629770"/>
            <a:ext cx="53403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30" dirty="0">
                <a:solidFill>
                  <a:srgbClr val="0066CC"/>
                </a:solidFill>
                <a:latin typeface="微软雅黑" panose="020B0503020204020204" charset="-122"/>
                <a:cs typeface="微软雅黑" panose="020B0503020204020204" charset="-122"/>
              </a:rPr>
              <a:t>梯度</a:t>
            </a:r>
            <a:endParaRPr sz="2000">
              <a:latin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882357" y="3217964"/>
            <a:ext cx="3491229" cy="3166745"/>
            <a:chOff x="882357" y="3217964"/>
            <a:chExt cx="3491229" cy="3166745"/>
          </a:xfrm>
        </p:grpSpPr>
        <p:sp>
          <p:nvSpPr>
            <p:cNvPr id="13" name="object 13"/>
            <p:cNvSpPr/>
            <p:nvPr/>
          </p:nvSpPr>
          <p:spPr>
            <a:xfrm>
              <a:off x="1868360" y="3217964"/>
              <a:ext cx="1543050" cy="2895600"/>
            </a:xfrm>
            <a:custGeom>
              <a:avLst/>
              <a:gdLst/>
              <a:ahLst/>
              <a:cxnLst/>
              <a:rect l="l" t="t" r="r" b="b"/>
              <a:pathLst>
                <a:path w="1543050" h="2895600">
                  <a:moveTo>
                    <a:pt x="751827" y="12699"/>
                  </a:moveTo>
                  <a:lnTo>
                    <a:pt x="662660" y="12699"/>
                  </a:lnTo>
                  <a:lnTo>
                    <a:pt x="672350" y="0"/>
                  </a:lnTo>
                  <a:lnTo>
                    <a:pt x="761682" y="0"/>
                  </a:lnTo>
                  <a:lnTo>
                    <a:pt x="751827" y="12699"/>
                  </a:lnTo>
                  <a:close/>
                </a:path>
                <a:path w="1543050" h="2895600">
                  <a:moveTo>
                    <a:pt x="879894" y="12699"/>
                  </a:moveTo>
                  <a:lnTo>
                    <a:pt x="790867" y="12699"/>
                  </a:lnTo>
                  <a:lnTo>
                    <a:pt x="781011" y="0"/>
                  </a:lnTo>
                  <a:lnTo>
                    <a:pt x="870203" y="0"/>
                  </a:lnTo>
                  <a:lnTo>
                    <a:pt x="879894" y="12699"/>
                  </a:lnTo>
                  <a:close/>
                </a:path>
                <a:path w="1543050" h="2895600">
                  <a:moveTo>
                    <a:pt x="665911" y="25399"/>
                  </a:moveTo>
                  <a:lnTo>
                    <a:pt x="624293" y="25399"/>
                  </a:lnTo>
                  <a:lnTo>
                    <a:pt x="633818" y="12699"/>
                  </a:lnTo>
                  <a:lnTo>
                    <a:pt x="675462" y="12699"/>
                  </a:lnTo>
                  <a:lnTo>
                    <a:pt x="665911" y="25399"/>
                  </a:lnTo>
                  <a:close/>
                </a:path>
                <a:path w="1543050" h="2895600">
                  <a:moveTo>
                    <a:pt x="918273" y="25399"/>
                  </a:moveTo>
                  <a:lnTo>
                    <a:pt x="876782" y="25399"/>
                  </a:lnTo>
                  <a:lnTo>
                    <a:pt x="867232" y="12699"/>
                  </a:lnTo>
                  <a:lnTo>
                    <a:pt x="908748" y="12699"/>
                  </a:lnTo>
                  <a:lnTo>
                    <a:pt x="918273" y="25399"/>
                  </a:lnTo>
                  <a:close/>
                </a:path>
                <a:path w="1543050" h="2895600">
                  <a:moveTo>
                    <a:pt x="619391" y="38100"/>
                  </a:moveTo>
                  <a:lnTo>
                    <a:pt x="586613" y="38100"/>
                  </a:lnTo>
                  <a:lnTo>
                    <a:pt x="595960" y="25399"/>
                  </a:lnTo>
                  <a:lnTo>
                    <a:pt x="628751" y="25399"/>
                  </a:lnTo>
                  <a:lnTo>
                    <a:pt x="619391" y="38100"/>
                  </a:lnTo>
                  <a:close/>
                </a:path>
                <a:path w="1543050" h="2895600">
                  <a:moveTo>
                    <a:pt x="628611" y="38100"/>
                  </a:moveTo>
                  <a:lnTo>
                    <a:pt x="628751" y="25399"/>
                  </a:lnTo>
                  <a:lnTo>
                    <a:pt x="638022" y="25399"/>
                  </a:lnTo>
                  <a:lnTo>
                    <a:pt x="628611" y="38100"/>
                  </a:lnTo>
                  <a:close/>
                </a:path>
                <a:path w="1543050" h="2895600">
                  <a:moveTo>
                    <a:pt x="914082" y="38100"/>
                  </a:moveTo>
                  <a:lnTo>
                    <a:pt x="904671" y="25399"/>
                  </a:lnTo>
                  <a:lnTo>
                    <a:pt x="913942" y="25399"/>
                  </a:lnTo>
                  <a:lnTo>
                    <a:pt x="914082" y="38100"/>
                  </a:lnTo>
                  <a:close/>
                </a:path>
                <a:path w="1543050" h="2895600">
                  <a:moveTo>
                    <a:pt x="955967" y="38100"/>
                  </a:moveTo>
                  <a:lnTo>
                    <a:pt x="923175" y="38100"/>
                  </a:lnTo>
                  <a:lnTo>
                    <a:pt x="913942" y="25399"/>
                  </a:lnTo>
                  <a:lnTo>
                    <a:pt x="946607" y="25399"/>
                  </a:lnTo>
                  <a:lnTo>
                    <a:pt x="955967" y="38100"/>
                  </a:lnTo>
                  <a:close/>
                </a:path>
                <a:path w="1543050" h="2895600">
                  <a:moveTo>
                    <a:pt x="591934" y="50800"/>
                  </a:moveTo>
                  <a:lnTo>
                    <a:pt x="558838" y="50800"/>
                  </a:lnTo>
                  <a:lnTo>
                    <a:pt x="568045" y="38100"/>
                  </a:lnTo>
                  <a:lnTo>
                    <a:pt x="601052" y="38100"/>
                  </a:lnTo>
                  <a:lnTo>
                    <a:pt x="591934" y="50800"/>
                  </a:lnTo>
                  <a:close/>
                </a:path>
                <a:path w="1543050" h="2895600">
                  <a:moveTo>
                    <a:pt x="983741" y="50800"/>
                  </a:moveTo>
                  <a:lnTo>
                    <a:pt x="950760" y="50800"/>
                  </a:lnTo>
                  <a:lnTo>
                    <a:pt x="941527" y="38100"/>
                  </a:lnTo>
                  <a:lnTo>
                    <a:pt x="974534" y="38100"/>
                  </a:lnTo>
                  <a:lnTo>
                    <a:pt x="983741" y="50800"/>
                  </a:lnTo>
                  <a:close/>
                </a:path>
                <a:path w="1543050" h="2895600">
                  <a:moveTo>
                    <a:pt x="564857" y="63500"/>
                  </a:moveTo>
                  <a:lnTo>
                    <a:pt x="540562" y="63500"/>
                  </a:lnTo>
                  <a:lnTo>
                    <a:pt x="549681" y="50800"/>
                  </a:lnTo>
                  <a:lnTo>
                    <a:pt x="573836" y="50800"/>
                  </a:lnTo>
                  <a:lnTo>
                    <a:pt x="564857" y="63500"/>
                  </a:lnTo>
                  <a:close/>
                </a:path>
                <a:path w="1543050" h="2895600">
                  <a:moveTo>
                    <a:pt x="1002017" y="63500"/>
                  </a:moveTo>
                  <a:lnTo>
                    <a:pt x="977734" y="63500"/>
                  </a:lnTo>
                  <a:lnTo>
                    <a:pt x="968743" y="50800"/>
                  </a:lnTo>
                  <a:lnTo>
                    <a:pt x="992911" y="50800"/>
                  </a:lnTo>
                  <a:lnTo>
                    <a:pt x="1002017" y="63500"/>
                  </a:lnTo>
                  <a:close/>
                </a:path>
                <a:path w="1543050" h="2895600">
                  <a:moveTo>
                    <a:pt x="547014" y="76200"/>
                  </a:moveTo>
                  <a:lnTo>
                    <a:pt x="522490" y="76200"/>
                  </a:lnTo>
                  <a:lnTo>
                    <a:pt x="531507" y="63500"/>
                  </a:lnTo>
                  <a:lnTo>
                    <a:pt x="555904" y="63500"/>
                  </a:lnTo>
                  <a:lnTo>
                    <a:pt x="547014" y="76200"/>
                  </a:lnTo>
                  <a:close/>
                </a:path>
                <a:path w="1543050" h="2895600">
                  <a:moveTo>
                    <a:pt x="1020102" y="76200"/>
                  </a:moveTo>
                  <a:lnTo>
                    <a:pt x="995578" y="76200"/>
                  </a:lnTo>
                  <a:lnTo>
                    <a:pt x="986675" y="63500"/>
                  </a:lnTo>
                  <a:lnTo>
                    <a:pt x="1011085" y="63500"/>
                  </a:lnTo>
                  <a:lnTo>
                    <a:pt x="1020102" y="76200"/>
                  </a:lnTo>
                  <a:close/>
                </a:path>
                <a:path w="1543050" h="2895600">
                  <a:moveTo>
                    <a:pt x="520572" y="88900"/>
                  </a:moveTo>
                  <a:lnTo>
                    <a:pt x="495769" y="88900"/>
                  </a:lnTo>
                  <a:lnTo>
                    <a:pt x="504634" y="76200"/>
                  </a:lnTo>
                  <a:lnTo>
                    <a:pt x="529348" y="76200"/>
                  </a:lnTo>
                  <a:lnTo>
                    <a:pt x="520572" y="88900"/>
                  </a:lnTo>
                  <a:close/>
                </a:path>
                <a:path w="1543050" h="2895600">
                  <a:moveTo>
                    <a:pt x="1046822" y="88900"/>
                  </a:moveTo>
                  <a:lnTo>
                    <a:pt x="1022019" y="88900"/>
                  </a:lnTo>
                  <a:lnTo>
                    <a:pt x="1013256" y="76200"/>
                  </a:lnTo>
                  <a:lnTo>
                    <a:pt x="1037970" y="76200"/>
                  </a:lnTo>
                  <a:lnTo>
                    <a:pt x="1046822" y="88900"/>
                  </a:lnTo>
                  <a:close/>
                </a:path>
                <a:path w="1543050" h="2895600">
                  <a:moveTo>
                    <a:pt x="486003" y="114300"/>
                  </a:moveTo>
                  <a:lnTo>
                    <a:pt x="469544" y="114300"/>
                  </a:lnTo>
                  <a:lnTo>
                    <a:pt x="478231" y="101600"/>
                  </a:lnTo>
                  <a:lnTo>
                    <a:pt x="486981" y="88900"/>
                  </a:lnTo>
                  <a:lnTo>
                    <a:pt x="511860" y="88900"/>
                  </a:lnTo>
                  <a:lnTo>
                    <a:pt x="503186" y="101600"/>
                  </a:lnTo>
                  <a:lnTo>
                    <a:pt x="494576" y="101600"/>
                  </a:lnTo>
                  <a:lnTo>
                    <a:pt x="486003" y="114300"/>
                  </a:lnTo>
                  <a:close/>
                </a:path>
                <a:path w="1543050" h="2895600">
                  <a:moveTo>
                    <a:pt x="1073073" y="114300"/>
                  </a:moveTo>
                  <a:lnTo>
                    <a:pt x="1056614" y="114300"/>
                  </a:lnTo>
                  <a:lnTo>
                    <a:pt x="1048042" y="101600"/>
                  </a:lnTo>
                  <a:lnTo>
                    <a:pt x="1039406" y="101600"/>
                  </a:lnTo>
                  <a:lnTo>
                    <a:pt x="1030744" y="88900"/>
                  </a:lnTo>
                  <a:lnTo>
                    <a:pt x="1055636" y="88900"/>
                  </a:lnTo>
                  <a:lnTo>
                    <a:pt x="1073073" y="114300"/>
                  </a:lnTo>
                  <a:close/>
                </a:path>
                <a:path w="1543050" h="2895600">
                  <a:moveTo>
                    <a:pt x="468998" y="127000"/>
                  </a:moveTo>
                  <a:lnTo>
                    <a:pt x="452323" y="127000"/>
                  </a:lnTo>
                  <a:lnTo>
                    <a:pt x="460908" y="114300"/>
                  </a:lnTo>
                  <a:lnTo>
                    <a:pt x="477481" y="114300"/>
                  </a:lnTo>
                  <a:lnTo>
                    <a:pt x="468998" y="127000"/>
                  </a:lnTo>
                  <a:close/>
                </a:path>
                <a:path w="1543050" h="2895600">
                  <a:moveTo>
                    <a:pt x="1090295" y="127000"/>
                  </a:moveTo>
                  <a:lnTo>
                    <a:pt x="1073607" y="127000"/>
                  </a:lnTo>
                  <a:lnTo>
                    <a:pt x="1065136" y="114300"/>
                  </a:lnTo>
                  <a:lnTo>
                    <a:pt x="1081709" y="114300"/>
                  </a:lnTo>
                  <a:lnTo>
                    <a:pt x="1090295" y="127000"/>
                  </a:lnTo>
                  <a:close/>
                </a:path>
                <a:path w="1543050" h="2895600">
                  <a:moveTo>
                    <a:pt x="427431" y="165100"/>
                  </a:moveTo>
                  <a:lnTo>
                    <a:pt x="410311" y="165100"/>
                  </a:lnTo>
                  <a:lnTo>
                    <a:pt x="418591" y="152400"/>
                  </a:lnTo>
                  <a:lnTo>
                    <a:pt x="426935" y="139700"/>
                  </a:lnTo>
                  <a:lnTo>
                    <a:pt x="435343" y="139700"/>
                  </a:lnTo>
                  <a:lnTo>
                    <a:pt x="443801" y="127000"/>
                  </a:lnTo>
                  <a:lnTo>
                    <a:pt x="460578" y="127000"/>
                  </a:lnTo>
                  <a:lnTo>
                    <a:pt x="443903" y="152400"/>
                  </a:lnTo>
                  <a:lnTo>
                    <a:pt x="435635" y="152400"/>
                  </a:lnTo>
                  <a:lnTo>
                    <a:pt x="427431" y="165100"/>
                  </a:lnTo>
                  <a:close/>
                </a:path>
                <a:path w="1543050" h="2895600">
                  <a:moveTo>
                    <a:pt x="1132319" y="165100"/>
                  </a:moveTo>
                  <a:lnTo>
                    <a:pt x="1115187" y="165100"/>
                  </a:lnTo>
                  <a:lnTo>
                    <a:pt x="1106982" y="152400"/>
                  </a:lnTo>
                  <a:lnTo>
                    <a:pt x="1098715" y="152400"/>
                  </a:lnTo>
                  <a:lnTo>
                    <a:pt x="1090409" y="139700"/>
                  </a:lnTo>
                  <a:lnTo>
                    <a:pt x="1082027" y="127000"/>
                  </a:lnTo>
                  <a:lnTo>
                    <a:pt x="1098816" y="127000"/>
                  </a:lnTo>
                  <a:lnTo>
                    <a:pt x="1107274" y="139700"/>
                  </a:lnTo>
                  <a:lnTo>
                    <a:pt x="1115682" y="139700"/>
                  </a:lnTo>
                  <a:lnTo>
                    <a:pt x="1132319" y="165100"/>
                  </a:lnTo>
                  <a:close/>
                </a:path>
                <a:path w="1543050" h="2895600">
                  <a:moveTo>
                    <a:pt x="419353" y="2730500"/>
                  </a:moveTo>
                  <a:lnTo>
                    <a:pt x="402158" y="2730500"/>
                  </a:lnTo>
                  <a:lnTo>
                    <a:pt x="385914" y="2705100"/>
                  </a:lnTo>
                  <a:lnTo>
                    <a:pt x="369900" y="2692400"/>
                  </a:lnTo>
                  <a:lnTo>
                    <a:pt x="354139" y="2667000"/>
                  </a:lnTo>
                  <a:lnTo>
                    <a:pt x="338645" y="2654300"/>
                  </a:lnTo>
                  <a:lnTo>
                    <a:pt x="323405" y="2628900"/>
                  </a:lnTo>
                  <a:lnTo>
                    <a:pt x="308457" y="2616200"/>
                  </a:lnTo>
                  <a:lnTo>
                    <a:pt x="293776" y="2590800"/>
                  </a:lnTo>
                  <a:lnTo>
                    <a:pt x="279387" y="2565400"/>
                  </a:lnTo>
                  <a:lnTo>
                    <a:pt x="265277" y="2540000"/>
                  </a:lnTo>
                  <a:lnTo>
                    <a:pt x="251472" y="2527300"/>
                  </a:lnTo>
                  <a:lnTo>
                    <a:pt x="224777" y="2476500"/>
                  </a:lnTo>
                  <a:lnTo>
                    <a:pt x="199339" y="2425700"/>
                  </a:lnTo>
                  <a:lnTo>
                    <a:pt x="175183" y="2374900"/>
                  </a:lnTo>
                  <a:lnTo>
                    <a:pt x="152387" y="2311400"/>
                  </a:lnTo>
                  <a:lnTo>
                    <a:pt x="141503" y="2286000"/>
                  </a:lnTo>
                  <a:lnTo>
                    <a:pt x="130975" y="2260600"/>
                  </a:lnTo>
                  <a:lnTo>
                    <a:pt x="120815" y="2235200"/>
                  </a:lnTo>
                  <a:lnTo>
                    <a:pt x="111010" y="2197100"/>
                  </a:lnTo>
                  <a:lnTo>
                    <a:pt x="101587" y="2171700"/>
                  </a:lnTo>
                  <a:lnTo>
                    <a:pt x="92532" y="2133600"/>
                  </a:lnTo>
                  <a:lnTo>
                    <a:pt x="83858" y="2108200"/>
                  </a:lnTo>
                  <a:lnTo>
                    <a:pt x="75577" y="2082800"/>
                  </a:lnTo>
                  <a:lnTo>
                    <a:pt x="67703" y="2044700"/>
                  </a:lnTo>
                  <a:lnTo>
                    <a:pt x="60223" y="2006600"/>
                  </a:lnTo>
                  <a:lnTo>
                    <a:pt x="53136" y="1981200"/>
                  </a:lnTo>
                  <a:lnTo>
                    <a:pt x="46481" y="1943100"/>
                  </a:lnTo>
                  <a:lnTo>
                    <a:pt x="40233" y="1917700"/>
                  </a:lnTo>
                  <a:lnTo>
                    <a:pt x="34416" y="1879600"/>
                  </a:lnTo>
                  <a:lnTo>
                    <a:pt x="29032" y="1841500"/>
                  </a:lnTo>
                  <a:lnTo>
                    <a:pt x="24079" y="1816100"/>
                  </a:lnTo>
                  <a:lnTo>
                    <a:pt x="19570" y="1778000"/>
                  </a:lnTo>
                  <a:lnTo>
                    <a:pt x="15519" y="1739900"/>
                  </a:lnTo>
                  <a:lnTo>
                    <a:pt x="11912" y="1701800"/>
                  </a:lnTo>
                  <a:lnTo>
                    <a:pt x="8775" y="1663700"/>
                  </a:lnTo>
                  <a:lnTo>
                    <a:pt x="6095" y="1638300"/>
                  </a:lnTo>
                  <a:lnTo>
                    <a:pt x="3898" y="1600200"/>
                  </a:lnTo>
                  <a:lnTo>
                    <a:pt x="2171" y="1562100"/>
                  </a:lnTo>
                  <a:lnTo>
                    <a:pt x="1485" y="1536700"/>
                  </a:lnTo>
                  <a:lnTo>
                    <a:pt x="927" y="1524000"/>
                  </a:lnTo>
                  <a:lnTo>
                    <a:pt x="495" y="1498600"/>
                  </a:lnTo>
                  <a:lnTo>
                    <a:pt x="177" y="1485900"/>
                  </a:lnTo>
                  <a:lnTo>
                    <a:pt x="0" y="1460500"/>
                  </a:lnTo>
                  <a:lnTo>
                    <a:pt x="0" y="1435100"/>
                  </a:lnTo>
                  <a:lnTo>
                    <a:pt x="177" y="1409700"/>
                  </a:lnTo>
                  <a:lnTo>
                    <a:pt x="495" y="1397000"/>
                  </a:lnTo>
                  <a:lnTo>
                    <a:pt x="927" y="1371600"/>
                  </a:lnTo>
                  <a:lnTo>
                    <a:pt x="1485" y="1358900"/>
                  </a:lnTo>
                  <a:lnTo>
                    <a:pt x="2171" y="1333500"/>
                  </a:lnTo>
                  <a:lnTo>
                    <a:pt x="3886" y="1295400"/>
                  </a:lnTo>
                  <a:lnTo>
                    <a:pt x="6095" y="1257300"/>
                  </a:lnTo>
                  <a:lnTo>
                    <a:pt x="8762" y="1231900"/>
                  </a:lnTo>
                  <a:lnTo>
                    <a:pt x="11899" y="1193800"/>
                  </a:lnTo>
                  <a:lnTo>
                    <a:pt x="15506" y="1155700"/>
                  </a:lnTo>
                  <a:lnTo>
                    <a:pt x="19557" y="1117600"/>
                  </a:lnTo>
                  <a:lnTo>
                    <a:pt x="24066" y="1079500"/>
                  </a:lnTo>
                  <a:lnTo>
                    <a:pt x="29019" y="1054100"/>
                  </a:lnTo>
                  <a:lnTo>
                    <a:pt x="34404" y="1016000"/>
                  </a:lnTo>
                  <a:lnTo>
                    <a:pt x="40220" y="977900"/>
                  </a:lnTo>
                  <a:lnTo>
                    <a:pt x="46456" y="952500"/>
                  </a:lnTo>
                  <a:lnTo>
                    <a:pt x="53124" y="914400"/>
                  </a:lnTo>
                  <a:lnTo>
                    <a:pt x="60197" y="889000"/>
                  </a:lnTo>
                  <a:lnTo>
                    <a:pt x="67678" y="850900"/>
                  </a:lnTo>
                  <a:lnTo>
                    <a:pt x="75564" y="812800"/>
                  </a:lnTo>
                  <a:lnTo>
                    <a:pt x="83832" y="787400"/>
                  </a:lnTo>
                  <a:lnTo>
                    <a:pt x="92506" y="762000"/>
                  </a:lnTo>
                  <a:lnTo>
                    <a:pt x="101549" y="723900"/>
                  </a:lnTo>
                  <a:lnTo>
                    <a:pt x="110985" y="698500"/>
                  </a:lnTo>
                  <a:lnTo>
                    <a:pt x="120776" y="660400"/>
                  </a:lnTo>
                  <a:lnTo>
                    <a:pt x="130949" y="635000"/>
                  </a:lnTo>
                  <a:lnTo>
                    <a:pt x="141465" y="609600"/>
                  </a:lnTo>
                  <a:lnTo>
                    <a:pt x="152349" y="584200"/>
                  </a:lnTo>
                  <a:lnTo>
                    <a:pt x="163575" y="546100"/>
                  </a:lnTo>
                  <a:lnTo>
                    <a:pt x="187045" y="495300"/>
                  </a:lnTo>
                  <a:lnTo>
                    <a:pt x="211835" y="444500"/>
                  </a:lnTo>
                  <a:lnTo>
                    <a:pt x="237909" y="393700"/>
                  </a:lnTo>
                  <a:lnTo>
                    <a:pt x="265214" y="355600"/>
                  </a:lnTo>
                  <a:lnTo>
                    <a:pt x="279311" y="330200"/>
                  </a:lnTo>
                  <a:lnTo>
                    <a:pt x="293700" y="304800"/>
                  </a:lnTo>
                  <a:lnTo>
                    <a:pt x="308368" y="279400"/>
                  </a:lnTo>
                  <a:lnTo>
                    <a:pt x="323316" y="266700"/>
                  </a:lnTo>
                  <a:lnTo>
                    <a:pt x="338543" y="241300"/>
                  </a:lnTo>
                  <a:lnTo>
                    <a:pt x="354037" y="228600"/>
                  </a:lnTo>
                  <a:lnTo>
                    <a:pt x="369785" y="203200"/>
                  </a:lnTo>
                  <a:lnTo>
                    <a:pt x="385800" y="190500"/>
                  </a:lnTo>
                  <a:lnTo>
                    <a:pt x="402056" y="165100"/>
                  </a:lnTo>
                  <a:lnTo>
                    <a:pt x="419290" y="165100"/>
                  </a:lnTo>
                  <a:lnTo>
                    <a:pt x="411187" y="177800"/>
                  </a:lnTo>
                  <a:lnTo>
                    <a:pt x="395147" y="190500"/>
                  </a:lnTo>
                  <a:lnTo>
                    <a:pt x="379361" y="215900"/>
                  </a:lnTo>
                  <a:lnTo>
                    <a:pt x="363829" y="228600"/>
                  </a:lnTo>
                  <a:lnTo>
                    <a:pt x="348538" y="254000"/>
                  </a:lnTo>
                  <a:lnTo>
                    <a:pt x="333514" y="266700"/>
                  </a:lnTo>
                  <a:lnTo>
                    <a:pt x="318820" y="292100"/>
                  </a:lnTo>
                  <a:lnTo>
                    <a:pt x="304228" y="317500"/>
                  </a:lnTo>
                  <a:lnTo>
                    <a:pt x="290004" y="330200"/>
                  </a:lnTo>
                  <a:lnTo>
                    <a:pt x="262394" y="381000"/>
                  </a:lnTo>
                  <a:lnTo>
                    <a:pt x="235953" y="431800"/>
                  </a:lnTo>
                  <a:lnTo>
                    <a:pt x="210731" y="482600"/>
                  </a:lnTo>
                  <a:lnTo>
                    <a:pt x="186778" y="533400"/>
                  </a:lnTo>
                  <a:lnTo>
                    <a:pt x="164160" y="584200"/>
                  </a:lnTo>
                  <a:lnTo>
                    <a:pt x="142900" y="635000"/>
                  </a:lnTo>
                  <a:lnTo>
                    <a:pt x="132803" y="673100"/>
                  </a:lnTo>
                  <a:lnTo>
                    <a:pt x="123075" y="698500"/>
                  </a:lnTo>
                  <a:lnTo>
                    <a:pt x="113703" y="723900"/>
                  </a:lnTo>
                  <a:lnTo>
                    <a:pt x="104711" y="762000"/>
                  </a:lnTo>
                  <a:lnTo>
                    <a:pt x="96100" y="787400"/>
                  </a:lnTo>
                  <a:lnTo>
                    <a:pt x="87871" y="825500"/>
                  </a:lnTo>
                  <a:lnTo>
                    <a:pt x="80035" y="850900"/>
                  </a:lnTo>
                  <a:lnTo>
                    <a:pt x="72593" y="889000"/>
                  </a:lnTo>
                  <a:lnTo>
                    <a:pt x="65557" y="914400"/>
                  </a:lnTo>
                  <a:lnTo>
                    <a:pt x="58927" y="952500"/>
                  </a:lnTo>
                  <a:lnTo>
                    <a:pt x="52717" y="990600"/>
                  </a:lnTo>
                  <a:lnTo>
                    <a:pt x="46939" y="1016000"/>
                  </a:lnTo>
                  <a:lnTo>
                    <a:pt x="41579" y="1054100"/>
                  </a:lnTo>
                  <a:lnTo>
                    <a:pt x="36652" y="1092200"/>
                  </a:lnTo>
                  <a:lnTo>
                    <a:pt x="32169" y="1117600"/>
                  </a:lnTo>
                  <a:lnTo>
                    <a:pt x="28130" y="1155700"/>
                  </a:lnTo>
                  <a:lnTo>
                    <a:pt x="24549" y="1193800"/>
                  </a:lnTo>
                  <a:lnTo>
                    <a:pt x="21424" y="1231900"/>
                  </a:lnTo>
                  <a:lnTo>
                    <a:pt x="18757" y="1270000"/>
                  </a:lnTo>
                  <a:lnTo>
                    <a:pt x="16573" y="1295400"/>
                  </a:lnTo>
                  <a:lnTo>
                    <a:pt x="14858" y="1333500"/>
                  </a:lnTo>
                  <a:lnTo>
                    <a:pt x="14173" y="1358900"/>
                  </a:lnTo>
                  <a:lnTo>
                    <a:pt x="13627" y="1371600"/>
                  </a:lnTo>
                  <a:lnTo>
                    <a:pt x="13195" y="1397000"/>
                  </a:lnTo>
                  <a:lnTo>
                    <a:pt x="12877" y="1409700"/>
                  </a:lnTo>
                  <a:lnTo>
                    <a:pt x="12700" y="1435100"/>
                  </a:lnTo>
                  <a:lnTo>
                    <a:pt x="12700" y="1460500"/>
                  </a:lnTo>
                  <a:lnTo>
                    <a:pt x="12877" y="1485900"/>
                  </a:lnTo>
                  <a:lnTo>
                    <a:pt x="13195" y="1498600"/>
                  </a:lnTo>
                  <a:lnTo>
                    <a:pt x="13627" y="1524000"/>
                  </a:lnTo>
                  <a:lnTo>
                    <a:pt x="14185" y="1536700"/>
                  </a:lnTo>
                  <a:lnTo>
                    <a:pt x="14858" y="1562100"/>
                  </a:lnTo>
                  <a:lnTo>
                    <a:pt x="16573" y="1600200"/>
                  </a:lnTo>
                  <a:lnTo>
                    <a:pt x="18770" y="1625600"/>
                  </a:lnTo>
                  <a:lnTo>
                    <a:pt x="21424" y="1663700"/>
                  </a:lnTo>
                  <a:lnTo>
                    <a:pt x="24561" y="1701800"/>
                  </a:lnTo>
                  <a:lnTo>
                    <a:pt x="28143" y="1739900"/>
                  </a:lnTo>
                  <a:lnTo>
                    <a:pt x="32181" y="1778000"/>
                  </a:lnTo>
                  <a:lnTo>
                    <a:pt x="36664" y="1803400"/>
                  </a:lnTo>
                  <a:lnTo>
                    <a:pt x="41592" y="1841500"/>
                  </a:lnTo>
                  <a:lnTo>
                    <a:pt x="46951" y="1879600"/>
                  </a:lnTo>
                  <a:lnTo>
                    <a:pt x="52743" y="1905000"/>
                  </a:lnTo>
                  <a:lnTo>
                    <a:pt x="58953" y="1943100"/>
                  </a:lnTo>
                  <a:lnTo>
                    <a:pt x="65570" y="1981200"/>
                  </a:lnTo>
                  <a:lnTo>
                    <a:pt x="72605" y="2006600"/>
                  </a:lnTo>
                  <a:lnTo>
                    <a:pt x="80048" y="2044700"/>
                  </a:lnTo>
                  <a:lnTo>
                    <a:pt x="87896" y="2070100"/>
                  </a:lnTo>
                  <a:lnTo>
                    <a:pt x="96126" y="2108200"/>
                  </a:lnTo>
                  <a:lnTo>
                    <a:pt x="104736" y="2133600"/>
                  </a:lnTo>
                  <a:lnTo>
                    <a:pt x="113728" y="2171700"/>
                  </a:lnTo>
                  <a:lnTo>
                    <a:pt x="123101" y="2197100"/>
                  </a:lnTo>
                  <a:lnTo>
                    <a:pt x="132841" y="2222500"/>
                  </a:lnTo>
                  <a:lnTo>
                    <a:pt x="142938" y="2260600"/>
                  </a:lnTo>
                  <a:lnTo>
                    <a:pt x="164198" y="2311400"/>
                  </a:lnTo>
                  <a:lnTo>
                    <a:pt x="186829" y="2362200"/>
                  </a:lnTo>
                  <a:lnTo>
                    <a:pt x="210781" y="2413000"/>
                  </a:lnTo>
                  <a:lnTo>
                    <a:pt x="236004" y="2463800"/>
                  </a:lnTo>
                  <a:lnTo>
                    <a:pt x="262458" y="2514600"/>
                  </a:lnTo>
                  <a:lnTo>
                    <a:pt x="290080" y="2565400"/>
                  </a:lnTo>
                  <a:lnTo>
                    <a:pt x="304317" y="2578100"/>
                  </a:lnTo>
                  <a:lnTo>
                    <a:pt x="318820" y="2603500"/>
                  </a:lnTo>
                  <a:lnTo>
                    <a:pt x="333514" y="2628900"/>
                  </a:lnTo>
                  <a:lnTo>
                    <a:pt x="348640" y="2641600"/>
                  </a:lnTo>
                  <a:lnTo>
                    <a:pt x="363829" y="2667000"/>
                  </a:lnTo>
                  <a:lnTo>
                    <a:pt x="379475" y="2679700"/>
                  </a:lnTo>
                  <a:lnTo>
                    <a:pt x="395262" y="2705100"/>
                  </a:lnTo>
                  <a:lnTo>
                    <a:pt x="411289" y="2717800"/>
                  </a:lnTo>
                  <a:lnTo>
                    <a:pt x="419353" y="2730500"/>
                  </a:lnTo>
                  <a:close/>
                </a:path>
                <a:path w="1543050" h="2895600">
                  <a:moveTo>
                    <a:pt x="1140637" y="2730500"/>
                  </a:moveTo>
                  <a:lnTo>
                    <a:pt x="1123403" y="2730500"/>
                  </a:lnTo>
                  <a:lnTo>
                    <a:pt x="1131506" y="2717800"/>
                  </a:lnTo>
                  <a:lnTo>
                    <a:pt x="1147546" y="2705100"/>
                  </a:lnTo>
                  <a:lnTo>
                    <a:pt x="1163332" y="2679700"/>
                  </a:lnTo>
                  <a:lnTo>
                    <a:pt x="1178763" y="2667000"/>
                  </a:lnTo>
                  <a:lnTo>
                    <a:pt x="1194155" y="2641600"/>
                  </a:lnTo>
                  <a:lnTo>
                    <a:pt x="1209090" y="2628900"/>
                  </a:lnTo>
                  <a:lnTo>
                    <a:pt x="1223962" y="2603500"/>
                  </a:lnTo>
                  <a:lnTo>
                    <a:pt x="1238465" y="2578100"/>
                  </a:lnTo>
                  <a:lnTo>
                    <a:pt x="1252689" y="2565400"/>
                  </a:lnTo>
                  <a:lnTo>
                    <a:pt x="1280299" y="2514600"/>
                  </a:lnTo>
                  <a:lnTo>
                    <a:pt x="1306741" y="2463800"/>
                  </a:lnTo>
                  <a:lnTo>
                    <a:pt x="1331963" y="2413000"/>
                  </a:lnTo>
                  <a:lnTo>
                    <a:pt x="1355915" y="2362200"/>
                  </a:lnTo>
                  <a:lnTo>
                    <a:pt x="1378534" y="2311400"/>
                  </a:lnTo>
                  <a:lnTo>
                    <a:pt x="1399793" y="2260600"/>
                  </a:lnTo>
                  <a:lnTo>
                    <a:pt x="1409890" y="2222500"/>
                  </a:lnTo>
                  <a:lnTo>
                    <a:pt x="1419618" y="2197100"/>
                  </a:lnTo>
                  <a:lnTo>
                    <a:pt x="1428991" y="2171700"/>
                  </a:lnTo>
                  <a:lnTo>
                    <a:pt x="1437982" y="2133600"/>
                  </a:lnTo>
                  <a:lnTo>
                    <a:pt x="1446593" y="2108200"/>
                  </a:lnTo>
                  <a:lnTo>
                    <a:pt x="1454823" y="2070100"/>
                  </a:lnTo>
                  <a:lnTo>
                    <a:pt x="1462659" y="2044700"/>
                  </a:lnTo>
                  <a:lnTo>
                    <a:pt x="1470101" y="2006600"/>
                  </a:lnTo>
                  <a:lnTo>
                    <a:pt x="1477137" y="1981200"/>
                  </a:lnTo>
                  <a:lnTo>
                    <a:pt x="1483766" y="1943100"/>
                  </a:lnTo>
                  <a:lnTo>
                    <a:pt x="1489976" y="1905000"/>
                  </a:lnTo>
                  <a:lnTo>
                    <a:pt x="1495755" y="1879600"/>
                  </a:lnTo>
                  <a:lnTo>
                    <a:pt x="1501114" y="1841500"/>
                  </a:lnTo>
                  <a:lnTo>
                    <a:pt x="1506042" y="1803400"/>
                  </a:lnTo>
                  <a:lnTo>
                    <a:pt x="1510525" y="1778000"/>
                  </a:lnTo>
                  <a:lnTo>
                    <a:pt x="1514563" y="1739900"/>
                  </a:lnTo>
                  <a:lnTo>
                    <a:pt x="1518145" y="1701800"/>
                  </a:lnTo>
                  <a:lnTo>
                    <a:pt x="1521269" y="1663700"/>
                  </a:lnTo>
                  <a:lnTo>
                    <a:pt x="1523936" y="1625600"/>
                  </a:lnTo>
                  <a:lnTo>
                    <a:pt x="1526120" y="1600200"/>
                  </a:lnTo>
                  <a:lnTo>
                    <a:pt x="1527835" y="1562100"/>
                  </a:lnTo>
                  <a:lnTo>
                    <a:pt x="1528521" y="1536700"/>
                  </a:lnTo>
                  <a:lnTo>
                    <a:pt x="1529067" y="1524000"/>
                  </a:lnTo>
                  <a:lnTo>
                    <a:pt x="1529499" y="1498600"/>
                  </a:lnTo>
                  <a:lnTo>
                    <a:pt x="1529816" y="1485900"/>
                  </a:lnTo>
                  <a:lnTo>
                    <a:pt x="1530007" y="1460500"/>
                  </a:lnTo>
                  <a:lnTo>
                    <a:pt x="1529994" y="1435100"/>
                  </a:lnTo>
                  <a:lnTo>
                    <a:pt x="1529816" y="1409700"/>
                  </a:lnTo>
                  <a:lnTo>
                    <a:pt x="1529499" y="1397000"/>
                  </a:lnTo>
                  <a:lnTo>
                    <a:pt x="1529067" y="1371600"/>
                  </a:lnTo>
                  <a:lnTo>
                    <a:pt x="1528508" y="1358900"/>
                  </a:lnTo>
                  <a:lnTo>
                    <a:pt x="1527835" y="1333500"/>
                  </a:lnTo>
                  <a:lnTo>
                    <a:pt x="1526120" y="1295400"/>
                  </a:lnTo>
                  <a:lnTo>
                    <a:pt x="1523923" y="1270000"/>
                  </a:lnTo>
                  <a:lnTo>
                    <a:pt x="1521269" y="1231900"/>
                  </a:lnTo>
                  <a:lnTo>
                    <a:pt x="1518132" y="1193800"/>
                  </a:lnTo>
                  <a:lnTo>
                    <a:pt x="1514551" y="1155700"/>
                  </a:lnTo>
                  <a:lnTo>
                    <a:pt x="1510512" y="1117600"/>
                  </a:lnTo>
                  <a:lnTo>
                    <a:pt x="1506029" y="1092200"/>
                  </a:lnTo>
                  <a:lnTo>
                    <a:pt x="1501101" y="1054100"/>
                  </a:lnTo>
                  <a:lnTo>
                    <a:pt x="1495742" y="1016000"/>
                  </a:lnTo>
                  <a:lnTo>
                    <a:pt x="1489951" y="990600"/>
                  </a:lnTo>
                  <a:lnTo>
                    <a:pt x="1483740" y="952500"/>
                  </a:lnTo>
                  <a:lnTo>
                    <a:pt x="1477124" y="914400"/>
                  </a:lnTo>
                  <a:lnTo>
                    <a:pt x="1470088" y="889000"/>
                  </a:lnTo>
                  <a:lnTo>
                    <a:pt x="1462646" y="850900"/>
                  </a:lnTo>
                  <a:lnTo>
                    <a:pt x="1454810" y="825500"/>
                  </a:lnTo>
                  <a:lnTo>
                    <a:pt x="1446568" y="787400"/>
                  </a:lnTo>
                  <a:lnTo>
                    <a:pt x="1437957" y="762000"/>
                  </a:lnTo>
                  <a:lnTo>
                    <a:pt x="1428965" y="723900"/>
                  </a:lnTo>
                  <a:lnTo>
                    <a:pt x="1419593" y="698500"/>
                  </a:lnTo>
                  <a:lnTo>
                    <a:pt x="1409852" y="673100"/>
                  </a:lnTo>
                  <a:lnTo>
                    <a:pt x="1399755" y="635000"/>
                  </a:lnTo>
                  <a:lnTo>
                    <a:pt x="1378496" y="584200"/>
                  </a:lnTo>
                  <a:lnTo>
                    <a:pt x="1355864" y="533400"/>
                  </a:lnTo>
                  <a:lnTo>
                    <a:pt x="1331912" y="482600"/>
                  </a:lnTo>
                  <a:lnTo>
                    <a:pt x="1306690" y="431800"/>
                  </a:lnTo>
                  <a:lnTo>
                    <a:pt x="1280236" y="381000"/>
                  </a:lnTo>
                  <a:lnTo>
                    <a:pt x="1252613" y="330200"/>
                  </a:lnTo>
                  <a:lnTo>
                    <a:pt x="1238377" y="317500"/>
                  </a:lnTo>
                  <a:lnTo>
                    <a:pt x="1223962" y="292100"/>
                  </a:lnTo>
                  <a:lnTo>
                    <a:pt x="1209090" y="266700"/>
                  </a:lnTo>
                  <a:lnTo>
                    <a:pt x="1194053" y="254000"/>
                  </a:lnTo>
                  <a:lnTo>
                    <a:pt x="1178763" y="228600"/>
                  </a:lnTo>
                  <a:lnTo>
                    <a:pt x="1163218" y="215900"/>
                  </a:lnTo>
                  <a:lnTo>
                    <a:pt x="1147432" y="190500"/>
                  </a:lnTo>
                  <a:lnTo>
                    <a:pt x="1131404" y="177800"/>
                  </a:lnTo>
                  <a:lnTo>
                    <a:pt x="1123340" y="165100"/>
                  </a:lnTo>
                  <a:lnTo>
                    <a:pt x="1140548" y="165100"/>
                  </a:lnTo>
                  <a:lnTo>
                    <a:pt x="1156779" y="190500"/>
                  </a:lnTo>
                  <a:lnTo>
                    <a:pt x="1172794" y="203200"/>
                  </a:lnTo>
                  <a:lnTo>
                    <a:pt x="1188554" y="228600"/>
                  </a:lnTo>
                  <a:lnTo>
                    <a:pt x="1204048" y="241300"/>
                  </a:lnTo>
                  <a:lnTo>
                    <a:pt x="1219288" y="266700"/>
                  </a:lnTo>
                  <a:lnTo>
                    <a:pt x="1234236" y="279400"/>
                  </a:lnTo>
                  <a:lnTo>
                    <a:pt x="1248918" y="304800"/>
                  </a:lnTo>
                  <a:lnTo>
                    <a:pt x="1263307" y="330200"/>
                  </a:lnTo>
                  <a:lnTo>
                    <a:pt x="1277416" y="355600"/>
                  </a:lnTo>
                  <a:lnTo>
                    <a:pt x="1291221" y="368300"/>
                  </a:lnTo>
                  <a:lnTo>
                    <a:pt x="1317917" y="419100"/>
                  </a:lnTo>
                  <a:lnTo>
                    <a:pt x="1343355" y="469900"/>
                  </a:lnTo>
                  <a:lnTo>
                    <a:pt x="1367510" y="520700"/>
                  </a:lnTo>
                  <a:lnTo>
                    <a:pt x="1390307" y="584200"/>
                  </a:lnTo>
                  <a:lnTo>
                    <a:pt x="1401190" y="609600"/>
                  </a:lnTo>
                  <a:lnTo>
                    <a:pt x="1411719" y="635000"/>
                  </a:lnTo>
                  <a:lnTo>
                    <a:pt x="1421879" y="660400"/>
                  </a:lnTo>
                  <a:lnTo>
                    <a:pt x="1431683" y="698500"/>
                  </a:lnTo>
                  <a:lnTo>
                    <a:pt x="1441107" y="723900"/>
                  </a:lnTo>
                  <a:lnTo>
                    <a:pt x="1450162" y="762000"/>
                  </a:lnTo>
                  <a:lnTo>
                    <a:pt x="1458836" y="787400"/>
                  </a:lnTo>
                  <a:lnTo>
                    <a:pt x="1467116" y="812800"/>
                  </a:lnTo>
                  <a:lnTo>
                    <a:pt x="1474990" y="850900"/>
                  </a:lnTo>
                  <a:lnTo>
                    <a:pt x="1482483" y="889000"/>
                  </a:lnTo>
                  <a:lnTo>
                    <a:pt x="1489557" y="914400"/>
                  </a:lnTo>
                  <a:lnTo>
                    <a:pt x="1496212" y="952500"/>
                  </a:lnTo>
                  <a:lnTo>
                    <a:pt x="1502460" y="977900"/>
                  </a:lnTo>
                  <a:lnTo>
                    <a:pt x="1508277" y="1016000"/>
                  </a:lnTo>
                  <a:lnTo>
                    <a:pt x="1513662" y="1054100"/>
                  </a:lnTo>
                  <a:lnTo>
                    <a:pt x="1518615" y="1079500"/>
                  </a:lnTo>
                  <a:lnTo>
                    <a:pt x="1523123" y="1117600"/>
                  </a:lnTo>
                  <a:lnTo>
                    <a:pt x="1527175" y="1155700"/>
                  </a:lnTo>
                  <a:lnTo>
                    <a:pt x="1530781" y="1193800"/>
                  </a:lnTo>
                  <a:lnTo>
                    <a:pt x="1533918" y="1231900"/>
                  </a:lnTo>
                  <a:lnTo>
                    <a:pt x="1536598" y="1257300"/>
                  </a:lnTo>
                  <a:lnTo>
                    <a:pt x="1538808" y="1295400"/>
                  </a:lnTo>
                  <a:lnTo>
                    <a:pt x="1540522" y="1333500"/>
                  </a:lnTo>
                  <a:lnTo>
                    <a:pt x="1541208" y="1358900"/>
                  </a:lnTo>
                  <a:lnTo>
                    <a:pt x="1541767" y="1371600"/>
                  </a:lnTo>
                  <a:lnTo>
                    <a:pt x="1542199" y="1397000"/>
                  </a:lnTo>
                  <a:lnTo>
                    <a:pt x="1542516" y="1409700"/>
                  </a:lnTo>
                  <a:lnTo>
                    <a:pt x="1542694" y="1435100"/>
                  </a:lnTo>
                  <a:lnTo>
                    <a:pt x="1542694" y="1460500"/>
                  </a:lnTo>
                  <a:lnTo>
                    <a:pt x="1542516" y="1485900"/>
                  </a:lnTo>
                  <a:lnTo>
                    <a:pt x="1542199" y="1498600"/>
                  </a:lnTo>
                  <a:lnTo>
                    <a:pt x="1541767" y="1524000"/>
                  </a:lnTo>
                  <a:lnTo>
                    <a:pt x="1541208" y="1536700"/>
                  </a:lnTo>
                  <a:lnTo>
                    <a:pt x="1540522" y="1562100"/>
                  </a:lnTo>
                  <a:lnTo>
                    <a:pt x="1538808" y="1600200"/>
                  </a:lnTo>
                  <a:lnTo>
                    <a:pt x="1536611" y="1638300"/>
                  </a:lnTo>
                  <a:lnTo>
                    <a:pt x="1533931" y="1663700"/>
                  </a:lnTo>
                  <a:lnTo>
                    <a:pt x="1530794" y="1701800"/>
                  </a:lnTo>
                  <a:lnTo>
                    <a:pt x="1527187" y="1739900"/>
                  </a:lnTo>
                  <a:lnTo>
                    <a:pt x="1523136" y="1778000"/>
                  </a:lnTo>
                  <a:lnTo>
                    <a:pt x="1518627" y="1816100"/>
                  </a:lnTo>
                  <a:lnTo>
                    <a:pt x="1513674" y="1841500"/>
                  </a:lnTo>
                  <a:lnTo>
                    <a:pt x="1508290" y="1879600"/>
                  </a:lnTo>
                  <a:lnTo>
                    <a:pt x="1502473" y="1917700"/>
                  </a:lnTo>
                  <a:lnTo>
                    <a:pt x="1496237" y="1943100"/>
                  </a:lnTo>
                  <a:lnTo>
                    <a:pt x="1489570" y="1981200"/>
                  </a:lnTo>
                  <a:lnTo>
                    <a:pt x="1482496" y="2006600"/>
                  </a:lnTo>
                  <a:lnTo>
                    <a:pt x="1475016" y="2044700"/>
                  </a:lnTo>
                  <a:lnTo>
                    <a:pt x="1467129" y="2082800"/>
                  </a:lnTo>
                  <a:lnTo>
                    <a:pt x="1458861" y="2108200"/>
                  </a:lnTo>
                  <a:lnTo>
                    <a:pt x="1450187" y="2133600"/>
                  </a:lnTo>
                  <a:lnTo>
                    <a:pt x="1441145" y="2171700"/>
                  </a:lnTo>
                  <a:lnTo>
                    <a:pt x="1431709" y="2197100"/>
                  </a:lnTo>
                  <a:lnTo>
                    <a:pt x="1421917" y="2235200"/>
                  </a:lnTo>
                  <a:lnTo>
                    <a:pt x="1411744" y="2260600"/>
                  </a:lnTo>
                  <a:lnTo>
                    <a:pt x="1401229" y="2286000"/>
                  </a:lnTo>
                  <a:lnTo>
                    <a:pt x="1390345" y="2311400"/>
                  </a:lnTo>
                  <a:lnTo>
                    <a:pt x="1379118" y="2349500"/>
                  </a:lnTo>
                  <a:lnTo>
                    <a:pt x="1355648" y="2400300"/>
                  </a:lnTo>
                  <a:lnTo>
                    <a:pt x="1330858" y="2451100"/>
                  </a:lnTo>
                  <a:lnTo>
                    <a:pt x="1304785" y="2501900"/>
                  </a:lnTo>
                  <a:lnTo>
                    <a:pt x="1277480" y="2540000"/>
                  </a:lnTo>
                  <a:lnTo>
                    <a:pt x="1263383" y="2565400"/>
                  </a:lnTo>
                  <a:lnTo>
                    <a:pt x="1248994" y="2590800"/>
                  </a:lnTo>
                  <a:lnTo>
                    <a:pt x="1234325" y="2616200"/>
                  </a:lnTo>
                  <a:lnTo>
                    <a:pt x="1219377" y="2628900"/>
                  </a:lnTo>
                  <a:lnTo>
                    <a:pt x="1204150" y="2654300"/>
                  </a:lnTo>
                  <a:lnTo>
                    <a:pt x="1188656" y="2667000"/>
                  </a:lnTo>
                  <a:lnTo>
                    <a:pt x="1172908" y="2692400"/>
                  </a:lnTo>
                  <a:lnTo>
                    <a:pt x="1156779" y="2705100"/>
                  </a:lnTo>
                  <a:lnTo>
                    <a:pt x="1140637" y="2730500"/>
                  </a:lnTo>
                  <a:close/>
                </a:path>
                <a:path w="1543050" h="2895600">
                  <a:moveTo>
                    <a:pt x="460667" y="2768600"/>
                  </a:moveTo>
                  <a:lnTo>
                    <a:pt x="443877" y="2768600"/>
                  </a:lnTo>
                  <a:lnTo>
                    <a:pt x="435419" y="2755900"/>
                  </a:lnTo>
                  <a:lnTo>
                    <a:pt x="427012" y="2755900"/>
                  </a:lnTo>
                  <a:lnTo>
                    <a:pt x="410375" y="2730500"/>
                  </a:lnTo>
                  <a:lnTo>
                    <a:pt x="427507" y="2730500"/>
                  </a:lnTo>
                  <a:lnTo>
                    <a:pt x="435711" y="2743200"/>
                  </a:lnTo>
                  <a:lnTo>
                    <a:pt x="443979" y="2743200"/>
                  </a:lnTo>
                  <a:lnTo>
                    <a:pt x="452285" y="2755900"/>
                  </a:lnTo>
                  <a:lnTo>
                    <a:pt x="460667" y="2768600"/>
                  </a:lnTo>
                  <a:close/>
                </a:path>
                <a:path w="1543050" h="2895600">
                  <a:moveTo>
                    <a:pt x="1098892" y="2768600"/>
                  </a:moveTo>
                  <a:lnTo>
                    <a:pt x="1082116" y="2768600"/>
                  </a:lnTo>
                  <a:lnTo>
                    <a:pt x="1098791" y="2743200"/>
                  </a:lnTo>
                  <a:lnTo>
                    <a:pt x="1107058" y="2743200"/>
                  </a:lnTo>
                  <a:lnTo>
                    <a:pt x="1115263" y="2730500"/>
                  </a:lnTo>
                  <a:lnTo>
                    <a:pt x="1132382" y="2730500"/>
                  </a:lnTo>
                  <a:lnTo>
                    <a:pt x="1124102" y="2743200"/>
                  </a:lnTo>
                  <a:lnTo>
                    <a:pt x="1115758" y="2755900"/>
                  </a:lnTo>
                  <a:lnTo>
                    <a:pt x="1107351" y="2755900"/>
                  </a:lnTo>
                  <a:lnTo>
                    <a:pt x="1098892" y="2768600"/>
                  </a:lnTo>
                  <a:close/>
                </a:path>
                <a:path w="1543050" h="2895600">
                  <a:moveTo>
                    <a:pt x="477558" y="2781300"/>
                  </a:moveTo>
                  <a:lnTo>
                    <a:pt x="460984" y="2781300"/>
                  </a:lnTo>
                  <a:lnTo>
                    <a:pt x="452399" y="2768600"/>
                  </a:lnTo>
                  <a:lnTo>
                    <a:pt x="469087" y="2768600"/>
                  </a:lnTo>
                  <a:lnTo>
                    <a:pt x="477558" y="2781300"/>
                  </a:lnTo>
                  <a:close/>
                </a:path>
                <a:path w="1543050" h="2895600">
                  <a:moveTo>
                    <a:pt x="1081785" y="2781300"/>
                  </a:moveTo>
                  <a:lnTo>
                    <a:pt x="1065225" y="2781300"/>
                  </a:lnTo>
                  <a:lnTo>
                    <a:pt x="1073696" y="2768600"/>
                  </a:lnTo>
                  <a:lnTo>
                    <a:pt x="1090371" y="2768600"/>
                  </a:lnTo>
                  <a:lnTo>
                    <a:pt x="1081785" y="2781300"/>
                  </a:lnTo>
                  <a:close/>
                </a:path>
                <a:path w="1543050" h="2895600">
                  <a:moveTo>
                    <a:pt x="494652" y="2794000"/>
                  </a:moveTo>
                  <a:lnTo>
                    <a:pt x="478320" y="2794000"/>
                  </a:lnTo>
                  <a:lnTo>
                    <a:pt x="469620" y="2781300"/>
                  </a:lnTo>
                  <a:lnTo>
                    <a:pt x="486079" y="2781300"/>
                  </a:lnTo>
                  <a:lnTo>
                    <a:pt x="494652" y="2794000"/>
                  </a:lnTo>
                  <a:close/>
                </a:path>
                <a:path w="1543050" h="2895600">
                  <a:moveTo>
                    <a:pt x="1064463" y="2794000"/>
                  </a:moveTo>
                  <a:lnTo>
                    <a:pt x="1048118" y="2794000"/>
                  </a:lnTo>
                  <a:lnTo>
                    <a:pt x="1056690" y="2781300"/>
                  </a:lnTo>
                  <a:lnTo>
                    <a:pt x="1073150" y="2781300"/>
                  </a:lnTo>
                  <a:lnTo>
                    <a:pt x="1064463" y="2794000"/>
                  </a:lnTo>
                  <a:close/>
                </a:path>
                <a:path w="1543050" h="2895600">
                  <a:moveTo>
                    <a:pt x="511949" y="2806700"/>
                  </a:moveTo>
                  <a:lnTo>
                    <a:pt x="495871" y="2806700"/>
                  </a:lnTo>
                  <a:lnTo>
                    <a:pt x="487057" y="2794000"/>
                  </a:lnTo>
                  <a:lnTo>
                    <a:pt x="503288" y="2794000"/>
                  </a:lnTo>
                  <a:lnTo>
                    <a:pt x="511949" y="2806700"/>
                  </a:lnTo>
                  <a:close/>
                </a:path>
                <a:path w="1543050" h="2895600">
                  <a:moveTo>
                    <a:pt x="1046924" y="2806700"/>
                  </a:moveTo>
                  <a:lnTo>
                    <a:pt x="1030833" y="2806700"/>
                  </a:lnTo>
                  <a:lnTo>
                    <a:pt x="1039507" y="2794000"/>
                  </a:lnTo>
                  <a:lnTo>
                    <a:pt x="1055712" y="2794000"/>
                  </a:lnTo>
                  <a:lnTo>
                    <a:pt x="1046924" y="2806700"/>
                  </a:lnTo>
                  <a:close/>
                </a:path>
                <a:path w="1543050" h="2895600">
                  <a:moveTo>
                    <a:pt x="529437" y="2819400"/>
                  </a:moveTo>
                  <a:lnTo>
                    <a:pt x="513626" y="2819400"/>
                  </a:lnTo>
                  <a:lnTo>
                    <a:pt x="504723" y="2806700"/>
                  </a:lnTo>
                  <a:lnTo>
                    <a:pt x="520674" y="2806700"/>
                  </a:lnTo>
                  <a:lnTo>
                    <a:pt x="529437" y="2819400"/>
                  </a:lnTo>
                  <a:close/>
                </a:path>
                <a:path w="1543050" h="2895600">
                  <a:moveTo>
                    <a:pt x="1029157" y="2819400"/>
                  </a:moveTo>
                  <a:lnTo>
                    <a:pt x="1013345" y="2819400"/>
                  </a:lnTo>
                  <a:lnTo>
                    <a:pt x="1022121" y="2806700"/>
                  </a:lnTo>
                  <a:lnTo>
                    <a:pt x="1038059" y="2806700"/>
                  </a:lnTo>
                  <a:lnTo>
                    <a:pt x="1029157" y="2819400"/>
                  </a:lnTo>
                  <a:close/>
                </a:path>
                <a:path w="1543050" h="2895600">
                  <a:moveTo>
                    <a:pt x="556018" y="2832100"/>
                  </a:moveTo>
                  <a:lnTo>
                    <a:pt x="531609" y="2832100"/>
                  </a:lnTo>
                  <a:lnTo>
                    <a:pt x="522592" y="2819400"/>
                  </a:lnTo>
                  <a:lnTo>
                    <a:pt x="547115" y="2819400"/>
                  </a:lnTo>
                  <a:lnTo>
                    <a:pt x="556018" y="2832100"/>
                  </a:lnTo>
                  <a:close/>
                </a:path>
                <a:path w="1543050" h="2895600">
                  <a:moveTo>
                    <a:pt x="1011186" y="2832100"/>
                  </a:moveTo>
                  <a:lnTo>
                    <a:pt x="986789" y="2832100"/>
                  </a:lnTo>
                  <a:lnTo>
                    <a:pt x="995679" y="2819400"/>
                  </a:lnTo>
                  <a:lnTo>
                    <a:pt x="1020203" y="2819400"/>
                  </a:lnTo>
                  <a:lnTo>
                    <a:pt x="1011186" y="2832100"/>
                  </a:lnTo>
                  <a:close/>
                </a:path>
                <a:path w="1543050" h="2895600">
                  <a:moveTo>
                    <a:pt x="573951" y="2844800"/>
                  </a:moveTo>
                  <a:lnTo>
                    <a:pt x="549782" y="2844800"/>
                  </a:lnTo>
                  <a:lnTo>
                    <a:pt x="540677" y="2832100"/>
                  </a:lnTo>
                  <a:lnTo>
                    <a:pt x="564959" y="2832100"/>
                  </a:lnTo>
                  <a:lnTo>
                    <a:pt x="573951" y="2844800"/>
                  </a:lnTo>
                  <a:close/>
                </a:path>
                <a:path w="1543050" h="2895600">
                  <a:moveTo>
                    <a:pt x="993013" y="2844800"/>
                  </a:moveTo>
                  <a:lnTo>
                    <a:pt x="968857" y="2844800"/>
                  </a:lnTo>
                  <a:lnTo>
                    <a:pt x="977849" y="2832100"/>
                  </a:lnTo>
                  <a:lnTo>
                    <a:pt x="1002131" y="2832100"/>
                  </a:lnTo>
                  <a:lnTo>
                    <a:pt x="993013" y="2844800"/>
                  </a:lnTo>
                  <a:close/>
                </a:path>
                <a:path w="1543050" h="2895600">
                  <a:moveTo>
                    <a:pt x="601167" y="2857500"/>
                  </a:moveTo>
                  <a:lnTo>
                    <a:pt x="577418" y="2857500"/>
                  </a:lnTo>
                  <a:lnTo>
                    <a:pt x="568159" y="2844800"/>
                  </a:lnTo>
                  <a:lnTo>
                    <a:pt x="591934" y="2844800"/>
                  </a:lnTo>
                  <a:lnTo>
                    <a:pt x="601167" y="2857500"/>
                  </a:lnTo>
                  <a:close/>
                </a:path>
                <a:path w="1543050" h="2895600">
                  <a:moveTo>
                    <a:pt x="965390" y="2857500"/>
                  </a:moveTo>
                  <a:lnTo>
                    <a:pt x="941641" y="2857500"/>
                  </a:lnTo>
                  <a:lnTo>
                    <a:pt x="950760" y="2844800"/>
                  </a:lnTo>
                  <a:lnTo>
                    <a:pt x="974648" y="2844800"/>
                  </a:lnTo>
                  <a:lnTo>
                    <a:pt x="965390" y="2857500"/>
                  </a:lnTo>
                  <a:close/>
                </a:path>
                <a:path w="1543050" h="2895600">
                  <a:moveTo>
                    <a:pt x="638022" y="2870200"/>
                  </a:moveTo>
                  <a:lnTo>
                    <a:pt x="596087" y="2870200"/>
                  </a:lnTo>
                  <a:lnTo>
                    <a:pt x="586727" y="2857500"/>
                  </a:lnTo>
                  <a:lnTo>
                    <a:pt x="628611" y="2857500"/>
                  </a:lnTo>
                  <a:lnTo>
                    <a:pt x="638022" y="2870200"/>
                  </a:lnTo>
                  <a:close/>
                </a:path>
                <a:path w="1543050" h="2895600">
                  <a:moveTo>
                    <a:pt x="946734" y="2870200"/>
                  </a:moveTo>
                  <a:lnTo>
                    <a:pt x="904671" y="2870200"/>
                  </a:lnTo>
                  <a:lnTo>
                    <a:pt x="914082" y="2857500"/>
                  </a:lnTo>
                  <a:lnTo>
                    <a:pt x="956081" y="2857500"/>
                  </a:lnTo>
                  <a:lnTo>
                    <a:pt x="946734" y="2870200"/>
                  </a:lnTo>
                  <a:close/>
                </a:path>
                <a:path w="1543050" h="2895600">
                  <a:moveTo>
                    <a:pt x="675462" y="2882900"/>
                  </a:moveTo>
                  <a:lnTo>
                    <a:pt x="633945" y="2882900"/>
                  </a:lnTo>
                  <a:lnTo>
                    <a:pt x="624420" y="2870200"/>
                  </a:lnTo>
                  <a:lnTo>
                    <a:pt x="665911" y="2870200"/>
                  </a:lnTo>
                  <a:lnTo>
                    <a:pt x="675462" y="2882900"/>
                  </a:lnTo>
                  <a:close/>
                </a:path>
                <a:path w="1543050" h="2895600">
                  <a:moveTo>
                    <a:pt x="908875" y="2882900"/>
                  </a:moveTo>
                  <a:lnTo>
                    <a:pt x="867232" y="2882900"/>
                  </a:lnTo>
                  <a:lnTo>
                    <a:pt x="876782" y="2870200"/>
                  </a:lnTo>
                  <a:lnTo>
                    <a:pt x="918400" y="2870200"/>
                  </a:lnTo>
                  <a:lnTo>
                    <a:pt x="908875" y="2882900"/>
                  </a:lnTo>
                  <a:close/>
                </a:path>
                <a:path w="1543050" h="2895600">
                  <a:moveTo>
                    <a:pt x="870343" y="2895600"/>
                  </a:moveTo>
                  <a:lnTo>
                    <a:pt x="672490" y="2895600"/>
                  </a:lnTo>
                  <a:lnTo>
                    <a:pt x="662800" y="2882900"/>
                  </a:lnTo>
                  <a:lnTo>
                    <a:pt x="880033" y="2882900"/>
                  </a:lnTo>
                  <a:lnTo>
                    <a:pt x="870343" y="28956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45077" y="6256867"/>
              <a:ext cx="3428173" cy="12740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82357" y="3647871"/>
              <a:ext cx="174117" cy="273653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96439" y="3703192"/>
              <a:ext cx="1224889" cy="2211578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3494303" y="6297942"/>
            <a:ext cx="4305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 panose="02040503050406030204"/>
                <a:cs typeface="Cambria Math" panose="02040503050406030204"/>
              </a:rPr>
              <a:t>𝑤</a:t>
            </a:r>
            <a:r>
              <a:rPr sz="2625" spc="-37" baseline="-16000" dirty="0">
                <a:latin typeface="Cambria Math" panose="02040503050406030204"/>
                <a:cs typeface="Cambria Math" panose="02040503050406030204"/>
              </a:rPr>
              <a:t>1</a:t>
            </a:r>
            <a:endParaRPr sz="2625" baseline="-16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55447" y="4114342"/>
            <a:ext cx="4305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 panose="02040503050406030204"/>
                <a:cs typeface="Cambria Math" panose="02040503050406030204"/>
              </a:rPr>
              <a:t>𝑤</a:t>
            </a:r>
            <a:r>
              <a:rPr sz="2625" spc="-37" baseline="-16000" dirty="0">
                <a:latin typeface="Cambria Math" panose="02040503050406030204"/>
                <a:cs typeface="Cambria Math" panose="02040503050406030204"/>
              </a:rPr>
              <a:t>2</a:t>
            </a:r>
            <a:endParaRPr sz="2625" baseline="-16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404658" y="5666320"/>
            <a:ext cx="53403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30" dirty="0">
                <a:solidFill>
                  <a:srgbClr val="0066CC"/>
                </a:solidFill>
                <a:latin typeface="微软雅黑" panose="020B0503020204020204" charset="-122"/>
                <a:cs typeface="微软雅黑" panose="020B0503020204020204" charset="-122"/>
              </a:rPr>
              <a:t>梯度</a:t>
            </a:r>
            <a:endParaRPr sz="20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80694" y="1190498"/>
            <a:ext cx="4292600" cy="1811655"/>
          </a:xfrm>
          <a:prstGeom prst="rect">
            <a:avLst/>
          </a:prstGeom>
        </p:spPr>
        <p:txBody>
          <a:bodyPr vert="horz" wrap="square" lIns="0" tIns="173990" rIns="0" bIns="0" rtlCol="0">
            <a:spAutoFit/>
          </a:bodyPr>
          <a:lstStyle/>
          <a:p>
            <a:pPr marL="64770">
              <a:lnSpc>
                <a:spcPct val="100000"/>
              </a:lnSpc>
              <a:spcBef>
                <a:spcPts val="1370"/>
              </a:spcBef>
            </a:pPr>
            <a:r>
              <a:rPr sz="2400" b="1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为什么要标准化</a:t>
            </a:r>
            <a:r>
              <a:rPr sz="24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/</a:t>
            </a:r>
            <a:r>
              <a:rPr sz="2400" b="1" spc="-15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归一化？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  <a:p>
            <a:pPr marL="12700" marR="5080" algn="just">
              <a:lnSpc>
                <a:spcPct val="100000"/>
              </a:lnSpc>
              <a:spcBef>
                <a:spcPts val="1270"/>
              </a:spcBef>
            </a:pPr>
            <a:r>
              <a:rPr sz="2400" b="1" dirty="0">
                <a:latin typeface="微软雅黑" panose="020B0503020204020204" charset="-122"/>
                <a:cs typeface="微软雅黑" panose="020B0503020204020204" charset="-122"/>
              </a:rPr>
              <a:t>提升模型精度</a:t>
            </a:r>
            <a:r>
              <a:rPr sz="2400" spc="-10" dirty="0">
                <a:latin typeface="微软雅黑" panose="020B0503020204020204" charset="-122"/>
                <a:cs typeface="微软雅黑" panose="020B0503020204020204" charset="-122"/>
              </a:rPr>
              <a:t>：不同维度之间的</a:t>
            </a:r>
            <a:r>
              <a:rPr sz="2400" spc="-5" dirty="0">
                <a:latin typeface="微软雅黑" panose="020B0503020204020204" charset="-122"/>
                <a:cs typeface="微软雅黑" panose="020B0503020204020204" charset="-122"/>
              </a:rPr>
              <a:t>特征在数值上有一定比较性，可以大大提高分类器的准确性。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159131" y="1852307"/>
            <a:ext cx="429260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微软雅黑" panose="020B0503020204020204" charset="-122"/>
                <a:cs typeface="微软雅黑" panose="020B0503020204020204" charset="-122"/>
              </a:rPr>
              <a:t>加速模型收敛</a:t>
            </a:r>
            <a:r>
              <a:rPr sz="2400" spc="-10" dirty="0">
                <a:latin typeface="微软雅黑" panose="020B0503020204020204" charset="-122"/>
                <a:cs typeface="微软雅黑" panose="020B0503020204020204" charset="-122"/>
              </a:rPr>
              <a:t>：最优解的寻优过</a:t>
            </a:r>
            <a:r>
              <a:rPr sz="2400" spc="-5" dirty="0">
                <a:latin typeface="微软雅黑" panose="020B0503020204020204" charset="-122"/>
                <a:cs typeface="微软雅黑" panose="020B0503020204020204" charset="-122"/>
              </a:rPr>
              <a:t>程明显会变得平缓，更容易正确</a:t>
            </a:r>
            <a:r>
              <a:rPr sz="2400" spc="-10" dirty="0">
                <a:latin typeface="微软雅黑" panose="020B0503020204020204" charset="-122"/>
                <a:cs typeface="微软雅黑" panose="020B0503020204020204" charset="-122"/>
              </a:rPr>
              <a:t>的收敛到最优解。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999744"/>
            <a:ext cx="646430" cy="262255"/>
          </a:xfrm>
          <a:prstGeom prst="rect">
            <a:avLst/>
          </a:prstGeom>
          <a:solidFill>
            <a:srgbClr val="A40020"/>
          </a:solidFill>
        </p:spPr>
        <p:txBody>
          <a:bodyPr vert="horz" wrap="square" lIns="0" tIns="635" rIns="0" bIns="0" rtlCol="0">
            <a:spAutoFit/>
          </a:bodyPr>
          <a:lstStyle/>
          <a:p>
            <a:pPr marL="375285">
              <a:lnSpc>
                <a:spcPct val="100000"/>
              </a:lnSpc>
              <a:spcBef>
                <a:spcPts val="5"/>
              </a:spcBef>
            </a:pPr>
            <a:r>
              <a:rPr sz="1400" b="1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30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777386" y="1468018"/>
            <a:ext cx="2108835" cy="1651000"/>
          </a:xfrm>
          <a:custGeom>
            <a:avLst/>
            <a:gdLst/>
            <a:ahLst/>
            <a:cxnLst/>
            <a:rect l="l" t="t" r="r" b="b"/>
            <a:pathLst>
              <a:path w="2108834" h="1651000">
                <a:moveTo>
                  <a:pt x="1914804" y="12700"/>
                </a:moveTo>
                <a:lnTo>
                  <a:pt x="199999" y="12700"/>
                </a:lnTo>
                <a:lnTo>
                  <a:pt x="206730" y="0"/>
                </a:lnTo>
                <a:lnTo>
                  <a:pt x="1908149" y="0"/>
                </a:lnTo>
                <a:lnTo>
                  <a:pt x="1914804" y="12700"/>
                </a:lnTo>
                <a:close/>
              </a:path>
              <a:path w="2108834" h="1651000">
                <a:moveTo>
                  <a:pt x="271360" y="25400"/>
                </a:moveTo>
                <a:lnTo>
                  <a:pt x="161188" y="25400"/>
                </a:lnTo>
                <a:lnTo>
                  <a:pt x="167741" y="12700"/>
                </a:lnTo>
                <a:lnTo>
                  <a:pt x="278345" y="12700"/>
                </a:lnTo>
                <a:lnTo>
                  <a:pt x="271360" y="25400"/>
                </a:lnTo>
                <a:close/>
              </a:path>
              <a:path w="2108834" h="1651000">
                <a:moveTo>
                  <a:pt x="1946973" y="25400"/>
                </a:moveTo>
                <a:lnTo>
                  <a:pt x="1837093" y="25400"/>
                </a:lnTo>
                <a:lnTo>
                  <a:pt x="1830108" y="12700"/>
                </a:lnTo>
                <a:lnTo>
                  <a:pt x="1940979" y="12700"/>
                </a:lnTo>
                <a:lnTo>
                  <a:pt x="1946973" y="25400"/>
                </a:lnTo>
                <a:close/>
              </a:path>
              <a:path w="2108834" h="1651000">
                <a:moveTo>
                  <a:pt x="201485" y="38100"/>
                </a:moveTo>
                <a:lnTo>
                  <a:pt x="137363" y="38100"/>
                </a:lnTo>
                <a:lnTo>
                  <a:pt x="148767" y="25400"/>
                </a:lnTo>
                <a:lnTo>
                  <a:pt x="207835" y="25400"/>
                </a:lnTo>
                <a:lnTo>
                  <a:pt x="201485" y="38100"/>
                </a:lnTo>
                <a:close/>
              </a:path>
              <a:path w="2108834" h="1651000">
                <a:moveTo>
                  <a:pt x="1971078" y="38100"/>
                </a:moveTo>
                <a:lnTo>
                  <a:pt x="1906968" y="38100"/>
                </a:lnTo>
                <a:lnTo>
                  <a:pt x="1900605" y="25400"/>
                </a:lnTo>
                <a:lnTo>
                  <a:pt x="1959673" y="25400"/>
                </a:lnTo>
                <a:lnTo>
                  <a:pt x="1971078" y="38100"/>
                </a:lnTo>
                <a:close/>
              </a:path>
              <a:path w="2108834" h="1651000">
                <a:moveTo>
                  <a:pt x="139509" y="63500"/>
                </a:moveTo>
                <a:lnTo>
                  <a:pt x="103377" y="63500"/>
                </a:lnTo>
                <a:lnTo>
                  <a:pt x="114617" y="50800"/>
                </a:lnTo>
                <a:lnTo>
                  <a:pt x="125285" y="38100"/>
                </a:lnTo>
                <a:lnTo>
                  <a:pt x="178206" y="38100"/>
                </a:lnTo>
                <a:lnTo>
                  <a:pt x="172211" y="50800"/>
                </a:lnTo>
                <a:lnTo>
                  <a:pt x="150558" y="50800"/>
                </a:lnTo>
                <a:lnTo>
                  <a:pt x="139509" y="63500"/>
                </a:lnTo>
                <a:close/>
              </a:path>
              <a:path w="2108834" h="1651000">
                <a:moveTo>
                  <a:pt x="2005076" y="63500"/>
                </a:moveTo>
                <a:lnTo>
                  <a:pt x="1968944" y="63500"/>
                </a:lnTo>
                <a:lnTo>
                  <a:pt x="1957895" y="50800"/>
                </a:lnTo>
                <a:lnTo>
                  <a:pt x="1936229" y="50800"/>
                </a:lnTo>
                <a:lnTo>
                  <a:pt x="1930234" y="38100"/>
                </a:lnTo>
                <a:lnTo>
                  <a:pt x="1983155" y="38100"/>
                </a:lnTo>
                <a:lnTo>
                  <a:pt x="1994319" y="50800"/>
                </a:lnTo>
                <a:lnTo>
                  <a:pt x="2005076" y="63500"/>
                </a:lnTo>
                <a:close/>
              </a:path>
              <a:path w="2108834" h="1651000">
                <a:moveTo>
                  <a:pt x="129336" y="76200"/>
                </a:moveTo>
                <a:lnTo>
                  <a:pt x="83591" y="76200"/>
                </a:lnTo>
                <a:lnTo>
                  <a:pt x="93497" y="63500"/>
                </a:lnTo>
                <a:lnTo>
                  <a:pt x="140017" y="63500"/>
                </a:lnTo>
                <a:lnTo>
                  <a:pt x="129336" y="76200"/>
                </a:lnTo>
                <a:close/>
              </a:path>
              <a:path w="2108834" h="1651000">
                <a:moveTo>
                  <a:pt x="2024849" y="76200"/>
                </a:moveTo>
                <a:lnTo>
                  <a:pt x="1979104" y="76200"/>
                </a:lnTo>
                <a:lnTo>
                  <a:pt x="1968436" y="63500"/>
                </a:lnTo>
                <a:lnTo>
                  <a:pt x="2015401" y="63500"/>
                </a:lnTo>
                <a:lnTo>
                  <a:pt x="2024849" y="76200"/>
                </a:lnTo>
                <a:close/>
              </a:path>
              <a:path w="2108834" h="1651000">
                <a:moveTo>
                  <a:pt x="84378" y="114300"/>
                </a:moveTo>
                <a:lnTo>
                  <a:pt x="56349" y="114300"/>
                </a:lnTo>
                <a:lnTo>
                  <a:pt x="65176" y="101600"/>
                </a:lnTo>
                <a:lnTo>
                  <a:pt x="73736" y="88900"/>
                </a:lnTo>
                <a:lnTo>
                  <a:pt x="83159" y="76200"/>
                </a:lnTo>
                <a:lnTo>
                  <a:pt x="120002" y="76200"/>
                </a:lnTo>
                <a:lnTo>
                  <a:pt x="110121" y="88900"/>
                </a:lnTo>
                <a:lnTo>
                  <a:pt x="101549" y="88900"/>
                </a:lnTo>
                <a:lnTo>
                  <a:pt x="92532" y="101600"/>
                </a:lnTo>
                <a:lnTo>
                  <a:pt x="92938" y="101600"/>
                </a:lnTo>
                <a:lnTo>
                  <a:pt x="84378" y="114300"/>
                </a:lnTo>
                <a:close/>
              </a:path>
              <a:path w="2108834" h="1651000">
                <a:moveTo>
                  <a:pt x="2043264" y="101600"/>
                </a:moveTo>
                <a:lnTo>
                  <a:pt x="2015909" y="101600"/>
                </a:lnTo>
                <a:lnTo>
                  <a:pt x="2006892" y="88900"/>
                </a:lnTo>
                <a:lnTo>
                  <a:pt x="1998319" y="88900"/>
                </a:lnTo>
                <a:lnTo>
                  <a:pt x="1988438" y="76200"/>
                </a:lnTo>
                <a:lnTo>
                  <a:pt x="2025281" y="76200"/>
                </a:lnTo>
                <a:lnTo>
                  <a:pt x="2034705" y="88900"/>
                </a:lnTo>
                <a:lnTo>
                  <a:pt x="2043264" y="101600"/>
                </a:lnTo>
                <a:close/>
              </a:path>
              <a:path w="2108834" h="1651000">
                <a:moveTo>
                  <a:pt x="2059685" y="114300"/>
                </a:moveTo>
                <a:lnTo>
                  <a:pt x="2024062" y="114300"/>
                </a:lnTo>
                <a:lnTo>
                  <a:pt x="2015502" y="101600"/>
                </a:lnTo>
                <a:lnTo>
                  <a:pt x="2051735" y="101600"/>
                </a:lnTo>
                <a:lnTo>
                  <a:pt x="2059685" y="114300"/>
                </a:lnTo>
                <a:close/>
              </a:path>
              <a:path w="2108834" h="1651000">
                <a:moveTo>
                  <a:pt x="56476" y="152400"/>
                </a:moveTo>
                <a:lnTo>
                  <a:pt x="31165" y="152400"/>
                </a:lnTo>
                <a:lnTo>
                  <a:pt x="34455" y="139700"/>
                </a:lnTo>
                <a:lnTo>
                  <a:pt x="41008" y="127000"/>
                </a:lnTo>
                <a:lnTo>
                  <a:pt x="48412" y="114300"/>
                </a:lnTo>
                <a:lnTo>
                  <a:pt x="84772" y="114300"/>
                </a:lnTo>
                <a:lnTo>
                  <a:pt x="76682" y="127000"/>
                </a:lnTo>
                <a:lnTo>
                  <a:pt x="69799" y="127000"/>
                </a:lnTo>
                <a:lnTo>
                  <a:pt x="62712" y="139700"/>
                </a:lnTo>
                <a:lnTo>
                  <a:pt x="63030" y="139700"/>
                </a:lnTo>
                <a:lnTo>
                  <a:pt x="56476" y="152400"/>
                </a:lnTo>
                <a:close/>
              </a:path>
              <a:path w="2108834" h="1651000">
                <a:moveTo>
                  <a:pt x="2067115" y="127000"/>
                </a:moveTo>
                <a:lnTo>
                  <a:pt x="2031758" y="127000"/>
                </a:lnTo>
                <a:lnTo>
                  <a:pt x="2023681" y="114300"/>
                </a:lnTo>
                <a:lnTo>
                  <a:pt x="2060028" y="114300"/>
                </a:lnTo>
                <a:lnTo>
                  <a:pt x="2067115" y="127000"/>
                </a:lnTo>
                <a:close/>
              </a:path>
              <a:path w="2108834" h="1651000">
                <a:moveTo>
                  <a:pt x="69456" y="139700"/>
                </a:moveTo>
                <a:lnTo>
                  <a:pt x="69799" y="127000"/>
                </a:lnTo>
                <a:lnTo>
                  <a:pt x="77050" y="127000"/>
                </a:lnTo>
                <a:lnTo>
                  <a:pt x="69456" y="139700"/>
                </a:lnTo>
                <a:close/>
              </a:path>
              <a:path w="2108834" h="1651000">
                <a:moveTo>
                  <a:pt x="2038984" y="139700"/>
                </a:moveTo>
                <a:lnTo>
                  <a:pt x="2031403" y="127000"/>
                </a:lnTo>
                <a:lnTo>
                  <a:pt x="2038642" y="127000"/>
                </a:lnTo>
                <a:lnTo>
                  <a:pt x="2038984" y="139700"/>
                </a:lnTo>
                <a:close/>
              </a:path>
              <a:path w="2108834" h="1651000">
                <a:moveTo>
                  <a:pt x="2077427" y="152400"/>
                </a:moveTo>
                <a:lnTo>
                  <a:pt x="2051964" y="152400"/>
                </a:lnTo>
                <a:lnTo>
                  <a:pt x="2045411" y="139700"/>
                </a:lnTo>
                <a:lnTo>
                  <a:pt x="2045728" y="139700"/>
                </a:lnTo>
                <a:lnTo>
                  <a:pt x="2038642" y="127000"/>
                </a:lnTo>
                <a:lnTo>
                  <a:pt x="2067432" y="127000"/>
                </a:lnTo>
                <a:lnTo>
                  <a:pt x="2074214" y="139700"/>
                </a:lnTo>
                <a:lnTo>
                  <a:pt x="2077427" y="152400"/>
                </a:lnTo>
                <a:close/>
              </a:path>
              <a:path w="2108834" h="1651000">
                <a:moveTo>
                  <a:pt x="53619" y="165100"/>
                </a:moveTo>
                <a:lnTo>
                  <a:pt x="25018" y="165100"/>
                </a:lnTo>
                <a:lnTo>
                  <a:pt x="27952" y="152400"/>
                </a:lnTo>
                <a:lnTo>
                  <a:pt x="56705" y="152400"/>
                </a:lnTo>
                <a:lnTo>
                  <a:pt x="53619" y="165100"/>
                </a:lnTo>
                <a:close/>
              </a:path>
              <a:path w="2108834" h="1651000">
                <a:moveTo>
                  <a:pt x="2083295" y="165100"/>
                </a:moveTo>
                <a:lnTo>
                  <a:pt x="2054821" y="165100"/>
                </a:lnTo>
                <a:lnTo>
                  <a:pt x="2051748" y="152400"/>
                </a:lnTo>
                <a:lnTo>
                  <a:pt x="2080501" y="152400"/>
                </a:lnTo>
                <a:lnTo>
                  <a:pt x="2083295" y="165100"/>
                </a:lnTo>
                <a:close/>
              </a:path>
              <a:path w="2108834" h="1651000">
                <a:moveTo>
                  <a:pt x="48298" y="177800"/>
                </a:moveTo>
                <a:lnTo>
                  <a:pt x="19621" y="177800"/>
                </a:lnTo>
                <a:lnTo>
                  <a:pt x="22250" y="165100"/>
                </a:lnTo>
                <a:lnTo>
                  <a:pt x="50965" y="165100"/>
                </a:lnTo>
                <a:lnTo>
                  <a:pt x="48298" y="177800"/>
                </a:lnTo>
                <a:close/>
              </a:path>
              <a:path w="2108834" h="1651000">
                <a:moveTo>
                  <a:pt x="2088705" y="177800"/>
                </a:moveTo>
                <a:lnTo>
                  <a:pt x="2060282" y="177800"/>
                </a:lnTo>
                <a:lnTo>
                  <a:pt x="2057476" y="165100"/>
                </a:lnTo>
                <a:lnTo>
                  <a:pt x="2086076" y="165100"/>
                </a:lnTo>
                <a:lnTo>
                  <a:pt x="2088705" y="177800"/>
                </a:lnTo>
                <a:close/>
              </a:path>
              <a:path w="2108834" h="1651000">
                <a:moveTo>
                  <a:pt x="41109" y="190500"/>
                </a:moveTo>
                <a:lnTo>
                  <a:pt x="14833" y="190500"/>
                </a:lnTo>
                <a:lnTo>
                  <a:pt x="17144" y="177800"/>
                </a:lnTo>
                <a:lnTo>
                  <a:pt x="43357" y="177800"/>
                </a:lnTo>
                <a:lnTo>
                  <a:pt x="41109" y="190500"/>
                </a:lnTo>
                <a:close/>
              </a:path>
              <a:path w="2108834" h="1651000">
                <a:moveTo>
                  <a:pt x="2093506" y="190500"/>
                </a:moveTo>
                <a:lnTo>
                  <a:pt x="2067445" y="190500"/>
                </a:lnTo>
                <a:lnTo>
                  <a:pt x="2065197" y="177800"/>
                </a:lnTo>
                <a:lnTo>
                  <a:pt x="2091194" y="177800"/>
                </a:lnTo>
                <a:lnTo>
                  <a:pt x="2093506" y="190500"/>
                </a:lnTo>
                <a:close/>
              </a:path>
              <a:path w="2108834" h="1651000">
                <a:moveTo>
                  <a:pt x="37020" y="203200"/>
                </a:moveTo>
                <a:lnTo>
                  <a:pt x="10680" y="203200"/>
                </a:lnTo>
                <a:lnTo>
                  <a:pt x="12674" y="190500"/>
                </a:lnTo>
                <a:lnTo>
                  <a:pt x="38988" y="190500"/>
                </a:lnTo>
                <a:lnTo>
                  <a:pt x="37020" y="203200"/>
                </a:lnTo>
                <a:close/>
              </a:path>
              <a:path w="2108834" h="1651000">
                <a:moveTo>
                  <a:pt x="2097684" y="203200"/>
                </a:moveTo>
                <a:lnTo>
                  <a:pt x="2071522" y="203200"/>
                </a:lnTo>
                <a:lnTo>
                  <a:pt x="2069553" y="190500"/>
                </a:lnTo>
                <a:lnTo>
                  <a:pt x="2095677" y="190500"/>
                </a:lnTo>
                <a:lnTo>
                  <a:pt x="2097684" y="203200"/>
                </a:lnTo>
                <a:close/>
              </a:path>
              <a:path w="2108834" h="1651000">
                <a:moveTo>
                  <a:pt x="33515" y="215900"/>
                </a:moveTo>
                <a:lnTo>
                  <a:pt x="7162" y="215900"/>
                </a:lnTo>
                <a:lnTo>
                  <a:pt x="8839" y="203200"/>
                </a:lnTo>
                <a:lnTo>
                  <a:pt x="35191" y="203200"/>
                </a:lnTo>
                <a:lnTo>
                  <a:pt x="33515" y="215900"/>
                </a:lnTo>
                <a:close/>
              </a:path>
              <a:path w="2108834" h="1651000">
                <a:moveTo>
                  <a:pt x="2101202" y="215900"/>
                </a:moveTo>
                <a:lnTo>
                  <a:pt x="2075002" y="215900"/>
                </a:lnTo>
                <a:lnTo>
                  <a:pt x="2073338" y="203200"/>
                </a:lnTo>
                <a:lnTo>
                  <a:pt x="2099525" y="203200"/>
                </a:lnTo>
                <a:lnTo>
                  <a:pt x="2101202" y="215900"/>
                </a:lnTo>
                <a:close/>
              </a:path>
              <a:path w="2108834" h="1651000">
                <a:moveTo>
                  <a:pt x="28320" y="241300"/>
                </a:moveTo>
                <a:lnTo>
                  <a:pt x="3162" y="241300"/>
                </a:lnTo>
                <a:lnTo>
                  <a:pt x="4330" y="228600"/>
                </a:lnTo>
                <a:lnTo>
                  <a:pt x="5664" y="215900"/>
                </a:lnTo>
                <a:lnTo>
                  <a:pt x="31991" y="215900"/>
                </a:lnTo>
                <a:lnTo>
                  <a:pt x="30606" y="228600"/>
                </a:lnTo>
                <a:lnTo>
                  <a:pt x="29387" y="228600"/>
                </a:lnTo>
                <a:lnTo>
                  <a:pt x="28320" y="241300"/>
                </a:lnTo>
                <a:close/>
              </a:path>
              <a:path w="2108834" h="1651000">
                <a:moveTo>
                  <a:pt x="2105228" y="241300"/>
                </a:moveTo>
                <a:lnTo>
                  <a:pt x="2080171" y="241300"/>
                </a:lnTo>
                <a:lnTo>
                  <a:pt x="2079116" y="228600"/>
                </a:lnTo>
                <a:lnTo>
                  <a:pt x="2077897" y="228600"/>
                </a:lnTo>
                <a:lnTo>
                  <a:pt x="2076526" y="215900"/>
                </a:lnTo>
                <a:lnTo>
                  <a:pt x="2102713" y="215900"/>
                </a:lnTo>
                <a:lnTo>
                  <a:pt x="2104059" y="228600"/>
                </a:lnTo>
                <a:lnTo>
                  <a:pt x="2105228" y="241300"/>
                </a:lnTo>
                <a:close/>
              </a:path>
              <a:path w="2108834" h="1651000">
                <a:moveTo>
                  <a:pt x="26657" y="254000"/>
                </a:moveTo>
                <a:lnTo>
                  <a:pt x="1358" y="254000"/>
                </a:lnTo>
                <a:lnTo>
                  <a:pt x="2171" y="241300"/>
                </a:lnTo>
                <a:lnTo>
                  <a:pt x="27406" y="241300"/>
                </a:lnTo>
                <a:lnTo>
                  <a:pt x="26657" y="254000"/>
                </a:lnTo>
                <a:close/>
              </a:path>
              <a:path w="2108834" h="1651000">
                <a:moveTo>
                  <a:pt x="2107056" y="254000"/>
                </a:moveTo>
                <a:lnTo>
                  <a:pt x="2081809" y="254000"/>
                </a:lnTo>
                <a:lnTo>
                  <a:pt x="2081072" y="241300"/>
                </a:lnTo>
                <a:lnTo>
                  <a:pt x="2106231" y="241300"/>
                </a:lnTo>
                <a:lnTo>
                  <a:pt x="2107056" y="254000"/>
                </a:lnTo>
                <a:close/>
              </a:path>
              <a:path w="2108834" h="1651000">
                <a:moveTo>
                  <a:pt x="25653" y="266700"/>
                </a:moveTo>
                <a:lnTo>
                  <a:pt x="266" y="266700"/>
                </a:lnTo>
                <a:lnTo>
                  <a:pt x="723" y="254000"/>
                </a:lnTo>
                <a:lnTo>
                  <a:pt x="26073" y="254000"/>
                </a:lnTo>
                <a:lnTo>
                  <a:pt x="25653" y="266700"/>
                </a:lnTo>
                <a:close/>
              </a:path>
              <a:path w="2108834" h="1651000">
                <a:moveTo>
                  <a:pt x="2108161" y="266700"/>
                </a:moveTo>
                <a:lnTo>
                  <a:pt x="2082812" y="266700"/>
                </a:lnTo>
                <a:lnTo>
                  <a:pt x="2082393" y="254000"/>
                </a:lnTo>
                <a:lnTo>
                  <a:pt x="2107691" y="254000"/>
                </a:lnTo>
                <a:lnTo>
                  <a:pt x="2108161" y="266700"/>
                </a:lnTo>
                <a:close/>
              </a:path>
              <a:path w="2108834" h="1651000">
                <a:moveTo>
                  <a:pt x="25628" y="1384300"/>
                </a:moveTo>
                <a:lnTo>
                  <a:pt x="279" y="1384300"/>
                </a:lnTo>
                <a:lnTo>
                  <a:pt x="0" y="1371600"/>
                </a:lnTo>
                <a:lnTo>
                  <a:pt x="0" y="266700"/>
                </a:lnTo>
                <a:lnTo>
                  <a:pt x="25387" y="266700"/>
                </a:lnTo>
                <a:lnTo>
                  <a:pt x="25387" y="1371600"/>
                </a:lnTo>
                <a:lnTo>
                  <a:pt x="25628" y="1384300"/>
                </a:lnTo>
                <a:close/>
              </a:path>
              <a:path w="2108834" h="1651000">
                <a:moveTo>
                  <a:pt x="2108174" y="1384300"/>
                </a:moveTo>
                <a:lnTo>
                  <a:pt x="2082787" y="1384300"/>
                </a:lnTo>
                <a:lnTo>
                  <a:pt x="2083142" y="1371600"/>
                </a:lnTo>
                <a:lnTo>
                  <a:pt x="2083053" y="266700"/>
                </a:lnTo>
                <a:lnTo>
                  <a:pt x="2108441" y="266700"/>
                </a:lnTo>
                <a:lnTo>
                  <a:pt x="2108441" y="1371600"/>
                </a:lnTo>
                <a:lnTo>
                  <a:pt x="2108174" y="1384300"/>
                </a:lnTo>
                <a:close/>
              </a:path>
              <a:path w="2108834" h="1651000">
                <a:moveTo>
                  <a:pt x="28270" y="1409700"/>
                </a:moveTo>
                <a:lnTo>
                  <a:pt x="2209" y="1409700"/>
                </a:lnTo>
                <a:lnTo>
                  <a:pt x="1396" y="1397000"/>
                </a:lnTo>
                <a:lnTo>
                  <a:pt x="749" y="1384300"/>
                </a:lnTo>
                <a:lnTo>
                  <a:pt x="26047" y="1384300"/>
                </a:lnTo>
                <a:lnTo>
                  <a:pt x="26631" y="1397000"/>
                </a:lnTo>
                <a:lnTo>
                  <a:pt x="27368" y="1397000"/>
                </a:lnTo>
                <a:lnTo>
                  <a:pt x="28270" y="1409700"/>
                </a:lnTo>
                <a:close/>
              </a:path>
              <a:path w="2108834" h="1651000">
                <a:moveTo>
                  <a:pt x="2106269" y="1409700"/>
                </a:moveTo>
                <a:lnTo>
                  <a:pt x="2080120" y="1409700"/>
                </a:lnTo>
                <a:lnTo>
                  <a:pt x="2081034" y="1397000"/>
                </a:lnTo>
                <a:lnTo>
                  <a:pt x="2081783" y="1397000"/>
                </a:lnTo>
                <a:lnTo>
                  <a:pt x="2082368" y="1384300"/>
                </a:lnTo>
                <a:lnTo>
                  <a:pt x="2107717" y="1384300"/>
                </a:lnTo>
                <a:lnTo>
                  <a:pt x="2107082" y="1397000"/>
                </a:lnTo>
                <a:lnTo>
                  <a:pt x="2106269" y="1409700"/>
                </a:lnTo>
                <a:close/>
              </a:path>
              <a:path w="2108834" h="1651000">
                <a:moveTo>
                  <a:pt x="30543" y="1422400"/>
                </a:moveTo>
                <a:lnTo>
                  <a:pt x="4381" y="1422400"/>
                </a:lnTo>
                <a:lnTo>
                  <a:pt x="3213" y="1409700"/>
                </a:lnTo>
                <a:lnTo>
                  <a:pt x="29336" y="1409700"/>
                </a:lnTo>
                <a:lnTo>
                  <a:pt x="30543" y="1422400"/>
                </a:lnTo>
                <a:close/>
              </a:path>
              <a:path w="2108834" h="1651000">
                <a:moveTo>
                  <a:pt x="2104110" y="1422400"/>
                </a:moveTo>
                <a:lnTo>
                  <a:pt x="2077834" y="1422400"/>
                </a:lnTo>
                <a:lnTo>
                  <a:pt x="2079053" y="1409700"/>
                </a:lnTo>
                <a:lnTo>
                  <a:pt x="2105279" y="1409700"/>
                </a:lnTo>
                <a:lnTo>
                  <a:pt x="2104110" y="1422400"/>
                </a:lnTo>
                <a:close/>
              </a:path>
              <a:path w="2108834" h="1651000">
                <a:moveTo>
                  <a:pt x="33439" y="1435100"/>
                </a:moveTo>
                <a:lnTo>
                  <a:pt x="7238" y="1435100"/>
                </a:lnTo>
                <a:lnTo>
                  <a:pt x="5727" y="1422400"/>
                </a:lnTo>
                <a:lnTo>
                  <a:pt x="31915" y="1422400"/>
                </a:lnTo>
                <a:lnTo>
                  <a:pt x="33439" y="1435100"/>
                </a:lnTo>
                <a:close/>
              </a:path>
              <a:path w="2108834" h="1651000">
                <a:moveTo>
                  <a:pt x="2101278" y="1435100"/>
                </a:moveTo>
                <a:lnTo>
                  <a:pt x="2074926" y="1435100"/>
                </a:lnTo>
                <a:lnTo>
                  <a:pt x="2076462" y="1422400"/>
                </a:lnTo>
                <a:lnTo>
                  <a:pt x="2102777" y="1422400"/>
                </a:lnTo>
                <a:lnTo>
                  <a:pt x="2101278" y="1435100"/>
                </a:lnTo>
                <a:close/>
              </a:path>
              <a:path w="2108834" h="1651000">
                <a:moveTo>
                  <a:pt x="36931" y="1447800"/>
                </a:moveTo>
                <a:lnTo>
                  <a:pt x="10756" y="1447800"/>
                </a:lnTo>
                <a:lnTo>
                  <a:pt x="8915" y="1435100"/>
                </a:lnTo>
                <a:lnTo>
                  <a:pt x="35102" y="1435100"/>
                </a:lnTo>
                <a:lnTo>
                  <a:pt x="36931" y="1447800"/>
                </a:lnTo>
                <a:close/>
              </a:path>
              <a:path w="2108834" h="1651000">
                <a:moveTo>
                  <a:pt x="2097773" y="1447800"/>
                </a:moveTo>
                <a:lnTo>
                  <a:pt x="2071420" y="1447800"/>
                </a:lnTo>
                <a:lnTo>
                  <a:pt x="2073249" y="1435100"/>
                </a:lnTo>
                <a:lnTo>
                  <a:pt x="2099602" y="1435100"/>
                </a:lnTo>
                <a:lnTo>
                  <a:pt x="2097773" y="1447800"/>
                </a:lnTo>
                <a:close/>
              </a:path>
              <a:path w="2108834" h="1651000">
                <a:moveTo>
                  <a:pt x="40995" y="1460500"/>
                </a:moveTo>
                <a:lnTo>
                  <a:pt x="14935" y="1460500"/>
                </a:lnTo>
                <a:lnTo>
                  <a:pt x="12763" y="1447800"/>
                </a:lnTo>
                <a:lnTo>
                  <a:pt x="38887" y="1447800"/>
                </a:lnTo>
                <a:lnTo>
                  <a:pt x="40995" y="1460500"/>
                </a:lnTo>
                <a:close/>
              </a:path>
              <a:path w="2108834" h="1651000">
                <a:moveTo>
                  <a:pt x="2093607" y="1460500"/>
                </a:moveTo>
                <a:lnTo>
                  <a:pt x="2067344" y="1460500"/>
                </a:lnTo>
                <a:lnTo>
                  <a:pt x="2069452" y="1447800"/>
                </a:lnTo>
                <a:lnTo>
                  <a:pt x="2095766" y="1447800"/>
                </a:lnTo>
                <a:lnTo>
                  <a:pt x="2093607" y="1460500"/>
                </a:lnTo>
                <a:close/>
              </a:path>
              <a:path w="2108834" h="1651000">
                <a:moveTo>
                  <a:pt x="45643" y="1473200"/>
                </a:moveTo>
                <a:lnTo>
                  <a:pt x="19735" y="1473200"/>
                </a:lnTo>
                <a:lnTo>
                  <a:pt x="17259" y="1460500"/>
                </a:lnTo>
                <a:lnTo>
                  <a:pt x="43243" y="1460500"/>
                </a:lnTo>
                <a:lnTo>
                  <a:pt x="45643" y="1473200"/>
                </a:lnTo>
                <a:close/>
              </a:path>
              <a:path w="2108834" h="1651000">
                <a:moveTo>
                  <a:pt x="2088819" y="1473200"/>
                </a:moveTo>
                <a:lnTo>
                  <a:pt x="2062683" y="1473200"/>
                </a:lnTo>
                <a:lnTo>
                  <a:pt x="2065083" y="1460500"/>
                </a:lnTo>
                <a:lnTo>
                  <a:pt x="2091296" y="1460500"/>
                </a:lnTo>
                <a:lnTo>
                  <a:pt x="2088819" y="1473200"/>
                </a:lnTo>
                <a:close/>
              </a:path>
              <a:path w="2108834" h="1651000">
                <a:moveTo>
                  <a:pt x="50965" y="1485900"/>
                </a:moveTo>
                <a:lnTo>
                  <a:pt x="25145" y="1485900"/>
                </a:lnTo>
                <a:lnTo>
                  <a:pt x="22364" y="1473200"/>
                </a:lnTo>
                <a:lnTo>
                  <a:pt x="48171" y="1473200"/>
                </a:lnTo>
                <a:lnTo>
                  <a:pt x="50965" y="1485900"/>
                </a:lnTo>
                <a:close/>
              </a:path>
              <a:path w="2108834" h="1651000">
                <a:moveTo>
                  <a:pt x="2083422" y="1485900"/>
                </a:moveTo>
                <a:lnTo>
                  <a:pt x="2057476" y="1485900"/>
                </a:lnTo>
                <a:lnTo>
                  <a:pt x="2060155" y="1473200"/>
                </a:lnTo>
                <a:lnTo>
                  <a:pt x="2086203" y="1473200"/>
                </a:lnTo>
                <a:lnTo>
                  <a:pt x="2083422" y="1485900"/>
                </a:lnTo>
                <a:close/>
              </a:path>
              <a:path w="2108834" h="1651000">
                <a:moveTo>
                  <a:pt x="63030" y="1498600"/>
                </a:moveTo>
                <a:lnTo>
                  <a:pt x="31013" y="1498600"/>
                </a:lnTo>
                <a:lnTo>
                  <a:pt x="28079" y="1485900"/>
                </a:lnTo>
                <a:lnTo>
                  <a:pt x="56476" y="1485900"/>
                </a:lnTo>
                <a:lnTo>
                  <a:pt x="63030" y="1498600"/>
                </a:lnTo>
                <a:close/>
              </a:path>
              <a:path w="2108834" h="1651000">
                <a:moveTo>
                  <a:pt x="2077288" y="1498600"/>
                </a:moveTo>
                <a:lnTo>
                  <a:pt x="2045411" y="1498600"/>
                </a:lnTo>
                <a:lnTo>
                  <a:pt x="2051964" y="1485900"/>
                </a:lnTo>
                <a:lnTo>
                  <a:pt x="2080361" y="1485900"/>
                </a:lnTo>
                <a:lnTo>
                  <a:pt x="2077288" y="1498600"/>
                </a:lnTo>
                <a:close/>
              </a:path>
              <a:path w="2108834" h="1651000">
                <a:moveTo>
                  <a:pt x="77050" y="1524000"/>
                </a:moveTo>
                <a:lnTo>
                  <a:pt x="48412" y="1524000"/>
                </a:lnTo>
                <a:lnTo>
                  <a:pt x="41008" y="1511300"/>
                </a:lnTo>
                <a:lnTo>
                  <a:pt x="34455" y="1498600"/>
                </a:lnTo>
                <a:lnTo>
                  <a:pt x="62712" y="1498600"/>
                </a:lnTo>
                <a:lnTo>
                  <a:pt x="69799" y="1511300"/>
                </a:lnTo>
                <a:lnTo>
                  <a:pt x="69456" y="1511300"/>
                </a:lnTo>
                <a:lnTo>
                  <a:pt x="77050" y="1524000"/>
                </a:lnTo>
                <a:close/>
              </a:path>
              <a:path w="2108834" h="1651000">
                <a:moveTo>
                  <a:pt x="2067432" y="1511300"/>
                </a:moveTo>
                <a:lnTo>
                  <a:pt x="2038642" y="1511300"/>
                </a:lnTo>
                <a:lnTo>
                  <a:pt x="2045728" y="1498600"/>
                </a:lnTo>
                <a:lnTo>
                  <a:pt x="2073986" y="1498600"/>
                </a:lnTo>
                <a:lnTo>
                  <a:pt x="2067432" y="1511300"/>
                </a:lnTo>
                <a:close/>
              </a:path>
              <a:path w="2108834" h="1651000">
                <a:moveTo>
                  <a:pt x="2060028" y="1524000"/>
                </a:moveTo>
                <a:lnTo>
                  <a:pt x="2031403" y="1524000"/>
                </a:lnTo>
                <a:lnTo>
                  <a:pt x="2038984" y="1511300"/>
                </a:lnTo>
                <a:lnTo>
                  <a:pt x="2067115" y="1511300"/>
                </a:lnTo>
                <a:lnTo>
                  <a:pt x="2060028" y="1524000"/>
                </a:lnTo>
                <a:close/>
              </a:path>
              <a:path w="2108834" h="1651000">
                <a:moveTo>
                  <a:pt x="129819" y="1574800"/>
                </a:moveTo>
                <a:lnTo>
                  <a:pt x="83159" y="1574800"/>
                </a:lnTo>
                <a:lnTo>
                  <a:pt x="74142" y="1562100"/>
                </a:lnTo>
                <a:lnTo>
                  <a:pt x="64795" y="1549400"/>
                </a:lnTo>
                <a:lnTo>
                  <a:pt x="56718" y="1536700"/>
                </a:lnTo>
                <a:lnTo>
                  <a:pt x="48755" y="1524000"/>
                </a:lnTo>
                <a:lnTo>
                  <a:pt x="76682" y="1524000"/>
                </a:lnTo>
                <a:lnTo>
                  <a:pt x="84772" y="1536700"/>
                </a:lnTo>
                <a:lnTo>
                  <a:pt x="92532" y="1536700"/>
                </a:lnTo>
                <a:lnTo>
                  <a:pt x="101549" y="1549400"/>
                </a:lnTo>
                <a:lnTo>
                  <a:pt x="101117" y="1549400"/>
                </a:lnTo>
                <a:lnTo>
                  <a:pt x="110578" y="1562100"/>
                </a:lnTo>
                <a:lnTo>
                  <a:pt x="119532" y="1562100"/>
                </a:lnTo>
                <a:lnTo>
                  <a:pt x="129819" y="1574800"/>
                </a:lnTo>
                <a:close/>
              </a:path>
              <a:path w="2108834" h="1651000">
                <a:moveTo>
                  <a:pt x="2025281" y="1574800"/>
                </a:moveTo>
                <a:lnTo>
                  <a:pt x="1978621" y="1574800"/>
                </a:lnTo>
                <a:lnTo>
                  <a:pt x="1988908" y="1562100"/>
                </a:lnTo>
                <a:lnTo>
                  <a:pt x="1997875" y="1562100"/>
                </a:lnTo>
                <a:lnTo>
                  <a:pt x="2007323" y="1549400"/>
                </a:lnTo>
                <a:lnTo>
                  <a:pt x="2006892" y="1549400"/>
                </a:lnTo>
                <a:lnTo>
                  <a:pt x="2015909" y="1536700"/>
                </a:lnTo>
                <a:lnTo>
                  <a:pt x="2023681" y="1536700"/>
                </a:lnTo>
                <a:lnTo>
                  <a:pt x="2031758" y="1524000"/>
                </a:lnTo>
                <a:lnTo>
                  <a:pt x="2059685" y="1524000"/>
                </a:lnTo>
                <a:lnTo>
                  <a:pt x="2051735" y="1536700"/>
                </a:lnTo>
                <a:lnTo>
                  <a:pt x="2043645" y="1549400"/>
                </a:lnTo>
                <a:lnTo>
                  <a:pt x="2034298" y="1562100"/>
                </a:lnTo>
                <a:lnTo>
                  <a:pt x="2025281" y="1574800"/>
                </a:lnTo>
                <a:close/>
              </a:path>
              <a:path w="2108834" h="1651000">
                <a:moveTo>
                  <a:pt x="161429" y="1600200"/>
                </a:moveTo>
                <a:lnTo>
                  <a:pt x="114134" y="1600200"/>
                </a:lnTo>
                <a:lnTo>
                  <a:pt x="103377" y="1587500"/>
                </a:lnTo>
                <a:lnTo>
                  <a:pt x="93497" y="1574800"/>
                </a:lnTo>
                <a:lnTo>
                  <a:pt x="129336" y="1574800"/>
                </a:lnTo>
                <a:lnTo>
                  <a:pt x="140017" y="1587500"/>
                </a:lnTo>
                <a:lnTo>
                  <a:pt x="150025" y="1587500"/>
                </a:lnTo>
                <a:lnTo>
                  <a:pt x="161429" y="1600200"/>
                </a:lnTo>
                <a:close/>
              </a:path>
              <a:path w="2108834" h="1651000">
                <a:moveTo>
                  <a:pt x="1994319" y="1600200"/>
                </a:moveTo>
                <a:lnTo>
                  <a:pt x="1947011" y="1600200"/>
                </a:lnTo>
                <a:lnTo>
                  <a:pt x="1958416" y="1587500"/>
                </a:lnTo>
                <a:lnTo>
                  <a:pt x="1968436" y="1587500"/>
                </a:lnTo>
                <a:lnTo>
                  <a:pt x="1979104" y="1574800"/>
                </a:lnTo>
                <a:lnTo>
                  <a:pt x="2015401" y="1574800"/>
                </a:lnTo>
                <a:lnTo>
                  <a:pt x="2005076" y="1587500"/>
                </a:lnTo>
                <a:lnTo>
                  <a:pt x="1994319" y="1600200"/>
                </a:lnTo>
                <a:close/>
              </a:path>
              <a:path w="2108834" h="1651000">
                <a:moveTo>
                  <a:pt x="183997" y="1612900"/>
                </a:moveTo>
                <a:lnTo>
                  <a:pt x="136842" y="1612900"/>
                </a:lnTo>
                <a:lnTo>
                  <a:pt x="125793" y="1600200"/>
                </a:lnTo>
                <a:lnTo>
                  <a:pt x="177926" y="1600200"/>
                </a:lnTo>
                <a:lnTo>
                  <a:pt x="183997" y="1612900"/>
                </a:lnTo>
                <a:close/>
              </a:path>
              <a:path w="2108834" h="1651000">
                <a:moveTo>
                  <a:pt x="1971598" y="1612900"/>
                </a:moveTo>
                <a:lnTo>
                  <a:pt x="1924456" y="1612900"/>
                </a:lnTo>
                <a:lnTo>
                  <a:pt x="1930527" y="1600200"/>
                </a:lnTo>
                <a:lnTo>
                  <a:pt x="1982647" y="1600200"/>
                </a:lnTo>
                <a:lnTo>
                  <a:pt x="1971598" y="1612900"/>
                </a:lnTo>
                <a:close/>
              </a:path>
              <a:path w="2108834" h="1651000">
                <a:moveTo>
                  <a:pt x="226402" y="1625600"/>
                </a:moveTo>
                <a:lnTo>
                  <a:pt x="155003" y="1625600"/>
                </a:lnTo>
                <a:lnTo>
                  <a:pt x="148767" y="1612900"/>
                </a:lnTo>
                <a:lnTo>
                  <a:pt x="219849" y="1612900"/>
                </a:lnTo>
                <a:lnTo>
                  <a:pt x="226402" y="1625600"/>
                </a:lnTo>
                <a:close/>
              </a:path>
              <a:path w="2108834" h="1651000">
                <a:moveTo>
                  <a:pt x="1953171" y="1625600"/>
                </a:moveTo>
                <a:lnTo>
                  <a:pt x="1882038" y="1625600"/>
                </a:lnTo>
                <a:lnTo>
                  <a:pt x="1888591" y="1612900"/>
                </a:lnTo>
                <a:lnTo>
                  <a:pt x="1959673" y="1612900"/>
                </a:lnTo>
                <a:lnTo>
                  <a:pt x="1953171" y="1625600"/>
                </a:lnTo>
                <a:close/>
              </a:path>
              <a:path w="2108834" h="1651000">
                <a:moveTo>
                  <a:pt x="1928202" y="1638300"/>
                </a:moveTo>
                <a:lnTo>
                  <a:pt x="180530" y="1638300"/>
                </a:lnTo>
                <a:lnTo>
                  <a:pt x="173812" y="1625600"/>
                </a:lnTo>
                <a:lnTo>
                  <a:pt x="1934349" y="1625600"/>
                </a:lnTo>
                <a:lnTo>
                  <a:pt x="1928202" y="1638300"/>
                </a:lnTo>
                <a:close/>
              </a:path>
              <a:path w="2108834" h="1651000">
                <a:moveTo>
                  <a:pt x="1888058" y="1651000"/>
                </a:moveTo>
                <a:lnTo>
                  <a:pt x="220687" y="1651000"/>
                </a:lnTo>
                <a:lnTo>
                  <a:pt x="213829" y="1638300"/>
                </a:lnTo>
                <a:lnTo>
                  <a:pt x="1894928" y="1638300"/>
                </a:lnTo>
                <a:lnTo>
                  <a:pt x="1888058" y="16510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47077" y="257492"/>
            <a:ext cx="38100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数据归一化</a:t>
            </a:r>
            <a:r>
              <a:rPr spc="-10" dirty="0">
                <a:latin typeface="Arial" panose="020B0604020202020204"/>
                <a:cs typeface="Arial" panose="020B0604020202020204"/>
              </a:rPr>
              <a:t>/</a:t>
            </a:r>
            <a:r>
              <a:rPr spc="-20" dirty="0"/>
              <a:t>标准化</a:t>
            </a: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868959" y="1426616"/>
            <a:ext cx="39204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微软雅黑" panose="020B0503020204020204" charset="-122"/>
                <a:cs typeface="微软雅黑" panose="020B0503020204020204" charset="-122"/>
              </a:rPr>
              <a:t>归一化（</a:t>
            </a:r>
            <a:r>
              <a:rPr sz="2400" b="1" spc="-65" dirty="0">
                <a:latin typeface="微软雅黑" panose="020B0503020204020204" charset="-122"/>
                <a:cs typeface="微软雅黑" panose="020B0503020204020204" charset="-122"/>
              </a:rPr>
              <a:t>最大 </a:t>
            </a:r>
            <a:r>
              <a:rPr sz="2400" b="1" spc="-5" dirty="0">
                <a:latin typeface="Cambria" panose="02040503050406030204"/>
                <a:cs typeface="Cambria" panose="02040503050406030204"/>
              </a:rPr>
              <a:t>- </a:t>
            </a:r>
            <a:r>
              <a:rPr sz="2400" b="1" dirty="0">
                <a:latin typeface="微软雅黑" panose="020B0503020204020204" charset="-122"/>
                <a:cs typeface="微软雅黑" panose="020B0503020204020204" charset="-122"/>
              </a:rPr>
              <a:t>最小规范化</a:t>
            </a:r>
            <a:r>
              <a:rPr sz="2400" b="1" spc="-50" dirty="0">
                <a:latin typeface="微软雅黑" panose="020B0503020204020204" charset="-122"/>
                <a:cs typeface="微软雅黑" panose="020B0503020204020204" charset="-122"/>
              </a:rPr>
              <a:t>）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23569" y="2205558"/>
            <a:ext cx="76644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Cambria Math" panose="02040503050406030204"/>
                <a:cs typeface="Cambria Math" panose="02040503050406030204"/>
              </a:rPr>
              <a:t>𝑥</a:t>
            </a:r>
            <a:r>
              <a:rPr sz="3000" baseline="28000" dirty="0">
                <a:latin typeface="Cambria Math" panose="02040503050406030204"/>
                <a:cs typeface="Cambria Math" panose="02040503050406030204"/>
              </a:rPr>
              <a:t>∗</a:t>
            </a:r>
            <a:r>
              <a:rPr sz="3000" spc="660" baseline="28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800" spc="-50" dirty="0">
                <a:latin typeface="Cambria Math" panose="02040503050406030204"/>
                <a:cs typeface="Cambria Math" panose="02040503050406030204"/>
              </a:rPr>
              <a:t>=</a:t>
            </a:r>
            <a:endParaRPr sz="28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77669" y="1936953"/>
            <a:ext cx="135826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Cambria Math" panose="02040503050406030204"/>
                <a:cs typeface="Cambria Math" panose="02040503050406030204"/>
              </a:rPr>
              <a:t>𝑥</a:t>
            </a:r>
            <a:r>
              <a:rPr sz="2800" spc="1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80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800" spc="1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800" spc="80" dirty="0">
                <a:latin typeface="Cambria Math" panose="02040503050406030204"/>
                <a:cs typeface="Cambria Math" panose="02040503050406030204"/>
              </a:rPr>
              <a:t>𝑥</a:t>
            </a:r>
            <a:r>
              <a:rPr sz="3000" spc="120" baseline="-15000" dirty="0">
                <a:latin typeface="Cambria Math" panose="02040503050406030204"/>
                <a:cs typeface="Cambria Math" panose="02040503050406030204"/>
              </a:rPr>
              <a:t>min</a:t>
            </a:r>
            <a:endParaRPr sz="3000" baseline="-15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750974" y="2459735"/>
            <a:ext cx="1824355" cy="23495"/>
          </a:xfrm>
          <a:custGeom>
            <a:avLst/>
            <a:gdLst/>
            <a:ahLst/>
            <a:cxnLst/>
            <a:rect l="l" t="t" r="r" b="b"/>
            <a:pathLst>
              <a:path w="1824354" h="23494">
                <a:moveTo>
                  <a:pt x="1824354" y="23329"/>
                </a:moveTo>
                <a:lnTo>
                  <a:pt x="0" y="23329"/>
                </a:lnTo>
                <a:lnTo>
                  <a:pt x="0" y="0"/>
                </a:lnTo>
                <a:lnTo>
                  <a:pt x="1824354" y="0"/>
                </a:lnTo>
                <a:lnTo>
                  <a:pt x="1824354" y="2332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664489" y="2515438"/>
            <a:ext cx="4622800" cy="33261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86485">
              <a:lnSpc>
                <a:spcPct val="100000"/>
              </a:lnSpc>
              <a:spcBef>
                <a:spcPts val="95"/>
              </a:spcBef>
            </a:pPr>
            <a:r>
              <a:rPr sz="4200" spc="157" baseline="11000" dirty="0">
                <a:latin typeface="Cambria Math" panose="02040503050406030204"/>
                <a:cs typeface="Cambria Math" panose="02040503050406030204"/>
              </a:rPr>
              <a:t>𝑥</a:t>
            </a:r>
            <a:r>
              <a:rPr sz="2000" spc="105" dirty="0">
                <a:latin typeface="Cambria Math" panose="02040503050406030204"/>
                <a:cs typeface="Cambria Math" panose="02040503050406030204"/>
              </a:rPr>
              <a:t>max</a:t>
            </a:r>
            <a:r>
              <a:rPr sz="2000" spc="29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4200" baseline="1100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4200" spc="30" baseline="11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4200" spc="120" baseline="11000" dirty="0">
                <a:latin typeface="Cambria Math" panose="02040503050406030204"/>
                <a:cs typeface="Cambria Math" panose="02040503050406030204"/>
              </a:rPr>
              <a:t>𝑥</a:t>
            </a:r>
            <a:r>
              <a:rPr sz="2000" spc="80" dirty="0">
                <a:latin typeface="Cambria Math" panose="02040503050406030204"/>
                <a:cs typeface="Cambria Math" panose="02040503050406030204"/>
              </a:rPr>
              <a:t>min</a:t>
            </a:r>
            <a:endParaRPr sz="2000">
              <a:latin typeface="Cambria Math" panose="02040503050406030204"/>
              <a:cs typeface="Cambria Math" panose="02040503050406030204"/>
            </a:endParaRPr>
          </a:p>
          <a:p>
            <a:pPr marL="216535">
              <a:lnSpc>
                <a:spcPct val="100000"/>
              </a:lnSpc>
              <a:spcBef>
                <a:spcPts val="1955"/>
              </a:spcBef>
            </a:pP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将数据映射到</a:t>
            </a:r>
            <a:r>
              <a:rPr sz="2400" spc="-10" dirty="0">
                <a:latin typeface="Cambria" panose="02040503050406030204"/>
                <a:cs typeface="Cambria" panose="02040503050406030204"/>
              </a:rPr>
              <a:t>[0,1]</a:t>
            </a:r>
            <a:r>
              <a:rPr sz="2400" spc="-25" dirty="0">
                <a:latin typeface="微软雅黑" panose="020B0503020204020204" charset="-122"/>
                <a:cs typeface="微软雅黑" panose="020B0503020204020204" charset="-122"/>
              </a:rPr>
              <a:t>区间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0000"/>
              </a:lnSpc>
              <a:spcBef>
                <a:spcPts val="1850"/>
              </a:spcBef>
            </a:pPr>
            <a:endParaRPr sz="2400">
              <a:latin typeface="微软雅黑" panose="020B0503020204020204" charset="-122"/>
              <a:cs typeface="微软雅黑" panose="020B0503020204020204" charset="-122"/>
            </a:endParaRPr>
          </a:p>
          <a:p>
            <a:pPr marL="25400" marR="17780" algn="just">
              <a:lnSpc>
                <a:spcPct val="100000"/>
              </a:lnSpc>
            </a:pPr>
            <a:r>
              <a:rPr sz="2400" spc="-5" dirty="0">
                <a:latin typeface="微软雅黑" panose="020B0503020204020204" charset="-122"/>
                <a:cs typeface="微软雅黑" panose="020B0503020204020204" charset="-122"/>
              </a:rPr>
              <a:t>数据归一化的目的是使得各特征对目标变量的影响一致，会将特征数据进行伸缩变化，所以数据归一化</a:t>
            </a: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是会</a:t>
            </a:r>
            <a:r>
              <a:rPr sz="240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改变特征数据分布</a:t>
            </a:r>
            <a:r>
              <a:rPr sz="2400" spc="-25" dirty="0">
                <a:latin typeface="微软雅黑" panose="020B0503020204020204" charset="-122"/>
                <a:cs typeface="微软雅黑" panose="020B0503020204020204" charset="-122"/>
              </a:rPr>
              <a:t>的。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707593" y="1426616"/>
            <a:ext cx="21164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latin typeface="微软雅黑" panose="020B0503020204020204" charset="-122"/>
                <a:cs typeface="微软雅黑" panose="020B0503020204020204" charset="-122"/>
              </a:rPr>
              <a:t>Z-</a:t>
            </a:r>
            <a:r>
              <a:rPr sz="2400" b="1" spc="-20" dirty="0">
                <a:latin typeface="微软雅黑" panose="020B0503020204020204" charset="-122"/>
                <a:cs typeface="微软雅黑" panose="020B0503020204020204" charset="-122"/>
              </a:rPr>
              <a:t>Score标准化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825894" y="2241334"/>
            <a:ext cx="76644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Cambria Math" panose="02040503050406030204"/>
                <a:cs typeface="Cambria Math" panose="02040503050406030204"/>
              </a:rPr>
              <a:t>𝑥</a:t>
            </a:r>
            <a:r>
              <a:rPr sz="3000" baseline="28000" dirty="0">
                <a:latin typeface="Cambria Math" panose="02040503050406030204"/>
                <a:cs typeface="Cambria Math" panose="02040503050406030204"/>
              </a:rPr>
              <a:t>∗</a:t>
            </a:r>
            <a:r>
              <a:rPr sz="3000" spc="660" baseline="28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800" spc="-50" dirty="0">
                <a:latin typeface="Cambria Math" panose="02040503050406030204"/>
                <a:cs typeface="Cambria Math" panose="02040503050406030204"/>
              </a:rPr>
              <a:t>=</a:t>
            </a:r>
            <a:endParaRPr sz="28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640599" y="1972729"/>
            <a:ext cx="83502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Cambria Math" panose="02040503050406030204"/>
                <a:cs typeface="Cambria Math" panose="02040503050406030204"/>
              </a:rPr>
              <a:t>𝑥</a:t>
            </a:r>
            <a:r>
              <a:rPr sz="2800" spc="1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80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800" spc="1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800" spc="-50" dirty="0">
                <a:latin typeface="Cambria Math" panose="02040503050406030204"/>
                <a:cs typeface="Cambria Math" panose="02040503050406030204"/>
              </a:rPr>
              <a:t>𝜇</a:t>
            </a:r>
            <a:endParaRPr sz="28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653299" y="2495511"/>
            <a:ext cx="809625" cy="23495"/>
          </a:xfrm>
          <a:custGeom>
            <a:avLst/>
            <a:gdLst/>
            <a:ahLst/>
            <a:cxnLst/>
            <a:rect l="l" t="t" r="r" b="b"/>
            <a:pathLst>
              <a:path w="809625" h="23494">
                <a:moveTo>
                  <a:pt x="809625" y="23329"/>
                </a:moveTo>
                <a:lnTo>
                  <a:pt x="0" y="23329"/>
                </a:lnTo>
                <a:lnTo>
                  <a:pt x="0" y="0"/>
                </a:lnTo>
                <a:lnTo>
                  <a:pt x="809625" y="0"/>
                </a:lnTo>
                <a:lnTo>
                  <a:pt x="809625" y="2332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7941589" y="2478824"/>
            <a:ext cx="23304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 dirty="0">
                <a:latin typeface="Cambria Math" panose="02040503050406030204"/>
                <a:cs typeface="Cambria Math" panose="02040503050406030204"/>
              </a:rPr>
              <a:t>𝜎</a:t>
            </a:r>
            <a:endParaRPr sz="28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418089" y="1556194"/>
            <a:ext cx="137795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Cambria Math" panose="02040503050406030204"/>
                <a:cs typeface="Cambria Math" panose="02040503050406030204"/>
              </a:rPr>
              <a:t>1</a:t>
            </a:r>
            <a:endParaRPr sz="16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0401579" y="1859826"/>
            <a:ext cx="170180" cy="13335"/>
          </a:xfrm>
          <a:custGeom>
            <a:avLst/>
            <a:gdLst/>
            <a:ahLst/>
            <a:cxnLst/>
            <a:rect l="l" t="t" r="r" b="b"/>
            <a:pathLst>
              <a:path w="170179" h="13335">
                <a:moveTo>
                  <a:pt x="170179" y="13335"/>
                </a:moveTo>
                <a:lnTo>
                  <a:pt x="0" y="13335"/>
                </a:lnTo>
                <a:lnTo>
                  <a:pt x="0" y="0"/>
                </a:lnTo>
                <a:lnTo>
                  <a:pt x="170179" y="0"/>
                </a:lnTo>
                <a:lnTo>
                  <a:pt x="170179" y="133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0609224" y="2029904"/>
            <a:ext cx="26225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spc="-25" dirty="0">
                <a:latin typeface="Cambria Math" panose="02040503050406030204"/>
                <a:cs typeface="Cambria Math" panose="02040503050406030204"/>
              </a:rPr>
              <a:t>𝑖=1</a:t>
            </a:r>
            <a:endParaRPr sz="11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665739" y="1464119"/>
            <a:ext cx="14795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spc="-50" dirty="0">
                <a:latin typeface="Cambria Math" panose="02040503050406030204"/>
                <a:cs typeface="Cambria Math" panose="02040503050406030204"/>
              </a:rPr>
              <a:t>𝑚</a:t>
            </a:r>
            <a:endParaRPr sz="11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889134" y="1709864"/>
            <a:ext cx="1856739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Cambria Math" panose="02040503050406030204"/>
                <a:cs typeface="Cambria Math" panose="02040503050406030204"/>
              </a:rPr>
              <a:t>𝜎</a:t>
            </a:r>
            <a:r>
              <a:rPr sz="1725" baseline="2900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1725" spc="359" baseline="29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600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1600" spc="9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30" baseline="-36000" dirty="0">
                <a:latin typeface="Cambria Math" panose="02040503050406030204"/>
                <a:cs typeface="Cambria Math" panose="02040503050406030204"/>
              </a:rPr>
              <a:t>𝑚</a:t>
            </a:r>
            <a:r>
              <a:rPr sz="2400" spc="-120" baseline="-36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600" spc="965" dirty="0">
                <a:latin typeface="Cambria Math" panose="02040503050406030204"/>
                <a:cs typeface="Cambria Math" panose="02040503050406030204"/>
              </a:rPr>
              <a:t>∑</a:t>
            </a:r>
            <a:r>
              <a:rPr sz="1600" spc="-8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600" spc="-10" dirty="0">
                <a:latin typeface="Cambria Math" panose="02040503050406030204"/>
                <a:cs typeface="Cambria Math" panose="02040503050406030204"/>
              </a:rPr>
              <a:t>(𝑥</a:t>
            </a:r>
            <a:r>
              <a:rPr sz="1725" spc="-15" baseline="3100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1725" spc="-15" baseline="29000" dirty="0">
                <a:latin typeface="Cambria Math" panose="02040503050406030204"/>
                <a:cs typeface="Cambria Math" panose="02040503050406030204"/>
              </a:rPr>
              <a:t>𝑖</a:t>
            </a:r>
            <a:r>
              <a:rPr sz="1725" spc="-15" baseline="31000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1600" spc="-10" dirty="0">
                <a:latin typeface="Cambria Math" panose="02040503050406030204"/>
                <a:cs typeface="Cambria Math" panose="02040503050406030204"/>
              </a:rPr>
              <a:t>−𝜇)</a:t>
            </a:r>
            <a:r>
              <a:rPr sz="1725" spc="-15" baseline="29000" dirty="0">
                <a:latin typeface="Cambria Math" panose="02040503050406030204"/>
                <a:cs typeface="Cambria Math" panose="02040503050406030204"/>
              </a:rPr>
              <a:t>2</a:t>
            </a:r>
            <a:endParaRPr sz="1725" baseline="29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537494" y="2359685"/>
            <a:ext cx="137795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Cambria Math" panose="02040503050406030204"/>
                <a:cs typeface="Cambria Math" panose="02040503050406030204"/>
              </a:rPr>
              <a:t>1</a:t>
            </a:r>
            <a:endParaRPr sz="16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0520984" y="2663317"/>
            <a:ext cx="170180" cy="13335"/>
          </a:xfrm>
          <a:custGeom>
            <a:avLst/>
            <a:gdLst/>
            <a:ahLst/>
            <a:cxnLst/>
            <a:rect l="l" t="t" r="r" b="b"/>
            <a:pathLst>
              <a:path w="170179" h="13335">
                <a:moveTo>
                  <a:pt x="170179" y="13334"/>
                </a:moveTo>
                <a:lnTo>
                  <a:pt x="0" y="13334"/>
                </a:lnTo>
                <a:lnTo>
                  <a:pt x="0" y="0"/>
                </a:lnTo>
                <a:lnTo>
                  <a:pt x="170179" y="0"/>
                </a:lnTo>
                <a:lnTo>
                  <a:pt x="170179" y="1333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10728629" y="2833395"/>
            <a:ext cx="26225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spc="-25" dirty="0">
                <a:latin typeface="Cambria Math" panose="02040503050406030204"/>
                <a:cs typeface="Cambria Math" panose="02040503050406030204"/>
              </a:rPr>
              <a:t>𝑖=1</a:t>
            </a:r>
            <a:endParaRPr sz="11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785144" y="2267610"/>
            <a:ext cx="14795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spc="-50" dirty="0">
                <a:latin typeface="Cambria Math" panose="02040503050406030204"/>
                <a:cs typeface="Cambria Math" panose="02040503050406030204"/>
              </a:rPr>
              <a:t>𝑚</a:t>
            </a:r>
            <a:endParaRPr sz="11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107600" y="2513355"/>
            <a:ext cx="123317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Cambria Math" panose="02040503050406030204"/>
                <a:cs typeface="Cambria Math" panose="02040503050406030204"/>
              </a:rPr>
              <a:t>𝜇</a:t>
            </a:r>
            <a:r>
              <a:rPr sz="1600" spc="8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600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1600" spc="9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30" baseline="-36000" dirty="0">
                <a:latin typeface="Cambria Math" panose="02040503050406030204"/>
                <a:cs typeface="Cambria Math" panose="02040503050406030204"/>
              </a:rPr>
              <a:t>𝑚</a:t>
            </a:r>
            <a:r>
              <a:rPr sz="2400" spc="-127" baseline="-36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600" spc="965" dirty="0">
                <a:latin typeface="Cambria Math" panose="02040503050406030204"/>
                <a:cs typeface="Cambria Math" panose="02040503050406030204"/>
              </a:rPr>
              <a:t>∑</a:t>
            </a:r>
            <a:r>
              <a:rPr sz="1600" spc="-9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600" spc="-20" dirty="0">
                <a:latin typeface="Cambria Math" panose="02040503050406030204"/>
                <a:cs typeface="Cambria Math" panose="02040503050406030204"/>
              </a:rPr>
              <a:t>𝑥</a:t>
            </a:r>
            <a:r>
              <a:rPr sz="1725" spc="-30" baseline="3100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1725" spc="-30" baseline="29000" dirty="0">
                <a:latin typeface="Cambria Math" panose="02040503050406030204"/>
                <a:cs typeface="Cambria Math" panose="02040503050406030204"/>
              </a:rPr>
              <a:t>𝑖</a:t>
            </a:r>
            <a:r>
              <a:rPr sz="1725" spc="-30" baseline="31000" dirty="0">
                <a:latin typeface="Cambria Math" panose="02040503050406030204"/>
                <a:cs typeface="Cambria Math" panose="02040503050406030204"/>
              </a:rPr>
              <a:t>)</a:t>
            </a:r>
            <a:endParaRPr sz="1725" baseline="31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368541" y="3189770"/>
            <a:ext cx="4951095" cy="323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处理后的数据均值为</a:t>
            </a:r>
            <a:r>
              <a:rPr sz="2400" spc="-10" dirty="0">
                <a:latin typeface="微软雅黑" panose="020B0503020204020204" charset="-122"/>
                <a:cs typeface="微软雅黑" panose="020B0503020204020204" charset="-122"/>
              </a:rPr>
              <a:t>0</a:t>
            </a:r>
            <a:r>
              <a:rPr sz="2400" spc="-5" dirty="0">
                <a:latin typeface="微软雅黑" panose="020B0503020204020204" charset="-122"/>
                <a:cs typeface="微软雅黑" panose="020B0503020204020204" charset="-122"/>
              </a:rPr>
              <a:t>，方差为</a:t>
            </a:r>
            <a:r>
              <a:rPr sz="2400" spc="-50" dirty="0">
                <a:latin typeface="微软雅黑" panose="020B0503020204020204" charset="-122"/>
                <a:cs typeface="微软雅黑" panose="020B0503020204020204" charset="-122"/>
              </a:rPr>
              <a:t>1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0000"/>
              </a:lnSpc>
              <a:spcBef>
                <a:spcPts val="1645"/>
              </a:spcBef>
            </a:pPr>
            <a:endParaRPr sz="2400">
              <a:latin typeface="微软雅黑" panose="020B0503020204020204" charset="-122"/>
              <a:cs typeface="微软雅黑" panose="020B0503020204020204" charset="-122"/>
            </a:endParaRPr>
          </a:p>
          <a:p>
            <a:pPr marL="12700" marR="358140" algn="just">
              <a:lnSpc>
                <a:spcPct val="100000"/>
              </a:lnSpc>
            </a:pPr>
            <a:r>
              <a:rPr sz="2400" spc="-5" dirty="0">
                <a:latin typeface="微软雅黑" panose="020B0503020204020204" charset="-122"/>
                <a:cs typeface="微软雅黑" panose="020B0503020204020204" charset="-122"/>
              </a:rPr>
              <a:t>数据标准化为了不同特征之间具备</a:t>
            </a: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可比性，经过标准化变换之后的</a:t>
            </a:r>
            <a:r>
              <a:rPr sz="2400" spc="-5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特</a:t>
            </a:r>
            <a:r>
              <a:rPr sz="240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征数据分布没有发生改变</a:t>
            </a:r>
            <a:r>
              <a:rPr sz="2400" spc="-50" dirty="0">
                <a:latin typeface="微软雅黑" panose="020B0503020204020204" charset="-122"/>
                <a:cs typeface="微软雅黑" panose="020B0503020204020204" charset="-122"/>
              </a:rPr>
              <a:t>。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  <a:p>
            <a:pPr marL="60960" marR="5080">
              <a:lnSpc>
                <a:spcPct val="100000"/>
              </a:lnSpc>
              <a:spcBef>
                <a:spcPts val="1925"/>
              </a:spcBef>
            </a:pPr>
            <a:r>
              <a:rPr sz="2400" spc="-5" dirty="0">
                <a:latin typeface="微软雅黑" panose="020B0503020204020204" charset="-122"/>
                <a:cs typeface="微软雅黑" panose="020B0503020204020204" charset="-122"/>
              </a:rPr>
              <a:t>就是当数据特征取值范围或单位差异较大时，最好是做一下标准化处理。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999744"/>
            <a:ext cx="646430" cy="262255"/>
          </a:xfrm>
          <a:prstGeom prst="rect">
            <a:avLst/>
          </a:prstGeom>
          <a:solidFill>
            <a:srgbClr val="A40020"/>
          </a:solidFill>
        </p:spPr>
        <p:txBody>
          <a:bodyPr vert="horz" wrap="square" lIns="0" tIns="635" rIns="0" bIns="0" rtlCol="0">
            <a:spAutoFit/>
          </a:bodyPr>
          <a:lstStyle/>
          <a:p>
            <a:pPr marL="375285">
              <a:lnSpc>
                <a:spcPct val="100000"/>
              </a:lnSpc>
              <a:spcBef>
                <a:spcPts val="5"/>
              </a:spcBef>
            </a:pPr>
            <a:r>
              <a:rPr sz="1400" b="1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31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47077" y="257492"/>
            <a:ext cx="38100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数据归一化</a:t>
            </a:r>
            <a:r>
              <a:rPr spc="-10" dirty="0">
                <a:latin typeface="Arial" panose="020B0604020202020204"/>
                <a:cs typeface="Arial" panose="020B0604020202020204"/>
              </a:rPr>
              <a:t>/</a:t>
            </a:r>
            <a:r>
              <a:rPr spc="-20" dirty="0"/>
              <a:t>标准化</a:t>
            </a:r>
            <a:endParaRPr spc="-20" dirty="0"/>
          </a:p>
        </p:txBody>
      </p:sp>
      <p:sp>
        <p:nvSpPr>
          <p:cNvPr id="4" name="object 4"/>
          <p:cNvSpPr txBox="1"/>
          <p:nvPr/>
        </p:nvSpPr>
        <p:spPr>
          <a:xfrm>
            <a:off x="747077" y="1680692"/>
            <a:ext cx="9546590" cy="3637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微软雅黑" panose="020B0503020204020204" charset="-122"/>
                <a:cs typeface="微软雅黑" panose="020B0503020204020204" charset="-122"/>
              </a:rPr>
              <a:t>需要做数据归一化/标准化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  <a:p>
            <a:pPr marL="12700" marR="7620">
              <a:lnSpc>
                <a:spcPct val="100000"/>
              </a:lnSpc>
              <a:spcBef>
                <a:spcPts val="1800"/>
              </a:spcBef>
            </a:pP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线性模型，如基于距离度量的模型包括</a:t>
            </a:r>
            <a:r>
              <a:rPr sz="2400" spc="-10" dirty="0">
                <a:latin typeface="微软雅黑" panose="020B0503020204020204" charset="-122"/>
                <a:cs typeface="微软雅黑" panose="020B0503020204020204" charset="-122"/>
              </a:rPr>
              <a:t>KNN(K</a:t>
            </a:r>
            <a:r>
              <a:rPr sz="2400" spc="-5" dirty="0">
                <a:latin typeface="微软雅黑" panose="020B0503020204020204" charset="-122"/>
                <a:cs typeface="微软雅黑" panose="020B0503020204020204" charset="-122"/>
              </a:rPr>
              <a:t>近邻)、</a:t>
            </a:r>
            <a:r>
              <a:rPr sz="2400" spc="-10" dirty="0">
                <a:latin typeface="微软雅黑" panose="020B0503020204020204" charset="-122"/>
                <a:cs typeface="微软雅黑" panose="020B0503020204020204" charset="-122"/>
              </a:rPr>
              <a:t>K-</a:t>
            </a:r>
            <a:r>
              <a:rPr sz="2400" spc="-20" dirty="0">
                <a:latin typeface="微软雅黑" panose="020B0503020204020204" charset="-122"/>
                <a:cs typeface="微软雅黑" panose="020B0503020204020204" charset="-122"/>
              </a:rPr>
              <a:t>means聚类、</a:t>
            </a: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感知机和</a:t>
            </a:r>
            <a:r>
              <a:rPr sz="2400" spc="-25" dirty="0">
                <a:latin typeface="微软雅黑" panose="020B0503020204020204" charset="-122"/>
                <a:cs typeface="微软雅黑" panose="020B0503020204020204" charset="-122"/>
              </a:rPr>
              <a:t>SVM</a:t>
            </a: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。另外，线性回归类的几个模型一般情况下也是</a:t>
            </a:r>
            <a:r>
              <a:rPr sz="240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需要</a:t>
            </a:r>
            <a:r>
              <a:rPr sz="2400" spc="-25" dirty="0">
                <a:latin typeface="微软雅黑" panose="020B0503020204020204" charset="-122"/>
                <a:cs typeface="微软雅黑" panose="020B0503020204020204" charset="-122"/>
              </a:rPr>
              <a:t>做数</a:t>
            </a:r>
            <a:r>
              <a:rPr sz="2400" spc="-10" dirty="0">
                <a:latin typeface="微软雅黑" panose="020B0503020204020204" charset="-122"/>
                <a:cs typeface="微软雅黑" panose="020B0503020204020204" charset="-122"/>
              </a:rPr>
              <a:t>据归一化/标准化处理的。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sz="2400" b="1" spc="-10" dirty="0">
                <a:latin typeface="微软雅黑" panose="020B0503020204020204" charset="-122"/>
                <a:cs typeface="微软雅黑" panose="020B0503020204020204" charset="-122"/>
              </a:rPr>
              <a:t>不需要做数据归一化/标准化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  <a:p>
            <a:pPr marL="12700" marR="5080">
              <a:lnSpc>
                <a:spcPct val="100000"/>
              </a:lnSpc>
              <a:spcBef>
                <a:spcPts val="1800"/>
              </a:spcBef>
            </a:pP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决策树、基于决策树的</a:t>
            </a:r>
            <a:r>
              <a:rPr sz="2400" spc="-10" dirty="0">
                <a:latin typeface="微软雅黑" panose="020B0503020204020204" charset="-122"/>
                <a:cs typeface="微软雅黑" panose="020B0503020204020204" charset="-122"/>
              </a:rPr>
              <a:t>Boosting</a:t>
            </a: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和</a:t>
            </a:r>
            <a:r>
              <a:rPr sz="2400" spc="-20" dirty="0">
                <a:latin typeface="微软雅黑" panose="020B0503020204020204" charset="-122"/>
                <a:cs typeface="微软雅黑" panose="020B0503020204020204" charset="-122"/>
              </a:rPr>
              <a:t>Bagging</a:t>
            </a:r>
            <a:r>
              <a:rPr sz="2400" spc="-5" dirty="0">
                <a:latin typeface="微软雅黑" panose="020B0503020204020204" charset="-122"/>
                <a:cs typeface="微软雅黑" panose="020B0503020204020204" charset="-122"/>
              </a:rPr>
              <a:t>等集成学习模型对于特征取</a:t>
            </a: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值大小并不敏感，如随机森林、</a:t>
            </a:r>
            <a:r>
              <a:rPr sz="2400" spc="-20" dirty="0">
                <a:latin typeface="微软雅黑" panose="020B0503020204020204" charset="-122"/>
                <a:cs typeface="微软雅黑" panose="020B0503020204020204" charset="-122"/>
              </a:rPr>
              <a:t>XGBoost</a:t>
            </a: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、</a:t>
            </a:r>
            <a:r>
              <a:rPr sz="2400" spc="-20" dirty="0">
                <a:latin typeface="微软雅黑" panose="020B0503020204020204" charset="-122"/>
                <a:cs typeface="微软雅黑" panose="020B0503020204020204" charset="-122"/>
              </a:rPr>
              <a:t>LightGBM</a:t>
            </a:r>
            <a:r>
              <a:rPr sz="2400" spc="-10" dirty="0">
                <a:latin typeface="微软雅黑" panose="020B0503020204020204" charset="-122"/>
                <a:cs typeface="微软雅黑" panose="020B0503020204020204" charset="-122"/>
              </a:rPr>
              <a:t>等树模型，以及</a:t>
            </a: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朴素贝叶斯，以上这些模型一般</a:t>
            </a:r>
            <a:r>
              <a:rPr sz="240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不需要</a:t>
            </a:r>
            <a:r>
              <a:rPr sz="2400" spc="-10" dirty="0">
                <a:latin typeface="微软雅黑" panose="020B0503020204020204" charset="-122"/>
                <a:cs typeface="微软雅黑" panose="020B0503020204020204" charset="-122"/>
              </a:rPr>
              <a:t>做数据归一化/标准化处理。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999744"/>
            <a:ext cx="646430" cy="262255"/>
          </a:xfrm>
          <a:custGeom>
            <a:avLst/>
            <a:gdLst/>
            <a:ahLst/>
            <a:cxnLst/>
            <a:rect l="l" t="t" r="r" b="b"/>
            <a:pathLst>
              <a:path w="646430" h="262255">
                <a:moveTo>
                  <a:pt x="646176" y="262127"/>
                </a:moveTo>
                <a:lnTo>
                  <a:pt x="0" y="262127"/>
                </a:lnTo>
                <a:lnTo>
                  <a:pt x="0" y="0"/>
                </a:lnTo>
                <a:lnTo>
                  <a:pt x="646176" y="0"/>
                </a:lnTo>
                <a:lnTo>
                  <a:pt x="646176" y="262127"/>
                </a:lnTo>
                <a:close/>
              </a:path>
            </a:pathLst>
          </a:custGeom>
          <a:solidFill>
            <a:srgbClr val="A400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02563" y="996696"/>
            <a:ext cx="11489690" cy="262255"/>
          </a:xfrm>
          <a:custGeom>
            <a:avLst/>
            <a:gdLst/>
            <a:ahLst/>
            <a:cxnLst/>
            <a:rect l="l" t="t" r="r" b="b"/>
            <a:pathLst>
              <a:path w="11489690" h="262255">
                <a:moveTo>
                  <a:pt x="11489436" y="262127"/>
                </a:moveTo>
                <a:lnTo>
                  <a:pt x="0" y="262127"/>
                </a:lnTo>
                <a:lnTo>
                  <a:pt x="0" y="0"/>
                </a:lnTo>
                <a:lnTo>
                  <a:pt x="11489436" y="0"/>
                </a:lnTo>
                <a:lnTo>
                  <a:pt x="11489436" y="262127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62902" y="987107"/>
            <a:ext cx="224154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32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47077" y="257492"/>
            <a:ext cx="19050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Arial" panose="020B0604020202020204"/>
                <a:cs typeface="Arial" panose="020B0604020202020204"/>
              </a:rPr>
              <a:t>3</a:t>
            </a:r>
            <a:r>
              <a:rPr spc="-5" dirty="0">
                <a:latin typeface="Arial" panose="020B0604020202020204"/>
                <a:cs typeface="Arial" panose="020B0604020202020204"/>
              </a:rPr>
              <a:t>. </a:t>
            </a:r>
            <a:r>
              <a:rPr spc="-20" dirty="0"/>
              <a:t>正则化</a:t>
            </a:r>
            <a:endParaRPr spc="-20" dirty="0"/>
          </a:p>
        </p:txBody>
      </p:sp>
      <p:sp>
        <p:nvSpPr>
          <p:cNvPr id="6" name="object 6"/>
          <p:cNvSpPr/>
          <p:nvPr/>
        </p:nvSpPr>
        <p:spPr>
          <a:xfrm>
            <a:off x="2496311" y="3517391"/>
            <a:ext cx="6278880" cy="647700"/>
          </a:xfrm>
          <a:custGeom>
            <a:avLst/>
            <a:gdLst/>
            <a:ahLst/>
            <a:cxnLst/>
            <a:rect l="l" t="t" r="r" b="b"/>
            <a:pathLst>
              <a:path w="6278880" h="647700">
                <a:moveTo>
                  <a:pt x="6143244" y="647700"/>
                </a:moveTo>
                <a:lnTo>
                  <a:pt x="0" y="647700"/>
                </a:lnTo>
                <a:lnTo>
                  <a:pt x="0" y="135636"/>
                </a:lnTo>
                <a:lnTo>
                  <a:pt x="7092" y="93077"/>
                </a:lnTo>
                <a:lnTo>
                  <a:pt x="26436" y="55999"/>
                </a:lnTo>
                <a:lnTo>
                  <a:pt x="55798" y="26637"/>
                </a:lnTo>
                <a:lnTo>
                  <a:pt x="92943" y="7226"/>
                </a:lnTo>
                <a:lnTo>
                  <a:pt x="135636" y="0"/>
                </a:lnTo>
                <a:lnTo>
                  <a:pt x="6278880" y="0"/>
                </a:lnTo>
                <a:lnTo>
                  <a:pt x="6278880" y="512063"/>
                </a:lnTo>
                <a:lnTo>
                  <a:pt x="6272117" y="555244"/>
                </a:lnTo>
                <a:lnTo>
                  <a:pt x="6252937" y="592633"/>
                </a:lnTo>
                <a:lnTo>
                  <a:pt x="6223575" y="621994"/>
                </a:lnTo>
                <a:lnTo>
                  <a:pt x="6186265" y="641095"/>
                </a:lnTo>
                <a:lnTo>
                  <a:pt x="6143244" y="647700"/>
                </a:lnTo>
                <a:close/>
              </a:path>
            </a:pathLst>
          </a:custGeom>
          <a:solidFill>
            <a:srgbClr val="1352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989808" y="1816290"/>
            <a:ext cx="4049395" cy="3097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89940" indent="-750570">
              <a:lnSpc>
                <a:spcPct val="100000"/>
              </a:lnSpc>
              <a:spcBef>
                <a:spcPts val="100"/>
              </a:spcBef>
              <a:buFont typeface="Impact" panose="020B0806030902050204"/>
              <a:buAutoNum type="arabicPeriod"/>
              <a:tabLst>
                <a:tab pos="789940" algn="l"/>
              </a:tabLst>
            </a:pPr>
            <a:r>
              <a:rPr sz="3600" spc="-15" dirty="0">
                <a:latin typeface="微软雅黑" panose="020B0503020204020204" charset="-122"/>
                <a:cs typeface="微软雅黑" panose="020B0503020204020204" charset="-122"/>
              </a:rPr>
              <a:t>线性回归</a:t>
            </a:r>
            <a:endParaRPr sz="3600">
              <a:latin typeface="微软雅黑" panose="020B0503020204020204" charset="-122"/>
              <a:cs typeface="微软雅黑" panose="020B0503020204020204" charset="-122"/>
            </a:endParaRPr>
          </a:p>
          <a:p>
            <a:pPr marL="808990" indent="-796290">
              <a:lnSpc>
                <a:spcPct val="100000"/>
              </a:lnSpc>
              <a:spcBef>
                <a:spcPts val="2710"/>
              </a:spcBef>
              <a:buFont typeface="Impact" panose="020B0806030902050204"/>
              <a:buAutoNum type="arabicPeriod"/>
              <a:tabLst>
                <a:tab pos="808990" algn="l"/>
              </a:tabLst>
            </a:pPr>
            <a:r>
              <a:rPr sz="3600" spc="-15" dirty="0">
                <a:latin typeface="微软雅黑" panose="020B0503020204020204" charset="-122"/>
                <a:cs typeface="微软雅黑" panose="020B0503020204020204" charset="-122"/>
              </a:rPr>
              <a:t>梯度下降</a:t>
            </a:r>
            <a:endParaRPr sz="3600">
              <a:latin typeface="微软雅黑" panose="020B0503020204020204" charset="-122"/>
              <a:cs typeface="微软雅黑" panose="020B0503020204020204" charset="-122"/>
            </a:endParaRPr>
          </a:p>
          <a:p>
            <a:pPr marL="822325" indent="-809625">
              <a:lnSpc>
                <a:spcPct val="100000"/>
              </a:lnSpc>
              <a:spcBef>
                <a:spcPts val="2095"/>
              </a:spcBef>
              <a:buFont typeface="Impact" panose="020B0806030902050204"/>
              <a:buAutoNum type="arabicPeriod"/>
              <a:tabLst>
                <a:tab pos="822325" algn="l"/>
              </a:tabLst>
            </a:pPr>
            <a:r>
              <a:rPr sz="3600" spc="-2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正则化</a:t>
            </a:r>
            <a:endParaRPr sz="3600">
              <a:latin typeface="微软雅黑" panose="020B0503020204020204" charset="-122"/>
              <a:cs typeface="微软雅黑" panose="020B0503020204020204" charset="-122"/>
            </a:endParaRPr>
          </a:p>
          <a:p>
            <a:pPr marL="835660" indent="-796290">
              <a:lnSpc>
                <a:spcPct val="100000"/>
              </a:lnSpc>
              <a:spcBef>
                <a:spcPts val="2100"/>
              </a:spcBef>
              <a:buFont typeface="Impact" panose="020B0806030902050204"/>
              <a:buAutoNum type="arabicPeriod"/>
              <a:tabLst>
                <a:tab pos="835660" algn="l"/>
              </a:tabLst>
            </a:pPr>
            <a:r>
              <a:rPr sz="3600" spc="-10" dirty="0">
                <a:latin typeface="微软雅黑" panose="020B0503020204020204" charset="-122"/>
                <a:cs typeface="微软雅黑" panose="020B0503020204020204" charset="-122"/>
              </a:rPr>
              <a:t>回归的评价指标</a:t>
            </a:r>
            <a:endParaRPr sz="3600"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6760" y="277495"/>
            <a:ext cx="4675505" cy="1087120"/>
          </a:xfrm>
        </p:spPr>
        <p:txBody>
          <a:bodyPr>
            <a:noAutofit/>
          </a:bodyPr>
          <a:p>
            <a:r>
              <a:rPr spc="-10" dirty="0">
                <a:sym typeface="+mn-ea"/>
              </a:rPr>
              <a:t>过拟合和欠拟合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47065" y="1411605"/>
            <a:ext cx="11262360" cy="4846955"/>
          </a:xfrm>
        </p:spPr>
        <p:txBody>
          <a:bodyPr>
            <a:noAutofit/>
          </a:bodyPr>
          <a:p>
            <a:r>
              <a:rPr lang="en-US" altLang="zh-CN"/>
              <a:t>Overfitting（</a:t>
            </a:r>
            <a:r>
              <a:rPr lang="zh-CN" altLang="en-US"/>
              <a:t>过拟合）指的是模型在训练集上表现很好，但在测试集或新数据上表现变差。</a:t>
            </a:r>
            <a:endParaRPr lang="zh-CN" altLang="en-US"/>
          </a:p>
          <a:p>
            <a:r>
              <a:rPr lang="zh-CN" altLang="en-US"/>
              <a:t>也就是说，模型不仅学到了数据中的真实规律，还把噪声（</a:t>
            </a:r>
            <a:r>
              <a:rPr lang="en-US" altLang="zh-CN"/>
              <a:t>noise，</a:t>
            </a:r>
            <a:r>
              <a:rPr lang="zh-CN" altLang="en-US"/>
              <a:t>噪声）、偶然性甚至异常点也当成了规律。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sym typeface="+mn-ea"/>
              </a:rPr>
              <a:t>欠拟合指的是：模型过于简单，连训练数据中的主要规律都没有学好。</a:t>
            </a:r>
            <a:endParaRPr lang="zh-CN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999744"/>
            <a:ext cx="646430" cy="262255"/>
          </a:xfrm>
          <a:prstGeom prst="rect">
            <a:avLst/>
          </a:prstGeom>
          <a:solidFill>
            <a:srgbClr val="A40020"/>
          </a:solidFill>
        </p:spPr>
        <p:txBody>
          <a:bodyPr vert="horz" wrap="square" lIns="0" tIns="635" rIns="0" bIns="0" rtlCol="0">
            <a:spAutoFit/>
          </a:bodyPr>
          <a:lstStyle/>
          <a:p>
            <a:pPr marL="375285">
              <a:lnSpc>
                <a:spcPct val="100000"/>
              </a:lnSpc>
              <a:spcBef>
                <a:spcPts val="5"/>
              </a:spcBef>
            </a:pPr>
            <a:r>
              <a:rPr sz="1400" b="1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33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47077" y="257492"/>
            <a:ext cx="32258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过拟合和欠拟合</a:t>
            </a:r>
            <a:endParaRPr spc="-10" dirty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504188" y="1941576"/>
            <a:ext cx="9349740" cy="315315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533218" y="5264175"/>
            <a:ext cx="109156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40" dirty="0">
                <a:latin typeface="微软雅黑" panose="020B0503020204020204" charset="-122"/>
                <a:cs typeface="微软雅黑" panose="020B0503020204020204" charset="-122"/>
              </a:rPr>
              <a:t>欠拟合</a:t>
            </a:r>
            <a:endParaRPr sz="28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41135" y="5264187"/>
            <a:ext cx="109156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40" dirty="0">
                <a:latin typeface="微软雅黑" panose="020B0503020204020204" charset="-122"/>
                <a:cs typeface="微软雅黑" panose="020B0503020204020204" charset="-122"/>
              </a:rPr>
              <a:t>过拟合</a:t>
            </a:r>
            <a:endParaRPr sz="28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918575" y="5264187"/>
            <a:ext cx="109156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40" dirty="0">
                <a:latin typeface="微软雅黑" panose="020B0503020204020204" charset="-122"/>
                <a:cs typeface="微软雅黑" panose="020B0503020204020204" charset="-122"/>
              </a:rPr>
              <a:t>正合适</a:t>
            </a:r>
            <a:endParaRPr sz="2800"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6760" y="257175"/>
            <a:ext cx="4157345" cy="880745"/>
          </a:xfrm>
        </p:spPr>
        <p:txBody>
          <a:bodyPr>
            <a:noAutofit/>
          </a:bodyPr>
          <a:p>
            <a:r>
              <a:rPr lang="zh-CN" altLang="en-US"/>
              <a:t>为什么会出现</a:t>
            </a:r>
            <a:r>
              <a:rPr lang="zh-CN" altLang="en-US"/>
              <a:t>过拟合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43585" y="1411605"/>
            <a:ext cx="11165840" cy="5141595"/>
          </a:xfrm>
        </p:spPr>
        <p:txBody>
          <a:bodyPr>
            <a:noAutofit/>
          </a:bodyPr>
          <a:p>
            <a:r>
              <a:rPr lang="zh-CN" altLang="en-US"/>
              <a:t>常见原因有：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模型太复杂：参数过多，表达能力太强</a:t>
            </a:r>
            <a:endParaRPr lang="zh-CN" altLang="en-US"/>
          </a:p>
          <a:p>
            <a:r>
              <a:rPr lang="zh-CN" altLang="en-US"/>
              <a:t>训练数据太少：不足以支撑复杂模型学习稳定规律</a:t>
            </a:r>
            <a:endParaRPr lang="zh-CN" altLang="en-US"/>
          </a:p>
          <a:p>
            <a:r>
              <a:rPr lang="zh-CN" altLang="en-US"/>
              <a:t>数据有噪声：模型把噪声也拟合进去</a:t>
            </a:r>
            <a:endParaRPr lang="zh-CN" altLang="en-US"/>
          </a:p>
          <a:p>
            <a:r>
              <a:rPr lang="zh-CN" altLang="en-US"/>
              <a:t>特征过多：尤其在高维数据中容易出现</a:t>
            </a:r>
            <a:endParaRPr lang="zh-CN" altLang="en-US"/>
          </a:p>
          <a:p>
            <a:r>
              <a:rPr lang="zh-CN" altLang="en-US"/>
              <a:t>缺少约束：模型训练时没有限制参数规模</a:t>
            </a:r>
            <a:endParaRPr lang="zh-CN" alt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999744"/>
            <a:ext cx="646430" cy="262255"/>
          </a:xfrm>
          <a:prstGeom prst="rect">
            <a:avLst/>
          </a:prstGeom>
          <a:solidFill>
            <a:srgbClr val="A40020"/>
          </a:solidFill>
        </p:spPr>
        <p:txBody>
          <a:bodyPr vert="horz" wrap="square" lIns="0" tIns="635" rIns="0" bIns="0" rtlCol="0">
            <a:spAutoFit/>
          </a:bodyPr>
          <a:lstStyle/>
          <a:p>
            <a:pPr marL="375285">
              <a:lnSpc>
                <a:spcPct val="100000"/>
              </a:lnSpc>
              <a:spcBef>
                <a:spcPts val="5"/>
              </a:spcBef>
            </a:pPr>
            <a:r>
              <a:rPr sz="1400" b="1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34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47077" y="257492"/>
            <a:ext cx="27686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过拟合的处理</a:t>
            </a:r>
            <a:endParaRPr spc="-10" dirty="0"/>
          </a:p>
        </p:txBody>
      </p:sp>
      <p:sp>
        <p:nvSpPr>
          <p:cNvPr id="4" name="object 4"/>
          <p:cNvSpPr txBox="1"/>
          <p:nvPr/>
        </p:nvSpPr>
        <p:spPr>
          <a:xfrm>
            <a:off x="835736" y="1262646"/>
            <a:ext cx="9712325" cy="5464810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260350" indent="-255905">
              <a:lnSpc>
                <a:spcPct val="100000"/>
              </a:lnSpc>
              <a:spcBef>
                <a:spcPts val="1295"/>
              </a:spcBef>
              <a:buClr>
                <a:srgbClr val="333333"/>
              </a:buClr>
              <a:buSzPct val="93000"/>
              <a:buFont typeface="Segoe Print" panose="02000600000000000000"/>
              <a:buAutoNum type="arabicPeriod"/>
              <a:tabLst>
                <a:tab pos="260350" algn="l"/>
              </a:tabLst>
            </a:pPr>
            <a:r>
              <a:rPr sz="2000" b="1" spc="-15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获得更多的训练数据</a:t>
            </a:r>
            <a:endParaRPr sz="2000">
              <a:latin typeface="微软雅黑" panose="020B0503020204020204" charset="-122"/>
              <a:cs typeface="微软雅黑" panose="020B0503020204020204" charset="-122"/>
            </a:endParaRPr>
          </a:p>
          <a:p>
            <a:pPr marL="12700" marR="38735">
              <a:lnSpc>
                <a:spcPts val="3600"/>
              </a:lnSpc>
              <a:spcBef>
                <a:spcPts val="315"/>
              </a:spcBef>
            </a:pPr>
            <a:r>
              <a:rPr sz="2000" spc="-15" dirty="0">
                <a:solidFill>
                  <a:srgbClr val="333333"/>
                </a:solidFill>
                <a:latin typeface="微软雅黑" panose="020B0503020204020204" charset="-122"/>
                <a:cs typeface="微软雅黑" panose="020B0503020204020204" charset="-122"/>
              </a:rPr>
              <a:t>使用更多的训练数据是解决过拟合问题最有效的手段，因为更多的样本能够让模型学习到更多更有效的特征，减小噪声的影响。</a:t>
            </a:r>
            <a:endParaRPr sz="2000">
              <a:latin typeface="微软雅黑" panose="020B0503020204020204" charset="-122"/>
              <a:cs typeface="微软雅黑" panose="020B0503020204020204" charset="-122"/>
            </a:endParaRPr>
          </a:p>
          <a:p>
            <a:pPr marL="260985" indent="-255270">
              <a:lnSpc>
                <a:spcPct val="100000"/>
              </a:lnSpc>
              <a:spcBef>
                <a:spcPts val="2325"/>
              </a:spcBef>
              <a:buSzPct val="93000"/>
              <a:buFont typeface="Segoe Print" panose="02000600000000000000"/>
              <a:buAutoNum type="arabicPeriod" startAt="2"/>
              <a:tabLst>
                <a:tab pos="260985" algn="l"/>
              </a:tabLst>
            </a:pPr>
            <a:r>
              <a:rPr sz="2000" b="1" spc="-30" dirty="0">
                <a:solidFill>
                  <a:srgbClr val="333333"/>
                </a:solidFill>
                <a:latin typeface="微软雅黑" panose="020B0503020204020204" charset="-122"/>
                <a:cs typeface="微软雅黑" panose="020B0503020204020204" charset="-122"/>
              </a:rPr>
              <a:t>降维</a:t>
            </a:r>
            <a:endParaRPr sz="2000">
              <a:latin typeface="微软雅黑" panose="020B0503020204020204" charset="-122"/>
              <a:cs typeface="微软雅黑" panose="020B0503020204020204" charset="-122"/>
            </a:endParaRPr>
          </a:p>
          <a:p>
            <a:pPr marL="12700" marR="38735">
              <a:lnSpc>
                <a:spcPts val="3610"/>
              </a:lnSpc>
              <a:spcBef>
                <a:spcPts val="305"/>
              </a:spcBef>
            </a:pPr>
            <a:r>
              <a:rPr sz="2000" spc="-15" dirty="0">
                <a:solidFill>
                  <a:srgbClr val="333333"/>
                </a:solidFill>
                <a:latin typeface="微软雅黑" panose="020B0503020204020204" charset="-122"/>
                <a:cs typeface="微软雅黑" panose="020B0503020204020204" charset="-122"/>
              </a:rPr>
              <a:t>即丢弃一些不能帮助我们正确预测的特征。可以是手工选择保留哪些特征，或者使用一</a:t>
            </a:r>
            <a:r>
              <a:rPr sz="2000" spc="-10" dirty="0">
                <a:solidFill>
                  <a:srgbClr val="333333"/>
                </a:solidFill>
                <a:latin typeface="微软雅黑" panose="020B0503020204020204" charset="-122"/>
                <a:cs typeface="微软雅黑" panose="020B0503020204020204" charset="-122"/>
              </a:rPr>
              <a:t>些模型选择的算法来帮忙（例如</a:t>
            </a:r>
            <a:r>
              <a:rPr sz="2000" spc="-10" dirty="0">
                <a:solidFill>
                  <a:srgbClr val="333333"/>
                </a:solidFill>
                <a:latin typeface="Segoe Print" panose="02000600000000000000"/>
                <a:cs typeface="Segoe Print" panose="02000600000000000000"/>
              </a:rPr>
              <a:t>PCA</a:t>
            </a:r>
            <a:r>
              <a:rPr sz="2000" spc="-10" dirty="0">
                <a:solidFill>
                  <a:srgbClr val="333333"/>
                </a:solidFill>
                <a:latin typeface="微软雅黑" panose="020B0503020204020204" charset="-122"/>
                <a:cs typeface="微软雅黑" panose="020B0503020204020204" charset="-122"/>
              </a:rPr>
              <a:t>）</a:t>
            </a:r>
            <a:r>
              <a:rPr sz="2000" spc="-50" dirty="0">
                <a:solidFill>
                  <a:srgbClr val="333333"/>
                </a:solidFill>
                <a:latin typeface="微软雅黑" panose="020B0503020204020204" charset="-122"/>
                <a:cs typeface="微软雅黑" panose="020B0503020204020204" charset="-122"/>
              </a:rPr>
              <a:t>。</a:t>
            </a:r>
            <a:endParaRPr sz="2000">
              <a:latin typeface="微软雅黑" panose="020B0503020204020204" charset="-122"/>
              <a:cs typeface="微软雅黑" panose="020B0503020204020204" charset="-122"/>
            </a:endParaRPr>
          </a:p>
          <a:p>
            <a:pPr marL="260985" indent="-255270">
              <a:lnSpc>
                <a:spcPct val="100000"/>
              </a:lnSpc>
              <a:spcBef>
                <a:spcPts val="1775"/>
              </a:spcBef>
              <a:buClr>
                <a:srgbClr val="333333"/>
              </a:buClr>
              <a:buSzPct val="93000"/>
              <a:buFont typeface="Segoe Print" panose="02000600000000000000"/>
              <a:buAutoNum type="arabicPeriod" startAt="3"/>
              <a:tabLst>
                <a:tab pos="260985" algn="l"/>
              </a:tabLst>
            </a:pPr>
            <a:r>
              <a:rPr sz="2000" b="1" spc="-25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正则化</a:t>
            </a:r>
            <a:endParaRPr sz="2000">
              <a:latin typeface="微软雅黑" panose="020B0503020204020204" charset="-122"/>
              <a:cs typeface="微软雅黑" panose="020B0503020204020204" charset="-122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spc="-10" dirty="0">
                <a:solidFill>
                  <a:srgbClr val="333333"/>
                </a:solidFill>
                <a:latin typeface="微软雅黑" panose="020B0503020204020204" charset="-122"/>
                <a:cs typeface="微软雅黑" panose="020B0503020204020204" charset="-122"/>
              </a:rPr>
              <a:t>正则化</a:t>
            </a:r>
            <a:r>
              <a:rPr sz="2000" spc="-10" dirty="0">
                <a:solidFill>
                  <a:srgbClr val="333333"/>
                </a:solidFill>
                <a:latin typeface="Segoe Print" panose="02000600000000000000"/>
                <a:cs typeface="Segoe Print" panose="02000600000000000000"/>
              </a:rPr>
              <a:t>(regularization)</a:t>
            </a:r>
            <a:r>
              <a:rPr sz="2000" spc="-10" dirty="0">
                <a:solidFill>
                  <a:srgbClr val="333333"/>
                </a:solidFill>
                <a:latin typeface="微软雅黑" panose="020B0503020204020204" charset="-122"/>
                <a:cs typeface="微软雅黑" panose="020B0503020204020204" charset="-122"/>
              </a:rPr>
              <a:t>的技术，保留所有的特征，但是减少参数的大小（</a:t>
            </a:r>
            <a:r>
              <a:rPr sz="2000" spc="-10" dirty="0">
                <a:solidFill>
                  <a:srgbClr val="333333"/>
                </a:solidFill>
                <a:latin typeface="Segoe Print" panose="02000600000000000000"/>
                <a:cs typeface="Segoe Print" panose="02000600000000000000"/>
              </a:rPr>
              <a:t>magnitude</a:t>
            </a:r>
            <a:endParaRPr sz="2000">
              <a:latin typeface="Segoe Print" panose="02000600000000000000"/>
              <a:cs typeface="Segoe Print" panose="02000600000000000000"/>
            </a:endParaRPr>
          </a:p>
          <a:p>
            <a:pPr marL="12700">
              <a:lnSpc>
                <a:spcPct val="100000"/>
              </a:lnSpc>
              <a:spcBef>
                <a:spcPts val="1195"/>
              </a:spcBef>
            </a:pPr>
            <a:r>
              <a:rPr sz="2000" spc="-10" dirty="0">
                <a:solidFill>
                  <a:srgbClr val="333333"/>
                </a:solidFill>
                <a:latin typeface="微软雅黑" panose="020B0503020204020204" charset="-122"/>
                <a:cs typeface="微软雅黑" panose="020B0503020204020204" charset="-122"/>
              </a:rPr>
              <a:t>），</a:t>
            </a:r>
            <a:r>
              <a:rPr sz="2000" spc="-15" dirty="0">
                <a:solidFill>
                  <a:srgbClr val="333333"/>
                </a:solidFill>
                <a:latin typeface="微软雅黑" panose="020B0503020204020204" charset="-122"/>
                <a:cs typeface="微软雅黑" panose="020B0503020204020204" charset="-122"/>
              </a:rPr>
              <a:t>它可以改善或者减少过拟合问题。</a:t>
            </a:r>
            <a:endParaRPr sz="2000">
              <a:latin typeface="微软雅黑" panose="020B0503020204020204" charset="-122"/>
              <a:cs typeface="微软雅黑" panose="020B0503020204020204" charset="-122"/>
            </a:endParaRPr>
          </a:p>
          <a:p>
            <a:pPr marL="260985" indent="-255270">
              <a:lnSpc>
                <a:spcPct val="100000"/>
              </a:lnSpc>
              <a:spcBef>
                <a:spcPts val="2105"/>
              </a:spcBef>
              <a:buSzPct val="93000"/>
              <a:buFont typeface="Segoe Print" panose="02000600000000000000"/>
              <a:buAutoNum type="arabicPeriod" startAt="4"/>
              <a:tabLst>
                <a:tab pos="260985" algn="l"/>
              </a:tabLst>
            </a:pPr>
            <a:r>
              <a:rPr sz="2000" b="1" spc="-20" dirty="0">
                <a:solidFill>
                  <a:srgbClr val="333333"/>
                </a:solidFill>
                <a:latin typeface="微软雅黑" panose="020B0503020204020204" charset="-122"/>
                <a:cs typeface="微软雅黑" panose="020B0503020204020204" charset="-122"/>
              </a:rPr>
              <a:t>集成学习方法</a:t>
            </a:r>
            <a:endParaRPr sz="2000">
              <a:latin typeface="微软雅黑" panose="020B0503020204020204" charset="-122"/>
              <a:cs typeface="微软雅黑" panose="020B0503020204020204" charset="-122"/>
            </a:endParaRPr>
          </a:p>
          <a:p>
            <a:pPr marL="12700">
              <a:lnSpc>
                <a:spcPct val="100000"/>
              </a:lnSpc>
              <a:spcBef>
                <a:spcPts val="1195"/>
              </a:spcBef>
            </a:pPr>
            <a:r>
              <a:rPr sz="2000" spc="-15" dirty="0">
                <a:solidFill>
                  <a:srgbClr val="333333"/>
                </a:solidFill>
                <a:latin typeface="微软雅黑" panose="020B0503020204020204" charset="-122"/>
                <a:cs typeface="微软雅黑" panose="020B0503020204020204" charset="-122"/>
              </a:rPr>
              <a:t>集成学习是把多个模型集成在一起，来降低单一模型的过拟合风险。</a:t>
            </a:r>
            <a:endParaRPr sz="2000"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999744"/>
            <a:ext cx="646430" cy="262255"/>
          </a:xfrm>
          <a:prstGeom prst="rect">
            <a:avLst/>
          </a:prstGeom>
          <a:solidFill>
            <a:srgbClr val="A40020"/>
          </a:solidFill>
        </p:spPr>
        <p:txBody>
          <a:bodyPr vert="horz" wrap="square" lIns="0" tIns="635" rIns="0" bIns="0" rtlCol="0">
            <a:spAutoFit/>
          </a:bodyPr>
          <a:lstStyle/>
          <a:p>
            <a:pPr marL="375285">
              <a:lnSpc>
                <a:spcPct val="100000"/>
              </a:lnSpc>
              <a:spcBef>
                <a:spcPts val="5"/>
              </a:spcBef>
            </a:pPr>
            <a:r>
              <a:rPr sz="1400" b="1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35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407071" y="1546555"/>
            <a:ext cx="3073400" cy="42913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微软雅黑" panose="020B0503020204020204" charset="-122"/>
                <a:cs typeface="微软雅黑" panose="020B0503020204020204" charset="-122"/>
              </a:rPr>
              <a:t>通过这张图可以看出，各种不同算法在输入的数据量达到一定级数后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微软雅黑" panose="020B0503020204020204" charset="-122"/>
                <a:cs typeface="微软雅黑" panose="020B0503020204020204" charset="-122"/>
              </a:rPr>
              <a:t>，都有相近的高准确度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  <a:p>
            <a:pPr marL="12700" marR="5080">
              <a:lnSpc>
                <a:spcPct val="100000"/>
              </a:lnSpc>
            </a:pPr>
            <a:r>
              <a:rPr sz="2400" spc="-5" dirty="0">
                <a:latin typeface="微软雅黑" panose="020B0503020204020204" charset="-122"/>
                <a:cs typeface="微软雅黑" panose="020B0503020204020204" charset="-122"/>
              </a:rPr>
              <a:t>。于是诞生了机器学习</a:t>
            </a:r>
            <a:r>
              <a:rPr sz="2400" spc="-10" dirty="0">
                <a:latin typeface="微软雅黑" panose="020B0503020204020204" charset="-122"/>
                <a:cs typeface="微软雅黑" panose="020B0503020204020204" charset="-122"/>
              </a:rPr>
              <a:t>界的名言：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  <a:p>
            <a:pPr marL="12700" marR="209550" algn="just">
              <a:lnSpc>
                <a:spcPct val="100000"/>
              </a:lnSpc>
              <a:spcBef>
                <a:spcPts val="2870"/>
              </a:spcBef>
            </a:pPr>
            <a:r>
              <a:rPr sz="2800" b="1" spc="-35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成功的机器学习应用不是拥有最好的算法，而是拥有最多的数据！</a:t>
            </a:r>
            <a:endParaRPr sz="28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13066" y="274802"/>
            <a:ext cx="27686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数据决定一切</a:t>
            </a:r>
            <a:endParaRPr spc="-10" dirty="0"/>
          </a:p>
        </p:txBody>
      </p:sp>
      <p:pic>
        <p:nvPicPr>
          <p:cNvPr id="5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126236" y="1360932"/>
            <a:ext cx="4626864" cy="444246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818726" y="5829465"/>
            <a:ext cx="1244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5" dirty="0">
                <a:latin typeface="微软雅黑" panose="020B0503020204020204" charset="-122"/>
                <a:cs typeface="微软雅黑" panose="020B0503020204020204" charset="-122"/>
              </a:rPr>
              <a:t>数据大小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3066" y="2516047"/>
            <a:ext cx="33020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微软雅黑" panose="020B0503020204020204" charset="-122"/>
                <a:cs typeface="微软雅黑" panose="020B0503020204020204" charset="-122"/>
              </a:rPr>
              <a:t>准确率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999744"/>
            <a:ext cx="646430" cy="262255"/>
          </a:xfrm>
          <a:prstGeom prst="rect">
            <a:avLst/>
          </a:prstGeom>
          <a:solidFill>
            <a:srgbClr val="A40020"/>
          </a:solidFill>
        </p:spPr>
        <p:txBody>
          <a:bodyPr vert="horz" wrap="square" lIns="0" tIns="635" rIns="0" bIns="0" rtlCol="0">
            <a:spAutoFit/>
          </a:bodyPr>
          <a:lstStyle/>
          <a:p>
            <a:pPr marL="375285">
              <a:lnSpc>
                <a:spcPct val="100000"/>
              </a:lnSpc>
              <a:spcBef>
                <a:spcPts val="5"/>
              </a:spcBef>
            </a:pPr>
            <a:r>
              <a:rPr sz="1400" b="1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36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47077" y="257492"/>
            <a:ext cx="27686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欠拟合的处理</a:t>
            </a:r>
            <a:endParaRPr spc="-10" dirty="0"/>
          </a:p>
        </p:txBody>
      </p:sp>
      <p:sp>
        <p:nvSpPr>
          <p:cNvPr id="4" name="object 4"/>
          <p:cNvSpPr txBox="1"/>
          <p:nvPr/>
        </p:nvSpPr>
        <p:spPr>
          <a:xfrm>
            <a:off x="922172" y="1276502"/>
            <a:ext cx="8916035" cy="4961890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260985" indent="-248920">
              <a:lnSpc>
                <a:spcPct val="100000"/>
              </a:lnSpc>
              <a:spcBef>
                <a:spcPts val="1295"/>
              </a:spcBef>
              <a:buClr>
                <a:srgbClr val="333333"/>
              </a:buClr>
              <a:buSzPct val="95000"/>
              <a:buFont typeface="Segoe Print" panose="02000600000000000000"/>
              <a:buAutoNum type="arabicPeriod"/>
              <a:tabLst>
                <a:tab pos="260985" algn="l"/>
              </a:tabLst>
            </a:pPr>
            <a:r>
              <a:rPr sz="2000" b="1" spc="-2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添加新特征</a:t>
            </a:r>
            <a:endParaRPr sz="2000">
              <a:latin typeface="微软雅黑" panose="020B0503020204020204" charset="-122"/>
              <a:cs typeface="微软雅黑" panose="020B0503020204020204" charset="-122"/>
            </a:endParaRPr>
          </a:p>
          <a:p>
            <a:pPr marL="12700" marR="5080">
              <a:lnSpc>
                <a:spcPts val="3600"/>
              </a:lnSpc>
              <a:spcBef>
                <a:spcPts val="315"/>
              </a:spcBef>
            </a:pPr>
            <a:r>
              <a:rPr sz="2000" spc="-15" dirty="0">
                <a:solidFill>
                  <a:srgbClr val="333333"/>
                </a:solidFill>
                <a:latin typeface="微软雅黑" panose="020B0503020204020204" charset="-122"/>
                <a:cs typeface="微软雅黑" panose="020B0503020204020204" charset="-122"/>
              </a:rPr>
              <a:t>当特征不足或者现有特征与样本标签的相关性不强时，模型容易出现欠拟合。通过挖掘组合特征等新的特征，往往能够取得更好的效果。</a:t>
            </a:r>
            <a:endParaRPr sz="2000">
              <a:latin typeface="微软雅黑" panose="020B0503020204020204" charset="-122"/>
              <a:cs typeface="微软雅黑" panose="020B0503020204020204" charset="-122"/>
            </a:endParaRPr>
          </a:p>
          <a:p>
            <a:pPr marL="260985" indent="-248920">
              <a:lnSpc>
                <a:spcPct val="100000"/>
              </a:lnSpc>
              <a:spcBef>
                <a:spcPts val="2505"/>
              </a:spcBef>
              <a:buSzPct val="95000"/>
              <a:buFont typeface="Segoe Print" panose="02000600000000000000"/>
              <a:buAutoNum type="arabicPeriod" startAt="2"/>
              <a:tabLst>
                <a:tab pos="260985" algn="l"/>
              </a:tabLst>
            </a:pPr>
            <a:r>
              <a:rPr sz="2000" b="1" spc="-20" dirty="0">
                <a:solidFill>
                  <a:srgbClr val="333333"/>
                </a:solidFill>
                <a:latin typeface="微软雅黑" panose="020B0503020204020204" charset="-122"/>
                <a:cs typeface="微软雅黑" panose="020B0503020204020204" charset="-122"/>
              </a:rPr>
              <a:t>增加模型复杂度</a:t>
            </a:r>
            <a:endParaRPr sz="2000">
              <a:latin typeface="微软雅黑" panose="020B0503020204020204" charset="-122"/>
              <a:cs typeface="微软雅黑" panose="020B0503020204020204" charset="-122"/>
            </a:endParaRPr>
          </a:p>
          <a:p>
            <a:pPr marL="12700" marR="5080" algn="just">
              <a:lnSpc>
                <a:spcPts val="3600"/>
              </a:lnSpc>
              <a:spcBef>
                <a:spcPts val="315"/>
              </a:spcBef>
            </a:pPr>
            <a:r>
              <a:rPr sz="2000" spc="-15" dirty="0">
                <a:solidFill>
                  <a:srgbClr val="333333"/>
                </a:solidFill>
                <a:latin typeface="微软雅黑" panose="020B0503020204020204" charset="-122"/>
                <a:cs typeface="微软雅黑" panose="020B0503020204020204" charset="-122"/>
              </a:rPr>
              <a:t>简单模型的学习能力较差，通过增加模型的复杂度可以使模型拥有更强的拟合能力。例如，在线性模型中添加高次项，在神经网络模型中增加网络层数或神经元</a:t>
            </a:r>
            <a:r>
              <a:rPr sz="2000" spc="-20" dirty="0">
                <a:solidFill>
                  <a:srgbClr val="333333"/>
                </a:solidFill>
                <a:latin typeface="微软雅黑" panose="020B0503020204020204" charset="-122"/>
                <a:cs typeface="微软雅黑" panose="020B0503020204020204" charset="-122"/>
              </a:rPr>
              <a:t>个数等。</a:t>
            </a:r>
            <a:endParaRPr sz="2000">
              <a:latin typeface="微软雅黑" panose="020B0503020204020204" charset="-122"/>
              <a:cs typeface="微软雅黑" panose="020B0503020204020204" charset="-122"/>
            </a:endParaRPr>
          </a:p>
          <a:p>
            <a:pPr marL="260985" indent="-248920">
              <a:lnSpc>
                <a:spcPct val="100000"/>
              </a:lnSpc>
              <a:spcBef>
                <a:spcPts val="2145"/>
              </a:spcBef>
              <a:buSzPct val="95000"/>
              <a:buFont typeface="Segoe Print" panose="02000600000000000000"/>
              <a:buAutoNum type="arabicPeriod" startAt="3"/>
              <a:tabLst>
                <a:tab pos="260985" algn="l"/>
              </a:tabLst>
            </a:pPr>
            <a:r>
              <a:rPr sz="2000" b="1" spc="-20" dirty="0">
                <a:solidFill>
                  <a:srgbClr val="333333"/>
                </a:solidFill>
                <a:latin typeface="微软雅黑" panose="020B0503020204020204" charset="-122"/>
                <a:cs typeface="微软雅黑" panose="020B0503020204020204" charset="-122"/>
              </a:rPr>
              <a:t>减小正则化系数</a:t>
            </a:r>
            <a:endParaRPr sz="2000">
              <a:latin typeface="微软雅黑" panose="020B0503020204020204" charset="-122"/>
              <a:cs typeface="微软雅黑" panose="020B0503020204020204" charset="-122"/>
            </a:endParaRPr>
          </a:p>
          <a:p>
            <a:pPr marL="12700" marR="5080">
              <a:lnSpc>
                <a:spcPts val="3600"/>
              </a:lnSpc>
              <a:spcBef>
                <a:spcPts val="115"/>
              </a:spcBef>
            </a:pPr>
            <a:r>
              <a:rPr sz="2000" spc="-15" dirty="0">
                <a:solidFill>
                  <a:srgbClr val="333333"/>
                </a:solidFill>
                <a:latin typeface="微软雅黑" panose="020B0503020204020204" charset="-122"/>
                <a:cs typeface="微软雅黑" panose="020B0503020204020204" charset="-122"/>
              </a:rPr>
              <a:t>正则化是用来防止过拟合的，但当模型出现欠拟合现象时，则需要有针对性地减</a:t>
            </a:r>
            <a:r>
              <a:rPr sz="2000" spc="-20" dirty="0">
                <a:solidFill>
                  <a:srgbClr val="333333"/>
                </a:solidFill>
                <a:latin typeface="微软雅黑" panose="020B0503020204020204" charset="-122"/>
                <a:cs typeface="微软雅黑" panose="020B0503020204020204" charset="-122"/>
              </a:rPr>
              <a:t>小正则化系数。</a:t>
            </a:r>
            <a:endParaRPr sz="2000"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7077" y="257492"/>
            <a:ext cx="3149600" cy="553720"/>
          </a:xfrm>
        </p:spPr>
        <p:txBody>
          <a:bodyPr/>
          <a:p>
            <a:r>
              <a:rPr spc="-20" dirty="0">
                <a:sym typeface="+mn-ea"/>
              </a:rPr>
              <a:t>正则化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40410" y="1411605"/>
            <a:ext cx="11169015" cy="4989195"/>
          </a:xfrm>
        </p:spPr>
        <p:txBody>
          <a:bodyPr>
            <a:noAutofit/>
          </a:bodyPr>
          <a:p>
            <a:r>
              <a:rPr lang="en-US" altLang="zh-CN"/>
              <a:t>Regularization（</a:t>
            </a:r>
            <a:r>
              <a:rPr lang="zh-CN" altLang="en-US"/>
              <a:t>正则化是一种通过给模型增加约束，降低模型复杂度，从而减少过拟合的方法。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数学表达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原始目标通常是最小化 </a:t>
            </a:r>
            <a:r>
              <a:rPr lang="en-US" altLang="zh-CN"/>
              <a:t>Loss Function（</a:t>
            </a:r>
            <a:r>
              <a:rPr lang="zh-CN" altLang="en-US"/>
              <a:t>损失函数）：</a:t>
            </a:r>
            <a:r>
              <a:rPr lang="en-US" altLang="zh-CN"/>
              <a:t>minL(w)</a:t>
            </a:r>
            <a:endParaRPr lang="en-US" altLang="zh-CN"/>
          </a:p>
          <a:p>
            <a:r>
              <a:rPr lang="zh-CN" altLang="en-US"/>
              <a:t>加入正则化后变成：</a:t>
            </a:r>
            <a:r>
              <a:rPr lang="en-US" altLang="zh-CN"/>
              <a:t>minL(w)+λΩ(w)</a:t>
            </a:r>
            <a:endParaRPr lang="en-US" altLang="zh-CN"/>
          </a:p>
          <a:p>
            <a:r>
              <a:rPr lang="zh-CN" altLang="en-US"/>
              <a:t>其中：</a:t>
            </a:r>
            <a:endParaRPr lang="en-US" altLang="zh-CN"/>
          </a:p>
          <a:p>
            <a:r>
              <a:rPr lang="en-US" altLang="zh-CN"/>
              <a:t>L(w)：</a:t>
            </a:r>
            <a:r>
              <a:rPr lang="zh-CN" altLang="en-US"/>
              <a:t>原始损失</a:t>
            </a:r>
            <a:endParaRPr lang="zh-CN" altLang="en-US"/>
          </a:p>
          <a:p>
            <a:r>
              <a:rPr lang="en-US" altLang="zh-CN"/>
              <a:t>Ω(w)：</a:t>
            </a:r>
            <a:r>
              <a:rPr lang="zh-CN" altLang="en-US"/>
              <a:t>正则项</a:t>
            </a:r>
            <a:endParaRPr lang="zh-CN" altLang="en-US"/>
          </a:p>
          <a:p>
            <a:r>
              <a:rPr lang="en-US" altLang="zh-CN"/>
              <a:t>λ：</a:t>
            </a:r>
            <a:r>
              <a:rPr lang="zh-CN" altLang="en-US"/>
              <a:t>正则化系数，控制约束强度</a:t>
            </a:r>
            <a:endParaRPr lang="zh-CN" alt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999744"/>
            <a:ext cx="646430" cy="262255"/>
          </a:xfrm>
          <a:prstGeom prst="rect">
            <a:avLst/>
          </a:prstGeom>
          <a:solidFill>
            <a:srgbClr val="A40020"/>
          </a:solidFill>
        </p:spPr>
        <p:txBody>
          <a:bodyPr vert="horz" wrap="square" lIns="0" tIns="635" rIns="0" bIns="0" rtlCol="0">
            <a:spAutoFit/>
          </a:bodyPr>
          <a:lstStyle/>
          <a:p>
            <a:pPr marL="375285">
              <a:lnSpc>
                <a:spcPct val="100000"/>
              </a:lnSpc>
              <a:spcBef>
                <a:spcPts val="5"/>
              </a:spcBef>
            </a:pPr>
            <a:r>
              <a:rPr sz="1400" b="1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37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987884" y="4532121"/>
            <a:ext cx="5361940" cy="2108200"/>
          </a:xfrm>
          <a:custGeom>
            <a:avLst/>
            <a:gdLst/>
            <a:ahLst/>
            <a:cxnLst/>
            <a:rect l="l" t="t" r="r" b="b"/>
            <a:pathLst>
              <a:path w="5361940" h="2108200">
                <a:moveTo>
                  <a:pt x="5099977" y="12700"/>
                </a:moveTo>
                <a:lnTo>
                  <a:pt x="261162" y="12700"/>
                </a:lnTo>
                <a:lnTo>
                  <a:pt x="269747" y="0"/>
                </a:lnTo>
                <a:lnTo>
                  <a:pt x="5091391" y="0"/>
                </a:lnTo>
                <a:lnTo>
                  <a:pt x="5099977" y="12700"/>
                </a:lnTo>
                <a:close/>
              </a:path>
              <a:path w="5361940" h="2108200">
                <a:moveTo>
                  <a:pt x="342455" y="25400"/>
                </a:moveTo>
                <a:lnTo>
                  <a:pt x="219582" y="25400"/>
                </a:lnTo>
                <a:lnTo>
                  <a:pt x="227710" y="12700"/>
                </a:lnTo>
                <a:lnTo>
                  <a:pt x="351370" y="12700"/>
                </a:lnTo>
                <a:lnTo>
                  <a:pt x="342455" y="25400"/>
                </a:lnTo>
                <a:close/>
              </a:path>
              <a:path w="5361940" h="2108200">
                <a:moveTo>
                  <a:pt x="351040" y="25400"/>
                </a:moveTo>
                <a:lnTo>
                  <a:pt x="351370" y="12700"/>
                </a:lnTo>
                <a:lnTo>
                  <a:pt x="360006" y="12700"/>
                </a:lnTo>
                <a:lnTo>
                  <a:pt x="351040" y="25400"/>
                </a:lnTo>
                <a:close/>
              </a:path>
              <a:path w="5361940" h="2108200">
                <a:moveTo>
                  <a:pt x="5010391" y="25400"/>
                </a:moveTo>
                <a:lnTo>
                  <a:pt x="5001425" y="12700"/>
                </a:lnTo>
                <a:lnTo>
                  <a:pt x="5010073" y="12700"/>
                </a:lnTo>
                <a:lnTo>
                  <a:pt x="5010391" y="25400"/>
                </a:lnTo>
                <a:close/>
              </a:path>
              <a:path w="5361940" h="2108200">
                <a:moveTo>
                  <a:pt x="5141556" y="25400"/>
                </a:moveTo>
                <a:lnTo>
                  <a:pt x="5018976" y="25400"/>
                </a:lnTo>
                <a:lnTo>
                  <a:pt x="5010073" y="12700"/>
                </a:lnTo>
                <a:lnTo>
                  <a:pt x="5133428" y="12700"/>
                </a:lnTo>
                <a:lnTo>
                  <a:pt x="5141556" y="25400"/>
                </a:lnTo>
                <a:close/>
              </a:path>
              <a:path w="5361940" h="2108200">
                <a:moveTo>
                  <a:pt x="260197" y="38100"/>
                </a:moveTo>
                <a:lnTo>
                  <a:pt x="196100" y="38100"/>
                </a:lnTo>
                <a:lnTo>
                  <a:pt x="203923" y="25400"/>
                </a:lnTo>
                <a:lnTo>
                  <a:pt x="268401" y="25400"/>
                </a:lnTo>
                <a:lnTo>
                  <a:pt x="260197" y="38100"/>
                </a:lnTo>
                <a:close/>
              </a:path>
              <a:path w="5361940" h="2108200">
                <a:moveTo>
                  <a:pt x="5165610" y="38100"/>
                </a:moveTo>
                <a:lnTo>
                  <a:pt x="5101234" y="38100"/>
                </a:lnTo>
                <a:lnTo>
                  <a:pt x="5093030" y="25400"/>
                </a:lnTo>
                <a:lnTo>
                  <a:pt x="5157800" y="25400"/>
                </a:lnTo>
                <a:lnTo>
                  <a:pt x="5165610" y="38100"/>
                </a:lnTo>
                <a:close/>
              </a:path>
              <a:path w="5361940" h="2108200">
                <a:moveTo>
                  <a:pt x="229476" y="50800"/>
                </a:moveTo>
                <a:lnTo>
                  <a:pt x="173316" y="50800"/>
                </a:lnTo>
                <a:lnTo>
                  <a:pt x="180797" y="38100"/>
                </a:lnTo>
                <a:lnTo>
                  <a:pt x="237312" y="38100"/>
                </a:lnTo>
                <a:lnTo>
                  <a:pt x="229476" y="50800"/>
                </a:lnTo>
                <a:close/>
              </a:path>
              <a:path w="5361940" h="2108200">
                <a:moveTo>
                  <a:pt x="5188381" y="50800"/>
                </a:moveTo>
                <a:lnTo>
                  <a:pt x="5131955" y="50800"/>
                </a:lnTo>
                <a:lnTo>
                  <a:pt x="5124119" y="38100"/>
                </a:lnTo>
                <a:lnTo>
                  <a:pt x="5180901" y="38100"/>
                </a:lnTo>
                <a:lnTo>
                  <a:pt x="5188381" y="50800"/>
                </a:lnTo>
                <a:close/>
              </a:path>
              <a:path w="5361940" h="2108200">
                <a:moveTo>
                  <a:pt x="200240" y="63500"/>
                </a:moveTo>
                <a:lnTo>
                  <a:pt x="151587" y="63500"/>
                </a:lnTo>
                <a:lnTo>
                  <a:pt x="158699" y="50800"/>
                </a:lnTo>
                <a:lnTo>
                  <a:pt x="207683" y="50800"/>
                </a:lnTo>
                <a:lnTo>
                  <a:pt x="200240" y="63500"/>
                </a:lnTo>
                <a:close/>
              </a:path>
              <a:path w="5361940" h="2108200">
                <a:moveTo>
                  <a:pt x="5210098" y="63500"/>
                </a:moveTo>
                <a:lnTo>
                  <a:pt x="5161191" y="63500"/>
                </a:lnTo>
                <a:lnTo>
                  <a:pt x="5153748" y="50800"/>
                </a:lnTo>
                <a:lnTo>
                  <a:pt x="5202986" y="50800"/>
                </a:lnTo>
                <a:lnTo>
                  <a:pt x="5210098" y="63500"/>
                </a:lnTo>
                <a:close/>
              </a:path>
              <a:path w="5361940" h="2108200">
                <a:moveTo>
                  <a:pt x="179400" y="76200"/>
                </a:moveTo>
                <a:lnTo>
                  <a:pt x="137718" y="76200"/>
                </a:lnTo>
                <a:lnTo>
                  <a:pt x="144589" y="63500"/>
                </a:lnTo>
                <a:lnTo>
                  <a:pt x="186499" y="63500"/>
                </a:lnTo>
                <a:lnTo>
                  <a:pt x="179400" y="76200"/>
                </a:lnTo>
                <a:close/>
              </a:path>
              <a:path w="5361940" h="2108200">
                <a:moveTo>
                  <a:pt x="5223954" y="76200"/>
                </a:moveTo>
                <a:lnTo>
                  <a:pt x="5182031" y="76200"/>
                </a:lnTo>
                <a:lnTo>
                  <a:pt x="5174932" y="63500"/>
                </a:lnTo>
                <a:lnTo>
                  <a:pt x="5217083" y="63500"/>
                </a:lnTo>
                <a:lnTo>
                  <a:pt x="5223954" y="76200"/>
                </a:lnTo>
                <a:close/>
              </a:path>
              <a:path w="5361940" h="2108200">
                <a:moveTo>
                  <a:pt x="159550" y="88900"/>
                </a:moveTo>
                <a:lnTo>
                  <a:pt x="117919" y="88900"/>
                </a:lnTo>
                <a:lnTo>
                  <a:pt x="124383" y="76200"/>
                </a:lnTo>
                <a:lnTo>
                  <a:pt x="166306" y="76200"/>
                </a:lnTo>
                <a:lnTo>
                  <a:pt x="159550" y="88900"/>
                </a:lnTo>
                <a:close/>
              </a:path>
              <a:path w="5361940" h="2108200">
                <a:moveTo>
                  <a:pt x="5243741" y="88900"/>
                </a:moveTo>
                <a:lnTo>
                  <a:pt x="5201881" y="88900"/>
                </a:lnTo>
                <a:lnTo>
                  <a:pt x="5195138" y="76200"/>
                </a:lnTo>
                <a:lnTo>
                  <a:pt x="5237276" y="76200"/>
                </a:lnTo>
                <a:lnTo>
                  <a:pt x="5243741" y="88900"/>
                </a:lnTo>
                <a:close/>
              </a:path>
              <a:path w="5361940" h="2108200">
                <a:moveTo>
                  <a:pt x="140792" y="101600"/>
                </a:moveTo>
                <a:lnTo>
                  <a:pt x="105422" y="101600"/>
                </a:lnTo>
                <a:lnTo>
                  <a:pt x="111594" y="88900"/>
                </a:lnTo>
                <a:lnTo>
                  <a:pt x="147154" y="88900"/>
                </a:lnTo>
                <a:lnTo>
                  <a:pt x="140792" y="101600"/>
                </a:lnTo>
                <a:close/>
              </a:path>
              <a:path w="5361940" h="2108200">
                <a:moveTo>
                  <a:pt x="146913" y="101600"/>
                </a:moveTo>
                <a:lnTo>
                  <a:pt x="147154" y="88900"/>
                </a:lnTo>
                <a:lnTo>
                  <a:pt x="153415" y="88900"/>
                </a:lnTo>
                <a:lnTo>
                  <a:pt x="146913" y="101600"/>
                </a:lnTo>
                <a:close/>
              </a:path>
              <a:path w="5361940" h="2108200">
                <a:moveTo>
                  <a:pt x="5214518" y="101600"/>
                </a:moveTo>
                <a:lnTo>
                  <a:pt x="5208016" y="88900"/>
                </a:lnTo>
                <a:lnTo>
                  <a:pt x="5214277" y="88900"/>
                </a:lnTo>
                <a:lnTo>
                  <a:pt x="5214518" y="101600"/>
                </a:lnTo>
                <a:close/>
              </a:path>
              <a:path w="5361940" h="2108200">
                <a:moveTo>
                  <a:pt x="5256225" y="101600"/>
                </a:moveTo>
                <a:lnTo>
                  <a:pt x="5220652" y="101600"/>
                </a:lnTo>
                <a:lnTo>
                  <a:pt x="5214277" y="88900"/>
                </a:lnTo>
                <a:lnTo>
                  <a:pt x="5250052" y="88900"/>
                </a:lnTo>
                <a:lnTo>
                  <a:pt x="5256225" y="101600"/>
                </a:lnTo>
                <a:close/>
              </a:path>
              <a:path w="5361940" h="2108200">
                <a:moveTo>
                  <a:pt x="128904" y="114300"/>
                </a:moveTo>
                <a:lnTo>
                  <a:pt x="93497" y="114300"/>
                </a:lnTo>
                <a:lnTo>
                  <a:pt x="99390" y="101600"/>
                </a:lnTo>
                <a:lnTo>
                  <a:pt x="135000" y="101600"/>
                </a:lnTo>
                <a:lnTo>
                  <a:pt x="128904" y="114300"/>
                </a:lnTo>
                <a:close/>
              </a:path>
              <a:path w="5361940" h="2108200">
                <a:moveTo>
                  <a:pt x="5268137" y="114300"/>
                </a:moveTo>
                <a:lnTo>
                  <a:pt x="5232526" y="114300"/>
                </a:lnTo>
                <a:lnTo>
                  <a:pt x="5226431" y="101600"/>
                </a:lnTo>
                <a:lnTo>
                  <a:pt x="5262054" y="101600"/>
                </a:lnTo>
                <a:lnTo>
                  <a:pt x="5268137" y="114300"/>
                </a:lnTo>
                <a:close/>
              </a:path>
              <a:path w="5361940" h="2108200">
                <a:moveTo>
                  <a:pt x="117563" y="127000"/>
                </a:moveTo>
                <a:lnTo>
                  <a:pt x="82181" y="127000"/>
                </a:lnTo>
                <a:lnTo>
                  <a:pt x="87769" y="114300"/>
                </a:lnTo>
                <a:lnTo>
                  <a:pt x="123380" y="114300"/>
                </a:lnTo>
                <a:lnTo>
                  <a:pt x="117563" y="127000"/>
                </a:lnTo>
                <a:close/>
              </a:path>
              <a:path w="5361940" h="2108200">
                <a:moveTo>
                  <a:pt x="5279440" y="127000"/>
                </a:moveTo>
                <a:lnTo>
                  <a:pt x="5243880" y="127000"/>
                </a:lnTo>
                <a:lnTo>
                  <a:pt x="5238051" y="114300"/>
                </a:lnTo>
                <a:lnTo>
                  <a:pt x="5273865" y="114300"/>
                </a:lnTo>
                <a:lnTo>
                  <a:pt x="5279440" y="127000"/>
                </a:lnTo>
                <a:close/>
              </a:path>
              <a:path w="5361940" h="2108200">
                <a:moveTo>
                  <a:pt x="106756" y="139700"/>
                </a:moveTo>
                <a:lnTo>
                  <a:pt x="71488" y="139700"/>
                </a:lnTo>
                <a:lnTo>
                  <a:pt x="76758" y="127000"/>
                </a:lnTo>
                <a:lnTo>
                  <a:pt x="112293" y="127000"/>
                </a:lnTo>
                <a:lnTo>
                  <a:pt x="106756" y="139700"/>
                </a:lnTo>
                <a:close/>
              </a:path>
              <a:path w="5361940" h="2108200">
                <a:moveTo>
                  <a:pt x="5290121" y="139700"/>
                </a:moveTo>
                <a:lnTo>
                  <a:pt x="5254675" y="139700"/>
                </a:lnTo>
                <a:lnTo>
                  <a:pt x="5249138" y="127000"/>
                </a:lnTo>
                <a:lnTo>
                  <a:pt x="5284863" y="127000"/>
                </a:lnTo>
                <a:lnTo>
                  <a:pt x="5290121" y="139700"/>
                </a:lnTo>
                <a:close/>
              </a:path>
              <a:path w="5361940" h="2108200">
                <a:moveTo>
                  <a:pt x="86906" y="165100"/>
                </a:moveTo>
                <a:lnTo>
                  <a:pt x="56680" y="165100"/>
                </a:lnTo>
                <a:lnTo>
                  <a:pt x="61455" y="152400"/>
                </a:lnTo>
                <a:lnTo>
                  <a:pt x="66382" y="139700"/>
                </a:lnTo>
                <a:lnTo>
                  <a:pt x="101765" y="139700"/>
                </a:lnTo>
                <a:lnTo>
                  <a:pt x="96545" y="152400"/>
                </a:lnTo>
                <a:lnTo>
                  <a:pt x="91833" y="152400"/>
                </a:lnTo>
                <a:lnTo>
                  <a:pt x="86906" y="165100"/>
                </a:lnTo>
                <a:close/>
              </a:path>
              <a:path w="5361940" h="2108200">
                <a:moveTo>
                  <a:pt x="5304917" y="165100"/>
                </a:moveTo>
                <a:lnTo>
                  <a:pt x="5274525" y="165100"/>
                </a:lnTo>
                <a:lnTo>
                  <a:pt x="5269598" y="152400"/>
                </a:lnTo>
                <a:lnTo>
                  <a:pt x="5264899" y="152400"/>
                </a:lnTo>
                <a:lnTo>
                  <a:pt x="5259666" y="139700"/>
                </a:lnTo>
                <a:lnTo>
                  <a:pt x="5295226" y="139700"/>
                </a:lnTo>
                <a:lnTo>
                  <a:pt x="5300154" y="152400"/>
                </a:lnTo>
                <a:lnTo>
                  <a:pt x="5304917" y="165100"/>
                </a:lnTo>
                <a:close/>
              </a:path>
              <a:path w="5361940" h="2108200">
                <a:moveTo>
                  <a:pt x="77901" y="177800"/>
                </a:moveTo>
                <a:lnTo>
                  <a:pt x="47663" y="177800"/>
                </a:lnTo>
                <a:lnTo>
                  <a:pt x="52082" y="165100"/>
                </a:lnTo>
                <a:lnTo>
                  <a:pt x="82499" y="165100"/>
                </a:lnTo>
                <a:lnTo>
                  <a:pt x="77901" y="177800"/>
                </a:lnTo>
                <a:close/>
              </a:path>
              <a:path w="5361940" h="2108200">
                <a:moveTo>
                  <a:pt x="5313934" y="177800"/>
                </a:moveTo>
                <a:lnTo>
                  <a:pt x="5283542" y="177800"/>
                </a:lnTo>
                <a:lnTo>
                  <a:pt x="5278932" y="165100"/>
                </a:lnTo>
                <a:lnTo>
                  <a:pt x="5309514" y="165100"/>
                </a:lnTo>
                <a:lnTo>
                  <a:pt x="5313934" y="177800"/>
                </a:lnTo>
                <a:close/>
              </a:path>
              <a:path w="5361940" h="2108200">
                <a:moveTo>
                  <a:pt x="61798" y="203200"/>
                </a:moveTo>
                <a:lnTo>
                  <a:pt x="35458" y="203200"/>
                </a:lnTo>
                <a:lnTo>
                  <a:pt x="39344" y="190500"/>
                </a:lnTo>
                <a:lnTo>
                  <a:pt x="43408" y="177800"/>
                </a:lnTo>
                <a:lnTo>
                  <a:pt x="73787" y="177800"/>
                </a:lnTo>
                <a:lnTo>
                  <a:pt x="69519" y="190500"/>
                </a:lnTo>
                <a:lnTo>
                  <a:pt x="65722" y="190500"/>
                </a:lnTo>
                <a:lnTo>
                  <a:pt x="61798" y="203200"/>
                </a:lnTo>
                <a:close/>
              </a:path>
              <a:path w="5361940" h="2108200">
                <a:moveTo>
                  <a:pt x="5325986" y="203200"/>
                </a:moveTo>
                <a:lnTo>
                  <a:pt x="5299633" y="203200"/>
                </a:lnTo>
                <a:lnTo>
                  <a:pt x="5295709" y="190500"/>
                </a:lnTo>
                <a:lnTo>
                  <a:pt x="5291912" y="190500"/>
                </a:lnTo>
                <a:lnTo>
                  <a:pt x="5287645" y="177800"/>
                </a:lnTo>
                <a:lnTo>
                  <a:pt x="5318175" y="177800"/>
                </a:lnTo>
                <a:lnTo>
                  <a:pt x="5322239" y="190500"/>
                </a:lnTo>
                <a:lnTo>
                  <a:pt x="5325986" y="203200"/>
                </a:lnTo>
                <a:close/>
              </a:path>
              <a:path w="5361940" h="2108200">
                <a:moveTo>
                  <a:pt x="45631" y="241300"/>
                </a:moveTo>
                <a:lnTo>
                  <a:pt x="18745" y="241300"/>
                </a:lnTo>
                <a:lnTo>
                  <a:pt x="24803" y="215900"/>
                </a:lnTo>
                <a:lnTo>
                  <a:pt x="28117" y="215900"/>
                </a:lnTo>
                <a:lnTo>
                  <a:pt x="31750" y="203200"/>
                </a:lnTo>
                <a:lnTo>
                  <a:pt x="58331" y="203200"/>
                </a:lnTo>
                <a:lnTo>
                  <a:pt x="56249" y="210608"/>
                </a:lnTo>
                <a:lnTo>
                  <a:pt x="51625" y="228600"/>
                </a:lnTo>
                <a:lnTo>
                  <a:pt x="48539" y="228600"/>
                </a:lnTo>
                <a:lnTo>
                  <a:pt x="45631" y="241300"/>
                </a:lnTo>
                <a:close/>
              </a:path>
              <a:path w="5361940" h="2108200">
                <a:moveTo>
                  <a:pt x="5342585" y="241300"/>
                </a:moveTo>
                <a:lnTo>
                  <a:pt x="5315915" y="241300"/>
                </a:lnTo>
                <a:lnTo>
                  <a:pt x="5313006" y="228600"/>
                </a:lnTo>
                <a:lnTo>
                  <a:pt x="5309933" y="228600"/>
                </a:lnTo>
                <a:lnTo>
                  <a:pt x="5306669" y="215900"/>
                </a:lnTo>
                <a:lnTo>
                  <a:pt x="5303100" y="203200"/>
                </a:lnTo>
                <a:lnTo>
                  <a:pt x="5329682" y="203200"/>
                </a:lnTo>
                <a:lnTo>
                  <a:pt x="5333199" y="215900"/>
                </a:lnTo>
                <a:lnTo>
                  <a:pt x="5336527" y="215900"/>
                </a:lnTo>
                <a:lnTo>
                  <a:pt x="5339651" y="228600"/>
                </a:lnTo>
                <a:lnTo>
                  <a:pt x="5342585" y="241300"/>
                </a:lnTo>
                <a:close/>
              </a:path>
              <a:path w="5361940" h="2108200">
                <a:moveTo>
                  <a:pt x="38011" y="266700"/>
                </a:moveTo>
                <a:lnTo>
                  <a:pt x="11175" y="266700"/>
                </a:lnTo>
                <a:lnTo>
                  <a:pt x="13576" y="254000"/>
                </a:lnTo>
                <a:lnTo>
                  <a:pt x="16014" y="241300"/>
                </a:lnTo>
                <a:lnTo>
                  <a:pt x="42900" y="241300"/>
                </a:lnTo>
                <a:lnTo>
                  <a:pt x="40360" y="254000"/>
                </a:lnTo>
                <a:lnTo>
                  <a:pt x="38011" y="266700"/>
                </a:lnTo>
                <a:close/>
              </a:path>
              <a:path w="5361940" h="2108200">
                <a:moveTo>
                  <a:pt x="5350179" y="266700"/>
                </a:moveTo>
                <a:lnTo>
                  <a:pt x="5323509" y="266700"/>
                </a:lnTo>
                <a:lnTo>
                  <a:pt x="5321160" y="254000"/>
                </a:lnTo>
                <a:lnTo>
                  <a:pt x="5318633" y="241300"/>
                </a:lnTo>
                <a:lnTo>
                  <a:pt x="5345417" y="241300"/>
                </a:lnTo>
                <a:lnTo>
                  <a:pt x="5347855" y="254000"/>
                </a:lnTo>
                <a:lnTo>
                  <a:pt x="5350179" y="266700"/>
                </a:lnTo>
                <a:close/>
              </a:path>
              <a:path w="5361940" h="2108200">
                <a:moveTo>
                  <a:pt x="29159" y="304800"/>
                </a:moveTo>
                <a:lnTo>
                  <a:pt x="4000" y="304800"/>
                </a:lnTo>
                <a:lnTo>
                  <a:pt x="5473" y="292100"/>
                </a:lnTo>
                <a:lnTo>
                  <a:pt x="7162" y="279400"/>
                </a:lnTo>
                <a:lnTo>
                  <a:pt x="9131" y="266700"/>
                </a:lnTo>
                <a:lnTo>
                  <a:pt x="35852" y="266700"/>
                </a:lnTo>
                <a:lnTo>
                  <a:pt x="33883" y="279400"/>
                </a:lnTo>
                <a:lnTo>
                  <a:pt x="32105" y="292100"/>
                </a:lnTo>
                <a:lnTo>
                  <a:pt x="30530" y="292100"/>
                </a:lnTo>
                <a:lnTo>
                  <a:pt x="29159" y="304800"/>
                </a:lnTo>
                <a:close/>
              </a:path>
              <a:path w="5361940" h="2108200">
                <a:moveTo>
                  <a:pt x="5357380" y="304800"/>
                </a:moveTo>
                <a:lnTo>
                  <a:pt x="5332323" y="304800"/>
                </a:lnTo>
                <a:lnTo>
                  <a:pt x="5330951" y="292100"/>
                </a:lnTo>
                <a:lnTo>
                  <a:pt x="5329389" y="292100"/>
                </a:lnTo>
                <a:lnTo>
                  <a:pt x="5327624" y="279400"/>
                </a:lnTo>
                <a:lnTo>
                  <a:pt x="5325668" y="266700"/>
                </a:lnTo>
                <a:lnTo>
                  <a:pt x="5352300" y="266700"/>
                </a:lnTo>
                <a:lnTo>
                  <a:pt x="5354205" y="279400"/>
                </a:lnTo>
                <a:lnTo>
                  <a:pt x="5355907" y="292100"/>
                </a:lnTo>
                <a:lnTo>
                  <a:pt x="5357380" y="304800"/>
                </a:lnTo>
                <a:close/>
              </a:path>
              <a:path w="5361940" h="2108200">
                <a:moveTo>
                  <a:pt x="26263" y="330200"/>
                </a:moveTo>
                <a:lnTo>
                  <a:pt x="914" y="330200"/>
                </a:lnTo>
                <a:lnTo>
                  <a:pt x="1727" y="317500"/>
                </a:lnTo>
                <a:lnTo>
                  <a:pt x="2755" y="304800"/>
                </a:lnTo>
                <a:lnTo>
                  <a:pt x="27990" y="304800"/>
                </a:lnTo>
                <a:lnTo>
                  <a:pt x="27025" y="317500"/>
                </a:lnTo>
                <a:lnTo>
                  <a:pt x="26263" y="330200"/>
                </a:lnTo>
                <a:close/>
              </a:path>
              <a:path w="5361940" h="2108200">
                <a:moveTo>
                  <a:pt x="5360492" y="330200"/>
                </a:moveTo>
                <a:lnTo>
                  <a:pt x="5335193" y="330200"/>
                </a:lnTo>
                <a:lnTo>
                  <a:pt x="5334444" y="317500"/>
                </a:lnTo>
                <a:lnTo>
                  <a:pt x="5333492" y="304800"/>
                </a:lnTo>
                <a:lnTo>
                  <a:pt x="5358638" y="304800"/>
                </a:lnTo>
                <a:lnTo>
                  <a:pt x="5359679" y="317500"/>
                </a:lnTo>
                <a:lnTo>
                  <a:pt x="5360492" y="330200"/>
                </a:lnTo>
                <a:close/>
              </a:path>
              <a:path w="5361940" h="2108200">
                <a:moveTo>
                  <a:pt x="25704" y="1765300"/>
                </a:moveTo>
                <a:lnTo>
                  <a:pt x="355" y="1765300"/>
                </a:lnTo>
                <a:lnTo>
                  <a:pt x="0" y="1752600"/>
                </a:lnTo>
                <a:lnTo>
                  <a:pt x="0" y="342900"/>
                </a:lnTo>
                <a:lnTo>
                  <a:pt x="342" y="330200"/>
                </a:lnTo>
                <a:lnTo>
                  <a:pt x="25717" y="330200"/>
                </a:lnTo>
                <a:lnTo>
                  <a:pt x="25387" y="342900"/>
                </a:lnTo>
                <a:lnTo>
                  <a:pt x="25387" y="1752600"/>
                </a:lnTo>
                <a:lnTo>
                  <a:pt x="25704" y="1765300"/>
                </a:lnTo>
                <a:close/>
              </a:path>
              <a:path w="5361940" h="2108200">
                <a:moveTo>
                  <a:pt x="5361089" y="1765300"/>
                </a:moveTo>
                <a:lnTo>
                  <a:pt x="5335714" y="1765300"/>
                </a:lnTo>
                <a:lnTo>
                  <a:pt x="5336044" y="1752600"/>
                </a:lnTo>
                <a:lnTo>
                  <a:pt x="5336044" y="342900"/>
                </a:lnTo>
                <a:lnTo>
                  <a:pt x="5335727" y="330200"/>
                </a:lnTo>
                <a:lnTo>
                  <a:pt x="5361076" y="330200"/>
                </a:lnTo>
                <a:lnTo>
                  <a:pt x="5361432" y="342900"/>
                </a:lnTo>
                <a:lnTo>
                  <a:pt x="5361432" y="1752600"/>
                </a:lnTo>
                <a:lnTo>
                  <a:pt x="5361089" y="1765300"/>
                </a:lnTo>
                <a:close/>
              </a:path>
              <a:path w="5361940" h="2108200">
                <a:moveTo>
                  <a:pt x="35775" y="1828800"/>
                </a:moveTo>
                <a:lnTo>
                  <a:pt x="9131" y="1828800"/>
                </a:lnTo>
                <a:lnTo>
                  <a:pt x="7226" y="1816100"/>
                </a:lnTo>
                <a:lnTo>
                  <a:pt x="5537" y="1803400"/>
                </a:lnTo>
                <a:lnTo>
                  <a:pt x="4051" y="1803400"/>
                </a:lnTo>
                <a:lnTo>
                  <a:pt x="2793" y="1790700"/>
                </a:lnTo>
                <a:lnTo>
                  <a:pt x="1752" y="1778000"/>
                </a:lnTo>
                <a:lnTo>
                  <a:pt x="939" y="1765300"/>
                </a:lnTo>
                <a:lnTo>
                  <a:pt x="26238" y="1765300"/>
                </a:lnTo>
                <a:lnTo>
                  <a:pt x="26987" y="1778000"/>
                </a:lnTo>
                <a:lnTo>
                  <a:pt x="27952" y="1790700"/>
                </a:lnTo>
                <a:lnTo>
                  <a:pt x="29108" y="1790700"/>
                </a:lnTo>
                <a:lnTo>
                  <a:pt x="30479" y="1803400"/>
                </a:lnTo>
                <a:lnTo>
                  <a:pt x="32042" y="1816100"/>
                </a:lnTo>
                <a:lnTo>
                  <a:pt x="33807" y="1816100"/>
                </a:lnTo>
                <a:lnTo>
                  <a:pt x="35775" y="1828800"/>
                </a:lnTo>
                <a:close/>
              </a:path>
              <a:path w="5361940" h="2108200">
                <a:moveTo>
                  <a:pt x="5352376" y="1828800"/>
                </a:moveTo>
                <a:lnTo>
                  <a:pt x="5325579" y="1828800"/>
                </a:lnTo>
                <a:lnTo>
                  <a:pt x="5327548" y="1816100"/>
                </a:lnTo>
                <a:lnTo>
                  <a:pt x="5329326" y="1816100"/>
                </a:lnTo>
                <a:lnTo>
                  <a:pt x="5330901" y="1803400"/>
                </a:lnTo>
                <a:lnTo>
                  <a:pt x="5332272" y="1790700"/>
                </a:lnTo>
                <a:lnTo>
                  <a:pt x="5333441" y="1790700"/>
                </a:lnTo>
                <a:lnTo>
                  <a:pt x="5334406" y="1778000"/>
                </a:lnTo>
                <a:lnTo>
                  <a:pt x="5335168" y="1765300"/>
                </a:lnTo>
                <a:lnTo>
                  <a:pt x="5360517" y="1765300"/>
                </a:lnTo>
                <a:lnTo>
                  <a:pt x="5359717" y="1778000"/>
                </a:lnTo>
                <a:lnTo>
                  <a:pt x="5358676" y="1790700"/>
                </a:lnTo>
                <a:lnTo>
                  <a:pt x="5357431" y="1803400"/>
                </a:lnTo>
                <a:lnTo>
                  <a:pt x="5355958" y="1803400"/>
                </a:lnTo>
                <a:lnTo>
                  <a:pt x="5354269" y="1816100"/>
                </a:lnTo>
                <a:lnTo>
                  <a:pt x="5352376" y="1828800"/>
                </a:lnTo>
                <a:close/>
              </a:path>
              <a:path w="5361940" h="2108200">
                <a:moveTo>
                  <a:pt x="42811" y="1854200"/>
                </a:moveTo>
                <a:lnTo>
                  <a:pt x="16116" y="1854200"/>
                </a:lnTo>
                <a:lnTo>
                  <a:pt x="13576" y="1841500"/>
                </a:lnTo>
                <a:lnTo>
                  <a:pt x="11252" y="1828800"/>
                </a:lnTo>
                <a:lnTo>
                  <a:pt x="37922" y="1828800"/>
                </a:lnTo>
                <a:lnTo>
                  <a:pt x="40271" y="1841500"/>
                </a:lnTo>
                <a:lnTo>
                  <a:pt x="42811" y="1854200"/>
                </a:lnTo>
                <a:close/>
              </a:path>
              <a:path w="5361940" h="2108200">
                <a:moveTo>
                  <a:pt x="5345417" y="1854200"/>
                </a:moveTo>
                <a:lnTo>
                  <a:pt x="5318531" y="1854200"/>
                </a:lnTo>
                <a:lnTo>
                  <a:pt x="5321071" y="1841500"/>
                </a:lnTo>
                <a:lnTo>
                  <a:pt x="5323420" y="1828800"/>
                </a:lnTo>
                <a:lnTo>
                  <a:pt x="5350256" y="1828800"/>
                </a:lnTo>
                <a:lnTo>
                  <a:pt x="5347944" y="1841500"/>
                </a:lnTo>
                <a:lnTo>
                  <a:pt x="5345417" y="1854200"/>
                </a:lnTo>
                <a:close/>
              </a:path>
              <a:path w="5361940" h="2108200">
                <a:moveTo>
                  <a:pt x="54889" y="1879600"/>
                </a:moveTo>
                <a:lnTo>
                  <a:pt x="24917" y="1879600"/>
                </a:lnTo>
                <a:lnTo>
                  <a:pt x="21780" y="1866900"/>
                </a:lnTo>
                <a:lnTo>
                  <a:pt x="18846" y="1854200"/>
                </a:lnTo>
                <a:lnTo>
                  <a:pt x="45529" y="1854200"/>
                </a:lnTo>
                <a:lnTo>
                  <a:pt x="48425" y="1866900"/>
                </a:lnTo>
                <a:lnTo>
                  <a:pt x="51511" y="1866900"/>
                </a:lnTo>
                <a:lnTo>
                  <a:pt x="54889" y="1879600"/>
                </a:lnTo>
                <a:close/>
              </a:path>
              <a:path w="5361940" h="2108200">
                <a:moveTo>
                  <a:pt x="5329809" y="1892300"/>
                </a:moveTo>
                <a:lnTo>
                  <a:pt x="5303100" y="1892300"/>
                </a:lnTo>
                <a:lnTo>
                  <a:pt x="5306542" y="1879600"/>
                </a:lnTo>
                <a:lnTo>
                  <a:pt x="5309806" y="1866900"/>
                </a:lnTo>
                <a:lnTo>
                  <a:pt x="5312892" y="1866900"/>
                </a:lnTo>
                <a:lnTo>
                  <a:pt x="5315800" y="1854200"/>
                </a:lnTo>
                <a:lnTo>
                  <a:pt x="5342686" y="1854200"/>
                </a:lnTo>
                <a:lnTo>
                  <a:pt x="5339765" y="1866900"/>
                </a:lnTo>
                <a:lnTo>
                  <a:pt x="5336641" y="1879600"/>
                </a:lnTo>
                <a:lnTo>
                  <a:pt x="5333326" y="1879600"/>
                </a:lnTo>
                <a:lnTo>
                  <a:pt x="5329809" y="1892300"/>
                </a:lnTo>
                <a:close/>
              </a:path>
              <a:path w="5361940" h="2108200">
                <a:moveTo>
                  <a:pt x="58204" y="1892300"/>
                </a:moveTo>
                <a:lnTo>
                  <a:pt x="31622" y="1892300"/>
                </a:lnTo>
                <a:lnTo>
                  <a:pt x="28232" y="1879600"/>
                </a:lnTo>
                <a:lnTo>
                  <a:pt x="54762" y="1879600"/>
                </a:lnTo>
                <a:lnTo>
                  <a:pt x="58204" y="1892300"/>
                </a:lnTo>
                <a:close/>
              </a:path>
              <a:path w="5361940" h="2108200">
                <a:moveTo>
                  <a:pt x="73787" y="1917700"/>
                </a:moveTo>
                <a:lnTo>
                  <a:pt x="43256" y="1917700"/>
                </a:lnTo>
                <a:lnTo>
                  <a:pt x="39204" y="1905000"/>
                </a:lnTo>
                <a:lnTo>
                  <a:pt x="35318" y="1892300"/>
                </a:lnTo>
                <a:lnTo>
                  <a:pt x="61798" y="1892300"/>
                </a:lnTo>
                <a:lnTo>
                  <a:pt x="65722" y="1905000"/>
                </a:lnTo>
                <a:lnTo>
                  <a:pt x="69519" y="1905000"/>
                </a:lnTo>
                <a:lnTo>
                  <a:pt x="73787" y="1917700"/>
                </a:lnTo>
                <a:close/>
              </a:path>
              <a:path w="5361940" h="2108200">
                <a:moveTo>
                  <a:pt x="5318023" y="1917700"/>
                </a:moveTo>
                <a:lnTo>
                  <a:pt x="5287645" y="1917700"/>
                </a:lnTo>
                <a:lnTo>
                  <a:pt x="5291912" y="1905000"/>
                </a:lnTo>
                <a:lnTo>
                  <a:pt x="5295709" y="1905000"/>
                </a:lnTo>
                <a:lnTo>
                  <a:pt x="5299633" y="1892300"/>
                </a:lnTo>
                <a:lnTo>
                  <a:pt x="5326113" y="1892300"/>
                </a:lnTo>
                <a:lnTo>
                  <a:pt x="5322100" y="1905000"/>
                </a:lnTo>
                <a:lnTo>
                  <a:pt x="5318023" y="1917700"/>
                </a:lnTo>
                <a:close/>
              </a:path>
              <a:path w="5361940" h="2108200">
                <a:moveTo>
                  <a:pt x="82499" y="1930400"/>
                </a:moveTo>
                <a:lnTo>
                  <a:pt x="51917" y="1930400"/>
                </a:lnTo>
                <a:lnTo>
                  <a:pt x="47510" y="1917700"/>
                </a:lnTo>
                <a:lnTo>
                  <a:pt x="77901" y="1917700"/>
                </a:lnTo>
                <a:lnTo>
                  <a:pt x="82499" y="1930400"/>
                </a:lnTo>
                <a:close/>
              </a:path>
              <a:path w="5361940" h="2108200">
                <a:moveTo>
                  <a:pt x="5309349" y="1930400"/>
                </a:moveTo>
                <a:lnTo>
                  <a:pt x="5278932" y="1930400"/>
                </a:lnTo>
                <a:lnTo>
                  <a:pt x="5283542" y="1917700"/>
                </a:lnTo>
                <a:lnTo>
                  <a:pt x="5313781" y="1917700"/>
                </a:lnTo>
                <a:lnTo>
                  <a:pt x="5309349" y="1930400"/>
                </a:lnTo>
                <a:close/>
              </a:path>
              <a:path w="5361940" h="2108200">
                <a:moveTo>
                  <a:pt x="101765" y="1955800"/>
                </a:moveTo>
                <a:lnTo>
                  <a:pt x="66382" y="1955800"/>
                </a:lnTo>
                <a:lnTo>
                  <a:pt x="61277" y="1943100"/>
                </a:lnTo>
                <a:lnTo>
                  <a:pt x="56514" y="1930400"/>
                </a:lnTo>
                <a:lnTo>
                  <a:pt x="86906" y="1930400"/>
                </a:lnTo>
                <a:lnTo>
                  <a:pt x="91833" y="1943100"/>
                </a:lnTo>
                <a:lnTo>
                  <a:pt x="96545" y="1943100"/>
                </a:lnTo>
                <a:lnTo>
                  <a:pt x="101765" y="1955800"/>
                </a:lnTo>
                <a:close/>
              </a:path>
              <a:path w="5361940" h="2108200">
                <a:moveTo>
                  <a:pt x="5295049" y="1955800"/>
                </a:moveTo>
                <a:lnTo>
                  <a:pt x="5259666" y="1955800"/>
                </a:lnTo>
                <a:lnTo>
                  <a:pt x="5264899" y="1943100"/>
                </a:lnTo>
                <a:lnTo>
                  <a:pt x="5269598" y="1943100"/>
                </a:lnTo>
                <a:lnTo>
                  <a:pt x="5274525" y="1930400"/>
                </a:lnTo>
                <a:lnTo>
                  <a:pt x="5304751" y="1930400"/>
                </a:lnTo>
                <a:lnTo>
                  <a:pt x="5299989" y="1943100"/>
                </a:lnTo>
                <a:lnTo>
                  <a:pt x="5295049" y="1955800"/>
                </a:lnTo>
                <a:close/>
              </a:path>
              <a:path w="5361940" h="2108200">
                <a:moveTo>
                  <a:pt x="112293" y="1968500"/>
                </a:moveTo>
                <a:lnTo>
                  <a:pt x="76568" y="1968500"/>
                </a:lnTo>
                <a:lnTo>
                  <a:pt x="71310" y="1955800"/>
                </a:lnTo>
                <a:lnTo>
                  <a:pt x="106756" y="1955800"/>
                </a:lnTo>
                <a:lnTo>
                  <a:pt x="112293" y="1968500"/>
                </a:lnTo>
                <a:close/>
              </a:path>
              <a:path w="5361940" h="2108200">
                <a:moveTo>
                  <a:pt x="5284673" y="1968500"/>
                </a:moveTo>
                <a:lnTo>
                  <a:pt x="5249138" y="1968500"/>
                </a:lnTo>
                <a:lnTo>
                  <a:pt x="5254675" y="1955800"/>
                </a:lnTo>
                <a:lnTo>
                  <a:pt x="5289943" y="1955800"/>
                </a:lnTo>
                <a:lnTo>
                  <a:pt x="5284673" y="1968500"/>
                </a:lnTo>
                <a:close/>
              </a:path>
              <a:path w="5361940" h="2108200">
                <a:moveTo>
                  <a:pt x="123380" y="1981200"/>
                </a:moveTo>
                <a:lnTo>
                  <a:pt x="87566" y="1981200"/>
                </a:lnTo>
                <a:lnTo>
                  <a:pt x="81991" y="1968500"/>
                </a:lnTo>
                <a:lnTo>
                  <a:pt x="117563" y="1968500"/>
                </a:lnTo>
                <a:lnTo>
                  <a:pt x="123380" y="1981200"/>
                </a:lnTo>
                <a:close/>
              </a:path>
              <a:path w="5361940" h="2108200">
                <a:moveTo>
                  <a:pt x="5273674" y="1981200"/>
                </a:moveTo>
                <a:lnTo>
                  <a:pt x="5238051" y="1981200"/>
                </a:lnTo>
                <a:lnTo>
                  <a:pt x="5243880" y="1968500"/>
                </a:lnTo>
                <a:lnTo>
                  <a:pt x="5279250" y="1968500"/>
                </a:lnTo>
                <a:lnTo>
                  <a:pt x="5273674" y="1981200"/>
                </a:lnTo>
                <a:close/>
              </a:path>
              <a:path w="5361940" h="2108200">
                <a:moveTo>
                  <a:pt x="135000" y="1993900"/>
                </a:moveTo>
                <a:lnTo>
                  <a:pt x="99174" y="1993900"/>
                </a:lnTo>
                <a:lnTo>
                  <a:pt x="93294" y="1981200"/>
                </a:lnTo>
                <a:lnTo>
                  <a:pt x="128904" y="1981200"/>
                </a:lnTo>
                <a:lnTo>
                  <a:pt x="135000" y="1993900"/>
                </a:lnTo>
                <a:close/>
              </a:path>
              <a:path w="5361940" h="2108200">
                <a:moveTo>
                  <a:pt x="5262054" y="1993900"/>
                </a:moveTo>
                <a:lnTo>
                  <a:pt x="5226431" y="1993900"/>
                </a:lnTo>
                <a:lnTo>
                  <a:pt x="5232526" y="1981200"/>
                </a:lnTo>
                <a:lnTo>
                  <a:pt x="5267934" y="1981200"/>
                </a:lnTo>
                <a:lnTo>
                  <a:pt x="5262054" y="1993900"/>
                </a:lnTo>
                <a:close/>
              </a:path>
              <a:path w="5361940" h="2108200">
                <a:moveTo>
                  <a:pt x="147154" y="2006600"/>
                </a:moveTo>
                <a:lnTo>
                  <a:pt x="111378" y="2006600"/>
                </a:lnTo>
                <a:lnTo>
                  <a:pt x="105206" y="1993900"/>
                </a:lnTo>
                <a:lnTo>
                  <a:pt x="140792" y="1993900"/>
                </a:lnTo>
                <a:lnTo>
                  <a:pt x="147154" y="2006600"/>
                </a:lnTo>
                <a:close/>
              </a:path>
              <a:path w="5361940" h="2108200">
                <a:moveTo>
                  <a:pt x="5249837" y="2006600"/>
                </a:moveTo>
                <a:lnTo>
                  <a:pt x="5214277" y="2006600"/>
                </a:lnTo>
                <a:lnTo>
                  <a:pt x="5220652" y="1993900"/>
                </a:lnTo>
                <a:lnTo>
                  <a:pt x="5256009" y="1993900"/>
                </a:lnTo>
                <a:lnTo>
                  <a:pt x="5249837" y="2006600"/>
                </a:lnTo>
                <a:close/>
              </a:path>
              <a:path w="5361940" h="2108200">
                <a:moveTo>
                  <a:pt x="166306" y="2019300"/>
                </a:moveTo>
                <a:lnTo>
                  <a:pt x="124155" y="2019300"/>
                </a:lnTo>
                <a:lnTo>
                  <a:pt x="117703" y="2006600"/>
                </a:lnTo>
                <a:lnTo>
                  <a:pt x="159550" y="2006600"/>
                </a:lnTo>
                <a:lnTo>
                  <a:pt x="166306" y="2019300"/>
                </a:lnTo>
                <a:close/>
              </a:path>
              <a:path w="5361940" h="2108200">
                <a:moveTo>
                  <a:pt x="5237048" y="2019300"/>
                </a:moveTo>
                <a:lnTo>
                  <a:pt x="5195138" y="2019300"/>
                </a:lnTo>
                <a:lnTo>
                  <a:pt x="5201881" y="2006600"/>
                </a:lnTo>
                <a:lnTo>
                  <a:pt x="5243512" y="2006600"/>
                </a:lnTo>
                <a:lnTo>
                  <a:pt x="5237048" y="2019300"/>
                </a:lnTo>
                <a:close/>
              </a:path>
              <a:path w="5361940" h="2108200">
                <a:moveTo>
                  <a:pt x="186499" y="2032000"/>
                </a:moveTo>
                <a:lnTo>
                  <a:pt x="144348" y="2032000"/>
                </a:lnTo>
                <a:lnTo>
                  <a:pt x="137477" y="2019300"/>
                </a:lnTo>
                <a:lnTo>
                  <a:pt x="179400" y="2019300"/>
                </a:lnTo>
                <a:lnTo>
                  <a:pt x="186499" y="2032000"/>
                </a:lnTo>
                <a:close/>
              </a:path>
              <a:path w="5361940" h="2108200">
                <a:moveTo>
                  <a:pt x="5223713" y="2032000"/>
                </a:moveTo>
                <a:lnTo>
                  <a:pt x="5174932" y="2032000"/>
                </a:lnTo>
                <a:lnTo>
                  <a:pt x="5182031" y="2019300"/>
                </a:lnTo>
                <a:lnTo>
                  <a:pt x="5230444" y="2019300"/>
                </a:lnTo>
                <a:lnTo>
                  <a:pt x="5223713" y="2032000"/>
                </a:lnTo>
                <a:close/>
              </a:path>
              <a:path w="5361940" h="2108200">
                <a:moveTo>
                  <a:pt x="207683" y="2044700"/>
                </a:moveTo>
                <a:lnTo>
                  <a:pt x="158699" y="2044700"/>
                </a:lnTo>
                <a:lnTo>
                  <a:pt x="151333" y="2032000"/>
                </a:lnTo>
                <a:lnTo>
                  <a:pt x="200240" y="2032000"/>
                </a:lnTo>
                <a:lnTo>
                  <a:pt x="207683" y="2044700"/>
                </a:lnTo>
                <a:close/>
              </a:path>
              <a:path w="5361940" h="2108200">
                <a:moveTo>
                  <a:pt x="5202732" y="2044700"/>
                </a:moveTo>
                <a:lnTo>
                  <a:pt x="5153748" y="2044700"/>
                </a:lnTo>
                <a:lnTo>
                  <a:pt x="5161191" y="2032000"/>
                </a:lnTo>
                <a:lnTo>
                  <a:pt x="5209857" y="2032000"/>
                </a:lnTo>
                <a:lnTo>
                  <a:pt x="5202732" y="2044700"/>
                </a:lnTo>
                <a:close/>
              </a:path>
              <a:path w="5361940" h="2108200">
                <a:moveTo>
                  <a:pt x="237312" y="2057400"/>
                </a:moveTo>
                <a:lnTo>
                  <a:pt x="180530" y="2057400"/>
                </a:lnTo>
                <a:lnTo>
                  <a:pt x="173050" y="2044700"/>
                </a:lnTo>
                <a:lnTo>
                  <a:pt x="229476" y="2044700"/>
                </a:lnTo>
                <a:lnTo>
                  <a:pt x="237312" y="2057400"/>
                </a:lnTo>
                <a:close/>
              </a:path>
              <a:path w="5361940" h="2108200">
                <a:moveTo>
                  <a:pt x="5180634" y="2057400"/>
                </a:moveTo>
                <a:lnTo>
                  <a:pt x="5124119" y="2057400"/>
                </a:lnTo>
                <a:lnTo>
                  <a:pt x="5131955" y="2044700"/>
                </a:lnTo>
                <a:lnTo>
                  <a:pt x="5188115" y="2044700"/>
                </a:lnTo>
                <a:lnTo>
                  <a:pt x="5180634" y="2057400"/>
                </a:lnTo>
                <a:close/>
              </a:path>
              <a:path w="5361940" h="2108200">
                <a:moveTo>
                  <a:pt x="268401" y="2070100"/>
                </a:moveTo>
                <a:lnTo>
                  <a:pt x="203923" y="2070100"/>
                </a:lnTo>
                <a:lnTo>
                  <a:pt x="195821" y="2057400"/>
                </a:lnTo>
                <a:lnTo>
                  <a:pt x="260197" y="2057400"/>
                </a:lnTo>
                <a:lnTo>
                  <a:pt x="268401" y="2070100"/>
                </a:lnTo>
                <a:close/>
              </a:path>
              <a:path w="5361940" h="2108200">
                <a:moveTo>
                  <a:pt x="5157800" y="2070100"/>
                </a:moveTo>
                <a:lnTo>
                  <a:pt x="5093030" y="2070100"/>
                </a:lnTo>
                <a:lnTo>
                  <a:pt x="5101234" y="2057400"/>
                </a:lnTo>
                <a:lnTo>
                  <a:pt x="5165331" y="2057400"/>
                </a:lnTo>
                <a:lnTo>
                  <a:pt x="5157800" y="2070100"/>
                </a:lnTo>
                <a:close/>
              </a:path>
              <a:path w="5361940" h="2108200">
                <a:moveTo>
                  <a:pt x="342785" y="2082800"/>
                </a:moveTo>
                <a:lnTo>
                  <a:pt x="228003" y="2082800"/>
                </a:lnTo>
                <a:lnTo>
                  <a:pt x="219875" y="2070100"/>
                </a:lnTo>
                <a:lnTo>
                  <a:pt x="333933" y="2070100"/>
                </a:lnTo>
                <a:lnTo>
                  <a:pt x="342785" y="2082800"/>
                </a:lnTo>
                <a:close/>
              </a:path>
              <a:path w="5361940" h="2108200">
                <a:moveTo>
                  <a:pt x="5133720" y="2082800"/>
                </a:moveTo>
                <a:lnTo>
                  <a:pt x="5018659" y="2082800"/>
                </a:lnTo>
                <a:lnTo>
                  <a:pt x="5027498" y="2070100"/>
                </a:lnTo>
                <a:lnTo>
                  <a:pt x="5141848" y="2070100"/>
                </a:lnTo>
                <a:lnTo>
                  <a:pt x="5133720" y="2082800"/>
                </a:lnTo>
                <a:close/>
              </a:path>
              <a:path w="5361940" h="2108200">
                <a:moveTo>
                  <a:pt x="5091696" y="2095500"/>
                </a:moveTo>
                <a:lnTo>
                  <a:pt x="270052" y="2095500"/>
                </a:lnTo>
                <a:lnTo>
                  <a:pt x="261467" y="2082800"/>
                </a:lnTo>
                <a:lnTo>
                  <a:pt x="5100281" y="2082800"/>
                </a:lnTo>
                <a:lnTo>
                  <a:pt x="5091696" y="2095500"/>
                </a:lnTo>
                <a:close/>
              </a:path>
              <a:path w="5361940" h="2108200">
                <a:moveTo>
                  <a:pt x="5020259" y="2108200"/>
                </a:moveTo>
                <a:lnTo>
                  <a:pt x="341490" y="2108200"/>
                </a:lnTo>
                <a:lnTo>
                  <a:pt x="332320" y="2095500"/>
                </a:lnTo>
                <a:lnTo>
                  <a:pt x="5029428" y="2095500"/>
                </a:lnTo>
                <a:lnTo>
                  <a:pt x="5020259" y="2108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162439" y="1869452"/>
            <a:ext cx="123189" cy="20320"/>
          </a:xfrm>
          <a:custGeom>
            <a:avLst/>
            <a:gdLst/>
            <a:ahLst/>
            <a:cxnLst/>
            <a:rect l="l" t="t" r="r" b="b"/>
            <a:pathLst>
              <a:path w="123189" h="20319">
                <a:moveTo>
                  <a:pt x="123190" y="20002"/>
                </a:moveTo>
                <a:lnTo>
                  <a:pt x="0" y="20002"/>
                </a:lnTo>
                <a:lnTo>
                  <a:pt x="0" y="0"/>
                </a:lnTo>
                <a:lnTo>
                  <a:pt x="123190" y="0"/>
                </a:lnTo>
                <a:lnTo>
                  <a:pt x="123190" y="200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149739" y="1885226"/>
            <a:ext cx="148590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50" dirty="0">
                <a:latin typeface="Cambria Math" panose="02040503050406030204"/>
                <a:cs typeface="Cambria Math" panose="02040503050406030204"/>
              </a:rPr>
              <a:t>2</a:t>
            </a:r>
            <a:endParaRPr sz="17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39629" y="1844586"/>
            <a:ext cx="384810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25" dirty="0">
                <a:latin typeface="Cambria Math" panose="02040503050406030204"/>
                <a:cs typeface="Cambria Math" panose="02040503050406030204"/>
              </a:rPr>
              <a:t>𝑖=1</a:t>
            </a:r>
            <a:endParaRPr sz="17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8304" y="1649005"/>
            <a:ext cx="32188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80" dirty="0">
                <a:latin typeface="Cambria Math" panose="02040503050406030204"/>
                <a:cs typeface="Cambria Math" panose="02040503050406030204"/>
              </a:rPr>
              <a:t>L1</a:t>
            </a:r>
            <a:r>
              <a:rPr sz="2400" b="1" dirty="0">
                <a:latin typeface="微软雅黑" panose="020B0503020204020204" charset="-122"/>
                <a:cs typeface="微软雅黑" panose="020B0503020204020204" charset="-122"/>
              </a:rPr>
              <a:t>正则化</a:t>
            </a: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：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𝐽(𝑤</a:t>
            </a:r>
            <a:r>
              <a:rPr sz="2400" spc="55" dirty="0">
                <a:latin typeface="Cambria Math" panose="02040503050406030204"/>
                <a:cs typeface="Cambria Math" panose="02040503050406030204"/>
              </a:rPr>
              <a:t>) = </a:t>
            </a:r>
            <a:r>
              <a:rPr sz="2625" baseline="44000" dirty="0">
                <a:latin typeface="Cambria Math" panose="02040503050406030204"/>
                <a:cs typeface="Cambria Math" panose="02040503050406030204"/>
              </a:rPr>
              <a:t>1 </a:t>
            </a:r>
            <a:r>
              <a:rPr sz="2400" spc="-25" dirty="0">
                <a:latin typeface="Cambria Math" panose="02040503050406030204"/>
                <a:cs typeface="Cambria Math" panose="02040503050406030204"/>
              </a:rPr>
              <a:t>∑</a:t>
            </a:r>
            <a:r>
              <a:rPr sz="2625" spc="-37" baseline="37000" dirty="0">
                <a:latin typeface="Cambria Math" panose="02040503050406030204"/>
                <a:cs typeface="Cambria Math" panose="02040503050406030204"/>
              </a:rPr>
              <a:t>𝑚</a:t>
            </a:r>
            <a:endParaRPr sz="2625" baseline="3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51789" y="1844586"/>
            <a:ext cx="394335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25" dirty="0">
                <a:latin typeface="Cambria Math" panose="02040503050406030204"/>
                <a:cs typeface="Cambria Math" panose="02040503050406030204"/>
              </a:rPr>
              <a:t>j=1</a:t>
            </a:r>
            <a:endParaRPr sz="17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24439" y="1649005"/>
            <a:ext cx="31057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2400" spc="-1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ℎ(𝑥</a:t>
            </a:r>
            <a:r>
              <a:rPr sz="2625" baseline="27000" dirty="0">
                <a:latin typeface="Cambria Math" panose="02040503050406030204"/>
                <a:cs typeface="Cambria Math" panose="02040503050406030204"/>
              </a:rPr>
              <a:t>(𝑖)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2400" spc="5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400" spc="5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𝑦</a:t>
            </a:r>
            <a:r>
              <a:rPr sz="2625" baseline="27000" dirty="0">
                <a:latin typeface="Cambria Math" panose="02040503050406030204"/>
                <a:cs typeface="Cambria Math" panose="02040503050406030204"/>
              </a:rPr>
              <a:t>(𝑖)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2625" baseline="2700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2625" spc="457" baseline="27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+</a:t>
            </a:r>
            <a:r>
              <a:rPr sz="2400" spc="5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𝜆</a:t>
            </a:r>
            <a:r>
              <a:rPr sz="2400" spc="-1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25" dirty="0">
                <a:latin typeface="Cambria Math" panose="02040503050406030204"/>
                <a:cs typeface="Cambria Math" panose="02040503050406030204"/>
              </a:rPr>
              <a:t>∑</a:t>
            </a:r>
            <a:r>
              <a:rPr sz="2625" spc="-37" baseline="37000" dirty="0">
                <a:latin typeface="Cambria Math" panose="02040503050406030204"/>
                <a:cs typeface="Cambria Math" panose="02040503050406030204"/>
              </a:rPr>
              <a:t>𝑛</a:t>
            </a:r>
            <a:endParaRPr sz="2625" baseline="3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246124" y="1649005"/>
            <a:ext cx="47879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mbria Math" panose="02040503050406030204"/>
                <a:cs typeface="Cambria Math" panose="02040503050406030204"/>
              </a:rPr>
              <a:t>|</a:t>
            </a:r>
            <a:r>
              <a:rPr sz="2400" spc="-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𝑤</a:t>
            </a:r>
            <a:r>
              <a:rPr sz="2625" baseline="-16000" dirty="0">
                <a:latin typeface="Cambria Math" panose="02040503050406030204"/>
                <a:cs typeface="Cambria Math" panose="02040503050406030204"/>
              </a:rPr>
              <a:t>j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|</a:t>
            </a: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，</a:t>
            </a:r>
            <a:r>
              <a:rPr sz="2000" dirty="0">
                <a:latin typeface="微软雅黑" panose="020B0503020204020204" charset="-122"/>
                <a:cs typeface="微软雅黑" panose="020B0503020204020204" charset="-122"/>
              </a:rPr>
              <a:t>Lasso</a:t>
            </a:r>
            <a:r>
              <a:rPr sz="2000" spc="114" dirty="0"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spc="-10" dirty="0">
                <a:latin typeface="微软雅黑" panose="020B0503020204020204" charset="-122"/>
                <a:cs typeface="微软雅黑" panose="020B0503020204020204" charset="-122"/>
              </a:rPr>
              <a:t>Regression（</a:t>
            </a:r>
            <a:r>
              <a:rPr sz="2000" spc="120" dirty="0"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spc="-10" dirty="0">
                <a:latin typeface="微软雅黑" panose="020B0503020204020204" charset="-122"/>
                <a:cs typeface="微软雅黑" panose="020B0503020204020204" charset="-122"/>
              </a:rPr>
              <a:t>Lasso回归</a:t>
            </a:r>
            <a:r>
              <a:rPr sz="2000" spc="-50" dirty="0">
                <a:latin typeface="微软雅黑" panose="020B0503020204020204" charset="-122"/>
                <a:cs typeface="微软雅黑" panose="020B0503020204020204" charset="-122"/>
              </a:rPr>
              <a:t>）</a:t>
            </a:r>
            <a:endParaRPr sz="20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163074" y="2890532"/>
            <a:ext cx="123189" cy="20320"/>
          </a:xfrm>
          <a:custGeom>
            <a:avLst/>
            <a:gdLst/>
            <a:ahLst/>
            <a:cxnLst/>
            <a:rect l="l" t="t" r="r" b="b"/>
            <a:pathLst>
              <a:path w="123189" h="20319">
                <a:moveTo>
                  <a:pt x="123190" y="20002"/>
                </a:moveTo>
                <a:lnTo>
                  <a:pt x="0" y="20002"/>
                </a:lnTo>
                <a:lnTo>
                  <a:pt x="0" y="0"/>
                </a:lnTo>
                <a:lnTo>
                  <a:pt x="123190" y="0"/>
                </a:lnTo>
                <a:lnTo>
                  <a:pt x="123190" y="200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3150374" y="2906305"/>
            <a:ext cx="148590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50" dirty="0">
                <a:latin typeface="Cambria Math" panose="02040503050406030204"/>
                <a:cs typeface="Cambria Math" panose="02040503050406030204"/>
              </a:rPr>
              <a:t>2</a:t>
            </a:r>
            <a:endParaRPr sz="17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540264" y="2865666"/>
            <a:ext cx="384810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25" dirty="0">
                <a:latin typeface="Cambria Math" panose="02040503050406030204"/>
                <a:cs typeface="Cambria Math" panose="02040503050406030204"/>
              </a:rPr>
              <a:t>𝑖=1</a:t>
            </a:r>
            <a:endParaRPr sz="17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58304" y="2670086"/>
            <a:ext cx="32194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微软雅黑" panose="020B0503020204020204" charset="-122"/>
                <a:cs typeface="微软雅黑" panose="020B0503020204020204" charset="-122"/>
              </a:rPr>
              <a:t>L2</a:t>
            </a:r>
            <a:r>
              <a:rPr sz="2400" b="1" dirty="0">
                <a:latin typeface="微软雅黑" panose="020B0503020204020204" charset="-122"/>
                <a:cs typeface="微软雅黑" panose="020B0503020204020204" charset="-122"/>
              </a:rPr>
              <a:t>正则化</a:t>
            </a: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：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𝐽(𝑤</a:t>
            </a:r>
            <a:r>
              <a:rPr sz="2400" spc="55" dirty="0">
                <a:latin typeface="Cambria Math" panose="02040503050406030204"/>
                <a:cs typeface="Cambria Math" panose="02040503050406030204"/>
              </a:rPr>
              <a:t>) = </a:t>
            </a:r>
            <a:r>
              <a:rPr sz="2625" baseline="44000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2625" spc="7" baseline="44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25" dirty="0">
                <a:latin typeface="Cambria Math" panose="02040503050406030204"/>
                <a:cs typeface="Cambria Math" panose="02040503050406030204"/>
              </a:rPr>
              <a:t>∑</a:t>
            </a:r>
            <a:r>
              <a:rPr sz="2625" spc="-37" baseline="37000" dirty="0">
                <a:latin typeface="Cambria Math" panose="02040503050406030204"/>
                <a:cs typeface="Cambria Math" panose="02040503050406030204"/>
              </a:rPr>
              <a:t>𝑚</a:t>
            </a:r>
            <a:endParaRPr sz="2625" baseline="3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852424" y="2865666"/>
            <a:ext cx="394335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25" dirty="0">
                <a:latin typeface="Cambria Math" panose="02040503050406030204"/>
                <a:cs typeface="Cambria Math" panose="02040503050406030204"/>
              </a:rPr>
              <a:t>j=1</a:t>
            </a:r>
            <a:endParaRPr sz="17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925074" y="2670086"/>
            <a:ext cx="31057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2400" spc="-1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ℎ(𝑥</a:t>
            </a:r>
            <a:r>
              <a:rPr sz="2625" baseline="27000" dirty="0">
                <a:latin typeface="Cambria Math" panose="02040503050406030204"/>
                <a:cs typeface="Cambria Math" panose="02040503050406030204"/>
              </a:rPr>
              <a:t>(𝑖)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2400" spc="5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400" spc="5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𝑦</a:t>
            </a:r>
            <a:r>
              <a:rPr sz="2625" baseline="27000" dirty="0">
                <a:latin typeface="Cambria Math" panose="02040503050406030204"/>
                <a:cs typeface="Cambria Math" panose="02040503050406030204"/>
              </a:rPr>
              <a:t>(𝑖)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2625" baseline="2700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2625" spc="457" baseline="27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+</a:t>
            </a:r>
            <a:r>
              <a:rPr sz="2400" spc="5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𝜆</a:t>
            </a:r>
            <a:r>
              <a:rPr sz="2400" spc="-1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25" dirty="0">
                <a:latin typeface="Cambria Math" panose="02040503050406030204"/>
                <a:cs typeface="Cambria Math" panose="02040503050406030204"/>
              </a:rPr>
              <a:t>∑</a:t>
            </a:r>
            <a:r>
              <a:rPr sz="2625" spc="-37" baseline="37000" dirty="0">
                <a:latin typeface="Cambria Math" panose="02040503050406030204"/>
                <a:cs typeface="Cambria Math" panose="02040503050406030204"/>
              </a:rPr>
              <a:t>𝑛</a:t>
            </a:r>
            <a:endParaRPr sz="2625" baseline="3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497584" y="2826930"/>
            <a:ext cx="130175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305" dirty="0">
                <a:latin typeface="Cambria Math" panose="02040503050406030204"/>
                <a:cs typeface="Cambria Math" panose="02040503050406030204"/>
              </a:rPr>
              <a:t>j</a:t>
            </a:r>
            <a:endParaRPr sz="17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246759" y="2670086"/>
            <a:ext cx="42665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 panose="02040503050406030204"/>
                <a:cs typeface="Cambria Math" panose="02040503050406030204"/>
              </a:rPr>
              <a:t>𝑤</a:t>
            </a:r>
            <a:r>
              <a:rPr sz="2625" baseline="3200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，</a:t>
            </a:r>
            <a:r>
              <a:rPr sz="2000" dirty="0">
                <a:latin typeface="微软雅黑" panose="020B0503020204020204" charset="-122"/>
                <a:cs typeface="微软雅黑" panose="020B0503020204020204" charset="-122"/>
              </a:rPr>
              <a:t>Ridge </a:t>
            </a:r>
            <a:r>
              <a:rPr sz="2000" spc="-10" dirty="0">
                <a:latin typeface="微软雅黑" panose="020B0503020204020204" charset="-122"/>
                <a:cs typeface="微软雅黑" panose="020B0503020204020204" charset="-122"/>
              </a:rPr>
              <a:t>Regression</a:t>
            </a:r>
            <a:r>
              <a:rPr sz="2000" dirty="0">
                <a:latin typeface="微软雅黑" panose="020B0503020204020204" charset="-122"/>
                <a:cs typeface="微软雅黑" panose="020B0503020204020204" charset="-122"/>
              </a:rPr>
              <a:t> （</a:t>
            </a:r>
            <a:r>
              <a:rPr sz="2000" spc="-10" dirty="0">
                <a:latin typeface="微软雅黑" panose="020B0503020204020204" charset="-122"/>
                <a:cs typeface="微软雅黑" panose="020B0503020204020204" charset="-122"/>
              </a:rPr>
              <a:t> 岭回归</a:t>
            </a:r>
            <a:r>
              <a:rPr sz="2000" spc="-50" dirty="0">
                <a:latin typeface="微软雅黑" panose="020B0503020204020204" charset="-122"/>
                <a:cs typeface="微软雅黑" panose="020B0503020204020204" charset="-122"/>
              </a:rPr>
              <a:t>）</a:t>
            </a:r>
            <a:endParaRPr sz="20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511054" y="3911612"/>
            <a:ext cx="123189" cy="20320"/>
          </a:xfrm>
          <a:custGeom>
            <a:avLst/>
            <a:gdLst/>
            <a:ahLst/>
            <a:cxnLst/>
            <a:rect l="l" t="t" r="r" b="b"/>
            <a:pathLst>
              <a:path w="123189" h="20320">
                <a:moveTo>
                  <a:pt x="123189" y="20002"/>
                </a:moveTo>
                <a:lnTo>
                  <a:pt x="0" y="20002"/>
                </a:lnTo>
                <a:lnTo>
                  <a:pt x="0" y="0"/>
                </a:lnTo>
                <a:lnTo>
                  <a:pt x="123189" y="0"/>
                </a:lnTo>
                <a:lnTo>
                  <a:pt x="123189" y="200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3498354" y="3927385"/>
            <a:ext cx="148590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50" dirty="0">
                <a:latin typeface="Cambria Math" panose="02040503050406030204"/>
                <a:cs typeface="Cambria Math" panose="02040503050406030204"/>
              </a:rPr>
              <a:t>2</a:t>
            </a:r>
            <a:endParaRPr sz="17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888244" y="3886746"/>
            <a:ext cx="384810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25" dirty="0">
                <a:latin typeface="Cambria Math" panose="02040503050406030204"/>
                <a:cs typeface="Cambria Math" panose="02040503050406030204"/>
              </a:rPr>
              <a:t>𝑖=1</a:t>
            </a:r>
            <a:endParaRPr sz="17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58304" y="3691166"/>
            <a:ext cx="356742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微软雅黑" panose="020B0503020204020204" charset="-122"/>
                <a:cs typeface="微软雅黑" panose="020B0503020204020204" charset="-122"/>
              </a:rPr>
              <a:t>Elastic</a:t>
            </a:r>
            <a:r>
              <a:rPr sz="2400" b="1" spc="-60" dirty="0"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b="1" dirty="0">
                <a:latin typeface="微软雅黑" panose="020B0503020204020204" charset="-122"/>
                <a:cs typeface="微软雅黑" panose="020B0503020204020204" charset="-122"/>
              </a:rPr>
              <a:t>Net</a:t>
            </a: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：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𝐽(𝑤)</a:t>
            </a:r>
            <a:r>
              <a:rPr sz="2400" spc="8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2400" spc="9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625" baseline="44000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2625" spc="-30" baseline="44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25" dirty="0">
                <a:latin typeface="Cambria Math" panose="02040503050406030204"/>
                <a:cs typeface="Cambria Math" panose="02040503050406030204"/>
              </a:rPr>
              <a:t>∑</a:t>
            </a:r>
            <a:r>
              <a:rPr sz="2625" spc="-37" baseline="37000" dirty="0">
                <a:latin typeface="Cambria Math" panose="02040503050406030204"/>
                <a:cs typeface="Cambria Math" panose="02040503050406030204"/>
              </a:rPr>
              <a:t>𝑚</a:t>
            </a:r>
            <a:endParaRPr sz="2625" baseline="3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655699" y="3886746"/>
            <a:ext cx="394335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25" dirty="0">
                <a:latin typeface="Cambria Math" panose="02040503050406030204"/>
                <a:cs typeface="Cambria Math" panose="02040503050406030204"/>
              </a:rPr>
              <a:t>j=1</a:t>
            </a:r>
            <a:endParaRPr sz="17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273054" y="3691166"/>
            <a:ext cx="35610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2400" spc="-12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ℎ(𝑥</a:t>
            </a:r>
            <a:r>
              <a:rPr sz="2625" baseline="3000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2625" baseline="29000" dirty="0">
                <a:latin typeface="Cambria Math" panose="02040503050406030204"/>
                <a:cs typeface="Cambria Math" panose="02040503050406030204"/>
              </a:rPr>
              <a:t>𝑖</a:t>
            </a:r>
            <a:r>
              <a:rPr sz="2625" baseline="30000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2400" spc="2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400" spc="3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𝑦</a:t>
            </a:r>
            <a:r>
              <a:rPr sz="2625" baseline="3000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2625" baseline="29000" dirty="0">
                <a:latin typeface="Cambria Math" panose="02040503050406030204"/>
                <a:cs typeface="Cambria Math" panose="02040503050406030204"/>
              </a:rPr>
              <a:t>𝑖</a:t>
            </a:r>
            <a:r>
              <a:rPr sz="2625" baseline="30000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2625" baseline="2700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2625" spc="405" baseline="27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+</a:t>
            </a:r>
            <a:r>
              <a:rPr sz="2400" spc="2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𝜆(𝜌</a:t>
            </a:r>
            <a:r>
              <a:rPr sz="2400" spc="2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⋅</a:t>
            </a:r>
            <a:r>
              <a:rPr sz="2400" spc="2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25" dirty="0">
                <a:latin typeface="Cambria Math" panose="02040503050406030204"/>
                <a:cs typeface="Cambria Math" panose="02040503050406030204"/>
              </a:rPr>
              <a:t>∑</a:t>
            </a:r>
            <a:r>
              <a:rPr sz="2625" spc="-37" baseline="37000" dirty="0">
                <a:latin typeface="Cambria Math" panose="02040503050406030204"/>
                <a:cs typeface="Cambria Math" panose="02040503050406030204"/>
              </a:rPr>
              <a:t>𝑛</a:t>
            </a:r>
            <a:endParaRPr sz="2625" baseline="3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423664" y="3886746"/>
            <a:ext cx="394335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25" dirty="0">
                <a:latin typeface="Cambria Math" panose="02040503050406030204"/>
                <a:cs typeface="Cambria Math" panose="02040503050406030204"/>
              </a:rPr>
              <a:t>j=1</a:t>
            </a:r>
            <a:endParaRPr sz="17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050034" y="3691166"/>
            <a:ext cx="25520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mbria Math" panose="02040503050406030204"/>
                <a:cs typeface="Cambria Math" panose="02040503050406030204"/>
              </a:rPr>
              <a:t>|</a:t>
            </a:r>
            <a:r>
              <a:rPr sz="2400" spc="-13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140" dirty="0">
                <a:latin typeface="Cambria Math" panose="02040503050406030204"/>
                <a:cs typeface="Cambria Math" panose="02040503050406030204"/>
              </a:rPr>
              <a:t>𝑤</a:t>
            </a:r>
            <a:r>
              <a:rPr sz="2625" spc="209" baseline="-16000" dirty="0">
                <a:latin typeface="Cambria Math" panose="02040503050406030204"/>
                <a:cs typeface="Cambria Math" panose="02040503050406030204"/>
              </a:rPr>
              <a:t>j</a:t>
            </a:r>
            <a:r>
              <a:rPr sz="2400" spc="140" dirty="0">
                <a:latin typeface="Cambria Math" panose="02040503050406030204"/>
                <a:cs typeface="Cambria Math" panose="02040503050406030204"/>
              </a:rPr>
              <a:t>|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 +</a:t>
            </a:r>
            <a:r>
              <a:rPr sz="2400" spc="1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(1</a:t>
            </a:r>
            <a:r>
              <a:rPr sz="2400" spc="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400" spc="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𝜌)</a:t>
            </a:r>
            <a:r>
              <a:rPr sz="2400" spc="1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⋅ </a:t>
            </a:r>
            <a:r>
              <a:rPr sz="2400" spc="-25" dirty="0">
                <a:latin typeface="Cambria Math" panose="02040503050406030204"/>
                <a:cs typeface="Cambria Math" panose="02040503050406030204"/>
              </a:rPr>
              <a:t>∑</a:t>
            </a:r>
            <a:r>
              <a:rPr sz="2625" spc="-37" baseline="37000" dirty="0">
                <a:latin typeface="Cambria Math" panose="02040503050406030204"/>
                <a:cs typeface="Cambria Math" panose="02040503050406030204"/>
              </a:rPr>
              <a:t>𝑛</a:t>
            </a:r>
            <a:endParaRPr sz="2625" baseline="3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068824" y="3848010"/>
            <a:ext cx="130175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305" dirty="0">
                <a:latin typeface="Cambria Math" panose="02040503050406030204"/>
                <a:cs typeface="Cambria Math" panose="02040503050406030204"/>
              </a:rPr>
              <a:t>j</a:t>
            </a:r>
            <a:endParaRPr sz="17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0817999" y="3691166"/>
            <a:ext cx="6203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 panose="02040503050406030204"/>
                <a:cs typeface="Cambria Math" panose="02040503050406030204"/>
              </a:rPr>
              <a:t>𝑤</a:t>
            </a:r>
            <a:r>
              <a:rPr sz="2625" baseline="3200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2625" spc="179" baseline="32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50" dirty="0">
                <a:latin typeface="Cambria Math" panose="02040503050406030204"/>
                <a:cs typeface="Cambria Math" panose="02040503050406030204"/>
              </a:rPr>
              <a:t>)</a:t>
            </a:r>
            <a:endParaRPr sz="24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179286" y="4583937"/>
            <a:ext cx="5062220" cy="1905000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2000" spc="-25" dirty="0">
                <a:latin typeface="微软雅黑" panose="020B0503020204020204" charset="-122"/>
                <a:cs typeface="微软雅黑" panose="020B0503020204020204" charset="-122"/>
              </a:rPr>
              <a:t>其中：</a:t>
            </a:r>
            <a:endParaRPr sz="2000">
              <a:latin typeface="微软雅黑" panose="020B0503020204020204" charset="-122"/>
              <a:cs typeface="微软雅黑" panose="020B0503020204020204" charset="-122"/>
            </a:endParaRPr>
          </a:p>
          <a:p>
            <a:pPr marL="355600" marR="242570" indent="-342900">
              <a:lnSpc>
                <a:spcPct val="100000"/>
              </a:lnSpc>
              <a:spcBef>
                <a:spcPts val="900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spc="-10" dirty="0">
                <a:latin typeface="微软雅黑" panose="020B0503020204020204" charset="-122"/>
                <a:cs typeface="微软雅黑" panose="020B0503020204020204" charset="-122"/>
              </a:rPr>
              <a:t>λ</a:t>
            </a:r>
            <a:r>
              <a:rPr sz="2000" spc="-15" dirty="0">
                <a:latin typeface="微软雅黑" panose="020B0503020204020204" charset="-122"/>
                <a:cs typeface="微软雅黑" panose="020B0503020204020204" charset="-122"/>
              </a:rPr>
              <a:t>为正则化系数，调整正则化项与训练误</a:t>
            </a:r>
            <a:r>
              <a:rPr sz="2000" spc="-10" dirty="0">
                <a:latin typeface="微软雅黑" panose="020B0503020204020204" charset="-122"/>
                <a:cs typeface="微软雅黑" panose="020B0503020204020204" charset="-122"/>
              </a:rPr>
              <a:t>差的比例，λ&gt;0</a:t>
            </a:r>
            <a:r>
              <a:rPr sz="2000" spc="-50" dirty="0">
                <a:latin typeface="微软雅黑" panose="020B0503020204020204" charset="-122"/>
                <a:cs typeface="微软雅黑" panose="020B0503020204020204" charset="-122"/>
              </a:rPr>
              <a:t>。</a:t>
            </a:r>
            <a:endParaRPr sz="2000">
              <a:latin typeface="微软雅黑" panose="020B0503020204020204" charset="-122"/>
              <a:cs typeface="微软雅黑" panose="020B0503020204020204" charset="-122"/>
            </a:endParaRPr>
          </a:p>
          <a:p>
            <a:pPr marL="355600" marR="5080" indent="-342900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spc="-20" dirty="0">
                <a:latin typeface="微软雅黑" panose="020B0503020204020204" charset="-122"/>
                <a:cs typeface="微软雅黑" panose="020B0503020204020204" charset="-122"/>
              </a:rPr>
              <a:t>1≥ρ≥0</a:t>
            </a:r>
            <a:r>
              <a:rPr sz="2000" spc="-10" dirty="0">
                <a:latin typeface="微软雅黑" panose="020B0503020204020204" charset="-122"/>
                <a:cs typeface="微软雅黑" panose="020B0503020204020204" charset="-122"/>
              </a:rPr>
              <a:t>为比例系数，调整</a:t>
            </a:r>
            <a:r>
              <a:rPr sz="2000" spc="-20" dirty="0">
                <a:latin typeface="Cambria Math" panose="02040503050406030204"/>
                <a:cs typeface="Cambria Math" panose="02040503050406030204"/>
              </a:rPr>
              <a:t>L1</a:t>
            </a:r>
            <a:r>
              <a:rPr sz="2000" spc="-10" dirty="0">
                <a:latin typeface="微软雅黑" panose="020B0503020204020204" charset="-122"/>
                <a:cs typeface="微软雅黑" panose="020B0503020204020204" charset="-122"/>
              </a:rPr>
              <a:t>正则化与</a:t>
            </a:r>
            <a:r>
              <a:rPr sz="2000" spc="-20" dirty="0">
                <a:latin typeface="Cambria Math" panose="02040503050406030204"/>
                <a:cs typeface="Cambria Math" panose="02040503050406030204"/>
              </a:rPr>
              <a:t>L2</a:t>
            </a:r>
            <a:r>
              <a:rPr sz="2000" spc="-50" dirty="0">
                <a:latin typeface="微软雅黑" panose="020B0503020204020204" charset="-122"/>
                <a:cs typeface="微软雅黑" panose="020B0503020204020204" charset="-122"/>
              </a:rPr>
              <a:t>正</a:t>
            </a:r>
            <a:r>
              <a:rPr sz="2000" spc="-20" dirty="0">
                <a:latin typeface="微软雅黑" panose="020B0503020204020204" charset="-122"/>
                <a:cs typeface="微软雅黑" panose="020B0503020204020204" charset="-122"/>
              </a:rPr>
              <a:t>则化的比例。</a:t>
            </a:r>
            <a:endParaRPr sz="20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title"/>
          </p:nvPr>
        </p:nvSpPr>
        <p:spPr>
          <a:xfrm>
            <a:off x="747077" y="257492"/>
            <a:ext cx="13970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正则化</a:t>
            </a:r>
            <a:endParaRPr spc="-20" dirty="0"/>
          </a:p>
        </p:txBody>
      </p:sp>
      <p:sp>
        <p:nvSpPr>
          <p:cNvPr id="31" name="object 31"/>
          <p:cNvSpPr/>
          <p:nvPr/>
        </p:nvSpPr>
        <p:spPr>
          <a:xfrm>
            <a:off x="9017597" y="4149864"/>
            <a:ext cx="212090" cy="375920"/>
          </a:xfrm>
          <a:custGeom>
            <a:avLst/>
            <a:gdLst/>
            <a:ahLst/>
            <a:cxnLst/>
            <a:rect l="l" t="t" r="r" b="b"/>
            <a:pathLst>
              <a:path w="212090" h="375920">
                <a:moveTo>
                  <a:pt x="211861" y="268833"/>
                </a:moveTo>
                <a:lnTo>
                  <a:pt x="211378" y="266153"/>
                </a:lnTo>
                <a:lnTo>
                  <a:pt x="210337" y="263652"/>
                </a:lnTo>
                <a:lnTo>
                  <a:pt x="208788" y="261416"/>
                </a:lnTo>
                <a:lnTo>
                  <a:pt x="208076" y="260756"/>
                </a:lnTo>
                <a:lnTo>
                  <a:pt x="206806" y="259562"/>
                </a:lnTo>
                <a:lnTo>
                  <a:pt x="204470" y="258178"/>
                </a:lnTo>
                <a:lnTo>
                  <a:pt x="201891" y="257327"/>
                </a:lnTo>
                <a:lnTo>
                  <a:pt x="199186" y="257035"/>
                </a:lnTo>
                <a:lnTo>
                  <a:pt x="165265" y="257035"/>
                </a:lnTo>
                <a:lnTo>
                  <a:pt x="165265" y="25400"/>
                </a:lnTo>
                <a:lnTo>
                  <a:pt x="165265" y="12700"/>
                </a:lnTo>
                <a:lnTo>
                  <a:pt x="165011" y="10223"/>
                </a:lnTo>
                <a:lnTo>
                  <a:pt x="152565" y="0"/>
                </a:lnTo>
                <a:lnTo>
                  <a:pt x="59296" y="0"/>
                </a:lnTo>
                <a:lnTo>
                  <a:pt x="46596" y="12700"/>
                </a:lnTo>
                <a:lnTo>
                  <a:pt x="46596" y="257035"/>
                </a:lnTo>
                <a:lnTo>
                  <a:pt x="16243" y="257035"/>
                </a:lnTo>
                <a:lnTo>
                  <a:pt x="16243" y="273812"/>
                </a:lnTo>
                <a:lnTo>
                  <a:pt x="12763" y="282194"/>
                </a:lnTo>
                <a:lnTo>
                  <a:pt x="16230" y="273812"/>
                </a:lnTo>
                <a:lnTo>
                  <a:pt x="16243" y="257035"/>
                </a:lnTo>
                <a:lnTo>
                  <a:pt x="12674" y="257035"/>
                </a:lnTo>
                <a:lnTo>
                  <a:pt x="9969" y="257327"/>
                </a:lnTo>
                <a:lnTo>
                  <a:pt x="0" y="268833"/>
                </a:lnTo>
                <a:lnTo>
                  <a:pt x="101" y="271538"/>
                </a:lnTo>
                <a:lnTo>
                  <a:pt x="96951" y="371970"/>
                </a:lnTo>
                <a:lnTo>
                  <a:pt x="105930" y="375691"/>
                </a:lnTo>
                <a:lnTo>
                  <a:pt x="108407" y="375450"/>
                </a:lnTo>
                <a:lnTo>
                  <a:pt x="110794" y="374726"/>
                </a:lnTo>
                <a:lnTo>
                  <a:pt x="112991" y="373557"/>
                </a:lnTo>
                <a:lnTo>
                  <a:pt x="114909" y="371970"/>
                </a:lnTo>
                <a:lnTo>
                  <a:pt x="132867" y="354012"/>
                </a:lnTo>
                <a:lnTo>
                  <a:pt x="204444" y="282435"/>
                </a:lnTo>
                <a:lnTo>
                  <a:pt x="208165" y="278714"/>
                </a:lnTo>
                <a:lnTo>
                  <a:pt x="209880" y="276606"/>
                </a:lnTo>
                <a:lnTo>
                  <a:pt x="211086" y="274167"/>
                </a:lnTo>
                <a:lnTo>
                  <a:pt x="211759" y="271538"/>
                </a:lnTo>
                <a:lnTo>
                  <a:pt x="211861" y="26883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369074" y="4132275"/>
            <a:ext cx="1854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微软雅黑" panose="020B0503020204020204" charset="-122"/>
                <a:cs typeface="微软雅黑" panose="020B0503020204020204" charset="-122"/>
              </a:rPr>
              <a:t>（弹性网络</a:t>
            </a:r>
            <a:r>
              <a:rPr sz="2400" b="1" spc="-50" dirty="0">
                <a:latin typeface="微软雅黑" panose="020B0503020204020204" charset="-122"/>
                <a:cs typeface="微软雅黑" panose="020B0503020204020204" charset="-122"/>
              </a:rPr>
              <a:t>）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999744"/>
            <a:ext cx="646430" cy="262255"/>
          </a:xfrm>
          <a:prstGeom prst="rect">
            <a:avLst/>
          </a:prstGeom>
          <a:solidFill>
            <a:srgbClr val="A40020"/>
          </a:solidFill>
        </p:spPr>
        <p:txBody>
          <a:bodyPr vert="horz" wrap="square" lIns="0" tIns="635" rIns="0" bIns="0" rtlCol="0">
            <a:spAutoFit/>
          </a:bodyPr>
          <a:lstStyle/>
          <a:p>
            <a:pPr marL="375285">
              <a:lnSpc>
                <a:spcPct val="100000"/>
              </a:lnSpc>
              <a:spcBef>
                <a:spcPts val="5"/>
              </a:spcBef>
            </a:pPr>
            <a:r>
              <a:rPr sz="1400" b="1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38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11130" y="1633615"/>
            <a:ext cx="8136651" cy="358354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47077" y="257492"/>
            <a:ext cx="13970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正则化</a:t>
            </a: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527050" y="1221740"/>
            <a:ext cx="717295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正则化一般分为</a:t>
            </a:r>
            <a:r>
              <a:rPr sz="2400" spc="-20" dirty="0">
                <a:latin typeface="Arial MT"/>
                <a:cs typeface="Arial MT"/>
              </a:rPr>
              <a:t>L1</a:t>
            </a: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和</a:t>
            </a:r>
            <a:r>
              <a:rPr sz="2400" spc="-20" dirty="0">
                <a:latin typeface="Arial MT"/>
                <a:cs typeface="Arial MT"/>
              </a:rPr>
              <a:t>L2</a:t>
            </a: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正则，也叫</a:t>
            </a:r>
            <a:r>
              <a:rPr sz="2400" spc="-20" dirty="0">
                <a:latin typeface="Arial MT"/>
                <a:cs typeface="Arial MT"/>
              </a:rPr>
              <a:t>L1</a:t>
            </a:r>
            <a:r>
              <a:rPr sz="2400" spc="-5" dirty="0">
                <a:latin typeface="微软雅黑" panose="020B0503020204020204" charset="-122"/>
                <a:cs typeface="微软雅黑" panose="020B0503020204020204" charset="-122"/>
              </a:rPr>
              <a:t>范数，</a:t>
            </a:r>
            <a:r>
              <a:rPr sz="2400" spc="-10" dirty="0">
                <a:latin typeface="Arial MT"/>
                <a:cs typeface="Arial MT"/>
              </a:rPr>
              <a:t>L2</a:t>
            </a:r>
            <a:r>
              <a:rPr sz="2400" spc="-20" dirty="0">
                <a:latin typeface="微软雅黑" panose="020B0503020204020204" charset="-122"/>
                <a:cs typeface="微软雅黑" panose="020B0503020204020204" charset="-122"/>
              </a:rPr>
              <a:t>范数。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0984" y="5166995"/>
            <a:ext cx="11483975" cy="1550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Arial MT"/>
                <a:cs typeface="Arial MT"/>
              </a:rPr>
              <a:t>L1</a:t>
            </a:r>
            <a:r>
              <a:rPr sz="2000" spc="-15" dirty="0">
                <a:latin typeface="微软雅黑" panose="020B0503020204020204" charset="-122"/>
                <a:cs typeface="微软雅黑" panose="020B0503020204020204" charset="-122"/>
              </a:rPr>
              <a:t>正则化的原则是样本特性是由少数重要特征决定的，因此将不重要的特征系数归零，只考虑重要特征</a:t>
            </a:r>
            <a:r>
              <a:rPr sz="2000" spc="-10" dirty="0">
                <a:latin typeface="微软雅黑" panose="020B0503020204020204" charset="-122"/>
                <a:cs typeface="微软雅黑" panose="020B0503020204020204" charset="-122"/>
              </a:rPr>
              <a:t>的系数，所以</a:t>
            </a:r>
            <a:r>
              <a:rPr sz="2000" spc="-10" dirty="0">
                <a:latin typeface="Arial MT"/>
                <a:cs typeface="Arial MT"/>
              </a:rPr>
              <a:t>L1</a:t>
            </a:r>
            <a:r>
              <a:rPr sz="2000" spc="-10" dirty="0">
                <a:latin typeface="微软雅黑" panose="020B0503020204020204" charset="-122"/>
                <a:cs typeface="微软雅黑" panose="020B0503020204020204" charset="-122"/>
              </a:rPr>
              <a:t>正则化会产生稀疏矩阵。这也是</a:t>
            </a:r>
            <a:r>
              <a:rPr sz="2000" spc="-10" dirty="0">
                <a:latin typeface="Arial MT"/>
                <a:cs typeface="Arial MT"/>
              </a:rPr>
              <a:t>L1</a:t>
            </a:r>
            <a:r>
              <a:rPr sz="2000" spc="-15" dirty="0">
                <a:latin typeface="微软雅黑" panose="020B0503020204020204" charset="-122"/>
                <a:cs typeface="微软雅黑" panose="020B0503020204020204" charset="-122"/>
              </a:rPr>
              <a:t>正则解决过拟合的原因。</a:t>
            </a:r>
            <a:endParaRPr sz="2000">
              <a:latin typeface="微软雅黑" panose="020B0503020204020204" charset="-122"/>
              <a:cs typeface="微软雅黑" panose="020B0503020204020204" charset="-122"/>
            </a:endParaRPr>
          </a:p>
          <a:p>
            <a:pPr marL="12700" marR="5080">
              <a:lnSpc>
                <a:spcPct val="100000"/>
              </a:lnSpc>
              <a:spcBef>
                <a:spcPts val="2400"/>
              </a:spcBef>
            </a:pPr>
            <a:r>
              <a:rPr sz="2000" spc="-10" dirty="0">
                <a:latin typeface="Arial MT"/>
                <a:cs typeface="Arial MT"/>
              </a:rPr>
              <a:t>L2</a:t>
            </a:r>
            <a:r>
              <a:rPr sz="2000" spc="-15" dirty="0">
                <a:latin typeface="微软雅黑" panose="020B0503020204020204" charset="-122"/>
                <a:cs typeface="微软雅黑" panose="020B0503020204020204" charset="-122"/>
              </a:rPr>
              <a:t>正则化的原则，降低系数的值，提高模型的泛化性。如果模型在训练集上拟合的很好，且模型参数的值都很小，这样模型就能在各种数据集上具备很好的泛化性。</a:t>
            </a:r>
            <a:endParaRPr sz="2000"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999744"/>
            <a:ext cx="646430" cy="262255"/>
          </a:xfrm>
          <a:prstGeom prst="rect">
            <a:avLst/>
          </a:prstGeom>
          <a:solidFill>
            <a:srgbClr val="A40020"/>
          </a:solidFill>
        </p:spPr>
        <p:txBody>
          <a:bodyPr vert="horz" wrap="square" lIns="0" tIns="635" rIns="0" bIns="0" rtlCol="0">
            <a:spAutoFit/>
          </a:bodyPr>
          <a:lstStyle/>
          <a:p>
            <a:pPr marL="375285">
              <a:lnSpc>
                <a:spcPct val="100000"/>
              </a:lnSpc>
              <a:spcBef>
                <a:spcPts val="5"/>
              </a:spcBef>
            </a:pPr>
            <a:r>
              <a:rPr sz="1400" b="1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39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6107" y="4600945"/>
            <a:ext cx="11444605" cy="1997710"/>
          </a:xfrm>
          <a:prstGeom prst="rect">
            <a:avLst/>
          </a:prstGeom>
        </p:spPr>
        <p:txBody>
          <a:bodyPr vert="horz" wrap="square" lIns="0" tIns="115570" rIns="0" bIns="0" rtlCol="0">
            <a:spAutoFit/>
          </a:bodyPr>
          <a:lstStyle/>
          <a:p>
            <a:pPr marL="840105">
              <a:lnSpc>
                <a:spcPct val="100000"/>
              </a:lnSpc>
              <a:spcBef>
                <a:spcPts val="910"/>
              </a:spcBef>
              <a:tabLst>
                <a:tab pos="5756275" algn="l"/>
              </a:tabLst>
            </a:pPr>
            <a:r>
              <a:rPr sz="2400" b="1" spc="-10" dirty="0">
                <a:latin typeface="微软雅黑" panose="020B0503020204020204" charset="-122"/>
                <a:cs typeface="微软雅黑" panose="020B0503020204020204" charset="-122"/>
              </a:rPr>
              <a:t>L1</a:t>
            </a:r>
            <a:r>
              <a:rPr sz="2400" b="1" dirty="0">
                <a:latin typeface="微软雅黑" panose="020B0503020204020204" charset="-122"/>
                <a:cs typeface="微软雅黑" panose="020B0503020204020204" charset="-122"/>
              </a:rPr>
              <a:t>正则化可以产生稀疏模</a:t>
            </a:r>
            <a:r>
              <a:rPr sz="2400" b="1" spc="-50" dirty="0">
                <a:latin typeface="微软雅黑" panose="020B0503020204020204" charset="-122"/>
                <a:cs typeface="微软雅黑" panose="020B0503020204020204" charset="-122"/>
              </a:rPr>
              <a:t>型</a:t>
            </a:r>
            <a:r>
              <a:rPr sz="2400" b="1" dirty="0">
                <a:latin typeface="微软雅黑" panose="020B0503020204020204" charset="-122"/>
                <a:cs typeface="微软雅黑" panose="020B0503020204020204" charset="-122"/>
              </a:rPr>
              <a:t>	</a:t>
            </a:r>
            <a:r>
              <a:rPr sz="2400" b="1" spc="-10" dirty="0">
                <a:latin typeface="微软雅黑" panose="020B0503020204020204" charset="-122"/>
                <a:cs typeface="微软雅黑" panose="020B0503020204020204" charset="-122"/>
              </a:rPr>
              <a:t>L2</a:t>
            </a:r>
            <a:r>
              <a:rPr sz="2400" b="1" dirty="0">
                <a:latin typeface="微软雅黑" panose="020B0503020204020204" charset="-122"/>
                <a:cs typeface="微软雅黑" panose="020B0503020204020204" charset="-122"/>
              </a:rPr>
              <a:t>正则化可以防止过拟</a:t>
            </a:r>
            <a:r>
              <a:rPr sz="2400" b="1" spc="-50" dirty="0">
                <a:latin typeface="微软雅黑" panose="020B0503020204020204" charset="-122"/>
                <a:cs typeface="微软雅黑" panose="020B0503020204020204" charset="-122"/>
              </a:rPr>
              <a:t>合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600" spc="-15" dirty="0">
                <a:solidFill>
                  <a:srgbClr val="333333"/>
                </a:solidFill>
                <a:latin typeface="微软雅黑" panose="020B0503020204020204" charset="-122"/>
                <a:cs typeface="微软雅黑" panose="020B0503020204020204" charset="-122"/>
              </a:rPr>
              <a:t>图上面中的蓝色轮廓线是没有正则化损失函数的等高线，中心的蓝色点为最优解，左图、右图分别为</a:t>
            </a:r>
            <a:r>
              <a:rPr sz="1600" spc="-10" dirty="0">
                <a:solidFill>
                  <a:srgbClr val="333333"/>
                </a:solidFill>
                <a:latin typeface="微软雅黑" panose="020B0503020204020204" charset="-122"/>
                <a:cs typeface="微软雅黑" panose="020B0503020204020204" charset="-122"/>
              </a:rPr>
              <a:t>L1</a:t>
            </a:r>
            <a:r>
              <a:rPr sz="1600" spc="-15" dirty="0">
                <a:solidFill>
                  <a:srgbClr val="333333"/>
                </a:solidFill>
                <a:latin typeface="微软雅黑" panose="020B0503020204020204" charset="-122"/>
                <a:cs typeface="微软雅黑" panose="020B0503020204020204" charset="-122"/>
              </a:rPr>
              <a:t>、</a:t>
            </a:r>
            <a:r>
              <a:rPr sz="1600" spc="-10" dirty="0">
                <a:solidFill>
                  <a:srgbClr val="333333"/>
                </a:solidFill>
                <a:latin typeface="微软雅黑" panose="020B0503020204020204" charset="-122"/>
                <a:cs typeface="微软雅黑" panose="020B0503020204020204" charset="-122"/>
              </a:rPr>
              <a:t>L2</a:t>
            </a:r>
            <a:r>
              <a:rPr sz="1600" spc="-20" dirty="0">
                <a:solidFill>
                  <a:srgbClr val="333333"/>
                </a:solidFill>
                <a:latin typeface="微软雅黑" panose="020B0503020204020204" charset="-122"/>
                <a:cs typeface="微软雅黑" panose="020B0503020204020204" charset="-122"/>
              </a:rPr>
              <a:t>正则化给出的限制。</a:t>
            </a:r>
            <a:endParaRPr sz="1600">
              <a:latin typeface="微软雅黑" panose="020B0503020204020204" charset="-122"/>
              <a:cs typeface="微软雅黑" panose="020B0503020204020204" charset="-122"/>
            </a:endParaRPr>
          </a:p>
          <a:p>
            <a:pPr marL="581025" marR="87630" indent="-56515">
              <a:lnSpc>
                <a:spcPct val="200000"/>
              </a:lnSpc>
              <a:spcBef>
                <a:spcPts val="1705"/>
              </a:spcBef>
            </a:pPr>
            <a:r>
              <a:rPr sz="1600" spc="-20" dirty="0">
                <a:latin typeface="微软雅黑" panose="020B0503020204020204" charset="-122"/>
                <a:cs typeface="微软雅黑" panose="020B0503020204020204" charset="-122"/>
              </a:rPr>
              <a:t>可以看到在正则化的限制之下</a:t>
            </a:r>
            <a:r>
              <a:rPr sz="1600" spc="225" dirty="0">
                <a:latin typeface="Arial MT"/>
                <a:cs typeface="Arial MT"/>
              </a:rPr>
              <a:t>, </a:t>
            </a:r>
            <a:r>
              <a:rPr sz="1600" spc="-315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1600" spc="-20" dirty="0">
                <a:latin typeface="微软雅黑" panose="020B0503020204020204" charset="-122"/>
                <a:cs typeface="微软雅黑" panose="020B0503020204020204" charset="-122"/>
              </a:rPr>
              <a:t>正则化给出的最优解</a:t>
            </a:r>
            <a:r>
              <a:rPr sz="1600" i="1" spc="-10" dirty="0">
                <a:latin typeface="Arial" panose="020B0604020202020204"/>
                <a:cs typeface="Arial" panose="020B0604020202020204"/>
              </a:rPr>
              <a:t>w</a:t>
            </a:r>
            <a:r>
              <a:rPr sz="1600" spc="-10" dirty="0">
                <a:latin typeface="Arial MT"/>
                <a:cs typeface="Arial MT"/>
              </a:rPr>
              <a:t>*</a:t>
            </a:r>
            <a:r>
              <a:rPr sz="1600" spc="-20" dirty="0">
                <a:latin typeface="微软雅黑" panose="020B0503020204020204" charset="-122"/>
                <a:cs typeface="微软雅黑" panose="020B0503020204020204" charset="-122"/>
              </a:rPr>
              <a:t>是使解更加靠近原点</a:t>
            </a:r>
            <a:r>
              <a:rPr sz="1600" spc="-10" dirty="0">
                <a:latin typeface="Arial MT"/>
                <a:cs typeface="Arial MT"/>
              </a:rPr>
              <a:t>,</a:t>
            </a:r>
            <a:r>
              <a:rPr sz="1600" spc="-20" dirty="0">
                <a:latin typeface="微软雅黑" panose="020B0503020204020204" charset="-122"/>
                <a:cs typeface="微软雅黑" panose="020B0503020204020204" charset="-122"/>
              </a:rPr>
              <a:t>也就是说</a:t>
            </a:r>
            <a:r>
              <a:rPr sz="1600" spc="-315" dirty="0">
                <a:latin typeface="Cambria Math" panose="02040503050406030204"/>
                <a:cs typeface="Cambria Math" panose="02040503050406030204"/>
              </a:rPr>
              <a:t>L</a:t>
            </a:r>
            <a:r>
              <a:rPr sz="1600" spc="-20" dirty="0">
                <a:latin typeface="微软雅黑" panose="020B0503020204020204" charset="-122"/>
                <a:cs typeface="微软雅黑" panose="020B0503020204020204" charset="-122"/>
              </a:rPr>
              <a:t>正则化能</a:t>
            </a:r>
            <a:r>
              <a:rPr sz="1600" spc="-2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降低参数范数的总和</a:t>
            </a:r>
            <a:r>
              <a:rPr sz="1600" spc="-50" dirty="0">
                <a:latin typeface="微软雅黑" panose="020B0503020204020204" charset="-122"/>
                <a:cs typeface="微软雅黑" panose="020B0503020204020204" charset="-122"/>
              </a:rPr>
              <a:t>。 </a:t>
            </a:r>
            <a:r>
              <a:rPr sz="1600" dirty="0">
                <a:latin typeface="Cambria Math" panose="02040503050406030204"/>
                <a:cs typeface="Cambria Math" panose="02040503050406030204"/>
              </a:rPr>
              <a:t>L1</a:t>
            </a:r>
            <a:r>
              <a:rPr sz="1600" spc="-20" dirty="0">
                <a:latin typeface="微软雅黑" panose="020B0503020204020204" charset="-122"/>
                <a:cs typeface="微软雅黑" panose="020B0503020204020204" charset="-122"/>
              </a:rPr>
              <a:t>正则化给出的最优解</a:t>
            </a:r>
            <a:r>
              <a:rPr sz="1600" spc="-10" dirty="0">
                <a:latin typeface="Arial MT"/>
                <a:cs typeface="Arial MT"/>
              </a:rPr>
              <a:t>w*</a:t>
            </a:r>
            <a:r>
              <a:rPr sz="1600" spc="-20" dirty="0">
                <a:latin typeface="微软雅黑" panose="020B0503020204020204" charset="-122"/>
                <a:cs typeface="微软雅黑" panose="020B0503020204020204" charset="-122"/>
              </a:rPr>
              <a:t>是使解更加靠近某些轴</a:t>
            </a:r>
            <a:r>
              <a:rPr sz="1600" spc="-10" dirty="0">
                <a:latin typeface="Arial MT"/>
                <a:cs typeface="Arial MT"/>
              </a:rPr>
              <a:t>,</a:t>
            </a:r>
            <a:r>
              <a:rPr sz="1600" spc="-20" dirty="0">
                <a:latin typeface="微软雅黑" panose="020B0503020204020204" charset="-122"/>
                <a:cs typeface="微软雅黑" panose="020B0503020204020204" charset="-122"/>
              </a:rPr>
              <a:t>而其它的轴则为</a:t>
            </a:r>
            <a:r>
              <a:rPr sz="1600" spc="-10" dirty="0">
                <a:latin typeface="Arial MT"/>
                <a:cs typeface="Arial MT"/>
              </a:rPr>
              <a:t>0,</a:t>
            </a:r>
            <a:r>
              <a:rPr sz="1600" spc="-20" dirty="0">
                <a:latin typeface="微软雅黑" panose="020B0503020204020204" charset="-122"/>
                <a:cs typeface="微软雅黑" panose="020B0503020204020204" charset="-122"/>
              </a:rPr>
              <a:t>所以</a:t>
            </a:r>
            <a:r>
              <a:rPr sz="1600" dirty="0">
                <a:latin typeface="Cambria Math" panose="02040503050406030204"/>
                <a:cs typeface="Cambria Math" panose="02040503050406030204"/>
              </a:rPr>
              <a:t>L1</a:t>
            </a:r>
            <a:r>
              <a:rPr sz="1600" spc="-20" dirty="0">
                <a:latin typeface="微软雅黑" panose="020B0503020204020204" charset="-122"/>
                <a:cs typeface="微软雅黑" panose="020B0503020204020204" charset="-122"/>
              </a:rPr>
              <a:t>正则化能使得到的</a:t>
            </a:r>
            <a:r>
              <a:rPr sz="1600" spc="-2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参数稀疏化</a:t>
            </a:r>
            <a:r>
              <a:rPr sz="1600" spc="-50" dirty="0">
                <a:latin typeface="微软雅黑" panose="020B0503020204020204" charset="-122"/>
                <a:cs typeface="微软雅黑" panose="020B0503020204020204" charset="-122"/>
              </a:rPr>
              <a:t>。</a:t>
            </a:r>
            <a:endParaRPr sz="16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47077" y="257492"/>
            <a:ext cx="13970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正则化</a:t>
            </a:r>
            <a:endParaRPr spc="-20" dirty="0"/>
          </a:p>
        </p:txBody>
      </p:sp>
      <p:pic>
        <p:nvPicPr>
          <p:cNvPr id="5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361420" y="1556003"/>
            <a:ext cx="2293399" cy="303044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86628" y="1424939"/>
            <a:ext cx="2875787" cy="330403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797731" y="1691411"/>
            <a:ext cx="1769745" cy="2585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Arial MT"/>
                <a:cs typeface="Arial MT"/>
              </a:rPr>
              <a:t>L1</a:t>
            </a:r>
            <a:r>
              <a:rPr sz="2400" spc="-15" dirty="0">
                <a:latin typeface="微软雅黑" panose="020B0503020204020204" charset="-122"/>
                <a:cs typeface="微软雅黑" panose="020B0503020204020204" charset="-122"/>
              </a:rPr>
              <a:t>正则化是</a:t>
            </a:r>
            <a:r>
              <a:rPr sz="2400" spc="-10" dirty="0">
                <a:latin typeface="微软雅黑" panose="020B0503020204020204" charset="-122"/>
                <a:cs typeface="微软雅黑" panose="020B0503020204020204" charset="-122"/>
              </a:rPr>
              <a:t>指在损失函数中加入权</a:t>
            </a: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值向量</a:t>
            </a:r>
            <a:r>
              <a:rPr sz="2400" spc="-25" dirty="0">
                <a:latin typeface="Arial MT"/>
                <a:cs typeface="Arial MT"/>
              </a:rPr>
              <a:t>w</a:t>
            </a:r>
            <a:r>
              <a:rPr sz="2400" spc="-25" dirty="0">
                <a:latin typeface="微软雅黑" panose="020B0503020204020204" charset="-122"/>
                <a:cs typeface="微软雅黑" panose="020B0503020204020204" charset="-122"/>
              </a:rPr>
              <a:t>的绝</a:t>
            </a:r>
            <a:r>
              <a:rPr sz="2400" spc="-10" dirty="0">
                <a:latin typeface="微软雅黑" panose="020B0503020204020204" charset="-122"/>
                <a:cs typeface="微软雅黑" panose="020B0503020204020204" charset="-122"/>
              </a:rPr>
              <a:t>对值之和，</a:t>
            </a:r>
            <a:r>
              <a:rPr sz="2400" spc="-50" dirty="0"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spc="-20" dirty="0">
                <a:latin typeface="Arial MT"/>
                <a:cs typeface="Arial MT"/>
              </a:rPr>
              <a:t>L1</a:t>
            </a:r>
            <a:r>
              <a:rPr sz="2400" spc="-15" dirty="0">
                <a:latin typeface="微软雅黑" panose="020B0503020204020204" charset="-122"/>
                <a:cs typeface="微软雅黑" panose="020B0503020204020204" charset="-122"/>
              </a:rPr>
              <a:t>的功能是</a:t>
            </a:r>
            <a:r>
              <a:rPr sz="2400" spc="-10" dirty="0">
                <a:latin typeface="微软雅黑" panose="020B0503020204020204" charset="-122"/>
                <a:cs typeface="微软雅黑" panose="020B0503020204020204" charset="-122"/>
              </a:rPr>
              <a:t>使权重稀疏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05011" y="1829866"/>
            <a:ext cx="1583690" cy="2219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微软雅黑" panose="020B0503020204020204" charset="-122"/>
                <a:cs typeface="微软雅黑" panose="020B0503020204020204" charset="-122"/>
              </a:rPr>
              <a:t>在损失函数中加入权值</a:t>
            </a: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向量</a:t>
            </a:r>
            <a:r>
              <a:rPr sz="2400" spc="-25" dirty="0">
                <a:latin typeface="Arial MT"/>
                <a:cs typeface="Arial MT"/>
              </a:rPr>
              <a:t>w</a:t>
            </a:r>
            <a:r>
              <a:rPr sz="2400" spc="-25" dirty="0">
                <a:latin typeface="微软雅黑" panose="020B0503020204020204" charset="-122"/>
                <a:cs typeface="微软雅黑" panose="020B0503020204020204" charset="-122"/>
              </a:rPr>
              <a:t>的平</a:t>
            </a:r>
            <a:r>
              <a:rPr sz="2400" spc="-5" dirty="0">
                <a:latin typeface="微软雅黑" panose="020B0503020204020204" charset="-122"/>
                <a:cs typeface="微软雅黑" panose="020B0503020204020204" charset="-122"/>
              </a:rPr>
              <a:t>方和，</a:t>
            </a:r>
            <a:r>
              <a:rPr sz="2400" spc="-10" dirty="0">
                <a:latin typeface="Arial MT"/>
                <a:cs typeface="Arial MT"/>
              </a:rPr>
              <a:t>L2</a:t>
            </a:r>
            <a:r>
              <a:rPr sz="2400" spc="-50" dirty="0">
                <a:latin typeface="微软雅黑" panose="020B0503020204020204" charset="-122"/>
                <a:cs typeface="微软雅黑" panose="020B0503020204020204" charset="-122"/>
              </a:rPr>
              <a:t>的</a:t>
            </a:r>
            <a:r>
              <a:rPr sz="2400" spc="-10" dirty="0">
                <a:latin typeface="微软雅黑" panose="020B0503020204020204" charset="-122"/>
                <a:cs typeface="微软雅黑" panose="020B0503020204020204" charset="-122"/>
              </a:rPr>
              <a:t>功能是使权</a:t>
            </a:r>
            <a:r>
              <a:rPr sz="2400" spc="-15" dirty="0">
                <a:latin typeface="微软雅黑" panose="020B0503020204020204" charset="-122"/>
                <a:cs typeface="微软雅黑" panose="020B0503020204020204" charset="-122"/>
              </a:rPr>
              <a:t>重平滑。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999744"/>
            <a:ext cx="646430" cy="262255"/>
          </a:xfrm>
          <a:custGeom>
            <a:avLst/>
            <a:gdLst/>
            <a:ahLst/>
            <a:cxnLst/>
            <a:rect l="l" t="t" r="r" b="b"/>
            <a:pathLst>
              <a:path w="646430" h="262255">
                <a:moveTo>
                  <a:pt x="646176" y="262127"/>
                </a:moveTo>
                <a:lnTo>
                  <a:pt x="0" y="262127"/>
                </a:lnTo>
                <a:lnTo>
                  <a:pt x="0" y="0"/>
                </a:lnTo>
                <a:lnTo>
                  <a:pt x="646176" y="0"/>
                </a:lnTo>
                <a:lnTo>
                  <a:pt x="646176" y="262127"/>
                </a:lnTo>
                <a:close/>
              </a:path>
            </a:pathLst>
          </a:custGeom>
          <a:solidFill>
            <a:srgbClr val="A400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02563" y="996696"/>
            <a:ext cx="11489690" cy="262255"/>
          </a:xfrm>
          <a:custGeom>
            <a:avLst/>
            <a:gdLst/>
            <a:ahLst/>
            <a:cxnLst/>
            <a:rect l="l" t="t" r="r" b="b"/>
            <a:pathLst>
              <a:path w="11489690" h="262255">
                <a:moveTo>
                  <a:pt x="11489436" y="262127"/>
                </a:moveTo>
                <a:lnTo>
                  <a:pt x="0" y="262127"/>
                </a:lnTo>
                <a:lnTo>
                  <a:pt x="0" y="0"/>
                </a:lnTo>
                <a:lnTo>
                  <a:pt x="11489436" y="0"/>
                </a:lnTo>
                <a:lnTo>
                  <a:pt x="11489436" y="262127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62902" y="987107"/>
            <a:ext cx="224154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40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47077" y="257492"/>
            <a:ext cx="37338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Arial" panose="020B0604020202020204"/>
                <a:cs typeface="Arial" panose="020B0604020202020204"/>
              </a:rPr>
              <a:t>4</a:t>
            </a:r>
            <a:r>
              <a:rPr spc="-5" dirty="0">
                <a:latin typeface="Arial" panose="020B0604020202020204"/>
                <a:cs typeface="Arial" panose="020B0604020202020204"/>
              </a:rPr>
              <a:t>. </a:t>
            </a:r>
            <a:r>
              <a:rPr spc="-10" dirty="0"/>
              <a:t>回归的评价指标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2496311" y="4332732"/>
            <a:ext cx="6278880" cy="647700"/>
          </a:xfrm>
          <a:custGeom>
            <a:avLst/>
            <a:gdLst/>
            <a:ahLst/>
            <a:cxnLst/>
            <a:rect l="l" t="t" r="r" b="b"/>
            <a:pathLst>
              <a:path w="6278880" h="647700">
                <a:moveTo>
                  <a:pt x="6143244" y="647700"/>
                </a:moveTo>
                <a:lnTo>
                  <a:pt x="0" y="647700"/>
                </a:lnTo>
                <a:lnTo>
                  <a:pt x="0" y="135635"/>
                </a:lnTo>
                <a:lnTo>
                  <a:pt x="7092" y="93004"/>
                </a:lnTo>
                <a:lnTo>
                  <a:pt x="26436" y="55889"/>
                </a:lnTo>
                <a:lnTo>
                  <a:pt x="55798" y="26527"/>
                </a:lnTo>
                <a:lnTo>
                  <a:pt x="92943" y="7153"/>
                </a:lnTo>
                <a:lnTo>
                  <a:pt x="135636" y="0"/>
                </a:lnTo>
                <a:lnTo>
                  <a:pt x="6278880" y="0"/>
                </a:lnTo>
                <a:lnTo>
                  <a:pt x="6278880" y="512063"/>
                </a:lnTo>
                <a:lnTo>
                  <a:pt x="6272117" y="555171"/>
                </a:lnTo>
                <a:lnTo>
                  <a:pt x="6252937" y="592523"/>
                </a:lnTo>
                <a:lnTo>
                  <a:pt x="6223575" y="621885"/>
                </a:lnTo>
                <a:lnTo>
                  <a:pt x="6186265" y="641022"/>
                </a:lnTo>
                <a:lnTo>
                  <a:pt x="6143244" y="647700"/>
                </a:lnTo>
                <a:close/>
              </a:path>
            </a:pathLst>
          </a:custGeom>
          <a:solidFill>
            <a:srgbClr val="1352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989808" y="1816290"/>
            <a:ext cx="4049395" cy="3097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89940" indent="-750570">
              <a:lnSpc>
                <a:spcPct val="100000"/>
              </a:lnSpc>
              <a:spcBef>
                <a:spcPts val="100"/>
              </a:spcBef>
              <a:buFont typeface="Impact" panose="020B0806030902050204"/>
              <a:buAutoNum type="arabicPeriod"/>
              <a:tabLst>
                <a:tab pos="789940" algn="l"/>
              </a:tabLst>
            </a:pPr>
            <a:r>
              <a:rPr sz="3600" spc="-15" dirty="0">
                <a:latin typeface="微软雅黑" panose="020B0503020204020204" charset="-122"/>
                <a:cs typeface="微软雅黑" panose="020B0503020204020204" charset="-122"/>
              </a:rPr>
              <a:t>线性回归</a:t>
            </a:r>
            <a:endParaRPr sz="3600">
              <a:latin typeface="微软雅黑" panose="020B0503020204020204" charset="-122"/>
              <a:cs typeface="微软雅黑" panose="020B0503020204020204" charset="-122"/>
            </a:endParaRPr>
          </a:p>
          <a:p>
            <a:pPr marL="808990" indent="-796290">
              <a:lnSpc>
                <a:spcPct val="100000"/>
              </a:lnSpc>
              <a:spcBef>
                <a:spcPts val="2710"/>
              </a:spcBef>
              <a:buFont typeface="Impact" panose="020B0806030902050204"/>
              <a:buAutoNum type="arabicPeriod"/>
              <a:tabLst>
                <a:tab pos="808990" algn="l"/>
              </a:tabLst>
            </a:pPr>
            <a:r>
              <a:rPr sz="3600" spc="-15" dirty="0">
                <a:latin typeface="微软雅黑" panose="020B0503020204020204" charset="-122"/>
                <a:cs typeface="微软雅黑" panose="020B0503020204020204" charset="-122"/>
              </a:rPr>
              <a:t>梯度下降</a:t>
            </a:r>
            <a:endParaRPr sz="3600">
              <a:latin typeface="微软雅黑" panose="020B0503020204020204" charset="-122"/>
              <a:cs typeface="微软雅黑" panose="020B0503020204020204" charset="-122"/>
            </a:endParaRPr>
          </a:p>
          <a:p>
            <a:pPr marL="822325" indent="-809625">
              <a:lnSpc>
                <a:spcPct val="100000"/>
              </a:lnSpc>
              <a:spcBef>
                <a:spcPts val="2095"/>
              </a:spcBef>
              <a:buFont typeface="Impact" panose="020B0806030902050204"/>
              <a:buAutoNum type="arabicPeriod"/>
              <a:tabLst>
                <a:tab pos="822325" algn="l"/>
              </a:tabLst>
            </a:pPr>
            <a:r>
              <a:rPr sz="3600" spc="-20" dirty="0">
                <a:latin typeface="微软雅黑" panose="020B0503020204020204" charset="-122"/>
                <a:cs typeface="微软雅黑" panose="020B0503020204020204" charset="-122"/>
              </a:rPr>
              <a:t>正则化</a:t>
            </a:r>
            <a:endParaRPr sz="3600">
              <a:latin typeface="微软雅黑" panose="020B0503020204020204" charset="-122"/>
              <a:cs typeface="微软雅黑" panose="020B0503020204020204" charset="-122"/>
            </a:endParaRPr>
          </a:p>
          <a:p>
            <a:pPr marL="835660" indent="-796290">
              <a:lnSpc>
                <a:spcPct val="100000"/>
              </a:lnSpc>
              <a:spcBef>
                <a:spcPts val="2100"/>
              </a:spcBef>
              <a:buFont typeface="Impact" panose="020B0806030902050204"/>
              <a:buAutoNum type="arabicPeriod"/>
              <a:tabLst>
                <a:tab pos="835660" algn="l"/>
              </a:tabLst>
            </a:pPr>
            <a:r>
              <a:rPr sz="3600" spc="-1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回归的评价指标</a:t>
            </a:r>
            <a:endParaRPr sz="3600"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999744"/>
            <a:ext cx="646430" cy="262255"/>
          </a:xfrm>
          <a:prstGeom prst="rect">
            <a:avLst/>
          </a:prstGeom>
          <a:solidFill>
            <a:srgbClr val="A40020"/>
          </a:solidFill>
        </p:spPr>
        <p:txBody>
          <a:bodyPr vert="horz" wrap="square" lIns="0" tIns="635" rIns="0" bIns="0" rtlCol="0">
            <a:spAutoFit/>
          </a:bodyPr>
          <a:lstStyle/>
          <a:p>
            <a:pPr marL="375285">
              <a:lnSpc>
                <a:spcPct val="100000"/>
              </a:lnSpc>
              <a:spcBef>
                <a:spcPts val="5"/>
              </a:spcBef>
            </a:pPr>
            <a:r>
              <a:rPr sz="1400" b="1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41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29030" y="5910427"/>
            <a:ext cx="9711055" cy="570230"/>
            <a:chOff x="829030" y="5910427"/>
            <a:chExt cx="9711055" cy="570230"/>
          </a:xfrm>
        </p:grpSpPr>
        <p:sp>
          <p:nvSpPr>
            <p:cNvPr id="4" name="object 4"/>
            <p:cNvSpPr/>
            <p:nvPr/>
          </p:nvSpPr>
          <p:spPr>
            <a:xfrm>
              <a:off x="829030" y="5910427"/>
              <a:ext cx="9711055" cy="570230"/>
            </a:xfrm>
            <a:custGeom>
              <a:avLst/>
              <a:gdLst/>
              <a:ahLst/>
              <a:cxnLst/>
              <a:rect l="l" t="t" r="r" b="b"/>
              <a:pathLst>
                <a:path w="9711055" h="570229">
                  <a:moveTo>
                    <a:pt x="9627527" y="1270"/>
                  </a:moveTo>
                  <a:lnTo>
                    <a:pt x="82994" y="1270"/>
                  </a:lnTo>
                  <a:lnTo>
                    <a:pt x="87477" y="0"/>
                  </a:lnTo>
                  <a:lnTo>
                    <a:pt x="9623044" y="0"/>
                  </a:lnTo>
                  <a:lnTo>
                    <a:pt x="9627527" y="1270"/>
                  </a:lnTo>
                  <a:close/>
                </a:path>
                <a:path w="9711055" h="570229">
                  <a:moveTo>
                    <a:pt x="9642894" y="563879"/>
                  </a:moveTo>
                  <a:lnTo>
                    <a:pt x="67627" y="563879"/>
                  </a:lnTo>
                  <a:lnTo>
                    <a:pt x="62915" y="562610"/>
                  </a:lnTo>
                  <a:lnTo>
                    <a:pt x="58331" y="560070"/>
                  </a:lnTo>
                  <a:lnTo>
                    <a:pt x="54406" y="558800"/>
                  </a:lnTo>
                  <a:lnTo>
                    <a:pt x="49529" y="554989"/>
                  </a:lnTo>
                  <a:lnTo>
                    <a:pt x="45338" y="552450"/>
                  </a:lnTo>
                  <a:lnTo>
                    <a:pt x="41770" y="549910"/>
                  </a:lnTo>
                  <a:lnTo>
                    <a:pt x="37376" y="547370"/>
                  </a:lnTo>
                  <a:lnTo>
                    <a:pt x="34074" y="543560"/>
                  </a:lnTo>
                  <a:lnTo>
                    <a:pt x="30467" y="541020"/>
                  </a:lnTo>
                  <a:lnTo>
                    <a:pt x="30035" y="539750"/>
                  </a:lnTo>
                  <a:lnTo>
                    <a:pt x="26619" y="535939"/>
                  </a:lnTo>
                  <a:lnTo>
                    <a:pt x="23367" y="532129"/>
                  </a:lnTo>
                  <a:lnTo>
                    <a:pt x="20307" y="528320"/>
                  </a:lnTo>
                  <a:lnTo>
                    <a:pt x="17767" y="525779"/>
                  </a:lnTo>
                  <a:lnTo>
                    <a:pt x="15062" y="520700"/>
                  </a:lnTo>
                  <a:lnTo>
                    <a:pt x="12547" y="516889"/>
                  </a:lnTo>
                  <a:lnTo>
                    <a:pt x="12255" y="515620"/>
                  </a:lnTo>
                  <a:lnTo>
                    <a:pt x="10248" y="511810"/>
                  </a:lnTo>
                  <a:lnTo>
                    <a:pt x="8153" y="508000"/>
                  </a:lnTo>
                  <a:lnTo>
                    <a:pt x="7912" y="506729"/>
                  </a:lnTo>
                  <a:lnTo>
                    <a:pt x="6070" y="502920"/>
                  </a:lnTo>
                  <a:lnTo>
                    <a:pt x="0" y="97789"/>
                  </a:lnTo>
                  <a:lnTo>
                    <a:pt x="457" y="92710"/>
                  </a:lnTo>
                  <a:lnTo>
                    <a:pt x="1028" y="87629"/>
                  </a:lnTo>
                  <a:lnTo>
                    <a:pt x="1930" y="82550"/>
                  </a:lnTo>
                  <a:lnTo>
                    <a:pt x="2057" y="81279"/>
                  </a:lnTo>
                  <a:lnTo>
                    <a:pt x="3225" y="77470"/>
                  </a:lnTo>
                  <a:lnTo>
                    <a:pt x="4457" y="72389"/>
                  </a:lnTo>
                  <a:lnTo>
                    <a:pt x="6070" y="67310"/>
                  </a:lnTo>
                  <a:lnTo>
                    <a:pt x="6286" y="67310"/>
                  </a:lnTo>
                  <a:lnTo>
                    <a:pt x="7912" y="63500"/>
                  </a:lnTo>
                  <a:lnTo>
                    <a:pt x="8153" y="62229"/>
                  </a:lnTo>
                  <a:lnTo>
                    <a:pt x="10248" y="58420"/>
                  </a:lnTo>
                  <a:lnTo>
                    <a:pt x="12547" y="53339"/>
                  </a:lnTo>
                  <a:lnTo>
                    <a:pt x="14744" y="49529"/>
                  </a:lnTo>
                  <a:lnTo>
                    <a:pt x="17424" y="45720"/>
                  </a:lnTo>
                  <a:lnTo>
                    <a:pt x="17767" y="44450"/>
                  </a:lnTo>
                  <a:lnTo>
                    <a:pt x="20307" y="40639"/>
                  </a:lnTo>
                  <a:lnTo>
                    <a:pt x="23367" y="36829"/>
                  </a:lnTo>
                  <a:lnTo>
                    <a:pt x="26619" y="33020"/>
                  </a:lnTo>
                  <a:lnTo>
                    <a:pt x="30035" y="30479"/>
                  </a:lnTo>
                  <a:lnTo>
                    <a:pt x="34074" y="26670"/>
                  </a:lnTo>
                  <a:lnTo>
                    <a:pt x="37376" y="22860"/>
                  </a:lnTo>
                  <a:lnTo>
                    <a:pt x="41770" y="20320"/>
                  </a:lnTo>
                  <a:lnTo>
                    <a:pt x="45846" y="16510"/>
                  </a:lnTo>
                  <a:lnTo>
                    <a:pt x="49529" y="13970"/>
                  </a:lnTo>
                  <a:lnTo>
                    <a:pt x="54406" y="11429"/>
                  </a:lnTo>
                  <a:lnTo>
                    <a:pt x="58331" y="10160"/>
                  </a:lnTo>
                  <a:lnTo>
                    <a:pt x="62915" y="7620"/>
                  </a:lnTo>
                  <a:lnTo>
                    <a:pt x="67627" y="6350"/>
                  </a:lnTo>
                  <a:lnTo>
                    <a:pt x="73037" y="3810"/>
                  </a:lnTo>
                  <a:lnTo>
                    <a:pt x="77978" y="2539"/>
                  </a:lnTo>
                  <a:lnTo>
                    <a:pt x="82372" y="1270"/>
                  </a:lnTo>
                  <a:lnTo>
                    <a:pt x="9628149" y="1270"/>
                  </a:lnTo>
                  <a:lnTo>
                    <a:pt x="9632556" y="2539"/>
                  </a:lnTo>
                  <a:lnTo>
                    <a:pt x="9637483" y="3810"/>
                  </a:lnTo>
                  <a:lnTo>
                    <a:pt x="9642894" y="6350"/>
                  </a:lnTo>
                  <a:lnTo>
                    <a:pt x="9647605" y="7620"/>
                  </a:lnTo>
                  <a:lnTo>
                    <a:pt x="9652190" y="10160"/>
                  </a:lnTo>
                  <a:lnTo>
                    <a:pt x="9656660" y="11429"/>
                  </a:lnTo>
                  <a:lnTo>
                    <a:pt x="9660470" y="13970"/>
                  </a:lnTo>
                  <a:lnTo>
                    <a:pt x="9660991" y="13970"/>
                  </a:lnTo>
                  <a:lnTo>
                    <a:pt x="9665182" y="17779"/>
                  </a:lnTo>
                  <a:lnTo>
                    <a:pt x="9669246" y="20320"/>
                  </a:lnTo>
                  <a:lnTo>
                    <a:pt x="9673145" y="22860"/>
                  </a:lnTo>
                  <a:lnTo>
                    <a:pt x="9675346" y="25400"/>
                  </a:lnTo>
                  <a:lnTo>
                    <a:pt x="91947" y="25400"/>
                  </a:lnTo>
                  <a:lnTo>
                    <a:pt x="87464" y="26670"/>
                  </a:lnTo>
                  <a:lnTo>
                    <a:pt x="84302" y="26670"/>
                  </a:lnTo>
                  <a:lnTo>
                    <a:pt x="79984" y="27939"/>
                  </a:lnTo>
                  <a:lnTo>
                    <a:pt x="80581" y="27939"/>
                  </a:lnTo>
                  <a:lnTo>
                    <a:pt x="76352" y="29210"/>
                  </a:lnTo>
                  <a:lnTo>
                    <a:pt x="76936" y="29210"/>
                  </a:lnTo>
                  <a:lnTo>
                    <a:pt x="72809" y="30479"/>
                  </a:lnTo>
                  <a:lnTo>
                    <a:pt x="73380" y="30479"/>
                  </a:lnTo>
                  <a:lnTo>
                    <a:pt x="71367" y="31750"/>
                  </a:lnTo>
                  <a:lnTo>
                    <a:pt x="69913" y="31750"/>
                  </a:lnTo>
                  <a:lnTo>
                    <a:pt x="65989" y="34289"/>
                  </a:lnTo>
                  <a:lnTo>
                    <a:pt x="66535" y="34289"/>
                  </a:lnTo>
                  <a:lnTo>
                    <a:pt x="64623" y="35560"/>
                  </a:lnTo>
                  <a:lnTo>
                    <a:pt x="63245" y="35560"/>
                  </a:lnTo>
                  <a:lnTo>
                    <a:pt x="59550" y="38100"/>
                  </a:lnTo>
                  <a:lnTo>
                    <a:pt x="60058" y="38100"/>
                  </a:lnTo>
                  <a:lnTo>
                    <a:pt x="56489" y="40639"/>
                  </a:lnTo>
                  <a:lnTo>
                    <a:pt x="56972" y="40639"/>
                  </a:lnTo>
                  <a:lnTo>
                    <a:pt x="55257" y="41910"/>
                  </a:lnTo>
                  <a:lnTo>
                    <a:pt x="54013" y="41910"/>
                  </a:lnTo>
                  <a:lnTo>
                    <a:pt x="51811" y="44450"/>
                  </a:lnTo>
                  <a:lnTo>
                    <a:pt x="51155" y="44450"/>
                  </a:lnTo>
                  <a:lnTo>
                    <a:pt x="49047" y="46989"/>
                  </a:lnTo>
                  <a:lnTo>
                    <a:pt x="48425" y="46989"/>
                  </a:lnTo>
                  <a:lnTo>
                    <a:pt x="45415" y="50800"/>
                  </a:lnTo>
                  <a:lnTo>
                    <a:pt x="45821" y="50800"/>
                  </a:lnTo>
                  <a:lnTo>
                    <a:pt x="42951" y="53339"/>
                  </a:lnTo>
                  <a:lnTo>
                    <a:pt x="43345" y="53339"/>
                  </a:lnTo>
                  <a:lnTo>
                    <a:pt x="40639" y="55879"/>
                  </a:lnTo>
                  <a:lnTo>
                    <a:pt x="41008" y="55879"/>
                  </a:lnTo>
                  <a:lnTo>
                    <a:pt x="39314" y="58420"/>
                  </a:lnTo>
                  <a:lnTo>
                    <a:pt x="38811" y="58420"/>
                  </a:lnTo>
                  <a:lnTo>
                    <a:pt x="36448" y="62229"/>
                  </a:lnTo>
                  <a:lnTo>
                    <a:pt x="36766" y="62229"/>
                  </a:lnTo>
                  <a:lnTo>
                    <a:pt x="34569" y="66039"/>
                  </a:lnTo>
                  <a:lnTo>
                    <a:pt x="34861" y="66039"/>
                  </a:lnTo>
                  <a:lnTo>
                    <a:pt x="33523" y="68579"/>
                  </a:lnTo>
                  <a:lnTo>
                    <a:pt x="33121" y="68579"/>
                  </a:lnTo>
                  <a:lnTo>
                    <a:pt x="31305" y="72389"/>
                  </a:lnTo>
                  <a:lnTo>
                    <a:pt x="31546" y="72389"/>
                  </a:lnTo>
                  <a:lnTo>
                    <a:pt x="29921" y="76200"/>
                  </a:lnTo>
                  <a:lnTo>
                    <a:pt x="30137" y="76200"/>
                  </a:lnTo>
                  <a:lnTo>
                    <a:pt x="28701" y="80010"/>
                  </a:lnTo>
                  <a:lnTo>
                    <a:pt x="28892" y="80010"/>
                  </a:lnTo>
                  <a:lnTo>
                    <a:pt x="28071" y="82550"/>
                  </a:lnTo>
                  <a:lnTo>
                    <a:pt x="27825" y="82550"/>
                  </a:lnTo>
                  <a:lnTo>
                    <a:pt x="26809" y="87629"/>
                  </a:lnTo>
                  <a:lnTo>
                    <a:pt x="25459" y="472439"/>
                  </a:lnTo>
                  <a:lnTo>
                    <a:pt x="25653" y="474979"/>
                  </a:lnTo>
                  <a:lnTo>
                    <a:pt x="26136" y="478789"/>
                  </a:lnTo>
                  <a:lnTo>
                    <a:pt x="26936" y="482600"/>
                  </a:lnTo>
                  <a:lnTo>
                    <a:pt x="26809" y="482600"/>
                  </a:lnTo>
                  <a:lnTo>
                    <a:pt x="27825" y="486410"/>
                  </a:lnTo>
                  <a:lnTo>
                    <a:pt x="27660" y="486410"/>
                  </a:lnTo>
                  <a:lnTo>
                    <a:pt x="28892" y="490220"/>
                  </a:lnTo>
                  <a:lnTo>
                    <a:pt x="28701" y="490220"/>
                  </a:lnTo>
                  <a:lnTo>
                    <a:pt x="30137" y="494029"/>
                  </a:lnTo>
                  <a:lnTo>
                    <a:pt x="29921" y="494029"/>
                  </a:lnTo>
                  <a:lnTo>
                    <a:pt x="31546" y="497839"/>
                  </a:lnTo>
                  <a:lnTo>
                    <a:pt x="31759" y="497839"/>
                  </a:lnTo>
                  <a:lnTo>
                    <a:pt x="33121" y="501650"/>
                  </a:lnTo>
                  <a:lnTo>
                    <a:pt x="33523" y="501650"/>
                  </a:lnTo>
                  <a:lnTo>
                    <a:pt x="34861" y="504189"/>
                  </a:lnTo>
                  <a:lnTo>
                    <a:pt x="34569" y="504189"/>
                  </a:lnTo>
                  <a:lnTo>
                    <a:pt x="36766" y="508000"/>
                  </a:lnTo>
                  <a:lnTo>
                    <a:pt x="37236" y="508000"/>
                  </a:lnTo>
                  <a:lnTo>
                    <a:pt x="38811" y="510539"/>
                  </a:lnTo>
                  <a:lnTo>
                    <a:pt x="38468" y="510539"/>
                  </a:lnTo>
                  <a:lnTo>
                    <a:pt x="41008" y="514350"/>
                  </a:lnTo>
                  <a:lnTo>
                    <a:pt x="41541" y="514350"/>
                  </a:lnTo>
                  <a:lnTo>
                    <a:pt x="43345" y="516889"/>
                  </a:lnTo>
                  <a:lnTo>
                    <a:pt x="42951" y="516889"/>
                  </a:lnTo>
                  <a:lnTo>
                    <a:pt x="45821" y="519429"/>
                  </a:lnTo>
                  <a:lnTo>
                    <a:pt x="45415" y="519429"/>
                  </a:lnTo>
                  <a:lnTo>
                    <a:pt x="48425" y="521970"/>
                  </a:lnTo>
                  <a:lnTo>
                    <a:pt x="47993" y="521970"/>
                  </a:lnTo>
                  <a:lnTo>
                    <a:pt x="51155" y="525779"/>
                  </a:lnTo>
                  <a:lnTo>
                    <a:pt x="52362" y="525779"/>
                  </a:lnTo>
                  <a:lnTo>
                    <a:pt x="54013" y="527050"/>
                  </a:lnTo>
                  <a:lnTo>
                    <a:pt x="53543" y="527050"/>
                  </a:lnTo>
                  <a:lnTo>
                    <a:pt x="56972" y="529589"/>
                  </a:lnTo>
                  <a:lnTo>
                    <a:pt x="56489" y="529589"/>
                  </a:lnTo>
                  <a:lnTo>
                    <a:pt x="60058" y="532129"/>
                  </a:lnTo>
                  <a:lnTo>
                    <a:pt x="59550" y="532129"/>
                  </a:lnTo>
                  <a:lnTo>
                    <a:pt x="63245" y="534670"/>
                  </a:lnTo>
                  <a:lnTo>
                    <a:pt x="64623" y="534670"/>
                  </a:lnTo>
                  <a:lnTo>
                    <a:pt x="66535" y="535939"/>
                  </a:lnTo>
                  <a:lnTo>
                    <a:pt x="65989" y="535939"/>
                  </a:lnTo>
                  <a:lnTo>
                    <a:pt x="69913" y="537210"/>
                  </a:lnTo>
                  <a:lnTo>
                    <a:pt x="69354" y="537210"/>
                  </a:lnTo>
                  <a:lnTo>
                    <a:pt x="73380" y="539750"/>
                  </a:lnTo>
                  <a:lnTo>
                    <a:pt x="74872" y="539750"/>
                  </a:lnTo>
                  <a:lnTo>
                    <a:pt x="76936" y="541020"/>
                  </a:lnTo>
                  <a:lnTo>
                    <a:pt x="76352" y="541020"/>
                  </a:lnTo>
                  <a:lnTo>
                    <a:pt x="80581" y="542289"/>
                  </a:lnTo>
                  <a:lnTo>
                    <a:pt x="83680" y="542289"/>
                  </a:lnTo>
                  <a:lnTo>
                    <a:pt x="88087" y="543560"/>
                  </a:lnTo>
                  <a:lnTo>
                    <a:pt x="87464" y="543560"/>
                  </a:lnTo>
                  <a:lnTo>
                    <a:pt x="91947" y="544829"/>
                  </a:lnTo>
                  <a:lnTo>
                    <a:pt x="9675346" y="544829"/>
                  </a:lnTo>
                  <a:lnTo>
                    <a:pt x="9673145" y="547370"/>
                  </a:lnTo>
                  <a:lnTo>
                    <a:pt x="9669246" y="549910"/>
                  </a:lnTo>
                  <a:lnTo>
                    <a:pt x="9665182" y="552450"/>
                  </a:lnTo>
                  <a:lnTo>
                    <a:pt x="9660991" y="554989"/>
                  </a:lnTo>
                  <a:lnTo>
                    <a:pt x="9660470" y="556260"/>
                  </a:lnTo>
                  <a:lnTo>
                    <a:pt x="9656660" y="557529"/>
                  </a:lnTo>
                  <a:lnTo>
                    <a:pt x="9652190" y="560070"/>
                  </a:lnTo>
                  <a:lnTo>
                    <a:pt x="9647605" y="562610"/>
                  </a:lnTo>
                  <a:lnTo>
                    <a:pt x="9642894" y="563879"/>
                  </a:lnTo>
                  <a:close/>
                </a:path>
                <a:path w="9711055" h="570229">
                  <a:moveTo>
                    <a:pt x="9641166" y="33020"/>
                  </a:moveTo>
                  <a:lnTo>
                    <a:pt x="9637141" y="30479"/>
                  </a:lnTo>
                  <a:lnTo>
                    <a:pt x="9637712" y="30479"/>
                  </a:lnTo>
                  <a:lnTo>
                    <a:pt x="9633585" y="29210"/>
                  </a:lnTo>
                  <a:lnTo>
                    <a:pt x="9634169" y="29210"/>
                  </a:lnTo>
                  <a:lnTo>
                    <a:pt x="9629940" y="27939"/>
                  </a:lnTo>
                  <a:lnTo>
                    <a:pt x="9630537" y="27939"/>
                  </a:lnTo>
                  <a:lnTo>
                    <a:pt x="9626219" y="26670"/>
                  </a:lnTo>
                  <a:lnTo>
                    <a:pt x="9623056" y="26670"/>
                  </a:lnTo>
                  <a:lnTo>
                    <a:pt x="9618573" y="25400"/>
                  </a:lnTo>
                  <a:lnTo>
                    <a:pt x="9675346" y="25400"/>
                  </a:lnTo>
                  <a:lnTo>
                    <a:pt x="9676447" y="26670"/>
                  </a:lnTo>
                  <a:lnTo>
                    <a:pt x="9680486" y="30479"/>
                  </a:lnTo>
                  <a:lnTo>
                    <a:pt x="9682194" y="31750"/>
                  </a:lnTo>
                  <a:lnTo>
                    <a:pt x="9640608" y="31750"/>
                  </a:lnTo>
                  <a:lnTo>
                    <a:pt x="9641166" y="33020"/>
                  </a:lnTo>
                  <a:close/>
                </a:path>
                <a:path w="9711055" h="570229">
                  <a:moveTo>
                    <a:pt x="83680" y="27939"/>
                  </a:moveTo>
                  <a:lnTo>
                    <a:pt x="84302" y="26670"/>
                  </a:lnTo>
                  <a:lnTo>
                    <a:pt x="88087" y="26670"/>
                  </a:lnTo>
                  <a:lnTo>
                    <a:pt x="83680" y="27939"/>
                  </a:lnTo>
                  <a:close/>
                </a:path>
                <a:path w="9711055" h="570229">
                  <a:moveTo>
                    <a:pt x="9626841" y="27939"/>
                  </a:moveTo>
                  <a:lnTo>
                    <a:pt x="9622434" y="26670"/>
                  </a:lnTo>
                  <a:lnTo>
                    <a:pt x="9626219" y="26670"/>
                  </a:lnTo>
                  <a:lnTo>
                    <a:pt x="9626841" y="27939"/>
                  </a:lnTo>
                  <a:close/>
                </a:path>
                <a:path w="9711055" h="570229">
                  <a:moveTo>
                    <a:pt x="69354" y="33020"/>
                  </a:moveTo>
                  <a:lnTo>
                    <a:pt x="69913" y="31750"/>
                  </a:lnTo>
                  <a:lnTo>
                    <a:pt x="71367" y="31750"/>
                  </a:lnTo>
                  <a:lnTo>
                    <a:pt x="69354" y="33020"/>
                  </a:lnTo>
                  <a:close/>
                </a:path>
                <a:path w="9711055" h="570229">
                  <a:moveTo>
                    <a:pt x="9647809" y="36829"/>
                  </a:moveTo>
                  <a:lnTo>
                    <a:pt x="9643999" y="34289"/>
                  </a:lnTo>
                  <a:lnTo>
                    <a:pt x="9644532" y="34289"/>
                  </a:lnTo>
                  <a:lnTo>
                    <a:pt x="9640608" y="31750"/>
                  </a:lnTo>
                  <a:lnTo>
                    <a:pt x="9682194" y="31750"/>
                  </a:lnTo>
                  <a:lnTo>
                    <a:pt x="9683902" y="33020"/>
                  </a:lnTo>
                  <a:lnTo>
                    <a:pt x="9686069" y="35560"/>
                  </a:lnTo>
                  <a:lnTo>
                    <a:pt x="9647275" y="35560"/>
                  </a:lnTo>
                  <a:lnTo>
                    <a:pt x="9647809" y="36829"/>
                  </a:lnTo>
                  <a:close/>
                </a:path>
                <a:path w="9711055" h="570229">
                  <a:moveTo>
                    <a:pt x="62712" y="36829"/>
                  </a:moveTo>
                  <a:lnTo>
                    <a:pt x="63245" y="35560"/>
                  </a:lnTo>
                  <a:lnTo>
                    <a:pt x="64623" y="35560"/>
                  </a:lnTo>
                  <a:lnTo>
                    <a:pt x="62712" y="36829"/>
                  </a:lnTo>
                  <a:close/>
                </a:path>
                <a:path w="9711055" h="570229">
                  <a:moveTo>
                    <a:pt x="9656978" y="43179"/>
                  </a:moveTo>
                  <a:lnTo>
                    <a:pt x="9653549" y="40639"/>
                  </a:lnTo>
                  <a:lnTo>
                    <a:pt x="9654032" y="40639"/>
                  </a:lnTo>
                  <a:lnTo>
                    <a:pt x="9650463" y="38100"/>
                  </a:lnTo>
                  <a:lnTo>
                    <a:pt x="9650971" y="38100"/>
                  </a:lnTo>
                  <a:lnTo>
                    <a:pt x="9647275" y="35560"/>
                  </a:lnTo>
                  <a:lnTo>
                    <a:pt x="9686069" y="35560"/>
                  </a:lnTo>
                  <a:lnTo>
                    <a:pt x="9687153" y="36829"/>
                  </a:lnTo>
                  <a:lnTo>
                    <a:pt x="9690214" y="40639"/>
                  </a:lnTo>
                  <a:lnTo>
                    <a:pt x="9691060" y="41910"/>
                  </a:lnTo>
                  <a:lnTo>
                    <a:pt x="9656521" y="41910"/>
                  </a:lnTo>
                  <a:lnTo>
                    <a:pt x="9656978" y="43179"/>
                  </a:lnTo>
                  <a:close/>
                </a:path>
                <a:path w="9711055" h="570229">
                  <a:moveTo>
                    <a:pt x="53543" y="43179"/>
                  </a:moveTo>
                  <a:lnTo>
                    <a:pt x="54013" y="41910"/>
                  </a:lnTo>
                  <a:lnTo>
                    <a:pt x="55257" y="41910"/>
                  </a:lnTo>
                  <a:lnTo>
                    <a:pt x="53543" y="43179"/>
                  </a:lnTo>
                  <a:close/>
                </a:path>
                <a:path w="9711055" h="570229">
                  <a:moveTo>
                    <a:pt x="9659810" y="45720"/>
                  </a:moveTo>
                  <a:lnTo>
                    <a:pt x="9656521" y="41910"/>
                  </a:lnTo>
                  <a:lnTo>
                    <a:pt x="9691060" y="41910"/>
                  </a:lnTo>
                  <a:lnTo>
                    <a:pt x="9692754" y="44450"/>
                  </a:lnTo>
                  <a:lnTo>
                    <a:pt x="9659366" y="44450"/>
                  </a:lnTo>
                  <a:lnTo>
                    <a:pt x="9659810" y="45720"/>
                  </a:lnTo>
                  <a:close/>
                </a:path>
                <a:path w="9711055" h="570229">
                  <a:moveTo>
                    <a:pt x="50711" y="45720"/>
                  </a:moveTo>
                  <a:lnTo>
                    <a:pt x="51155" y="44450"/>
                  </a:lnTo>
                  <a:lnTo>
                    <a:pt x="51811" y="44450"/>
                  </a:lnTo>
                  <a:lnTo>
                    <a:pt x="50711" y="45720"/>
                  </a:lnTo>
                  <a:close/>
                </a:path>
                <a:path w="9711055" h="570229">
                  <a:moveTo>
                    <a:pt x="9662528" y="48260"/>
                  </a:moveTo>
                  <a:lnTo>
                    <a:pt x="9659366" y="44450"/>
                  </a:lnTo>
                  <a:lnTo>
                    <a:pt x="9692754" y="44450"/>
                  </a:lnTo>
                  <a:lnTo>
                    <a:pt x="9693097" y="45720"/>
                  </a:lnTo>
                  <a:lnTo>
                    <a:pt x="9693990" y="46989"/>
                  </a:lnTo>
                  <a:lnTo>
                    <a:pt x="9662096" y="46989"/>
                  </a:lnTo>
                  <a:lnTo>
                    <a:pt x="9662528" y="48260"/>
                  </a:lnTo>
                  <a:close/>
                </a:path>
                <a:path w="9711055" h="570229">
                  <a:moveTo>
                    <a:pt x="47993" y="48260"/>
                  </a:moveTo>
                  <a:lnTo>
                    <a:pt x="48425" y="46989"/>
                  </a:lnTo>
                  <a:lnTo>
                    <a:pt x="49047" y="46989"/>
                  </a:lnTo>
                  <a:lnTo>
                    <a:pt x="47993" y="48260"/>
                  </a:lnTo>
                  <a:close/>
                </a:path>
                <a:path w="9711055" h="570229">
                  <a:moveTo>
                    <a:pt x="9672053" y="59689"/>
                  </a:moveTo>
                  <a:lnTo>
                    <a:pt x="9669513" y="55879"/>
                  </a:lnTo>
                  <a:lnTo>
                    <a:pt x="9669881" y="55879"/>
                  </a:lnTo>
                  <a:lnTo>
                    <a:pt x="9667176" y="53339"/>
                  </a:lnTo>
                  <a:lnTo>
                    <a:pt x="9667570" y="53339"/>
                  </a:lnTo>
                  <a:lnTo>
                    <a:pt x="9664700" y="50800"/>
                  </a:lnTo>
                  <a:lnTo>
                    <a:pt x="9665119" y="50800"/>
                  </a:lnTo>
                  <a:lnTo>
                    <a:pt x="9662096" y="46989"/>
                  </a:lnTo>
                  <a:lnTo>
                    <a:pt x="9693990" y="46989"/>
                  </a:lnTo>
                  <a:lnTo>
                    <a:pt x="9695776" y="49529"/>
                  </a:lnTo>
                  <a:lnTo>
                    <a:pt x="9697974" y="53339"/>
                  </a:lnTo>
                  <a:lnTo>
                    <a:pt x="9700272" y="58420"/>
                  </a:lnTo>
                  <a:lnTo>
                    <a:pt x="9671710" y="58420"/>
                  </a:lnTo>
                  <a:lnTo>
                    <a:pt x="9672053" y="59689"/>
                  </a:lnTo>
                  <a:close/>
                </a:path>
                <a:path w="9711055" h="570229">
                  <a:moveTo>
                    <a:pt x="38468" y="59689"/>
                  </a:moveTo>
                  <a:lnTo>
                    <a:pt x="38811" y="58420"/>
                  </a:lnTo>
                  <a:lnTo>
                    <a:pt x="39314" y="58420"/>
                  </a:lnTo>
                  <a:lnTo>
                    <a:pt x="38468" y="59689"/>
                  </a:lnTo>
                  <a:close/>
                </a:path>
                <a:path w="9711055" h="570229">
                  <a:moveTo>
                    <a:pt x="9677666" y="69850"/>
                  </a:moveTo>
                  <a:lnTo>
                    <a:pt x="9675660" y="66039"/>
                  </a:lnTo>
                  <a:lnTo>
                    <a:pt x="9675952" y="66039"/>
                  </a:lnTo>
                  <a:lnTo>
                    <a:pt x="9673755" y="62229"/>
                  </a:lnTo>
                  <a:lnTo>
                    <a:pt x="9674072" y="62229"/>
                  </a:lnTo>
                  <a:lnTo>
                    <a:pt x="9671710" y="58420"/>
                  </a:lnTo>
                  <a:lnTo>
                    <a:pt x="9700272" y="58420"/>
                  </a:lnTo>
                  <a:lnTo>
                    <a:pt x="9702368" y="62229"/>
                  </a:lnTo>
                  <a:lnTo>
                    <a:pt x="9702609" y="63500"/>
                  </a:lnTo>
                  <a:lnTo>
                    <a:pt x="9704235" y="67310"/>
                  </a:lnTo>
                  <a:lnTo>
                    <a:pt x="9704647" y="68579"/>
                  </a:lnTo>
                  <a:lnTo>
                    <a:pt x="9677400" y="68579"/>
                  </a:lnTo>
                  <a:lnTo>
                    <a:pt x="9677666" y="69850"/>
                  </a:lnTo>
                  <a:close/>
                </a:path>
                <a:path w="9711055" h="570229">
                  <a:moveTo>
                    <a:pt x="32854" y="69850"/>
                  </a:moveTo>
                  <a:lnTo>
                    <a:pt x="33121" y="68579"/>
                  </a:lnTo>
                  <a:lnTo>
                    <a:pt x="33523" y="68579"/>
                  </a:lnTo>
                  <a:lnTo>
                    <a:pt x="32854" y="69850"/>
                  </a:lnTo>
                  <a:close/>
                </a:path>
                <a:path w="9711055" h="570229">
                  <a:moveTo>
                    <a:pt x="9705873" y="497839"/>
                  </a:moveTo>
                  <a:lnTo>
                    <a:pt x="9678974" y="497839"/>
                  </a:lnTo>
                  <a:lnTo>
                    <a:pt x="9680600" y="494029"/>
                  </a:lnTo>
                  <a:lnTo>
                    <a:pt x="9680384" y="494029"/>
                  </a:lnTo>
                  <a:lnTo>
                    <a:pt x="9681819" y="490220"/>
                  </a:lnTo>
                  <a:lnTo>
                    <a:pt x="9681629" y="490220"/>
                  </a:lnTo>
                  <a:lnTo>
                    <a:pt x="9682861" y="486410"/>
                  </a:lnTo>
                  <a:lnTo>
                    <a:pt x="9682695" y="486410"/>
                  </a:lnTo>
                  <a:lnTo>
                    <a:pt x="9683597" y="482600"/>
                  </a:lnTo>
                  <a:lnTo>
                    <a:pt x="9684296" y="478789"/>
                  </a:lnTo>
                  <a:lnTo>
                    <a:pt x="9684804" y="474979"/>
                  </a:lnTo>
                  <a:lnTo>
                    <a:pt x="9685015" y="472439"/>
                  </a:lnTo>
                  <a:lnTo>
                    <a:pt x="9685062" y="97789"/>
                  </a:lnTo>
                  <a:lnTo>
                    <a:pt x="9684867" y="95250"/>
                  </a:lnTo>
                  <a:lnTo>
                    <a:pt x="9684581" y="92710"/>
                  </a:lnTo>
                  <a:lnTo>
                    <a:pt x="9684188" y="90170"/>
                  </a:lnTo>
                  <a:lnTo>
                    <a:pt x="9683724" y="87629"/>
                  </a:lnTo>
                  <a:lnTo>
                    <a:pt x="9683597" y="86360"/>
                  </a:lnTo>
                  <a:lnTo>
                    <a:pt x="9683467" y="86360"/>
                  </a:lnTo>
                  <a:lnTo>
                    <a:pt x="9682695" y="82550"/>
                  </a:lnTo>
                  <a:lnTo>
                    <a:pt x="9682450" y="82550"/>
                  </a:lnTo>
                  <a:lnTo>
                    <a:pt x="9681629" y="80010"/>
                  </a:lnTo>
                  <a:lnTo>
                    <a:pt x="9681819" y="80010"/>
                  </a:lnTo>
                  <a:lnTo>
                    <a:pt x="9680384" y="76200"/>
                  </a:lnTo>
                  <a:lnTo>
                    <a:pt x="9680600" y="76200"/>
                  </a:lnTo>
                  <a:lnTo>
                    <a:pt x="9678974" y="72389"/>
                  </a:lnTo>
                  <a:lnTo>
                    <a:pt x="9679216" y="72389"/>
                  </a:lnTo>
                  <a:lnTo>
                    <a:pt x="9677400" y="68579"/>
                  </a:lnTo>
                  <a:lnTo>
                    <a:pt x="9704647" y="68579"/>
                  </a:lnTo>
                  <a:lnTo>
                    <a:pt x="9705886" y="72389"/>
                  </a:lnTo>
                  <a:lnTo>
                    <a:pt x="9707295" y="77470"/>
                  </a:lnTo>
                  <a:lnTo>
                    <a:pt x="9708464" y="81279"/>
                  </a:lnTo>
                  <a:lnTo>
                    <a:pt x="9708591" y="82550"/>
                  </a:lnTo>
                  <a:lnTo>
                    <a:pt x="9682695" y="82550"/>
                  </a:lnTo>
                  <a:lnTo>
                    <a:pt x="9682949" y="83802"/>
                  </a:lnTo>
                  <a:lnTo>
                    <a:pt x="9708854" y="83802"/>
                  </a:lnTo>
                  <a:lnTo>
                    <a:pt x="9709391" y="86360"/>
                  </a:lnTo>
                  <a:lnTo>
                    <a:pt x="9683597" y="86360"/>
                  </a:lnTo>
                  <a:lnTo>
                    <a:pt x="9683794" y="87629"/>
                  </a:lnTo>
                  <a:lnTo>
                    <a:pt x="9709492" y="87629"/>
                  </a:lnTo>
                  <a:lnTo>
                    <a:pt x="9710140" y="92710"/>
                  </a:lnTo>
                  <a:lnTo>
                    <a:pt x="9710483" y="97789"/>
                  </a:lnTo>
                  <a:lnTo>
                    <a:pt x="9710483" y="472439"/>
                  </a:lnTo>
                  <a:lnTo>
                    <a:pt x="9710077" y="477520"/>
                  </a:lnTo>
                  <a:lnTo>
                    <a:pt x="9709492" y="482600"/>
                  </a:lnTo>
                  <a:lnTo>
                    <a:pt x="9708464" y="487679"/>
                  </a:lnTo>
                  <a:lnTo>
                    <a:pt x="9707295" y="492760"/>
                  </a:lnTo>
                  <a:lnTo>
                    <a:pt x="9705873" y="497839"/>
                  </a:lnTo>
                  <a:close/>
                </a:path>
                <a:path w="9711055" h="570229">
                  <a:moveTo>
                    <a:pt x="27666" y="83802"/>
                  </a:moveTo>
                  <a:lnTo>
                    <a:pt x="27825" y="82550"/>
                  </a:lnTo>
                  <a:lnTo>
                    <a:pt x="28071" y="82550"/>
                  </a:lnTo>
                  <a:lnTo>
                    <a:pt x="27666" y="83802"/>
                  </a:lnTo>
                  <a:close/>
                </a:path>
                <a:path w="9711055" h="570229">
                  <a:moveTo>
                    <a:pt x="31759" y="497839"/>
                  </a:moveTo>
                  <a:lnTo>
                    <a:pt x="31546" y="497839"/>
                  </a:lnTo>
                  <a:lnTo>
                    <a:pt x="31305" y="496570"/>
                  </a:lnTo>
                  <a:lnTo>
                    <a:pt x="31759" y="497839"/>
                  </a:lnTo>
                  <a:close/>
                </a:path>
                <a:path w="9711055" h="570229">
                  <a:moveTo>
                    <a:pt x="9704806" y="501650"/>
                  </a:moveTo>
                  <a:lnTo>
                    <a:pt x="9677400" y="501650"/>
                  </a:lnTo>
                  <a:lnTo>
                    <a:pt x="9679216" y="496570"/>
                  </a:lnTo>
                  <a:lnTo>
                    <a:pt x="9678974" y="497839"/>
                  </a:lnTo>
                  <a:lnTo>
                    <a:pt x="9705873" y="497839"/>
                  </a:lnTo>
                  <a:lnTo>
                    <a:pt x="9704806" y="501650"/>
                  </a:lnTo>
                  <a:close/>
                </a:path>
                <a:path w="9711055" h="570229">
                  <a:moveTo>
                    <a:pt x="33523" y="501650"/>
                  </a:moveTo>
                  <a:lnTo>
                    <a:pt x="33121" y="501650"/>
                  </a:lnTo>
                  <a:lnTo>
                    <a:pt x="32854" y="500379"/>
                  </a:lnTo>
                  <a:lnTo>
                    <a:pt x="33523" y="501650"/>
                  </a:lnTo>
                  <a:close/>
                </a:path>
                <a:path w="9711055" h="570229">
                  <a:moveTo>
                    <a:pt x="9702368" y="508000"/>
                  </a:moveTo>
                  <a:lnTo>
                    <a:pt x="9673755" y="508000"/>
                  </a:lnTo>
                  <a:lnTo>
                    <a:pt x="9675952" y="504189"/>
                  </a:lnTo>
                  <a:lnTo>
                    <a:pt x="9675660" y="504189"/>
                  </a:lnTo>
                  <a:lnTo>
                    <a:pt x="9677666" y="500379"/>
                  </a:lnTo>
                  <a:lnTo>
                    <a:pt x="9677400" y="501650"/>
                  </a:lnTo>
                  <a:lnTo>
                    <a:pt x="9704806" y="501650"/>
                  </a:lnTo>
                  <a:lnTo>
                    <a:pt x="9704451" y="502920"/>
                  </a:lnTo>
                  <a:lnTo>
                    <a:pt x="9702609" y="506729"/>
                  </a:lnTo>
                  <a:lnTo>
                    <a:pt x="9702368" y="508000"/>
                  </a:lnTo>
                  <a:close/>
                </a:path>
                <a:path w="9711055" h="570229">
                  <a:moveTo>
                    <a:pt x="37236" y="508000"/>
                  </a:moveTo>
                  <a:lnTo>
                    <a:pt x="36766" y="508000"/>
                  </a:lnTo>
                  <a:lnTo>
                    <a:pt x="36448" y="506729"/>
                  </a:lnTo>
                  <a:lnTo>
                    <a:pt x="37236" y="508000"/>
                  </a:lnTo>
                  <a:close/>
                </a:path>
                <a:path w="9711055" h="570229">
                  <a:moveTo>
                    <a:pt x="9698934" y="514350"/>
                  </a:moveTo>
                  <a:lnTo>
                    <a:pt x="9669513" y="514350"/>
                  </a:lnTo>
                  <a:lnTo>
                    <a:pt x="9672053" y="510539"/>
                  </a:lnTo>
                  <a:lnTo>
                    <a:pt x="9671710" y="510539"/>
                  </a:lnTo>
                  <a:lnTo>
                    <a:pt x="9674072" y="506729"/>
                  </a:lnTo>
                  <a:lnTo>
                    <a:pt x="9673755" y="508000"/>
                  </a:lnTo>
                  <a:lnTo>
                    <a:pt x="9702368" y="508000"/>
                  </a:lnTo>
                  <a:lnTo>
                    <a:pt x="9700272" y="511810"/>
                  </a:lnTo>
                  <a:lnTo>
                    <a:pt x="9698934" y="514350"/>
                  </a:lnTo>
                  <a:close/>
                </a:path>
                <a:path w="9711055" h="570229">
                  <a:moveTo>
                    <a:pt x="41541" y="514350"/>
                  </a:moveTo>
                  <a:lnTo>
                    <a:pt x="41008" y="514350"/>
                  </a:lnTo>
                  <a:lnTo>
                    <a:pt x="40639" y="513079"/>
                  </a:lnTo>
                  <a:lnTo>
                    <a:pt x="41541" y="514350"/>
                  </a:lnTo>
                  <a:close/>
                </a:path>
                <a:path w="9711055" h="570229">
                  <a:moveTo>
                    <a:pt x="9692754" y="525779"/>
                  </a:moveTo>
                  <a:lnTo>
                    <a:pt x="9659366" y="525779"/>
                  </a:lnTo>
                  <a:lnTo>
                    <a:pt x="9662528" y="521970"/>
                  </a:lnTo>
                  <a:lnTo>
                    <a:pt x="9662096" y="521970"/>
                  </a:lnTo>
                  <a:lnTo>
                    <a:pt x="9665119" y="519429"/>
                  </a:lnTo>
                  <a:lnTo>
                    <a:pt x="9664700" y="519429"/>
                  </a:lnTo>
                  <a:lnTo>
                    <a:pt x="9667570" y="516889"/>
                  </a:lnTo>
                  <a:lnTo>
                    <a:pt x="9667176" y="516889"/>
                  </a:lnTo>
                  <a:lnTo>
                    <a:pt x="9669881" y="513079"/>
                  </a:lnTo>
                  <a:lnTo>
                    <a:pt x="9669513" y="514350"/>
                  </a:lnTo>
                  <a:lnTo>
                    <a:pt x="9698934" y="514350"/>
                  </a:lnTo>
                  <a:lnTo>
                    <a:pt x="9698266" y="515620"/>
                  </a:lnTo>
                  <a:lnTo>
                    <a:pt x="9695459" y="520700"/>
                  </a:lnTo>
                  <a:lnTo>
                    <a:pt x="9692754" y="525779"/>
                  </a:lnTo>
                  <a:close/>
                </a:path>
                <a:path w="9711055" h="570229">
                  <a:moveTo>
                    <a:pt x="52362" y="525779"/>
                  </a:moveTo>
                  <a:lnTo>
                    <a:pt x="51155" y="525779"/>
                  </a:lnTo>
                  <a:lnTo>
                    <a:pt x="50711" y="524510"/>
                  </a:lnTo>
                  <a:lnTo>
                    <a:pt x="52362" y="525779"/>
                  </a:lnTo>
                  <a:close/>
                </a:path>
                <a:path w="9711055" h="570229">
                  <a:moveTo>
                    <a:pt x="9684986" y="534670"/>
                  </a:moveTo>
                  <a:lnTo>
                    <a:pt x="9647275" y="534670"/>
                  </a:lnTo>
                  <a:lnTo>
                    <a:pt x="9650971" y="532129"/>
                  </a:lnTo>
                  <a:lnTo>
                    <a:pt x="9650463" y="532129"/>
                  </a:lnTo>
                  <a:lnTo>
                    <a:pt x="9654032" y="529589"/>
                  </a:lnTo>
                  <a:lnTo>
                    <a:pt x="9653549" y="529589"/>
                  </a:lnTo>
                  <a:lnTo>
                    <a:pt x="9656978" y="527050"/>
                  </a:lnTo>
                  <a:lnTo>
                    <a:pt x="9656521" y="527050"/>
                  </a:lnTo>
                  <a:lnTo>
                    <a:pt x="9659810" y="524510"/>
                  </a:lnTo>
                  <a:lnTo>
                    <a:pt x="9659366" y="525779"/>
                  </a:lnTo>
                  <a:lnTo>
                    <a:pt x="9692754" y="525779"/>
                  </a:lnTo>
                  <a:lnTo>
                    <a:pt x="9690214" y="528320"/>
                  </a:lnTo>
                  <a:lnTo>
                    <a:pt x="9687153" y="532129"/>
                  </a:lnTo>
                  <a:lnTo>
                    <a:pt x="9684986" y="534670"/>
                  </a:lnTo>
                  <a:close/>
                </a:path>
                <a:path w="9711055" h="570229">
                  <a:moveTo>
                    <a:pt x="64623" y="534670"/>
                  </a:moveTo>
                  <a:lnTo>
                    <a:pt x="63245" y="534670"/>
                  </a:lnTo>
                  <a:lnTo>
                    <a:pt x="62712" y="533400"/>
                  </a:lnTo>
                  <a:lnTo>
                    <a:pt x="64623" y="534670"/>
                  </a:lnTo>
                  <a:close/>
                </a:path>
                <a:path w="9711055" h="570229">
                  <a:moveTo>
                    <a:pt x="9680486" y="539750"/>
                  </a:moveTo>
                  <a:lnTo>
                    <a:pt x="9637141" y="539750"/>
                  </a:lnTo>
                  <a:lnTo>
                    <a:pt x="9641166" y="537210"/>
                  </a:lnTo>
                  <a:lnTo>
                    <a:pt x="9640608" y="537210"/>
                  </a:lnTo>
                  <a:lnTo>
                    <a:pt x="9644532" y="535939"/>
                  </a:lnTo>
                  <a:lnTo>
                    <a:pt x="9643999" y="535939"/>
                  </a:lnTo>
                  <a:lnTo>
                    <a:pt x="9647809" y="533400"/>
                  </a:lnTo>
                  <a:lnTo>
                    <a:pt x="9647275" y="534670"/>
                  </a:lnTo>
                  <a:lnTo>
                    <a:pt x="9684986" y="534670"/>
                  </a:lnTo>
                  <a:lnTo>
                    <a:pt x="9683902" y="535939"/>
                  </a:lnTo>
                  <a:lnTo>
                    <a:pt x="9680486" y="539750"/>
                  </a:lnTo>
                  <a:close/>
                </a:path>
                <a:path w="9711055" h="570229">
                  <a:moveTo>
                    <a:pt x="74872" y="539750"/>
                  </a:moveTo>
                  <a:lnTo>
                    <a:pt x="73380" y="539750"/>
                  </a:lnTo>
                  <a:lnTo>
                    <a:pt x="72809" y="538479"/>
                  </a:lnTo>
                  <a:lnTo>
                    <a:pt x="74872" y="539750"/>
                  </a:lnTo>
                  <a:close/>
                </a:path>
                <a:path w="9711055" h="570229">
                  <a:moveTo>
                    <a:pt x="9675346" y="544829"/>
                  </a:moveTo>
                  <a:lnTo>
                    <a:pt x="9618573" y="544829"/>
                  </a:lnTo>
                  <a:lnTo>
                    <a:pt x="9623056" y="543560"/>
                  </a:lnTo>
                  <a:lnTo>
                    <a:pt x="9622434" y="543560"/>
                  </a:lnTo>
                  <a:lnTo>
                    <a:pt x="9626841" y="542289"/>
                  </a:lnTo>
                  <a:lnTo>
                    <a:pt x="9629940" y="542289"/>
                  </a:lnTo>
                  <a:lnTo>
                    <a:pt x="9634169" y="541020"/>
                  </a:lnTo>
                  <a:lnTo>
                    <a:pt x="9633585" y="541020"/>
                  </a:lnTo>
                  <a:lnTo>
                    <a:pt x="9637712" y="538479"/>
                  </a:lnTo>
                  <a:lnTo>
                    <a:pt x="9637141" y="539750"/>
                  </a:lnTo>
                  <a:lnTo>
                    <a:pt x="9680486" y="539750"/>
                  </a:lnTo>
                  <a:lnTo>
                    <a:pt x="9680054" y="541020"/>
                  </a:lnTo>
                  <a:lnTo>
                    <a:pt x="9676447" y="543560"/>
                  </a:lnTo>
                  <a:lnTo>
                    <a:pt x="9675346" y="544829"/>
                  </a:lnTo>
                  <a:close/>
                </a:path>
                <a:path w="9711055" h="570229">
                  <a:moveTo>
                    <a:pt x="9628149" y="568960"/>
                  </a:moveTo>
                  <a:lnTo>
                    <a:pt x="82372" y="568960"/>
                  </a:lnTo>
                  <a:lnTo>
                    <a:pt x="77355" y="567689"/>
                  </a:lnTo>
                  <a:lnTo>
                    <a:pt x="73037" y="566420"/>
                  </a:lnTo>
                  <a:lnTo>
                    <a:pt x="68211" y="563879"/>
                  </a:lnTo>
                  <a:lnTo>
                    <a:pt x="9642309" y="563879"/>
                  </a:lnTo>
                  <a:lnTo>
                    <a:pt x="9637483" y="566420"/>
                  </a:lnTo>
                  <a:lnTo>
                    <a:pt x="9633165" y="567689"/>
                  </a:lnTo>
                  <a:lnTo>
                    <a:pt x="9628149" y="568960"/>
                  </a:lnTo>
                  <a:close/>
                </a:path>
                <a:path w="9711055" h="570229">
                  <a:moveTo>
                    <a:pt x="9617862" y="570229"/>
                  </a:moveTo>
                  <a:lnTo>
                    <a:pt x="92659" y="570229"/>
                  </a:lnTo>
                  <a:lnTo>
                    <a:pt x="88112" y="568960"/>
                  </a:lnTo>
                  <a:lnTo>
                    <a:pt x="9622409" y="568960"/>
                  </a:lnTo>
                  <a:lnTo>
                    <a:pt x="9617862" y="57022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774810" y="6087313"/>
              <a:ext cx="123825" cy="55244"/>
            </a:xfrm>
            <a:custGeom>
              <a:avLst/>
              <a:gdLst/>
              <a:ahLst/>
              <a:cxnLst/>
              <a:rect l="l" t="t" r="r" b="b"/>
              <a:pathLst>
                <a:path w="123825" h="55245">
                  <a:moveTo>
                    <a:pt x="115633" y="55245"/>
                  </a:moveTo>
                  <a:lnTo>
                    <a:pt x="63106" y="19050"/>
                  </a:lnTo>
                  <a:lnTo>
                    <a:pt x="61468" y="19050"/>
                  </a:lnTo>
                  <a:lnTo>
                    <a:pt x="8039" y="55245"/>
                  </a:lnTo>
                  <a:lnTo>
                    <a:pt x="0" y="46761"/>
                  </a:lnTo>
                  <a:lnTo>
                    <a:pt x="53136" y="0"/>
                  </a:lnTo>
                  <a:lnTo>
                    <a:pt x="73075" y="0"/>
                  </a:lnTo>
                  <a:lnTo>
                    <a:pt x="123672" y="46761"/>
                  </a:lnTo>
                  <a:lnTo>
                    <a:pt x="115633" y="552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47077" y="257492"/>
            <a:ext cx="32258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回归的评价指标</a:t>
            </a:r>
            <a:endParaRPr spc="-10" dirty="0"/>
          </a:p>
        </p:txBody>
      </p:sp>
      <p:sp>
        <p:nvSpPr>
          <p:cNvPr id="7" name="object 7"/>
          <p:cNvSpPr txBox="1"/>
          <p:nvPr/>
        </p:nvSpPr>
        <p:spPr>
          <a:xfrm>
            <a:off x="958634" y="5990183"/>
            <a:ext cx="9728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其中，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𝑦</a:t>
            </a:r>
            <a:r>
              <a:rPr sz="2625" baseline="27000" dirty="0">
                <a:latin typeface="Cambria Math" panose="02040503050406030204"/>
                <a:cs typeface="Cambria Math" panose="02040503050406030204"/>
              </a:rPr>
              <a:t>(𝑖</a:t>
            </a:r>
            <a:r>
              <a:rPr sz="2625" spc="52" baseline="27000" dirty="0">
                <a:latin typeface="Cambria Math" panose="02040503050406030204"/>
                <a:cs typeface="Cambria Math" panose="02040503050406030204"/>
              </a:rPr>
              <a:t>)  </a:t>
            </a: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和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𝑦</a:t>
            </a:r>
            <a:r>
              <a:rPr sz="2625" baseline="38000" dirty="0">
                <a:latin typeface="Cambria Math" panose="02040503050406030204"/>
                <a:cs typeface="Cambria Math" panose="02040503050406030204"/>
              </a:rPr>
              <a:t>(𝑖)</a:t>
            </a: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分别表示第</a:t>
            </a:r>
            <a:r>
              <a:rPr sz="2400" spc="-20" dirty="0">
                <a:latin typeface="Cambria Math" panose="02040503050406030204"/>
                <a:cs typeface="Cambria Math" panose="02040503050406030204"/>
              </a:rPr>
              <a:t>𝑖</a:t>
            </a: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个样本的真实值和预测值，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𝑚</a:t>
            </a:r>
            <a:r>
              <a:rPr sz="2400" spc="27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10" dirty="0">
                <a:latin typeface="微软雅黑" panose="020B0503020204020204" charset="-122"/>
                <a:cs typeface="微软雅黑" panose="020B0503020204020204" charset="-122"/>
              </a:rPr>
              <a:t>为样本个数。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1941" y="1480691"/>
            <a:ext cx="4598035" cy="76644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2400" b="1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均方误差</a:t>
            </a:r>
            <a:r>
              <a:rPr sz="200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（Mean</a:t>
            </a:r>
            <a:r>
              <a:rPr sz="2000" spc="-65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Square</a:t>
            </a:r>
            <a:r>
              <a:rPr sz="2000" spc="-55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Error,MSE）</a:t>
            </a:r>
            <a:endParaRPr sz="2000">
              <a:latin typeface="微软雅黑" panose="020B0503020204020204" charset="-122"/>
              <a:cs typeface="微软雅黑" panose="020B0503020204020204" charset="-122"/>
            </a:endParaRPr>
          </a:p>
          <a:p>
            <a:pPr marL="421640" algn="ctr">
              <a:lnSpc>
                <a:spcPct val="100000"/>
              </a:lnSpc>
              <a:spcBef>
                <a:spcPts val="360"/>
              </a:spcBef>
            </a:pPr>
            <a:r>
              <a:rPr sz="1750" spc="-50" dirty="0">
                <a:latin typeface="Cambria Math" panose="02040503050406030204"/>
                <a:cs typeface="Cambria Math" panose="02040503050406030204"/>
              </a:rPr>
              <a:t>𝑚</a:t>
            </a:r>
            <a:endParaRPr sz="17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654096" y="2546845"/>
            <a:ext cx="255270" cy="20320"/>
          </a:xfrm>
          <a:custGeom>
            <a:avLst/>
            <a:gdLst/>
            <a:ahLst/>
            <a:cxnLst/>
            <a:rect l="l" t="t" r="r" b="b"/>
            <a:pathLst>
              <a:path w="255269" h="20319">
                <a:moveTo>
                  <a:pt x="255269" y="20002"/>
                </a:moveTo>
                <a:lnTo>
                  <a:pt x="0" y="20002"/>
                </a:lnTo>
                <a:lnTo>
                  <a:pt x="0" y="0"/>
                </a:lnTo>
                <a:lnTo>
                  <a:pt x="255269" y="0"/>
                </a:lnTo>
                <a:lnTo>
                  <a:pt x="255269" y="200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2641396" y="2530182"/>
            <a:ext cx="2813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 panose="02040503050406030204"/>
                <a:cs typeface="Cambria Math" panose="02040503050406030204"/>
              </a:rPr>
              <a:t>𝑚</a:t>
            </a:r>
            <a:endParaRPr sz="24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69691" y="2806407"/>
            <a:ext cx="384810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25" dirty="0">
                <a:latin typeface="Cambria Math" panose="02040503050406030204"/>
                <a:cs typeface="Cambria Math" panose="02040503050406030204"/>
              </a:rPr>
              <a:t>𝑖=1</a:t>
            </a:r>
            <a:endParaRPr sz="17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425822" y="2423477"/>
            <a:ext cx="123825" cy="55244"/>
          </a:xfrm>
          <a:custGeom>
            <a:avLst/>
            <a:gdLst/>
            <a:ahLst/>
            <a:cxnLst/>
            <a:rect l="l" t="t" r="r" b="b"/>
            <a:pathLst>
              <a:path w="123825" h="55244">
                <a:moveTo>
                  <a:pt x="115633" y="55245"/>
                </a:moveTo>
                <a:lnTo>
                  <a:pt x="63106" y="19050"/>
                </a:lnTo>
                <a:lnTo>
                  <a:pt x="61467" y="19050"/>
                </a:lnTo>
                <a:lnTo>
                  <a:pt x="8039" y="55245"/>
                </a:lnTo>
                <a:lnTo>
                  <a:pt x="0" y="46761"/>
                </a:lnTo>
                <a:lnTo>
                  <a:pt x="53124" y="0"/>
                </a:lnTo>
                <a:lnTo>
                  <a:pt x="73075" y="0"/>
                </a:lnTo>
                <a:lnTo>
                  <a:pt x="123672" y="46761"/>
                </a:lnTo>
                <a:lnTo>
                  <a:pt x="115633" y="552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643176" y="2326347"/>
            <a:ext cx="34975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053465" algn="l"/>
              </a:tabLst>
            </a:pPr>
            <a:r>
              <a:rPr sz="2400" dirty="0">
                <a:latin typeface="Cambria Math" panose="02040503050406030204"/>
                <a:cs typeface="Cambria Math" panose="02040503050406030204"/>
              </a:rPr>
              <a:t>MSE</a:t>
            </a:r>
            <a:r>
              <a:rPr sz="2400" spc="11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50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3600" baseline="42000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3600" spc="337" baseline="42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1475" dirty="0">
                <a:latin typeface="Cambria Math" panose="02040503050406030204"/>
                <a:cs typeface="Cambria Math" panose="02040503050406030204"/>
              </a:rPr>
              <a:t>∑</a:t>
            </a:r>
            <a:r>
              <a:rPr sz="2400" spc="-13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1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2400" spc="-12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𝑦</a:t>
            </a:r>
            <a:r>
              <a:rPr sz="2625" baseline="27000" dirty="0">
                <a:latin typeface="Cambria Math" panose="02040503050406030204"/>
                <a:cs typeface="Cambria Math" panose="02040503050406030204"/>
              </a:rPr>
              <a:t>(𝑖)</a:t>
            </a:r>
            <a:r>
              <a:rPr sz="2625" spc="390" baseline="27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400" spc="2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10" dirty="0">
                <a:latin typeface="Cambria Math" panose="02040503050406030204"/>
                <a:cs typeface="Cambria Math" panose="02040503050406030204"/>
              </a:rPr>
              <a:t>𝑦</a:t>
            </a:r>
            <a:r>
              <a:rPr sz="2625" spc="-15" baseline="38000" dirty="0">
                <a:latin typeface="Cambria Math" panose="02040503050406030204"/>
                <a:cs typeface="Cambria Math" panose="02040503050406030204"/>
              </a:rPr>
              <a:t>(𝑖)</a:t>
            </a:r>
            <a:r>
              <a:rPr sz="2400" spc="-10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2625" spc="-15" baseline="27000" dirty="0">
                <a:latin typeface="Cambria Math" panose="02040503050406030204"/>
                <a:cs typeface="Cambria Math" panose="02040503050406030204"/>
              </a:rPr>
              <a:t>2</a:t>
            </a:r>
            <a:endParaRPr sz="2625" baseline="2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094920" y="1622767"/>
            <a:ext cx="590169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均方根误差 </a:t>
            </a:r>
            <a:r>
              <a:rPr sz="200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RMSE(Root</a:t>
            </a:r>
            <a:r>
              <a:rPr sz="2000" spc="-55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Mean</a:t>
            </a:r>
            <a:r>
              <a:rPr sz="2000" spc="-6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Square</a:t>
            </a:r>
            <a:r>
              <a:rPr sz="2000" spc="-6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Error,RMSE)</a:t>
            </a:r>
            <a:endParaRPr sz="20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946656" y="2690190"/>
            <a:ext cx="123825" cy="55244"/>
          </a:xfrm>
          <a:custGeom>
            <a:avLst/>
            <a:gdLst/>
            <a:ahLst/>
            <a:cxnLst/>
            <a:rect l="l" t="t" r="r" b="b"/>
            <a:pathLst>
              <a:path w="123825" h="55244">
                <a:moveTo>
                  <a:pt x="115633" y="55244"/>
                </a:moveTo>
                <a:lnTo>
                  <a:pt x="63106" y="19049"/>
                </a:lnTo>
                <a:lnTo>
                  <a:pt x="61468" y="19049"/>
                </a:lnTo>
                <a:lnTo>
                  <a:pt x="8039" y="55244"/>
                </a:lnTo>
                <a:lnTo>
                  <a:pt x="0" y="46761"/>
                </a:lnTo>
                <a:lnTo>
                  <a:pt x="53136" y="0"/>
                </a:lnTo>
                <a:lnTo>
                  <a:pt x="73075" y="0"/>
                </a:lnTo>
                <a:lnTo>
                  <a:pt x="123672" y="46761"/>
                </a:lnTo>
                <a:lnTo>
                  <a:pt x="115633" y="5524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6735000" y="2593047"/>
            <a:ext cx="18110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mbria Math" panose="02040503050406030204"/>
                <a:cs typeface="Cambria Math" panose="02040503050406030204"/>
              </a:rPr>
              <a:t>RMSE(𝑦,</a:t>
            </a:r>
            <a:r>
              <a:rPr sz="2400" spc="-12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𝑦)</a:t>
            </a:r>
            <a:r>
              <a:rPr sz="2400" spc="1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50" dirty="0">
                <a:latin typeface="Cambria Math" panose="02040503050406030204"/>
                <a:cs typeface="Cambria Math" panose="02040503050406030204"/>
              </a:rPr>
              <a:t>=</a:t>
            </a:r>
            <a:endParaRPr sz="24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623630" y="2120684"/>
            <a:ext cx="2756535" cy="1358265"/>
          </a:xfrm>
          <a:custGeom>
            <a:avLst/>
            <a:gdLst/>
            <a:ahLst/>
            <a:cxnLst/>
            <a:rect l="l" t="t" r="r" b="b"/>
            <a:pathLst>
              <a:path w="2756534" h="1358264">
                <a:moveTo>
                  <a:pt x="142570" y="1358264"/>
                </a:moveTo>
                <a:lnTo>
                  <a:pt x="128727" y="1358264"/>
                </a:lnTo>
                <a:lnTo>
                  <a:pt x="34671" y="1184592"/>
                </a:lnTo>
                <a:lnTo>
                  <a:pt x="5359" y="1199921"/>
                </a:lnTo>
                <a:lnTo>
                  <a:pt x="0" y="1189050"/>
                </a:lnTo>
                <a:lnTo>
                  <a:pt x="54165" y="1160779"/>
                </a:lnTo>
                <a:lnTo>
                  <a:pt x="129476" y="1300226"/>
                </a:lnTo>
                <a:lnTo>
                  <a:pt x="194665" y="0"/>
                </a:lnTo>
                <a:lnTo>
                  <a:pt x="2756395" y="0"/>
                </a:lnTo>
                <a:lnTo>
                  <a:pt x="2756395" y="20116"/>
                </a:lnTo>
                <a:lnTo>
                  <a:pt x="228473" y="20116"/>
                </a:lnTo>
                <a:lnTo>
                  <a:pt x="228473" y="19684"/>
                </a:lnTo>
                <a:lnTo>
                  <a:pt x="210146" y="19684"/>
                </a:lnTo>
                <a:lnTo>
                  <a:pt x="142570" y="13582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8882570" y="2362543"/>
            <a:ext cx="1943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 panose="02040503050406030204"/>
                <a:cs typeface="Cambria Math" panose="02040503050406030204"/>
              </a:rPr>
              <a:t>1</a:t>
            </a:r>
            <a:endParaRPr sz="24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852103" y="2812910"/>
            <a:ext cx="255270" cy="20320"/>
          </a:xfrm>
          <a:custGeom>
            <a:avLst/>
            <a:gdLst/>
            <a:ahLst/>
            <a:cxnLst/>
            <a:rect l="l" t="t" r="r" b="b"/>
            <a:pathLst>
              <a:path w="255270" h="20319">
                <a:moveTo>
                  <a:pt x="255257" y="20002"/>
                </a:moveTo>
                <a:lnTo>
                  <a:pt x="0" y="20002"/>
                </a:lnTo>
                <a:lnTo>
                  <a:pt x="0" y="0"/>
                </a:lnTo>
                <a:lnTo>
                  <a:pt x="255257" y="0"/>
                </a:lnTo>
                <a:lnTo>
                  <a:pt x="255257" y="200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8839403" y="2796247"/>
            <a:ext cx="2813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 panose="02040503050406030204"/>
                <a:cs typeface="Cambria Math" panose="02040503050406030204"/>
              </a:rPr>
              <a:t>𝑚</a:t>
            </a:r>
            <a:endParaRPr sz="24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0623816" y="2689555"/>
            <a:ext cx="123825" cy="55244"/>
          </a:xfrm>
          <a:custGeom>
            <a:avLst/>
            <a:gdLst/>
            <a:ahLst/>
            <a:cxnLst/>
            <a:rect l="l" t="t" r="r" b="b"/>
            <a:pathLst>
              <a:path w="123825" h="55244">
                <a:moveTo>
                  <a:pt x="115633" y="55244"/>
                </a:moveTo>
                <a:lnTo>
                  <a:pt x="63106" y="19050"/>
                </a:lnTo>
                <a:lnTo>
                  <a:pt x="61468" y="19050"/>
                </a:lnTo>
                <a:lnTo>
                  <a:pt x="8039" y="55244"/>
                </a:lnTo>
                <a:lnTo>
                  <a:pt x="0" y="46761"/>
                </a:lnTo>
                <a:lnTo>
                  <a:pt x="53136" y="0"/>
                </a:lnTo>
                <a:lnTo>
                  <a:pt x="73075" y="0"/>
                </a:lnTo>
                <a:lnTo>
                  <a:pt x="123672" y="46761"/>
                </a:lnTo>
                <a:lnTo>
                  <a:pt x="115633" y="5524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9120060" y="2144539"/>
            <a:ext cx="2218690" cy="122047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46050">
              <a:lnSpc>
                <a:spcPct val="100000"/>
              </a:lnSpc>
              <a:spcBef>
                <a:spcPts val="700"/>
              </a:spcBef>
            </a:pPr>
            <a:r>
              <a:rPr sz="1750" spc="-50" dirty="0">
                <a:latin typeface="Cambria Math" panose="02040503050406030204"/>
                <a:cs typeface="Cambria Math" panose="02040503050406030204"/>
              </a:rPr>
              <a:t>𝑚</a:t>
            </a:r>
            <a:endParaRPr sz="1750">
              <a:latin typeface="Cambria Math" panose="02040503050406030204"/>
              <a:cs typeface="Cambria Math" panose="02040503050406030204"/>
            </a:endParaRPr>
          </a:p>
          <a:p>
            <a:pPr marL="38100">
              <a:lnSpc>
                <a:spcPct val="100000"/>
              </a:lnSpc>
              <a:spcBef>
                <a:spcPts val="825"/>
              </a:spcBef>
            </a:pPr>
            <a:r>
              <a:rPr sz="2400" spc="1475" dirty="0">
                <a:latin typeface="Cambria Math" panose="02040503050406030204"/>
                <a:cs typeface="Cambria Math" panose="02040503050406030204"/>
              </a:rPr>
              <a:t>∑</a:t>
            </a:r>
            <a:r>
              <a:rPr sz="2400" spc="-12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1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2400" spc="-12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𝑦</a:t>
            </a:r>
            <a:r>
              <a:rPr sz="2625" baseline="22000" dirty="0">
                <a:latin typeface="Cambria Math" panose="02040503050406030204"/>
                <a:cs typeface="Cambria Math" panose="02040503050406030204"/>
              </a:rPr>
              <a:t>(𝑖)</a:t>
            </a:r>
            <a:r>
              <a:rPr sz="2625" spc="397" baseline="22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400" spc="2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10" dirty="0">
                <a:latin typeface="Cambria Math" panose="02040503050406030204"/>
                <a:cs typeface="Cambria Math" panose="02040503050406030204"/>
              </a:rPr>
              <a:t>𝑦</a:t>
            </a:r>
            <a:r>
              <a:rPr sz="2625" spc="-15" baseline="38000" dirty="0">
                <a:latin typeface="Cambria Math" panose="02040503050406030204"/>
                <a:cs typeface="Cambria Math" panose="02040503050406030204"/>
              </a:rPr>
              <a:t>(𝑖)</a:t>
            </a:r>
            <a:r>
              <a:rPr sz="2400" spc="-10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2625" spc="-15" baseline="22000" dirty="0">
                <a:latin typeface="Cambria Math" panose="02040503050406030204"/>
                <a:cs typeface="Cambria Math" panose="02040503050406030204"/>
              </a:rPr>
              <a:t>2</a:t>
            </a:r>
            <a:endParaRPr sz="2625" baseline="22000">
              <a:latin typeface="Cambria Math" panose="02040503050406030204"/>
              <a:cs typeface="Cambria Math" panose="02040503050406030204"/>
            </a:endParaRPr>
          </a:p>
          <a:p>
            <a:pPr marL="60325">
              <a:lnSpc>
                <a:spcPct val="100000"/>
              </a:lnSpc>
              <a:spcBef>
                <a:spcPts val="900"/>
              </a:spcBef>
            </a:pPr>
            <a:r>
              <a:rPr sz="1750" spc="-25" dirty="0">
                <a:latin typeface="Cambria Math" panose="02040503050406030204"/>
                <a:cs typeface="Cambria Math" panose="02040503050406030204"/>
              </a:rPr>
              <a:t>𝑖=1</a:t>
            </a:r>
            <a:endParaRPr sz="17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51941" y="3685004"/>
            <a:ext cx="5474970" cy="76644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2400" b="1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平均绝对误差</a:t>
            </a:r>
            <a:r>
              <a:rPr sz="200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（Mean</a:t>
            </a:r>
            <a:r>
              <a:rPr sz="2000" spc="-9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Absolute</a:t>
            </a:r>
            <a:r>
              <a:rPr sz="2000" spc="-8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Error,MAE）</a:t>
            </a:r>
            <a:endParaRPr sz="2000">
              <a:latin typeface="微软雅黑" panose="020B0503020204020204" charset="-122"/>
              <a:cs typeface="微软雅黑" panose="020B0503020204020204" charset="-122"/>
            </a:endParaRPr>
          </a:p>
          <a:p>
            <a:pPr marL="989965" algn="ctr">
              <a:lnSpc>
                <a:spcPct val="100000"/>
              </a:lnSpc>
              <a:spcBef>
                <a:spcPts val="360"/>
              </a:spcBef>
            </a:pPr>
            <a:r>
              <a:rPr sz="1750" spc="-50" dirty="0">
                <a:latin typeface="Cambria Math" panose="02040503050406030204"/>
                <a:cs typeface="Cambria Math" panose="02040503050406030204"/>
              </a:rPr>
              <a:t>𝑚</a:t>
            </a:r>
            <a:endParaRPr sz="17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2704973" y="4627803"/>
            <a:ext cx="123825" cy="55244"/>
          </a:xfrm>
          <a:custGeom>
            <a:avLst/>
            <a:gdLst/>
            <a:ahLst/>
            <a:cxnLst/>
            <a:rect l="l" t="t" r="r" b="b"/>
            <a:pathLst>
              <a:path w="123825" h="55245">
                <a:moveTo>
                  <a:pt x="115633" y="55245"/>
                </a:moveTo>
                <a:lnTo>
                  <a:pt x="63106" y="19050"/>
                </a:lnTo>
                <a:lnTo>
                  <a:pt x="61468" y="19050"/>
                </a:lnTo>
                <a:lnTo>
                  <a:pt x="8039" y="55245"/>
                </a:lnTo>
                <a:lnTo>
                  <a:pt x="0" y="46761"/>
                </a:lnTo>
                <a:lnTo>
                  <a:pt x="53124" y="0"/>
                </a:lnTo>
                <a:lnTo>
                  <a:pt x="73075" y="0"/>
                </a:lnTo>
                <a:lnTo>
                  <a:pt x="123672" y="46761"/>
                </a:lnTo>
                <a:lnTo>
                  <a:pt x="115633" y="552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376726" y="4751158"/>
            <a:ext cx="255270" cy="20320"/>
          </a:xfrm>
          <a:custGeom>
            <a:avLst/>
            <a:gdLst/>
            <a:ahLst/>
            <a:cxnLst/>
            <a:rect l="l" t="t" r="r" b="b"/>
            <a:pathLst>
              <a:path w="255270" h="20320">
                <a:moveTo>
                  <a:pt x="255269" y="20002"/>
                </a:moveTo>
                <a:lnTo>
                  <a:pt x="0" y="20002"/>
                </a:lnTo>
                <a:lnTo>
                  <a:pt x="0" y="0"/>
                </a:lnTo>
                <a:lnTo>
                  <a:pt x="255269" y="0"/>
                </a:lnTo>
                <a:lnTo>
                  <a:pt x="255269" y="200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3364026" y="4734496"/>
            <a:ext cx="2813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 panose="02040503050406030204"/>
                <a:cs typeface="Cambria Math" panose="02040503050406030204"/>
              </a:rPr>
              <a:t>𝑚</a:t>
            </a:r>
            <a:endParaRPr sz="24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692321" y="5010721"/>
            <a:ext cx="384810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25" dirty="0">
                <a:latin typeface="Cambria Math" panose="02040503050406030204"/>
                <a:cs typeface="Cambria Math" panose="02040503050406030204"/>
              </a:rPr>
              <a:t>𝑖=1</a:t>
            </a:r>
            <a:endParaRPr sz="17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5067172" y="4627803"/>
            <a:ext cx="123825" cy="55244"/>
          </a:xfrm>
          <a:custGeom>
            <a:avLst/>
            <a:gdLst/>
            <a:ahLst/>
            <a:cxnLst/>
            <a:rect l="l" t="t" r="r" b="b"/>
            <a:pathLst>
              <a:path w="123825" h="55245">
                <a:moveTo>
                  <a:pt x="115633" y="55245"/>
                </a:moveTo>
                <a:lnTo>
                  <a:pt x="63106" y="19050"/>
                </a:lnTo>
                <a:lnTo>
                  <a:pt x="61467" y="19050"/>
                </a:lnTo>
                <a:lnTo>
                  <a:pt x="8039" y="55245"/>
                </a:lnTo>
                <a:lnTo>
                  <a:pt x="0" y="46761"/>
                </a:lnTo>
                <a:lnTo>
                  <a:pt x="53124" y="0"/>
                </a:lnTo>
                <a:lnTo>
                  <a:pt x="73075" y="0"/>
                </a:lnTo>
                <a:lnTo>
                  <a:pt x="123672" y="46761"/>
                </a:lnTo>
                <a:lnTo>
                  <a:pt x="115633" y="552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1618411" y="4530661"/>
            <a:ext cx="400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800860" algn="l"/>
              </a:tabLst>
            </a:pPr>
            <a:r>
              <a:rPr sz="2400" spc="-20" dirty="0">
                <a:latin typeface="Cambria Math" panose="02040503050406030204"/>
                <a:cs typeface="Cambria Math" panose="02040503050406030204"/>
              </a:rPr>
              <a:t>MAE(𝑦,</a:t>
            </a:r>
            <a:r>
              <a:rPr sz="2400" spc="-11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𝑦)</a:t>
            </a:r>
            <a:r>
              <a:rPr sz="2400" spc="17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50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3600" baseline="42000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3600" spc="337" baseline="42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1475" dirty="0">
                <a:latin typeface="Cambria Math" panose="02040503050406030204"/>
                <a:cs typeface="Cambria Math" panose="02040503050406030204"/>
              </a:rPr>
              <a:t>∑</a:t>
            </a:r>
            <a:r>
              <a:rPr sz="2400" spc="-13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|𝑦</a:t>
            </a:r>
            <a:r>
              <a:rPr sz="2625" baseline="27000" dirty="0">
                <a:latin typeface="Cambria Math" panose="02040503050406030204"/>
                <a:cs typeface="Cambria Math" panose="02040503050406030204"/>
              </a:rPr>
              <a:t>(𝑖)</a:t>
            </a:r>
            <a:r>
              <a:rPr sz="2625" spc="390" baseline="27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400" spc="2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10" dirty="0">
                <a:latin typeface="Cambria Math" panose="02040503050406030204"/>
                <a:cs typeface="Cambria Math" panose="02040503050406030204"/>
              </a:rPr>
              <a:t>𝑦</a:t>
            </a:r>
            <a:r>
              <a:rPr sz="2625" spc="-15" baseline="38000" dirty="0">
                <a:latin typeface="Cambria Math" panose="02040503050406030204"/>
                <a:cs typeface="Cambria Math" panose="02040503050406030204"/>
              </a:rPr>
              <a:t>(𝑖)</a:t>
            </a:r>
            <a:r>
              <a:rPr sz="2400" spc="-10" dirty="0">
                <a:latin typeface="Cambria Math" panose="02040503050406030204"/>
                <a:cs typeface="Cambria Math" panose="02040503050406030204"/>
              </a:rPr>
              <a:t>|</a:t>
            </a:r>
            <a:endParaRPr sz="2400">
              <a:latin typeface="Cambria Math" panose="02040503050406030204"/>
              <a:cs typeface="Cambria Math" panose="02040503050406030204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999744"/>
            <a:ext cx="646430" cy="262255"/>
          </a:xfrm>
          <a:prstGeom prst="rect">
            <a:avLst/>
          </a:prstGeom>
          <a:solidFill>
            <a:srgbClr val="A40020"/>
          </a:solidFill>
        </p:spPr>
        <p:txBody>
          <a:bodyPr vert="horz" wrap="square" lIns="0" tIns="635" rIns="0" bIns="0" rtlCol="0">
            <a:spAutoFit/>
          </a:bodyPr>
          <a:lstStyle/>
          <a:p>
            <a:pPr marL="375285">
              <a:lnSpc>
                <a:spcPct val="100000"/>
              </a:lnSpc>
              <a:spcBef>
                <a:spcPts val="5"/>
              </a:spcBef>
            </a:pPr>
            <a:r>
              <a:rPr sz="1400" b="1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42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790101" y="3015449"/>
            <a:ext cx="2941955" cy="2463800"/>
          </a:xfrm>
          <a:custGeom>
            <a:avLst/>
            <a:gdLst/>
            <a:ahLst/>
            <a:cxnLst/>
            <a:rect l="l" t="t" r="r" b="b"/>
            <a:pathLst>
              <a:path w="2941954" h="2463800">
                <a:moveTo>
                  <a:pt x="2626372" y="12700"/>
                </a:moveTo>
                <a:lnTo>
                  <a:pt x="314794" y="12700"/>
                </a:lnTo>
                <a:lnTo>
                  <a:pt x="324904" y="0"/>
                </a:lnTo>
                <a:lnTo>
                  <a:pt x="2616263" y="0"/>
                </a:lnTo>
                <a:lnTo>
                  <a:pt x="2626372" y="12700"/>
                </a:lnTo>
                <a:close/>
              </a:path>
              <a:path w="2941954" h="2463800">
                <a:moveTo>
                  <a:pt x="2665831" y="25400"/>
                </a:moveTo>
                <a:lnTo>
                  <a:pt x="275361" y="25400"/>
                </a:lnTo>
                <a:lnTo>
                  <a:pt x="285064" y="12700"/>
                </a:lnTo>
                <a:lnTo>
                  <a:pt x="2656116" y="12700"/>
                </a:lnTo>
                <a:lnTo>
                  <a:pt x="2665831" y="25400"/>
                </a:lnTo>
                <a:close/>
              </a:path>
              <a:path w="2941954" h="2463800">
                <a:moveTo>
                  <a:pt x="311721" y="38100"/>
                </a:moveTo>
                <a:lnTo>
                  <a:pt x="237972" y="38100"/>
                </a:lnTo>
                <a:lnTo>
                  <a:pt x="246938" y="25400"/>
                </a:lnTo>
                <a:lnTo>
                  <a:pt x="321424" y="25400"/>
                </a:lnTo>
                <a:lnTo>
                  <a:pt x="311721" y="38100"/>
                </a:lnTo>
                <a:close/>
              </a:path>
              <a:path w="2941954" h="2463800">
                <a:moveTo>
                  <a:pt x="2703779" y="38100"/>
                </a:moveTo>
                <a:lnTo>
                  <a:pt x="2629763" y="38100"/>
                </a:lnTo>
                <a:lnTo>
                  <a:pt x="2620048" y="25400"/>
                </a:lnTo>
                <a:lnTo>
                  <a:pt x="2694266" y="25400"/>
                </a:lnTo>
                <a:lnTo>
                  <a:pt x="2703779" y="38100"/>
                </a:lnTo>
                <a:close/>
              </a:path>
              <a:path w="2941954" h="2463800">
                <a:moveTo>
                  <a:pt x="275081" y="50800"/>
                </a:moveTo>
                <a:lnTo>
                  <a:pt x="210997" y="50800"/>
                </a:lnTo>
                <a:lnTo>
                  <a:pt x="219862" y="38100"/>
                </a:lnTo>
                <a:lnTo>
                  <a:pt x="284391" y="38100"/>
                </a:lnTo>
                <a:lnTo>
                  <a:pt x="275081" y="50800"/>
                </a:lnTo>
                <a:close/>
              </a:path>
              <a:path w="2941954" h="2463800">
                <a:moveTo>
                  <a:pt x="2730741" y="50800"/>
                </a:moveTo>
                <a:lnTo>
                  <a:pt x="2666390" y="50800"/>
                </a:lnTo>
                <a:lnTo>
                  <a:pt x="2657094" y="38100"/>
                </a:lnTo>
                <a:lnTo>
                  <a:pt x="2721889" y="38100"/>
                </a:lnTo>
                <a:lnTo>
                  <a:pt x="2730741" y="50800"/>
                </a:lnTo>
                <a:close/>
              </a:path>
              <a:path w="2941954" h="2463800">
                <a:moveTo>
                  <a:pt x="248716" y="63500"/>
                </a:moveTo>
                <a:lnTo>
                  <a:pt x="193687" y="63500"/>
                </a:lnTo>
                <a:lnTo>
                  <a:pt x="202272" y="50800"/>
                </a:lnTo>
                <a:lnTo>
                  <a:pt x="257682" y="50800"/>
                </a:lnTo>
                <a:lnTo>
                  <a:pt x="248716" y="63500"/>
                </a:lnTo>
                <a:close/>
              </a:path>
              <a:path w="2941954" h="2463800">
                <a:moveTo>
                  <a:pt x="2748051" y="63500"/>
                </a:moveTo>
                <a:lnTo>
                  <a:pt x="2692755" y="63500"/>
                </a:lnTo>
                <a:lnTo>
                  <a:pt x="2683802" y="50800"/>
                </a:lnTo>
                <a:lnTo>
                  <a:pt x="2739466" y="50800"/>
                </a:lnTo>
                <a:lnTo>
                  <a:pt x="2748051" y="63500"/>
                </a:lnTo>
                <a:close/>
              </a:path>
              <a:path w="2941954" h="2463800">
                <a:moveTo>
                  <a:pt x="223393" y="76200"/>
                </a:moveTo>
                <a:lnTo>
                  <a:pt x="176936" y="76200"/>
                </a:lnTo>
                <a:lnTo>
                  <a:pt x="185242" y="63500"/>
                </a:lnTo>
                <a:lnTo>
                  <a:pt x="231990" y="63500"/>
                </a:lnTo>
                <a:lnTo>
                  <a:pt x="223393" y="76200"/>
                </a:lnTo>
                <a:close/>
              </a:path>
              <a:path w="2941954" h="2463800">
                <a:moveTo>
                  <a:pt x="2764802" y="76200"/>
                </a:moveTo>
                <a:lnTo>
                  <a:pt x="2718079" y="76200"/>
                </a:lnTo>
                <a:lnTo>
                  <a:pt x="2709494" y="63500"/>
                </a:lnTo>
                <a:lnTo>
                  <a:pt x="2756496" y="63500"/>
                </a:lnTo>
                <a:lnTo>
                  <a:pt x="2764802" y="76200"/>
                </a:lnTo>
                <a:close/>
              </a:path>
              <a:path w="2941954" h="2463800">
                <a:moveTo>
                  <a:pt x="199199" y="88900"/>
                </a:moveTo>
                <a:lnTo>
                  <a:pt x="160769" y="88900"/>
                </a:lnTo>
                <a:lnTo>
                  <a:pt x="168770" y="76200"/>
                </a:lnTo>
                <a:lnTo>
                  <a:pt x="207391" y="76200"/>
                </a:lnTo>
                <a:lnTo>
                  <a:pt x="199199" y="88900"/>
                </a:lnTo>
                <a:close/>
              </a:path>
              <a:path w="2941954" h="2463800">
                <a:moveTo>
                  <a:pt x="2780957" y="88900"/>
                </a:moveTo>
                <a:lnTo>
                  <a:pt x="2742272" y="88900"/>
                </a:lnTo>
                <a:lnTo>
                  <a:pt x="2734081" y="76200"/>
                </a:lnTo>
                <a:lnTo>
                  <a:pt x="2772956" y="76200"/>
                </a:lnTo>
                <a:lnTo>
                  <a:pt x="2780957" y="88900"/>
                </a:lnTo>
                <a:close/>
              </a:path>
              <a:path w="2941954" h="2463800">
                <a:moveTo>
                  <a:pt x="183743" y="101600"/>
                </a:moveTo>
                <a:lnTo>
                  <a:pt x="145211" y="101600"/>
                </a:lnTo>
                <a:lnTo>
                  <a:pt x="152907" y="88900"/>
                </a:lnTo>
                <a:lnTo>
                  <a:pt x="191655" y="88900"/>
                </a:lnTo>
                <a:lnTo>
                  <a:pt x="183743" y="101600"/>
                </a:lnTo>
                <a:close/>
              </a:path>
              <a:path w="2941954" h="2463800">
                <a:moveTo>
                  <a:pt x="2796501" y="101600"/>
                </a:moveTo>
                <a:lnTo>
                  <a:pt x="2757741" y="101600"/>
                </a:lnTo>
                <a:lnTo>
                  <a:pt x="2749829" y="88900"/>
                </a:lnTo>
                <a:lnTo>
                  <a:pt x="2788805" y="88900"/>
                </a:lnTo>
                <a:lnTo>
                  <a:pt x="2796501" y="101600"/>
                </a:lnTo>
                <a:close/>
              </a:path>
              <a:path w="2941954" h="2463800">
                <a:moveTo>
                  <a:pt x="168846" y="114300"/>
                </a:moveTo>
                <a:lnTo>
                  <a:pt x="130073" y="114300"/>
                </a:lnTo>
                <a:lnTo>
                  <a:pt x="137668" y="101600"/>
                </a:lnTo>
                <a:lnTo>
                  <a:pt x="176453" y="101600"/>
                </a:lnTo>
                <a:lnTo>
                  <a:pt x="168846" y="114300"/>
                </a:lnTo>
                <a:close/>
              </a:path>
              <a:path w="2941954" h="2463800">
                <a:moveTo>
                  <a:pt x="2811399" y="114300"/>
                </a:moveTo>
                <a:lnTo>
                  <a:pt x="2772638" y="114300"/>
                </a:lnTo>
                <a:lnTo>
                  <a:pt x="2765018" y="101600"/>
                </a:lnTo>
                <a:lnTo>
                  <a:pt x="2804032" y="101600"/>
                </a:lnTo>
                <a:lnTo>
                  <a:pt x="2811399" y="114300"/>
                </a:lnTo>
                <a:close/>
              </a:path>
              <a:path w="2941954" h="2463800">
                <a:moveTo>
                  <a:pt x="154533" y="127000"/>
                </a:moveTo>
                <a:lnTo>
                  <a:pt x="116052" y="127000"/>
                </a:lnTo>
                <a:lnTo>
                  <a:pt x="123088" y="114300"/>
                </a:lnTo>
                <a:lnTo>
                  <a:pt x="161836" y="114300"/>
                </a:lnTo>
                <a:lnTo>
                  <a:pt x="154533" y="127000"/>
                </a:lnTo>
                <a:close/>
              </a:path>
              <a:path w="2941954" h="2463800">
                <a:moveTo>
                  <a:pt x="2825635" y="127000"/>
                </a:moveTo>
                <a:lnTo>
                  <a:pt x="2786951" y="127000"/>
                </a:lnTo>
                <a:lnTo>
                  <a:pt x="2779636" y="114300"/>
                </a:lnTo>
                <a:lnTo>
                  <a:pt x="2818612" y="114300"/>
                </a:lnTo>
                <a:lnTo>
                  <a:pt x="2825635" y="127000"/>
                </a:lnTo>
                <a:close/>
              </a:path>
              <a:path w="2941954" h="2463800">
                <a:moveTo>
                  <a:pt x="127774" y="152400"/>
                </a:moveTo>
                <a:lnTo>
                  <a:pt x="95986" y="152400"/>
                </a:lnTo>
                <a:lnTo>
                  <a:pt x="102488" y="139700"/>
                </a:lnTo>
                <a:lnTo>
                  <a:pt x="109181" y="127000"/>
                </a:lnTo>
                <a:lnTo>
                  <a:pt x="147827" y="127000"/>
                </a:lnTo>
                <a:lnTo>
                  <a:pt x="140830" y="139700"/>
                </a:lnTo>
                <a:lnTo>
                  <a:pt x="134429" y="139700"/>
                </a:lnTo>
                <a:lnTo>
                  <a:pt x="127774" y="152400"/>
                </a:lnTo>
                <a:close/>
              </a:path>
              <a:path w="2941954" h="2463800">
                <a:moveTo>
                  <a:pt x="2845688" y="152400"/>
                </a:moveTo>
                <a:lnTo>
                  <a:pt x="2813710" y="152400"/>
                </a:lnTo>
                <a:lnTo>
                  <a:pt x="2807042" y="139700"/>
                </a:lnTo>
                <a:lnTo>
                  <a:pt x="2800642" y="139700"/>
                </a:lnTo>
                <a:lnTo>
                  <a:pt x="2793657" y="127000"/>
                </a:lnTo>
                <a:lnTo>
                  <a:pt x="2832506" y="127000"/>
                </a:lnTo>
                <a:lnTo>
                  <a:pt x="2839186" y="139700"/>
                </a:lnTo>
                <a:lnTo>
                  <a:pt x="2845688" y="152400"/>
                </a:lnTo>
                <a:close/>
              </a:path>
              <a:path w="2941954" h="2463800">
                <a:moveTo>
                  <a:pt x="115379" y="165100"/>
                </a:moveTo>
                <a:lnTo>
                  <a:pt x="83515" y="165100"/>
                </a:lnTo>
                <a:lnTo>
                  <a:pt x="89661" y="152400"/>
                </a:lnTo>
                <a:lnTo>
                  <a:pt x="121691" y="152400"/>
                </a:lnTo>
                <a:lnTo>
                  <a:pt x="115379" y="165100"/>
                </a:lnTo>
                <a:close/>
              </a:path>
              <a:path w="2941954" h="2463800">
                <a:moveTo>
                  <a:pt x="2858147" y="165100"/>
                </a:moveTo>
                <a:lnTo>
                  <a:pt x="2826105" y="165100"/>
                </a:lnTo>
                <a:lnTo>
                  <a:pt x="2819793" y="152400"/>
                </a:lnTo>
                <a:lnTo>
                  <a:pt x="2852013" y="152400"/>
                </a:lnTo>
                <a:lnTo>
                  <a:pt x="2858147" y="165100"/>
                </a:lnTo>
                <a:close/>
              </a:path>
              <a:path w="2941954" h="2463800">
                <a:moveTo>
                  <a:pt x="98082" y="190500"/>
                </a:moveTo>
                <a:lnTo>
                  <a:pt x="66243" y="190500"/>
                </a:lnTo>
                <a:lnTo>
                  <a:pt x="71805" y="177800"/>
                </a:lnTo>
                <a:lnTo>
                  <a:pt x="77558" y="165100"/>
                </a:lnTo>
                <a:lnTo>
                  <a:pt x="109626" y="165100"/>
                </a:lnTo>
                <a:lnTo>
                  <a:pt x="103670" y="177800"/>
                </a:lnTo>
                <a:lnTo>
                  <a:pt x="103860" y="177800"/>
                </a:lnTo>
                <a:lnTo>
                  <a:pt x="98082" y="190500"/>
                </a:lnTo>
                <a:close/>
              </a:path>
              <a:path w="2941954" h="2463800">
                <a:moveTo>
                  <a:pt x="2875406" y="190500"/>
                </a:moveTo>
                <a:lnTo>
                  <a:pt x="2843390" y="190500"/>
                </a:lnTo>
                <a:lnTo>
                  <a:pt x="2837624" y="177800"/>
                </a:lnTo>
                <a:lnTo>
                  <a:pt x="2837802" y="177800"/>
                </a:lnTo>
                <a:lnTo>
                  <a:pt x="2831858" y="165100"/>
                </a:lnTo>
                <a:lnTo>
                  <a:pt x="2864091" y="165100"/>
                </a:lnTo>
                <a:lnTo>
                  <a:pt x="2869844" y="177800"/>
                </a:lnTo>
                <a:lnTo>
                  <a:pt x="2875406" y="190500"/>
                </a:lnTo>
                <a:close/>
              </a:path>
              <a:path w="2941954" h="2463800">
                <a:moveTo>
                  <a:pt x="77584" y="215900"/>
                </a:moveTo>
                <a:lnTo>
                  <a:pt x="50761" y="215900"/>
                </a:lnTo>
                <a:lnTo>
                  <a:pt x="55714" y="203200"/>
                </a:lnTo>
                <a:lnTo>
                  <a:pt x="60883" y="190500"/>
                </a:lnTo>
                <a:lnTo>
                  <a:pt x="92849" y="190500"/>
                </a:lnTo>
                <a:lnTo>
                  <a:pt x="87452" y="203200"/>
                </a:lnTo>
                <a:lnTo>
                  <a:pt x="82588" y="203200"/>
                </a:lnTo>
                <a:lnTo>
                  <a:pt x="77584" y="215900"/>
                </a:lnTo>
                <a:close/>
              </a:path>
              <a:path w="2941954" h="2463800">
                <a:moveTo>
                  <a:pt x="2895600" y="228600"/>
                </a:moveTo>
                <a:lnTo>
                  <a:pt x="2868549" y="228600"/>
                </a:lnTo>
                <a:lnTo>
                  <a:pt x="2863748" y="215900"/>
                </a:lnTo>
                <a:lnTo>
                  <a:pt x="2863900" y="215900"/>
                </a:lnTo>
                <a:lnTo>
                  <a:pt x="2858897" y="203200"/>
                </a:lnTo>
                <a:lnTo>
                  <a:pt x="2854020" y="203200"/>
                </a:lnTo>
                <a:lnTo>
                  <a:pt x="2848635" y="190500"/>
                </a:lnTo>
                <a:lnTo>
                  <a:pt x="2880766" y="190500"/>
                </a:lnTo>
                <a:lnTo>
                  <a:pt x="2885922" y="203200"/>
                </a:lnTo>
                <a:lnTo>
                  <a:pt x="2890862" y="215900"/>
                </a:lnTo>
                <a:lnTo>
                  <a:pt x="2895600" y="228600"/>
                </a:lnTo>
                <a:close/>
              </a:path>
              <a:path w="2941954" h="2463800">
                <a:moveTo>
                  <a:pt x="60312" y="254000"/>
                </a:moveTo>
                <a:lnTo>
                  <a:pt x="33070" y="254000"/>
                </a:lnTo>
                <a:lnTo>
                  <a:pt x="37033" y="241300"/>
                </a:lnTo>
                <a:lnTo>
                  <a:pt x="41351" y="228600"/>
                </a:lnTo>
                <a:lnTo>
                  <a:pt x="46012" y="215900"/>
                </a:lnTo>
                <a:lnTo>
                  <a:pt x="77736" y="215900"/>
                </a:lnTo>
                <a:lnTo>
                  <a:pt x="72936" y="228600"/>
                </a:lnTo>
                <a:lnTo>
                  <a:pt x="68618" y="228600"/>
                </a:lnTo>
                <a:lnTo>
                  <a:pt x="66014" y="236125"/>
                </a:lnTo>
                <a:lnTo>
                  <a:pt x="60312" y="254000"/>
                </a:lnTo>
                <a:close/>
              </a:path>
              <a:path w="2941954" h="2463800">
                <a:moveTo>
                  <a:pt x="2908414" y="254000"/>
                </a:moveTo>
                <a:lnTo>
                  <a:pt x="2881299" y="254000"/>
                </a:lnTo>
                <a:lnTo>
                  <a:pt x="2877248" y="241300"/>
                </a:lnTo>
                <a:lnTo>
                  <a:pt x="2872854" y="228600"/>
                </a:lnTo>
                <a:lnTo>
                  <a:pt x="2900133" y="228600"/>
                </a:lnTo>
                <a:lnTo>
                  <a:pt x="2904312" y="241300"/>
                </a:lnTo>
                <a:lnTo>
                  <a:pt x="2908414" y="254000"/>
                </a:lnTo>
                <a:close/>
              </a:path>
              <a:path w="2941954" h="2463800">
                <a:moveTo>
                  <a:pt x="46075" y="2171700"/>
                </a:moveTo>
                <a:lnTo>
                  <a:pt x="18834" y="2171700"/>
                </a:lnTo>
                <a:lnTo>
                  <a:pt x="15976" y="2159000"/>
                </a:lnTo>
                <a:lnTo>
                  <a:pt x="13258" y="2146300"/>
                </a:lnTo>
                <a:lnTo>
                  <a:pt x="10795" y="2133600"/>
                </a:lnTo>
                <a:lnTo>
                  <a:pt x="8572" y="2120900"/>
                </a:lnTo>
                <a:lnTo>
                  <a:pt x="6591" y="2120900"/>
                </a:lnTo>
                <a:lnTo>
                  <a:pt x="4864" y="2108200"/>
                </a:lnTo>
                <a:lnTo>
                  <a:pt x="3352" y="2095500"/>
                </a:lnTo>
                <a:lnTo>
                  <a:pt x="2184" y="2082800"/>
                </a:lnTo>
                <a:lnTo>
                  <a:pt x="1244" y="2070100"/>
                </a:lnTo>
                <a:lnTo>
                  <a:pt x="558" y="2070100"/>
                </a:lnTo>
                <a:lnTo>
                  <a:pt x="152" y="2057400"/>
                </a:lnTo>
                <a:lnTo>
                  <a:pt x="0" y="2044700"/>
                </a:lnTo>
                <a:lnTo>
                  <a:pt x="0" y="419100"/>
                </a:lnTo>
                <a:lnTo>
                  <a:pt x="1219" y="381000"/>
                </a:lnTo>
                <a:lnTo>
                  <a:pt x="3352" y="355600"/>
                </a:lnTo>
                <a:lnTo>
                  <a:pt x="4813" y="355600"/>
                </a:lnTo>
                <a:lnTo>
                  <a:pt x="6540" y="342900"/>
                </a:lnTo>
                <a:lnTo>
                  <a:pt x="8508" y="330200"/>
                </a:lnTo>
                <a:lnTo>
                  <a:pt x="10718" y="317500"/>
                </a:lnTo>
                <a:lnTo>
                  <a:pt x="13182" y="304800"/>
                </a:lnTo>
                <a:lnTo>
                  <a:pt x="15887" y="304800"/>
                </a:lnTo>
                <a:lnTo>
                  <a:pt x="18834" y="292100"/>
                </a:lnTo>
                <a:lnTo>
                  <a:pt x="22021" y="279400"/>
                </a:lnTo>
                <a:lnTo>
                  <a:pt x="25438" y="266700"/>
                </a:lnTo>
                <a:lnTo>
                  <a:pt x="29070" y="254000"/>
                </a:lnTo>
                <a:lnTo>
                  <a:pt x="56464" y="254000"/>
                </a:lnTo>
                <a:lnTo>
                  <a:pt x="52819" y="266700"/>
                </a:lnTo>
                <a:lnTo>
                  <a:pt x="49390" y="279400"/>
                </a:lnTo>
                <a:lnTo>
                  <a:pt x="46177" y="292100"/>
                </a:lnTo>
                <a:lnTo>
                  <a:pt x="43179" y="292100"/>
                </a:lnTo>
                <a:lnTo>
                  <a:pt x="40411" y="304800"/>
                </a:lnTo>
                <a:lnTo>
                  <a:pt x="37858" y="317500"/>
                </a:lnTo>
                <a:lnTo>
                  <a:pt x="35534" y="330200"/>
                </a:lnTo>
                <a:lnTo>
                  <a:pt x="33451" y="330200"/>
                </a:lnTo>
                <a:lnTo>
                  <a:pt x="31597" y="342900"/>
                </a:lnTo>
                <a:lnTo>
                  <a:pt x="29972" y="355600"/>
                </a:lnTo>
                <a:lnTo>
                  <a:pt x="28587" y="368300"/>
                </a:lnTo>
                <a:lnTo>
                  <a:pt x="27457" y="368300"/>
                </a:lnTo>
                <a:lnTo>
                  <a:pt x="26568" y="381000"/>
                </a:lnTo>
                <a:lnTo>
                  <a:pt x="25920" y="393700"/>
                </a:lnTo>
                <a:lnTo>
                  <a:pt x="25539" y="406400"/>
                </a:lnTo>
                <a:lnTo>
                  <a:pt x="25526" y="2057400"/>
                </a:lnTo>
                <a:lnTo>
                  <a:pt x="25907" y="2057400"/>
                </a:lnTo>
                <a:lnTo>
                  <a:pt x="26543" y="2070100"/>
                </a:lnTo>
                <a:lnTo>
                  <a:pt x="27419" y="2082800"/>
                </a:lnTo>
                <a:lnTo>
                  <a:pt x="28549" y="2095500"/>
                </a:lnTo>
                <a:lnTo>
                  <a:pt x="29921" y="2108200"/>
                </a:lnTo>
                <a:lnTo>
                  <a:pt x="31534" y="2108200"/>
                </a:lnTo>
                <a:lnTo>
                  <a:pt x="33388" y="2120900"/>
                </a:lnTo>
                <a:lnTo>
                  <a:pt x="35471" y="2133600"/>
                </a:lnTo>
                <a:lnTo>
                  <a:pt x="37782" y="2146300"/>
                </a:lnTo>
                <a:lnTo>
                  <a:pt x="40322" y="2146300"/>
                </a:lnTo>
                <a:lnTo>
                  <a:pt x="43091" y="2159000"/>
                </a:lnTo>
                <a:lnTo>
                  <a:pt x="46075" y="2171700"/>
                </a:lnTo>
                <a:close/>
              </a:path>
              <a:path w="2941954" h="2463800">
                <a:moveTo>
                  <a:pt x="2922549" y="292100"/>
                </a:moveTo>
                <a:lnTo>
                  <a:pt x="2895409" y="292100"/>
                </a:lnTo>
                <a:lnTo>
                  <a:pt x="2892196" y="279400"/>
                </a:lnTo>
                <a:lnTo>
                  <a:pt x="2888780" y="266700"/>
                </a:lnTo>
                <a:lnTo>
                  <a:pt x="2885147" y="254000"/>
                </a:lnTo>
                <a:lnTo>
                  <a:pt x="2912287" y="254000"/>
                </a:lnTo>
                <a:lnTo>
                  <a:pt x="2915945" y="266700"/>
                </a:lnTo>
                <a:lnTo>
                  <a:pt x="2919361" y="279400"/>
                </a:lnTo>
                <a:lnTo>
                  <a:pt x="2922549" y="292100"/>
                </a:lnTo>
                <a:close/>
              </a:path>
              <a:path w="2941954" h="2463800">
                <a:moveTo>
                  <a:pt x="2941332" y="2057400"/>
                </a:moveTo>
                <a:lnTo>
                  <a:pt x="2915945" y="2057400"/>
                </a:lnTo>
                <a:lnTo>
                  <a:pt x="2915958" y="406400"/>
                </a:lnTo>
                <a:lnTo>
                  <a:pt x="2915577" y="393700"/>
                </a:lnTo>
                <a:lnTo>
                  <a:pt x="2914942" y="381000"/>
                </a:lnTo>
                <a:lnTo>
                  <a:pt x="2914053" y="368300"/>
                </a:lnTo>
                <a:lnTo>
                  <a:pt x="2912922" y="368300"/>
                </a:lnTo>
                <a:lnTo>
                  <a:pt x="2911551" y="355600"/>
                </a:lnTo>
                <a:lnTo>
                  <a:pt x="2909938" y="342900"/>
                </a:lnTo>
                <a:lnTo>
                  <a:pt x="2908096" y="330200"/>
                </a:lnTo>
                <a:lnTo>
                  <a:pt x="2906013" y="330200"/>
                </a:lnTo>
                <a:lnTo>
                  <a:pt x="2903702" y="317500"/>
                </a:lnTo>
                <a:lnTo>
                  <a:pt x="2901162" y="304800"/>
                </a:lnTo>
                <a:lnTo>
                  <a:pt x="2898394" y="292100"/>
                </a:lnTo>
                <a:lnTo>
                  <a:pt x="2925508" y="292100"/>
                </a:lnTo>
                <a:lnTo>
                  <a:pt x="2932912" y="330200"/>
                </a:lnTo>
                <a:lnTo>
                  <a:pt x="2936608" y="355600"/>
                </a:lnTo>
                <a:lnTo>
                  <a:pt x="2938081" y="355600"/>
                </a:lnTo>
                <a:lnTo>
                  <a:pt x="2939287" y="368300"/>
                </a:lnTo>
                <a:lnTo>
                  <a:pt x="2940240" y="381000"/>
                </a:lnTo>
                <a:lnTo>
                  <a:pt x="2940926" y="393700"/>
                </a:lnTo>
                <a:lnTo>
                  <a:pt x="2941332" y="406400"/>
                </a:lnTo>
                <a:lnTo>
                  <a:pt x="2941332" y="2057400"/>
                </a:lnTo>
                <a:close/>
              </a:path>
              <a:path w="2941954" h="2463800">
                <a:moveTo>
                  <a:pt x="2922638" y="2171700"/>
                </a:moveTo>
                <a:lnTo>
                  <a:pt x="2895307" y="2171700"/>
                </a:lnTo>
                <a:lnTo>
                  <a:pt x="2898292" y="2159000"/>
                </a:lnTo>
                <a:lnTo>
                  <a:pt x="2901073" y="2146300"/>
                </a:lnTo>
                <a:lnTo>
                  <a:pt x="2903613" y="2146300"/>
                </a:lnTo>
                <a:lnTo>
                  <a:pt x="2905937" y="2133600"/>
                </a:lnTo>
                <a:lnTo>
                  <a:pt x="2908033" y="2120900"/>
                </a:lnTo>
                <a:lnTo>
                  <a:pt x="2909887" y="2108200"/>
                </a:lnTo>
                <a:lnTo>
                  <a:pt x="2911513" y="2108200"/>
                </a:lnTo>
                <a:lnTo>
                  <a:pt x="2912884" y="2095500"/>
                </a:lnTo>
                <a:lnTo>
                  <a:pt x="2914027" y="2082800"/>
                </a:lnTo>
                <a:lnTo>
                  <a:pt x="2914916" y="2070100"/>
                </a:lnTo>
                <a:lnTo>
                  <a:pt x="2915551" y="2057400"/>
                </a:lnTo>
                <a:lnTo>
                  <a:pt x="2940938" y="2057400"/>
                </a:lnTo>
                <a:lnTo>
                  <a:pt x="2938119" y="2095500"/>
                </a:lnTo>
                <a:lnTo>
                  <a:pt x="2934944" y="2120900"/>
                </a:lnTo>
                <a:lnTo>
                  <a:pt x="2932976" y="2120900"/>
                </a:lnTo>
                <a:lnTo>
                  <a:pt x="2930753" y="2133600"/>
                </a:lnTo>
                <a:lnTo>
                  <a:pt x="2928289" y="2146300"/>
                </a:lnTo>
                <a:lnTo>
                  <a:pt x="2925508" y="2159000"/>
                </a:lnTo>
                <a:lnTo>
                  <a:pt x="2922638" y="2171700"/>
                </a:lnTo>
                <a:close/>
              </a:path>
              <a:path w="2941954" h="2463800">
                <a:moveTo>
                  <a:pt x="60185" y="2209800"/>
                </a:moveTo>
                <a:lnTo>
                  <a:pt x="32943" y="2209800"/>
                </a:lnTo>
                <a:lnTo>
                  <a:pt x="29184" y="2197100"/>
                </a:lnTo>
                <a:lnTo>
                  <a:pt x="25539" y="2184400"/>
                </a:lnTo>
                <a:lnTo>
                  <a:pt x="22123" y="2171700"/>
                </a:lnTo>
                <a:lnTo>
                  <a:pt x="49275" y="2171700"/>
                </a:lnTo>
                <a:lnTo>
                  <a:pt x="52704" y="2184400"/>
                </a:lnTo>
                <a:lnTo>
                  <a:pt x="56337" y="2197100"/>
                </a:lnTo>
                <a:lnTo>
                  <a:pt x="60185" y="2209800"/>
                </a:lnTo>
                <a:close/>
              </a:path>
              <a:path w="2941954" h="2463800">
                <a:moveTo>
                  <a:pt x="2908541" y="2209800"/>
                </a:moveTo>
                <a:lnTo>
                  <a:pt x="2881172" y="2209800"/>
                </a:lnTo>
                <a:lnTo>
                  <a:pt x="2885020" y="2197100"/>
                </a:lnTo>
                <a:lnTo>
                  <a:pt x="2888665" y="2184400"/>
                </a:lnTo>
                <a:lnTo>
                  <a:pt x="2892094" y="2171700"/>
                </a:lnTo>
                <a:lnTo>
                  <a:pt x="2919463" y="2171700"/>
                </a:lnTo>
                <a:lnTo>
                  <a:pt x="2912402" y="2197100"/>
                </a:lnTo>
                <a:lnTo>
                  <a:pt x="2908541" y="2209800"/>
                </a:lnTo>
                <a:close/>
              </a:path>
              <a:path w="2941954" h="2463800">
                <a:moveTo>
                  <a:pt x="82588" y="2247900"/>
                </a:moveTo>
                <a:lnTo>
                  <a:pt x="50609" y="2247900"/>
                </a:lnTo>
                <a:lnTo>
                  <a:pt x="45872" y="2235200"/>
                </a:lnTo>
                <a:lnTo>
                  <a:pt x="41463" y="2222457"/>
                </a:lnTo>
                <a:lnTo>
                  <a:pt x="37160" y="2209800"/>
                </a:lnTo>
                <a:lnTo>
                  <a:pt x="64223" y="2209800"/>
                </a:lnTo>
                <a:lnTo>
                  <a:pt x="68603" y="2222457"/>
                </a:lnTo>
                <a:lnTo>
                  <a:pt x="68463" y="2222457"/>
                </a:lnTo>
                <a:lnTo>
                  <a:pt x="73075" y="2235200"/>
                </a:lnTo>
                <a:lnTo>
                  <a:pt x="77584" y="2235200"/>
                </a:lnTo>
                <a:lnTo>
                  <a:pt x="82588" y="2247900"/>
                </a:lnTo>
                <a:close/>
              </a:path>
              <a:path w="2941954" h="2463800">
                <a:moveTo>
                  <a:pt x="2890723" y="2247900"/>
                </a:moveTo>
                <a:lnTo>
                  <a:pt x="2858897" y="2247900"/>
                </a:lnTo>
                <a:lnTo>
                  <a:pt x="2863900" y="2235200"/>
                </a:lnTo>
                <a:lnTo>
                  <a:pt x="2868396" y="2235200"/>
                </a:lnTo>
                <a:lnTo>
                  <a:pt x="2871048" y="2227873"/>
                </a:lnTo>
                <a:lnTo>
                  <a:pt x="2877121" y="2209800"/>
                </a:lnTo>
                <a:lnTo>
                  <a:pt x="2904439" y="2209800"/>
                </a:lnTo>
                <a:lnTo>
                  <a:pt x="2900008" y="2222457"/>
                </a:lnTo>
                <a:lnTo>
                  <a:pt x="2895460" y="2235200"/>
                </a:lnTo>
                <a:lnTo>
                  <a:pt x="2890723" y="2247900"/>
                </a:lnTo>
                <a:close/>
              </a:path>
              <a:path w="2941954" h="2463800">
                <a:moveTo>
                  <a:pt x="70477" y="2227873"/>
                </a:moveTo>
                <a:lnTo>
                  <a:pt x="68463" y="2222457"/>
                </a:lnTo>
                <a:lnTo>
                  <a:pt x="68603" y="2222457"/>
                </a:lnTo>
                <a:lnTo>
                  <a:pt x="70477" y="2227873"/>
                </a:lnTo>
                <a:close/>
              </a:path>
              <a:path w="2941954" h="2463800">
                <a:moveTo>
                  <a:pt x="98259" y="2273300"/>
                </a:moveTo>
                <a:lnTo>
                  <a:pt x="66078" y="2273300"/>
                </a:lnTo>
                <a:lnTo>
                  <a:pt x="60718" y="2260600"/>
                </a:lnTo>
                <a:lnTo>
                  <a:pt x="55562" y="2247900"/>
                </a:lnTo>
                <a:lnTo>
                  <a:pt x="82423" y="2247900"/>
                </a:lnTo>
                <a:lnTo>
                  <a:pt x="87617" y="2260600"/>
                </a:lnTo>
                <a:lnTo>
                  <a:pt x="92684" y="2260600"/>
                </a:lnTo>
                <a:lnTo>
                  <a:pt x="98259" y="2273300"/>
                </a:lnTo>
                <a:close/>
              </a:path>
              <a:path w="2941954" h="2463800">
                <a:moveTo>
                  <a:pt x="2875241" y="2273300"/>
                </a:moveTo>
                <a:lnTo>
                  <a:pt x="2843225" y="2273300"/>
                </a:lnTo>
                <a:lnTo>
                  <a:pt x="2848800" y="2260600"/>
                </a:lnTo>
                <a:lnTo>
                  <a:pt x="2853855" y="2260600"/>
                </a:lnTo>
                <a:lnTo>
                  <a:pt x="2859062" y="2247900"/>
                </a:lnTo>
                <a:lnTo>
                  <a:pt x="2885922" y="2247900"/>
                </a:lnTo>
                <a:lnTo>
                  <a:pt x="2880601" y="2260600"/>
                </a:lnTo>
                <a:lnTo>
                  <a:pt x="2875241" y="2273300"/>
                </a:lnTo>
                <a:close/>
              </a:path>
              <a:path w="2941954" h="2463800">
                <a:moveTo>
                  <a:pt x="115570" y="2298700"/>
                </a:moveTo>
                <a:lnTo>
                  <a:pt x="83515" y="2298700"/>
                </a:lnTo>
                <a:lnTo>
                  <a:pt x="77381" y="2286000"/>
                </a:lnTo>
                <a:lnTo>
                  <a:pt x="71627" y="2273300"/>
                </a:lnTo>
                <a:lnTo>
                  <a:pt x="103670" y="2273300"/>
                </a:lnTo>
                <a:lnTo>
                  <a:pt x="109626" y="2286000"/>
                </a:lnTo>
                <a:lnTo>
                  <a:pt x="109435" y="2286000"/>
                </a:lnTo>
                <a:lnTo>
                  <a:pt x="115570" y="2298700"/>
                </a:lnTo>
                <a:close/>
              </a:path>
              <a:path w="2941954" h="2463800">
                <a:moveTo>
                  <a:pt x="2857969" y="2298700"/>
                </a:moveTo>
                <a:lnTo>
                  <a:pt x="2825902" y="2298700"/>
                </a:lnTo>
                <a:lnTo>
                  <a:pt x="2832036" y="2286000"/>
                </a:lnTo>
                <a:lnTo>
                  <a:pt x="2831858" y="2286000"/>
                </a:lnTo>
                <a:lnTo>
                  <a:pt x="2837802" y="2273300"/>
                </a:lnTo>
                <a:lnTo>
                  <a:pt x="2869679" y="2273300"/>
                </a:lnTo>
                <a:lnTo>
                  <a:pt x="2863913" y="2286000"/>
                </a:lnTo>
                <a:lnTo>
                  <a:pt x="2857969" y="2298700"/>
                </a:lnTo>
                <a:close/>
              </a:path>
              <a:path w="2941954" h="2463800">
                <a:moveTo>
                  <a:pt x="127977" y="2311400"/>
                </a:moveTo>
                <a:lnTo>
                  <a:pt x="95796" y="2311400"/>
                </a:lnTo>
                <a:lnTo>
                  <a:pt x="89471" y="2298700"/>
                </a:lnTo>
                <a:lnTo>
                  <a:pt x="121488" y="2298700"/>
                </a:lnTo>
                <a:lnTo>
                  <a:pt x="127977" y="2311400"/>
                </a:lnTo>
                <a:close/>
              </a:path>
              <a:path w="2941954" h="2463800">
                <a:moveTo>
                  <a:pt x="2845498" y="2311400"/>
                </a:moveTo>
                <a:lnTo>
                  <a:pt x="2813507" y="2311400"/>
                </a:lnTo>
                <a:lnTo>
                  <a:pt x="2819984" y="2298700"/>
                </a:lnTo>
                <a:lnTo>
                  <a:pt x="2851823" y="2298700"/>
                </a:lnTo>
                <a:lnTo>
                  <a:pt x="2845498" y="2311400"/>
                </a:lnTo>
                <a:close/>
              </a:path>
              <a:path w="2941954" h="2463800">
                <a:moveTo>
                  <a:pt x="154749" y="2336800"/>
                </a:moveTo>
                <a:lnTo>
                  <a:pt x="115836" y="2336800"/>
                </a:lnTo>
                <a:lnTo>
                  <a:pt x="108978" y="2324100"/>
                </a:lnTo>
                <a:lnTo>
                  <a:pt x="102298" y="2311400"/>
                </a:lnTo>
                <a:lnTo>
                  <a:pt x="134226" y="2311400"/>
                </a:lnTo>
                <a:lnTo>
                  <a:pt x="141046" y="2324100"/>
                </a:lnTo>
                <a:lnTo>
                  <a:pt x="147599" y="2324100"/>
                </a:lnTo>
                <a:lnTo>
                  <a:pt x="154749" y="2336800"/>
                </a:lnTo>
                <a:close/>
              </a:path>
              <a:path w="2941954" h="2463800">
                <a:moveTo>
                  <a:pt x="2825432" y="2336800"/>
                </a:moveTo>
                <a:lnTo>
                  <a:pt x="2786722" y="2336800"/>
                </a:lnTo>
                <a:lnTo>
                  <a:pt x="2793873" y="2324100"/>
                </a:lnTo>
                <a:lnTo>
                  <a:pt x="2800438" y="2324100"/>
                </a:lnTo>
                <a:lnTo>
                  <a:pt x="2807258" y="2311400"/>
                </a:lnTo>
                <a:lnTo>
                  <a:pt x="2838983" y="2311400"/>
                </a:lnTo>
                <a:lnTo>
                  <a:pt x="2832303" y="2324100"/>
                </a:lnTo>
                <a:lnTo>
                  <a:pt x="2825432" y="2336800"/>
                </a:lnTo>
                <a:close/>
              </a:path>
              <a:path w="2941954" h="2463800">
                <a:moveTo>
                  <a:pt x="169075" y="2349500"/>
                </a:moveTo>
                <a:lnTo>
                  <a:pt x="130073" y="2349500"/>
                </a:lnTo>
                <a:lnTo>
                  <a:pt x="122872" y="2336800"/>
                </a:lnTo>
                <a:lnTo>
                  <a:pt x="161607" y="2336800"/>
                </a:lnTo>
                <a:lnTo>
                  <a:pt x="169075" y="2349500"/>
                </a:lnTo>
                <a:close/>
              </a:path>
              <a:path w="2941954" h="2463800">
                <a:moveTo>
                  <a:pt x="2811183" y="2349500"/>
                </a:moveTo>
                <a:lnTo>
                  <a:pt x="2772409" y="2349500"/>
                </a:lnTo>
                <a:lnTo>
                  <a:pt x="2779864" y="2336800"/>
                </a:lnTo>
                <a:lnTo>
                  <a:pt x="2818396" y="2336800"/>
                </a:lnTo>
                <a:lnTo>
                  <a:pt x="2811183" y="2349500"/>
                </a:lnTo>
                <a:close/>
              </a:path>
              <a:path w="2941954" h="2463800">
                <a:moveTo>
                  <a:pt x="183984" y="2362200"/>
                </a:moveTo>
                <a:lnTo>
                  <a:pt x="144983" y="2362200"/>
                </a:lnTo>
                <a:lnTo>
                  <a:pt x="137452" y="2349500"/>
                </a:lnTo>
                <a:lnTo>
                  <a:pt x="176212" y="2349500"/>
                </a:lnTo>
                <a:lnTo>
                  <a:pt x="183984" y="2362200"/>
                </a:lnTo>
                <a:close/>
              </a:path>
              <a:path w="2941954" h="2463800">
                <a:moveTo>
                  <a:pt x="2796273" y="2362200"/>
                </a:moveTo>
                <a:lnTo>
                  <a:pt x="2757500" y="2362200"/>
                </a:lnTo>
                <a:lnTo>
                  <a:pt x="2765259" y="2349500"/>
                </a:lnTo>
                <a:lnTo>
                  <a:pt x="2803804" y="2349500"/>
                </a:lnTo>
                <a:lnTo>
                  <a:pt x="2796273" y="2362200"/>
                </a:lnTo>
                <a:close/>
              </a:path>
              <a:path w="2941954" h="2463800">
                <a:moveTo>
                  <a:pt x="199453" y="2374900"/>
                </a:moveTo>
                <a:lnTo>
                  <a:pt x="160527" y="2374900"/>
                </a:lnTo>
                <a:lnTo>
                  <a:pt x="152679" y="2362200"/>
                </a:lnTo>
                <a:lnTo>
                  <a:pt x="191401" y="2362200"/>
                </a:lnTo>
                <a:lnTo>
                  <a:pt x="199453" y="2374900"/>
                </a:lnTo>
                <a:close/>
              </a:path>
              <a:path w="2941954" h="2463800">
                <a:moveTo>
                  <a:pt x="2780715" y="2374900"/>
                </a:moveTo>
                <a:lnTo>
                  <a:pt x="2742031" y="2374900"/>
                </a:lnTo>
                <a:lnTo>
                  <a:pt x="2750083" y="2362200"/>
                </a:lnTo>
                <a:lnTo>
                  <a:pt x="2788577" y="2362200"/>
                </a:lnTo>
                <a:lnTo>
                  <a:pt x="2780715" y="2374900"/>
                </a:lnTo>
                <a:close/>
              </a:path>
              <a:path w="2941954" h="2463800">
                <a:moveTo>
                  <a:pt x="223659" y="2387600"/>
                </a:moveTo>
                <a:lnTo>
                  <a:pt x="176682" y="2387600"/>
                </a:lnTo>
                <a:lnTo>
                  <a:pt x="168528" y="2374900"/>
                </a:lnTo>
                <a:lnTo>
                  <a:pt x="215201" y="2374900"/>
                </a:lnTo>
                <a:lnTo>
                  <a:pt x="223659" y="2387600"/>
                </a:lnTo>
                <a:close/>
              </a:path>
              <a:path w="2941954" h="2463800">
                <a:moveTo>
                  <a:pt x="2764548" y="2387600"/>
                </a:moveTo>
                <a:lnTo>
                  <a:pt x="2717812" y="2387600"/>
                </a:lnTo>
                <a:lnTo>
                  <a:pt x="2726283" y="2374900"/>
                </a:lnTo>
                <a:lnTo>
                  <a:pt x="2772956" y="2374900"/>
                </a:lnTo>
                <a:lnTo>
                  <a:pt x="2764548" y="2387600"/>
                </a:lnTo>
                <a:close/>
              </a:path>
              <a:path w="2941954" h="2463800">
                <a:moveTo>
                  <a:pt x="248996" y="2400300"/>
                </a:moveTo>
                <a:lnTo>
                  <a:pt x="193433" y="2400300"/>
                </a:lnTo>
                <a:lnTo>
                  <a:pt x="184988" y="2387600"/>
                </a:lnTo>
                <a:lnTo>
                  <a:pt x="240156" y="2387600"/>
                </a:lnTo>
                <a:lnTo>
                  <a:pt x="248996" y="2400300"/>
                </a:lnTo>
                <a:close/>
              </a:path>
              <a:path w="2941954" h="2463800">
                <a:moveTo>
                  <a:pt x="2747797" y="2400300"/>
                </a:moveTo>
                <a:lnTo>
                  <a:pt x="2692476" y="2400300"/>
                </a:lnTo>
                <a:lnTo>
                  <a:pt x="2701315" y="2387600"/>
                </a:lnTo>
                <a:lnTo>
                  <a:pt x="2756242" y="2387600"/>
                </a:lnTo>
                <a:lnTo>
                  <a:pt x="2747797" y="2400300"/>
                </a:lnTo>
                <a:close/>
              </a:path>
              <a:path w="2941954" h="2463800">
                <a:moveTo>
                  <a:pt x="275374" y="2413000"/>
                </a:moveTo>
                <a:lnTo>
                  <a:pt x="219595" y="2413000"/>
                </a:lnTo>
                <a:lnTo>
                  <a:pt x="210731" y="2400300"/>
                </a:lnTo>
                <a:lnTo>
                  <a:pt x="266192" y="2400300"/>
                </a:lnTo>
                <a:lnTo>
                  <a:pt x="275374" y="2413000"/>
                </a:lnTo>
                <a:close/>
              </a:path>
              <a:path w="2941954" h="2463800">
                <a:moveTo>
                  <a:pt x="2721889" y="2413000"/>
                </a:moveTo>
                <a:lnTo>
                  <a:pt x="2666098" y="2413000"/>
                </a:lnTo>
                <a:lnTo>
                  <a:pt x="2675293" y="2400300"/>
                </a:lnTo>
                <a:lnTo>
                  <a:pt x="2730474" y="2400300"/>
                </a:lnTo>
                <a:lnTo>
                  <a:pt x="2721889" y="2413000"/>
                </a:lnTo>
                <a:close/>
              </a:path>
              <a:path w="2941954" h="2463800">
                <a:moveTo>
                  <a:pt x="312026" y="2425700"/>
                </a:moveTo>
                <a:lnTo>
                  <a:pt x="237693" y="2425700"/>
                </a:lnTo>
                <a:lnTo>
                  <a:pt x="228587" y="2413000"/>
                </a:lnTo>
                <a:lnTo>
                  <a:pt x="302412" y="2413000"/>
                </a:lnTo>
                <a:lnTo>
                  <a:pt x="312026" y="2425700"/>
                </a:lnTo>
                <a:close/>
              </a:path>
              <a:path w="2941954" h="2463800">
                <a:moveTo>
                  <a:pt x="2703499" y="2425700"/>
                </a:moveTo>
                <a:lnTo>
                  <a:pt x="2629458" y="2425700"/>
                </a:lnTo>
                <a:lnTo>
                  <a:pt x="2639072" y="2413000"/>
                </a:lnTo>
                <a:lnTo>
                  <a:pt x="2712631" y="2413000"/>
                </a:lnTo>
                <a:lnTo>
                  <a:pt x="2703499" y="2425700"/>
                </a:lnTo>
                <a:close/>
              </a:path>
              <a:path w="2941954" h="2463800">
                <a:moveTo>
                  <a:pt x="359943" y="2438400"/>
                </a:moveTo>
                <a:lnTo>
                  <a:pt x="266064" y="2438400"/>
                </a:lnTo>
                <a:lnTo>
                  <a:pt x="256578" y="2425700"/>
                </a:lnTo>
                <a:lnTo>
                  <a:pt x="349872" y="2425700"/>
                </a:lnTo>
                <a:lnTo>
                  <a:pt x="359943" y="2438400"/>
                </a:lnTo>
                <a:close/>
              </a:path>
              <a:path w="2941954" h="2463800">
                <a:moveTo>
                  <a:pt x="369773" y="2438400"/>
                </a:moveTo>
                <a:lnTo>
                  <a:pt x="359943" y="2438400"/>
                </a:lnTo>
                <a:lnTo>
                  <a:pt x="359625" y="2425700"/>
                </a:lnTo>
                <a:lnTo>
                  <a:pt x="369773" y="2438400"/>
                </a:lnTo>
                <a:close/>
              </a:path>
              <a:path w="2941954" h="2463800">
                <a:moveTo>
                  <a:pt x="2581541" y="2438400"/>
                </a:moveTo>
                <a:lnTo>
                  <a:pt x="2571711" y="2438400"/>
                </a:lnTo>
                <a:lnTo>
                  <a:pt x="2581859" y="2425700"/>
                </a:lnTo>
                <a:lnTo>
                  <a:pt x="2581541" y="2438400"/>
                </a:lnTo>
                <a:close/>
              </a:path>
              <a:path w="2941954" h="2463800">
                <a:moveTo>
                  <a:pt x="2675712" y="2438400"/>
                </a:moveTo>
                <a:lnTo>
                  <a:pt x="2581541" y="2438400"/>
                </a:lnTo>
                <a:lnTo>
                  <a:pt x="2591612" y="2425700"/>
                </a:lnTo>
                <a:lnTo>
                  <a:pt x="2685186" y="2425700"/>
                </a:lnTo>
                <a:lnTo>
                  <a:pt x="2675712" y="2438400"/>
                </a:lnTo>
                <a:close/>
              </a:path>
              <a:path w="2941954" h="2463800">
                <a:moveTo>
                  <a:pt x="2636697" y="2451100"/>
                </a:moveTo>
                <a:lnTo>
                  <a:pt x="305092" y="2451100"/>
                </a:lnTo>
                <a:lnTo>
                  <a:pt x="295173" y="2438400"/>
                </a:lnTo>
                <a:lnTo>
                  <a:pt x="2646616" y="2438400"/>
                </a:lnTo>
                <a:lnTo>
                  <a:pt x="2636697" y="2451100"/>
                </a:lnTo>
                <a:close/>
              </a:path>
              <a:path w="2941954" h="2463800">
                <a:moveTo>
                  <a:pt x="2575229" y="2463800"/>
                </a:moveTo>
                <a:lnTo>
                  <a:pt x="366572" y="2463800"/>
                </a:lnTo>
                <a:lnTo>
                  <a:pt x="356107" y="2451100"/>
                </a:lnTo>
                <a:lnTo>
                  <a:pt x="2585694" y="2451100"/>
                </a:lnTo>
                <a:lnTo>
                  <a:pt x="2575229" y="24638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829030" y="5910427"/>
            <a:ext cx="9711055" cy="570230"/>
            <a:chOff x="829030" y="5910427"/>
            <a:chExt cx="9711055" cy="570230"/>
          </a:xfrm>
        </p:grpSpPr>
        <p:sp>
          <p:nvSpPr>
            <p:cNvPr id="5" name="object 5"/>
            <p:cNvSpPr/>
            <p:nvPr/>
          </p:nvSpPr>
          <p:spPr>
            <a:xfrm>
              <a:off x="829030" y="5910427"/>
              <a:ext cx="9711055" cy="570230"/>
            </a:xfrm>
            <a:custGeom>
              <a:avLst/>
              <a:gdLst/>
              <a:ahLst/>
              <a:cxnLst/>
              <a:rect l="l" t="t" r="r" b="b"/>
              <a:pathLst>
                <a:path w="9711055" h="570229">
                  <a:moveTo>
                    <a:pt x="9627527" y="1270"/>
                  </a:moveTo>
                  <a:lnTo>
                    <a:pt x="82994" y="1270"/>
                  </a:lnTo>
                  <a:lnTo>
                    <a:pt x="87477" y="0"/>
                  </a:lnTo>
                  <a:lnTo>
                    <a:pt x="9623044" y="0"/>
                  </a:lnTo>
                  <a:lnTo>
                    <a:pt x="9627527" y="1270"/>
                  </a:lnTo>
                  <a:close/>
                </a:path>
                <a:path w="9711055" h="570229">
                  <a:moveTo>
                    <a:pt x="9642894" y="563879"/>
                  </a:moveTo>
                  <a:lnTo>
                    <a:pt x="67627" y="563879"/>
                  </a:lnTo>
                  <a:lnTo>
                    <a:pt x="62915" y="562610"/>
                  </a:lnTo>
                  <a:lnTo>
                    <a:pt x="58331" y="560070"/>
                  </a:lnTo>
                  <a:lnTo>
                    <a:pt x="54406" y="558800"/>
                  </a:lnTo>
                  <a:lnTo>
                    <a:pt x="49529" y="554989"/>
                  </a:lnTo>
                  <a:lnTo>
                    <a:pt x="45338" y="552450"/>
                  </a:lnTo>
                  <a:lnTo>
                    <a:pt x="41770" y="549910"/>
                  </a:lnTo>
                  <a:lnTo>
                    <a:pt x="37376" y="547370"/>
                  </a:lnTo>
                  <a:lnTo>
                    <a:pt x="34074" y="543560"/>
                  </a:lnTo>
                  <a:lnTo>
                    <a:pt x="30467" y="541020"/>
                  </a:lnTo>
                  <a:lnTo>
                    <a:pt x="30035" y="539750"/>
                  </a:lnTo>
                  <a:lnTo>
                    <a:pt x="26619" y="535939"/>
                  </a:lnTo>
                  <a:lnTo>
                    <a:pt x="23367" y="532129"/>
                  </a:lnTo>
                  <a:lnTo>
                    <a:pt x="20307" y="528320"/>
                  </a:lnTo>
                  <a:lnTo>
                    <a:pt x="17767" y="525779"/>
                  </a:lnTo>
                  <a:lnTo>
                    <a:pt x="15062" y="520700"/>
                  </a:lnTo>
                  <a:lnTo>
                    <a:pt x="12547" y="516889"/>
                  </a:lnTo>
                  <a:lnTo>
                    <a:pt x="12255" y="515620"/>
                  </a:lnTo>
                  <a:lnTo>
                    <a:pt x="10248" y="511810"/>
                  </a:lnTo>
                  <a:lnTo>
                    <a:pt x="8153" y="508000"/>
                  </a:lnTo>
                  <a:lnTo>
                    <a:pt x="7912" y="506729"/>
                  </a:lnTo>
                  <a:lnTo>
                    <a:pt x="6070" y="502920"/>
                  </a:lnTo>
                  <a:lnTo>
                    <a:pt x="0" y="97789"/>
                  </a:lnTo>
                  <a:lnTo>
                    <a:pt x="457" y="92710"/>
                  </a:lnTo>
                  <a:lnTo>
                    <a:pt x="1028" y="87629"/>
                  </a:lnTo>
                  <a:lnTo>
                    <a:pt x="1930" y="82550"/>
                  </a:lnTo>
                  <a:lnTo>
                    <a:pt x="2057" y="81279"/>
                  </a:lnTo>
                  <a:lnTo>
                    <a:pt x="3225" y="77470"/>
                  </a:lnTo>
                  <a:lnTo>
                    <a:pt x="4457" y="72389"/>
                  </a:lnTo>
                  <a:lnTo>
                    <a:pt x="6070" y="67310"/>
                  </a:lnTo>
                  <a:lnTo>
                    <a:pt x="6286" y="67310"/>
                  </a:lnTo>
                  <a:lnTo>
                    <a:pt x="7912" y="63500"/>
                  </a:lnTo>
                  <a:lnTo>
                    <a:pt x="8153" y="62229"/>
                  </a:lnTo>
                  <a:lnTo>
                    <a:pt x="10248" y="58420"/>
                  </a:lnTo>
                  <a:lnTo>
                    <a:pt x="12547" y="53339"/>
                  </a:lnTo>
                  <a:lnTo>
                    <a:pt x="14744" y="49529"/>
                  </a:lnTo>
                  <a:lnTo>
                    <a:pt x="17424" y="45720"/>
                  </a:lnTo>
                  <a:lnTo>
                    <a:pt x="17767" y="44450"/>
                  </a:lnTo>
                  <a:lnTo>
                    <a:pt x="20307" y="40639"/>
                  </a:lnTo>
                  <a:lnTo>
                    <a:pt x="23367" y="36829"/>
                  </a:lnTo>
                  <a:lnTo>
                    <a:pt x="26619" y="33020"/>
                  </a:lnTo>
                  <a:lnTo>
                    <a:pt x="30035" y="30479"/>
                  </a:lnTo>
                  <a:lnTo>
                    <a:pt x="34074" y="26670"/>
                  </a:lnTo>
                  <a:lnTo>
                    <a:pt x="37376" y="22860"/>
                  </a:lnTo>
                  <a:lnTo>
                    <a:pt x="41770" y="20320"/>
                  </a:lnTo>
                  <a:lnTo>
                    <a:pt x="45846" y="16510"/>
                  </a:lnTo>
                  <a:lnTo>
                    <a:pt x="49529" y="13970"/>
                  </a:lnTo>
                  <a:lnTo>
                    <a:pt x="54406" y="11429"/>
                  </a:lnTo>
                  <a:lnTo>
                    <a:pt x="58331" y="10160"/>
                  </a:lnTo>
                  <a:lnTo>
                    <a:pt x="62915" y="7620"/>
                  </a:lnTo>
                  <a:lnTo>
                    <a:pt x="67627" y="6350"/>
                  </a:lnTo>
                  <a:lnTo>
                    <a:pt x="73037" y="3810"/>
                  </a:lnTo>
                  <a:lnTo>
                    <a:pt x="77978" y="2539"/>
                  </a:lnTo>
                  <a:lnTo>
                    <a:pt x="82372" y="1270"/>
                  </a:lnTo>
                  <a:lnTo>
                    <a:pt x="9628149" y="1270"/>
                  </a:lnTo>
                  <a:lnTo>
                    <a:pt x="9632556" y="2539"/>
                  </a:lnTo>
                  <a:lnTo>
                    <a:pt x="9637483" y="3810"/>
                  </a:lnTo>
                  <a:lnTo>
                    <a:pt x="9642894" y="6350"/>
                  </a:lnTo>
                  <a:lnTo>
                    <a:pt x="9647605" y="7620"/>
                  </a:lnTo>
                  <a:lnTo>
                    <a:pt x="9652190" y="10160"/>
                  </a:lnTo>
                  <a:lnTo>
                    <a:pt x="9656660" y="11429"/>
                  </a:lnTo>
                  <a:lnTo>
                    <a:pt x="9660470" y="13970"/>
                  </a:lnTo>
                  <a:lnTo>
                    <a:pt x="9660991" y="13970"/>
                  </a:lnTo>
                  <a:lnTo>
                    <a:pt x="9665182" y="17779"/>
                  </a:lnTo>
                  <a:lnTo>
                    <a:pt x="9669246" y="20320"/>
                  </a:lnTo>
                  <a:lnTo>
                    <a:pt x="9673145" y="22860"/>
                  </a:lnTo>
                  <a:lnTo>
                    <a:pt x="9675346" y="25400"/>
                  </a:lnTo>
                  <a:lnTo>
                    <a:pt x="91947" y="25400"/>
                  </a:lnTo>
                  <a:lnTo>
                    <a:pt x="87464" y="26670"/>
                  </a:lnTo>
                  <a:lnTo>
                    <a:pt x="84302" y="26670"/>
                  </a:lnTo>
                  <a:lnTo>
                    <a:pt x="79984" y="27939"/>
                  </a:lnTo>
                  <a:lnTo>
                    <a:pt x="80581" y="27939"/>
                  </a:lnTo>
                  <a:lnTo>
                    <a:pt x="76352" y="29210"/>
                  </a:lnTo>
                  <a:lnTo>
                    <a:pt x="76936" y="29210"/>
                  </a:lnTo>
                  <a:lnTo>
                    <a:pt x="72809" y="30479"/>
                  </a:lnTo>
                  <a:lnTo>
                    <a:pt x="73380" y="30479"/>
                  </a:lnTo>
                  <a:lnTo>
                    <a:pt x="71367" y="31750"/>
                  </a:lnTo>
                  <a:lnTo>
                    <a:pt x="69913" y="31750"/>
                  </a:lnTo>
                  <a:lnTo>
                    <a:pt x="65989" y="34289"/>
                  </a:lnTo>
                  <a:lnTo>
                    <a:pt x="66535" y="34289"/>
                  </a:lnTo>
                  <a:lnTo>
                    <a:pt x="64623" y="35560"/>
                  </a:lnTo>
                  <a:lnTo>
                    <a:pt x="63245" y="35560"/>
                  </a:lnTo>
                  <a:lnTo>
                    <a:pt x="59550" y="38100"/>
                  </a:lnTo>
                  <a:lnTo>
                    <a:pt x="60058" y="38100"/>
                  </a:lnTo>
                  <a:lnTo>
                    <a:pt x="56489" y="40639"/>
                  </a:lnTo>
                  <a:lnTo>
                    <a:pt x="56972" y="40639"/>
                  </a:lnTo>
                  <a:lnTo>
                    <a:pt x="55257" y="41910"/>
                  </a:lnTo>
                  <a:lnTo>
                    <a:pt x="54013" y="41910"/>
                  </a:lnTo>
                  <a:lnTo>
                    <a:pt x="51811" y="44450"/>
                  </a:lnTo>
                  <a:lnTo>
                    <a:pt x="51155" y="44450"/>
                  </a:lnTo>
                  <a:lnTo>
                    <a:pt x="49047" y="46989"/>
                  </a:lnTo>
                  <a:lnTo>
                    <a:pt x="48425" y="46989"/>
                  </a:lnTo>
                  <a:lnTo>
                    <a:pt x="45415" y="50800"/>
                  </a:lnTo>
                  <a:lnTo>
                    <a:pt x="45821" y="50800"/>
                  </a:lnTo>
                  <a:lnTo>
                    <a:pt x="42951" y="53339"/>
                  </a:lnTo>
                  <a:lnTo>
                    <a:pt x="43345" y="53339"/>
                  </a:lnTo>
                  <a:lnTo>
                    <a:pt x="40639" y="55879"/>
                  </a:lnTo>
                  <a:lnTo>
                    <a:pt x="41008" y="55879"/>
                  </a:lnTo>
                  <a:lnTo>
                    <a:pt x="39314" y="58420"/>
                  </a:lnTo>
                  <a:lnTo>
                    <a:pt x="38811" y="58420"/>
                  </a:lnTo>
                  <a:lnTo>
                    <a:pt x="36448" y="62229"/>
                  </a:lnTo>
                  <a:lnTo>
                    <a:pt x="36766" y="62229"/>
                  </a:lnTo>
                  <a:lnTo>
                    <a:pt x="34569" y="66039"/>
                  </a:lnTo>
                  <a:lnTo>
                    <a:pt x="34861" y="66039"/>
                  </a:lnTo>
                  <a:lnTo>
                    <a:pt x="33523" y="68579"/>
                  </a:lnTo>
                  <a:lnTo>
                    <a:pt x="33121" y="68579"/>
                  </a:lnTo>
                  <a:lnTo>
                    <a:pt x="31305" y="72389"/>
                  </a:lnTo>
                  <a:lnTo>
                    <a:pt x="31546" y="72389"/>
                  </a:lnTo>
                  <a:lnTo>
                    <a:pt x="29921" y="76200"/>
                  </a:lnTo>
                  <a:lnTo>
                    <a:pt x="30137" y="76200"/>
                  </a:lnTo>
                  <a:lnTo>
                    <a:pt x="28701" y="80010"/>
                  </a:lnTo>
                  <a:lnTo>
                    <a:pt x="28892" y="80010"/>
                  </a:lnTo>
                  <a:lnTo>
                    <a:pt x="28071" y="82550"/>
                  </a:lnTo>
                  <a:lnTo>
                    <a:pt x="27825" y="82550"/>
                  </a:lnTo>
                  <a:lnTo>
                    <a:pt x="26809" y="87629"/>
                  </a:lnTo>
                  <a:lnTo>
                    <a:pt x="25459" y="472439"/>
                  </a:lnTo>
                  <a:lnTo>
                    <a:pt x="25653" y="474979"/>
                  </a:lnTo>
                  <a:lnTo>
                    <a:pt x="26136" y="478789"/>
                  </a:lnTo>
                  <a:lnTo>
                    <a:pt x="26936" y="482600"/>
                  </a:lnTo>
                  <a:lnTo>
                    <a:pt x="26809" y="482600"/>
                  </a:lnTo>
                  <a:lnTo>
                    <a:pt x="27825" y="486410"/>
                  </a:lnTo>
                  <a:lnTo>
                    <a:pt x="27660" y="486410"/>
                  </a:lnTo>
                  <a:lnTo>
                    <a:pt x="28892" y="490220"/>
                  </a:lnTo>
                  <a:lnTo>
                    <a:pt x="28701" y="490220"/>
                  </a:lnTo>
                  <a:lnTo>
                    <a:pt x="30137" y="494029"/>
                  </a:lnTo>
                  <a:lnTo>
                    <a:pt x="29921" y="494029"/>
                  </a:lnTo>
                  <a:lnTo>
                    <a:pt x="31546" y="497839"/>
                  </a:lnTo>
                  <a:lnTo>
                    <a:pt x="31759" y="497839"/>
                  </a:lnTo>
                  <a:lnTo>
                    <a:pt x="33121" y="501650"/>
                  </a:lnTo>
                  <a:lnTo>
                    <a:pt x="33523" y="501650"/>
                  </a:lnTo>
                  <a:lnTo>
                    <a:pt x="34861" y="504189"/>
                  </a:lnTo>
                  <a:lnTo>
                    <a:pt x="34569" y="504189"/>
                  </a:lnTo>
                  <a:lnTo>
                    <a:pt x="36766" y="508000"/>
                  </a:lnTo>
                  <a:lnTo>
                    <a:pt x="37236" y="508000"/>
                  </a:lnTo>
                  <a:lnTo>
                    <a:pt x="38811" y="510539"/>
                  </a:lnTo>
                  <a:lnTo>
                    <a:pt x="38468" y="510539"/>
                  </a:lnTo>
                  <a:lnTo>
                    <a:pt x="41008" y="514350"/>
                  </a:lnTo>
                  <a:lnTo>
                    <a:pt x="41541" y="514350"/>
                  </a:lnTo>
                  <a:lnTo>
                    <a:pt x="43345" y="516889"/>
                  </a:lnTo>
                  <a:lnTo>
                    <a:pt x="42951" y="516889"/>
                  </a:lnTo>
                  <a:lnTo>
                    <a:pt x="45821" y="519429"/>
                  </a:lnTo>
                  <a:lnTo>
                    <a:pt x="45415" y="519429"/>
                  </a:lnTo>
                  <a:lnTo>
                    <a:pt x="48425" y="521970"/>
                  </a:lnTo>
                  <a:lnTo>
                    <a:pt x="47993" y="521970"/>
                  </a:lnTo>
                  <a:lnTo>
                    <a:pt x="51155" y="525779"/>
                  </a:lnTo>
                  <a:lnTo>
                    <a:pt x="52362" y="525779"/>
                  </a:lnTo>
                  <a:lnTo>
                    <a:pt x="54013" y="527050"/>
                  </a:lnTo>
                  <a:lnTo>
                    <a:pt x="53543" y="527050"/>
                  </a:lnTo>
                  <a:lnTo>
                    <a:pt x="56972" y="529589"/>
                  </a:lnTo>
                  <a:lnTo>
                    <a:pt x="56489" y="529589"/>
                  </a:lnTo>
                  <a:lnTo>
                    <a:pt x="60058" y="532129"/>
                  </a:lnTo>
                  <a:lnTo>
                    <a:pt x="59550" y="532129"/>
                  </a:lnTo>
                  <a:lnTo>
                    <a:pt x="63245" y="534670"/>
                  </a:lnTo>
                  <a:lnTo>
                    <a:pt x="64623" y="534670"/>
                  </a:lnTo>
                  <a:lnTo>
                    <a:pt x="66535" y="535939"/>
                  </a:lnTo>
                  <a:lnTo>
                    <a:pt x="65989" y="535939"/>
                  </a:lnTo>
                  <a:lnTo>
                    <a:pt x="69913" y="537210"/>
                  </a:lnTo>
                  <a:lnTo>
                    <a:pt x="69354" y="537210"/>
                  </a:lnTo>
                  <a:lnTo>
                    <a:pt x="73380" y="539750"/>
                  </a:lnTo>
                  <a:lnTo>
                    <a:pt x="74872" y="539750"/>
                  </a:lnTo>
                  <a:lnTo>
                    <a:pt x="76936" y="541020"/>
                  </a:lnTo>
                  <a:lnTo>
                    <a:pt x="76352" y="541020"/>
                  </a:lnTo>
                  <a:lnTo>
                    <a:pt x="80581" y="542289"/>
                  </a:lnTo>
                  <a:lnTo>
                    <a:pt x="83680" y="542289"/>
                  </a:lnTo>
                  <a:lnTo>
                    <a:pt x="88087" y="543560"/>
                  </a:lnTo>
                  <a:lnTo>
                    <a:pt x="87464" y="543560"/>
                  </a:lnTo>
                  <a:lnTo>
                    <a:pt x="91947" y="544829"/>
                  </a:lnTo>
                  <a:lnTo>
                    <a:pt x="9675346" y="544829"/>
                  </a:lnTo>
                  <a:lnTo>
                    <a:pt x="9673145" y="547370"/>
                  </a:lnTo>
                  <a:lnTo>
                    <a:pt x="9669246" y="549910"/>
                  </a:lnTo>
                  <a:lnTo>
                    <a:pt x="9665182" y="552450"/>
                  </a:lnTo>
                  <a:lnTo>
                    <a:pt x="9660991" y="554989"/>
                  </a:lnTo>
                  <a:lnTo>
                    <a:pt x="9660470" y="556260"/>
                  </a:lnTo>
                  <a:lnTo>
                    <a:pt x="9656660" y="557529"/>
                  </a:lnTo>
                  <a:lnTo>
                    <a:pt x="9652190" y="560070"/>
                  </a:lnTo>
                  <a:lnTo>
                    <a:pt x="9647605" y="562610"/>
                  </a:lnTo>
                  <a:lnTo>
                    <a:pt x="9642894" y="563879"/>
                  </a:lnTo>
                  <a:close/>
                </a:path>
                <a:path w="9711055" h="570229">
                  <a:moveTo>
                    <a:pt x="9641166" y="33020"/>
                  </a:moveTo>
                  <a:lnTo>
                    <a:pt x="9637141" y="30479"/>
                  </a:lnTo>
                  <a:lnTo>
                    <a:pt x="9637712" y="30479"/>
                  </a:lnTo>
                  <a:lnTo>
                    <a:pt x="9633585" y="29210"/>
                  </a:lnTo>
                  <a:lnTo>
                    <a:pt x="9634169" y="29210"/>
                  </a:lnTo>
                  <a:lnTo>
                    <a:pt x="9629940" y="27939"/>
                  </a:lnTo>
                  <a:lnTo>
                    <a:pt x="9630537" y="27939"/>
                  </a:lnTo>
                  <a:lnTo>
                    <a:pt x="9626219" y="26670"/>
                  </a:lnTo>
                  <a:lnTo>
                    <a:pt x="9623056" y="26670"/>
                  </a:lnTo>
                  <a:lnTo>
                    <a:pt x="9618573" y="25400"/>
                  </a:lnTo>
                  <a:lnTo>
                    <a:pt x="9675346" y="25400"/>
                  </a:lnTo>
                  <a:lnTo>
                    <a:pt x="9676447" y="26670"/>
                  </a:lnTo>
                  <a:lnTo>
                    <a:pt x="9680486" y="30479"/>
                  </a:lnTo>
                  <a:lnTo>
                    <a:pt x="9682194" y="31750"/>
                  </a:lnTo>
                  <a:lnTo>
                    <a:pt x="9640608" y="31750"/>
                  </a:lnTo>
                  <a:lnTo>
                    <a:pt x="9641166" y="33020"/>
                  </a:lnTo>
                  <a:close/>
                </a:path>
                <a:path w="9711055" h="570229">
                  <a:moveTo>
                    <a:pt x="83680" y="27939"/>
                  </a:moveTo>
                  <a:lnTo>
                    <a:pt x="84302" y="26670"/>
                  </a:lnTo>
                  <a:lnTo>
                    <a:pt x="88087" y="26670"/>
                  </a:lnTo>
                  <a:lnTo>
                    <a:pt x="83680" y="27939"/>
                  </a:lnTo>
                  <a:close/>
                </a:path>
                <a:path w="9711055" h="570229">
                  <a:moveTo>
                    <a:pt x="9626841" y="27939"/>
                  </a:moveTo>
                  <a:lnTo>
                    <a:pt x="9622434" y="26670"/>
                  </a:lnTo>
                  <a:lnTo>
                    <a:pt x="9626219" y="26670"/>
                  </a:lnTo>
                  <a:lnTo>
                    <a:pt x="9626841" y="27939"/>
                  </a:lnTo>
                  <a:close/>
                </a:path>
                <a:path w="9711055" h="570229">
                  <a:moveTo>
                    <a:pt x="69354" y="33020"/>
                  </a:moveTo>
                  <a:lnTo>
                    <a:pt x="69913" y="31750"/>
                  </a:lnTo>
                  <a:lnTo>
                    <a:pt x="71367" y="31750"/>
                  </a:lnTo>
                  <a:lnTo>
                    <a:pt x="69354" y="33020"/>
                  </a:lnTo>
                  <a:close/>
                </a:path>
                <a:path w="9711055" h="570229">
                  <a:moveTo>
                    <a:pt x="9647809" y="36829"/>
                  </a:moveTo>
                  <a:lnTo>
                    <a:pt x="9643999" y="34289"/>
                  </a:lnTo>
                  <a:lnTo>
                    <a:pt x="9644532" y="34289"/>
                  </a:lnTo>
                  <a:lnTo>
                    <a:pt x="9640608" y="31750"/>
                  </a:lnTo>
                  <a:lnTo>
                    <a:pt x="9682194" y="31750"/>
                  </a:lnTo>
                  <a:lnTo>
                    <a:pt x="9683902" y="33020"/>
                  </a:lnTo>
                  <a:lnTo>
                    <a:pt x="9686069" y="35560"/>
                  </a:lnTo>
                  <a:lnTo>
                    <a:pt x="9647275" y="35560"/>
                  </a:lnTo>
                  <a:lnTo>
                    <a:pt x="9647809" y="36829"/>
                  </a:lnTo>
                  <a:close/>
                </a:path>
                <a:path w="9711055" h="570229">
                  <a:moveTo>
                    <a:pt x="62712" y="36829"/>
                  </a:moveTo>
                  <a:lnTo>
                    <a:pt x="63245" y="35560"/>
                  </a:lnTo>
                  <a:lnTo>
                    <a:pt x="64623" y="35560"/>
                  </a:lnTo>
                  <a:lnTo>
                    <a:pt x="62712" y="36829"/>
                  </a:lnTo>
                  <a:close/>
                </a:path>
                <a:path w="9711055" h="570229">
                  <a:moveTo>
                    <a:pt x="9656978" y="43179"/>
                  </a:moveTo>
                  <a:lnTo>
                    <a:pt x="9653549" y="40639"/>
                  </a:lnTo>
                  <a:lnTo>
                    <a:pt x="9654032" y="40639"/>
                  </a:lnTo>
                  <a:lnTo>
                    <a:pt x="9650463" y="38100"/>
                  </a:lnTo>
                  <a:lnTo>
                    <a:pt x="9650971" y="38100"/>
                  </a:lnTo>
                  <a:lnTo>
                    <a:pt x="9647275" y="35560"/>
                  </a:lnTo>
                  <a:lnTo>
                    <a:pt x="9686069" y="35560"/>
                  </a:lnTo>
                  <a:lnTo>
                    <a:pt x="9687153" y="36829"/>
                  </a:lnTo>
                  <a:lnTo>
                    <a:pt x="9690214" y="40639"/>
                  </a:lnTo>
                  <a:lnTo>
                    <a:pt x="9691060" y="41910"/>
                  </a:lnTo>
                  <a:lnTo>
                    <a:pt x="9656521" y="41910"/>
                  </a:lnTo>
                  <a:lnTo>
                    <a:pt x="9656978" y="43179"/>
                  </a:lnTo>
                  <a:close/>
                </a:path>
                <a:path w="9711055" h="570229">
                  <a:moveTo>
                    <a:pt x="53543" y="43179"/>
                  </a:moveTo>
                  <a:lnTo>
                    <a:pt x="54013" y="41910"/>
                  </a:lnTo>
                  <a:lnTo>
                    <a:pt x="55257" y="41910"/>
                  </a:lnTo>
                  <a:lnTo>
                    <a:pt x="53543" y="43179"/>
                  </a:lnTo>
                  <a:close/>
                </a:path>
                <a:path w="9711055" h="570229">
                  <a:moveTo>
                    <a:pt x="9659810" y="45720"/>
                  </a:moveTo>
                  <a:lnTo>
                    <a:pt x="9656521" y="41910"/>
                  </a:lnTo>
                  <a:lnTo>
                    <a:pt x="9691060" y="41910"/>
                  </a:lnTo>
                  <a:lnTo>
                    <a:pt x="9692754" y="44450"/>
                  </a:lnTo>
                  <a:lnTo>
                    <a:pt x="9659366" y="44450"/>
                  </a:lnTo>
                  <a:lnTo>
                    <a:pt x="9659810" y="45720"/>
                  </a:lnTo>
                  <a:close/>
                </a:path>
                <a:path w="9711055" h="570229">
                  <a:moveTo>
                    <a:pt x="50711" y="45720"/>
                  </a:moveTo>
                  <a:lnTo>
                    <a:pt x="51155" y="44450"/>
                  </a:lnTo>
                  <a:lnTo>
                    <a:pt x="51811" y="44450"/>
                  </a:lnTo>
                  <a:lnTo>
                    <a:pt x="50711" y="45720"/>
                  </a:lnTo>
                  <a:close/>
                </a:path>
                <a:path w="9711055" h="570229">
                  <a:moveTo>
                    <a:pt x="9662528" y="48260"/>
                  </a:moveTo>
                  <a:lnTo>
                    <a:pt x="9659366" y="44450"/>
                  </a:lnTo>
                  <a:lnTo>
                    <a:pt x="9692754" y="44450"/>
                  </a:lnTo>
                  <a:lnTo>
                    <a:pt x="9693097" y="45720"/>
                  </a:lnTo>
                  <a:lnTo>
                    <a:pt x="9693990" y="46989"/>
                  </a:lnTo>
                  <a:lnTo>
                    <a:pt x="9662096" y="46989"/>
                  </a:lnTo>
                  <a:lnTo>
                    <a:pt x="9662528" y="48260"/>
                  </a:lnTo>
                  <a:close/>
                </a:path>
                <a:path w="9711055" h="570229">
                  <a:moveTo>
                    <a:pt x="47993" y="48260"/>
                  </a:moveTo>
                  <a:lnTo>
                    <a:pt x="48425" y="46989"/>
                  </a:lnTo>
                  <a:lnTo>
                    <a:pt x="49047" y="46989"/>
                  </a:lnTo>
                  <a:lnTo>
                    <a:pt x="47993" y="48260"/>
                  </a:lnTo>
                  <a:close/>
                </a:path>
                <a:path w="9711055" h="570229">
                  <a:moveTo>
                    <a:pt x="9672053" y="59689"/>
                  </a:moveTo>
                  <a:lnTo>
                    <a:pt x="9669513" y="55879"/>
                  </a:lnTo>
                  <a:lnTo>
                    <a:pt x="9669881" y="55879"/>
                  </a:lnTo>
                  <a:lnTo>
                    <a:pt x="9667176" y="53339"/>
                  </a:lnTo>
                  <a:lnTo>
                    <a:pt x="9667570" y="53339"/>
                  </a:lnTo>
                  <a:lnTo>
                    <a:pt x="9664700" y="50800"/>
                  </a:lnTo>
                  <a:lnTo>
                    <a:pt x="9665119" y="50800"/>
                  </a:lnTo>
                  <a:lnTo>
                    <a:pt x="9662096" y="46989"/>
                  </a:lnTo>
                  <a:lnTo>
                    <a:pt x="9693990" y="46989"/>
                  </a:lnTo>
                  <a:lnTo>
                    <a:pt x="9695776" y="49529"/>
                  </a:lnTo>
                  <a:lnTo>
                    <a:pt x="9697974" y="53339"/>
                  </a:lnTo>
                  <a:lnTo>
                    <a:pt x="9700272" y="58420"/>
                  </a:lnTo>
                  <a:lnTo>
                    <a:pt x="9671710" y="58420"/>
                  </a:lnTo>
                  <a:lnTo>
                    <a:pt x="9672053" y="59689"/>
                  </a:lnTo>
                  <a:close/>
                </a:path>
                <a:path w="9711055" h="570229">
                  <a:moveTo>
                    <a:pt x="38468" y="59689"/>
                  </a:moveTo>
                  <a:lnTo>
                    <a:pt x="38811" y="58420"/>
                  </a:lnTo>
                  <a:lnTo>
                    <a:pt x="39314" y="58420"/>
                  </a:lnTo>
                  <a:lnTo>
                    <a:pt x="38468" y="59689"/>
                  </a:lnTo>
                  <a:close/>
                </a:path>
                <a:path w="9711055" h="570229">
                  <a:moveTo>
                    <a:pt x="9677666" y="69850"/>
                  </a:moveTo>
                  <a:lnTo>
                    <a:pt x="9675660" y="66039"/>
                  </a:lnTo>
                  <a:lnTo>
                    <a:pt x="9675952" y="66039"/>
                  </a:lnTo>
                  <a:lnTo>
                    <a:pt x="9673755" y="62229"/>
                  </a:lnTo>
                  <a:lnTo>
                    <a:pt x="9674072" y="62229"/>
                  </a:lnTo>
                  <a:lnTo>
                    <a:pt x="9671710" y="58420"/>
                  </a:lnTo>
                  <a:lnTo>
                    <a:pt x="9700272" y="58420"/>
                  </a:lnTo>
                  <a:lnTo>
                    <a:pt x="9702368" y="62229"/>
                  </a:lnTo>
                  <a:lnTo>
                    <a:pt x="9702609" y="63500"/>
                  </a:lnTo>
                  <a:lnTo>
                    <a:pt x="9704235" y="67310"/>
                  </a:lnTo>
                  <a:lnTo>
                    <a:pt x="9704647" y="68579"/>
                  </a:lnTo>
                  <a:lnTo>
                    <a:pt x="9677400" y="68579"/>
                  </a:lnTo>
                  <a:lnTo>
                    <a:pt x="9677666" y="69850"/>
                  </a:lnTo>
                  <a:close/>
                </a:path>
                <a:path w="9711055" h="570229">
                  <a:moveTo>
                    <a:pt x="32854" y="69850"/>
                  </a:moveTo>
                  <a:lnTo>
                    <a:pt x="33121" y="68579"/>
                  </a:lnTo>
                  <a:lnTo>
                    <a:pt x="33523" y="68579"/>
                  </a:lnTo>
                  <a:lnTo>
                    <a:pt x="32854" y="69850"/>
                  </a:lnTo>
                  <a:close/>
                </a:path>
                <a:path w="9711055" h="570229">
                  <a:moveTo>
                    <a:pt x="9705873" y="497839"/>
                  </a:moveTo>
                  <a:lnTo>
                    <a:pt x="9678974" y="497839"/>
                  </a:lnTo>
                  <a:lnTo>
                    <a:pt x="9680600" y="494029"/>
                  </a:lnTo>
                  <a:lnTo>
                    <a:pt x="9680384" y="494029"/>
                  </a:lnTo>
                  <a:lnTo>
                    <a:pt x="9681819" y="490220"/>
                  </a:lnTo>
                  <a:lnTo>
                    <a:pt x="9681629" y="490220"/>
                  </a:lnTo>
                  <a:lnTo>
                    <a:pt x="9682861" y="486410"/>
                  </a:lnTo>
                  <a:lnTo>
                    <a:pt x="9682695" y="486410"/>
                  </a:lnTo>
                  <a:lnTo>
                    <a:pt x="9683597" y="482600"/>
                  </a:lnTo>
                  <a:lnTo>
                    <a:pt x="9684296" y="478789"/>
                  </a:lnTo>
                  <a:lnTo>
                    <a:pt x="9684804" y="474979"/>
                  </a:lnTo>
                  <a:lnTo>
                    <a:pt x="9685015" y="472439"/>
                  </a:lnTo>
                  <a:lnTo>
                    <a:pt x="9685062" y="97789"/>
                  </a:lnTo>
                  <a:lnTo>
                    <a:pt x="9684867" y="95250"/>
                  </a:lnTo>
                  <a:lnTo>
                    <a:pt x="9684581" y="92710"/>
                  </a:lnTo>
                  <a:lnTo>
                    <a:pt x="9684188" y="90170"/>
                  </a:lnTo>
                  <a:lnTo>
                    <a:pt x="9683724" y="87629"/>
                  </a:lnTo>
                  <a:lnTo>
                    <a:pt x="9683597" y="86360"/>
                  </a:lnTo>
                  <a:lnTo>
                    <a:pt x="9683467" y="86360"/>
                  </a:lnTo>
                  <a:lnTo>
                    <a:pt x="9682695" y="82550"/>
                  </a:lnTo>
                  <a:lnTo>
                    <a:pt x="9682450" y="82550"/>
                  </a:lnTo>
                  <a:lnTo>
                    <a:pt x="9681629" y="80010"/>
                  </a:lnTo>
                  <a:lnTo>
                    <a:pt x="9681819" y="80010"/>
                  </a:lnTo>
                  <a:lnTo>
                    <a:pt x="9680384" y="76200"/>
                  </a:lnTo>
                  <a:lnTo>
                    <a:pt x="9680600" y="76200"/>
                  </a:lnTo>
                  <a:lnTo>
                    <a:pt x="9678974" y="72389"/>
                  </a:lnTo>
                  <a:lnTo>
                    <a:pt x="9679216" y="72389"/>
                  </a:lnTo>
                  <a:lnTo>
                    <a:pt x="9677400" y="68579"/>
                  </a:lnTo>
                  <a:lnTo>
                    <a:pt x="9704647" y="68579"/>
                  </a:lnTo>
                  <a:lnTo>
                    <a:pt x="9705886" y="72389"/>
                  </a:lnTo>
                  <a:lnTo>
                    <a:pt x="9707295" y="77470"/>
                  </a:lnTo>
                  <a:lnTo>
                    <a:pt x="9708464" y="81279"/>
                  </a:lnTo>
                  <a:lnTo>
                    <a:pt x="9708591" y="82550"/>
                  </a:lnTo>
                  <a:lnTo>
                    <a:pt x="9682695" y="82550"/>
                  </a:lnTo>
                  <a:lnTo>
                    <a:pt x="9682949" y="83802"/>
                  </a:lnTo>
                  <a:lnTo>
                    <a:pt x="9708854" y="83802"/>
                  </a:lnTo>
                  <a:lnTo>
                    <a:pt x="9709391" y="86360"/>
                  </a:lnTo>
                  <a:lnTo>
                    <a:pt x="9683597" y="86360"/>
                  </a:lnTo>
                  <a:lnTo>
                    <a:pt x="9683794" y="87629"/>
                  </a:lnTo>
                  <a:lnTo>
                    <a:pt x="9709492" y="87629"/>
                  </a:lnTo>
                  <a:lnTo>
                    <a:pt x="9710140" y="92710"/>
                  </a:lnTo>
                  <a:lnTo>
                    <a:pt x="9710483" y="97789"/>
                  </a:lnTo>
                  <a:lnTo>
                    <a:pt x="9710483" y="472439"/>
                  </a:lnTo>
                  <a:lnTo>
                    <a:pt x="9710077" y="477520"/>
                  </a:lnTo>
                  <a:lnTo>
                    <a:pt x="9709492" y="482600"/>
                  </a:lnTo>
                  <a:lnTo>
                    <a:pt x="9708464" y="487679"/>
                  </a:lnTo>
                  <a:lnTo>
                    <a:pt x="9707295" y="492760"/>
                  </a:lnTo>
                  <a:lnTo>
                    <a:pt x="9705873" y="497839"/>
                  </a:lnTo>
                  <a:close/>
                </a:path>
                <a:path w="9711055" h="570229">
                  <a:moveTo>
                    <a:pt x="27666" y="83802"/>
                  </a:moveTo>
                  <a:lnTo>
                    <a:pt x="27825" y="82550"/>
                  </a:lnTo>
                  <a:lnTo>
                    <a:pt x="28071" y="82550"/>
                  </a:lnTo>
                  <a:lnTo>
                    <a:pt x="27666" y="83802"/>
                  </a:lnTo>
                  <a:close/>
                </a:path>
                <a:path w="9711055" h="570229">
                  <a:moveTo>
                    <a:pt x="31759" y="497839"/>
                  </a:moveTo>
                  <a:lnTo>
                    <a:pt x="31546" y="497839"/>
                  </a:lnTo>
                  <a:lnTo>
                    <a:pt x="31305" y="496570"/>
                  </a:lnTo>
                  <a:lnTo>
                    <a:pt x="31759" y="497839"/>
                  </a:lnTo>
                  <a:close/>
                </a:path>
                <a:path w="9711055" h="570229">
                  <a:moveTo>
                    <a:pt x="9704806" y="501650"/>
                  </a:moveTo>
                  <a:lnTo>
                    <a:pt x="9677400" y="501650"/>
                  </a:lnTo>
                  <a:lnTo>
                    <a:pt x="9679216" y="496570"/>
                  </a:lnTo>
                  <a:lnTo>
                    <a:pt x="9678974" y="497839"/>
                  </a:lnTo>
                  <a:lnTo>
                    <a:pt x="9705873" y="497839"/>
                  </a:lnTo>
                  <a:lnTo>
                    <a:pt x="9704806" y="501650"/>
                  </a:lnTo>
                  <a:close/>
                </a:path>
                <a:path w="9711055" h="570229">
                  <a:moveTo>
                    <a:pt x="33523" y="501650"/>
                  </a:moveTo>
                  <a:lnTo>
                    <a:pt x="33121" y="501650"/>
                  </a:lnTo>
                  <a:lnTo>
                    <a:pt x="32854" y="500379"/>
                  </a:lnTo>
                  <a:lnTo>
                    <a:pt x="33523" y="501650"/>
                  </a:lnTo>
                  <a:close/>
                </a:path>
                <a:path w="9711055" h="570229">
                  <a:moveTo>
                    <a:pt x="9702368" y="508000"/>
                  </a:moveTo>
                  <a:lnTo>
                    <a:pt x="9673755" y="508000"/>
                  </a:lnTo>
                  <a:lnTo>
                    <a:pt x="9675952" y="504189"/>
                  </a:lnTo>
                  <a:lnTo>
                    <a:pt x="9675660" y="504189"/>
                  </a:lnTo>
                  <a:lnTo>
                    <a:pt x="9677666" y="500379"/>
                  </a:lnTo>
                  <a:lnTo>
                    <a:pt x="9677400" y="501650"/>
                  </a:lnTo>
                  <a:lnTo>
                    <a:pt x="9704806" y="501650"/>
                  </a:lnTo>
                  <a:lnTo>
                    <a:pt x="9704451" y="502920"/>
                  </a:lnTo>
                  <a:lnTo>
                    <a:pt x="9702609" y="506729"/>
                  </a:lnTo>
                  <a:lnTo>
                    <a:pt x="9702368" y="508000"/>
                  </a:lnTo>
                  <a:close/>
                </a:path>
                <a:path w="9711055" h="570229">
                  <a:moveTo>
                    <a:pt x="37236" y="508000"/>
                  </a:moveTo>
                  <a:lnTo>
                    <a:pt x="36766" y="508000"/>
                  </a:lnTo>
                  <a:lnTo>
                    <a:pt x="36448" y="506729"/>
                  </a:lnTo>
                  <a:lnTo>
                    <a:pt x="37236" y="508000"/>
                  </a:lnTo>
                  <a:close/>
                </a:path>
                <a:path w="9711055" h="570229">
                  <a:moveTo>
                    <a:pt x="9698934" y="514350"/>
                  </a:moveTo>
                  <a:lnTo>
                    <a:pt x="9669513" y="514350"/>
                  </a:lnTo>
                  <a:lnTo>
                    <a:pt x="9672053" y="510539"/>
                  </a:lnTo>
                  <a:lnTo>
                    <a:pt x="9671710" y="510539"/>
                  </a:lnTo>
                  <a:lnTo>
                    <a:pt x="9674072" y="506729"/>
                  </a:lnTo>
                  <a:lnTo>
                    <a:pt x="9673755" y="508000"/>
                  </a:lnTo>
                  <a:lnTo>
                    <a:pt x="9702368" y="508000"/>
                  </a:lnTo>
                  <a:lnTo>
                    <a:pt x="9700272" y="511810"/>
                  </a:lnTo>
                  <a:lnTo>
                    <a:pt x="9698934" y="514350"/>
                  </a:lnTo>
                  <a:close/>
                </a:path>
                <a:path w="9711055" h="570229">
                  <a:moveTo>
                    <a:pt x="41541" y="514350"/>
                  </a:moveTo>
                  <a:lnTo>
                    <a:pt x="41008" y="514350"/>
                  </a:lnTo>
                  <a:lnTo>
                    <a:pt x="40639" y="513079"/>
                  </a:lnTo>
                  <a:lnTo>
                    <a:pt x="41541" y="514350"/>
                  </a:lnTo>
                  <a:close/>
                </a:path>
                <a:path w="9711055" h="570229">
                  <a:moveTo>
                    <a:pt x="9692754" y="525779"/>
                  </a:moveTo>
                  <a:lnTo>
                    <a:pt x="9659366" y="525779"/>
                  </a:lnTo>
                  <a:lnTo>
                    <a:pt x="9662528" y="521970"/>
                  </a:lnTo>
                  <a:lnTo>
                    <a:pt x="9662096" y="521970"/>
                  </a:lnTo>
                  <a:lnTo>
                    <a:pt x="9665119" y="519429"/>
                  </a:lnTo>
                  <a:lnTo>
                    <a:pt x="9664700" y="519429"/>
                  </a:lnTo>
                  <a:lnTo>
                    <a:pt x="9667570" y="516889"/>
                  </a:lnTo>
                  <a:lnTo>
                    <a:pt x="9667176" y="516889"/>
                  </a:lnTo>
                  <a:lnTo>
                    <a:pt x="9669881" y="513079"/>
                  </a:lnTo>
                  <a:lnTo>
                    <a:pt x="9669513" y="514350"/>
                  </a:lnTo>
                  <a:lnTo>
                    <a:pt x="9698934" y="514350"/>
                  </a:lnTo>
                  <a:lnTo>
                    <a:pt x="9698266" y="515620"/>
                  </a:lnTo>
                  <a:lnTo>
                    <a:pt x="9695459" y="520700"/>
                  </a:lnTo>
                  <a:lnTo>
                    <a:pt x="9692754" y="525779"/>
                  </a:lnTo>
                  <a:close/>
                </a:path>
                <a:path w="9711055" h="570229">
                  <a:moveTo>
                    <a:pt x="52362" y="525779"/>
                  </a:moveTo>
                  <a:lnTo>
                    <a:pt x="51155" y="525779"/>
                  </a:lnTo>
                  <a:lnTo>
                    <a:pt x="50711" y="524510"/>
                  </a:lnTo>
                  <a:lnTo>
                    <a:pt x="52362" y="525779"/>
                  </a:lnTo>
                  <a:close/>
                </a:path>
                <a:path w="9711055" h="570229">
                  <a:moveTo>
                    <a:pt x="9684986" y="534670"/>
                  </a:moveTo>
                  <a:lnTo>
                    <a:pt x="9647275" y="534670"/>
                  </a:lnTo>
                  <a:lnTo>
                    <a:pt x="9650971" y="532129"/>
                  </a:lnTo>
                  <a:lnTo>
                    <a:pt x="9650463" y="532129"/>
                  </a:lnTo>
                  <a:lnTo>
                    <a:pt x="9654032" y="529589"/>
                  </a:lnTo>
                  <a:lnTo>
                    <a:pt x="9653549" y="529589"/>
                  </a:lnTo>
                  <a:lnTo>
                    <a:pt x="9656978" y="527050"/>
                  </a:lnTo>
                  <a:lnTo>
                    <a:pt x="9656521" y="527050"/>
                  </a:lnTo>
                  <a:lnTo>
                    <a:pt x="9659810" y="524510"/>
                  </a:lnTo>
                  <a:lnTo>
                    <a:pt x="9659366" y="525779"/>
                  </a:lnTo>
                  <a:lnTo>
                    <a:pt x="9692754" y="525779"/>
                  </a:lnTo>
                  <a:lnTo>
                    <a:pt x="9690214" y="528320"/>
                  </a:lnTo>
                  <a:lnTo>
                    <a:pt x="9687153" y="532129"/>
                  </a:lnTo>
                  <a:lnTo>
                    <a:pt x="9684986" y="534670"/>
                  </a:lnTo>
                  <a:close/>
                </a:path>
                <a:path w="9711055" h="570229">
                  <a:moveTo>
                    <a:pt x="64623" y="534670"/>
                  </a:moveTo>
                  <a:lnTo>
                    <a:pt x="63245" y="534670"/>
                  </a:lnTo>
                  <a:lnTo>
                    <a:pt x="62712" y="533400"/>
                  </a:lnTo>
                  <a:lnTo>
                    <a:pt x="64623" y="534670"/>
                  </a:lnTo>
                  <a:close/>
                </a:path>
                <a:path w="9711055" h="570229">
                  <a:moveTo>
                    <a:pt x="9680486" y="539750"/>
                  </a:moveTo>
                  <a:lnTo>
                    <a:pt x="9637141" y="539750"/>
                  </a:lnTo>
                  <a:lnTo>
                    <a:pt x="9641166" y="537210"/>
                  </a:lnTo>
                  <a:lnTo>
                    <a:pt x="9640608" y="537210"/>
                  </a:lnTo>
                  <a:lnTo>
                    <a:pt x="9644532" y="535939"/>
                  </a:lnTo>
                  <a:lnTo>
                    <a:pt x="9643999" y="535939"/>
                  </a:lnTo>
                  <a:lnTo>
                    <a:pt x="9647809" y="533400"/>
                  </a:lnTo>
                  <a:lnTo>
                    <a:pt x="9647275" y="534670"/>
                  </a:lnTo>
                  <a:lnTo>
                    <a:pt x="9684986" y="534670"/>
                  </a:lnTo>
                  <a:lnTo>
                    <a:pt x="9683902" y="535939"/>
                  </a:lnTo>
                  <a:lnTo>
                    <a:pt x="9680486" y="539750"/>
                  </a:lnTo>
                  <a:close/>
                </a:path>
                <a:path w="9711055" h="570229">
                  <a:moveTo>
                    <a:pt x="74872" y="539750"/>
                  </a:moveTo>
                  <a:lnTo>
                    <a:pt x="73380" y="539750"/>
                  </a:lnTo>
                  <a:lnTo>
                    <a:pt x="72809" y="538479"/>
                  </a:lnTo>
                  <a:lnTo>
                    <a:pt x="74872" y="539750"/>
                  </a:lnTo>
                  <a:close/>
                </a:path>
                <a:path w="9711055" h="570229">
                  <a:moveTo>
                    <a:pt x="9675346" y="544829"/>
                  </a:moveTo>
                  <a:lnTo>
                    <a:pt x="9618573" y="544829"/>
                  </a:lnTo>
                  <a:lnTo>
                    <a:pt x="9623056" y="543560"/>
                  </a:lnTo>
                  <a:lnTo>
                    <a:pt x="9622434" y="543560"/>
                  </a:lnTo>
                  <a:lnTo>
                    <a:pt x="9626841" y="542289"/>
                  </a:lnTo>
                  <a:lnTo>
                    <a:pt x="9629940" y="542289"/>
                  </a:lnTo>
                  <a:lnTo>
                    <a:pt x="9634169" y="541020"/>
                  </a:lnTo>
                  <a:lnTo>
                    <a:pt x="9633585" y="541020"/>
                  </a:lnTo>
                  <a:lnTo>
                    <a:pt x="9637712" y="538479"/>
                  </a:lnTo>
                  <a:lnTo>
                    <a:pt x="9637141" y="539750"/>
                  </a:lnTo>
                  <a:lnTo>
                    <a:pt x="9680486" y="539750"/>
                  </a:lnTo>
                  <a:lnTo>
                    <a:pt x="9680054" y="541020"/>
                  </a:lnTo>
                  <a:lnTo>
                    <a:pt x="9676447" y="543560"/>
                  </a:lnTo>
                  <a:lnTo>
                    <a:pt x="9675346" y="544829"/>
                  </a:lnTo>
                  <a:close/>
                </a:path>
                <a:path w="9711055" h="570229">
                  <a:moveTo>
                    <a:pt x="9628149" y="568960"/>
                  </a:moveTo>
                  <a:lnTo>
                    <a:pt x="82372" y="568960"/>
                  </a:lnTo>
                  <a:lnTo>
                    <a:pt x="77355" y="567689"/>
                  </a:lnTo>
                  <a:lnTo>
                    <a:pt x="73037" y="566420"/>
                  </a:lnTo>
                  <a:lnTo>
                    <a:pt x="68211" y="563879"/>
                  </a:lnTo>
                  <a:lnTo>
                    <a:pt x="9642309" y="563879"/>
                  </a:lnTo>
                  <a:lnTo>
                    <a:pt x="9637483" y="566420"/>
                  </a:lnTo>
                  <a:lnTo>
                    <a:pt x="9633165" y="567689"/>
                  </a:lnTo>
                  <a:lnTo>
                    <a:pt x="9628149" y="568960"/>
                  </a:lnTo>
                  <a:close/>
                </a:path>
                <a:path w="9711055" h="570229">
                  <a:moveTo>
                    <a:pt x="9617862" y="570229"/>
                  </a:moveTo>
                  <a:lnTo>
                    <a:pt x="92659" y="570229"/>
                  </a:lnTo>
                  <a:lnTo>
                    <a:pt x="88112" y="568960"/>
                  </a:lnTo>
                  <a:lnTo>
                    <a:pt x="9622409" y="568960"/>
                  </a:lnTo>
                  <a:lnTo>
                    <a:pt x="9617862" y="57022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774810" y="6087313"/>
              <a:ext cx="123825" cy="55244"/>
            </a:xfrm>
            <a:custGeom>
              <a:avLst/>
              <a:gdLst/>
              <a:ahLst/>
              <a:cxnLst/>
              <a:rect l="l" t="t" r="r" b="b"/>
              <a:pathLst>
                <a:path w="123825" h="55245">
                  <a:moveTo>
                    <a:pt x="115633" y="55245"/>
                  </a:moveTo>
                  <a:lnTo>
                    <a:pt x="63106" y="19050"/>
                  </a:lnTo>
                  <a:lnTo>
                    <a:pt x="61468" y="19050"/>
                  </a:lnTo>
                  <a:lnTo>
                    <a:pt x="8039" y="55245"/>
                  </a:lnTo>
                  <a:lnTo>
                    <a:pt x="0" y="46761"/>
                  </a:lnTo>
                  <a:lnTo>
                    <a:pt x="53136" y="0"/>
                  </a:lnTo>
                  <a:lnTo>
                    <a:pt x="73075" y="0"/>
                  </a:lnTo>
                  <a:lnTo>
                    <a:pt x="123672" y="46761"/>
                  </a:lnTo>
                  <a:lnTo>
                    <a:pt x="115633" y="552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47077" y="257492"/>
            <a:ext cx="32258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回归的评价指标</a:t>
            </a:r>
            <a:endParaRPr spc="-10" dirty="0"/>
          </a:p>
        </p:txBody>
      </p:sp>
      <p:sp>
        <p:nvSpPr>
          <p:cNvPr id="8" name="object 8"/>
          <p:cNvSpPr txBox="1"/>
          <p:nvPr/>
        </p:nvSpPr>
        <p:spPr>
          <a:xfrm>
            <a:off x="1625485" y="1444358"/>
            <a:ext cx="34994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R</a:t>
            </a:r>
            <a:r>
              <a:rPr sz="2400" b="1" spc="-5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方 [</a:t>
            </a:r>
            <a:r>
              <a:rPr sz="2400" spc="-1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𝑅𝑆𝑞𝑢𝑎𝑟𝑒𝑑</a:t>
            </a:r>
            <a:r>
              <a:rPr sz="2400" b="1" spc="-1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(</a:t>
            </a:r>
            <a:r>
              <a:rPr sz="2400" spc="-1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𝑟2𝑠𝑐𝑜𝑟𝑒</a:t>
            </a:r>
            <a:r>
              <a:rPr sz="2400" b="1" spc="-1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)]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403424" y="2330792"/>
            <a:ext cx="123825" cy="55244"/>
          </a:xfrm>
          <a:custGeom>
            <a:avLst/>
            <a:gdLst/>
            <a:ahLst/>
            <a:cxnLst/>
            <a:rect l="l" t="t" r="r" b="b"/>
            <a:pathLst>
              <a:path w="123825" h="55244">
                <a:moveTo>
                  <a:pt x="115646" y="55245"/>
                </a:moveTo>
                <a:lnTo>
                  <a:pt x="63106" y="19050"/>
                </a:lnTo>
                <a:lnTo>
                  <a:pt x="61468" y="19050"/>
                </a:lnTo>
                <a:lnTo>
                  <a:pt x="8039" y="55245"/>
                </a:lnTo>
                <a:lnTo>
                  <a:pt x="0" y="46761"/>
                </a:lnTo>
                <a:lnTo>
                  <a:pt x="53136" y="0"/>
                </a:lnTo>
                <a:lnTo>
                  <a:pt x="73075" y="0"/>
                </a:lnTo>
                <a:lnTo>
                  <a:pt x="123685" y="46761"/>
                </a:lnTo>
                <a:lnTo>
                  <a:pt x="115646" y="552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3571125" y="1841233"/>
            <a:ext cx="4787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600" spc="-37" baseline="-27000" dirty="0">
                <a:latin typeface="Cambria Math" panose="02040503050406030204"/>
                <a:cs typeface="Cambria Math" panose="02040503050406030204"/>
              </a:rPr>
              <a:t>∑</a:t>
            </a:r>
            <a:r>
              <a:rPr sz="1750" spc="-25" dirty="0">
                <a:latin typeface="Cambria Math" panose="02040503050406030204"/>
                <a:cs typeface="Cambria Math" panose="02040503050406030204"/>
              </a:rPr>
              <a:t>𝑚</a:t>
            </a:r>
            <a:endParaRPr sz="17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238699" y="2081872"/>
            <a:ext cx="123825" cy="55244"/>
          </a:xfrm>
          <a:custGeom>
            <a:avLst/>
            <a:gdLst/>
            <a:ahLst/>
            <a:cxnLst/>
            <a:rect l="l" t="t" r="r" b="b"/>
            <a:pathLst>
              <a:path w="123825" h="55244">
                <a:moveTo>
                  <a:pt x="115646" y="55244"/>
                </a:moveTo>
                <a:lnTo>
                  <a:pt x="63106" y="19049"/>
                </a:lnTo>
                <a:lnTo>
                  <a:pt x="61468" y="19049"/>
                </a:lnTo>
                <a:lnTo>
                  <a:pt x="8039" y="55244"/>
                </a:lnTo>
                <a:lnTo>
                  <a:pt x="0" y="46761"/>
                </a:lnTo>
                <a:lnTo>
                  <a:pt x="53136" y="0"/>
                </a:lnTo>
                <a:lnTo>
                  <a:pt x="73075" y="0"/>
                </a:lnTo>
                <a:lnTo>
                  <a:pt x="123685" y="46761"/>
                </a:lnTo>
                <a:lnTo>
                  <a:pt x="115646" y="5524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197235" y="1984743"/>
            <a:ext cx="174878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2400" spc="-13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𝑦</a:t>
            </a:r>
            <a:r>
              <a:rPr sz="2625" baseline="3000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2625" baseline="29000" dirty="0">
                <a:latin typeface="Cambria Math" panose="02040503050406030204"/>
                <a:cs typeface="Cambria Math" panose="02040503050406030204"/>
              </a:rPr>
              <a:t>𝑖</a:t>
            </a:r>
            <a:r>
              <a:rPr sz="2625" baseline="30000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2625" spc="359" baseline="30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400" spc="1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10" dirty="0">
                <a:latin typeface="Cambria Math" panose="02040503050406030204"/>
                <a:cs typeface="Cambria Math" panose="02040503050406030204"/>
              </a:rPr>
              <a:t>𝑦</a:t>
            </a:r>
            <a:r>
              <a:rPr sz="2625" spc="-15" baseline="4000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2625" spc="-15" baseline="38000" dirty="0">
                <a:latin typeface="Cambria Math" panose="02040503050406030204"/>
                <a:cs typeface="Cambria Math" panose="02040503050406030204"/>
              </a:rPr>
              <a:t>𝑖</a:t>
            </a:r>
            <a:r>
              <a:rPr sz="2625" spc="-15" baseline="40000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2400" spc="-10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2625" spc="-15" baseline="27000" dirty="0">
                <a:latin typeface="Cambria Math" panose="02040503050406030204"/>
                <a:cs typeface="Cambria Math" panose="02040503050406030204"/>
              </a:rPr>
              <a:t>2</a:t>
            </a:r>
            <a:endParaRPr sz="2625" baseline="2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945775" y="2668638"/>
            <a:ext cx="384810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25" dirty="0">
                <a:latin typeface="Cambria Math" panose="02040503050406030204"/>
                <a:cs typeface="Cambria Math" panose="02040503050406030204"/>
              </a:rPr>
              <a:t>𝑖=1</a:t>
            </a:r>
            <a:endParaRPr sz="17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704475" y="2329548"/>
            <a:ext cx="4787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600" spc="-37" baseline="-27000" dirty="0">
                <a:latin typeface="Cambria Math" panose="02040503050406030204"/>
                <a:cs typeface="Cambria Math" panose="02040503050406030204"/>
              </a:rPr>
              <a:t>∑</a:t>
            </a:r>
            <a:r>
              <a:rPr sz="1750" spc="-25" dirty="0">
                <a:latin typeface="Cambria Math" panose="02040503050406030204"/>
                <a:cs typeface="Cambria Math" panose="02040503050406030204"/>
              </a:rPr>
              <a:t>𝑚</a:t>
            </a:r>
            <a:endParaRPr sz="17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348490" y="2573540"/>
            <a:ext cx="170815" cy="20320"/>
          </a:xfrm>
          <a:custGeom>
            <a:avLst/>
            <a:gdLst/>
            <a:ahLst/>
            <a:cxnLst/>
            <a:rect l="l" t="t" r="r" b="b"/>
            <a:pathLst>
              <a:path w="170814" h="20319">
                <a:moveTo>
                  <a:pt x="170814" y="20116"/>
                </a:moveTo>
                <a:lnTo>
                  <a:pt x="0" y="20116"/>
                </a:lnTo>
                <a:lnTo>
                  <a:pt x="0" y="0"/>
                </a:lnTo>
                <a:lnTo>
                  <a:pt x="170814" y="0"/>
                </a:lnTo>
                <a:lnTo>
                  <a:pt x="170814" y="201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330585" y="2473058"/>
            <a:ext cx="14820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2400" spc="-13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𝑦</a:t>
            </a:r>
            <a:r>
              <a:rPr sz="2625" baseline="3000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2625" baseline="29000" dirty="0">
                <a:latin typeface="Cambria Math" panose="02040503050406030204"/>
                <a:cs typeface="Cambria Math" panose="02040503050406030204"/>
              </a:rPr>
              <a:t>𝑖</a:t>
            </a:r>
            <a:r>
              <a:rPr sz="2625" baseline="30000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2625" spc="359" baseline="30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400" spc="1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25" dirty="0">
                <a:latin typeface="Cambria Math" panose="02040503050406030204"/>
                <a:cs typeface="Cambria Math" panose="02040503050406030204"/>
              </a:rPr>
              <a:t>𝑦)</a:t>
            </a:r>
            <a:r>
              <a:rPr sz="2625" spc="-37" baseline="27000" dirty="0">
                <a:latin typeface="Cambria Math" panose="02040503050406030204"/>
                <a:cs typeface="Cambria Math" panose="02040503050406030204"/>
              </a:rPr>
              <a:t>2</a:t>
            </a:r>
            <a:endParaRPr sz="2625" baseline="2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600085" y="2233663"/>
            <a:ext cx="46710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2224405" algn="l"/>
                <a:tab pos="4319270" algn="l"/>
              </a:tabLst>
            </a:pPr>
            <a:r>
              <a:rPr sz="2400" dirty="0">
                <a:latin typeface="Cambria Math" panose="02040503050406030204"/>
                <a:cs typeface="Cambria Math" panose="02040503050406030204"/>
              </a:rPr>
              <a:t>R</a:t>
            </a:r>
            <a:r>
              <a:rPr sz="2625" baseline="2700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3600" baseline="200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𝑦,</a:t>
            </a:r>
            <a:r>
              <a:rPr sz="2400" spc="-6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𝑦</a:t>
            </a:r>
            <a:r>
              <a:rPr sz="3600" baseline="2000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3600" spc="367" baseline="2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2400" spc="24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2400" spc="9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400" spc="1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625" u="heavy" baseline="33000" dirty="0"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625" u="heavy" spc="-37" baseline="33000" dirty="0">
                <a:uFill>
                  <a:solidFill>
                    <a:srgbClr val="000000"/>
                  </a:solidFill>
                </a:uFill>
                <a:latin typeface="Cambria Math" panose="02040503050406030204"/>
                <a:cs typeface="Cambria Math" panose="02040503050406030204"/>
              </a:rPr>
              <a:t>𝑖=1</a:t>
            </a:r>
            <a:r>
              <a:rPr sz="2625" u="heavy" baseline="33000" dirty="0">
                <a:uFill>
                  <a:solidFill>
                    <a:srgbClr val="000000"/>
                  </a:solidFill>
                </a:uFill>
                <a:latin typeface="Cambria Math" panose="02040503050406030204"/>
                <a:cs typeface="Cambria Math" panose="02040503050406030204"/>
              </a:rPr>
              <a:t>	</a:t>
            </a:r>
            <a:r>
              <a:rPr sz="2625" spc="585" baseline="33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=</a:t>
            </a:r>
            <a:endParaRPr sz="24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305435" y="2003793"/>
            <a:ext cx="5175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 panose="02040503050406030204"/>
                <a:cs typeface="Cambria Math" panose="02040503050406030204"/>
              </a:rPr>
              <a:t>SSR</a:t>
            </a:r>
            <a:endParaRPr sz="24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318135" y="2454160"/>
            <a:ext cx="491490" cy="20320"/>
          </a:xfrm>
          <a:custGeom>
            <a:avLst/>
            <a:gdLst/>
            <a:ahLst/>
            <a:cxnLst/>
            <a:rect l="l" t="t" r="r" b="b"/>
            <a:pathLst>
              <a:path w="491490" h="20319">
                <a:moveTo>
                  <a:pt x="491490" y="20002"/>
                </a:moveTo>
                <a:lnTo>
                  <a:pt x="0" y="20002"/>
                </a:lnTo>
                <a:lnTo>
                  <a:pt x="0" y="0"/>
                </a:lnTo>
                <a:lnTo>
                  <a:pt x="491490" y="0"/>
                </a:lnTo>
                <a:lnTo>
                  <a:pt x="491490" y="200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6311785" y="2437498"/>
            <a:ext cx="5048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 panose="02040503050406030204"/>
                <a:cs typeface="Cambria Math" panose="02040503050406030204"/>
              </a:rPr>
              <a:t>SST</a:t>
            </a:r>
            <a:endParaRPr sz="24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600085" y="2832468"/>
            <a:ext cx="14027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600" baseline="-42000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3600" spc="209" baseline="-42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3600" baseline="-42000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3600" spc="15" baseline="-42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3600" baseline="-4200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3600" spc="30" baseline="-42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25" dirty="0">
                <a:latin typeface="Cambria Math" panose="02040503050406030204"/>
                <a:cs typeface="Cambria Math" panose="02040503050406030204"/>
              </a:rPr>
              <a:t>SSE</a:t>
            </a:r>
            <a:endParaRPr sz="24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485275" y="3282835"/>
            <a:ext cx="479425" cy="20320"/>
          </a:xfrm>
          <a:custGeom>
            <a:avLst/>
            <a:gdLst/>
            <a:ahLst/>
            <a:cxnLst/>
            <a:rect l="l" t="t" r="r" b="b"/>
            <a:pathLst>
              <a:path w="479425" h="20320">
                <a:moveTo>
                  <a:pt x="479425" y="20002"/>
                </a:moveTo>
                <a:lnTo>
                  <a:pt x="0" y="20002"/>
                </a:lnTo>
                <a:lnTo>
                  <a:pt x="0" y="0"/>
                </a:lnTo>
                <a:lnTo>
                  <a:pt x="479425" y="0"/>
                </a:lnTo>
                <a:lnTo>
                  <a:pt x="479425" y="200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2472575" y="3266173"/>
            <a:ext cx="5048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 panose="02040503050406030204"/>
                <a:cs typeface="Cambria Math" panose="02040503050406030204"/>
              </a:rPr>
              <a:t>SST</a:t>
            </a:r>
            <a:endParaRPr sz="24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814715" y="3859263"/>
            <a:ext cx="154305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50" dirty="0">
                <a:latin typeface="Cambria Math" panose="02040503050406030204"/>
                <a:cs typeface="Cambria Math" panose="02040503050406030204"/>
              </a:rPr>
              <a:t>2</a:t>
            </a:r>
            <a:endParaRPr sz="17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403424" y="3984968"/>
            <a:ext cx="123825" cy="55244"/>
          </a:xfrm>
          <a:custGeom>
            <a:avLst/>
            <a:gdLst/>
            <a:ahLst/>
            <a:cxnLst/>
            <a:rect l="l" t="t" r="r" b="b"/>
            <a:pathLst>
              <a:path w="123825" h="55245">
                <a:moveTo>
                  <a:pt x="115646" y="55245"/>
                </a:moveTo>
                <a:lnTo>
                  <a:pt x="63106" y="19050"/>
                </a:lnTo>
                <a:lnTo>
                  <a:pt x="61468" y="19050"/>
                </a:lnTo>
                <a:lnTo>
                  <a:pt x="8039" y="55245"/>
                </a:lnTo>
                <a:lnTo>
                  <a:pt x="0" y="46761"/>
                </a:lnTo>
                <a:lnTo>
                  <a:pt x="53136" y="0"/>
                </a:lnTo>
                <a:lnTo>
                  <a:pt x="73075" y="0"/>
                </a:lnTo>
                <a:lnTo>
                  <a:pt x="123685" y="46761"/>
                </a:lnTo>
                <a:lnTo>
                  <a:pt x="115646" y="552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1625485" y="3887838"/>
            <a:ext cx="19278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42265" algn="l"/>
              </a:tabLst>
            </a:pPr>
            <a:r>
              <a:rPr sz="2400" spc="-50" dirty="0">
                <a:latin typeface="Cambria Math" panose="02040503050406030204"/>
                <a:cs typeface="Cambria Math" panose="02040503050406030204"/>
              </a:rPr>
              <a:t>R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2400" spc="-10" dirty="0">
                <a:latin typeface="Cambria Math" panose="02040503050406030204"/>
                <a:cs typeface="Cambria Math" panose="02040503050406030204"/>
              </a:rPr>
              <a:t>(𝑦,</a:t>
            </a:r>
            <a:r>
              <a:rPr sz="2400" spc="-12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𝑦)</a:t>
            </a:r>
            <a:r>
              <a:rPr sz="2400" spc="14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2400" spc="14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2400" spc="1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50" dirty="0">
                <a:latin typeface="Cambria Math" panose="02040503050406030204"/>
                <a:cs typeface="Cambria Math" panose="02040503050406030204"/>
              </a:rPr>
              <a:t>−</a:t>
            </a:r>
            <a:endParaRPr sz="24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812425" y="3577958"/>
            <a:ext cx="212090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50" dirty="0">
                <a:latin typeface="Cambria Math" panose="02040503050406030204"/>
                <a:cs typeface="Cambria Math" panose="02040503050406030204"/>
              </a:rPr>
              <a:t>𝑚</a:t>
            </a:r>
            <a:endParaRPr sz="17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571125" y="3751948"/>
            <a:ext cx="10502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600" baseline="21000" dirty="0">
                <a:latin typeface="Cambria Math" panose="02040503050406030204"/>
                <a:cs typeface="Cambria Math" panose="02040503050406030204"/>
              </a:rPr>
              <a:t>∑</a:t>
            </a:r>
            <a:r>
              <a:rPr sz="1750" dirty="0">
                <a:latin typeface="Cambria Math" panose="02040503050406030204"/>
                <a:cs typeface="Cambria Math" panose="02040503050406030204"/>
              </a:rPr>
              <a:t>𝑖=1</a:t>
            </a:r>
            <a:r>
              <a:rPr sz="1750" spc="-2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3600" spc="-15" baseline="2100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3600" spc="-195" baseline="21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3600" spc="-75" baseline="21000" dirty="0">
                <a:latin typeface="Cambria Math" panose="02040503050406030204"/>
                <a:cs typeface="Cambria Math" panose="02040503050406030204"/>
              </a:rPr>
              <a:t>𝑦</a:t>
            </a:r>
            <a:endParaRPr sz="3600" baseline="21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570615" y="3610343"/>
            <a:ext cx="288290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25" dirty="0">
                <a:latin typeface="Cambria Math" panose="02040503050406030204"/>
                <a:cs typeface="Cambria Math" panose="02040503050406030204"/>
              </a:rPr>
              <a:t>(𝑖)</a:t>
            </a:r>
            <a:endParaRPr sz="17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5246319" y="3736047"/>
            <a:ext cx="123825" cy="55244"/>
          </a:xfrm>
          <a:custGeom>
            <a:avLst/>
            <a:gdLst/>
            <a:ahLst/>
            <a:cxnLst/>
            <a:rect l="l" t="t" r="r" b="b"/>
            <a:pathLst>
              <a:path w="123825" h="55245">
                <a:moveTo>
                  <a:pt x="115646" y="55244"/>
                </a:moveTo>
                <a:lnTo>
                  <a:pt x="63106" y="19050"/>
                </a:lnTo>
                <a:lnTo>
                  <a:pt x="61467" y="19050"/>
                </a:lnTo>
                <a:lnTo>
                  <a:pt x="8039" y="55244"/>
                </a:lnTo>
                <a:lnTo>
                  <a:pt x="0" y="46761"/>
                </a:lnTo>
                <a:lnTo>
                  <a:pt x="53136" y="0"/>
                </a:lnTo>
                <a:lnTo>
                  <a:pt x="73075" y="0"/>
                </a:lnTo>
                <a:lnTo>
                  <a:pt x="123685" y="46761"/>
                </a:lnTo>
                <a:lnTo>
                  <a:pt x="115646" y="5524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5355475" y="3570338"/>
            <a:ext cx="605790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438150" algn="l"/>
              </a:tabLst>
            </a:pPr>
            <a:r>
              <a:rPr sz="1750" spc="-25" dirty="0">
                <a:latin typeface="Cambria Math" panose="02040503050406030204"/>
                <a:cs typeface="Cambria Math" panose="02040503050406030204"/>
              </a:rPr>
              <a:t>(𝑖)</a:t>
            </a:r>
            <a:r>
              <a:rPr sz="175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2625" spc="-75" baseline="-10000" dirty="0">
                <a:latin typeface="Cambria Math" panose="02040503050406030204"/>
                <a:cs typeface="Cambria Math" panose="02040503050406030204"/>
              </a:rPr>
              <a:t>2</a:t>
            </a:r>
            <a:endParaRPr sz="2625" baseline="-10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913515" y="3638918"/>
            <a:ext cx="14395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53745" algn="l"/>
                <a:tab pos="1021080" algn="l"/>
              </a:tabLst>
            </a:pPr>
            <a:r>
              <a:rPr sz="240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400" spc="1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50" dirty="0">
                <a:latin typeface="Cambria Math" panose="02040503050406030204"/>
                <a:cs typeface="Cambria Math" panose="02040503050406030204"/>
              </a:rPr>
              <a:t>𝑦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2400" spc="-50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2400" spc="-25" dirty="0">
                <a:latin typeface="Cambria Math" panose="02040503050406030204"/>
                <a:cs typeface="Cambria Math" panose="02040503050406030204"/>
              </a:rPr>
              <a:t>/𝑚</a:t>
            </a:r>
            <a:endParaRPr sz="24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3609225" y="4108487"/>
            <a:ext cx="2730500" cy="20320"/>
          </a:xfrm>
          <a:custGeom>
            <a:avLst/>
            <a:gdLst/>
            <a:ahLst/>
            <a:cxnLst/>
            <a:rect l="l" t="t" r="r" b="b"/>
            <a:pathLst>
              <a:path w="2730500" h="20320">
                <a:moveTo>
                  <a:pt x="2730500" y="20002"/>
                </a:moveTo>
                <a:lnTo>
                  <a:pt x="0" y="20002"/>
                </a:lnTo>
                <a:lnTo>
                  <a:pt x="0" y="0"/>
                </a:lnTo>
                <a:lnTo>
                  <a:pt x="2730500" y="0"/>
                </a:lnTo>
                <a:lnTo>
                  <a:pt x="2730500" y="200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3733685" y="4117708"/>
            <a:ext cx="2419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 panose="02040503050406030204"/>
                <a:cs typeface="Cambria Math" panose="02040503050406030204"/>
              </a:rPr>
              <a:t>∑</a:t>
            </a:r>
            <a:endParaRPr sz="24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949585" y="4313288"/>
            <a:ext cx="384810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25" dirty="0">
                <a:latin typeface="Cambria Math" panose="02040503050406030204"/>
                <a:cs typeface="Cambria Math" panose="02040503050406030204"/>
              </a:rPr>
              <a:t>𝑖=1</a:t>
            </a:r>
            <a:endParaRPr sz="17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949585" y="4056748"/>
            <a:ext cx="212090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50" dirty="0">
                <a:latin typeface="Cambria Math" panose="02040503050406030204"/>
                <a:cs typeface="Cambria Math" panose="02040503050406030204"/>
              </a:rPr>
              <a:t>𝑚</a:t>
            </a:r>
            <a:endParaRPr sz="17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5359920" y="4218190"/>
            <a:ext cx="170815" cy="20320"/>
          </a:xfrm>
          <a:custGeom>
            <a:avLst/>
            <a:gdLst/>
            <a:ahLst/>
            <a:cxnLst/>
            <a:rect l="l" t="t" r="r" b="b"/>
            <a:pathLst>
              <a:path w="170814" h="20320">
                <a:moveTo>
                  <a:pt x="170814" y="20116"/>
                </a:moveTo>
                <a:lnTo>
                  <a:pt x="0" y="20116"/>
                </a:lnTo>
                <a:lnTo>
                  <a:pt x="0" y="0"/>
                </a:lnTo>
                <a:lnTo>
                  <a:pt x="170814" y="0"/>
                </a:lnTo>
                <a:lnTo>
                  <a:pt x="170814" y="201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4334395" y="4117708"/>
            <a:ext cx="19069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2400" spc="-12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𝑦</a:t>
            </a:r>
            <a:r>
              <a:rPr sz="2625" baseline="27000" dirty="0">
                <a:latin typeface="Cambria Math" panose="02040503050406030204"/>
                <a:cs typeface="Cambria Math" panose="02040503050406030204"/>
              </a:rPr>
              <a:t>(𝑖)</a:t>
            </a:r>
            <a:r>
              <a:rPr sz="2625" spc="405" baseline="27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400" spc="3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20" dirty="0">
                <a:latin typeface="Cambria Math" panose="02040503050406030204"/>
                <a:cs typeface="Cambria Math" panose="02040503050406030204"/>
              </a:rPr>
              <a:t>𝑦)</a:t>
            </a:r>
            <a:r>
              <a:rPr sz="2625" spc="-30" baseline="2700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2400" spc="-20" dirty="0">
                <a:latin typeface="Cambria Math" panose="02040503050406030204"/>
                <a:cs typeface="Cambria Math" panose="02040503050406030204"/>
              </a:rPr>
              <a:t>/𝑚</a:t>
            </a:r>
            <a:endParaRPr sz="24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472575" y="4477118"/>
            <a:ext cx="6007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 panose="02040503050406030204"/>
                <a:cs typeface="Cambria Math" panose="02040503050406030204"/>
              </a:rPr>
              <a:t>MSE</a:t>
            </a:r>
            <a:endParaRPr sz="24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2485275" y="4927485"/>
            <a:ext cx="574675" cy="20320"/>
          </a:xfrm>
          <a:custGeom>
            <a:avLst/>
            <a:gdLst/>
            <a:ahLst/>
            <a:cxnLst/>
            <a:rect l="l" t="t" r="r" b="b"/>
            <a:pathLst>
              <a:path w="574675" h="20320">
                <a:moveTo>
                  <a:pt x="574675" y="20002"/>
                </a:moveTo>
                <a:lnTo>
                  <a:pt x="0" y="20002"/>
                </a:lnTo>
                <a:lnTo>
                  <a:pt x="0" y="0"/>
                </a:lnTo>
                <a:lnTo>
                  <a:pt x="574675" y="0"/>
                </a:lnTo>
                <a:lnTo>
                  <a:pt x="574675" y="200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1600085" y="4706988"/>
            <a:ext cx="14312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951865" algn="l"/>
              </a:tabLst>
            </a:pPr>
            <a:r>
              <a:rPr sz="2400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2400" spc="14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2400" spc="1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5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3600" spc="-37" baseline="-37000" dirty="0">
                <a:latin typeface="Cambria Math" panose="02040503050406030204"/>
                <a:cs typeface="Cambria Math" panose="02040503050406030204"/>
              </a:rPr>
              <a:t>Var</a:t>
            </a:r>
            <a:endParaRPr sz="3600" baseline="-3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9847491" y="3646589"/>
            <a:ext cx="292100" cy="222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-25" dirty="0">
                <a:latin typeface="Cambria Math" panose="02040503050406030204"/>
                <a:cs typeface="Cambria Math" panose="02040503050406030204"/>
              </a:rPr>
              <a:t>𝑖=1</a:t>
            </a:r>
            <a:endParaRPr sz="13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10333558" y="3361143"/>
            <a:ext cx="714375" cy="41910"/>
          </a:xfrm>
          <a:custGeom>
            <a:avLst/>
            <a:gdLst/>
            <a:ahLst/>
            <a:cxnLst/>
            <a:rect l="l" t="t" r="r" b="b"/>
            <a:pathLst>
              <a:path w="714375" h="41910">
                <a:moveTo>
                  <a:pt x="92760" y="35547"/>
                </a:moveTo>
                <a:lnTo>
                  <a:pt x="54813" y="0"/>
                </a:lnTo>
                <a:lnTo>
                  <a:pt x="39839" y="0"/>
                </a:lnTo>
                <a:lnTo>
                  <a:pt x="0" y="35547"/>
                </a:lnTo>
                <a:lnTo>
                  <a:pt x="6032" y="41910"/>
                </a:lnTo>
                <a:lnTo>
                  <a:pt x="46101" y="14605"/>
                </a:lnTo>
                <a:lnTo>
                  <a:pt x="47332" y="14605"/>
                </a:lnTo>
                <a:lnTo>
                  <a:pt x="86728" y="41910"/>
                </a:lnTo>
                <a:lnTo>
                  <a:pt x="92760" y="35547"/>
                </a:lnTo>
                <a:close/>
              </a:path>
              <a:path w="714375" h="41910">
                <a:moveTo>
                  <a:pt x="714070" y="3302"/>
                </a:moveTo>
                <a:lnTo>
                  <a:pt x="586447" y="3302"/>
                </a:lnTo>
                <a:lnTo>
                  <a:pt x="586447" y="18389"/>
                </a:lnTo>
                <a:lnTo>
                  <a:pt x="714070" y="18389"/>
                </a:lnTo>
                <a:lnTo>
                  <a:pt x="714070" y="33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9136926" y="2951851"/>
            <a:ext cx="2138680" cy="634365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R="417830" algn="ctr">
              <a:lnSpc>
                <a:spcPct val="100000"/>
              </a:lnSpc>
              <a:spcBef>
                <a:spcPts val="545"/>
              </a:spcBef>
            </a:pPr>
            <a:r>
              <a:rPr sz="1300" spc="-50" dirty="0">
                <a:latin typeface="Cambria Math" panose="02040503050406030204"/>
                <a:cs typeface="Cambria Math" panose="02040503050406030204"/>
              </a:rPr>
              <a:t>𝑚</a:t>
            </a:r>
            <a:endParaRPr sz="1300">
              <a:latin typeface="Cambria Math" panose="02040503050406030204"/>
              <a:cs typeface="Cambria Math" panose="02040503050406030204"/>
            </a:endParaRPr>
          </a:p>
          <a:p>
            <a:pPr marL="38100">
              <a:lnSpc>
                <a:spcPct val="100000"/>
              </a:lnSpc>
              <a:spcBef>
                <a:spcPts val="625"/>
              </a:spcBef>
            </a:pPr>
            <a:r>
              <a:rPr sz="1800" dirty="0">
                <a:latin typeface="Cambria Math" panose="02040503050406030204"/>
                <a:cs typeface="Cambria Math" panose="02040503050406030204"/>
              </a:rPr>
              <a:t>SSR</a:t>
            </a:r>
            <a:r>
              <a:rPr sz="1800" spc="1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800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1800" spc="1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800" spc="1105" dirty="0">
                <a:latin typeface="Cambria Math" panose="02040503050406030204"/>
                <a:cs typeface="Cambria Math" panose="02040503050406030204"/>
              </a:rPr>
              <a:t>∑</a:t>
            </a:r>
            <a:r>
              <a:rPr sz="1800" spc="-1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800" spc="-1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1800" spc="-1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800" dirty="0">
                <a:latin typeface="Cambria Math" panose="02040503050406030204"/>
                <a:cs typeface="Cambria Math" panose="02040503050406030204"/>
              </a:rPr>
              <a:t>𝑦</a:t>
            </a:r>
            <a:r>
              <a:rPr sz="1950" baseline="38000" dirty="0">
                <a:latin typeface="Cambria Math" panose="02040503050406030204"/>
                <a:cs typeface="Cambria Math" panose="02040503050406030204"/>
              </a:rPr>
              <a:t>(𝑖)</a:t>
            </a:r>
            <a:r>
              <a:rPr sz="1950" spc="262" baseline="38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800" dirty="0">
                <a:latin typeface="Cambria Math" panose="02040503050406030204"/>
                <a:cs typeface="Cambria Math" panose="02040503050406030204"/>
              </a:rPr>
              <a:t>− </a:t>
            </a:r>
            <a:r>
              <a:rPr sz="1800" spc="-25" dirty="0">
                <a:latin typeface="Cambria Math" panose="02040503050406030204"/>
                <a:cs typeface="Cambria Math" panose="02040503050406030204"/>
              </a:rPr>
              <a:t>𝑦)</a:t>
            </a:r>
            <a:r>
              <a:rPr sz="1950" spc="-37" baseline="28000" dirty="0">
                <a:latin typeface="Cambria Math" panose="02040503050406030204"/>
                <a:cs typeface="Cambria Math" panose="02040503050406030204"/>
              </a:rPr>
              <a:t>2</a:t>
            </a:r>
            <a:endParaRPr sz="1950" baseline="28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9740176" y="4415573"/>
            <a:ext cx="292100" cy="222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-25" dirty="0">
                <a:latin typeface="Cambria Math" panose="02040503050406030204"/>
                <a:cs typeface="Cambria Math" panose="02040503050406030204"/>
              </a:rPr>
              <a:t>𝑖=1</a:t>
            </a:r>
            <a:endParaRPr sz="13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9804310" y="3778034"/>
            <a:ext cx="163830" cy="222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-50" dirty="0">
                <a:latin typeface="Cambria Math" panose="02040503050406030204"/>
                <a:cs typeface="Cambria Math" panose="02040503050406030204"/>
              </a:rPr>
              <a:t>𝑚</a:t>
            </a:r>
            <a:endParaRPr sz="13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10830128" y="4130128"/>
            <a:ext cx="93345" cy="41910"/>
          </a:xfrm>
          <a:custGeom>
            <a:avLst/>
            <a:gdLst/>
            <a:ahLst/>
            <a:cxnLst/>
            <a:rect l="l" t="t" r="r" b="b"/>
            <a:pathLst>
              <a:path w="93345" h="41910">
                <a:moveTo>
                  <a:pt x="86728" y="41910"/>
                </a:moveTo>
                <a:lnTo>
                  <a:pt x="47332" y="14605"/>
                </a:lnTo>
                <a:lnTo>
                  <a:pt x="46100" y="14605"/>
                </a:lnTo>
                <a:lnTo>
                  <a:pt x="6032" y="41910"/>
                </a:lnTo>
                <a:lnTo>
                  <a:pt x="0" y="35547"/>
                </a:lnTo>
                <a:lnTo>
                  <a:pt x="39852" y="0"/>
                </a:lnTo>
                <a:lnTo>
                  <a:pt x="54813" y="0"/>
                </a:lnTo>
                <a:lnTo>
                  <a:pt x="92760" y="35547"/>
                </a:lnTo>
                <a:lnTo>
                  <a:pt x="86728" y="419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9040406" y="4054894"/>
            <a:ext cx="23317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 panose="02040503050406030204"/>
                <a:cs typeface="Cambria Math" panose="02040503050406030204"/>
              </a:rPr>
              <a:t>SSE</a:t>
            </a:r>
            <a:r>
              <a:rPr sz="1800" spc="9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800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1800" spc="1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800" spc="1105" dirty="0">
                <a:latin typeface="Cambria Math" panose="02040503050406030204"/>
                <a:cs typeface="Cambria Math" panose="02040503050406030204"/>
              </a:rPr>
              <a:t>∑</a:t>
            </a:r>
            <a:r>
              <a:rPr sz="1800" spc="-1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800" spc="-1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1800" spc="-1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800" dirty="0">
                <a:latin typeface="Cambria Math" panose="02040503050406030204"/>
                <a:cs typeface="Cambria Math" panose="02040503050406030204"/>
              </a:rPr>
              <a:t>𝑦</a:t>
            </a:r>
            <a:r>
              <a:rPr sz="1950" baseline="28000" dirty="0">
                <a:latin typeface="Cambria Math" panose="02040503050406030204"/>
                <a:cs typeface="Cambria Math" panose="02040503050406030204"/>
              </a:rPr>
              <a:t>(𝑖)</a:t>
            </a:r>
            <a:r>
              <a:rPr sz="1950" spc="254" baseline="28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800" dirty="0">
                <a:latin typeface="Cambria Math" panose="02040503050406030204"/>
                <a:cs typeface="Cambria Math" panose="02040503050406030204"/>
              </a:rPr>
              <a:t>− </a:t>
            </a:r>
            <a:r>
              <a:rPr sz="1800" spc="-10" dirty="0">
                <a:latin typeface="Cambria Math" panose="02040503050406030204"/>
                <a:cs typeface="Cambria Math" panose="02040503050406030204"/>
              </a:rPr>
              <a:t>𝑦</a:t>
            </a:r>
            <a:r>
              <a:rPr sz="1950" spc="-15" baseline="38000" dirty="0">
                <a:latin typeface="Cambria Math" panose="02040503050406030204"/>
                <a:cs typeface="Cambria Math" panose="02040503050406030204"/>
              </a:rPr>
              <a:t>(𝑖)</a:t>
            </a:r>
            <a:r>
              <a:rPr sz="1800" spc="-10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1950" spc="-15" baseline="28000" dirty="0">
                <a:latin typeface="Cambria Math" panose="02040503050406030204"/>
                <a:cs typeface="Cambria Math" panose="02040503050406030204"/>
              </a:rPr>
              <a:t>2</a:t>
            </a:r>
            <a:endParaRPr sz="1950" baseline="28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9906546" y="4547018"/>
            <a:ext cx="163830" cy="222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-50" dirty="0">
                <a:latin typeface="Cambria Math" panose="02040503050406030204"/>
                <a:cs typeface="Cambria Math" panose="02040503050406030204"/>
              </a:rPr>
              <a:t>𝑚</a:t>
            </a:r>
            <a:endParaRPr sz="13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10914926" y="4902415"/>
            <a:ext cx="127635" cy="15240"/>
          </a:xfrm>
          <a:custGeom>
            <a:avLst/>
            <a:gdLst/>
            <a:ahLst/>
            <a:cxnLst/>
            <a:rect l="l" t="t" r="r" b="b"/>
            <a:pathLst>
              <a:path w="127634" h="15239">
                <a:moveTo>
                  <a:pt x="127634" y="15087"/>
                </a:moveTo>
                <a:lnTo>
                  <a:pt x="0" y="15087"/>
                </a:lnTo>
                <a:lnTo>
                  <a:pt x="0" y="0"/>
                </a:lnTo>
                <a:lnTo>
                  <a:pt x="127634" y="0"/>
                </a:lnTo>
                <a:lnTo>
                  <a:pt x="127634" y="150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 txBox="1"/>
          <p:nvPr/>
        </p:nvSpPr>
        <p:spPr>
          <a:xfrm>
            <a:off x="9142006" y="4703841"/>
            <a:ext cx="2128520" cy="703580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45"/>
              </a:spcBef>
            </a:pPr>
            <a:r>
              <a:rPr sz="1800" dirty="0">
                <a:latin typeface="Cambria Math" panose="02040503050406030204"/>
                <a:cs typeface="Cambria Math" panose="02040503050406030204"/>
              </a:rPr>
              <a:t>SST</a:t>
            </a:r>
            <a:r>
              <a:rPr sz="1800" spc="8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800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1800" spc="9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800" spc="1105" dirty="0">
                <a:latin typeface="Cambria Math" panose="02040503050406030204"/>
                <a:cs typeface="Cambria Math" panose="02040503050406030204"/>
              </a:rPr>
              <a:t>∑</a:t>
            </a:r>
            <a:r>
              <a:rPr sz="1800" spc="-1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800" spc="-1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1800" spc="-1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800" dirty="0">
                <a:latin typeface="Cambria Math" panose="02040503050406030204"/>
                <a:cs typeface="Cambria Math" panose="02040503050406030204"/>
              </a:rPr>
              <a:t>𝑦</a:t>
            </a:r>
            <a:r>
              <a:rPr sz="1950" baseline="28000" dirty="0">
                <a:latin typeface="Cambria Math" panose="02040503050406030204"/>
                <a:cs typeface="Cambria Math" panose="02040503050406030204"/>
              </a:rPr>
              <a:t>(𝑖)</a:t>
            </a:r>
            <a:r>
              <a:rPr sz="1950" spc="254" baseline="28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80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1800" spc="-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800" spc="-25" dirty="0">
                <a:latin typeface="Cambria Math" panose="02040503050406030204"/>
                <a:cs typeface="Cambria Math" panose="02040503050406030204"/>
              </a:rPr>
              <a:t>𝑦)</a:t>
            </a:r>
            <a:r>
              <a:rPr sz="1950" spc="-37" baseline="28000" dirty="0">
                <a:latin typeface="Cambria Math" panose="02040503050406030204"/>
                <a:cs typeface="Cambria Math" panose="02040503050406030204"/>
              </a:rPr>
              <a:t>2</a:t>
            </a:r>
            <a:endParaRPr sz="1950" baseline="28000">
              <a:latin typeface="Cambria Math" panose="02040503050406030204"/>
              <a:cs typeface="Cambria Math" panose="02040503050406030204"/>
            </a:endParaRPr>
          </a:p>
          <a:p>
            <a:pPr marR="427990" algn="ctr">
              <a:lnSpc>
                <a:spcPct val="100000"/>
              </a:lnSpc>
              <a:spcBef>
                <a:spcPts val="675"/>
              </a:spcBef>
            </a:pPr>
            <a:r>
              <a:rPr sz="1300" spc="-25" dirty="0">
                <a:latin typeface="Cambria Math" panose="02040503050406030204"/>
                <a:cs typeface="Cambria Math" panose="02040503050406030204"/>
              </a:rPr>
              <a:t>𝑖=1</a:t>
            </a:r>
            <a:endParaRPr sz="13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945934" y="5364619"/>
            <a:ext cx="9753600" cy="10172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90625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越接近于</a:t>
            </a:r>
            <a:r>
              <a:rPr sz="2400" spc="-10" dirty="0">
                <a:latin typeface="Cambria" panose="02040503050406030204"/>
                <a:cs typeface="Cambria" panose="02040503050406030204"/>
              </a:rPr>
              <a:t>1,</a:t>
            </a:r>
            <a:r>
              <a:rPr sz="2400" spc="-10" dirty="0">
                <a:latin typeface="微软雅黑" panose="020B0503020204020204" charset="-122"/>
                <a:cs typeface="微软雅黑" panose="020B0503020204020204" charset="-122"/>
              </a:rPr>
              <a:t>说明模型拟合得越好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  <a:p>
            <a:pPr marL="50800">
              <a:lnSpc>
                <a:spcPct val="100000"/>
              </a:lnSpc>
              <a:spcBef>
                <a:spcPts val="2045"/>
              </a:spcBef>
            </a:pP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其中，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𝑦</a:t>
            </a:r>
            <a:r>
              <a:rPr sz="2625" baseline="27000" dirty="0">
                <a:latin typeface="Cambria Math" panose="02040503050406030204"/>
                <a:cs typeface="Cambria Math" panose="02040503050406030204"/>
              </a:rPr>
              <a:t>(𝑖</a:t>
            </a:r>
            <a:r>
              <a:rPr sz="2625" spc="52" baseline="27000" dirty="0">
                <a:latin typeface="Cambria Math" panose="02040503050406030204"/>
                <a:cs typeface="Cambria Math" panose="02040503050406030204"/>
              </a:rPr>
              <a:t>)  </a:t>
            </a: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和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𝑦</a:t>
            </a:r>
            <a:r>
              <a:rPr sz="2625" baseline="38000" dirty="0">
                <a:latin typeface="Cambria Math" panose="02040503050406030204"/>
                <a:cs typeface="Cambria Math" panose="02040503050406030204"/>
              </a:rPr>
              <a:t>(𝑖)</a:t>
            </a: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分别表示第</a:t>
            </a:r>
            <a:r>
              <a:rPr sz="2400" spc="-20" dirty="0">
                <a:latin typeface="Cambria Math" panose="02040503050406030204"/>
                <a:cs typeface="Cambria Math" panose="02040503050406030204"/>
              </a:rPr>
              <a:t>𝑖</a:t>
            </a: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个样本的真实值和预测值，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𝑚</a:t>
            </a:r>
            <a:r>
              <a:rPr sz="2400" spc="27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10" dirty="0">
                <a:latin typeface="微软雅黑" panose="020B0503020204020204" charset="-122"/>
                <a:cs typeface="微软雅黑" panose="020B0503020204020204" charset="-122"/>
              </a:rPr>
              <a:t>为样本个数。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999744"/>
            <a:ext cx="646430" cy="262255"/>
          </a:xfrm>
          <a:prstGeom prst="rect">
            <a:avLst/>
          </a:prstGeom>
          <a:solidFill>
            <a:srgbClr val="A40020"/>
          </a:solidFill>
        </p:spPr>
        <p:txBody>
          <a:bodyPr vert="horz" wrap="square" lIns="0" tIns="635" rIns="0" bIns="0" rtlCol="0">
            <a:spAutoFit/>
          </a:bodyPr>
          <a:lstStyle/>
          <a:p>
            <a:pPr marL="375285">
              <a:lnSpc>
                <a:spcPct val="100000"/>
              </a:lnSpc>
              <a:spcBef>
                <a:spcPts val="5"/>
              </a:spcBef>
            </a:pPr>
            <a:r>
              <a:rPr sz="1400" b="1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44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47077" y="251142"/>
            <a:ext cx="28194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Arial" panose="020B0604020202020204"/>
                <a:cs typeface="Arial" panose="020B0604020202020204"/>
              </a:rPr>
              <a:t>2</a:t>
            </a:r>
            <a:r>
              <a:rPr spc="-5" dirty="0">
                <a:latin typeface="Arial" panose="020B0604020202020204"/>
                <a:cs typeface="Arial" panose="020B0604020202020204"/>
              </a:rPr>
              <a:t>. </a:t>
            </a:r>
            <a:r>
              <a:rPr spc="-10" dirty="0"/>
              <a:t>多项式回归</a:t>
            </a:r>
            <a:endParaRPr spc="-10" dirty="0"/>
          </a:p>
        </p:txBody>
      </p:sp>
      <p:sp>
        <p:nvSpPr>
          <p:cNvPr id="4" name="object 4"/>
          <p:cNvSpPr txBox="1"/>
          <p:nvPr/>
        </p:nvSpPr>
        <p:spPr>
          <a:xfrm>
            <a:off x="425450" y="1463039"/>
            <a:ext cx="11036935" cy="1855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2425" marR="5080" indent="-339725" algn="just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spc="-10" dirty="0">
                <a:latin typeface="微软雅黑" panose="020B0503020204020204" charset="-122"/>
                <a:cs typeface="微软雅黑" panose="020B0503020204020204" charset="-122"/>
              </a:rPr>
              <a:t>在使用线性回归时，除了遇到以上问题（数据中存在多重共线性、数据维度过高），</a:t>
            </a:r>
            <a:r>
              <a:rPr sz="2000" spc="-20" dirty="0">
                <a:latin typeface="微软雅黑" panose="020B0503020204020204" charset="-122"/>
                <a:cs typeface="微软雅黑" panose="020B0503020204020204" charset="-122"/>
              </a:rPr>
              <a:t>还会遇到数</a:t>
            </a:r>
            <a:r>
              <a:rPr sz="2000" spc="-20" dirty="0">
                <a:latin typeface="微软雅黑" panose="020B0503020204020204" charset="-122"/>
                <a:cs typeface="微软雅黑" panose="020B0503020204020204" charset="-122"/>
              </a:rPr>
              <a:t>	</a:t>
            </a:r>
            <a:r>
              <a:rPr sz="2000" spc="-15" dirty="0">
                <a:latin typeface="微软雅黑" panose="020B0503020204020204" charset="-122"/>
                <a:cs typeface="微软雅黑" panose="020B0503020204020204" charset="-122"/>
              </a:rPr>
              <a:t>据并不总是线性的，若此时仍坚持用线性模型去拟合非线性数据，其结果往往是很糟糕。庆幸地	是除了更换更加复杂的非线性模型外，仍可以使用线性回归方法来拟合非线性数据，只不过在此	之前，需要对输入数据进行处理。</a:t>
            </a:r>
            <a:endParaRPr sz="2000">
              <a:latin typeface="微软雅黑" panose="020B0503020204020204" charset="-122"/>
              <a:cs typeface="微软雅黑" panose="020B0503020204020204" charset="-122"/>
            </a:endParaRPr>
          </a:p>
          <a:p>
            <a:pPr marL="352425" marR="5080" indent="-339725" algn="just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sz="2000" spc="-15" dirty="0">
                <a:latin typeface="微软雅黑" panose="020B0503020204020204" charset="-122"/>
                <a:cs typeface="微软雅黑" panose="020B0503020204020204" charset="-122"/>
              </a:rPr>
              <a:t>多项式回归是一种通过增加自变量上的次数，而将数据映射到高维空间的方法，从而提高模型拟	合复杂数据的效果。</a:t>
            </a:r>
            <a:endParaRPr sz="2000">
              <a:latin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781555" y="3375659"/>
            <a:ext cx="7303008" cy="333756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999744"/>
            <a:ext cx="646430" cy="262255"/>
          </a:xfrm>
          <a:prstGeom prst="rect">
            <a:avLst/>
          </a:prstGeom>
          <a:solidFill>
            <a:srgbClr val="A40020"/>
          </a:solidFill>
        </p:spPr>
        <p:txBody>
          <a:bodyPr vert="horz" wrap="square" lIns="0" tIns="635" rIns="0" bIns="0" rtlCol="0">
            <a:spAutoFit/>
          </a:bodyPr>
          <a:lstStyle/>
          <a:p>
            <a:pPr marL="375285">
              <a:lnSpc>
                <a:spcPct val="100000"/>
              </a:lnSpc>
              <a:spcBef>
                <a:spcPts val="5"/>
              </a:spcBef>
            </a:pPr>
            <a:r>
              <a:rPr sz="1400" b="1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45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47077" y="251142"/>
            <a:ext cx="28194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Arial" panose="020B0604020202020204"/>
                <a:cs typeface="Arial" panose="020B0604020202020204"/>
              </a:rPr>
              <a:t>2</a:t>
            </a:r>
            <a:r>
              <a:rPr spc="-5" dirty="0">
                <a:latin typeface="Arial" panose="020B0604020202020204"/>
                <a:cs typeface="Arial" panose="020B0604020202020204"/>
              </a:rPr>
              <a:t>. </a:t>
            </a:r>
            <a:r>
              <a:rPr spc="-10" dirty="0"/>
              <a:t>多项式回归</a:t>
            </a:r>
            <a:endParaRPr spc="-10" dirty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73709" y="2983534"/>
            <a:ext cx="4225861" cy="317764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11480" y="1468754"/>
            <a:ext cx="11406505" cy="4407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14020" algn="just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微软雅黑" panose="020B0503020204020204" charset="-122"/>
                <a:cs typeface="微软雅黑" panose="020B0503020204020204" charset="-122"/>
              </a:rPr>
              <a:t>当我们要创建适合处理非线性可分数据的模型时，我们需要使用多项式回归。在这种回归技术中，最佳拟合线不是一条直线，而是一条符合数据点的曲线。对于一个</a:t>
            </a: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多项式回归，一些自变量的指数是大于</a:t>
            </a:r>
            <a:r>
              <a:rPr sz="2400" spc="-20" dirty="0">
                <a:latin typeface="Arial MT"/>
                <a:cs typeface="Arial MT"/>
              </a:rPr>
              <a:t>1</a:t>
            </a:r>
            <a:r>
              <a:rPr sz="2400" spc="-25" dirty="0">
                <a:latin typeface="微软雅黑" panose="020B0503020204020204" charset="-122"/>
                <a:cs typeface="微软雅黑" panose="020B0503020204020204" charset="-122"/>
              </a:rPr>
              <a:t>的。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0000"/>
              </a:lnSpc>
              <a:spcBef>
                <a:spcPts val="1035"/>
              </a:spcBef>
            </a:pPr>
            <a:endParaRPr sz="2400">
              <a:latin typeface="微软雅黑" panose="020B0503020204020204" charset="-122"/>
              <a:cs typeface="微软雅黑" panose="020B0503020204020204" charset="-122"/>
            </a:endParaRPr>
          </a:p>
          <a:p>
            <a:pPr marL="4559300">
              <a:lnSpc>
                <a:spcPct val="100000"/>
              </a:lnSpc>
            </a:pPr>
            <a:r>
              <a:rPr sz="2000" spc="-15" dirty="0">
                <a:latin typeface="微软雅黑" panose="020B0503020204020204" charset="-122"/>
                <a:cs typeface="微软雅黑" panose="020B0503020204020204" charset="-122"/>
              </a:rPr>
              <a:t>多项式回归的几个要点：</a:t>
            </a:r>
            <a:endParaRPr sz="2000">
              <a:latin typeface="微软雅黑" panose="020B0503020204020204" charset="-122"/>
              <a:cs typeface="微软雅黑" panose="020B0503020204020204" charset="-122"/>
            </a:endParaRPr>
          </a:p>
          <a:p>
            <a:pPr marL="4559300" marR="5080" indent="158115">
              <a:lnSpc>
                <a:spcPct val="150000"/>
              </a:lnSpc>
              <a:buFont typeface="Arial MT"/>
              <a:buChar char="•"/>
              <a:tabLst>
                <a:tab pos="4717415" algn="l"/>
              </a:tabLst>
            </a:pPr>
            <a:r>
              <a:rPr sz="2000" spc="-10" dirty="0">
                <a:latin typeface="微软雅黑" panose="020B0503020204020204" charset="-122"/>
                <a:cs typeface="微软雅黑" panose="020B0503020204020204" charset="-122"/>
              </a:rPr>
              <a:t>能够模拟非线性可分的数据</a:t>
            </a:r>
            <a:r>
              <a:rPr sz="2000" dirty="0">
                <a:latin typeface="Arial MT"/>
                <a:cs typeface="Arial MT"/>
              </a:rPr>
              <a:t>;</a:t>
            </a:r>
            <a:r>
              <a:rPr sz="2000" spc="-15" dirty="0">
                <a:latin typeface="微软雅黑" panose="020B0503020204020204" charset="-122"/>
                <a:cs typeface="微软雅黑" panose="020B0503020204020204" charset="-122"/>
              </a:rPr>
              <a:t>线性回归不能做到这一点。它总体上更灵活，可以模拟一些相当复杂的关系。</a:t>
            </a:r>
            <a:endParaRPr sz="2000">
              <a:latin typeface="微软雅黑" panose="020B0503020204020204" charset="-122"/>
              <a:cs typeface="微软雅黑" panose="020B0503020204020204" charset="-122"/>
            </a:endParaRPr>
          </a:p>
          <a:p>
            <a:pPr marL="4717415" indent="-15811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4717415" algn="l"/>
              </a:tabLst>
            </a:pPr>
            <a:r>
              <a:rPr sz="2000" spc="-10" dirty="0">
                <a:latin typeface="微软雅黑" panose="020B0503020204020204" charset="-122"/>
                <a:cs typeface="微软雅黑" panose="020B0503020204020204" charset="-122"/>
              </a:rPr>
              <a:t>完全控制要素变量的建模（要设置变量的指数）</a:t>
            </a:r>
            <a:r>
              <a:rPr sz="2000" spc="-50" dirty="0">
                <a:latin typeface="微软雅黑" panose="020B0503020204020204" charset="-122"/>
                <a:cs typeface="微软雅黑" panose="020B0503020204020204" charset="-122"/>
              </a:rPr>
              <a:t>。</a:t>
            </a:r>
            <a:endParaRPr sz="2000">
              <a:latin typeface="微软雅黑" panose="020B0503020204020204" charset="-122"/>
              <a:cs typeface="微软雅黑" panose="020B0503020204020204" charset="-122"/>
            </a:endParaRPr>
          </a:p>
          <a:p>
            <a:pPr marL="4717415" indent="-15811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4717415" algn="l"/>
              </a:tabLst>
            </a:pPr>
            <a:r>
              <a:rPr sz="2000" spc="-15" dirty="0">
                <a:latin typeface="微软雅黑" panose="020B0503020204020204" charset="-122"/>
                <a:cs typeface="微软雅黑" panose="020B0503020204020204" charset="-122"/>
              </a:rPr>
              <a:t>需要仔细的设计，需要数据的先验知识才能选择最佳指数。</a:t>
            </a:r>
            <a:endParaRPr sz="2000">
              <a:latin typeface="微软雅黑" panose="020B0503020204020204" charset="-122"/>
              <a:cs typeface="微软雅黑" panose="020B0503020204020204" charset="-122"/>
            </a:endParaRPr>
          </a:p>
          <a:p>
            <a:pPr marL="4717415" indent="-15811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4717415" algn="l"/>
              </a:tabLst>
            </a:pPr>
            <a:r>
              <a:rPr sz="2000" spc="-15" dirty="0">
                <a:latin typeface="微软雅黑" panose="020B0503020204020204" charset="-122"/>
                <a:cs typeface="微软雅黑" panose="020B0503020204020204" charset="-122"/>
              </a:rPr>
              <a:t>如果指数选择不当，容易过拟合。</a:t>
            </a:r>
            <a:endParaRPr sz="2000"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999744"/>
            <a:ext cx="646430" cy="262255"/>
          </a:xfrm>
          <a:prstGeom prst="rect">
            <a:avLst/>
          </a:prstGeom>
          <a:solidFill>
            <a:srgbClr val="A40020"/>
          </a:solidFill>
        </p:spPr>
        <p:txBody>
          <a:bodyPr vert="horz" wrap="square" lIns="0" tIns="635" rIns="0" bIns="0" rtlCol="0">
            <a:spAutoFit/>
          </a:bodyPr>
          <a:lstStyle/>
          <a:p>
            <a:pPr marL="375285">
              <a:lnSpc>
                <a:spcPct val="100000"/>
              </a:lnSpc>
              <a:spcBef>
                <a:spcPts val="5"/>
              </a:spcBef>
            </a:pPr>
            <a:r>
              <a:rPr sz="1400" b="1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46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47077" y="251142"/>
            <a:ext cx="28194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Arial" panose="020B0604020202020204"/>
                <a:cs typeface="Arial" panose="020B0604020202020204"/>
              </a:rPr>
              <a:t>2</a:t>
            </a:r>
            <a:r>
              <a:rPr spc="-5" dirty="0">
                <a:latin typeface="Arial" panose="020B0604020202020204"/>
                <a:cs typeface="Arial" panose="020B0604020202020204"/>
              </a:rPr>
              <a:t>. </a:t>
            </a:r>
            <a:r>
              <a:rPr spc="-10" dirty="0"/>
              <a:t>多项式回归</a:t>
            </a:r>
            <a:endParaRPr spc="-10" dirty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901951" y="1490472"/>
            <a:ext cx="7325103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999744"/>
            <a:ext cx="646430" cy="262255"/>
          </a:xfrm>
          <a:prstGeom prst="rect">
            <a:avLst/>
          </a:prstGeom>
          <a:solidFill>
            <a:srgbClr val="A40020"/>
          </a:solidFill>
        </p:spPr>
        <p:txBody>
          <a:bodyPr vert="horz" wrap="square" lIns="0" tIns="635" rIns="0" bIns="0" rtlCol="0">
            <a:spAutoFit/>
          </a:bodyPr>
          <a:lstStyle/>
          <a:p>
            <a:pPr marL="375285">
              <a:lnSpc>
                <a:spcPct val="100000"/>
              </a:lnSpc>
              <a:spcBef>
                <a:spcPts val="5"/>
              </a:spcBef>
            </a:pPr>
            <a:r>
              <a:rPr sz="1400" b="1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47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476500" y="1559052"/>
            <a:ext cx="5673183" cy="489966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47077" y="251142"/>
            <a:ext cx="28194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Arial" panose="020B0604020202020204"/>
                <a:cs typeface="Arial" panose="020B0604020202020204"/>
              </a:rPr>
              <a:t>2</a:t>
            </a:r>
            <a:r>
              <a:rPr spc="-5" dirty="0">
                <a:latin typeface="Arial" panose="020B0604020202020204"/>
                <a:cs typeface="Arial" panose="020B0604020202020204"/>
              </a:rPr>
              <a:t>. </a:t>
            </a:r>
            <a:r>
              <a:rPr spc="-10" dirty="0"/>
              <a:t>多项式回归</a:t>
            </a:r>
            <a:endParaRPr spc="-1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02563" y="324611"/>
            <a:ext cx="11489690" cy="6475730"/>
            <a:chOff x="702563" y="324611"/>
            <a:chExt cx="11489690" cy="647573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4852416" y="324611"/>
              <a:ext cx="7228332" cy="647547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31452" y="2301239"/>
              <a:ext cx="2670048" cy="55473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10699" y="6057900"/>
              <a:ext cx="2670048" cy="554736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0" y="999744"/>
            <a:ext cx="646430" cy="262255"/>
          </a:xfrm>
          <a:prstGeom prst="rect">
            <a:avLst/>
          </a:prstGeom>
          <a:solidFill>
            <a:srgbClr val="A40020"/>
          </a:solidFill>
        </p:spPr>
        <p:txBody>
          <a:bodyPr vert="horz" wrap="square" lIns="0" tIns="635" rIns="0" bIns="0" rtlCol="0">
            <a:spAutoFit/>
          </a:bodyPr>
          <a:lstStyle/>
          <a:p>
            <a:pPr marL="375285">
              <a:lnSpc>
                <a:spcPct val="100000"/>
              </a:lnSpc>
              <a:spcBef>
                <a:spcPts val="5"/>
              </a:spcBef>
            </a:pPr>
            <a:r>
              <a:rPr sz="1400" b="1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48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47077" y="251142"/>
            <a:ext cx="28194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Arial" panose="020B0604020202020204"/>
                <a:cs typeface="Arial" panose="020B0604020202020204"/>
              </a:rPr>
              <a:t>2</a:t>
            </a:r>
            <a:r>
              <a:rPr spc="-5" dirty="0">
                <a:latin typeface="Arial" panose="020B0604020202020204"/>
                <a:cs typeface="Arial" panose="020B0604020202020204"/>
              </a:rPr>
              <a:t>. </a:t>
            </a:r>
            <a:r>
              <a:rPr spc="-10" dirty="0"/>
              <a:t>多项式回归</a:t>
            </a:r>
            <a:endParaRPr spc="-1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02563" y="362711"/>
            <a:ext cx="11489690" cy="6495415"/>
            <a:chOff x="702563" y="362711"/>
            <a:chExt cx="11489690" cy="6495415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4168140" y="362711"/>
              <a:ext cx="5954268" cy="649528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00187" y="1997963"/>
              <a:ext cx="2455163" cy="510539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0" y="999744"/>
            <a:ext cx="646430" cy="262255"/>
          </a:xfrm>
          <a:prstGeom prst="rect">
            <a:avLst/>
          </a:prstGeom>
          <a:solidFill>
            <a:srgbClr val="A40020"/>
          </a:solidFill>
        </p:spPr>
        <p:txBody>
          <a:bodyPr vert="horz" wrap="square" lIns="0" tIns="635" rIns="0" bIns="0" rtlCol="0">
            <a:spAutoFit/>
          </a:bodyPr>
          <a:lstStyle/>
          <a:p>
            <a:pPr marL="375285">
              <a:lnSpc>
                <a:spcPct val="100000"/>
              </a:lnSpc>
              <a:spcBef>
                <a:spcPts val="5"/>
              </a:spcBef>
            </a:pPr>
            <a:r>
              <a:rPr sz="1400" b="1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49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47077" y="251142"/>
            <a:ext cx="28194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Arial" panose="020B0604020202020204"/>
                <a:cs typeface="Arial" panose="020B0604020202020204"/>
              </a:rPr>
              <a:t>2</a:t>
            </a:r>
            <a:r>
              <a:rPr spc="-5" dirty="0">
                <a:latin typeface="Arial" panose="020B0604020202020204"/>
                <a:cs typeface="Arial" panose="020B0604020202020204"/>
              </a:rPr>
              <a:t>. </a:t>
            </a:r>
            <a:r>
              <a:rPr spc="-10" dirty="0"/>
              <a:t>多项式回归</a:t>
            </a:r>
            <a:endParaRPr spc="-1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999744"/>
            <a:ext cx="646430" cy="262255"/>
          </a:xfrm>
          <a:custGeom>
            <a:avLst/>
            <a:gdLst/>
            <a:ahLst/>
            <a:cxnLst/>
            <a:rect l="l" t="t" r="r" b="b"/>
            <a:pathLst>
              <a:path w="646430" h="262255">
                <a:moveTo>
                  <a:pt x="646176" y="262127"/>
                </a:moveTo>
                <a:lnTo>
                  <a:pt x="0" y="262127"/>
                </a:lnTo>
                <a:lnTo>
                  <a:pt x="0" y="0"/>
                </a:lnTo>
                <a:lnTo>
                  <a:pt x="646176" y="0"/>
                </a:lnTo>
                <a:lnTo>
                  <a:pt x="646176" y="262127"/>
                </a:lnTo>
                <a:close/>
              </a:path>
            </a:pathLst>
          </a:custGeom>
          <a:solidFill>
            <a:srgbClr val="A400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02563" y="996696"/>
            <a:ext cx="11489690" cy="262255"/>
          </a:xfrm>
          <a:custGeom>
            <a:avLst/>
            <a:gdLst/>
            <a:ahLst/>
            <a:cxnLst/>
            <a:rect l="l" t="t" r="r" b="b"/>
            <a:pathLst>
              <a:path w="11489690" h="262255">
                <a:moveTo>
                  <a:pt x="11489436" y="262127"/>
                </a:moveTo>
                <a:lnTo>
                  <a:pt x="0" y="262127"/>
                </a:lnTo>
                <a:lnTo>
                  <a:pt x="0" y="0"/>
                </a:lnTo>
                <a:lnTo>
                  <a:pt x="11489436" y="0"/>
                </a:lnTo>
                <a:lnTo>
                  <a:pt x="11489436" y="262127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62902" y="987107"/>
            <a:ext cx="224154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50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47077" y="257492"/>
            <a:ext cx="22352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Arial" panose="020B0604020202020204"/>
                <a:cs typeface="Arial" panose="020B0604020202020204"/>
              </a:rPr>
              <a:t>3</a:t>
            </a:r>
            <a:r>
              <a:rPr spc="-5" dirty="0">
                <a:latin typeface="Arial" panose="020B0604020202020204"/>
                <a:cs typeface="Arial" panose="020B0604020202020204"/>
              </a:rPr>
              <a:t> </a:t>
            </a:r>
            <a:r>
              <a:rPr spc="-15" dirty="0"/>
              <a:t>逻辑回归</a:t>
            </a:r>
            <a:endParaRPr spc="-15" dirty="0"/>
          </a:p>
        </p:txBody>
      </p:sp>
      <p:sp>
        <p:nvSpPr>
          <p:cNvPr id="6" name="object 6"/>
          <p:cNvSpPr txBox="1"/>
          <p:nvPr/>
        </p:nvSpPr>
        <p:spPr>
          <a:xfrm>
            <a:off x="2989808" y="1612176"/>
            <a:ext cx="4506595" cy="3301365"/>
          </a:xfrm>
          <a:prstGeom prst="rect">
            <a:avLst/>
          </a:prstGeom>
        </p:spPr>
        <p:txBody>
          <a:bodyPr vert="horz" wrap="square" lIns="0" tIns="286385" rIns="0" bIns="0" rtlCol="0">
            <a:spAutoFit/>
          </a:bodyPr>
          <a:lstStyle/>
          <a:p>
            <a:pPr marL="762635" indent="-749935">
              <a:lnSpc>
                <a:spcPct val="100000"/>
              </a:lnSpc>
              <a:spcBef>
                <a:spcPts val="2255"/>
              </a:spcBef>
              <a:buFont typeface="Impact" panose="020B0806030902050204"/>
              <a:buAutoNum type="arabicPeriod"/>
              <a:tabLst>
                <a:tab pos="762635" algn="l"/>
              </a:tabLst>
            </a:pPr>
            <a:r>
              <a:rPr sz="3600" spc="-15" dirty="0">
                <a:latin typeface="微软雅黑" panose="020B0503020204020204" charset="-122"/>
                <a:cs typeface="微软雅黑" panose="020B0503020204020204" charset="-122"/>
              </a:rPr>
              <a:t>分类问题</a:t>
            </a:r>
            <a:endParaRPr sz="3600">
              <a:latin typeface="微软雅黑" panose="020B0503020204020204" charset="-122"/>
              <a:cs typeface="微软雅黑" panose="020B0503020204020204" charset="-122"/>
            </a:endParaRPr>
          </a:p>
          <a:p>
            <a:pPr marL="808990" indent="-796290">
              <a:lnSpc>
                <a:spcPct val="100000"/>
              </a:lnSpc>
              <a:spcBef>
                <a:spcPts val="2160"/>
              </a:spcBef>
              <a:buAutoNum type="arabicPeriod"/>
              <a:tabLst>
                <a:tab pos="808990" algn="l"/>
              </a:tabLst>
            </a:pPr>
            <a:r>
              <a:rPr sz="3600" spc="-20" dirty="0">
                <a:latin typeface="Impact" panose="020B0806030902050204"/>
                <a:cs typeface="Impact" panose="020B0806030902050204"/>
              </a:rPr>
              <a:t>Sigmoid</a:t>
            </a:r>
            <a:r>
              <a:rPr sz="3600" spc="-25" dirty="0">
                <a:latin typeface="微软雅黑" panose="020B0503020204020204" charset="-122"/>
                <a:cs typeface="微软雅黑" panose="020B0503020204020204" charset="-122"/>
              </a:rPr>
              <a:t>函数</a:t>
            </a:r>
            <a:endParaRPr sz="3600">
              <a:latin typeface="微软雅黑" panose="020B0503020204020204" charset="-122"/>
              <a:cs typeface="微软雅黑" panose="020B0503020204020204" charset="-122"/>
            </a:endParaRPr>
          </a:p>
          <a:p>
            <a:pPr marL="822325" indent="-809625">
              <a:lnSpc>
                <a:spcPct val="100000"/>
              </a:lnSpc>
              <a:spcBef>
                <a:spcPts val="2100"/>
              </a:spcBef>
              <a:buFont typeface="Impact" panose="020B0806030902050204"/>
              <a:buAutoNum type="arabicPeriod"/>
              <a:tabLst>
                <a:tab pos="822325" algn="l"/>
              </a:tabLst>
            </a:pPr>
            <a:r>
              <a:rPr sz="3600" spc="-10" dirty="0">
                <a:latin typeface="微软雅黑" panose="020B0503020204020204" charset="-122"/>
                <a:cs typeface="微软雅黑" panose="020B0503020204020204" charset="-122"/>
              </a:rPr>
              <a:t>逻辑回归求解</a:t>
            </a:r>
            <a:endParaRPr sz="3600">
              <a:latin typeface="微软雅黑" panose="020B0503020204020204" charset="-122"/>
              <a:cs typeface="微软雅黑" panose="020B0503020204020204" charset="-122"/>
            </a:endParaRPr>
          </a:p>
          <a:p>
            <a:pPr marL="835660" indent="-796290">
              <a:lnSpc>
                <a:spcPct val="100000"/>
              </a:lnSpc>
              <a:spcBef>
                <a:spcPts val="2100"/>
              </a:spcBef>
              <a:buFont typeface="Impact" panose="020B0806030902050204"/>
              <a:buAutoNum type="arabicPeriod"/>
              <a:tabLst>
                <a:tab pos="835660" algn="l"/>
              </a:tabLst>
            </a:pPr>
            <a:r>
              <a:rPr sz="3600" spc="-10" dirty="0">
                <a:latin typeface="微软雅黑" panose="020B0503020204020204" charset="-122"/>
                <a:cs typeface="微软雅黑" panose="020B0503020204020204" charset="-122"/>
              </a:rPr>
              <a:t>逻辑回归代码实现</a:t>
            </a:r>
            <a:endParaRPr sz="3600"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999744"/>
            <a:ext cx="646430" cy="262255"/>
          </a:xfrm>
          <a:custGeom>
            <a:avLst/>
            <a:gdLst/>
            <a:ahLst/>
            <a:cxnLst/>
            <a:rect l="l" t="t" r="r" b="b"/>
            <a:pathLst>
              <a:path w="646430" h="262255">
                <a:moveTo>
                  <a:pt x="646176" y="262127"/>
                </a:moveTo>
                <a:lnTo>
                  <a:pt x="0" y="262127"/>
                </a:lnTo>
                <a:lnTo>
                  <a:pt x="0" y="0"/>
                </a:lnTo>
                <a:lnTo>
                  <a:pt x="646176" y="0"/>
                </a:lnTo>
                <a:lnTo>
                  <a:pt x="646176" y="262127"/>
                </a:lnTo>
                <a:close/>
              </a:path>
            </a:pathLst>
          </a:custGeom>
          <a:solidFill>
            <a:srgbClr val="A400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02563" y="996696"/>
            <a:ext cx="11489690" cy="262255"/>
          </a:xfrm>
          <a:custGeom>
            <a:avLst/>
            <a:gdLst/>
            <a:ahLst/>
            <a:cxnLst/>
            <a:rect l="l" t="t" r="r" b="b"/>
            <a:pathLst>
              <a:path w="11489690" h="262255">
                <a:moveTo>
                  <a:pt x="11489436" y="262127"/>
                </a:moveTo>
                <a:lnTo>
                  <a:pt x="0" y="262127"/>
                </a:lnTo>
                <a:lnTo>
                  <a:pt x="0" y="0"/>
                </a:lnTo>
                <a:lnTo>
                  <a:pt x="11489436" y="0"/>
                </a:lnTo>
                <a:lnTo>
                  <a:pt x="11489436" y="262127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62902" y="987107"/>
            <a:ext cx="224154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51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691383" y="1892807"/>
            <a:ext cx="6278880" cy="647700"/>
          </a:xfrm>
          <a:custGeom>
            <a:avLst/>
            <a:gdLst/>
            <a:ahLst/>
            <a:cxnLst/>
            <a:rect l="l" t="t" r="r" b="b"/>
            <a:pathLst>
              <a:path w="6278880" h="647700">
                <a:moveTo>
                  <a:pt x="6143244" y="647700"/>
                </a:moveTo>
                <a:lnTo>
                  <a:pt x="0" y="647700"/>
                </a:lnTo>
                <a:lnTo>
                  <a:pt x="0" y="135636"/>
                </a:lnTo>
                <a:lnTo>
                  <a:pt x="6903" y="92589"/>
                </a:lnTo>
                <a:lnTo>
                  <a:pt x="26153" y="55268"/>
                </a:lnTo>
                <a:lnTo>
                  <a:pt x="55515" y="25906"/>
                </a:lnTo>
                <a:lnTo>
                  <a:pt x="92754" y="6738"/>
                </a:lnTo>
                <a:lnTo>
                  <a:pt x="135636" y="0"/>
                </a:lnTo>
                <a:lnTo>
                  <a:pt x="6278880" y="0"/>
                </a:lnTo>
                <a:lnTo>
                  <a:pt x="6278880" y="512064"/>
                </a:lnTo>
                <a:lnTo>
                  <a:pt x="6271928" y="554756"/>
                </a:lnTo>
                <a:lnTo>
                  <a:pt x="6252653" y="591901"/>
                </a:lnTo>
                <a:lnTo>
                  <a:pt x="6223291" y="621263"/>
                </a:lnTo>
                <a:lnTo>
                  <a:pt x="6186076" y="640607"/>
                </a:lnTo>
                <a:lnTo>
                  <a:pt x="6143244" y="647700"/>
                </a:lnTo>
                <a:close/>
              </a:path>
            </a:pathLst>
          </a:custGeom>
          <a:solidFill>
            <a:srgbClr val="1352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47077" y="257492"/>
            <a:ext cx="22352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latin typeface="Arial" panose="020B0604020202020204"/>
                <a:cs typeface="Arial" panose="020B0604020202020204"/>
              </a:rPr>
              <a:t>1.</a:t>
            </a:r>
            <a:r>
              <a:rPr spc="-15" dirty="0"/>
              <a:t>分类问题</a:t>
            </a:r>
            <a:endParaRPr spc="-15" dirty="0"/>
          </a:p>
        </p:txBody>
      </p:sp>
      <p:sp>
        <p:nvSpPr>
          <p:cNvPr id="7" name="object 7"/>
          <p:cNvSpPr txBox="1"/>
          <p:nvPr/>
        </p:nvSpPr>
        <p:spPr>
          <a:xfrm>
            <a:off x="2989808" y="1612176"/>
            <a:ext cx="4506595" cy="3301365"/>
          </a:xfrm>
          <a:prstGeom prst="rect">
            <a:avLst/>
          </a:prstGeom>
        </p:spPr>
        <p:txBody>
          <a:bodyPr vert="horz" wrap="square" lIns="0" tIns="286385" rIns="0" bIns="0" rtlCol="0">
            <a:spAutoFit/>
          </a:bodyPr>
          <a:lstStyle/>
          <a:p>
            <a:pPr marL="762635" indent="-749935">
              <a:lnSpc>
                <a:spcPct val="100000"/>
              </a:lnSpc>
              <a:spcBef>
                <a:spcPts val="2255"/>
              </a:spcBef>
              <a:buFont typeface="Impact" panose="020B0806030902050204"/>
              <a:buAutoNum type="arabicPeriod"/>
              <a:tabLst>
                <a:tab pos="762635" algn="l"/>
              </a:tabLst>
            </a:pPr>
            <a:r>
              <a:rPr sz="3600" spc="-1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分类问题</a:t>
            </a:r>
            <a:endParaRPr sz="3600">
              <a:latin typeface="微软雅黑" panose="020B0503020204020204" charset="-122"/>
              <a:cs typeface="微软雅黑" panose="020B0503020204020204" charset="-122"/>
            </a:endParaRPr>
          </a:p>
          <a:p>
            <a:pPr marL="808990" indent="-796290">
              <a:lnSpc>
                <a:spcPct val="100000"/>
              </a:lnSpc>
              <a:spcBef>
                <a:spcPts val="2160"/>
              </a:spcBef>
              <a:buAutoNum type="arabicPeriod"/>
              <a:tabLst>
                <a:tab pos="808990" algn="l"/>
              </a:tabLst>
            </a:pPr>
            <a:r>
              <a:rPr sz="3600" spc="-20" dirty="0">
                <a:latin typeface="Impact" panose="020B0806030902050204"/>
                <a:cs typeface="Impact" panose="020B0806030902050204"/>
              </a:rPr>
              <a:t>Sigmoid</a:t>
            </a:r>
            <a:r>
              <a:rPr sz="3600" spc="-25" dirty="0">
                <a:latin typeface="微软雅黑" panose="020B0503020204020204" charset="-122"/>
                <a:cs typeface="微软雅黑" panose="020B0503020204020204" charset="-122"/>
              </a:rPr>
              <a:t>函数</a:t>
            </a:r>
            <a:endParaRPr sz="3600">
              <a:latin typeface="微软雅黑" panose="020B0503020204020204" charset="-122"/>
              <a:cs typeface="微软雅黑" panose="020B0503020204020204" charset="-122"/>
            </a:endParaRPr>
          </a:p>
          <a:p>
            <a:pPr marL="822325" indent="-809625">
              <a:lnSpc>
                <a:spcPct val="100000"/>
              </a:lnSpc>
              <a:spcBef>
                <a:spcPts val="2100"/>
              </a:spcBef>
              <a:buFont typeface="Impact" panose="020B0806030902050204"/>
              <a:buAutoNum type="arabicPeriod"/>
              <a:tabLst>
                <a:tab pos="822325" algn="l"/>
              </a:tabLst>
            </a:pPr>
            <a:r>
              <a:rPr sz="3600" spc="-10" dirty="0">
                <a:latin typeface="微软雅黑" panose="020B0503020204020204" charset="-122"/>
                <a:cs typeface="微软雅黑" panose="020B0503020204020204" charset="-122"/>
              </a:rPr>
              <a:t>逻辑回归求解</a:t>
            </a:r>
            <a:endParaRPr sz="3600">
              <a:latin typeface="微软雅黑" panose="020B0503020204020204" charset="-122"/>
              <a:cs typeface="微软雅黑" panose="020B0503020204020204" charset="-122"/>
            </a:endParaRPr>
          </a:p>
          <a:p>
            <a:pPr marL="835660" indent="-796290">
              <a:lnSpc>
                <a:spcPct val="100000"/>
              </a:lnSpc>
              <a:spcBef>
                <a:spcPts val="2100"/>
              </a:spcBef>
              <a:buFont typeface="Impact" panose="020B0806030902050204"/>
              <a:buAutoNum type="arabicPeriod"/>
              <a:tabLst>
                <a:tab pos="835660" algn="l"/>
              </a:tabLst>
            </a:pPr>
            <a:r>
              <a:rPr sz="3600" spc="-10" dirty="0">
                <a:latin typeface="微软雅黑" panose="020B0503020204020204" charset="-122"/>
                <a:cs typeface="微软雅黑" panose="020B0503020204020204" charset="-122"/>
              </a:rPr>
              <a:t>逻辑回归代码实现</a:t>
            </a:r>
            <a:endParaRPr sz="3600"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999744"/>
            <a:ext cx="646430" cy="262255"/>
          </a:xfrm>
          <a:prstGeom prst="rect">
            <a:avLst/>
          </a:prstGeom>
          <a:solidFill>
            <a:srgbClr val="A40020"/>
          </a:solidFill>
        </p:spPr>
        <p:txBody>
          <a:bodyPr vert="horz" wrap="square" lIns="0" tIns="635" rIns="0" bIns="0" rtlCol="0">
            <a:spAutoFit/>
          </a:bodyPr>
          <a:lstStyle/>
          <a:p>
            <a:pPr marL="375285">
              <a:lnSpc>
                <a:spcPct val="100000"/>
              </a:lnSpc>
              <a:spcBef>
                <a:spcPts val="5"/>
              </a:spcBef>
            </a:pPr>
            <a:r>
              <a:rPr sz="1400" b="1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52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28001" y="1466038"/>
            <a:ext cx="4090035" cy="1402080"/>
          </a:xfrm>
          <a:prstGeom prst="rect">
            <a:avLst/>
          </a:prstGeom>
        </p:spPr>
        <p:txBody>
          <a:bodyPr vert="horz" wrap="square" lIns="0" tIns="259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5"/>
              </a:spcBef>
            </a:pPr>
            <a:r>
              <a:rPr sz="3200" b="1" spc="-15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监督学习的最主要类型</a:t>
            </a:r>
            <a:endParaRPr sz="3200">
              <a:latin typeface="微软雅黑" panose="020B0503020204020204" charset="-122"/>
              <a:cs typeface="微软雅黑" panose="020B0503020204020204" charset="-122"/>
            </a:endParaRPr>
          </a:p>
          <a:p>
            <a:pPr marL="354965" indent="-342265">
              <a:lnSpc>
                <a:spcPct val="100000"/>
              </a:lnSpc>
              <a:spcBef>
                <a:spcPts val="1690"/>
              </a:spcBef>
              <a:buFont typeface="Wingdings" panose="05000000000000000000"/>
              <a:buChar char=""/>
              <a:tabLst>
                <a:tab pos="354965" algn="l"/>
              </a:tabLst>
            </a:pPr>
            <a:r>
              <a:rPr sz="2800" spc="-30" dirty="0">
                <a:latin typeface="微软雅黑" panose="020B0503020204020204" charset="-122"/>
                <a:cs typeface="微软雅黑" panose="020B0503020204020204" charset="-122"/>
              </a:rPr>
              <a:t>分类</a:t>
            </a:r>
            <a:r>
              <a:rPr sz="2800" spc="-10" dirty="0">
                <a:latin typeface="微软雅黑" panose="020B0503020204020204" charset="-122"/>
                <a:cs typeface="微软雅黑" panose="020B0503020204020204" charset="-122"/>
              </a:rPr>
              <a:t>（</a:t>
            </a:r>
            <a:r>
              <a:rPr sz="2800" spc="-10" dirty="0">
                <a:latin typeface="Arial MT"/>
                <a:cs typeface="Arial MT"/>
              </a:rPr>
              <a:t>Classification</a:t>
            </a:r>
            <a:r>
              <a:rPr sz="2800" spc="-10" dirty="0">
                <a:latin typeface="微软雅黑" panose="020B0503020204020204" charset="-122"/>
                <a:cs typeface="微软雅黑" panose="020B0503020204020204" charset="-122"/>
              </a:rPr>
              <a:t>）</a:t>
            </a:r>
            <a:endParaRPr sz="28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70951" y="2842272"/>
            <a:ext cx="8229600" cy="2926715"/>
          </a:xfrm>
          <a:prstGeom prst="rect">
            <a:avLst/>
          </a:prstGeom>
        </p:spPr>
        <p:txBody>
          <a:bodyPr vert="horz" wrap="square" lIns="0" tIns="22606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780"/>
              </a:spcBef>
              <a:buFont typeface="Wingdings" panose="05000000000000000000"/>
              <a:buChar char=""/>
              <a:tabLst>
                <a:tab pos="354965" algn="l"/>
              </a:tabLst>
            </a:pPr>
            <a:r>
              <a:rPr sz="2800" spc="-30" dirty="0">
                <a:latin typeface="微软雅黑" panose="020B0503020204020204" charset="-122"/>
                <a:cs typeface="微软雅黑" panose="020B0503020204020204" charset="-122"/>
              </a:rPr>
              <a:t>身高</a:t>
            </a:r>
            <a:r>
              <a:rPr sz="2800" spc="-25" dirty="0">
                <a:latin typeface="Arial MT"/>
                <a:cs typeface="Arial MT"/>
              </a:rPr>
              <a:t>1.85m</a:t>
            </a:r>
            <a:r>
              <a:rPr sz="2800" spc="-30" dirty="0">
                <a:latin typeface="微软雅黑" panose="020B0503020204020204" charset="-122"/>
                <a:cs typeface="微软雅黑" panose="020B0503020204020204" charset="-122"/>
              </a:rPr>
              <a:t>，体重</a:t>
            </a:r>
            <a:r>
              <a:rPr sz="2800" spc="-25" dirty="0">
                <a:latin typeface="Arial MT"/>
                <a:cs typeface="Arial MT"/>
              </a:rPr>
              <a:t>100kg</a:t>
            </a:r>
            <a:r>
              <a:rPr sz="2800" spc="-30" dirty="0">
                <a:latin typeface="微软雅黑" panose="020B0503020204020204" charset="-122"/>
                <a:cs typeface="微软雅黑" panose="020B0503020204020204" charset="-122"/>
              </a:rPr>
              <a:t>的男人穿什么尺码的</a:t>
            </a:r>
            <a:r>
              <a:rPr sz="2800" spc="-25" dirty="0">
                <a:latin typeface="Arial MT"/>
                <a:cs typeface="Arial MT"/>
              </a:rPr>
              <a:t>T</a:t>
            </a:r>
            <a:r>
              <a:rPr sz="2800" spc="-40" dirty="0">
                <a:latin typeface="微软雅黑" panose="020B0503020204020204" charset="-122"/>
                <a:cs typeface="微软雅黑" panose="020B0503020204020204" charset="-122"/>
              </a:rPr>
              <a:t>恤？</a:t>
            </a:r>
            <a:endParaRPr sz="2800">
              <a:latin typeface="微软雅黑" panose="020B0503020204020204" charset="-122"/>
              <a:cs typeface="微软雅黑" panose="020B0503020204020204" charset="-122"/>
            </a:endParaRPr>
          </a:p>
          <a:p>
            <a:pPr marL="354965" indent="-342265">
              <a:lnSpc>
                <a:spcPct val="100000"/>
              </a:lnSpc>
              <a:spcBef>
                <a:spcPts val="1680"/>
              </a:spcBef>
              <a:buFont typeface="Wingdings" panose="05000000000000000000"/>
              <a:buChar char=""/>
              <a:tabLst>
                <a:tab pos="354965" algn="l"/>
              </a:tabLst>
            </a:pPr>
            <a:r>
              <a:rPr sz="2800" spc="-35" dirty="0">
                <a:latin typeface="微软雅黑" panose="020B0503020204020204" charset="-122"/>
                <a:cs typeface="微软雅黑" panose="020B0503020204020204" charset="-122"/>
              </a:rPr>
              <a:t>根据肿瘤的体积、患者的年龄来判断良性或恶性？</a:t>
            </a:r>
            <a:endParaRPr sz="2800">
              <a:latin typeface="微软雅黑" panose="020B0503020204020204" charset="-122"/>
              <a:cs typeface="微软雅黑" panose="020B0503020204020204" charset="-122"/>
            </a:endParaRPr>
          </a:p>
          <a:p>
            <a:pPr marL="355600" marR="400050" indent="-342900">
              <a:lnSpc>
                <a:spcPct val="100000"/>
              </a:lnSpc>
              <a:spcBef>
                <a:spcPts val="1680"/>
              </a:spcBef>
              <a:buFont typeface="Wingdings" panose="05000000000000000000"/>
              <a:buChar char=""/>
              <a:tabLst>
                <a:tab pos="355600" algn="l"/>
              </a:tabLst>
            </a:pPr>
            <a:r>
              <a:rPr sz="2800" spc="-35" dirty="0">
                <a:latin typeface="微软雅黑" panose="020B0503020204020204" charset="-122"/>
                <a:cs typeface="微软雅黑" panose="020B0503020204020204" charset="-122"/>
              </a:rPr>
              <a:t>根据用户的年龄、职业、存款数量来判断信用卡是否会违约？</a:t>
            </a:r>
            <a:endParaRPr sz="2800">
              <a:latin typeface="微软雅黑" panose="020B0503020204020204" charset="-122"/>
              <a:cs typeface="微软雅黑" panose="020B0503020204020204" charset="-122"/>
            </a:endParaRPr>
          </a:p>
          <a:p>
            <a:pPr marL="90805">
              <a:lnSpc>
                <a:spcPct val="100000"/>
              </a:lnSpc>
              <a:spcBef>
                <a:spcPts val="1480"/>
              </a:spcBef>
            </a:pPr>
            <a:r>
              <a:rPr sz="2400" spc="-5" dirty="0">
                <a:latin typeface="宋体" panose="02010600030101010101" pitchFamily="2" charset="-122"/>
                <a:cs typeface="宋体" panose="02010600030101010101" pitchFamily="2" charset="-122"/>
              </a:rPr>
              <a:t>输入变量可以是离散的，也可以是连续的。</a:t>
            </a:r>
            <a:endParaRPr sz="24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6725411"/>
            <a:ext cx="12192000" cy="132715"/>
          </a:xfrm>
          <a:custGeom>
            <a:avLst/>
            <a:gdLst/>
            <a:ahLst/>
            <a:cxnLst/>
            <a:rect l="l" t="t" r="r" b="b"/>
            <a:pathLst>
              <a:path w="12192000" h="132715">
                <a:moveTo>
                  <a:pt x="12192000" y="132588"/>
                </a:moveTo>
                <a:lnTo>
                  <a:pt x="0" y="132588"/>
                </a:lnTo>
                <a:lnTo>
                  <a:pt x="0" y="0"/>
                </a:lnTo>
                <a:lnTo>
                  <a:pt x="12192000" y="0"/>
                </a:lnTo>
                <a:lnTo>
                  <a:pt x="12192000" y="132588"/>
                </a:lnTo>
                <a:close/>
              </a:path>
            </a:pathLst>
          </a:custGeom>
          <a:solidFill>
            <a:srgbClr val="4A639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47077" y="251142"/>
            <a:ext cx="18542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分类问题</a:t>
            </a:r>
            <a:endParaRPr spc="-15" dirty="0"/>
          </a:p>
        </p:txBody>
      </p:sp>
      <p:pic>
        <p:nvPicPr>
          <p:cNvPr id="7" name="object 7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047120" y="1930959"/>
            <a:ext cx="4538314" cy="834177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8776348" y="2038451"/>
            <a:ext cx="165163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2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标签离散</a:t>
            </a:r>
            <a:endParaRPr sz="3200"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999744"/>
            <a:ext cx="646430" cy="262255"/>
          </a:xfrm>
          <a:prstGeom prst="rect">
            <a:avLst/>
          </a:prstGeom>
          <a:solidFill>
            <a:srgbClr val="A40020"/>
          </a:solidFill>
        </p:spPr>
        <p:txBody>
          <a:bodyPr vert="horz" wrap="square" lIns="0" tIns="635" rIns="0" bIns="0" rtlCol="0">
            <a:spAutoFit/>
          </a:bodyPr>
          <a:lstStyle/>
          <a:p>
            <a:pPr marL="375285">
              <a:lnSpc>
                <a:spcPct val="100000"/>
              </a:lnSpc>
              <a:spcBef>
                <a:spcPts val="5"/>
              </a:spcBef>
            </a:pPr>
            <a:r>
              <a:rPr sz="1400" b="1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53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0380" y="1343025"/>
            <a:ext cx="11341735" cy="11207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330" marR="5080" indent="-341630">
              <a:lnSpc>
                <a:spcPct val="100000"/>
              </a:lnSpc>
              <a:spcBef>
                <a:spcPts val="105"/>
              </a:spcBef>
              <a:buChar char="•"/>
              <a:tabLst>
                <a:tab pos="354330" algn="l"/>
              </a:tabLst>
            </a:pPr>
            <a:r>
              <a:rPr sz="2400" dirty="0">
                <a:latin typeface="Arial MT"/>
                <a:cs typeface="Arial MT"/>
              </a:rPr>
              <a:t>Logistic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Regression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5" dirty="0">
                <a:latin typeface="宋体" panose="02010600030101010101" pitchFamily="2" charset="-122"/>
                <a:cs typeface="宋体" panose="02010600030101010101" pitchFamily="2" charset="-122"/>
              </a:rPr>
              <a:t>虽然被称为回归，但其实际上是分类模型，并常用于二分类。</a:t>
            </a:r>
            <a:r>
              <a:rPr sz="2400" spc="-5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400" dirty="0">
                <a:latin typeface="Arial MT"/>
                <a:cs typeface="Arial MT"/>
              </a:rPr>
              <a:t>Logistic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Regression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宋体" panose="02010600030101010101" pitchFamily="2" charset="-122"/>
                <a:cs typeface="宋体" panose="02010600030101010101" pitchFamily="2" charset="-122"/>
              </a:rPr>
              <a:t>因其简单、可并行化、可解释强深受工业界喜爱。</a:t>
            </a:r>
            <a:r>
              <a:rPr sz="2400" dirty="0">
                <a:latin typeface="Arial MT"/>
                <a:cs typeface="Arial MT"/>
              </a:rPr>
              <a:t>Logistic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50" dirty="0">
                <a:latin typeface="宋体" panose="02010600030101010101" pitchFamily="2" charset="-122"/>
                <a:cs typeface="宋体" panose="02010600030101010101" pitchFamily="2" charset="-122"/>
              </a:rPr>
              <a:t>回</a:t>
            </a:r>
            <a:r>
              <a:rPr sz="2400" spc="-5" dirty="0">
                <a:latin typeface="宋体" panose="02010600030101010101" pitchFamily="2" charset="-122"/>
                <a:cs typeface="宋体" panose="02010600030101010101" pitchFamily="2" charset="-122"/>
              </a:rPr>
              <a:t>归的本质是：假设数据服从这个分布，然后使用极大似然估计做参数的估计。</a:t>
            </a:r>
            <a:endParaRPr sz="24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47077" y="251142"/>
            <a:ext cx="18542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分类问题</a:t>
            </a:r>
            <a:endParaRPr spc="-15" dirty="0"/>
          </a:p>
        </p:txBody>
      </p:sp>
      <p:pic>
        <p:nvPicPr>
          <p:cNvPr id="5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37743" y="2610653"/>
            <a:ext cx="5639544" cy="411701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100571" y="3136392"/>
            <a:ext cx="5745480" cy="3045460"/>
          </a:xfrm>
          <a:prstGeom prst="rect">
            <a:avLst/>
          </a:prstGeom>
          <a:solidFill>
            <a:srgbClr val="E6E6E6"/>
          </a:solidFill>
        </p:spPr>
        <p:txBody>
          <a:bodyPr vert="horz" wrap="square" lIns="0" tIns="29209" rIns="0" bIns="0" rtlCol="0">
            <a:spAutoFit/>
          </a:bodyPr>
          <a:lstStyle/>
          <a:p>
            <a:pPr marL="90170" marR="83820" algn="just">
              <a:lnSpc>
                <a:spcPct val="100000"/>
              </a:lnSpc>
              <a:spcBef>
                <a:spcPts val="230"/>
              </a:spcBef>
            </a:pPr>
            <a:r>
              <a:rPr sz="2400" spc="45" dirty="0">
                <a:latin typeface="Arial MT"/>
                <a:cs typeface="Arial MT"/>
              </a:rPr>
              <a:t>Logistic</a:t>
            </a:r>
            <a:r>
              <a:rPr sz="2400" spc="125" dirty="0">
                <a:latin typeface="Arial MT"/>
                <a:cs typeface="Arial MT"/>
              </a:rPr>
              <a:t> </a:t>
            </a:r>
            <a:r>
              <a:rPr sz="2400" spc="60" dirty="0">
                <a:latin typeface="宋体" panose="02010600030101010101" pitchFamily="2" charset="-122"/>
                <a:cs typeface="宋体" panose="02010600030101010101" pitchFamily="2" charset="-122"/>
              </a:rPr>
              <a:t>分布是由其位置和尺度参数定义的连续分布。</a:t>
            </a:r>
            <a:r>
              <a:rPr sz="2400" spc="45" dirty="0">
                <a:latin typeface="Arial MT"/>
                <a:cs typeface="Arial MT"/>
              </a:rPr>
              <a:t>Logistic</a:t>
            </a:r>
            <a:r>
              <a:rPr sz="2400" spc="125" dirty="0">
                <a:latin typeface="Arial MT"/>
                <a:cs typeface="Arial MT"/>
              </a:rPr>
              <a:t> </a:t>
            </a:r>
            <a:r>
              <a:rPr sz="2400" spc="55" dirty="0">
                <a:latin typeface="宋体" panose="02010600030101010101" pitchFamily="2" charset="-122"/>
                <a:cs typeface="宋体" panose="02010600030101010101" pitchFamily="2" charset="-122"/>
              </a:rPr>
              <a:t>分布的形状与正态</a:t>
            </a:r>
            <a:r>
              <a:rPr sz="2400" spc="-25" dirty="0">
                <a:latin typeface="宋体" panose="02010600030101010101" pitchFamily="2" charset="-122"/>
                <a:cs typeface="宋体" panose="02010600030101010101" pitchFamily="2" charset="-122"/>
              </a:rPr>
              <a:t>分布的形状相似，但是 </a:t>
            </a:r>
            <a:r>
              <a:rPr sz="2400" spc="20" dirty="0">
                <a:latin typeface="Arial MT"/>
                <a:cs typeface="Arial MT"/>
              </a:rPr>
              <a:t>Logistic</a:t>
            </a:r>
            <a:r>
              <a:rPr sz="2400" spc="65" dirty="0">
                <a:latin typeface="Arial MT"/>
                <a:cs typeface="Arial MT"/>
              </a:rPr>
              <a:t> </a:t>
            </a:r>
            <a:r>
              <a:rPr sz="2400" spc="25" dirty="0">
                <a:latin typeface="宋体" panose="02010600030101010101" pitchFamily="2" charset="-122"/>
                <a:cs typeface="宋体" panose="02010600030101010101" pitchFamily="2" charset="-122"/>
              </a:rPr>
              <a:t>分布的尾</a:t>
            </a:r>
            <a:r>
              <a:rPr sz="2400" spc="-15" dirty="0">
                <a:latin typeface="宋体" panose="02010600030101010101" pitchFamily="2" charset="-122"/>
                <a:cs typeface="宋体" panose="02010600030101010101" pitchFamily="2" charset="-122"/>
              </a:rPr>
              <a:t>部更长，所以我们可以使用 </a:t>
            </a:r>
            <a:r>
              <a:rPr sz="2400" spc="20" dirty="0">
                <a:latin typeface="Arial MT"/>
                <a:cs typeface="Arial MT"/>
              </a:rPr>
              <a:t>Logistic</a:t>
            </a:r>
            <a:r>
              <a:rPr sz="2400" spc="65" dirty="0">
                <a:latin typeface="Arial MT"/>
                <a:cs typeface="Arial MT"/>
              </a:rPr>
              <a:t> </a:t>
            </a:r>
            <a:r>
              <a:rPr sz="2400" spc="15" dirty="0">
                <a:latin typeface="宋体" panose="02010600030101010101" pitchFamily="2" charset="-122"/>
                <a:cs typeface="宋体" panose="02010600030101010101" pitchFamily="2" charset="-122"/>
              </a:rPr>
              <a:t>分布</a:t>
            </a:r>
            <a:r>
              <a:rPr sz="2400" spc="30" dirty="0">
                <a:latin typeface="宋体" panose="02010600030101010101" pitchFamily="2" charset="-122"/>
                <a:cs typeface="宋体" panose="02010600030101010101" pitchFamily="2" charset="-122"/>
              </a:rPr>
              <a:t>来建模比正态分布具有更长尾部和更高波</a:t>
            </a:r>
            <a:r>
              <a:rPr sz="2400" spc="170" dirty="0">
                <a:latin typeface="宋体" panose="02010600030101010101" pitchFamily="2" charset="-122"/>
                <a:cs typeface="宋体" panose="02010600030101010101" pitchFamily="2" charset="-122"/>
              </a:rPr>
              <a:t>峰的数据分布。在深度学习中常用到的</a:t>
            </a:r>
            <a:r>
              <a:rPr sz="240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400" spc="15" dirty="0">
                <a:latin typeface="Arial MT"/>
                <a:cs typeface="Arial MT"/>
              </a:rPr>
              <a:t>Sigmoid</a:t>
            </a:r>
            <a:r>
              <a:rPr sz="2400" spc="65" dirty="0">
                <a:latin typeface="Arial MT"/>
                <a:cs typeface="Arial MT"/>
              </a:rPr>
              <a:t> </a:t>
            </a:r>
            <a:r>
              <a:rPr sz="2400" spc="-75" dirty="0">
                <a:latin typeface="宋体" panose="02010600030101010101" pitchFamily="2" charset="-122"/>
                <a:cs typeface="宋体" panose="02010600030101010101" pitchFamily="2" charset="-122"/>
              </a:rPr>
              <a:t>函数就是 </a:t>
            </a:r>
            <a:r>
              <a:rPr sz="2400" spc="25" dirty="0">
                <a:latin typeface="Arial MT"/>
                <a:cs typeface="Arial MT"/>
              </a:rPr>
              <a:t>Logistic</a:t>
            </a:r>
            <a:r>
              <a:rPr sz="2400" spc="75" dirty="0">
                <a:latin typeface="Arial MT"/>
                <a:cs typeface="Arial MT"/>
              </a:rPr>
              <a:t> </a:t>
            </a:r>
            <a:r>
              <a:rPr sz="2400" spc="30" dirty="0">
                <a:latin typeface="宋体" panose="02010600030101010101" pitchFamily="2" charset="-122"/>
                <a:cs typeface="宋体" panose="02010600030101010101" pitchFamily="2" charset="-122"/>
              </a:rPr>
              <a:t>的分布函数在</a:t>
            </a:r>
            <a:endParaRPr sz="24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90170" algn="just">
              <a:lnSpc>
                <a:spcPts val="2865"/>
              </a:lnSpc>
            </a:pPr>
            <a:r>
              <a:rPr sz="2400" dirty="0">
                <a:latin typeface="Cambria Math" panose="02040503050406030204"/>
                <a:cs typeface="Cambria Math" panose="02040503050406030204"/>
              </a:rPr>
              <a:t>𝑢</a:t>
            </a:r>
            <a:r>
              <a:rPr sz="2400" spc="90" dirty="0">
                <a:latin typeface="Cambria Math" panose="02040503050406030204"/>
                <a:cs typeface="Cambria Math" panose="02040503050406030204"/>
              </a:rPr>
              <a:t> =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0</a:t>
            </a:r>
            <a:r>
              <a:rPr sz="2400" spc="-65" dirty="0">
                <a:latin typeface="Cambria Math" panose="02040503050406030204"/>
                <a:cs typeface="Cambria Math" panose="02040503050406030204"/>
              </a:rPr>
              <a:t>, </a:t>
            </a:r>
            <a:r>
              <a:rPr sz="2400" spc="90" dirty="0">
                <a:latin typeface="Cambria Math" panose="02040503050406030204"/>
                <a:cs typeface="Cambria Math" panose="02040503050406030204"/>
              </a:rPr>
              <a:t> =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2400" spc="13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10" dirty="0">
                <a:latin typeface="宋体" panose="02010600030101010101" pitchFamily="2" charset="-122"/>
                <a:cs typeface="宋体" panose="02010600030101010101" pitchFamily="2" charset="-122"/>
              </a:rPr>
              <a:t>的特殊形式。</a:t>
            </a:r>
            <a:endParaRPr sz="24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999744"/>
            <a:ext cx="646430" cy="262255"/>
          </a:xfrm>
          <a:prstGeom prst="rect">
            <a:avLst/>
          </a:prstGeom>
          <a:solidFill>
            <a:srgbClr val="A40020"/>
          </a:solidFill>
        </p:spPr>
        <p:txBody>
          <a:bodyPr vert="horz" wrap="square" lIns="0" tIns="635" rIns="0" bIns="0" rtlCol="0">
            <a:spAutoFit/>
          </a:bodyPr>
          <a:lstStyle/>
          <a:p>
            <a:pPr marL="375285">
              <a:lnSpc>
                <a:spcPct val="100000"/>
              </a:lnSpc>
              <a:spcBef>
                <a:spcPts val="5"/>
              </a:spcBef>
            </a:pPr>
            <a:r>
              <a:rPr sz="1400" b="1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54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77240" y="1686166"/>
            <a:ext cx="4597400" cy="29133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25" dirty="0">
                <a:latin typeface="微软雅黑" panose="020B0503020204020204" charset="-122"/>
                <a:cs typeface="微软雅黑" panose="020B0503020204020204" charset="-122"/>
              </a:rPr>
              <a:t>二分类</a:t>
            </a:r>
            <a:endParaRPr sz="3200">
              <a:latin typeface="微软雅黑" panose="020B0503020204020204" charset="-122"/>
              <a:cs typeface="微软雅黑" panose="020B0503020204020204" charset="-122"/>
            </a:endParaRPr>
          </a:p>
          <a:p>
            <a:pPr marL="12700" marR="5080">
              <a:lnSpc>
                <a:spcPct val="150000"/>
              </a:lnSpc>
              <a:spcBef>
                <a:spcPts val="1610"/>
              </a:spcBef>
            </a:pPr>
            <a:r>
              <a:rPr sz="2400" spc="-5" dirty="0">
                <a:latin typeface="微软雅黑" panose="020B0503020204020204" charset="-122"/>
                <a:cs typeface="微软雅黑" panose="020B0503020204020204" charset="-122"/>
              </a:rPr>
              <a:t>我们先从用蓝色圆形数据定义为类</a:t>
            </a: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型</a:t>
            </a:r>
            <a:r>
              <a:rPr sz="2400" spc="-10" dirty="0">
                <a:latin typeface="微软雅黑" panose="020B0503020204020204" charset="-122"/>
                <a:cs typeface="微软雅黑" panose="020B0503020204020204" charset="-122"/>
              </a:rPr>
              <a:t>1</a:t>
            </a:r>
            <a:r>
              <a:rPr sz="2400" spc="-5" dirty="0">
                <a:latin typeface="微软雅黑" panose="020B0503020204020204" charset="-122"/>
                <a:cs typeface="微软雅黑" panose="020B0503020204020204" charset="-122"/>
              </a:rPr>
              <a:t>，其余数据为类型</a:t>
            </a:r>
            <a:r>
              <a:rPr sz="2400" spc="-25" dirty="0">
                <a:latin typeface="微软雅黑" panose="020B0503020204020204" charset="-122"/>
                <a:cs typeface="微软雅黑" panose="020B0503020204020204" charset="-122"/>
              </a:rPr>
              <a:t>2；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  <a:p>
            <a:pPr marL="12700" marR="2570480">
              <a:lnSpc>
                <a:spcPct val="150000"/>
              </a:lnSpc>
            </a:pP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只需要分类</a:t>
            </a:r>
            <a:r>
              <a:rPr sz="2400" spc="-25" dirty="0">
                <a:latin typeface="微软雅黑" panose="020B0503020204020204" charset="-122"/>
                <a:cs typeface="微软雅黑" panose="020B0503020204020204" charset="-122"/>
              </a:rPr>
              <a:t>1</a:t>
            </a:r>
            <a:r>
              <a:rPr sz="2400" spc="-50" dirty="0">
                <a:latin typeface="微软雅黑" panose="020B0503020204020204" charset="-122"/>
                <a:cs typeface="微软雅黑" panose="020B0503020204020204" charset="-122"/>
              </a:rPr>
              <a:t>次</a:t>
            </a:r>
            <a:r>
              <a:rPr sz="2400" spc="-1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步骤：①-&gt;②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47077" y="257492"/>
            <a:ext cx="18542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分类问题</a:t>
            </a:r>
            <a:endParaRPr spc="-15" dirty="0"/>
          </a:p>
        </p:txBody>
      </p:sp>
      <p:pic>
        <p:nvPicPr>
          <p:cNvPr id="5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321865" y="2379675"/>
            <a:ext cx="1709013" cy="193078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51981" y="2841574"/>
            <a:ext cx="1599907" cy="133891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506256" y="2017179"/>
            <a:ext cx="2044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微软雅黑" panose="020B0503020204020204" charset="-122"/>
                <a:cs typeface="微软雅黑" panose="020B0503020204020204" charset="-122"/>
              </a:rPr>
              <a:t>1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452216" y="2010574"/>
            <a:ext cx="2044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微软雅黑" panose="020B0503020204020204" charset="-122"/>
                <a:cs typeface="微软雅黑" panose="020B0503020204020204" charset="-122"/>
              </a:rPr>
              <a:t>2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923061" y="4328604"/>
            <a:ext cx="330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微软雅黑" panose="020B0503020204020204" charset="-122"/>
                <a:cs typeface="微软雅黑" panose="020B0503020204020204" charset="-122"/>
              </a:rPr>
              <a:t>①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155265" y="4313720"/>
            <a:ext cx="330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微软雅黑" panose="020B0503020204020204" charset="-122"/>
                <a:cs typeface="微软雅黑" panose="020B0503020204020204" charset="-122"/>
              </a:rPr>
              <a:t>②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697965" y="5317909"/>
            <a:ext cx="939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latin typeface="微软雅黑" panose="020B0503020204020204" charset="-122"/>
                <a:cs typeface="微软雅黑" panose="020B0503020204020204" charset="-122"/>
              </a:rPr>
              <a:t>二分类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999744"/>
            <a:ext cx="646430" cy="262255"/>
          </a:xfrm>
          <a:prstGeom prst="rect">
            <a:avLst/>
          </a:prstGeom>
          <a:solidFill>
            <a:srgbClr val="A40020"/>
          </a:solidFill>
        </p:spPr>
        <p:txBody>
          <a:bodyPr vert="horz" wrap="square" lIns="0" tIns="635" rIns="0" bIns="0" rtlCol="0">
            <a:spAutoFit/>
          </a:bodyPr>
          <a:lstStyle/>
          <a:p>
            <a:pPr marL="375285">
              <a:lnSpc>
                <a:spcPct val="100000"/>
              </a:lnSpc>
              <a:spcBef>
                <a:spcPts val="5"/>
              </a:spcBef>
            </a:pPr>
            <a:r>
              <a:rPr sz="1400" b="1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55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797250" y="2715691"/>
            <a:ext cx="1818005" cy="1758950"/>
            <a:chOff x="9797250" y="2715691"/>
            <a:chExt cx="1818005" cy="1758950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0688383" y="2715691"/>
              <a:ext cx="926337" cy="84708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97250" y="2887471"/>
              <a:ext cx="1708924" cy="158710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876559" y="2774721"/>
              <a:ext cx="206590" cy="21761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028959" y="2927121"/>
              <a:ext cx="206590" cy="39801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145901" y="2816961"/>
              <a:ext cx="206590" cy="21761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245050" y="2982213"/>
              <a:ext cx="206590" cy="21761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245050" y="3217697"/>
              <a:ext cx="206590" cy="21761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826991" y="3079521"/>
              <a:ext cx="206590" cy="21761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876559" y="3272777"/>
              <a:ext cx="206590" cy="21761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087430" y="3327857"/>
              <a:ext cx="206590" cy="21761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795139" y="2917863"/>
              <a:ext cx="206590" cy="21761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676420" y="3143834"/>
              <a:ext cx="206590" cy="21761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593590" y="3701097"/>
              <a:ext cx="680021" cy="663600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7716443" y="2725127"/>
            <a:ext cx="1709420" cy="1739900"/>
            <a:chOff x="7716443" y="2725127"/>
            <a:chExt cx="1709420" cy="1739900"/>
          </a:xfrm>
        </p:grpSpPr>
        <p:pic>
          <p:nvPicPr>
            <p:cNvPr id="18" name="object 1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716443" y="2725127"/>
              <a:ext cx="1709000" cy="17399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831759" y="3038005"/>
              <a:ext cx="692442" cy="68775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795753" y="2774721"/>
              <a:ext cx="206590" cy="21761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948153" y="2927121"/>
              <a:ext cx="206590" cy="398018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065094" y="2816961"/>
              <a:ext cx="206590" cy="21761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9164243" y="2982213"/>
              <a:ext cx="206590" cy="217614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9164243" y="3217697"/>
              <a:ext cx="206590" cy="21761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8746172" y="3079521"/>
              <a:ext cx="206590" cy="217614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8795753" y="3272777"/>
              <a:ext cx="206590" cy="217614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9006623" y="3327857"/>
              <a:ext cx="206590" cy="217614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8714333" y="2917863"/>
              <a:ext cx="206590" cy="217614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8595613" y="3143834"/>
              <a:ext cx="206590" cy="217614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8512784" y="3701097"/>
              <a:ext cx="680021" cy="663600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777240" y="1686166"/>
            <a:ext cx="4648200" cy="4559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25" dirty="0">
                <a:latin typeface="微软雅黑" panose="020B0503020204020204" charset="-122"/>
                <a:cs typeface="微软雅黑" panose="020B0503020204020204" charset="-122"/>
              </a:rPr>
              <a:t>多分类</a:t>
            </a:r>
            <a:endParaRPr sz="3200">
              <a:latin typeface="微软雅黑" panose="020B0503020204020204" charset="-122"/>
              <a:cs typeface="微软雅黑" panose="020B0503020204020204" charset="-122"/>
            </a:endParaRPr>
          </a:p>
          <a:p>
            <a:pPr marL="12700" marR="5080">
              <a:lnSpc>
                <a:spcPct val="150000"/>
              </a:lnSpc>
              <a:spcBef>
                <a:spcPts val="1610"/>
              </a:spcBef>
            </a:pP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我们先定义其中一类为类型</a:t>
            </a:r>
            <a:r>
              <a:rPr sz="2400" spc="-10" dirty="0">
                <a:latin typeface="微软雅黑" panose="020B0503020204020204" charset="-122"/>
                <a:cs typeface="微软雅黑" panose="020B0503020204020204" charset="-122"/>
              </a:rPr>
              <a:t>1（</a:t>
            </a:r>
            <a:r>
              <a:rPr sz="2400" spc="-50" dirty="0">
                <a:latin typeface="微软雅黑" panose="020B0503020204020204" charset="-122"/>
                <a:cs typeface="微软雅黑" panose="020B0503020204020204" charset="-122"/>
              </a:rPr>
              <a:t>正</a:t>
            </a: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类），其余数据为负类</a:t>
            </a:r>
            <a:r>
              <a:rPr sz="2400" spc="-10" dirty="0">
                <a:latin typeface="微软雅黑" panose="020B0503020204020204" charset="-122"/>
                <a:cs typeface="微软雅黑" panose="020B0503020204020204" charset="-122"/>
              </a:rPr>
              <a:t>（rest）；</a:t>
            </a: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接下来去掉类型</a:t>
            </a:r>
            <a:r>
              <a:rPr sz="2400" spc="-25" dirty="0">
                <a:latin typeface="微软雅黑" panose="020B0503020204020204" charset="-122"/>
                <a:cs typeface="微软雅黑" panose="020B0503020204020204" charset="-122"/>
              </a:rPr>
              <a:t>1</a:t>
            </a:r>
            <a:r>
              <a:rPr sz="2400" spc="-10" dirty="0">
                <a:latin typeface="微软雅黑" panose="020B0503020204020204" charset="-122"/>
                <a:cs typeface="微软雅黑" panose="020B0503020204020204" charset="-122"/>
              </a:rPr>
              <a:t>数据，剩余部分</a:t>
            </a: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再次进行二分类，分成类型</a:t>
            </a:r>
            <a:r>
              <a:rPr sz="2400" spc="-25" dirty="0">
                <a:latin typeface="微软雅黑" panose="020B0503020204020204" charset="-122"/>
                <a:cs typeface="微软雅黑" panose="020B0503020204020204" charset="-122"/>
              </a:rPr>
              <a:t>2和负</a:t>
            </a: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类；如果有</a:t>
            </a:r>
            <a:r>
              <a:rPr sz="2400" spc="-10" dirty="0">
                <a:latin typeface="Cambria Math" panose="02040503050406030204"/>
                <a:cs typeface="Cambria Math" panose="02040503050406030204"/>
              </a:rPr>
              <a:t>𝑛</a:t>
            </a: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类，那就需要分类</a:t>
            </a:r>
            <a:r>
              <a:rPr sz="2400" spc="-10" dirty="0">
                <a:latin typeface="Cambria Math" panose="02040503050406030204"/>
                <a:cs typeface="Cambria Math" panose="02040503050406030204"/>
              </a:rPr>
              <a:t>𝑛</a:t>
            </a:r>
            <a:r>
              <a:rPr sz="2400" spc="-10" dirty="0">
                <a:latin typeface="微软雅黑" panose="020B0503020204020204" charset="-122"/>
                <a:cs typeface="微软雅黑" panose="020B0503020204020204" charset="-122"/>
              </a:rPr>
              <a:t>-</a:t>
            </a:r>
            <a:r>
              <a:rPr sz="2400" spc="-50" dirty="0">
                <a:latin typeface="微软雅黑" panose="020B0503020204020204" charset="-122"/>
                <a:cs typeface="微软雅黑" panose="020B0503020204020204" charset="-122"/>
              </a:rPr>
              <a:t>1次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400" spc="-25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步骤：①-&gt;②-&gt;③-&gt;……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title"/>
          </p:nvPr>
        </p:nvSpPr>
        <p:spPr>
          <a:xfrm>
            <a:off x="747077" y="257492"/>
            <a:ext cx="18542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分类问题</a:t>
            </a:r>
            <a:endParaRPr spc="-15" dirty="0"/>
          </a:p>
        </p:txBody>
      </p:sp>
      <p:grpSp>
        <p:nvGrpSpPr>
          <p:cNvPr id="33" name="object 33"/>
          <p:cNvGrpSpPr/>
          <p:nvPr/>
        </p:nvGrpSpPr>
        <p:grpSpPr>
          <a:xfrm>
            <a:off x="5905449" y="3021660"/>
            <a:ext cx="1361440" cy="1327150"/>
            <a:chOff x="5905449" y="3021660"/>
            <a:chExt cx="1361440" cy="1327150"/>
          </a:xfrm>
        </p:grpSpPr>
        <p:pic>
          <p:nvPicPr>
            <p:cNvPr id="34" name="object 34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5905449" y="3021660"/>
              <a:ext cx="692442" cy="687755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6586474" y="3684752"/>
              <a:ext cx="680021" cy="663613"/>
            </a:xfrm>
            <a:prstGeom prst="rect">
              <a:avLst/>
            </a:prstGeom>
          </p:spPr>
        </p:pic>
      </p:grpSp>
      <p:grpSp>
        <p:nvGrpSpPr>
          <p:cNvPr id="36" name="object 36"/>
          <p:cNvGrpSpPr/>
          <p:nvPr/>
        </p:nvGrpSpPr>
        <p:grpSpPr>
          <a:xfrm>
            <a:off x="6669303" y="2779300"/>
            <a:ext cx="775335" cy="749935"/>
            <a:chOff x="6669303" y="2779300"/>
            <a:chExt cx="775335" cy="749935"/>
          </a:xfrm>
        </p:grpSpPr>
        <p:pic>
          <p:nvPicPr>
            <p:cNvPr id="37" name="object 37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6890523" y="2779300"/>
              <a:ext cx="164429" cy="175765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7021843" y="2910776"/>
              <a:ext cx="206590" cy="398017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7138784" y="2800616"/>
              <a:ext cx="206590" cy="217614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7237933" y="2965869"/>
              <a:ext cx="206590" cy="217614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7263230" y="3222276"/>
              <a:ext cx="164429" cy="179950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6819862" y="3063176"/>
              <a:ext cx="206590" cy="217614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6869443" y="3256432"/>
              <a:ext cx="206590" cy="217614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7080313" y="3311524"/>
              <a:ext cx="206590" cy="217614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6788023" y="2901530"/>
              <a:ext cx="206590" cy="217614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6669303" y="3127489"/>
              <a:ext cx="206590" cy="217614"/>
            </a:xfrm>
            <a:prstGeom prst="rect">
              <a:avLst/>
            </a:prstGeom>
          </p:spPr>
        </p:pic>
      </p:grpSp>
      <p:sp>
        <p:nvSpPr>
          <p:cNvPr id="47" name="object 47"/>
          <p:cNvSpPr txBox="1"/>
          <p:nvPr/>
        </p:nvSpPr>
        <p:spPr>
          <a:xfrm>
            <a:off x="7900834" y="2171750"/>
            <a:ext cx="2044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微软雅黑" panose="020B0503020204020204" charset="-122"/>
                <a:cs typeface="微软雅黑" panose="020B0503020204020204" charset="-122"/>
              </a:rPr>
              <a:t>1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8671636" y="2187181"/>
            <a:ext cx="5645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微软雅黑" panose="020B0503020204020204" charset="-122"/>
                <a:cs typeface="微软雅黑" panose="020B0503020204020204" charset="-122"/>
              </a:rPr>
              <a:t>rest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8007604" y="2534246"/>
            <a:ext cx="985519" cy="294640"/>
            <a:chOff x="8007604" y="2534246"/>
            <a:chExt cx="985519" cy="294640"/>
          </a:xfrm>
        </p:grpSpPr>
        <p:pic>
          <p:nvPicPr>
            <p:cNvPr id="50" name="object 50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8007604" y="2626652"/>
              <a:ext cx="88785" cy="201701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8904236" y="2534246"/>
              <a:ext cx="88785" cy="201701"/>
            </a:xfrm>
            <a:prstGeom prst="rect">
              <a:avLst/>
            </a:prstGeom>
          </p:spPr>
        </p:pic>
      </p:grpSp>
      <p:sp>
        <p:nvSpPr>
          <p:cNvPr id="52" name="object 52"/>
          <p:cNvSpPr txBox="1"/>
          <p:nvPr/>
        </p:nvSpPr>
        <p:spPr>
          <a:xfrm>
            <a:off x="10053205" y="2185898"/>
            <a:ext cx="2044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微软雅黑" panose="020B0503020204020204" charset="-122"/>
                <a:cs typeface="微软雅黑" panose="020B0503020204020204" charset="-122"/>
              </a:rPr>
              <a:t>1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0951426" y="2173401"/>
            <a:ext cx="2044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微软雅黑" panose="020B0503020204020204" charset="-122"/>
                <a:cs typeface="微软雅黑" panose="020B0503020204020204" charset="-122"/>
              </a:rPr>
              <a:t>2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10120363" y="2514422"/>
            <a:ext cx="985519" cy="294640"/>
            <a:chOff x="10120363" y="2514422"/>
            <a:chExt cx="985519" cy="294640"/>
          </a:xfrm>
        </p:grpSpPr>
        <p:pic>
          <p:nvPicPr>
            <p:cNvPr id="55" name="object 55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10120363" y="2606827"/>
              <a:ext cx="88785" cy="201701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11016996" y="2514422"/>
              <a:ext cx="88773" cy="201714"/>
            </a:xfrm>
            <a:prstGeom prst="rect">
              <a:avLst/>
            </a:prstGeom>
          </p:spPr>
        </p:pic>
      </p:grpSp>
      <p:sp>
        <p:nvSpPr>
          <p:cNvPr id="57" name="object 57"/>
          <p:cNvSpPr txBox="1"/>
          <p:nvPr/>
        </p:nvSpPr>
        <p:spPr>
          <a:xfrm>
            <a:off x="9790086" y="3908374"/>
            <a:ext cx="5645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微软雅黑" panose="020B0503020204020204" charset="-122"/>
                <a:cs typeface="微软雅黑" panose="020B0503020204020204" charset="-122"/>
              </a:rPr>
              <a:t>rest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8" name="object 58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10363886" y="4095902"/>
            <a:ext cx="155831" cy="70954"/>
          </a:xfrm>
          <a:prstGeom prst="rect">
            <a:avLst/>
          </a:prstGeom>
        </p:spPr>
      </p:pic>
      <p:sp>
        <p:nvSpPr>
          <p:cNvPr id="59" name="object 59"/>
          <p:cNvSpPr txBox="1"/>
          <p:nvPr/>
        </p:nvSpPr>
        <p:spPr>
          <a:xfrm>
            <a:off x="6706107" y="4491113"/>
            <a:ext cx="330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微软雅黑" panose="020B0503020204020204" charset="-122"/>
                <a:cs typeface="微软雅黑" panose="020B0503020204020204" charset="-122"/>
              </a:rPr>
              <a:t>①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8549830" y="4468291"/>
            <a:ext cx="330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微软雅黑" panose="020B0503020204020204" charset="-122"/>
                <a:cs typeface="微软雅黑" panose="020B0503020204020204" charset="-122"/>
              </a:rPr>
              <a:t>②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6994614" y="4838090"/>
            <a:ext cx="3632835" cy="935355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2400" b="1" spc="-10" dirty="0">
                <a:latin typeface="Arial" panose="020B0604020202020204"/>
                <a:cs typeface="Arial" panose="020B0604020202020204"/>
              </a:rPr>
              <a:t>One-</a:t>
            </a:r>
            <a:r>
              <a:rPr sz="2400" b="1" spc="-20" dirty="0">
                <a:latin typeface="Arial" panose="020B0604020202020204"/>
                <a:cs typeface="Arial" panose="020B0604020202020204"/>
              </a:rPr>
              <a:t>vs-</a:t>
            </a:r>
            <a:r>
              <a:rPr sz="2400" b="1" dirty="0">
                <a:latin typeface="Arial" panose="020B0604020202020204"/>
                <a:cs typeface="Arial" panose="020B0604020202020204"/>
              </a:rPr>
              <a:t>All</a:t>
            </a:r>
            <a:r>
              <a:rPr sz="2400" b="1" spc="40" dirty="0">
                <a:latin typeface="Arial" panose="020B0604020202020204"/>
                <a:cs typeface="Arial" panose="020B0604020202020204"/>
              </a:rPr>
              <a:t> </a:t>
            </a:r>
            <a:r>
              <a:rPr sz="2400" b="1" spc="-10" dirty="0">
                <a:latin typeface="Arial" panose="020B0604020202020204"/>
                <a:cs typeface="Arial" panose="020B0604020202020204"/>
              </a:rPr>
              <a:t>(One-</a:t>
            </a:r>
            <a:r>
              <a:rPr sz="2400" b="1" spc="-20" dirty="0">
                <a:latin typeface="Arial" panose="020B0604020202020204"/>
                <a:cs typeface="Arial" panose="020B0604020202020204"/>
              </a:rPr>
              <a:t>vs-Rest)</a:t>
            </a:r>
            <a:endParaRPr sz="2400">
              <a:latin typeface="Arial" panose="020B0604020202020204"/>
              <a:cs typeface="Arial" panose="020B0604020202020204"/>
            </a:endParaRPr>
          </a:p>
          <a:p>
            <a:pPr marL="573405">
              <a:lnSpc>
                <a:spcPct val="100000"/>
              </a:lnSpc>
              <a:spcBef>
                <a:spcPts val="700"/>
              </a:spcBef>
            </a:pPr>
            <a:r>
              <a:rPr sz="2400" b="1" spc="-15" dirty="0">
                <a:latin typeface="微软雅黑" panose="020B0503020204020204" charset="-122"/>
                <a:cs typeface="微软雅黑" panose="020B0503020204020204" charset="-122"/>
              </a:rPr>
              <a:t>一对多 </a:t>
            </a:r>
            <a:r>
              <a:rPr sz="2400" b="1" spc="-10" dirty="0">
                <a:latin typeface="Arial" panose="020B0604020202020204"/>
                <a:cs typeface="Arial" panose="020B0604020202020204"/>
              </a:rPr>
              <a:t>(</a:t>
            </a:r>
            <a:r>
              <a:rPr sz="2400" b="1" dirty="0">
                <a:latin typeface="微软雅黑" panose="020B0503020204020204" charset="-122"/>
                <a:cs typeface="微软雅黑" panose="020B0503020204020204" charset="-122"/>
              </a:rPr>
              <a:t>一对余</a:t>
            </a:r>
            <a:r>
              <a:rPr sz="2400" b="1" spc="-50" dirty="0">
                <a:latin typeface="Arial" panose="020B0604020202020204"/>
                <a:cs typeface="Arial" panose="020B0604020202020204"/>
              </a:rPr>
              <a:t>)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10731589" y="4490224"/>
            <a:ext cx="330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微软雅黑" panose="020B0503020204020204" charset="-122"/>
                <a:cs typeface="微软雅黑" panose="020B0503020204020204" charset="-122"/>
              </a:rPr>
              <a:t>③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999744"/>
            <a:ext cx="646430" cy="262255"/>
          </a:xfrm>
          <a:prstGeom prst="rect">
            <a:avLst/>
          </a:prstGeom>
          <a:solidFill>
            <a:srgbClr val="A40020"/>
          </a:solidFill>
        </p:spPr>
        <p:txBody>
          <a:bodyPr vert="horz" wrap="square" lIns="0" tIns="635" rIns="0" bIns="0" rtlCol="0">
            <a:spAutoFit/>
          </a:bodyPr>
          <a:lstStyle/>
          <a:p>
            <a:pPr marL="375285">
              <a:lnSpc>
                <a:spcPct val="100000"/>
              </a:lnSpc>
              <a:spcBef>
                <a:spcPts val="5"/>
              </a:spcBef>
            </a:pPr>
            <a:r>
              <a:rPr sz="1400" b="1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56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5343" y="1539239"/>
            <a:ext cx="5247067" cy="2665871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556259" y="1478280"/>
            <a:ext cx="11557635" cy="5149215"/>
            <a:chOff x="556259" y="1478280"/>
            <a:chExt cx="11557635" cy="514921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02580" y="1478280"/>
              <a:ext cx="6710879" cy="377924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6259" y="5283708"/>
              <a:ext cx="5715000" cy="129575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21068" y="5559551"/>
              <a:ext cx="4876425" cy="1067523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370319" y="6036564"/>
              <a:ext cx="502920" cy="256540"/>
            </a:xfrm>
            <a:custGeom>
              <a:avLst/>
              <a:gdLst/>
              <a:ahLst/>
              <a:cxnLst/>
              <a:rect l="l" t="t" r="r" b="b"/>
              <a:pathLst>
                <a:path w="502920" h="256539">
                  <a:moveTo>
                    <a:pt x="374903" y="256032"/>
                  </a:moveTo>
                  <a:lnTo>
                    <a:pt x="374903" y="192024"/>
                  </a:lnTo>
                  <a:lnTo>
                    <a:pt x="0" y="192024"/>
                  </a:lnTo>
                  <a:lnTo>
                    <a:pt x="0" y="64008"/>
                  </a:lnTo>
                  <a:lnTo>
                    <a:pt x="374903" y="64008"/>
                  </a:lnTo>
                  <a:lnTo>
                    <a:pt x="374903" y="0"/>
                  </a:lnTo>
                  <a:lnTo>
                    <a:pt x="502920" y="128015"/>
                  </a:lnTo>
                  <a:lnTo>
                    <a:pt x="374903" y="256032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357619" y="6024283"/>
              <a:ext cx="528320" cy="280670"/>
            </a:xfrm>
            <a:custGeom>
              <a:avLst/>
              <a:gdLst/>
              <a:ahLst/>
              <a:cxnLst/>
              <a:rect l="l" t="t" r="r" b="b"/>
              <a:pathLst>
                <a:path w="528320" h="280670">
                  <a:moveTo>
                    <a:pt x="375284" y="76479"/>
                  </a:moveTo>
                  <a:lnTo>
                    <a:pt x="375284" y="12661"/>
                  </a:lnTo>
                  <a:lnTo>
                    <a:pt x="375577" y="9956"/>
                  </a:lnTo>
                  <a:lnTo>
                    <a:pt x="387083" y="0"/>
                  </a:lnTo>
                  <a:lnTo>
                    <a:pt x="389441" y="0"/>
                  </a:lnTo>
                  <a:lnTo>
                    <a:pt x="392417" y="762"/>
                  </a:lnTo>
                  <a:lnTo>
                    <a:pt x="394855" y="1981"/>
                  </a:lnTo>
                  <a:lnTo>
                    <a:pt x="396963" y="3682"/>
                  </a:lnTo>
                  <a:lnTo>
                    <a:pt x="405942" y="12661"/>
                  </a:lnTo>
                  <a:lnTo>
                    <a:pt x="400684" y="12661"/>
                  </a:lnTo>
                  <a:lnTo>
                    <a:pt x="379006" y="21640"/>
                  </a:lnTo>
                  <a:lnTo>
                    <a:pt x="400684" y="43319"/>
                  </a:lnTo>
                  <a:lnTo>
                    <a:pt x="400684" y="63779"/>
                  </a:lnTo>
                  <a:lnTo>
                    <a:pt x="387984" y="63779"/>
                  </a:lnTo>
                  <a:lnTo>
                    <a:pt x="375284" y="76479"/>
                  </a:lnTo>
                  <a:close/>
                </a:path>
                <a:path w="528320" h="280670">
                  <a:moveTo>
                    <a:pt x="400684" y="43319"/>
                  </a:moveTo>
                  <a:lnTo>
                    <a:pt x="379006" y="21640"/>
                  </a:lnTo>
                  <a:lnTo>
                    <a:pt x="400684" y="12661"/>
                  </a:lnTo>
                  <a:lnTo>
                    <a:pt x="400684" y="43319"/>
                  </a:lnTo>
                  <a:close/>
                </a:path>
                <a:path w="528320" h="280670">
                  <a:moveTo>
                    <a:pt x="497662" y="140296"/>
                  </a:moveTo>
                  <a:lnTo>
                    <a:pt x="400684" y="43319"/>
                  </a:lnTo>
                  <a:lnTo>
                    <a:pt x="400684" y="12661"/>
                  </a:lnTo>
                  <a:lnTo>
                    <a:pt x="405942" y="12661"/>
                  </a:lnTo>
                  <a:lnTo>
                    <a:pt x="524598" y="131317"/>
                  </a:lnTo>
                  <a:lnTo>
                    <a:pt x="506641" y="131317"/>
                  </a:lnTo>
                  <a:lnTo>
                    <a:pt x="497662" y="140296"/>
                  </a:lnTo>
                  <a:close/>
                </a:path>
                <a:path w="528320" h="280670">
                  <a:moveTo>
                    <a:pt x="375284" y="216814"/>
                  </a:moveTo>
                  <a:lnTo>
                    <a:pt x="12700" y="216814"/>
                  </a:lnTo>
                  <a:lnTo>
                    <a:pt x="10223" y="216573"/>
                  </a:lnTo>
                  <a:lnTo>
                    <a:pt x="0" y="204114"/>
                  </a:lnTo>
                  <a:lnTo>
                    <a:pt x="0" y="76479"/>
                  </a:lnTo>
                  <a:lnTo>
                    <a:pt x="12700" y="63779"/>
                  </a:lnTo>
                  <a:lnTo>
                    <a:pt x="375284" y="63779"/>
                  </a:lnTo>
                  <a:lnTo>
                    <a:pt x="375284" y="76479"/>
                  </a:lnTo>
                  <a:lnTo>
                    <a:pt x="25400" y="76479"/>
                  </a:lnTo>
                  <a:lnTo>
                    <a:pt x="12700" y="89179"/>
                  </a:lnTo>
                  <a:lnTo>
                    <a:pt x="25400" y="89179"/>
                  </a:lnTo>
                  <a:lnTo>
                    <a:pt x="25400" y="191414"/>
                  </a:lnTo>
                  <a:lnTo>
                    <a:pt x="12700" y="191414"/>
                  </a:lnTo>
                  <a:lnTo>
                    <a:pt x="25400" y="204114"/>
                  </a:lnTo>
                  <a:lnTo>
                    <a:pt x="375284" y="204114"/>
                  </a:lnTo>
                  <a:lnTo>
                    <a:pt x="375284" y="216814"/>
                  </a:lnTo>
                  <a:close/>
                </a:path>
                <a:path w="528320" h="280670">
                  <a:moveTo>
                    <a:pt x="387984" y="89179"/>
                  </a:moveTo>
                  <a:lnTo>
                    <a:pt x="25400" y="89179"/>
                  </a:lnTo>
                  <a:lnTo>
                    <a:pt x="25400" y="76479"/>
                  </a:lnTo>
                  <a:lnTo>
                    <a:pt x="375284" y="76479"/>
                  </a:lnTo>
                  <a:lnTo>
                    <a:pt x="387984" y="63779"/>
                  </a:lnTo>
                  <a:lnTo>
                    <a:pt x="400684" y="63779"/>
                  </a:lnTo>
                  <a:lnTo>
                    <a:pt x="400684" y="76479"/>
                  </a:lnTo>
                  <a:lnTo>
                    <a:pt x="390461" y="88938"/>
                  </a:lnTo>
                  <a:lnTo>
                    <a:pt x="387984" y="89179"/>
                  </a:lnTo>
                  <a:close/>
                </a:path>
                <a:path w="528320" h="280670">
                  <a:moveTo>
                    <a:pt x="25400" y="89179"/>
                  </a:moveTo>
                  <a:lnTo>
                    <a:pt x="12700" y="89179"/>
                  </a:lnTo>
                  <a:lnTo>
                    <a:pt x="25400" y="76479"/>
                  </a:lnTo>
                  <a:lnTo>
                    <a:pt x="25400" y="89179"/>
                  </a:lnTo>
                  <a:close/>
                </a:path>
                <a:path w="528320" h="280670">
                  <a:moveTo>
                    <a:pt x="506641" y="149275"/>
                  </a:moveTo>
                  <a:lnTo>
                    <a:pt x="497662" y="140296"/>
                  </a:lnTo>
                  <a:lnTo>
                    <a:pt x="506641" y="131317"/>
                  </a:lnTo>
                  <a:lnTo>
                    <a:pt x="506641" y="149275"/>
                  </a:lnTo>
                  <a:close/>
                </a:path>
                <a:path w="528320" h="280670">
                  <a:moveTo>
                    <a:pt x="524598" y="149275"/>
                  </a:moveTo>
                  <a:lnTo>
                    <a:pt x="506641" y="149275"/>
                  </a:lnTo>
                  <a:lnTo>
                    <a:pt x="506641" y="131317"/>
                  </a:lnTo>
                  <a:lnTo>
                    <a:pt x="524598" y="131317"/>
                  </a:lnTo>
                  <a:lnTo>
                    <a:pt x="526173" y="133235"/>
                  </a:lnTo>
                  <a:lnTo>
                    <a:pt x="527354" y="135432"/>
                  </a:lnTo>
                  <a:lnTo>
                    <a:pt x="528078" y="137820"/>
                  </a:lnTo>
                  <a:lnTo>
                    <a:pt x="528320" y="140296"/>
                  </a:lnTo>
                  <a:lnTo>
                    <a:pt x="528078" y="142773"/>
                  </a:lnTo>
                  <a:lnTo>
                    <a:pt x="527354" y="145161"/>
                  </a:lnTo>
                  <a:lnTo>
                    <a:pt x="526173" y="147358"/>
                  </a:lnTo>
                  <a:lnTo>
                    <a:pt x="524598" y="149275"/>
                  </a:lnTo>
                  <a:close/>
                </a:path>
                <a:path w="528320" h="280670">
                  <a:moveTo>
                    <a:pt x="405942" y="267931"/>
                  </a:moveTo>
                  <a:lnTo>
                    <a:pt x="400684" y="267931"/>
                  </a:lnTo>
                  <a:lnTo>
                    <a:pt x="400684" y="237274"/>
                  </a:lnTo>
                  <a:lnTo>
                    <a:pt x="497662" y="140296"/>
                  </a:lnTo>
                  <a:lnTo>
                    <a:pt x="506641" y="149275"/>
                  </a:lnTo>
                  <a:lnTo>
                    <a:pt x="524598" y="149275"/>
                  </a:lnTo>
                  <a:lnTo>
                    <a:pt x="405942" y="267931"/>
                  </a:lnTo>
                  <a:close/>
                </a:path>
                <a:path w="528320" h="280670">
                  <a:moveTo>
                    <a:pt x="25400" y="204114"/>
                  </a:moveTo>
                  <a:lnTo>
                    <a:pt x="12700" y="191414"/>
                  </a:lnTo>
                  <a:lnTo>
                    <a:pt x="25400" y="191414"/>
                  </a:lnTo>
                  <a:lnTo>
                    <a:pt x="25400" y="204114"/>
                  </a:lnTo>
                  <a:close/>
                </a:path>
                <a:path w="528320" h="280670">
                  <a:moveTo>
                    <a:pt x="400684" y="216814"/>
                  </a:moveTo>
                  <a:lnTo>
                    <a:pt x="387984" y="216814"/>
                  </a:lnTo>
                  <a:lnTo>
                    <a:pt x="375284" y="204114"/>
                  </a:lnTo>
                  <a:lnTo>
                    <a:pt x="25400" y="204114"/>
                  </a:lnTo>
                  <a:lnTo>
                    <a:pt x="25400" y="191414"/>
                  </a:lnTo>
                  <a:lnTo>
                    <a:pt x="387984" y="191414"/>
                  </a:lnTo>
                  <a:lnTo>
                    <a:pt x="400684" y="204114"/>
                  </a:lnTo>
                  <a:lnTo>
                    <a:pt x="400684" y="216814"/>
                  </a:lnTo>
                  <a:close/>
                </a:path>
                <a:path w="528320" h="280670">
                  <a:moveTo>
                    <a:pt x="389788" y="280504"/>
                  </a:moveTo>
                  <a:lnTo>
                    <a:pt x="386589" y="280504"/>
                  </a:lnTo>
                  <a:lnTo>
                    <a:pt x="384403" y="280111"/>
                  </a:lnTo>
                  <a:lnTo>
                    <a:pt x="375284" y="267931"/>
                  </a:lnTo>
                  <a:lnTo>
                    <a:pt x="375284" y="204114"/>
                  </a:lnTo>
                  <a:lnTo>
                    <a:pt x="387984" y="216814"/>
                  </a:lnTo>
                  <a:lnTo>
                    <a:pt x="400684" y="216814"/>
                  </a:lnTo>
                  <a:lnTo>
                    <a:pt x="400684" y="237274"/>
                  </a:lnTo>
                  <a:lnTo>
                    <a:pt x="379006" y="258952"/>
                  </a:lnTo>
                  <a:lnTo>
                    <a:pt x="400684" y="267931"/>
                  </a:lnTo>
                  <a:lnTo>
                    <a:pt x="405942" y="267931"/>
                  </a:lnTo>
                  <a:lnTo>
                    <a:pt x="396963" y="276910"/>
                  </a:lnTo>
                  <a:lnTo>
                    <a:pt x="394855" y="278612"/>
                  </a:lnTo>
                  <a:lnTo>
                    <a:pt x="392417" y="279831"/>
                  </a:lnTo>
                  <a:lnTo>
                    <a:pt x="389788" y="280504"/>
                  </a:lnTo>
                  <a:close/>
                </a:path>
                <a:path w="528320" h="280670">
                  <a:moveTo>
                    <a:pt x="400684" y="267931"/>
                  </a:moveTo>
                  <a:lnTo>
                    <a:pt x="379006" y="258952"/>
                  </a:lnTo>
                  <a:lnTo>
                    <a:pt x="400684" y="237274"/>
                  </a:lnTo>
                  <a:lnTo>
                    <a:pt x="400684" y="267931"/>
                  </a:lnTo>
                  <a:close/>
                </a:path>
              </a:pathLst>
            </a:custGeom>
            <a:solidFill>
              <a:srgbClr val="88A3A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5378450" y="4032884"/>
              <a:ext cx="6496685" cy="581660"/>
            </a:xfrm>
            <a:custGeom>
              <a:avLst/>
              <a:gdLst/>
              <a:ahLst/>
              <a:cxnLst/>
              <a:rect l="l" t="t" r="r" b="b"/>
              <a:pathLst>
                <a:path w="6496684" h="581660">
                  <a:moveTo>
                    <a:pt x="6483984" y="581660"/>
                  </a:moveTo>
                  <a:lnTo>
                    <a:pt x="12700" y="581660"/>
                  </a:lnTo>
                  <a:lnTo>
                    <a:pt x="10223" y="581418"/>
                  </a:lnTo>
                  <a:lnTo>
                    <a:pt x="0" y="568960"/>
                  </a:lnTo>
                  <a:lnTo>
                    <a:pt x="0" y="12700"/>
                  </a:lnTo>
                  <a:lnTo>
                    <a:pt x="12700" y="0"/>
                  </a:lnTo>
                  <a:lnTo>
                    <a:pt x="6483984" y="0"/>
                  </a:lnTo>
                  <a:lnTo>
                    <a:pt x="6496684" y="12700"/>
                  </a:lnTo>
                  <a:lnTo>
                    <a:pt x="25400" y="12700"/>
                  </a:lnTo>
                  <a:lnTo>
                    <a:pt x="12700" y="25400"/>
                  </a:lnTo>
                  <a:lnTo>
                    <a:pt x="25400" y="25400"/>
                  </a:lnTo>
                  <a:lnTo>
                    <a:pt x="25400" y="556260"/>
                  </a:lnTo>
                  <a:lnTo>
                    <a:pt x="12700" y="556260"/>
                  </a:lnTo>
                  <a:lnTo>
                    <a:pt x="25400" y="568960"/>
                  </a:lnTo>
                  <a:lnTo>
                    <a:pt x="6496684" y="568960"/>
                  </a:lnTo>
                  <a:lnTo>
                    <a:pt x="6496443" y="571436"/>
                  </a:lnTo>
                  <a:lnTo>
                    <a:pt x="6486461" y="581418"/>
                  </a:lnTo>
                  <a:lnTo>
                    <a:pt x="6483984" y="581660"/>
                  </a:lnTo>
                  <a:close/>
                </a:path>
                <a:path w="6496684" h="581660">
                  <a:moveTo>
                    <a:pt x="25400" y="25400"/>
                  </a:moveTo>
                  <a:lnTo>
                    <a:pt x="12700" y="25400"/>
                  </a:lnTo>
                  <a:lnTo>
                    <a:pt x="25400" y="12700"/>
                  </a:lnTo>
                  <a:lnTo>
                    <a:pt x="25400" y="25400"/>
                  </a:lnTo>
                  <a:close/>
                </a:path>
                <a:path w="6496684" h="581660">
                  <a:moveTo>
                    <a:pt x="6471284" y="25400"/>
                  </a:moveTo>
                  <a:lnTo>
                    <a:pt x="25400" y="25400"/>
                  </a:lnTo>
                  <a:lnTo>
                    <a:pt x="25400" y="12700"/>
                  </a:lnTo>
                  <a:lnTo>
                    <a:pt x="6471284" y="12700"/>
                  </a:lnTo>
                  <a:lnTo>
                    <a:pt x="6471284" y="25400"/>
                  </a:lnTo>
                  <a:close/>
                </a:path>
                <a:path w="6496684" h="581660">
                  <a:moveTo>
                    <a:pt x="6471284" y="568960"/>
                  </a:moveTo>
                  <a:lnTo>
                    <a:pt x="6471284" y="12700"/>
                  </a:lnTo>
                  <a:lnTo>
                    <a:pt x="6483984" y="25400"/>
                  </a:lnTo>
                  <a:lnTo>
                    <a:pt x="6496684" y="25400"/>
                  </a:lnTo>
                  <a:lnTo>
                    <a:pt x="6496684" y="556260"/>
                  </a:lnTo>
                  <a:lnTo>
                    <a:pt x="6483984" y="556260"/>
                  </a:lnTo>
                  <a:lnTo>
                    <a:pt x="6471284" y="568960"/>
                  </a:lnTo>
                  <a:close/>
                </a:path>
                <a:path w="6496684" h="581660">
                  <a:moveTo>
                    <a:pt x="6496684" y="25400"/>
                  </a:moveTo>
                  <a:lnTo>
                    <a:pt x="6483984" y="25400"/>
                  </a:lnTo>
                  <a:lnTo>
                    <a:pt x="6471284" y="12700"/>
                  </a:lnTo>
                  <a:lnTo>
                    <a:pt x="6496684" y="12700"/>
                  </a:lnTo>
                  <a:lnTo>
                    <a:pt x="6496684" y="25400"/>
                  </a:lnTo>
                  <a:close/>
                </a:path>
                <a:path w="6496684" h="581660">
                  <a:moveTo>
                    <a:pt x="25400" y="568960"/>
                  </a:moveTo>
                  <a:lnTo>
                    <a:pt x="12700" y="556260"/>
                  </a:lnTo>
                  <a:lnTo>
                    <a:pt x="25400" y="556260"/>
                  </a:lnTo>
                  <a:lnTo>
                    <a:pt x="25400" y="568960"/>
                  </a:lnTo>
                  <a:close/>
                </a:path>
                <a:path w="6496684" h="581660">
                  <a:moveTo>
                    <a:pt x="6471284" y="568960"/>
                  </a:moveTo>
                  <a:lnTo>
                    <a:pt x="25400" y="568960"/>
                  </a:lnTo>
                  <a:lnTo>
                    <a:pt x="25400" y="556260"/>
                  </a:lnTo>
                  <a:lnTo>
                    <a:pt x="6471284" y="556260"/>
                  </a:lnTo>
                  <a:lnTo>
                    <a:pt x="6471284" y="568960"/>
                  </a:lnTo>
                  <a:close/>
                </a:path>
                <a:path w="6496684" h="581660">
                  <a:moveTo>
                    <a:pt x="6496684" y="568960"/>
                  </a:moveTo>
                  <a:lnTo>
                    <a:pt x="6471284" y="568960"/>
                  </a:lnTo>
                  <a:lnTo>
                    <a:pt x="6483984" y="556260"/>
                  </a:lnTo>
                  <a:lnTo>
                    <a:pt x="6496684" y="556260"/>
                  </a:lnTo>
                  <a:lnTo>
                    <a:pt x="6496684" y="56896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747077" y="257492"/>
            <a:ext cx="18542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分类问题</a:t>
            </a:r>
            <a:endParaRPr spc="-15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999744"/>
            <a:ext cx="646430" cy="262255"/>
          </a:xfrm>
          <a:prstGeom prst="rect">
            <a:avLst/>
          </a:prstGeom>
          <a:solidFill>
            <a:srgbClr val="A40020"/>
          </a:solidFill>
        </p:spPr>
        <p:txBody>
          <a:bodyPr vert="horz" wrap="square" lIns="0" tIns="635" rIns="0" bIns="0" rtlCol="0">
            <a:spAutoFit/>
          </a:bodyPr>
          <a:lstStyle/>
          <a:p>
            <a:pPr marL="375285">
              <a:lnSpc>
                <a:spcPct val="100000"/>
              </a:lnSpc>
              <a:spcBef>
                <a:spcPts val="5"/>
              </a:spcBef>
            </a:pPr>
            <a:r>
              <a:rPr sz="1400" b="1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57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47077" y="257492"/>
            <a:ext cx="18542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分类问题</a:t>
            </a:r>
            <a:endParaRPr spc="-15" dirty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687061" y="1391411"/>
            <a:ext cx="4571634" cy="1066800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1524000" y="2534411"/>
            <a:ext cx="7315200" cy="2933065"/>
            <a:chOff x="1524000" y="2534411"/>
            <a:chExt cx="7315200" cy="293306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000" y="2534411"/>
              <a:ext cx="7315200" cy="121884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50136" y="3790187"/>
              <a:ext cx="5105022" cy="1677091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56944" y="5515355"/>
            <a:ext cx="7325103" cy="12291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999744"/>
            <a:ext cx="646430" cy="262255"/>
          </a:xfrm>
          <a:custGeom>
            <a:avLst/>
            <a:gdLst/>
            <a:ahLst/>
            <a:cxnLst/>
            <a:rect l="l" t="t" r="r" b="b"/>
            <a:pathLst>
              <a:path w="646430" h="262255">
                <a:moveTo>
                  <a:pt x="646176" y="262127"/>
                </a:moveTo>
                <a:lnTo>
                  <a:pt x="0" y="262127"/>
                </a:lnTo>
                <a:lnTo>
                  <a:pt x="0" y="0"/>
                </a:lnTo>
                <a:lnTo>
                  <a:pt x="646176" y="0"/>
                </a:lnTo>
                <a:lnTo>
                  <a:pt x="646176" y="262127"/>
                </a:lnTo>
                <a:close/>
              </a:path>
            </a:pathLst>
          </a:custGeom>
          <a:solidFill>
            <a:srgbClr val="A400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02563" y="996696"/>
            <a:ext cx="11489690" cy="262255"/>
          </a:xfrm>
          <a:custGeom>
            <a:avLst/>
            <a:gdLst/>
            <a:ahLst/>
            <a:cxnLst/>
            <a:rect l="l" t="t" r="r" b="b"/>
            <a:pathLst>
              <a:path w="11489690" h="262255">
                <a:moveTo>
                  <a:pt x="11489436" y="262127"/>
                </a:moveTo>
                <a:lnTo>
                  <a:pt x="0" y="262127"/>
                </a:lnTo>
                <a:lnTo>
                  <a:pt x="0" y="0"/>
                </a:lnTo>
                <a:lnTo>
                  <a:pt x="11489436" y="0"/>
                </a:lnTo>
                <a:lnTo>
                  <a:pt x="11489436" y="262127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62902" y="987107"/>
            <a:ext cx="224154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58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496311" y="2660904"/>
            <a:ext cx="6278880" cy="647700"/>
          </a:xfrm>
          <a:custGeom>
            <a:avLst/>
            <a:gdLst/>
            <a:ahLst/>
            <a:cxnLst/>
            <a:rect l="l" t="t" r="r" b="b"/>
            <a:pathLst>
              <a:path w="6278880" h="647700">
                <a:moveTo>
                  <a:pt x="6143244" y="647700"/>
                </a:moveTo>
                <a:lnTo>
                  <a:pt x="0" y="647700"/>
                </a:lnTo>
                <a:lnTo>
                  <a:pt x="0" y="135636"/>
                </a:lnTo>
                <a:lnTo>
                  <a:pt x="7092" y="92668"/>
                </a:lnTo>
                <a:lnTo>
                  <a:pt x="26436" y="55387"/>
                </a:lnTo>
                <a:lnTo>
                  <a:pt x="55798" y="26025"/>
                </a:lnTo>
                <a:lnTo>
                  <a:pt x="92943" y="6817"/>
                </a:lnTo>
                <a:lnTo>
                  <a:pt x="135636" y="0"/>
                </a:lnTo>
                <a:lnTo>
                  <a:pt x="6278880" y="0"/>
                </a:lnTo>
                <a:lnTo>
                  <a:pt x="6278880" y="512064"/>
                </a:lnTo>
                <a:lnTo>
                  <a:pt x="6272117" y="554835"/>
                </a:lnTo>
                <a:lnTo>
                  <a:pt x="6252937" y="592020"/>
                </a:lnTo>
                <a:lnTo>
                  <a:pt x="6223575" y="621382"/>
                </a:lnTo>
                <a:lnTo>
                  <a:pt x="6186265" y="640687"/>
                </a:lnTo>
                <a:lnTo>
                  <a:pt x="6143244" y="647700"/>
                </a:lnTo>
                <a:close/>
              </a:path>
            </a:pathLst>
          </a:custGeom>
          <a:solidFill>
            <a:srgbClr val="1352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47077" y="257492"/>
            <a:ext cx="31242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>
                <a:latin typeface="Arial" panose="020B0604020202020204"/>
                <a:cs typeface="Arial" panose="020B0604020202020204"/>
              </a:rPr>
              <a:t>2.Sigmoid</a:t>
            </a:r>
            <a:r>
              <a:rPr spc="-25" dirty="0"/>
              <a:t>函数</a:t>
            </a:r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2989808" y="1612176"/>
            <a:ext cx="4506595" cy="3301365"/>
          </a:xfrm>
          <a:prstGeom prst="rect">
            <a:avLst/>
          </a:prstGeom>
        </p:spPr>
        <p:txBody>
          <a:bodyPr vert="horz" wrap="square" lIns="0" tIns="286385" rIns="0" bIns="0" rtlCol="0">
            <a:spAutoFit/>
          </a:bodyPr>
          <a:lstStyle/>
          <a:p>
            <a:pPr marL="762635" indent="-749935">
              <a:lnSpc>
                <a:spcPct val="100000"/>
              </a:lnSpc>
              <a:spcBef>
                <a:spcPts val="2255"/>
              </a:spcBef>
              <a:buFont typeface="Impact" panose="020B0806030902050204"/>
              <a:buAutoNum type="arabicPeriod"/>
              <a:tabLst>
                <a:tab pos="762635" algn="l"/>
              </a:tabLst>
            </a:pPr>
            <a:r>
              <a:rPr sz="3600" spc="-15" dirty="0">
                <a:latin typeface="微软雅黑" panose="020B0503020204020204" charset="-122"/>
                <a:cs typeface="微软雅黑" panose="020B0503020204020204" charset="-122"/>
              </a:rPr>
              <a:t>分类问题</a:t>
            </a:r>
            <a:endParaRPr sz="3600">
              <a:latin typeface="微软雅黑" panose="020B0503020204020204" charset="-122"/>
              <a:cs typeface="微软雅黑" panose="020B0503020204020204" charset="-122"/>
            </a:endParaRPr>
          </a:p>
          <a:p>
            <a:pPr marL="808990" indent="-796290">
              <a:lnSpc>
                <a:spcPct val="100000"/>
              </a:lnSpc>
              <a:spcBef>
                <a:spcPts val="2160"/>
              </a:spcBef>
              <a:buAutoNum type="arabicPeriod"/>
              <a:tabLst>
                <a:tab pos="808990" algn="l"/>
              </a:tabLst>
            </a:pPr>
            <a:r>
              <a:rPr sz="3600" spc="-20" dirty="0">
                <a:solidFill>
                  <a:srgbClr val="FFFFFF"/>
                </a:solidFill>
                <a:latin typeface="Impact" panose="020B0806030902050204"/>
                <a:cs typeface="Impact" panose="020B0806030902050204"/>
              </a:rPr>
              <a:t>Sigmoid</a:t>
            </a:r>
            <a:r>
              <a:rPr sz="3600" spc="-2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函数</a:t>
            </a:r>
            <a:endParaRPr sz="3600">
              <a:latin typeface="微软雅黑" panose="020B0503020204020204" charset="-122"/>
              <a:cs typeface="微软雅黑" panose="020B0503020204020204" charset="-122"/>
            </a:endParaRPr>
          </a:p>
          <a:p>
            <a:pPr marL="822325" indent="-809625">
              <a:lnSpc>
                <a:spcPct val="100000"/>
              </a:lnSpc>
              <a:spcBef>
                <a:spcPts val="2100"/>
              </a:spcBef>
              <a:buFont typeface="Impact" panose="020B0806030902050204"/>
              <a:buAutoNum type="arabicPeriod"/>
              <a:tabLst>
                <a:tab pos="822325" algn="l"/>
              </a:tabLst>
            </a:pPr>
            <a:r>
              <a:rPr sz="3600" spc="-10" dirty="0">
                <a:latin typeface="微软雅黑" panose="020B0503020204020204" charset="-122"/>
                <a:cs typeface="微软雅黑" panose="020B0503020204020204" charset="-122"/>
              </a:rPr>
              <a:t>逻辑回归求解</a:t>
            </a:r>
            <a:endParaRPr sz="3600">
              <a:latin typeface="微软雅黑" panose="020B0503020204020204" charset="-122"/>
              <a:cs typeface="微软雅黑" panose="020B0503020204020204" charset="-122"/>
            </a:endParaRPr>
          </a:p>
          <a:p>
            <a:pPr marL="835660" indent="-796290">
              <a:lnSpc>
                <a:spcPct val="100000"/>
              </a:lnSpc>
              <a:spcBef>
                <a:spcPts val="2100"/>
              </a:spcBef>
              <a:buFont typeface="Impact" panose="020B0806030902050204"/>
              <a:buAutoNum type="arabicPeriod"/>
              <a:tabLst>
                <a:tab pos="835660" algn="l"/>
              </a:tabLst>
            </a:pPr>
            <a:r>
              <a:rPr sz="3600" spc="-10" dirty="0">
                <a:latin typeface="微软雅黑" panose="020B0503020204020204" charset="-122"/>
                <a:cs typeface="微软雅黑" panose="020B0503020204020204" charset="-122"/>
              </a:rPr>
              <a:t>逻辑回归代码实现</a:t>
            </a:r>
            <a:endParaRPr sz="3600"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999744"/>
            <a:ext cx="646430" cy="262255"/>
          </a:xfrm>
          <a:prstGeom prst="rect">
            <a:avLst/>
          </a:prstGeom>
          <a:solidFill>
            <a:srgbClr val="A40020"/>
          </a:solidFill>
        </p:spPr>
        <p:txBody>
          <a:bodyPr vert="horz" wrap="square" lIns="0" tIns="635" rIns="0" bIns="0" rtlCol="0">
            <a:spAutoFit/>
          </a:bodyPr>
          <a:lstStyle/>
          <a:p>
            <a:pPr marL="375285">
              <a:lnSpc>
                <a:spcPct val="100000"/>
              </a:lnSpc>
              <a:spcBef>
                <a:spcPts val="5"/>
              </a:spcBef>
            </a:pPr>
            <a:r>
              <a:rPr sz="1400" b="1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59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72427" y="243840"/>
            <a:ext cx="31242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>
                <a:latin typeface="Arial" panose="020B0604020202020204"/>
                <a:cs typeface="Arial" panose="020B0604020202020204"/>
              </a:rPr>
              <a:t>2.Sigmoid</a:t>
            </a:r>
            <a:r>
              <a:rPr spc="-25" dirty="0"/>
              <a:t>函数</a:t>
            </a:r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732713" y="1541894"/>
            <a:ext cx="731329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微软雅黑" panose="020B0503020204020204" charset="-122"/>
                <a:cs typeface="微软雅黑" panose="020B0503020204020204" charset="-122"/>
              </a:rPr>
              <a:t>线性回归的函数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ℎ</a:t>
            </a:r>
            <a:r>
              <a:rPr sz="3600" baseline="200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𝑥</a:t>
            </a:r>
            <a:r>
              <a:rPr sz="3600" spc="112" baseline="2000" dirty="0">
                <a:latin typeface="Cambria Math" panose="02040503050406030204"/>
                <a:cs typeface="Cambria Math" panose="02040503050406030204"/>
              </a:rPr>
              <a:t>) </a:t>
            </a:r>
            <a:r>
              <a:rPr sz="2400" spc="70" dirty="0">
                <a:latin typeface="Cambria Math" panose="02040503050406030204"/>
                <a:cs typeface="Cambria Math" panose="02040503050406030204"/>
              </a:rPr>
              <a:t>=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𝑧</a:t>
            </a:r>
            <a:r>
              <a:rPr sz="2400" spc="90" dirty="0">
                <a:latin typeface="Cambria Math" panose="02040503050406030204"/>
                <a:cs typeface="Cambria Math" panose="02040503050406030204"/>
              </a:rPr>
              <a:t> =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𝑤</a:t>
            </a:r>
            <a:r>
              <a:rPr sz="2625" baseline="27000" dirty="0">
                <a:latin typeface="Cambria Math" panose="02040503050406030204"/>
                <a:cs typeface="Cambria Math" panose="02040503050406030204"/>
              </a:rPr>
              <a:t>𝑇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𝑥</a:t>
            </a: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，范围是</a:t>
            </a:r>
            <a:r>
              <a:rPr sz="2400" spc="-10" dirty="0">
                <a:latin typeface="Cambria Math" panose="02040503050406030204"/>
                <a:cs typeface="Cambria Math" panose="02040503050406030204"/>
              </a:rPr>
              <a:t>(−∞, + ∞)</a:t>
            </a:r>
            <a:r>
              <a:rPr sz="2400" spc="-50" dirty="0">
                <a:latin typeface="微软雅黑" panose="020B0503020204020204" charset="-122"/>
                <a:cs typeface="微软雅黑" panose="020B0503020204020204" charset="-122"/>
              </a:rPr>
              <a:t>。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  <a:p>
            <a:pPr marL="38100">
              <a:lnSpc>
                <a:spcPct val="100000"/>
              </a:lnSpc>
              <a:spcBef>
                <a:spcPts val="2880"/>
              </a:spcBef>
            </a:pP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而分类预测结果需要得到</a:t>
            </a:r>
            <a:r>
              <a:rPr sz="2400" spc="-10" dirty="0">
                <a:latin typeface="Cambria Math" panose="02040503050406030204"/>
                <a:cs typeface="Cambria Math" panose="02040503050406030204"/>
              </a:rPr>
              <a:t>[0,1]</a:t>
            </a:r>
            <a:r>
              <a:rPr sz="2400" spc="-10" dirty="0">
                <a:latin typeface="微软雅黑" panose="020B0503020204020204" charset="-122"/>
                <a:cs typeface="微软雅黑" panose="020B0503020204020204" charset="-122"/>
              </a:rPr>
              <a:t>的概率值。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626649" y="3171939"/>
            <a:ext cx="438784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25" dirty="0">
                <a:latin typeface="Cambria Math" panose="02040503050406030204"/>
                <a:cs typeface="Cambria Math" panose="02040503050406030204"/>
              </a:rPr>
              <a:t>1−𝑝</a:t>
            </a:r>
            <a:endParaRPr sz="17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32713" y="2935719"/>
            <a:ext cx="106622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0318750" algn="l"/>
              </a:tabLst>
            </a:pP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在二分类模型中，事件的几率</a:t>
            </a:r>
            <a:r>
              <a:rPr sz="2400" spc="-20" dirty="0">
                <a:latin typeface="微软雅黑" panose="020B0503020204020204" charset="-122"/>
                <a:cs typeface="微软雅黑" panose="020B0503020204020204" charset="-122"/>
              </a:rPr>
              <a:t>odds：</a:t>
            </a: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事件发生与事件不发生的概率之比为</a:t>
            </a:r>
            <a:r>
              <a:rPr sz="2625" u="heavy" spc="225" baseline="44000" dirty="0"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2625" u="heavy" spc="-75" baseline="44000" dirty="0">
                <a:uFill>
                  <a:solidFill>
                    <a:srgbClr val="000000"/>
                  </a:solidFill>
                </a:uFill>
                <a:latin typeface="Cambria Math" panose="02040503050406030204"/>
                <a:cs typeface="Cambria Math" panose="02040503050406030204"/>
              </a:rPr>
              <a:t>𝑝</a:t>
            </a:r>
            <a:r>
              <a:rPr sz="2625" u="heavy" baseline="44000" dirty="0">
                <a:uFill>
                  <a:solidFill>
                    <a:srgbClr val="000000"/>
                  </a:solidFill>
                </a:uFill>
                <a:latin typeface="Cambria Math" panose="02040503050406030204"/>
                <a:cs typeface="Cambria Math" panose="02040503050406030204"/>
              </a:rPr>
              <a:t>	</a:t>
            </a:r>
            <a:r>
              <a:rPr sz="2400" spc="-50" dirty="0">
                <a:latin typeface="微软雅黑" panose="020B0503020204020204" charset="-122"/>
                <a:cs typeface="微软雅黑" panose="020B0503020204020204" charset="-122"/>
              </a:rPr>
              <a:t>，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58113" y="3479279"/>
            <a:ext cx="804672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称为事件的发生比（the</a:t>
            </a:r>
            <a:r>
              <a:rPr sz="2400" spc="-55" dirty="0"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odds</a:t>
            </a:r>
            <a:r>
              <a:rPr sz="2400" spc="-55" dirty="0"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of</a:t>
            </a:r>
            <a:r>
              <a:rPr sz="2400" spc="-55" dirty="0"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experiencing</a:t>
            </a:r>
            <a:r>
              <a:rPr sz="2400" spc="-55" dirty="0"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an</a:t>
            </a:r>
            <a:r>
              <a:rPr sz="2400" spc="-50" dirty="0"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spc="-10" dirty="0">
                <a:latin typeface="微软雅黑" panose="020B0503020204020204" charset="-122"/>
                <a:cs typeface="微软雅黑" panose="020B0503020204020204" charset="-122"/>
              </a:rPr>
              <a:t>event）</a:t>
            </a: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其中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𝑝</a:t>
            </a: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为随机事件发生的概率，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𝑝</a:t>
            </a: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的范围为</a:t>
            </a:r>
            <a:r>
              <a:rPr sz="2400" spc="-10" dirty="0">
                <a:latin typeface="Cambria Math" panose="02040503050406030204"/>
                <a:cs typeface="Cambria Math" panose="02040503050406030204"/>
              </a:rPr>
              <a:t>[0,1]</a:t>
            </a:r>
            <a:r>
              <a:rPr sz="2400" spc="-50" dirty="0">
                <a:latin typeface="微软雅黑" panose="020B0503020204020204" charset="-122"/>
                <a:cs typeface="微软雅黑" panose="020B0503020204020204" charset="-122"/>
              </a:rPr>
              <a:t>。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046018" y="5124031"/>
            <a:ext cx="412750" cy="20320"/>
          </a:xfrm>
          <a:custGeom>
            <a:avLst/>
            <a:gdLst/>
            <a:ahLst/>
            <a:cxnLst/>
            <a:rect l="l" t="t" r="r" b="b"/>
            <a:pathLst>
              <a:path w="412750" h="20320">
                <a:moveTo>
                  <a:pt x="412750" y="20002"/>
                </a:moveTo>
                <a:lnTo>
                  <a:pt x="0" y="20002"/>
                </a:lnTo>
                <a:lnTo>
                  <a:pt x="0" y="0"/>
                </a:lnTo>
                <a:lnTo>
                  <a:pt x="412750" y="0"/>
                </a:lnTo>
                <a:lnTo>
                  <a:pt x="412750" y="200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3033318" y="5139804"/>
            <a:ext cx="438784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25" dirty="0">
                <a:latin typeface="Cambria Math" panose="02040503050406030204"/>
                <a:cs typeface="Cambria Math" panose="02040503050406030204"/>
              </a:rPr>
              <a:t>1−𝑝</a:t>
            </a:r>
            <a:endParaRPr sz="17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32713" y="4903584"/>
            <a:ext cx="37693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2457450" algn="l"/>
                <a:tab pos="2725420" algn="l"/>
              </a:tabLst>
            </a:pP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取对数得到</a:t>
            </a:r>
            <a:r>
              <a:rPr sz="2400" spc="-20" dirty="0">
                <a:latin typeface="微软雅黑" panose="020B0503020204020204" charset="-122"/>
                <a:cs typeface="微软雅黑" panose="020B0503020204020204" charset="-122"/>
              </a:rPr>
              <a:t>：</a:t>
            </a:r>
            <a:r>
              <a:rPr sz="2400" spc="-20" dirty="0">
                <a:latin typeface="Cambria Math" panose="02040503050406030204"/>
                <a:cs typeface="Cambria Math" panose="02040503050406030204"/>
              </a:rPr>
              <a:t>log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2625" spc="-75" baseline="44000" dirty="0">
                <a:latin typeface="Cambria Math" panose="02040503050406030204"/>
                <a:cs typeface="Cambria Math" panose="02040503050406030204"/>
              </a:rPr>
              <a:t>𝑝</a:t>
            </a:r>
            <a:r>
              <a:rPr sz="2625" baseline="440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，而</a:t>
            </a:r>
            <a:r>
              <a:rPr sz="2400" spc="-25" dirty="0">
                <a:latin typeface="Cambria Math" panose="02040503050406030204"/>
                <a:cs typeface="Cambria Math" panose="02040503050406030204"/>
              </a:rPr>
              <a:t>log</a:t>
            </a:r>
            <a:endParaRPr sz="24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646853" y="4808334"/>
            <a:ext cx="149860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50" dirty="0">
                <a:latin typeface="Cambria Math" panose="02040503050406030204"/>
                <a:cs typeface="Cambria Math" panose="02040503050406030204"/>
              </a:rPr>
              <a:t>𝑝</a:t>
            </a:r>
            <a:endParaRPr sz="17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514773" y="5124031"/>
            <a:ext cx="412750" cy="20320"/>
          </a:xfrm>
          <a:custGeom>
            <a:avLst/>
            <a:gdLst/>
            <a:ahLst/>
            <a:cxnLst/>
            <a:rect l="l" t="t" r="r" b="b"/>
            <a:pathLst>
              <a:path w="412750" h="20320">
                <a:moveTo>
                  <a:pt x="412750" y="20002"/>
                </a:moveTo>
                <a:lnTo>
                  <a:pt x="0" y="20002"/>
                </a:lnTo>
                <a:lnTo>
                  <a:pt x="0" y="0"/>
                </a:lnTo>
                <a:lnTo>
                  <a:pt x="412750" y="0"/>
                </a:lnTo>
                <a:lnTo>
                  <a:pt x="412750" y="200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4502073" y="5139804"/>
            <a:ext cx="438784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25" dirty="0">
                <a:latin typeface="Cambria Math" panose="02040503050406030204"/>
                <a:cs typeface="Cambria Math" panose="02040503050406030204"/>
              </a:rPr>
              <a:t>1−𝑝</a:t>
            </a:r>
            <a:endParaRPr sz="17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974513" y="4903584"/>
            <a:ext cx="14712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2400" spc="17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𝑤</a:t>
            </a:r>
            <a:r>
              <a:rPr sz="2625" baseline="27000" dirty="0">
                <a:latin typeface="Cambria Math" panose="02040503050406030204"/>
                <a:cs typeface="Cambria Math" panose="02040503050406030204"/>
              </a:rPr>
              <a:t>𝑇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𝑥</a:t>
            </a:r>
            <a:r>
              <a:rPr sz="2400" spc="17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2400" spc="17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50" dirty="0">
                <a:latin typeface="Cambria Math" panose="02040503050406030204"/>
                <a:cs typeface="Cambria Math" panose="02040503050406030204"/>
              </a:rPr>
              <a:t>𝑧</a:t>
            </a:r>
            <a:endParaRPr sz="24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58113" y="5892279"/>
            <a:ext cx="211201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求解得到：</a:t>
            </a:r>
            <a:r>
              <a:rPr sz="2800" dirty="0">
                <a:latin typeface="Cambria Math" panose="02040503050406030204"/>
                <a:cs typeface="Cambria Math" panose="02040503050406030204"/>
              </a:rPr>
              <a:t>𝑝</a:t>
            </a:r>
            <a:r>
              <a:rPr sz="2800" spc="40" dirty="0">
                <a:latin typeface="Cambria Math" panose="02040503050406030204"/>
                <a:cs typeface="Cambria Math" panose="02040503050406030204"/>
              </a:rPr>
              <a:t> =</a:t>
            </a:r>
            <a:endParaRPr sz="28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956483" y="6146609"/>
            <a:ext cx="1101725" cy="23495"/>
          </a:xfrm>
          <a:custGeom>
            <a:avLst/>
            <a:gdLst/>
            <a:ahLst/>
            <a:cxnLst/>
            <a:rect l="l" t="t" r="r" b="b"/>
            <a:pathLst>
              <a:path w="1101725" h="23495">
                <a:moveTo>
                  <a:pt x="1101724" y="23342"/>
                </a:moveTo>
                <a:lnTo>
                  <a:pt x="0" y="23342"/>
                </a:lnTo>
                <a:lnTo>
                  <a:pt x="0" y="0"/>
                </a:lnTo>
                <a:lnTo>
                  <a:pt x="1101724" y="0"/>
                </a:lnTo>
                <a:lnTo>
                  <a:pt x="1101724" y="2334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2918383" y="5733656"/>
            <a:ext cx="1169035" cy="739140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9525" algn="ctr">
              <a:lnSpc>
                <a:spcPct val="100000"/>
              </a:lnSpc>
              <a:spcBef>
                <a:spcPts val="510"/>
              </a:spcBef>
            </a:pPr>
            <a:r>
              <a:rPr sz="2000" spc="-50" dirty="0">
                <a:latin typeface="Cambria Math" panose="02040503050406030204"/>
                <a:cs typeface="Cambria Math" panose="02040503050406030204"/>
              </a:rPr>
              <a:t>1</a:t>
            </a:r>
            <a:endParaRPr sz="2000">
              <a:latin typeface="Cambria Math" panose="02040503050406030204"/>
              <a:cs typeface="Cambria Math" panose="02040503050406030204"/>
            </a:endParaRPr>
          </a:p>
          <a:p>
            <a:pPr algn="ctr">
              <a:lnSpc>
                <a:spcPct val="100000"/>
              </a:lnSpc>
              <a:spcBef>
                <a:spcPts val="410"/>
              </a:spcBef>
            </a:pPr>
            <a:r>
              <a:rPr sz="3000" spc="-15" baseline="-21000" dirty="0">
                <a:latin typeface="Cambria Math" panose="02040503050406030204"/>
                <a:cs typeface="Cambria Math" panose="02040503050406030204"/>
              </a:rPr>
              <a:t>1+𝑒</a:t>
            </a:r>
            <a:r>
              <a:rPr sz="1650" spc="-1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475" spc="-15" baseline="20000" dirty="0">
                <a:latin typeface="Cambria Math" panose="02040503050406030204"/>
                <a:cs typeface="Cambria Math" panose="02040503050406030204"/>
              </a:rPr>
              <a:t>𝑇</a:t>
            </a:r>
            <a:endParaRPr sz="16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144568" y="5892279"/>
            <a:ext cx="29083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 dirty="0">
                <a:latin typeface="Cambria Math" panose="02040503050406030204"/>
                <a:cs typeface="Cambria Math" panose="02040503050406030204"/>
              </a:rPr>
              <a:t>=</a:t>
            </a:r>
            <a:endParaRPr sz="28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521758" y="6146609"/>
            <a:ext cx="751840" cy="23495"/>
          </a:xfrm>
          <a:custGeom>
            <a:avLst/>
            <a:gdLst/>
            <a:ahLst/>
            <a:cxnLst/>
            <a:rect l="l" t="t" r="r" b="b"/>
            <a:pathLst>
              <a:path w="751839" h="23495">
                <a:moveTo>
                  <a:pt x="751840" y="23342"/>
                </a:moveTo>
                <a:lnTo>
                  <a:pt x="0" y="23342"/>
                </a:lnTo>
                <a:lnTo>
                  <a:pt x="0" y="0"/>
                </a:lnTo>
                <a:lnTo>
                  <a:pt x="751840" y="0"/>
                </a:lnTo>
                <a:lnTo>
                  <a:pt x="751840" y="2334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4483658" y="5703811"/>
            <a:ext cx="819150" cy="79883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0160" algn="ctr">
              <a:lnSpc>
                <a:spcPct val="100000"/>
              </a:lnSpc>
              <a:spcBef>
                <a:spcPts val="745"/>
              </a:spcBef>
            </a:pPr>
            <a:r>
              <a:rPr sz="2000" spc="-50" dirty="0">
                <a:latin typeface="Cambria Math" panose="02040503050406030204"/>
                <a:cs typeface="Cambria Math" panose="02040503050406030204"/>
              </a:rPr>
              <a:t>1</a:t>
            </a:r>
            <a:endParaRPr sz="2000">
              <a:latin typeface="Cambria Math" panose="02040503050406030204"/>
              <a:cs typeface="Cambria Math" panose="02040503050406030204"/>
            </a:endParaRPr>
          </a:p>
          <a:p>
            <a:pPr algn="ctr">
              <a:lnSpc>
                <a:spcPct val="100000"/>
              </a:lnSpc>
              <a:spcBef>
                <a:spcPts val="645"/>
              </a:spcBef>
            </a:pPr>
            <a:r>
              <a:rPr sz="2000" spc="-10" dirty="0">
                <a:latin typeface="Cambria Math" panose="02040503050406030204"/>
                <a:cs typeface="Cambria Math" panose="02040503050406030204"/>
              </a:rPr>
              <a:t>1+𝑒</a:t>
            </a:r>
            <a:r>
              <a:rPr sz="2475" spc="-15" baseline="25000" dirty="0">
                <a:latin typeface="Cambria Math" panose="02040503050406030204"/>
                <a:cs typeface="Cambria Math" panose="02040503050406030204"/>
              </a:rPr>
              <a:t>−𝑧</a:t>
            </a:r>
            <a:endParaRPr sz="2475" baseline="25000">
              <a:latin typeface="Cambria Math" panose="02040503050406030204"/>
              <a:cs typeface="Cambria Math" panose="02040503050406030204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999744"/>
            <a:ext cx="646430" cy="262255"/>
          </a:xfrm>
          <a:prstGeom prst="rect">
            <a:avLst/>
          </a:prstGeom>
          <a:solidFill>
            <a:srgbClr val="A40020"/>
          </a:solidFill>
        </p:spPr>
        <p:txBody>
          <a:bodyPr vert="horz" wrap="square" lIns="0" tIns="635" rIns="0" bIns="0" rtlCol="0">
            <a:spAutoFit/>
          </a:bodyPr>
          <a:lstStyle/>
          <a:p>
            <a:pPr marL="375285">
              <a:lnSpc>
                <a:spcPct val="100000"/>
              </a:lnSpc>
              <a:spcBef>
                <a:spcPts val="5"/>
              </a:spcBef>
            </a:pPr>
            <a:r>
              <a:rPr sz="1400" b="1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60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46772" y="1571231"/>
            <a:ext cx="5611495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微软雅黑" panose="020B0503020204020204" charset="-122"/>
                <a:cs typeface="微软雅黑" panose="020B0503020204020204" charset="-122"/>
              </a:rPr>
              <a:t>Sigmoid</a:t>
            </a:r>
            <a:r>
              <a:rPr sz="2400" b="1" spc="-55" dirty="0">
                <a:latin typeface="微软雅黑" panose="020B0503020204020204" charset="-122"/>
                <a:cs typeface="微软雅黑" panose="020B0503020204020204" charset="-122"/>
              </a:rPr>
              <a:t> 函数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  <a:p>
            <a:pPr marL="12700" marR="5080">
              <a:lnSpc>
                <a:spcPct val="100000"/>
              </a:lnSpc>
              <a:spcBef>
                <a:spcPts val="2160"/>
              </a:spcBef>
            </a:pPr>
            <a:r>
              <a:rPr sz="2400" spc="-20" dirty="0">
                <a:latin typeface="Cambria Math" panose="02040503050406030204"/>
                <a:cs typeface="Cambria Math" panose="02040503050406030204"/>
              </a:rPr>
              <a:t>𝜎</a:t>
            </a:r>
            <a:r>
              <a:rPr sz="3600" spc="-30" baseline="200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2400" spc="-20" dirty="0">
                <a:latin typeface="Cambria Math" panose="02040503050406030204"/>
                <a:cs typeface="Cambria Math" panose="02040503050406030204"/>
              </a:rPr>
              <a:t>𝑧</a:t>
            </a:r>
            <a:r>
              <a:rPr sz="3600" spc="-30" baseline="2000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代表一个常用的逻辑函数</a:t>
            </a:r>
            <a:r>
              <a:rPr sz="2400" spc="-10" dirty="0">
                <a:latin typeface="微软雅黑" panose="020B0503020204020204" charset="-122"/>
                <a:cs typeface="微软雅黑" panose="020B0503020204020204" charset="-122"/>
              </a:rPr>
              <a:t>（</a:t>
            </a:r>
            <a:r>
              <a:rPr sz="2400" spc="-10" dirty="0">
                <a:latin typeface="Cambria" panose="02040503050406030204"/>
                <a:cs typeface="Cambria" panose="02040503050406030204"/>
              </a:rPr>
              <a:t>logistic function</a:t>
            </a:r>
            <a:r>
              <a:rPr sz="2400" spc="-10" dirty="0">
                <a:latin typeface="微软雅黑" panose="020B0503020204020204" charset="-122"/>
                <a:cs typeface="微软雅黑" panose="020B0503020204020204" charset="-122"/>
              </a:rPr>
              <a:t>）</a:t>
            </a: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为</a:t>
            </a:r>
            <a:r>
              <a:rPr sz="2400" spc="-25" dirty="0">
                <a:latin typeface="Cambria Math" panose="02040503050406030204"/>
                <a:cs typeface="Cambria Math" panose="02040503050406030204"/>
              </a:rPr>
              <a:t>𝑆</a:t>
            </a: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形函数（</a:t>
            </a:r>
            <a:r>
              <a:rPr sz="2400" dirty="0">
                <a:latin typeface="Cambria" panose="02040503050406030204"/>
                <a:cs typeface="Cambria" panose="02040503050406030204"/>
              </a:rPr>
              <a:t>Sigmoid</a:t>
            </a:r>
            <a:r>
              <a:rPr sz="2400" spc="-40" dirty="0">
                <a:latin typeface="Cambria" panose="02040503050406030204"/>
                <a:cs typeface="Cambria" panose="02040503050406030204"/>
              </a:rPr>
              <a:t> </a:t>
            </a:r>
            <a:r>
              <a:rPr sz="2400" spc="-10" dirty="0">
                <a:latin typeface="Cambria" panose="02040503050406030204"/>
                <a:cs typeface="Cambria" panose="02040503050406030204"/>
              </a:rPr>
              <a:t>function</a:t>
            </a:r>
            <a:r>
              <a:rPr sz="2400" spc="-10" dirty="0">
                <a:latin typeface="微软雅黑" panose="020B0503020204020204" charset="-122"/>
                <a:cs typeface="微软雅黑" panose="020B0503020204020204" charset="-122"/>
              </a:rPr>
              <a:t>）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46772" y="3280587"/>
            <a:ext cx="25114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则：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𝜎</a:t>
            </a:r>
            <a:r>
              <a:rPr sz="3600" baseline="200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𝑧</a:t>
            </a:r>
            <a:r>
              <a:rPr sz="3600" spc="82" baseline="2000" dirty="0">
                <a:latin typeface="Cambria Math" panose="02040503050406030204"/>
                <a:cs typeface="Cambria Math" panose="02040503050406030204"/>
              </a:rPr>
              <a:t>) </a:t>
            </a:r>
            <a:r>
              <a:rPr sz="2400" spc="55" dirty="0">
                <a:latin typeface="Cambria Math" panose="02040503050406030204"/>
                <a:cs typeface="Cambria Math" panose="02040503050406030204"/>
              </a:rPr>
              <a:t>=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𝑔</a:t>
            </a:r>
            <a:r>
              <a:rPr sz="3600" baseline="200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𝑧</a:t>
            </a:r>
            <a:r>
              <a:rPr sz="3600" spc="82" baseline="2000" dirty="0">
                <a:latin typeface="Cambria Math" panose="02040503050406030204"/>
                <a:cs typeface="Cambria Math" panose="02040503050406030204"/>
              </a:rPr>
              <a:t>) </a:t>
            </a:r>
            <a:r>
              <a:rPr sz="2400" spc="-50" dirty="0">
                <a:latin typeface="Cambria Math" panose="02040503050406030204"/>
                <a:cs typeface="Cambria Math" panose="02040503050406030204"/>
              </a:rPr>
              <a:t>=</a:t>
            </a:r>
            <a:endParaRPr sz="24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530587" y="3501034"/>
            <a:ext cx="650240" cy="20320"/>
          </a:xfrm>
          <a:custGeom>
            <a:avLst/>
            <a:gdLst/>
            <a:ahLst/>
            <a:cxnLst/>
            <a:rect l="l" t="t" r="r" b="b"/>
            <a:pathLst>
              <a:path w="650239" h="20320">
                <a:moveTo>
                  <a:pt x="650239" y="20002"/>
                </a:moveTo>
                <a:lnTo>
                  <a:pt x="0" y="20002"/>
                </a:lnTo>
                <a:lnTo>
                  <a:pt x="0" y="0"/>
                </a:lnTo>
                <a:lnTo>
                  <a:pt x="650239" y="0"/>
                </a:lnTo>
                <a:lnTo>
                  <a:pt x="650239" y="200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492487" y="3120567"/>
            <a:ext cx="718820" cy="688340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7620" algn="ctr">
              <a:lnSpc>
                <a:spcPct val="100000"/>
              </a:lnSpc>
              <a:spcBef>
                <a:spcPts val="610"/>
              </a:spcBef>
            </a:pPr>
            <a:r>
              <a:rPr sz="1750" spc="-50" dirty="0">
                <a:latin typeface="Cambria Math" panose="02040503050406030204"/>
                <a:cs typeface="Cambria Math" panose="02040503050406030204"/>
              </a:rPr>
              <a:t>1</a:t>
            </a:r>
            <a:endParaRPr sz="1750">
              <a:latin typeface="Cambria Math" panose="02040503050406030204"/>
              <a:cs typeface="Cambria Math" panose="02040503050406030204"/>
            </a:endParaRPr>
          </a:p>
          <a:p>
            <a:pPr algn="ctr">
              <a:lnSpc>
                <a:spcPct val="100000"/>
              </a:lnSpc>
              <a:spcBef>
                <a:spcPts val="510"/>
              </a:spcBef>
            </a:pPr>
            <a:r>
              <a:rPr sz="1750" spc="-10" dirty="0">
                <a:latin typeface="Cambria Math" panose="02040503050406030204"/>
                <a:cs typeface="Cambria Math" panose="02040503050406030204"/>
              </a:rPr>
              <a:t>1+𝑒</a:t>
            </a:r>
            <a:r>
              <a:rPr sz="2100" spc="-15" baseline="26000" dirty="0">
                <a:latin typeface="Cambria Math" panose="02040503050406030204"/>
                <a:cs typeface="Cambria Math" panose="02040503050406030204"/>
              </a:rPr>
              <a:t>−𝑧</a:t>
            </a:r>
            <a:endParaRPr sz="2100" baseline="26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46772" y="3984802"/>
            <a:ext cx="5816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微软雅黑" panose="020B0503020204020204" charset="-122"/>
                <a:cs typeface="微软雅黑" panose="020B0503020204020204" charset="-122"/>
              </a:rPr>
              <a:t>合起来，我们得到逻辑回归模型的损失函数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50672" y="3979792"/>
            <a:ext cx="304800" cy="4025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40"/>
              </a:spcBef>
            </a:pPr>
            <a:r>
              <a:rPr sz="2400" spc="-50" dirty="0">
                <a:latin typeface="微软雅黑" panose="020B0503020204020204" charset="-122"/>
                <a:cs typeface="微软雅黑" panose="020B0503020204020204" charset="-122"/>
              </a:rPr>
              <a:t>：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object 9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007575" y="1434954"/>
            <a:ext cx="4755083" cy="326048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7495019" y="4888229"/>
            <a:ext cx="4305935" cy="9855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当</a:t>
            </a:r>
            <a:r>
              <a:rPr sz="2400" spc="-20" dirty="0">
                <a:latin typeface="Cambria Math" panose="02040503050406030204"/>
                <a:cs typeface="Cambria Math" panose="02040503050406030204"/>
              </a:rPr>
              <a:t>𝜎</a:t>
            </a:r>
            <a:r>
              <a:rPr sz="3600" spc="-30" baseline="200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2400" spc="-20" dirty="0">
                <a:latin typeface="Cambria Math" panose="02040503050406030204"/>
                <a:cs typeface="Cambria Math" panose="02040503050406030204"/>
              </a:rPr>
              <a:t>𝑧</a:t>
            </a:r>
            <a:r>
              <a:rPr sz="3600" spc="-30" baseline="2000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大于等于</a:t>
            </a:r>
            <a:r>
              <a:rPr sz="2400" spc="-10" dirty="0">
                <a:latin typeface="Cambria" panose="02040503050406030204"/>
                <a:cs typeface="Cambria" panose="02040503050406030204"/>
              </a:rPr>
              <a:t>0.5</a:t>
            </a:r>
            <a:r>
              <a:rPr sz="2400" spc="-30" dirty="0">
                <a:latin typeface="微软雅黑" panose="020B0503020204020204" charset="-122"/>
                <a:cs typeface="微软雅黑" panose="020B0503020204020204" charset="-122"/>
              </a:rPr>
              <a:t>时，预测 </a:t>
            </a:r>
            <a:r>
              <a:rPr sz="2400" spc="-25" dirty="0">
                <a:latin typeface="Cambria" panose="02040503050406030204"/>
                <a:cs typeface="Cambria" panose="02040503050406030204"/>
              </a:rPr>
              <a:t>y=1</a:t>
            </a:r>
            <a:endParaRPr sz="2400"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当</a:t>
            </a:r>
            <a:r>
              <a:rPr sz="2400" spc="-20" dirty="0">
                <a:latin typeface="Cambria Math" panose="02040503050406030204"/>
                <a:cs typeface="Cambria Math" panose="02040503050406030204"/>
              </a:rPr>
              <a:t>𝜎</a:t>
            </a:r>
            <a:r>
              <a:rPr sz="3600" spc="-30" baseline="200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2400" spc="-20" dirty="0">
                <a:latin typeface="Cambria Math" panose="02040503050406030204"/>
                <a:cs typeface="Cambria Math" panose="02040503050406030204"/>
              </a:rPr>
              <a:t>𝑧</a:t>
            </a:r>
            <a:r>
              <a:rPr sz="3600" spc="-30" baseline="2000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小于</a:t>
            </a:r>
            <a:r>
              <a:rPr sz="2400" spc="-10" dirty="0">
                <a:latin typeface="Cambria" panose="02040503050406030204"/>
                <a:cs typeface="Cambria" panose="02040503050406030204"/>
              </a:rPr>
              <a:t>0.5</a:t>
            </a:r>
            <a:r>
              <a:rPr sz="2400" spc="-30" dirty="0">
                <a:latin typeface="微软雅黑" panose="020B0503020204020204" charset="-122"/>
                <a:cs typeface="微软雅黑" panose="020B0503020204020204" charset="-122"/>
              </a:rPr>
              <a:t>时，预测 </a:t>
            </a:r>
            <a:r>
              <a:rPr sz="2400" spc="-25" dirty="0">
                <a:latin typeface="Cambria" panose="02040503050406030204"/>
                <a:cs typeface="Cambria" panose="02040503050406030204"/>
              </a:rPr>
              <a:t>y=0</a:t>
            </a:r>
            <a:endParaRPr sz="24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775949" y="3185490"/>
            <a:ext cx="166497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Cambria Math" panose="02040503050406030204"/>
                <a:cs typeface="Cambria Math" panose="02040503050406030204"/>
              </a:rPr>
              <a:t>𝑧</a:t>
            </a:r>
            <a:r>
              <a:rPr sz="2800" dirty="0">
                <a:latin typeface="Calibri" panose="020F0502020204030204"/>
                <a:cs typeface="Calibri" panose="020F0502020204030204"/>
              </a:rPr>
              <a:t>=</a:t>
            </a:r>
            <a:r>
              <a:rPr sz="2800" dirty="0">
                <a:latin typeface="Cambria Math" panose="02040503050406030204"/>
                <a:cs typeface="Cambria Math" panose="02040503050406030204"/>
              </a:rPr>
              <a:t>𝑤</a:t>
            </a:r>
            <a:r>
              <a:rPr sz="3000" baseline="28000" dirty="0">
                <a:latin typeface="Cambria Math" panose="02040503050406030204"/>
                <a:cs typeface="Cambria Math" panose="02040503050406030204"/>
              </a:rPr>
              <a:t>𝑇</a:t>
            </a:r>
            <a:r>
              <a:rPr sz="2800" dirty="0">
                <a:latin typeface="Cambria Math" panose="02040503050406030204"/>
                <a:cs typeface="Cambria Math" panose="02040503050406030204"/>
              </a:rPr>
              <a:t>𝑥</a:t>
            </a:r>
            <a:r>
              <a:rPr sz="2800" spc="8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800" dirty="0">
                <a:latin typeface="Cambria Math" panose="02040503050406030204"/>
                <a:cs typeface="Cambria Math" panose="02040503050406030204"/>
              </a:rPr>
              <a:t>+</a:t>
            </a:r>
            <a:r>
              <a:rPr sz="2800" spc="8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800" spc="-50" dirty="0">
                <a:latin typeface="Cambria Math" panose="02040503050406030204"/>
                <a:cs typeface="Cambria Math" panose="02040503050406030204"/>
              </a:rPr>
              <a:t>𝑏</a:t>
            </a:r>
            <a:endParaRPr sz="2800">
              <a:latin typeface="Cambria Math" panose="02040503050406030204"/>
              <a:cs typeface="Cambria Math" panose="02040503050406030204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93888" y="4889500"/>
            <a:ext cx="121920" cy="10539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88728" y="4889500"/>
            <a:ext cx="121920" cy="10539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63983" y="4889500"/>
            <a:ext cx="121919" cy="105397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057897" y="4842712"/>
            <a:ext cx="52012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 panose="02040503050406030204"/>
                <a:cs typeface="Cambria Math" panose="02040503050406030204"/>
              </a:rPr>
              <a:t>𝐿(𝑦,</a:t>
            </a:r>
            <a:r>
              <a:rPr sz="2400" spc="-13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𝑦)</a:t>
            </a:r>
            <a:r>
              <a:rPr sz="2400" spc="14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=−</a:t>
            </a:r>
            <a:r>
              <a:rPr sz="2400" spc="1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𝑦log(𝑦)</a:t>
            </a:r>
            <a:r>
              <a:rPr sz="2400" spc="1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400" spc="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(1</a:t>
            </a:r>
            <a:r>
              <a:rPr sz="2400" spc="1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400" spc="1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𝑦)log(1</a:t>
            </a:r>
            <a:r>
              <a:rPr sz="2400" spc="1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400" spc="1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25" dirty="0">
                <a:latin typeface="Cambria Math" panose="02040503050406030204"/>
                <a:cs typeface="Cambria Math" panose="02040503050406030204"/>
              </a:rPr>
              <a:t>𝑦)</a:t>
            </a:r>
            <a:endParaRPr sz="24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372427" y="243840"/>
            <a:ext cx="31242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>
                <a:latin typeface="Arial" panose="020B0604020202020204"/>
                <a:cs typeface="Arial" panose="020B0604020202020204"/>
              </a:rPr>
              <a:t>2.Sigmoid</a:t>
            </a:r>
            <a:r>
              <a:rPr spc="-25" dirty="0"/>
              <a:t>函数</a:t>
            </a:r>
            <a:endParaRPr spc="-25" dirty="0"/>
          </a:p>
        </p:txBody>
      </p:sp>
      <p:sp>
        <p:nvSpPr>
          <p:cNvPr id="17" name="object 17"/>
          <p:cNvSpPr txBox="1"/>
          <p:nvPr/>
        </p:nvSpPr>
        <p:spPr>
          <a:xfrm>
            <a:off x="438530" y="6452590"/>
            <a:ext cx="1109345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7807325" algn="l"/>
              </a:tabLst>
            </a:pPr>
            <a:r>
              <a:rPr sz="180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注意：若表达式</a:t>
            </a:r>
            <a:r>
              <a:rPr sz="1800" spc="-135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ℎ</a:t>
            </a:r>
            <a:r>
              <a:rPr sz="2700" baseline="2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(</a:t>
            </a:r>
            <a:r>
              <a:rPr sz="18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𝑥</a:t>
            </a:r>
            <a:r>
              <a:rPr sz="2700" baseline="2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)</a:t>
            </a:r>
            <a:r>
              <a:rPr sz="2700" spc="165" baseline="2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=</a:t>
            </a:r>
            <a:r>
              <a:rPr sz="1800" spc="10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𝑧</a:t>
            </a:r>
            <a:r>
              <a:rPr sz="1800" spc="10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=</a:t>
            </a:r>
            <a:r>
              <a:rPr sz="1800" spc="11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𝑤</a:t>
            </a:r>
            <a:r>
              <a:rPr sz="1950" baseline="-15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0</a:t>
            </a:r>
            <a:r>
              <a:rPr sz="1950" spc="277" baseline="-15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+</a:t>
            </a:r>
            <a:r>
              <a:rPr sz="1800" spc="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𝑤</a:t>
            </a:r>
            <a:r>
              <a:rPr sz="1950" baseline="-15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1</a:t>
            </a:r>
            <a:r>
              <a:rPr sz="18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𝑥</a:t>
            </a:r>
            <a:r>
              <a:rPr sz="1950" baseline="-15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1</a:t>
            </a:r>
            <a:r>
              <a:rPr sz="1950" spc="277" baseline="-15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+</a:t>
            </a:r>
            <a:r>
              <a:rPr sz="1800" spc="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𝑤</a:t>
            </a:r>
            <a:r>
              <a:rPr sz="1950" baseline="-15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2</a:t>
            </a:r>
            <a:r>
              <a:rPr sz="18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𝑥</a:t>
            </a:r>
            <a:r>
              <a:rPr sz="1950" baseline="-15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2</a:t>
            </a:r>
            <a:r>
              <a:rPr sz="1950" spc="277" baseline="-15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+</a:t>
            </a:r>
            <a:r>
              <a:rPr sz="1800" spc="1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.</a:t>
            </a:r>
            <a:r>
              <a:rPr sz="1800" spc="-9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.</a:t>
            </a:r>
            <a:r>
              <a:rPr sz="1800" spc="-9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.</a:t>
            </a:r>
            <a:r>
              <a:rPr sz="1800" spc="1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+</a:t>
            </a:r>
            <a:r>
              <a:rPr sz="1800" spc="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1800" spc="6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𝑤</a:t>
            </a:r>
            <a:r>
              <a:rPr sz="1950" spc="89" baseline="-15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𝑛</a:t>
            </a:r>
            <a:r>
              <a:rPr sz="1800" spc="6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𝑥</a:t>
            </a:r>
            <a:r>
              <a:rPr sz="1950" spc="89" baseline="-15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𝑛</a:t>
            </a:r>
            <a:r>
              <a:rPr sz="1950" spc="284" baseline="-15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+</a:t>
            </a:r>
            <a:r>
              <a:rPr sz="1800" spc="1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𝑏</a:t>
            </a:r>
            <a:r>
              <a:rPr sz="1800" spc="10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=</a:t>
            </a:r>
            <a:r>
              <a:rPr sz="1800" spc="10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𝑤</a:t>
            </a:r>
            <a:r>
              <a:rPr sz="1950" baseline="28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𝑇</a:t>
            </a:r>
            <a:r>
              <a:rPr sz="18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𝑥</a:t>
            </a:r>
            <a:r>
              <a:rPr sz="1800" spc="1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+</a:t>
            </a:r>
            <a:r>
              <a:rPr sz="1800" spc="1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1800" spc="-25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𝑏</a:t>
            </a:r>
            <a:r>
              <a:rPr sz="1800" spc="-25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80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	则</a:t>
            </a:r>
            <a:r>
              <a:rPr sz="1800" spc="-2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𝑏</a:t>
            </a:r>
            <a:r>
              <a:rPr sz="180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可以融入到</a:t>
            </a:r>
            <a:r>
              <a:rPr sz="18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𝑤</a:t>
            </a:r>
            <a:r>
              <a:rPr sz="1950" baseline="-15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0</a:t>
            </a:r>
            <a:r>
              <a:rPr sz="200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，</a:t>
            </a:r>
            <a:r>
              <a:rPr sz="2000" spc="-1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即：</a:t>
            </a:r>
            <a:r>
              <a:rPr sz="2000" spc="-1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𝑧</a:t>
            </a:r>
            <a:r>
              <a:rPr sz="2000" spc="-10" dirty="0">
                <a:solidFill>
                  <a:srgbClr val="FF0000"/>
                </a:solidFill>
                <a:latin typeface="Arial MT"/>
                <a:cs typeface="Arial MT"/>
              </a:rPr>
              <a:t>=</a:t>
            </a:r>
            <a:r>
              <a:rPr sz="2000" spc="-1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𝑤</a:t>
            </a:r>
            <a:r>
              <a:rPr sz="2175" spc="-15" baseline="2900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𝑇</a:t>
            </a:r>
            <a:r>
              <a:rPr sz="2000" spc="-10" dirty="0">
                <a:solidFill>
                  <a:srgbClr val="FF0000"/>
                </a:solidFill>
                <a:latin typeface="Cambria Math" panose="02040503050406030204"/>
                <a:cs typeface="Cambria Math" panose="02040503050406030204"/>
              </a:rPr>
              <a:t>𝑥</a:t>
            </a:r>
            <a:endParaRPr sz="2000">
              <a:latin typeface="Cambria Math" panose="02040503050406030204"/>
              <a:cs typeface="Cambria Math" panose="02040503050406030204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999744"/>
            <a:ext cx="646430" cy="262255"/>
          </a:xfrm>
          <a:prstGeom prst="rect">
            <a:avLst/>
          </a:prstGeom>
          <a:solidFill>
            <a:srgbClr val="A40020"/>
          </a:solidFill>
        </p:spPr>
        <p:txBody>
          <a:bodyPr vert="horz" wrap="square" lIns="0" tIns="635" rIns="0" bIns="0" rtlCol="0">
            <a:spAutoFit/>
          </a:bodyPr>
          <a:lstStyle/>
          <a:p>
            <a:pPr marL="375285">
              <a:lnSpc>
                <a:spcPct val="100000"/>
              </a:lnSpc>
              <a:spcBef>
                <a:spcPts val="5"/>
              </a:spcBef>
            </a:pPr>
            <a:r>
              <a:rPr sz="1400" b="1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61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36091" y="1644014"/>
            <a:ext cx="5648325" cy="183832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72427" y="243840"/>
            <a:ext cx="31242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>
                <a:latin typeface="Arial" panose="020B0604020202020204"/>
                <a:cs typeface="Arial" panose="020B0604020202020204"/>
              </a:rPr>
              <a:t>2.Sigmoid</a:t>
            </a:r>
            <a:r>
              <a:rPr spc="-25" dirty="0"/>
              <a:t>函数</a:t>
            </a:r>
            <a:endParaRPr spc="-25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63156" y="2165604"/>
            <a:ext cx="4991100" cy="381609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0891" y="3843558"/>
            <a:ext cx="4648200" cy="1753308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999744"/>
            <a:ext cx="646430" cy="262255"/>
          </a:xfrm>
          <a:prstGeom prst="rect">
            <a:avLst/>
          </a:prstGeom>
          <a:solidFill>
            <a:srgbClr val="A40020"/>
          </a:solidFill>
        </p:spPr>
        <p:txBody>
          <a:bodyPr vert="horz" wrap="square" lIns="0" tIns="635" rIns="0" bIns="0" rtlCol="0">
            <a:spAutoFit/>
          </a:bodyPr>
          <a:lstStyle/>
          <a:p>
            <a:pPr marL="375285">
              <a:lnSpc>
                <a:spcPct val="100000"/>
              </a:lnSpc>
              <a:spcBef>
                <a:spcPts val="5"/>
              </a:spcBef>
            </a:pPr>
            <a:r>
              <a:rPr sz="1400" b="1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62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72427" y="243840"/>
            <a:ext cx="31242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>
                <a:latin typeface="Arial" panose="020B0604020202020204"/>
                <a:cs typeface="Arial" panose="020B0604020202020204"/>
              </a:rPr>
              <a:t>2.Sigmoid</a:t>
            </a:r>
            <a:r>
              <a:rPr spc="-25" dirty="0"/>
              <a:t>函数</a:t>
            </a:r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1275905" y="1695234"/>
            <a:ext cx="35109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将</a:t>
            </a:r>
            <a:r>
              <a:rPr sz="2400" spc="-25" dirty="0">
                <a:latin typeface="Cambria Math" panose="02040503050406030204"/>
                <a:cs typeface="Cambria Math" panose="02040503050406030204"/>
              </a:rPr>
              <a:t>𝑧</a:t>
            </a: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进行逻辑变换：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𝑔</a:t>
            </a:r>
            <a:r>
              <a:rPr sz="3600" baseline="200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𝑧</a:t>
            </a:r>
            <a:r>
              <a:rPr sz="3600" spc="75" baseline="2000" dirty="0">
                <a:latin typeface="Cambria Math" panose="02040503050406030204"/>
                <a:cs typeface="Cambria Math" panose="02040503050406030204"/>
              </a:rPr>
              <a:t>) </a:t>
            </a:r>
            <a:r>
              <a:rPr sz="2400" spc="-50" dirty="0">
                <a:latin typeface="Cambria Math" panose="02040503050406030204"/>
                <a:cs typeface="Cambria Math" panose="02040503050406030204"/>
              </a:rPr>
              <a:t>=</a:t>
            </a:r>
            <a:endParaRPr sz="24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859210" y="1915680"/>
            <a:ext cx="650240" cy="20320"/>
          </a:xfrm>
          <a:custGeom>
            <a:avLst/>
            <a:gdLst/>
            <a:ahLst/>
            <a:cxnLst/>
            <a:rect l="l" t="t" r="r" b="b"/>
            <a:pathLst>
              <a:path w="650239" h="20319">
                <a:moveTo>
                  <a:pt x="650239" y="20002"/>
                </a:moveTo>
                <a:lnTo>
                  <a:pt x="0" y="20002"/>
                </a:lnTo>
                <a:lnTo>
                  <a:pt x="0" y="0"/>
                </a:lnTo>
                <a:lnTo>
                  <a:pt x="650239" y="0"/>
                </a:lnTo>
                <a:lnTo>
                  <a:pt x="650239" y="200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821110" y="1535214"/>
            <a:ext cx="718820" cy="688340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7620" algn="ctr">
              <a:lnSpc>
                <a:spcPct val="100000"/>
              </a:lnSpc>
              <a:spcBef>
                <a:spcPts val="610"/>
              </a:spcBef>
            </a:pPr>
            <a:r>
              <a:rPr sz="1750" spc="-50" dirty="0">
                <a:latin typeface="Cambria Math" panose="02040503050406030204"/>
                <a:cs typeface="Cambria Math" panose="02040503050406030204"/>
              </a:rPr>
              <a:t>1</a:t>
            </a:r>
            <a:endParaRPr sz="1750">
              <a:latin typeface="Cambria Math" panose="02040503050406030204"/>
              <a:cs typeface="Cambria Math" panose="02040503050406030204"/>
            </a:endParaRPr>
          </a:p>
          <a:p>
            <a:pPr algn="ctr">
              <a:lnSpc>
                <a:spcPct val="100000"/>
              </a:lnSpc>
              <a:spcBef>
                <a:spcPts val="510"/>
              </a:spcBef>
            </a:pPr>
            <a:r>
              <a:rPr sz="1750" spc="-10" dirty="0">
                <a:latin typeface="Cambria Math" panose="02040503050406030204"/>
                <a:cs typeface="Cambria Math" panose="02040503050406030204"/>
              </a:rPr>
              <a:t>1+𝑒</a:t>
            </a:r>
            <a:r>
              <a:rPr sz="2100" spc="-15" baseline="26000" dirty="0">
                <a:latin typeface="Cambria Math" panose="02040503050406030204"/>
                <a:cs typeface="Cambria Math" panose="02040503050406030204"/>
              </a:rPr>
              <a:t>−𝑧</a:t>
            </a:r>
            <a:endParaRPr sz="2100" baseline="26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73795" y="2695359"/>
            <a:ext cx="12160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 panose="02040503050406030204"/>
                <a:cs typeface="Cambria Math" panose="02040503050406030204"/>
              </a:rPr>
              <a:t>𝑔′(𝑧)</a:t>
            </a:r>
            <a:r>
              <a:rPr sz="2400" spc="114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2400" spc="114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50" dirty="0">
                <a:latin typeface="Cambria Math" panose="02040503050406030204"/>
                <a:cs typeface="Cambria Math" panose="02040503050406030204"/>
              </a:rPr>
              <a:t>(</a:t>
            </a:r>
            <a:endParaRPr sz="24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427920" y="2915856"/>
            <a:ext cx="976630" cy="20320"/>
          </a:xfrm>
          <a:custGeom>
            <a:avLst/>
            <a:gdLst/>
            <a:ahLst/>
            <a:cxnLst/>
            <a:rect l="l" t="t" r="r" b="b"/>
            <a:pathLst>
              <a:path w="976629" h="20319">
                <a:moveTo>
                  <a:pt x="976629" y="20002"/>
                </a:moveTo>
                <a:lnTo>
                  <a:pt x="0" y="20002"/>
                </a:lnTo>
                <a:lnTo>
                  <a:pt x="0" y="0"/>
                </a:lnTo>
                <a:lnTo>
                  <a:pt x="976629" y="0"/>
                </a:lnTo>
                <a:lnTo>
                  <a:pt x="976629" y="200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3389820" y="2397544"/>
            <a:ext cx="1041400" cy="892810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11430" algn="ctr">
              <a:lnSpc>
                <a:spcPct val="100000"/>
              </a:lnSpc>
              <a:spcBef>
                <a:spcPts val="635"/>
              </a:spcBef>
            </a:pPr>
            <a:r>
              <a:rPr sz="2400" spc="-50" dirty="0">
                <a:latin typeface="Cambria Math" panose="02040503050406030204"/>
                <a:cs typeface="Cambria Math" panose="02040503050406030204"/>
              </a:rPr>
              <a:t>1</a:t>
            </a:r>
            <a:endParaRPr sz="2400">
              <a:latin typeface="Cambria Math" panose="02040503050406030204"/>
              <a:cs typeface="Cambria Math" panose="02040503050406030204"/>
            </a:endParaRPr>
          </a:p>
          <a:p>
            <a:pPr algn="ctr">
              <a:lnSpc>
                <a:spcPct val="100000"/>
              </a:lnSpc>
              <a:spcBef>
                <a:spcPts val="535"/>
              </a:spcBef>
            </a:pPr>
            <a:r>
              <a:rPr sz="2400" dirty="0">
                <a:latin typeface="Cambria Math" panose="02040503050406030204"/>
                <a:cs typeface="Cambria Math" panose="02040503050406030204"/>
              </a:rPr>
              <a:t>1 +</a:t>
            </a:r>
            <a:r>
              <a:rPr sz="2400" spc="1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25" dirty="0">
                <a:latin typeface="Cambria Math" panose="02040503050406030204"/>
                <a:cs typeface="Cambria Math" panose="02040503050406030204"/>
              </a:rPr>
              <a:t>𝑒</a:t>
            </a:r>
            <a:r>
              <a:rPr sz="2625" spc="-37" baseline="27000" dirty="0">
                <a:latin typeface="Cambria Math" panose="02040503050406030204"/>
                <a:cs typeface="Cambria Math" panose="02040503050406030204"/>
              </a:rPr>
              <a:t>−𝑧</a:t>
            </a:r>
            <a:endParaRPr sz="2625" baseline="2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43285" y="2695359"/>
            <a:ext cx="23050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 panose="02040503050406030204"/>
                <a:cs typeface="Cambria Math" panose="02040503050406030204"/>
              </a:rPr>
              <a:t>)′</a:t>
            </a:r>
            <a:endParaRPr sz="24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321240" y="3112554"/>
            <a:ext cx="5073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600" spc="-37" baseline="-21000" dirty="0">
                <a:latin typeface="Cambria Math" panose="02040503050406030204"/>
                <a:cs typeface="Cambria Math" panose="02040503050406030204"/>
              </a:rPr>
              <a:t>𝑒</a:t>
            </a:r>
            <a:r>
              <a:rPr sz="1750" spc="-25" dirty="0">
                <a:latin typeface="Cambria Math" panose="02040503050406030204"/>
                <a:cs typeface="Cambria Math" panose="02040503050406030204"/>
              </a:rPr>
              <a:t>−𝑧</a:t>
            </a:r>
            <a:endParaRPr sz="17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895155" y="3674046"/>
            <a:ext cx="1370330" cy="20320"/>
          </a:xfrm>
          <a:custGeom>
            <a:avLst/>
            <a:gdLst/>
            <a:ahLst/>
            <a:cxnLst/>
            <a:rect l="l" t="t" r="r" b="b"/>
            <a:pathLst>
              <a:path w="1370329" h="20320">
                <a:moveTo>
                  <a:pt x="1370330" y="20002"/>
                </a:moveTo>
                <a:lnTo>
                  <a:pt x="0" y="20002"/>
                </a:lnTo>
                <a:lnTo>
                  <a:pt x="0" y="0"/>
                </a:lnTo>
                <a:lnTo>
                  <a:pt x="1370330" y="0"/>
                </a:lnTo>
                <a:lnTo>
                  <a:pt x="1370330" y="200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825305" y="4500181"/>
            <a:ext cx="1510665" cy="20320"/>
          </a:xfrm>
          <a:custGeom>
            <a:avLst/>
            <a:gdLst/>
            <a:ahLst/>
            <a:cxnLst/>
            <a:rect l="l" t="t" r="r" b="b"/>
            <a:pathLst>
              <a:path w="1510664" h="20320">
                <a:moveTo>
                  <a:pt x="1510665" y="20002"/>
                </a:moveTo>
                <a:lnTo>
                  <a:pt x="0" y="20002"/>
                </a:lnTo>
                <a:lnTo>
                  <a:pt x="0" y="0"/>
                </a:lnTo>
                <a:lnTo>
                  <a:pt x="1510665" y="0"/>
                </a:lnTo>
                <a:lnTo>
                  <a:pt x="1510665" y="200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2461450" y="3666909"/>
            <a:ext cx="1938020" cy="12172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63855" marR="55880" indent="-243205">
              <a:lnSpc>
                <a:spcPts val="3010"/>
              </a:lnSpc>
              <a:spcBef>
                <a:spcPts val="90"/>
              </a:spcBef>
            </a:pPr>
            <a:r>
              <a:rPr sz="3600" baseline="39000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3600" spc="195" baseline="39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(1</a:t>
            </a:r>
            <a:r>
              <a:rPr sz="2400" spc="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+</a:t>
            </a:r>
            <a:r>
              <a:rPr sz="2400" spc="1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20" dirty="0">
                <a:latin typeface="Cambria Math" panose="02040503050406030204"/>
                <a:cs typeface="Cambria Math" panose="02040503050406030204"/>
              </a:rPr>
              <a:t>𝑒</a:t>
            </a:r>
            <a:r>
              <a:rPr sz="2625" spc="-30" baseline="27000" dirty="0">
                <a:latin typeface="Cambria Math" panose="02040503050406030204"/>
                <a:cs typeface="Cambria Math" panose="02040503050406030204"/>
              </a:rPr>
              <a:t>−𝑧</a:t>
            </a:r>
            <a:r>
              <a:rPr sz="2400" spc="-20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2625" spc="-30" baseline="27000" dirty="0">
                <a:latin typeface="Cambria Math" panose="02040503050406030204"/>
                <a:cs typeface="Cambria Math" panose="02040503050406030204"/>
              </a:rPr>
              <a:t>2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2400" spc="1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+</a:t>
            </a:r>
            <a:r>
              <a:rPr sz="2400" spc="1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𝑒</a:t>
            </a:r>
            <a:r>
              <a:rPr sz="2625" baseline="27000" dirty="0">
                <a:latin typeface="Cambria Math" panose="02040503050406030204"/>
                <a:cs typeface="Cambria Math" panose="02040503050406030204"/>
              </a:rPr>
              <a:t>−𝑧</a:t>
            </a:r>
            <a:r>
              <a:rPr sz="2625" spc="375" baseline="27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400" spc="1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50" dirty="0">
                <a:latin typeface="Cambria Math" panose="02040503050406030204"/>
                <a:cs typeface="Cambria Math" panose="02040503050406030204"/>
              </a:rPr>
              <a:t>1</a:t>
            </a:r>
            <a:endParaRPr sz="2400">
              <a:latin typeface="Cambria Math" panose="02040503050406030204"/>
              <a:cs typeface="Cambria Math" panose="02040503050406030204"/>
            </a:endParaRPr>
          </a:p>
          <a:p>
            <a:pPr marL="50800">
              <a:lnSpc>
                <a:spcPct val="100000"/>
              </a:lnSpc>
              <a:spcBef>
                <a:spcPts val="495"/>
              </a:spcBef>
              <a:tabLst>
                <a:tab pos="433705" algn="l"/>
              </a:tabLst>
            </a:pPr>
            <a:r>
              <a:rPr sz="3600" spc="-75" baseline="39000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3600" baseline="390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(1</a:t>
            </a:r>
            <a:r>
              <a:rPr sz="2400" spc="-1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+</a:t>
            </a:r>
            <a:r>
              <a:rPr sz="2400" spc="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10" dirty="0">
                <a:latin typeface="Cambria Math" panose="02040503050406030204"/>
                <a:cs typeface="Cambria Math" panose="02040503050406030204"/>
              </a:rPr>
              <a:t>𝑒</a:t>
            </a:r>
            <a:r>
              <a:rPr sz="2625" spc="-15" baseline="27000" dirty="0">
                <a:latin typeface="Cambria Math" panose="02040503050406030204"/>
                <a:cs typeface="Cambria Math" panose="02040503050406030204"/>
              </a:rPr>
              <a:t>−𝑧</a:t>
            </a:r>
            <a:r>
              <a:rPr sz="2400" spc="-10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2625" spc="-15" baseline="27000" dirty="0">
                <a:latin typeface="Cambria Math" panose="02040503050406030204"/>
                <a:cs typeface="Cambria Math" panose="02040503050406030204"/>
              </a:rPr>
              <a:t>2</a:t>
            </a:r>
            <a:endParaRPr sz="2625" baseline="2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80705" y="5091214"/>
            <a:ext cx="2533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 panose="02040503050406030204"/>
                <a:cs typeface="Cambria Math" panose="02040503050406030204"/>
              </a:rPr>
              <a:t>=</a:t>
            </a:r>
            <a:endParaRPr sz="24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423985" y="4861344"/>
            <a:ext cx="1943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 panose="02040503050406030204"/>
                <a:cs typeface="Cambria Math" panose="02040503050406030204"/>
              </a:rPr>
              <a:t>1</a:t>
            </a:r>
            <a:endParaRPr sz="24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906460" y="5311711"/>
            <a:ext cx="1229360" cy="20320"/>
          </a:xfrm>
          <a:custGeom>
            <a:avLst/>
            <a:gdLst/>
            <a:ahLst/>
            <a:cxnLst/>
            <a:rect l="l" t="t" r="r" b="b"/>
            <a:pathLst>
              <a:path w="1229360" h="20320">
                <a:moveTo>
                  <a:pt x="1229359" y="20002"/>
                </a:moveTo>
                <a:lnTo>
                  <a:pt x="0" y="20002"/>
                </a:lnTo>
                <a:lnTo>
                  <a:pt x="0" y="0"/>
                </a:lnTo>
                <a:lnTo>
                  <a:pt x="1229359" y="0"/>
                </a:lnTo>
                <a:lnTo>
                  <a:pt x="1229359" y="200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3174555" y="5091214"/>
            <a:ext cx="617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 panose="02040503050406030204"/>
                <a:cs typeface="Cambria Math" panose="02040503050406030204"/>
              </a:rPr>
              <a:t>(1</a:t>
            </a:r>
            <a:r>
              <a:rPr sz="2400" spc="-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50" dirty="0">
                <a:latin typeface="Cambria Math" panose="02040503050406030204"/>
                <a:cs typeface="Cambria Math" panose="02040503050406030204"/>
              </a:rPr>
              <a:t>−</a:t>
            </a:r>
            <a:endParaRPr sz="24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365180" y="4861344"/>
            <a:ext cx="1943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 panose="02040503050406030204"/>
                <a:cs typeface="Cambria Math" panose="02040503050406030204"/>
              </a:rPr>
              <a:t>1</a:t>
            </a:r>
            <a:endParaRPr sz="24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847655" y="5311711"/>
            <a:ext cx="1229360" cy="20320"/>
          </a:xfrm>
          <a:custGeom>
            <a:avLst/>
            <a:gdLst/>
            <a:ahLst/>
            <a:cxnLst/>
            <a:rect l="l" t="t" r="r" b="b"/>
            <a:pathLst>
              <a:path w="1229360" h="20320">
                <a:moveTo>
                  <a:pt x="1229360" y="20002"/>
                </a:moveTo>
                <a:lnTo>
                  <a:pt x="0" y="20002"/>
                </a:lnTo>
                <a:lnTo>
                  <a:pt x="0" y="0"/>
                </a:lnTo>
                <a:lnTo>
                  <a:pt x="1229360" y="0"/>
                </a:lnTo>
                <a:lnTo>
                  <a:pt x="1229360" y="200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1855660" y="5295048"/>
            <a:ext cx="32727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1991360" algn="l"/>
              </a:tabLst>
            </a:pPr>
            <a:r>
              <a:rPr sz="2400" dirty="0">
                <a:latin typeface="Cambria Math" panose="02040503050406030204"/>
                <a:cs typeface="Cambria Math" panose="02040503050406030204"/>
              </a:rPr>
              <a:t>(1 +</a:t>
            </a:r>
            <a:r>
              <a:rPr sz="2400" spc="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20" dirty="0">
                <a:latin typeface="Cambria Math" panose="02040503050406030204"/>
                <a:cs typeface="Cambria Math" panose="02040503050406030204"/>
              </a:rPr>
              <a:t>𝑒</a:t>
            </a:r>
            <a:r>
              <a:rPr sz="2625" spc="-30" baseline="27000" dirty="0">
                <a:latin typeface="Cambria Math" panose="02040503050406030204"/>
                <a:cs typeface="Cambria Math" panose="02040503050406030204"/>
              </a:rPr>
              <a:t>−𝑧</a:t>
            </a:r>
            <a:r>
              <a:rPr sz="2400" spc="-20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	(1 +</a:t>
            </a:r>
            <a:r>
              <a:rPr sz="2400" spc="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20" dirty="0">
                <a:latin typeface="Cambria Math" panose="02040503050406030204"/>
                <a:cs typeface="Cambria Math" panose="02040503050406030204"/>
              </a:rPr>
              <a:t>𝑒</a:t>
            </a:r>
            <a:r>
              <a:rPr sz="2625" spc="-30" baseline="27000" dirty="0">
                <a:latin typeface="Cambria Math" panose="02040503050406030204"/>
                <a:cs typeface="Cambria Math" panose="02040503050406030204"/>
              </a:rPr>
              <a:t>−𝑧</a:t>
            </a:r>
            <a:r>
              <a:rPr sz="2400" spc="-20" dirty="0">
                <a:latin typeface="Cambria Math" panose="02040503050406030204"/>
                <a:cs typeface="Cambria Math" panose="02040503050406030204"/>
              </a:rPr>
              <a:t>)</a:t>
            </a:r>
            <a:endParaRPr sz="24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115750" y="5091214"/>
            <a:ext cx="152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 panose="02040503050406030204"/>
                <a:cs typeface="Cambria Math" panose="02040503050406030204"/>
              </a:rPr>
              <a:t>)</a:t>
            </a:r>
            <a:endParaRPr sz="24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274760" y="5674779"/>
            <a:ext cx="22993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2400" spc="114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𝑔(𝑧)(1</a:t>
            </a:r>
            <a:r>
              <a:rPr sz="2400" spc="-1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400" spc="-1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20" dirty="0">
                <a:latin typeface="Cambria Math" panose="02040503050406030204"/>
                <a:cs typeface="Cambria Math" panose="02040503050406030204"/>
              </a:rPr>
              <a:t>𝑔(𝑧))</a:t>
            </a:r>
            <a:endParaRPr sz="2400">
              <a:latin typeface="Cambria Math" panose="02040503050406030204"/>
              <a:cs typeface="Cambria Math" panose="02040503050406030204"/>
            </a:endParaRPr>
          </a:p>
        </p:txBody>
      </p:sp>
      <p:pic>
        <p:nvPicPr>
          <p:cNvPr id="24" name="object 2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858223" y="1971402"/>
            <a:ext cx="4755083" cy="3260489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9008300" y="5346801"/>
            <a:ext cx="6121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0" baseline="-2000" dirty="0">
                <a:latin typeface="Cambria Math" panose="02040503050406030204"/>
                <a:cs typeface="Cambria Math" panose="02040503050406030204"/>
              </a:rPr>
              <a:t>𝑔</a:t>
            </a:r>
            <a:r>
              <a:rPr sz="2400" spc="-2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3600" spc="-30" baseline="-2000" dirty="0">
                <a:latin typeface="Cambria Math" panose="02040503050406030204"/>
                <a:cs typeface="Cambria Math" panose="02040503050406030204"/>
              </a:rPr>
              <a:t>𝑧</a:t>
            </a:r>
            <a:r>
              <a:rPr sz="2400" spc="-20" dirty="0">
                <a:latin typeface="Cambria Math" panose="02040503050406030204"/>
                <a:cs typeface="Cambria Math" panose="02040503050406030204"/>
              </a:rPr>
              <a:t>)</a:t>
            </a:r>
            <a:endParaRPr sz="2400">
              <a:latin typeface="Cambria Math" panose="02040503050406030204"/>
              <a:cs typeface="Cambria Math" panose="02040503050406030204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999744"/>
            <a:ext cx="646430" cy="262255"/>
          </a:xfrm>
          <a:custGeom>
            <a:avLst/>
            <a:gdLst/>
            <a:ahLst/>
            <a:cxnLst/>
            <a:rect l="l" t="t" r="r" b="b"/>
            <a:pathLst>
              <a:path w="646430" h="262255">
                <a:moveTo>
                  <a:pt x="646176" y="262127"/>
                </a:moveTo>
                <a:lnTo>
                  <a:pt x="0" y="262127"/>
                </a:lnTo>
                <a:lnTo>
                  <a:pt x="0" y="0"/>
                </a:lnTo>
                <a:lnTo>
                  <a:pt x="646176" y="0"/>
                </a:lnTo>
                <a:lnTo>
                  <a:pt x="646176" y="262127"/>
                </a:lnTo>
                <a:close/>
              </a:path>
            </a:pathLst>
          </a:custGeom>
          <a:solidFill>
            <a:srgbClr val="A400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02563" y="996696"/>
            <a:ext cx="11489690" cy="262255"/>
          </a:xfrm>
          <a:custGeom>
            <a:avLst/>
            <a:gdLst/>
            <a:ahLst/>
            <a:cxnLst/>
            <a:rect l="l" t="t" r="r" b="b"/>
            <a:pathLst>
              <a:path w="11489690" h="262255">
                <a:moveTo>
                  <a:pt x="11489436" y="262127"/>
                </a:moveTo>
                <a:lnTo>
                  <a:pt x="0" y="262127"/>
                </a:lnTo>
                <a:lnTo>
                  <a:pt x="0" y="0"/>
                </a:lnTo>
                <a:lnTo>
                  <a:pt x="11489436" y="0"/>
                </a:lnTo>
                <a:lnTo>
                  <a:pt x="11489436" y="262127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62902" y="987107"/>
            <a:ext cx="224154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63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154935" y="3517391"/>
            <a:ext cx="6278880" cy="647700"/>
          </a:xfrm>
          <a:custGeom>
            <a:avLst/>
            <a:gdLst/>
            <a:ahLst/>
            <a:cxnLst/>
            <a:rect l="l" t="t" r="r" b="b"/>
            <a:pathLst>
              <a:path w="6278880" h="647700">
                <a:moveTo>
                  <a:pt x="6143244" y="647700"/>
                </a:moveTo>
                <a:lnTo>
                  <a:pt x="0" y="647700"/>
                </a:lnTo>
                <a:lnTo>
                  <a:pt x="0" y="135636"/>
                </a:lnTo>
                <a:lnTo>
                  <a:pt x="7018" y="93077"/>
                </a:lnTo>
                <a:lnTo>
                  <a:pt x="26326" y="55999"/>
                </a:lnTo>
                <a:lnTo>
                  <a:pt x="55688" y="26637"/>
                </a:lnTo>
                <a:lnTo>
                  <a:pt x="92870" y="7226"/>
                </a:lnTo>
                <a:lnTo>
                  <a:pt x="135636" y="0"/>
                </a:lnTo>
                <a:lnTo>
                  <a:pt x="6278880" y="0"/>
                </a:lnTo>
                <a:lnTo>
                  <a:pt x="6278880" y="512063"/>
                </a:lnTo>
                <a:lnTo>
                  <a:pt x="6272043" y="555244"/>
                </a:lnTo>
                <a:lnTo>
                  <a:pt x="6252827" y="592633"/>
                </a:lnTo>
                <a:lnTo>
                  <a:pt x="6223465" y="621994"/>
                </a:lnTo>
                <a:lnTo>
                  <a:pt x="6186192" y="641095"/>
                </a:lnTo>
                <a:lnTo>
                  <a:pt x="6143244" y="647700"/>
                </a:lnTo>
                <a:close/>
              </a:path>
            </a:pathLst>
          </a:custGeom>
          <a:solidFill>
            <a:srgbClr val="1352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latin typeface="Arial" panose="020B0604020202020204"/>
                <a:cs typeface="Arial" panose="020B0604020202020204"/>
              </a:rPr>
              <a:t>3.</a:t>
            </a:r>
            <a:r>
              <a:rPr spc="-10" dirty="0"/>
              <a:t>逻辑回归求解</a:t>
            </a:r>
            <a:endParaRPr spc="-10" dirty="0"/>
          </a:p>
        </p:txBody>
      </p:sp>
      <p:sp>
        <p:nvSpPr>
          <p:cNvPr id="7" name="object 7"/>
          <p:cNvSpPr txBox="1"/>
          <p:nvPr/>
        </p:nvSpPr>
        <p:spPr>
          <a:xfrm>
            <a:off x="2989808" y="1612176"/>
            <a:ext cx="4506595" cy="3301365"/>
          </a:xfrm>
          <a:prstGeom prst="rect">
            <a:avLst/>
          </a:prstGeom>
        </p:spPr>
        <p:txBody>
          <a:bodyPr vert="horz" wrap="square" lIns="0" tIns="286385" rIns="0" bIns="0" rtlCol="0">
            <a:spAutoFit/>
          </a:bodyPr>
          <a:lstStyle/>
          <a:p>
            <a:pPr marL="762635" indent="-749935">
              <a:lnSpc>
                <a:spcPct val="100000"/>
              </a:lnSpc>
              <a:spcBef>
                <a:spcPts val="2255"/>
              </a:spcBef>
              <a:buFont typeface="Impact" panose="020B0806030902050204"/>
              <a:buAutoNum type="arabicPeriod"/>
              <a:tabLst>
                <a:tab pos="762635" algn="l"/>
              </a:tabLst>
            </a:pPr>
            <a:r>
              <a:rPr sz="3600" spc="-15" dirty="0">
                <a:latin typeface="微软雅黑" panose="020B0503020204020204" charset="-122"/>
                <a:cs typeface="微软雅黑" panose="020B0503020204020204" charset="-122"/>
              </a:rPr>
              <a:t>分类问题</a:t>
            </a:r>
            <a:endParaRPr sz="3600">
              <a:latin typeface="微软雅黑" panose="020B0503020204020204" charset="-122"/>
              <a:cs typeface="微软雅黑" panose="020B0503020204020204" charset="-122"/>
            </a:endParaRPr>
          </a:p>
          <a:p>
            <a:pPr marL="808990" indent="-796290">
              <a:lnSpc>
                <a:spcPct val="100000"/>
              </a:lnSpc>
              <a:spcBef>
                <a:spcPts val="2160"/>
              </a:spcBef>
              <a:buAutoNum type="arabicPeriod"/>
              <a:tabLst>
                <a:tab pos="808990" algn="l"/>
              </a:tabLst>
            </a:pPr>
            <a:r>
              <a:rPr sz="3600" spc="-20" dirty="0">
                <a:latin typeface="Impact" panose="020B0806030902050204"/>
                <a:cs typeface="Impact" panose="020B0806030902050204"/>
              </a:rPr>
              <a:t>Sigmoid</a:t>
            </a:r>
            <a:r>
              <a:rPr sz="3600" spc="-25" dirty="0">
                <a:latin typeface="微软雅黑" panose="020B0503020204020204" charset="-122"/>
                <a:cs typeface="微软雅黑" panose="020B0503020204020204" charset="-122"/>
              </a:rPr>
              <a:t>函数</a:t>
            </a:r>
            <a:endParaRPr sz="3600">
              <a:latin typeface="微软雅黑" panose="020B0503020204020204" charset="-122"/>
              <a:cs typeface="微软雅黑" panose="020B0503020204020204" charset="-122"/>
            </a:endParaRPr>
          </a:p>
          <a:p>
            <a:pPr marL="822325" indent="-809625">
              <a:lnSpc>
                <a:spcPct val="100000"/>
              </a:lnSpc>
              <a:spcBef>
                <a:spcPts val="2100"/>
              </a:spcBef>
              <a:buFont typeface="Impact" panose="020B0806030902050204"/>
              <a:buAutoNum type="arabicPeriod"/>
              <a:tabLst>
                <a:tab pos="822325" algn="l"/>
              </a:tabLst>
            </a:pPr>
            <a:r>
              <a:rPr sz="3600" spc="-1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逻辑回归求解</a:t>
            </a:r>
            <a:endParaRPr sz="3600">
              <a:latin typeface="微软雅黑" panose="020B0503020204020204" charset="-122"/>
              <a:cs typeface="微软雅黑" panose="020B0503020204020204" charset="-122"/>
            </a:endParaRPr>
          </a:p>
          <a:p>
            <a:pPr marL="835660" indent="-796290">
              <a:lnSpc>
                <a:spcPct val="100000"/>
              </a:lnSpc>
              <a:spcBef>
                <a:spcPts val="2100"/>
              </a:spcBef>
              <a:buFont typeface="Impact" panose="020B0806030902050204"/>
              <a:buAutoNum type="arabicPeriod"/>
              <a:tabLst>
                <a:tab pos="835660" algn="l"/>
              </a:tabLst>
            </a:pPr>
            <a:r>
              <a:rPr sz="3600" spc="-10" dirty="0">
                <a:latin typeface="微软雅黑" panose="020B0503020204020204" charset="-122"/>
                <a:cs typeface="微软雅黑" panose="020B0503020204020204" charset="-122"/>
              </a:rPr>
              <a:t>逻辑回归代码实现</a:t>
            </a:r>
            <a:endParaRPr sz="3600"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999744"/>
            <a:ext cx="646430" cy="262255"/>
          </a:xfrm>
          <a:prstGeom prst="rect">
            <a:avLst/>
          </a:prstGeom>
          <a:solidFill>
            <a:srgbClr val="A40020"/>
          </a:solidFill>
        </p:spPr>
        <p:txBody>
          <a:bodyPr vert="horz" wrap="square" lIns="0" tIns="635" rIns="0" bIns="0" rtlCol="0">
            <a:spAutoFit/>
          </a:bodyPr>
          <a:lstStyle/>
          <a:p>
            <a:pPr marL="375285">
              <a:lnSpc>
                <a:spcPct val="100000"/>
              </a:lnSpc>
              <a:spcBef>
                <a:spcPts val="5"/>
              </a:spcBef>
            </a:pPr>
            <a:r>
              <a:rPr sz="1400" b="1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64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latin typeface="Arial" panose="020B0604020202020204"/>
                <a:cs typeface="Arial" panose="020B0604020202020204"/>
              </a:rPr>
              <a:t>3.</a:t>
            </a:r>
            <a:r>
              <a:rPr spc="-10" dirty="0"/>
              <a:t>逻辑回归求解</a:t>
            </a:r>
            <a:endParaRPr spc="-10" dirty="0"/>
          </a:p>
        </p:txBody>
      </p:sp>
      <p:sp>
        <p:nvSpPr>
          <p:cNvPr id="4" name="object 4"/>
          <p:cNvSpPr txBox="1"/>
          <p:nvPr/>
        </p:nvSpPr>
        <p:spPr>
          <a:xfrm>
            <a:off x="1734362" y="1352359"/>
            <a:ext cx="7520305" cy="3873500"/>
          </a:xfrm>
          <a:prstGeom prst="rect">
            <a:avLst/>
          </a:prstGeom>
        </p:spPr>
        <p:txBody>
          <a:bodyPr vert="horz" wrap="square" lIns="0" tIns="1663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10"/>
              </a:spcBef>
            </a:pPr>
            <a:r>
              <a:rPr sz="2400" spc="-5" dirty="0">
                <a:latin typeface="微软雅黑" panose="020B0503020204020204" charset="-122"/>
                <a:cs typeface="微软雅黑" panose="020B0503020204020204" charset="-122"/>
              </a:rPr>
              <a:t>假设一个二分类模型：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  <a:p>
            <a:pPr marR="142875" algn="ctr">
              <a:lnSpc>
                <a:spcPct val="100000"/>
              </a:lnSpc>
              <a:spcBef>
                <a:spcPts val="1210"/>
              </a:spcBef>
            </a:pPr>
            <a:r>
              <a:rPr sz="2400" dirty="0">
                <a:latin typeface="Cambria Math" panose="02040503050406030204"/>
                <a:cs typeface="Cambria Math" panose="02040503050406030204"/>
              </a:rPr>
              <a:t>𝑝(𝑦</a:t>
            </a:r>
            <a:r>
              <a:rPr sz="2400" spc="13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2400" spc="13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10" dirty="0">
                <a:latin typeface="Cambria Math" panose="02040503050406030204"/>
                <a:cs typeface="Cambria Math" panose="02040503050406030204"/>
              </a:rPr>
              <a:t>1|𝑥;</a:t>
            </a:r>
            <a:r>
              <a:rPr sz="2400" spc="-12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𝑤)</a:t>
            </a:r>
            <a:r>
              <a:rPr sz="2400" spc="13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2400" spc="13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20" dirty="0">
                <a:latin typeface="Cambria Math" panose="02040503050406030204"/>
                <a:cs typeface="Cambria Math" panose="02040503050406030204"/>
              </a:rPr>
              <a:t>ℎ(𝑥)</a:t>
            </a:r>
            <a:endParaRPr sz="2400">
              <a:latin typeface="Cambria Math" panose="02040503050406030204"/>
              <a:cs typeface="Cambria Math" panose="02040503050406030204"/>
            </a:endParaRPr>
          </a:p>
          <a:p>
            <a:pPr marR="142240" algn="ctr">
              <a:lnSpc>
                <a:spcPct val="100000"/>
              </a:lnSpc>
              <a:spcBef>
                <a:spcPts val="1440"/>
              </a:spcBef>
            </a:pPr>
            <a:r>
              <a:rPr sz="2400" dirty="0">
                <a:latin typeface="Cambria Math" panose="02040503050406030204"/>
                <a:cs typeface="Cambria Math" panose="02040503050406030204"/>
              </a:rPr>
              <a:t>𝑝(𝑦</a:t>
            </a:r>
            <a:r>
              <a:rPr sz="2400" spc="13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2400" spc="13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10" dirty="0">
                <a:latin typeface="Cambria Math" panose="02040503050406030204"/>
                <a:cs typeface="Cambria Math" panose="02040503050406030204"/>
              </a:rPr>
              <a:t>0|𝑥;</a:t>
            </a:r>
            <a:r>
              <a:rPr sz="2400" spc="-12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𝑤)</a:t>
            </a:r>
            <a:r>
              <a:rPr sz="2400" spc="13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2400" spc="13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2400" spc="1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400" spc="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20" dirty="0">
                <a:latin typeface="Cambria Math" panose="02040503050406030204"/>
                <a:cs typeface="Cambria Math" panose="02040503050406030204"/>
              </a:rPr>
              <a:t>ℎ(𝑥)</a:t>
            </a:r>
            <a:endParaRPr sz="2400">
              <a:latin typeface="Cambria Math" panose="02040503050406030204"/>
              <a:cs typeface="Cambria Math" panose="02040503050406030204"/>
            </a:endParaRPr>
          </a:p>
          <a:p>
            <a:pPr marL="38100">
              <a:lnSpc>
                <a:spcPct val="100000"/>
              </a:lnSpc>
              <a:spcBef>
                <a:spcPts val="1670"/>
              </a:spcBef>
            </a:pPr>
            <a:r>
              <a:rPr sz="2400" spc="-25" dirty="0">
                <a:latin typeface="微软雅黑" panose="020B0503020204020204" charset="-122"/>
                <a:cs typeface="微软雅黑" panose="020B0503020204020204" charset="-122"/>
              </a:rPr>
              <a:t>则：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  <a:p>
            <a:pPr marR="154305" algn="ctr">
              <a:lnSpc>
                <a:spcPct val="100000"/>
              </a:lnSpc>
              <a:spcBef>
                <a:spcPts val="1595"/>
              </a:spcBef>
            </a:pPr>
            <a:r>
              <a:rPr sz="2400" spc="-10" dirty="0">
                <a:latin typeface="Cambria Math" panose="02040503050406030204"/>
                <a:cs typeface="Cambria Math" panose="02040503050406030204"/>
              </a:rPr>
              <a:t>𝑝(𝑦|𝑥;</a:t>
            </a:r>
            <a:r>
              <a:rPr sz="2400" spc="-10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𝑤)</a:t>
            </a:r>
            <a:r>
              <a:rPr sz="2400" spc="17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2400" spc="17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(ℎ(𝑥))</a:t>
            </a:r>
            <a:r>
              <a:rPr sz="2625" baseline="27000" dirty="0">
                <a:latin typeface="Cambria Math" panose="02040503050406030204"/>
                <a:cs typeface="Cambria Math" panose="02040503050406030204"/>
              </a:rPr>
              <a:t>𝑦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(1</a:t>
            </a:r>
            <a:r>
              <a:rPr sz="2400" spc="3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400" spc="3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10" dirty="0">
                <a:latin typeface="Cambria Math" panose="02040503050406030204"/>
                <a:cs typeface="Cambria Math" panose="02040503050406030204"/>
              </a:rPr>
              <a:t>ℎ(𝑥))</a:t>
            </a:r>
            <a:r>
              <a:rPr sz="2625" spc="-15" baseline="27000" dirty="0">
                <a:latin typeface="Cambria Math" panose="02040503050406030204"/>
                <a:cs typeface="Cambria Math" panose="02040503050406030204"/>
              </a:rPr>
              <a:t>1−𝑦</a:t>
            </a:r>
            <a:endParaRPr sz="2625" baseline="27000">
              <a:latin typeface="Cambria Math" panose="02040503050406030204"/>
              <a:cs typeface="Cambria Math" panose="02040503050406030204"/>
            </a:endParaRPr>
          </a:p>
          <a:p>
            <a:pPr marL="38100">
              <a:lnSpc>
                <a:spcPct val="100000"/>
              </a:lnSpc>
              <a:spcBef>
                <a:spcPts val="1290"/>
              </a:spcBef>
            </a:pPr>
            <a:r>
              <a:rPr sz="2400" spc="-5" dirty="0">
                <a:latin typeface="微软雅黑" panose="020B0503020204020204" charset="-122"/>
                <a:cs typeface="微软雅黑" panose="020B0503020204020204" charset="-122"/>
              </a:rPr>
              <a:t>逻辑回归模型的假设是：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ℎ</a:t>
            </a:r>
            <a:r>
              <a:rPr sz="3600" baseline="200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𝑥</a:t>
            </a:r>
            <a:r>
              <a:rPr sz="3600" spc="112" baseline="2000" dirty="0">
                <a:latin typeface="Cambria Math" panose="02040503050406030204"/>
                <a:cs typeface="Cambria Math" panose="02040503050406030204"/>
              </a:rPr>
              <a:t>) </a:t>
            </a:r>
            <a:r>
              <a:rPr sz="2400" spc="70" dirty="0">
                <a:latin typeface="Cambria Math" panose="02040503050406030204"/>
                <a:cs typeface="Cambria Math" panose="02040503050406030204"/>
              </a:rPr>
              <a:t>=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𝑔</a:t>
            </a:r>
            <a:r>
              <a:rPr sz="3600" baseline="200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𝑤</a:t>
            </a:r>
            <a:r>
              <a:rPr sz="2625" baseline="27000" dirty="0">
                <a:latin typeface="Cambria Math" panose="02040503050406030204"/>
                <a:cs typeface="Cambria Math" panose="02040503050406030204"/>
              </a:rPr>
              <a:t>𝑇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𝑥</a:t>
            </a:r>
            <a:r>
              <a:rPr sz="3600" spc="112" baseline="2000" dirty="0">
                <a:latin typeface="Cambria Math" panose="02040503050406030204"/>
                <a:cs typeface="Cambria Math" panose="02040503050406030204"/>
              </a:rPr>
              <a:t>) </a:t>
            </a:r>
            <a:r>
              <a:rPr sz="2400" spc="70" dirty="0">
                <a:latin typeface="Cambria Math" panose="02040503050406030204"/>
                <a:cs typeface="Cambria Math" panose="02040503050406030204"/>
              </a:rPr>
              <a:t>= </a:t>
            </a:r>
            <a:r>
              <a:rPr sz="2400" spc="-20" dirty="0">
                <a:latin typeface="Cambria Math" panose="02040503050406030204"/>
                <a:cs typeface="Cambria Math" panose="02040503050406030204"/>
              </a:rPr>
              <a:t>𝑔</a:t>
            </a:r>
            <a:r>
              <a:rPr sz="3600" spc="-30" baseline="200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2400" spc="-20" dirty="0">
                <a:latin typeface="Cambria Math" panose="02040503050406030204"/>
                <a:cs typeface="Cambria Math" panose="02040503050406030204"/>
              </a:rPr>
              <a:t>𝑧</a:t>
            </a:r>
            <a:r>
              <a:rPr sz="3600" spc="-30" baseline="2000" dirty="0">
                <a:latin typeface="Cambria Math" panose="02040503050406030204"/>
                <a:cs typeface="Cambria Math" panose="02040503050406030204"/>
              </a:rPr>
              <a:t>)</a:t>
            </a:r>
            <a:endParaRPr sz="3600" baseline="2000">
              <a:latin typeface="Cambria Math" panose="02040503050406030204"/>
              <a:cs typeface="Cambria Math" panose="02040503050406030204"/>
            </a:endParaRPr>
          </a:p>
          <a:p>
            <a:pPr marL="38100">
              <a:lnSpc>
                <a:spcPct val="100000"/>
              </a:lnSpc>
              <a:spcBef>
                <a:spcPts val="1720"/>
              </a:spcBef>
            </a:pPr>
            <a:r>
              <a:rPr sz="3600" baseline="2000" dirty="0">
                <a:latin typeface="微软雅黑" panose="020B0503020204020204" charset="-122"/>
                <a:cs typeface="微软雅黑" panose="020B0503020204020204" charset="-122"/>
              </a:rPr>
              <a:t>其中</a:t>
            </a:r>
            <a:r>
              <a:rPr sz="3600" baseline="2000" dirty="0">
                <a:latin typeface="Cambria Math" panose="02040503050406030204"/>
                <a:cs typeface="Cambria Math" panose="02040503050406030204"/>
              </a:rPr>
              <a:t>𝑧</a:t>
            </a:r>
            <a:r>
              <a:rPr sz="3600" spc="150" baseline="2000" dirty="0">
                <a:latin typeface="Cambria Math" panose="02040503050406030204"/>
                <a:cs typeface="Cambria Math" panose="02040503050406030204"/>
              </a:rPr>
              <a:t> = </a:t>
            </a:r>
            <a:r>
              <a:rPr sz="3600" baseline="2000" dirty="0">
                <a:latin typeface="Cambria Math" panose="02040503050406030204"/>
                <a:cs typeface="Cambria Math" panose="02040503050406030204"/>
              </a:rPr>
              <a:t>𝑤</a:t>
            </a:r>
            <a:r>
              <a:rPr sz="2625" baseline="30000" dirty="0">
                <a:latin typeface="Cambria Math" panose="02040503050406030204"/>
                <a:cs typeface="Cambria Math" panose="02040503050406030204"/>
              </a:rPr>
              <a:t>𝑇</a:t>
            </a:r>
            <a:r>
              <a:rPr sz="3600" baseline="2000" dirty="0">
                <a:latin typeface="Cambria Math" panose="02040503050406030204"/>
                <a:cs typeface="Cambria Math" panose="02040503050406030204"/>
              </a:rPr>
              <a:t>𝑥</a:t>
            </a:r>
            <a:r>
              <a:rPr sz="3600" spc="569" baseline="2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，逻辑函数（</a:t>
            </a:r>
            <a:r>
              <a:rPr sz="2400" b="1" dirty="0">
                <a:latin typeface="微软雅黑" panose="020B0503020204020204" charset="-122"/>
                <a:cs typeface="微软雅黑" panose="020B0503020204020204" charset="-122"/>
              </a:rPr>
              <a:t>logistic</a:t>
            </a:r>
            <a:r>
              <a:rPr sz="2400" b="1" spc="15" dirty="0"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b="1" spc="-10" dirty="0">
                <a:latin typeface="微软雅黑" panose="020B0503020204020204" charset="-122"/>
                <a:cs typeface="微软雅黑" panose="020B0503020204020204" charset="-122"/>
              </a:rPr>
              <a:t>function</a:t>
            </a:r>
            <a:r>
              <a:rPr sz="2400" spc="-15" dirty="0">
                <a:latin typeface="微软雅黑" panose="020B0503020204020204" charset="-122"/>
                <a:cs typeface="微软雅黑" panose="020B0503020204020204" charset="-122"/>
              </a:rPr>
              <a:t>)公式为：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55631" y="5564708"/>
            <a:ext cx="92519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 panose="02040503050406030204"/>
                <a:cs typeface="Cambria Math" panose="02040503050406030204"/>
              </a:rPr>
              <a:t>𝑔</a:t>
            </a:r>
            <a:r>
              <a:rPr sz="3600" baseline="200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𝑧</a:t>
            </a:r>
            <a:r>
              <a:rPr sz="3600" baseline="2000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3600" spc="142" baseline="2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50" dirty="0">
                <a:latin typeface="Cambria Math" panose="02040503050406030204"/>
                <a:cs typeface="Cambria Math" panose="02040503050406030204"/>
              </a:rPr>
              <a:t>=</a:t>
            </a:r>
            <a:endParaRPr sz="24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653216" y="5785154"/>
            <a:ext cx="650240" cy="20320"/>
          </a:xfrm>
          <a:custGeom>
            <a:avLst/>
            <a:gdLst/>
            <a:ahLst/>
            <a:cxnLst/>
            <a:rect l="l" t="t" r="r" b="b"/>
            <a:pathLst>
              <a:path w="650239" h="20320">
                <a:moveTo>
                  <a:pt x="650240" y="20002"/>
                </a:moveTo>
                <a:lnTo>
                  <a:pt x="0" y="20002"/>
                </a:lnTo>
                <a:lnTo>
                  <a:pt x="0" y="0"/>
                </a:lnTo>
                <a:lnTo>
                  <a:pt x="650240" y="0"/>
                </a:lnTo>
                <a:lnTo>
                  <a:pt x="650240" y="200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615116" y="5404688"/>
            <a:ext cx="718820" cy="688340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7620" algn="ctr">
              <a:lnSpc>
                <a:spcPct val="100000"/>
              </a:lnSpc>
              <a:spcBef>
                <a:spcPts val="610"/>
              </a:spcBef>
            </a:pPr>
            <a:r>
              <a:rPr sz="1750" spc="-50" dirty="0">
                <a:latin typeface="Cambria Math" panose="02040503050406030204"/>
                <a:cs typeface="Cambria Math" panose="02040503050406030204"/>
              </a:rPr>
              <a:t>1</a:t>
            </a:r>
            <a:endParaRPr sz="1750">
              <a:latin typeface="Cambria Math" panose="02040503050406030204"/>
              <a:cs typeface="Cambria Math" panose="02040503050406030204"/>
            </a:endParaRPr>
          </a:p>
          <a:p>
            <a:pPr algn="ctr">
              <a:lnSpc>
                <a:spcPct val="100000"/>
              </a:lnSpc>
              <a:spcBef>
                <a:spcPts val="510"/>
              </a:spcBef>
            </a:pPr>
            <a:r>
              <a:rPr sz="1750" spc="-10" dirty="0">
                <a:latin typeface="Cambria Math" panose="02040503050406030204"/>
                <a:cs typeface="Cambria Math" panose="02040503050406030204"/>
              </a:rPr>
              <a:t>1+𝑒</a:t>
            </a:r>
            <a:r>
              <a:rPr sz="2100" spc="-15" baseline="26000" dirty="0">
                <a:latin typeface="Cambria Math" panose="02040503050406030204"/>
                <a:cs typeface="Cambria Math" panose="02040503050406030204"/>
              </a:rPr>
              <a:t>−𝑧</a:t>
            </a:r>
            <a:endParaRPr sz="2100" baseline="26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290756" y="5564708"/>
            <a:ext cx="335470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，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𝑔′(𝑧)</a:t>
            </a:r>
            <a:r>
              <a:rPr sz="2400" spc="10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2400" spc="11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𝑔(𝑧)(1</a:t>
            </a:r>
            <a:r>
              <a:rPr sz="2400" spc="-1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400" spc="-10" dirty="0">
                <a:latin typeface="Cambria Math" panose="02040503050406030204"/>
                <a:cs typeface="Cambria Math" panose="02040503050406030204"/>
              </a:rPr>
              <a:t> 𝑔(𝑧))</a:t>
            </a:r>
            <a:endParaRPr sz="2400">
              <a:latin typeface="Cambria Math" panose="02040503050406030204"/>
              <a:cs typeface="Cambria Math" panose="02040503050406030204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999744"/>
            <a:ext cx="646430" cy="262255"/>
          </a:xfrm>
          <a:prstGeom prst="rect">
            <a:avLst/>
          </a:prstGeom>
          <a:solidFill>
            <a:srgbClr val="A40020"/>
          </a:solidFill>
        </p:spPr>
        <p:txBody>
          <a:bodyPr vert="horz" wrap="square" lIns="0" tIns="635" rIns="0" bIns="0" rtlCol="0">
            <a:spAutoFit/>
          </a:bodyPr>
          <a:lstStyle/>
          <a:p>
            <a:pPr marL="375285">
              <a:lnSpc>
                <a:spcPct val="100000"/>
              </a:lnSpc>
              <a:spcBef>
                <a:spcPts val="5"/>
              </a:spcBef>
            </a:pPr>
            <a:r>
              <a:rPr sz="1400" b="1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65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708517" y="1557782"/>
            <a:ext cx="2980690" cy="1447800"/>
            <a:chOff x="8708517" y="1557782"/>
            <a:chExt cx="2980690" cy="1447800"/>
          </a:xfrm>
        </p:grpSpPr>
        <p:sp>
          <p:nvSpPr>
            <p:cNvPr id="4" name="object 4"/>
            <p:cNvSpPr/>
            <p:nvPr/>
          </p:nvSpPr>
          <p:spPr>
            <a:xfrm>
              <a:off x="8708517" y="1557782"/>
              <a:ext cx="2980690" cy="1447800"/>
            </a:xfrm>
            <a:custGeom>
              <a:avLst/>
              <a:gdLst/>
              <a:ahLst/>
              <a:cxnLst/>
              <a:rect l="l" t="t" r="r" b="b"/>
              <a:pathLst>
                <a:path w="2980690" h="1447800">
                  <a:moveTo>
                    <a:pt x="2815666" y="12700"/>
                  </a:moveTo>
                  <a:lnTo>
                    <a:pt x="164655" y="12700"/>
                  </a:lnTo>
                  <a:lnTo>
                    <a:pt x="176301" y="0"/>
                  </a:lnTo>
                  <a:lnTo>
                    <a:pt x="2804007" y="0"/>
                  </a:lnTo>
                  <a:lnTo>
                    <a:pt x="2815666" y="12700"/>
                  </a:lnTo>
                  <a:close/>
                </a:path>
                <a:path w="2980690" h="1447800">
                  <a:moveTo>
                    <a:pt x="238759" y="25400"/>
                  </a:moveTo>
                  <a:lnTo>
                    <a:pt x="131330" y="25400"/>
                  </a:lnTo>
                  <a:lnTo>
                    <a:pt x="141592" y="12700"/>
                  </a:lnTo>
                  <a:lnTo>
                    <a:pt x="244855" y="12700"/>
                  </a:lnTo>
                  <a:lnTo>
                    <a:pt x="238759" y="25400"/>
                  </a:lnTo>
                  <a:close/>
                </a:path>
                <a:path w="2980690" h="1447800">
                  <a:moveTo>
                    <a:pt x="2849524" y="25400"/>
                  </a:moveTo>
                  <a:lnTo>
                    <a:pt x="2741561" y="25400"/>
                  </a:lnTo>
                  <a:lnTo>
                    <a:pt x="2735453" y="12700"/>
                  </a:lnTo>
                  <a:lnTo>
                    <a:pt x="2838729" y="12700"/>
                  </a:lnTo>
                  <a:lnTo>
                    <a:pt x="2849524" y="25400"/>
                  </a:lnTo>
                  <a:close/>
                </a:path>
                <a:path w="2980690" h="1447800">
                  <a:moveTo>
                    <a:pt x="172796" y="38100"/>
                  </a:moveTo>
                  <a:lnTo>
                    <a:pt x="110655" y="38100"/>
                  </a:lnTo>
                  <a:lnTo>
                    <a:pt x="120307" y="25400"/>
                  </a:lnTo>
                  <a:lnTo>
                    <a:pt x="183845" y="25400"/>
                  </a:lnTo>
                  <a:lnTo>
                    <a:pt x="172796" y="38100"/>
                  </a:lnTo>
                  <a:close/>
                </a:path>
                <a:path w="2980690" h="1447800">
                  <a:moveTo>
                    <a:pt x="2869666" y="38100"/>
                  </a:moveTo>
                  <a:lnTo>
                    <a:pt x="2807525" y="38100"/>
                  </a:lnTo>
                  <a:lnTo>
                    <a:pt x="2796463" y="25400"/>
                  </a:lnTo>
                  <a:lnTo>
                    <a:pt x="2860014" y="25400"/>
                  </a:lnTo>
                  <a:lnTo>
                    <a:pt x="2869666" y="38100"/>
                  </a:lnTo>
                  <a:close/>
                </a:path>
                <a:path w="2980690" h="1447800">
                  <a:moveTo>
                    <a:pt x="124358" y="63500"/>
                  </a:moveTo>
                  <a:lnTo>
                    <a:pt x="82245" y="63500"/>
                  </a:lnTo>
                  <a:lnTo>
                    <a:pt x="90881" y="50800"/>
                  </a:lnTo>
                  <a:lnTo>
                    <a:pt x="100329" y="38100"/>
                  </a:lnTo>
                  <a:lnTo>
                    <a:pt x="153174" y="38100"/>
                  </a:lnTo>
                  <a:lnTo>
                    <a:pt x="142913" y="50800"/>
                  </a:lnTo>
                  <a:lnTo>
                    <a:pt x="134010" y="50800"/>
                  </a:lnTo>
                  <a:lnTo>
                    <a:pt x="124358" y="63500"/>
                  </a:lnTo>
                  <a:close/>
                </a:path>
                <a:path w="2980690" h="1447800">
                  <a:moveTo>
                    <a:pt x="2898521" y="63500"/>
                  </a:moveTo>
                  <a:lnTo>
                    <a:pt x="2855950" y="63500"/>
                  </a:lnTo>
                  <a:lnTo>
                    <a:pt x="2846298" y="50800"/>
                  </a:lnTo>
                  <a:lnTo>
                    <a:pt x="2837408" y="50800"/>
                  </a:lnTo>
                  <a:lnTo>
                    <a:pt x="2827147" y="38100"/>
                  </a:lnTo>
                  <a:lnTo>
                    <a:pt x="2879496" y="38100"/>
                  </a:lnTo>
                  <a:lnTo>
                    <a:pt x="2889440" y="50800"/>
                  </a:lnTo>
                  <a:lnTo>
                    <a:pt x="2898521" y="63500"/>
                  </a:lnTo>
                  <a:close/>
                </a:path>
                <a:path w="2980690" h="1447800">
                  <a:moveTo>
                    <a:pt x="91058" y="88900"/>
                  </a:moveTo>
                  <a:lnTo>
                    <a:pt x="57340" y="88900"/>
                  </a:lnTo>
                  <a:lnTo>
                    <a:pt x="64820" y="76200"/>
                  </a:lnTo>
                  <a:lnTo>
                    <a:pt x="73113" y="63500"/>
                  </a:lnTo>
                  <a:lnTo>
                    <a:pt x="116027" y="63500"/>
                  </a:lnTo>
                  <a:lnTo>
                    <a:pt x="107035" y="76200"/>
                  </a:lnTo>
                  <a:lnTo>
                    <a:pt x="99326" y="76200"/>
                  </a:lnTo>
                  <a:lnTo>
                    <a:pt x="91058" y="88900"/>
                  </a:lnTo>
                  <a:close/>
                </a:path>
                <a:path w="2980690" h="1447800">
                  <a:moveTo>
                    <a:pt x="2922968" y="88900"/>
                  </a:moveTo>
                  <a:lnTo>
                    <a:pt x="2889250" y="88900"/>
                  </a:lnTo>
                  <a:lnTo>
                    <a:pt x="2880994" y="76200"/>
                  </a:lnTo>
                  <a:lnTo>
                    <a:pt x="2873273" y="76200"/>
                  </a:lnTo>
                  <a:lnTo>
                    <a:pt x="2864281" y="63500"/>
                  </a:lnTo>
                  <a:lnTo>
                    <a:pt x="2907207" y="63500"/>
                  </a:lnTo>
                  <a:lnTo>
                    <a:pt x="2915488" y="76200"/>
                  </a:lnTo>
                  <a:lnTo>
                    <a:pt x="2922968" y="88900"/>
                  </a:lnTo>
                  <a:close/>
                </a:path>
                <a:path w="2980690" h="1447800">
                  <a:moveTo>
                    <a:pt x="76542" y="101600"/>
                  </a:moveTo>
                  <a:lnTo>
                    <a:pt x="42900" y="101600"/>
                  </a:lnTo>
                  <a:lnTo>
                    <a:pt x="49898" y="88900"/>
                  </a:lnTo>
                  <a:lnTo>
                    <a:pt x="84023" y="88900"/>
                  </a:lnTo>
                  <a:lnTo>
                    <a:pt x="76542" y="101600"/>
                  </a:lnTo>
                  <a:close/>
                </a:path>
                <a:path w="2980690" h="1447800">
                  <a:moveTo>
                    <a:pt x="2943948" y="114300"/>
                  </a:moveTo>
                  <a:lnTo>
                    <a:pt x="2910446" y="114300"/>
                  </a:lnTo>
                  <a:lnTo>
                    <a:pt x="2903385" y="101600"/>
                  </a:lnTo>
                  <a:lnTo>
                    <a:pt x="2903766" y="101600"/>
                  </a:lnTo>
                  <a:lnTo>
                    <a:pt x="2896298" y="88900"/>
                  </a:lnTo>
                  <a:lnTo>
                    <a:pt x="2930423" y="88900"/>
                  </a:lnTo>
                  <a:lnTo>
                    <a:pt x="2937421" y="101600"/>
                  </a:lnTo>
                  <a:lnTo>
                    <a:pt x="2943948" y="114300"/>
                  </a:lnTo>
                  <a:close/>
                </a:path>
                <a:path w="2980690" h="1447800">
                  <a:moveTo>
                    <a:pt x="69862" y="114300"/>
                  </a:moveTo>
                  <a:lnTo>
                    <a:pt x="36372" y="114300"/>
                  </a:lnTo>
                  <a:lnTo>
                    <a:pt x="42557" y="101600"/>
                  </a:lnTo>
                  <a:lnTo>
                    <a:pt x="76936" y="101600"/>
                  </a:lnTo>
                  <a:lnTo>
                    <a:pt x="69862" y="114300"/>
                  </a:lnTo>
                  <a:close/>
                </a:path>
                <a:path w="2980690" h="1447800">
                  <a:moveTo>
                    <a:pt x="47383" y="152400"/>
                  </a:moveTo>
                  <a:lnTo>
                    <a:pt x="19748" y="152400"/>
                  </a:lnTo>
                  <a:lnTo>
                    <a:pt x="24777" y="139700"/>
                  </a:lnTo>
                  <a:lnTo>
                    <a:pt x="30035" y="127000"/>
                  </a:lnTo>
                  <a:lnTo>
                    <a:pt x="36055" y="114300"/>
                  </a:lnTo>
                  <a:lnTo>
                    <a:pt x="63944" y="114300"/>
                  </a:lnTo>
                  <a:lnTo>
                    <a:pt x="57759" y="127000"/>
                  </a:lnTo>
                  <a:lnTo>
                    <a:pt x="58077" y="127000"/>
                  </a:lnTo>
                  <a:lnTo>
                    <a:pt x="52349" y="139700"/>
                  </a:lnTo>
                  <a:lnTo>
                    <a:pt x="52641" y="139700"/>
                  </a:lnTo>
                  <a:lnTo>
                    <a:pt x="47383" y="152400"/>
                  </a:lnTo>
                  <a:close/>
                </a:path>
                <a:path w="2980690" h="1447800">
                  <a:moveTo>
                    <a:pt x="2960573" y="152400"/>
                  </a:moveTo>
                  <a:lnTo>
                    <a:pt x="2932925" y="152400"/>
                  </a:lnTo>
                  <a:lnTo>
                    <a:pt x="2927680" y="139700"/>
                  </a:lnTo>
                  <a:lnTo>
                    <a:pt x="2927972" y="139700"/>
                  </a:lnTo>
                  <a:lnTo>
                    <a:pt x="2922244" y="127000"/>
                  </a:lnTo>
                  <a:lnTo>
                    <a:pt x="2922562" y="127000"/>
                  </a:lnTo>
                  <a:lnTo>
                    <a:pt x="2916377" y="114300"/>
                  </a:lnTo>
                  <a:lnTo>
                    <a:pt x="2944266" y="114300"/>
                  </a:lnTo>
                  <a:lnTo>
                    <a:pt x="2950286" y="127000"/>
                  </a:lnTo>
                  <a:lnTo>
                    <a:pt x="2955543" y="139700"/>
                  </a:lnTo>
                  <a:lnTo>
                    <a:pt x="2960573" y="152400"/>
                  </a:lnTo>
                  <a:close/>
                </a:path>
                <a:path w="2980690" h="1447800">
                  <a:moveTo>
                    <a:pt x="32448" y="190500"/>
                  </a:moveTo>
                  <a:lnTo>
                    <a:pt x="6299" y="190500"/>
                  </a:lnTo>
                  <a:lnTo>
                    <a:pt x="7772" y="177800"/>
                  </a:lnTo>
                  <a:lnTo>
                    <a:pt x="11099" y="165100"/>
                  </a:lnTo>
                  <a:lnTo>
                    <a:pt x="15024" y="152400"/>
                  </a:lnTo>
                  <a:lnTo>
                    <a:pt x="43129" y="152400"/>
                  </a:lnTo>
                  <a:lnTo>
                    <a:pt x="38874" y="165100"/>
                  </a:lnTo>
                  <a:lnTo>
                    <a:pt x="39090" y="165100"/>
                  </a:lnTo>
                  <a:lnTo>
                    <a:pt x="35344" y="177800"/>
                  </a:lnTo>
                  <a:lnTo>
                    <a:pt x="35534" y="177800"/>
                  </a:lnTo>
                  <a:lnTo>
                    <a:pt x="32448" y="190500"/>
                  </a:lnTo>
                  <a:close/>
                </a:path>
                <a:path w="2980690" h="1447800">
                  <a:moveTo>
                    <a:pt x="2973946" y="190500"/>
                  </a:moveTo>
                  <a:lnTo>
                    <a:pt x="2947987" y="190500"/>
                  </a:lnTo>
                  <a:lnTo>
                    <a:pt x="2944787" y="177800"/>
                  </a:lnTo>
                  <a:lnTo>
                    <a:pt x="2944964" y="177800"/>
                  </a:lnTo>
                  <a:lnTo>
                    <a:pt x="2941231" y="165100"/>
                  </a:lnTo>
                  <a:lnTo>
                    <a:pt x="2941447" y="165100"/>
                  </a:lnTo>
                  <a:lnTo>
                    <a:pt x="2937179" y="152400"/>
                  </a:lnTo>
                  <a:lnTo>
                    <a:pt x="2965068" y="152400"/>
                  </a:lnTo>
                  <a:lnTo>
                    <a:pt x="2969221" y="165100"/>
                  </a:lnTo>
                  <a:lnTo>
                    <a:pt x="2972422" y="177800"/>
                  </a:lnTo>
                  <a:lnTo>
                    <a:pt x="2973946" y="190500"/>
                  </a:lnTo>
                  <a:close/>
                </a:path>
                <a:path w="2980690" h="1447800">
                  <a:moveTo>
                    <a:pt x="29933" y="203200"/>
                  </a:moveTo>
                  <a:lnTo>
                    <a:pt x="3809" y="203200"/>
                  </a:lnTo>
                  <a:lnTo>
                    <a:pt x="4978" y="190500"/>
                  </a:lnTo>
                  <a:lnTo>
                    <a:pt x="31127" y="190500"/>
                  </a:lnTo>
                  <a:lnTo>
                    <a:pt x="29933" y="203200"/>
                  </a:lnTo>
                  <a:close/>
                </a:path>
                <a:path w="2980690" h="1447800">
                  <a:moveTo>
                    <a:pt x="2976448" y="203200"/>
                  </a:moveTo>
                  <a:lnTo>
                    <a:pt x="2950451" y="203200"/>
                  </a:lnTo>
                  <a:lnTo>
                    <a:pt x="2949270" y="190500"/>
                  </a:lnTo>
                  <a:lnTo>
                    <a:pt x="2975267" y="190500"/>
                  </a:lnTo>
                  <a:lnTo>
                    <a:pt x="2976448" y="203200"/>
                  </a:lnTo>
                  <a:close/>
                </a:path>
                <a:path w="2980690" h="1447800">
                  <a:moveTo>
                    <a:pt x="27939" y="215900"/>
                  </a:moveTo>
                  <a:lnTo>
                    <a:pt x="1917" y="215900"/>
                  </a:lnTo>
                  <a:lnTo>
                    <a:pt x="2781" y="203200"/>
                  </a:lnTo>
                  <a:lnTo>
                    <a:pt x="28867" y="203200"/>
                  </a:lnTo>
                  <a:lnTo>
                    <a:pt x="27939" y="215900"/>
                  </a:lnTo>
                  <a:close/>
                </a:path>
                <a:path w="2980690" h="1447800">
                  <a:moveTo>
                    <a:pt x="2978365" y="215900"/>
                  </a:moveTo>
                  <a:lnTo>
                    <a:pt x="2952419" y="215900"/>
                  </a:lnTo>
                  <a:lnTo>
                    <a:pt x="2951505" y="203200"/>
                  </a:lnTo>
                  <a:lnTo>
                    <a:pt x="2977476" y="203200"/>
                  </a:lnTo>
                  <a:lnTo>
                    <a:pt x="2978365" y="215900"/>
                  </a:lnTo>
                  <a:close/>
                </a:path>
                <a:path w="2980690" h="1447800">
                  <a:moveTo>
                    <a:pt x="25984" y="228600"/>
                  </a:moveTo>
                  <a:lnTo>
                    <a:pt x="634" y="228600"/>
                  </a:lnTo>
                  <a:lnTo>
                    <a:pt x="1193" y="215900"/>
                  </a:lnTo>
                  <a:lnTo>
                    <a:pt x="26504" y="215900"/>
                  </a:lnTo>
                  <a:lnTo>
                    <a:pt x="25984" y="228600"/>
                  </a:lnTo>
                  <a:close/>
                </a:path>
                <a:path w="2980690" h="1447800">
                  <a:moveTo>
                    <a:pt x="2979648" y="228600"/>
                  </a:moveTo>
                  <a:lnTo>
                    <a:pt x="2954350" y="228600"/>
                  </a:lnTo>
                  <a:lnTo>
                    <a:pt x="2953842" y="215900"/>
                  </a:lnTo>
                  <a:lnTo>
                    <a:pt x="2979089" y="215900"/>
                  </a:lnTo>
                  <a:lnTo>
                    <a:pt x="2979648" y="228600"/>
                  </a:lnTo>
                  <a:close/>
                </a:path>
                <a:path w="2980690" h="1447800">
                  <a:moveTo>
                    <a:pt x="25387" y="1206500"/>
                  </a:moveTo>
                  <a:lnTo>
                    <a:pt x="12" y="1206500"/>
                  </a:lnTo>
                  <a:lnTo>
                    <a:pt x="0" y="241300"/>
                  </a:lnTo>
                  <a:lnTo>
                    <a:pt x="241" y="228600"/>
                  </a:lnTo>
                  <a:lnTo>
                    <a:pt x="25615" y="228600"/>
                  </a:lnTo>
                  <a:lnTo>
                    <a:pt x="25323" y="241300"/>
                  </a:lnTo>
                  <a:lnTo>
                    <a:pt x="25387" y="1206500"/>
                  </a:lnTo>
                  <a:close/>
                </a:path>
                <a:path w="2980690" h="1447800">
                  <a:moveTo>
                    <a:pt x="2980308" y="1206500"/>
                  </a:moveTo>
                  <a:lnTo>
                    <a:pt x="2954921" y="1206500"/>
                  </a:lnTo>
                  <a:lnTo>
                    <a:pt x="2954921" y="241300"/>
                  </a:lnTo>
                  <a:lnTo>
                    <a:pt x="2954705" y="228600"/>
                  </a:lnTo>
                  <a:lnTo>
                    <a:pt x="2980080" y="228600"/>
                  </a:lnTo>
                  <a:lnTo>
                    <a:pt x="2980308" y="241300"/>
                  </a:lnTo>
                  <a:lnTo>
                    <a:pt x="2980308" y="1206500"/>
                  </a:lnTo>
                  <a:close/>
                </a:path>
                <a:path w="2980690" h="1447800">
                  <a:moveTo>
                    <a:pt x="25971" y="1219200"/>
                  </a:moveTo>
                  <a:lnTo>
                    <a:pt x="660" y="1219200"/>
                  </a:lnTo>
                  <a:lnTo>
                    <a:pt x="253" y="1206500"/>
                  </a:lnTo>
                  <a:lnTo>
                    <a:pt x="25603" y="1206500"/>
                  </a:lnTo>
                  <a:lnTo>
                    <a:pt x="25971" y="1219200"/>
                  </a:lnTo>
                  <a:close/>
                </a:path>
                <a:path w="2980690" h="1447800">
                  <a:moveTo>
                    <a:pt x="2979674" y="1219200"/>
                  </a:moveTo>
                  <a:lnTo>
                    <a:pt x="2954324" y="1219200"/>
                  </a:lnTo>
                  <a:lnTo>
                    <a:pt x="2954693" y="1206500"/>
                  </a:lnTo>
                  <a:lnTo>
                    <a:pt x="2980080" y="1206500"/>
                  </a:lnTo>
                  <a:lnTo>
                    <a:pt x="2979674" y="1219200"/>
                  </a:lnTo>
                  <a:close/>
                </a:path>
                <a:path w="2980690" h="1447800">
                  <a:moveTo>
                    <a:pt x="27889" y="1231900"/>
                  </a:moveTo>
                  <a:lnTo>
                    <a:pt x="1955" y="1231900"/>
                  </a:lnTo>
                  <a:lnTo>
                    <a:pt x="1231" y="1219200"/>
                  </a:lnTo>
                  <a:lnTo>
                    <a:pt x="27114" y="1219200"/>
                  </a:lnTo>
                  <a:lnTo>
                    <a:pt x="27889" y="1231900"/>
                  </a:lnTo>
                  <a:close/>
                </a:path>
                <a:path w="2980690" h="1447800">
                  <a:moveTo>
                    <a:pt x="2978404" y="1231900"/>
                  </a:moveTo>
                  <a:lnTo>
                    <a:pt x="2952381" y="1231900"/>
                  </a:lnTo>
                  <a:lnTo>
                    <a:pt x="2953169" y="1219200"/>
                  </a:lnTo>
                  <a:lnTo>
                    <a:pt x="2979115" y="1219200"/>
                  </a:lnTo>
                  <a:lnTo>
                    <a:pt x="2978404" y="1231900"/>
                  </a:lnTo>
                  <a:close/>
                </a:path>
                <a:path w="2980690" h="1447800">
                  <a:moveTo>
                    <a:pt x="29857" y="1244600"/>
                  </a:moveTo>
                  <a:lnTo>
                    <a:pt x="3860" y="1244600"/>
                  </a:lnTo>
                  <a:lnTo>
                    <a:pt x="2832" y="1231900"/>
                  </a:lnTo>
                  <a:lnTo>
                    <a:pt x="28816" y="1231900"/>
                  </a:lnTo>
                  <a:lnTo>
                    <a:pt x="29857" y="1244600"/>
                  </a:lnTo>
                  <a:close/>
                </a:path>
                <a:path w="2980690" h="1447800">
                  <a:moveTo>
                    <a:pt x="2976511" y="1244600"/>
                  </a:moveTo>
                  <a:lnTo>
                    <a:pt x="2950387" y="1244600"/>
                  </a:lnTo>
                  <a:lnTo>
                    <a:pt x="2951454" y="1231900"/>
                  </a:lnTo>
                  <a:lnTo>
                    <a:pt x="2977527" y="1231900"/>
                  </a:lnTo>
                  <a:lnTo>
                    <a:pt x="2976511" y="1244600"/>
                  </a:lnTo>
                  <a:close/>
                </a:path>
                <a:path w="2980690" h="1447800">
                  <a:moveTo>
                    <a:pt x="32321" y="1257300"/>
                  </a:moveTo>
                  <a:lnTo>
                    <a:pt x="6375" y="1257300"/>
                  </a:lnTo>
                  <a:lnTo>
                    <a:pt x="5041" y="1244600"/>
                  </a:lnTo>
                  <a:lnTo>
                    <a:pt x="31051" y="1244600"/>
                  </a:lnTo>
                  <a:lnTo>
                    <a:pt x="32321" y="1257300"/>
                  </a:lnTo>
                  <a:close/>
                </a:path>
                <a:path w="2980690" h="1447800">
                  <a:moveTo>
                    <a:pt x="2974009" y="1257300"/>
                  </a:moveTo>
                  <a:lnTo>
                    <a:pt x="2947860" y="1257300"/>
                  </a:lnTo>
                  <a:lnTo>
                    <a:pt x="2949193" y="1244600"/>
                  </a:lnTo>
                  <a:lnTo>
                    <a:pt x="2975330" y="1244600"/>
                  </a:lnTo>
                  <a:lnTo>
                    <a:pt x="2974009" y="1257300"/>
                  </a:lnTo>
                  <a:close/>
                </a:path>
                <a:path w="2980690" h="1447800">
                  <a:moveTo>
                    <a:pt x="39090" y="1270000"/>
                  </a:moveTo>
                  <a:lnTo>
                    <a:pt x="11099" y="1270000"/>
                  </a:lnTo>
                  <a:lnTo>
                    <a:pt x="7899" y="1257300"/>
                  </a:lnTo>
                  <a:lnTo>
                    <a:pt x="35344" y="1257300"/>
                  </a:lnTo>
                  <a:lnTo>
                    <a:pt x="39090" y="1270000"/>
                  </a:lnTo>
                  <a:close/>
                </a:path>
                <a:path w="2980690" h="1447800">
                  <a:moveTo>
                    <a:pt x="2969221" y="1270000"/>
                  </a:moveTo>
                  <a:lnTo>
                    <a:pt x="2941231" y="1270000"/>
                  </a:lnTo>
                  <a:lnTo>
                    <a:pt x="2944964" y="1257300"/>
                  </a:lnTo>
                  <a:lnTo>
                    <a:pt x="2972422" y="1257300"/>
                  </a:lnTo>
                  <a:lnTo>
                    <a:pt x="2969221" y="1270000"/>
                  </a:lnTo>
                  <a:close/>
                </a:path>
                <a:path w="2980690" h="1447800">
                  <a:moveTo>
                    <a:pt x="43129" y="1282700"/>
                  </a:moveTo>
                  <a:lnTo>
                    <a:pt x="15024" y="1282700"/>
                  </a:lnTo>
                  <a:lnTo>
                    <a:pt x="11290" y="1270000"/>
                  </a:lnTo>
                  <a:lnTo>
                    <a:pt x="38874" y="1270000"/>
                  </a:lnTo>
                  <a:lnTo>
                    <a:pt x="43129" y="1282700"/>
                  </a:lnTo>
                  <a:close/>
                </a:path>
                <a:path w="2980690" h="1447800">
                  <a:moveTo>
                    <a:pt x="2960814" y="1295400"/>
                  </a:moveTo>
                  <a:lnTo>
                    <a:pt x="2932658" y="1295400"/>
                  </a:lnTo>
                  <a:lnTo>
                    <a:pt x="2937421" y="1282700"/>
                  </a:lnTo>
                  <a:lnTo>
                    <a:pt x="2937179" y="1282700"/>
                  </a:lnTo>
                  <a:lnTo>
                    <a:pt x="2941447" y="1270000"/>
                  </a:lnTo>
                  <a:lnTo>
                    <a:pt x="2969031" y="1270000"/>
                  </a:lnTo>
                  <a:lnTo>
                    <a:pt x="2965284" y="1282700"/>
                  </a:lnTo>
                  <a:lnTo>
                    <a:pt x="2960814" y="1295400"/>
                  </a:lnTo>
                  <a:close/>
                </a:path>
                <a:path w="2980690" h="1447800">
                  <a:moveTo>
                    <a:pt x="47650" y="1295400"/>
                  </a:moveTo>
                  <a:lnTo>
                    <a:pt x="19507" y="1295400"/>
                  </a:lnTo>
                  <a:lnTo>
                    <a:pt x="15239" y="1282700"/>
                  </a:lnTo>
                  <a:lnTo>
                    <a:pt x="42887" y="1282700"/>
                  </a:lnTo>
                  <a:lnTo>
                    <a:pt x="47650" y="1295400"/>
                  </a:lnTo>
                  <a:close/>
                </a:path>
                <a:path w="2980690" h="1447800">
                  <a:moveTo>
                    <a:pt x="63944" y="1320800"/>
                  </a:moveTo>
                  <a:lnTo>
                    <a:pt x="30035" y="1320800"/>
                  </a:lnTo>
                  <a:lnTo>
                    <a:pt x="24777" y="1308100"/>
                  </a:lnTo>
                  <a:lnTo>
                    <a:pt x="19748" y="1295400"/>
                  </a:lnTo>
                  <a:lnTo>
                    <a:pt x="47383" y="1295400"/>
                  </a:lnTo>
                  <a:lnTo>
                    <a:pt x="52641" y="1308100"/>
                  </a:lnTo>
                  <a:lnTo>
                    <a:pt x="57759" y="1308100"/>
                  </a:lnTo>
                  <a:lnTo>
                    <a:pt x="63944" y="1320800"/>
                  </a:lnTo>
                  <a:close/>
                </a:path>
                <a:path w="2980690" h="1447800">
                  <a:moveTo>
                    <a:pt x="2950286" y="1320800"/>
                  </a:moveTo>
                  <a:lnTo>
                    <a:pt x="2916377" y="1320800"/>
                  </a:lnTo>
                  <a:lnTo>
                    <a:pt x="2922562" y="1308100"/>
                  </a:lnTo>
                  <a:lnTo>
                    <a:pt x="2927680" y="1308100"/>
                  </a:lnTo>
                  <a:lnTo>
                    <a:pt x="2932925" y="1295400"/>
                  </a:lnTo>
                  <a:lnTo>
                    <a:pt x="2960573" y="1295400"/>
                  </a:lnTo>
                  <a:lnTo>
                    <a:pt x="2955543" y="1308100"/>
                  </a:lnTo>
                  <a:lnTo>
                    <a:pt x="2950286" y="1320800"/>
                  </a:lnTo>
                  <a:close/>
                </a:path>
                <a:path w="2980690" h="1447800">
                  <a:moveTo>
                    <a:pt x="70230" y="1333500"/>
                  </a:moveTo>
                  <a:lnTo>
                    <a:pt x="42557" y="1333500"/>
                  </a:lnTo>
                  <a:lnTo>
                    <a:pt x="36372" y="1320800"/>
                  </a:lnTo>
                  <a:lnTo>
                    <a:pt x="63601" y="1320800"/>
                  </a:lnTo>
                  <a:lnTo>
                    <a:pt x="70230" y="1333500"/>
                  </a:lnTo>
                  <a:close/>
                </a:path>
                <a:path w="2980690" h="1447800">
                  <a:moveTo>
                    <a:pt x="2922968" y="1358900"/>
                  </a:moveTo>
                  <a:lnTo>
                    <a:pt x="2888818" y="1358900"/>
                  </a:lnTo>
                  <a:lnTo>
                    <a:pt x="2896704" y="1346200"/>
                  </a:lnTo>
                  <a:lnTo>
                    <a:pt x="2896298" y="1346200"/>
                  </a:lnTo>
                  <a:lnTo>
                    <a:pt x="2903766" y="1333500"/>
                  </a:lnTo>
                  <a:lnTo>
                    <a:pt x="2910078" y="1333500"/>
                  </a:lnTo>
                  <a:lnTo>
                    <a:pt x="2916720" y="1320800"/>
                  </a:lnTo>
                  <a:lnTo>
                    <a:pt x="2943948" y="1320800"/>
                  </a:lnTo>
                  <a:lnTo>
                    <a:pt x="2937421" y="1333500"/>
                  </a:lnTo>
                  <a:lnTo>
                    <a:pt x="2930423" y="1346200"/>
                  </a:lnTo>
                  <a:lnTo>
                    <a:pt x="2922968" y="1358900"/>
                  </a:lnTo>
                  <a:close/>
                </a:path>
                <a:path w="2980690" h="1447800">
                  <a:moveTo>
                    <a:pt x="91490" y="1358900"/>
                  </a:moveTo>
                  <a:lnTo>
                    <a:pt x="57340" y="1358900"/>
                  </a:lnTo>
                  <a:lnTo>
                    <a:pt x="49898" y="1346200"/>
                  </a:lnTo>
                  <a:lnTo>
                    <a:pt x="42900" y="1333500"/>
                  </a:lnTo>
                  <a:lnTo>
                    <a:pt x="76542" y="1333500"/>
                  </a:lnTo>
                  <a:lnTo>
                    <a:pt x="84023" y="1346200"/>
                  </a:lnTo>
                  <a:lnTo>
                    <a:pt x="83616" y="1346200"/>
                  </a:lnTo>
                  <a:lnTo>
                    <a:pt x="91490" y="1358900"/>
                  </a:lnTo>
                  <a:close/>
                </a:path>
                <a:path w="2980690" h="1447800">
                  <a:moveTo>
                    <a:pt x="107505" y="1371600"/>
                  </a:moveTo>
                  <a:lnTo>
                    <a:pt x="73113" y="1371600"/>
                  </a:lnTo>
                  <a:lnTo>
                    <a:pt x="64820" y="1358900"/>
                  </a:lnTo>
                  <a:lnTo>
                    <a:pt x="98882" y="1358900"/>
                  </a:lnTo>
                  <a:lnTo>
                    <a:pt x="107505" y="1371600"/>
                  </a:lnTo>
                  <a:close/>
                </a:path>
                <a:path w="2980690" h="1447800">
                  <a:moveTo>
                    <a:pt x="2898521" y="1384300"/>
                  </a:moveTo>
                  <a:lnTo>
                    <a:pt x="2855442" y="1384300"/>
                  </a:lnTo>
                  <a:lnTo>
                    <a:pt x="2864777" y="1371600"/>
                  </a:lnTo>
                  <a:lnTo>
                    <a:pt x="2872803" y="1371600"/>
                  </a:lnTo>
                  <a:lnTo>
                    <a:pt x="2881439" y="1358900"/>
                  </a:lnTo>
                  <a:lnTo>
                    <a:pt x="2915488" y="1358900"/>
                  </a:lnTo>
                  <a:lnTo>
                    <a:pt x="2907207" y="1371600"/>
                  </a:lnTo>
                  <a:lnTo>
                    <a:pt x="2898521" y="1384300"/>
                  </a:lnTo>
                  <a:close/>
                </a:path>
                <a:path w="2980690" h="1447800">
                  <a:moveTo>
                    <a:pt x="124866" y="1384300"/>
                  </a:moveTo>
                  <a:lnTo>
                    <a:pt x="82245" y="1384300"/>
                  </a:lnTo>
                  <a:lnTo>
                    <a:pt x="73532" y="1371600"/>
                  </a:lnTo>
                  <a:lnTo>
                    <a:pt x="115544" y="1371600"/>
                  </a:lnTo>
                  <a:lnTo>
                    <a:pt x="124866" y="1384300"/>
                  </a:lnTo>
                  <a:close/>
                </a:path>
                <a:path w="2980690" h="1447800">
                  <a:moveTo>
                    <a:pt x="143446" y="1397000"/>
                  </a:moveTo>
                  <a:lnTo>
                    <a:pt x="100329" y="1397000"/>
                  </a:lnTo>
                  <a:lnTo>
                    <a:pt x="91351" y="1384300"/>
                  </a:lnTo>
                  <a:lnTo>
                    <a:pt x="133489" y="1384300"/>
                  </a:lnTo>
                  <a:lnTo>
                    <a:pt x="143446" y="1397000"/>
                  </a:lnTo>
                  <a:close/>
                </a:path>
                <a:path w="2980690" h="1447800">
                  <a:moveTo>
                    <a:pt x="2869666" y="1409700"/>
                  </a:moveTo>
                  <a:lnTo>
                    <a:pt x="2817164" y="1409700"/>
                  </a:lnTo>
                  <a:lnTo>
                    <a:pt x="2827705" y="1397000"/>
                  </a:lnTo>
                  <a:lnTo>
                    <a:pt x="2836862" y="1397000"/>
                  </a:lnTo>
                  <a:lnTo>
                    <a:pt x="2846819" y="1384300"/>
                  </a:lnTo>
                  <a:lnTo>
                    <a:pt x="2888970" y="1384300"/>
                  </a:lnTo>
                  <a:lnTo>
                    <a:pt x="2879496" y="1397000"/>
                  </a:lnTo>
                  <a:lnTo>
                    <a:pt x="2869666" y="1409700"/>
                  </a:lnTo>
                  <a:close/>
                </a:path>
                <a:path w="2980690" h="1447800">
                  <a:moveTo>
                    <a:pt x="163144" y="1409700"/>
                  </a:moveTo>
                  <a:lnTo>
                    <a:pt x="110655" y="1409700"/>
                  </a:lnTo>
                  <a:lnTo>
                    <a:pt x="110147" y="1397000"/>
                  </a:lnTo>
                  <a:lnTo>
                    <a:pt x="152615" y="1397000"/>
                  </a:lnTo>
                  <a:lnTo>
                    <a:pt x="163144" y="1409700"/>
                  </a:lnTo>
                  <a:close/>
                </a:path>
                <a:path w="2980690" h="1447800">
                  <a:moveTo>
                    <a:pt x="173380" y="1409700"/>
                  </a:moveTo>
                  <a:lnTo>
                    <a:pt x="163144" y="1409700"/>
                  </a:lnTo>
                  <a:lnTo>
                    <a:pt x="162572" y="1397000"/>
                  </a:lnTo>
                  <a:lnTo>
                    <a:pt x="173380" y="1409700"/>
                  </a:lnTo>
                  <a:close/>
                </a:path>
                <a:path w="2980690" h="1447800">
                  <a:moveTo>
                    <a:pt x="2817164" y="1409700"/>
                  </a:moveTo>
                  <a:lnTo>
                    <a:pt x="2806941" y="1409700"/>
                  </a:lnTo>
                  <a:lnTo>
                    <a:pt x="2817736" y="1397000"/>
                  </a:lnTo>
                  <a:lnTo>
                    <a:pt x="2817164" y="1409700"/>
                  </a:lnTo>
                  <a:close/>
                </a:path>
                <a:path w="2980690" h="1447800">
                  <a:moveTo>
                    <a:pt x="205270" y="1422400"/>
                  </a:moveTo>
                  <a:lnTo>
                    <a:pt x="131330" y="1422400"/>
                  </a:lnTo>
                  <a:lnTo>
                    <a:pt x="120827" y="1409700"/>
                  </a:lnTo>
                  <a:lnTo>
                    <a:pt x="199491" y="1409700"/>
                  </a:lnTo>
                  <a:lnTo>
                    <a:pt x="205270" y="1422400"/>
                  </a:lnTo>
                  <a:close/>
                </a:path>
                <a:path w="2980690" h="1447800">
                  <a:moveTo>
                    <a:pt x="2838729" y="1422400"/>
                  </a:moveTo>
                  <a:lnTo>
                    <a:pt x="2775038" y="1422400"/>
                  </a:lnTo>
                  <a:lnTo>
                    <a:pt x="2780817" y="1409700"/>
                  </a:lnTo>
                  <a:lnTo>
                    <a:pt x="2849524" y="1409700"/>
                  </a:lnTo>
                  <a:lnTo>
                    <a:pt x="2838729" y="1422400"/>
                  </a:lnTo>
                  <a:close/>
                </a:path>
                <a:path w="2980690" h="1447800">
                  <a:moveTo>
                    <a:pt x="2816250" y="1435100"/>
                  </a:moveTo>
                  <a:lnTo>
                    <a:pt x="164058" y="1435100"/>
                  </a:lnTo>
                  <a:lnTo>
                    <a:pt x="153263" y="1422400"/>
                  </a:lnTo>
                  <a:lnTo>
                    <a:pt x="2827058" y="1422400"/>
                  </a:lnTo>
                  <a:lnTo>
                    <a:pt x="2816250" y="1435100"/>
                  </a:lnTo>
                  <a:close/>
                </a:path>
                <a:path w="2980690" h="1447800">
                  <a:moveTo>
                    <a:pt x="2774302" y="1447800"/>
                  </a:moveTo>
                  <a:lnTo>
                    <a:pt x="206336" y="1447800"/>
                  </a:lnTo>
                  <a:lnTo>
                    <a:pt x="200190" y="1435100"/>
                  </a:lnTo>
                  <a:lnTo>
                    <a:pt x="2780449" y="1435100"/>
                  </a:lnTo>
                  <a:lnTo>
                    <a:pt x="2774302" y="14478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9022804" y="1793417"/>
              <a:ext cx="121920" cy="105410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14576" y="2244559"/>
            <a:ext cx="121920" cy="10541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09416" y="2244559"/>
            <a:ext cx="121919" cy="10541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84671" y="2244559"/>
            <a:ext cx="121920" cy="10541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66101" y="1528965"/>
            <a:ext cx="5513705" cy="10604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35" dirty="0">
                <a:latin typeface="微软雅黑" panose="020B0503020204020204" charset="-122"/>
                <a:cs typeface="微软雅黑" panose="020B0503020204020204" charset="-122"/>
              </a:rPr>
              <a:t>损失函数</a:t>
            </a:r>
            <a:endParaRPr sz="2800">
              <a:latin typeface="微软雅黑" panose="020B0503020204020204" charset="-122"/>
              <a:cs typeface="微软雅黑" panose="020B0503020204020204" charset="-122"/>
            </a:endParaRPr>
          </a:p>
          <a:p>
            <a:pPr marL="325120">
              <a:lnSpc>
                <a:spcPct val="100000"/>
              </a:lnSpc>
              <a:spcBef>
                <a:spcPts val="1910"/>
              </a:spcBef>
            </a:pPr>
            <a:r>
              <a:rPr sz="2400" dirty="0">
                <a:latin typeface="Cambria Math" panose="02040503050406030204"/>
                <a:cs typeface="Cambria Math" panose="02040503050406030204"/>
              </a:rPr>
              <a:t>𝐿(𝑦,</a:t>
            </a:r>
            <a:r>
              <a:rPr sz="2400" spc="-13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𝑦)</a:t>
            </a:r>
            <a:r>
              <a:rPr sz="2400" spc="14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=−</a:t>
            </a:r>
            <a:r>
              <a:rPr sz="2400" spc="1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𝑦log(𝑦)</a:t>
            </a:r>
            <a:r>
              <a:rPr sz="2400" spc="1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400" spc="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(1</a:t>
            </a:r>
            <a:r>
              <a:rPr sz="2400" spc="1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400" spc="1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𝑦)log(1</a:t>
            </a:r>
            <a:r>
              <a:rPr sz="2400" spc="1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400" spc="1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25" dirty="0">
                <a:latin typeface="Cambria Math" panose="02040503050406030204"/>
                <a:cs typeface="Cambria Math" panose="02040503050406030204"/>
              </a:rPr>
              <a:t>𝑦)</a:t>
            </a:r>
            <a:endParaRPr sz="24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00100" y="3117799"/>
            <a:ext cx="10906760" cy="1788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66700">
              <a:lnSpc>
                <a:spcPct val="150000"/>
              </a:lnSpc>
              <a:spcBef>
                <a:spcPts val="100"/>
              </a:spcBef>
            </a:pPr>
            <a:r>
              <a:rPr sz="2400" spc="55" dirty="0">
                <a:latin typeface="微软雅黑" panose="020B0503020204020204" charset="-122"/>
                <a:cs typeface="微软雅黑" panose="020B0503020204020204" charset="-122"/>
              </a:rPr>
              <a:t>为了衡量算法在全部训练样本上的表现如何，我们需要定义一个算法的代价函</a:t>
            </a: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数，算法的代价函数是对</a:t>
            </a:r>
            <a:r>
              <a:rPr sz="2400" spc="-35" dirty="0">
                <a:latin typeface="Cambria Math" panose="02040503050406030204"/>
                <a:cs typeface="Cambria Math" panose="02040503050406030204"/>
              </a:rPr>
              <a:t>𝑚</a:t>
            </a: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个样本的损失函数求和然后除以</a:t>
            </a:r>
            <a:r>
              <a:rPr sz="2400" spc="-25" dirty="0">
                <a:latin typeface="Cambria Math" panose="02040503050406030204"/>
                <a:cs typeface="Cambria Math" panose="02040503050406030204"/>
              </a:rPr>
              <a:t>𝑚</a:t>
            </a:r>
            <a:r>
              <a:rPr sz="2400" spc="-25" dirty="0">
                <a:latin typeface="微软雅黑" panose="020B0503020204020204" charset="-122"/>
                <a:cs typeface="微软雅黑" panose="020B0503020204020204" charset="-122"/>
              </a:rPr>
              <a:t>: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  <a:p>
            <a:pPr marL="316865">
              <a:lnSpc>
                <a:spcPct val="100000"/>
              </a:lnSpc>
              <a:spcBef>
                <a:spcPts val="1875"/>
              </a:spcBef>
            </a:pPr>
            <a:r>
              <a:rPr sz="2800" b="1" spc="-35" dirty="0">
                <a:latin typeface="微软雅黑" panose="020B0503020204020204" charset="-122"/>
                <a:cs typeface="微软雅黑" panose="020B0503020204020204" charset="-122"/>
              </a:rPr>
              <a:t>代价函数</a:t>
            </a:r>
            <a:endParaRPr sz="28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872005" y="5395645"/>
            <a:ext cx="186055" cy="20320"/>
          </a:xfrm>
          <a:custGeom>
            <a:avLst/>
            <a:gdLst/>
            <a:ahLst/>
            <a:cxnLst/>
            <a:rect l="l" t="t" r="r" b="b"/>
            <a:pathLst>
              <a:path w="186055" h="20320">
                <a:moveTo>
                  <a:pt x="186055" y="20002"/>
                </a:moveTo>
                <a:lnTo>
                  <a:pt x="0" y="20002"/>
                </a:lnTo>
                <a:lnTo>
                  <a:pt x="0" y="0"/>
                </a:lnTo>
                <a:lnTo>
                  <a:pt x="186055" y="0"/>
                </a:lnTo>
                <a:lnTo>
                  <a:pt x="186055" y="200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21761" y="5222621"/>
            <a:ext cx="121919" cy="105409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4648860" y="5395645"/>
            <a:ext cx="186055" cy="20320"/>
          </a:xfrm>
          <a:custGeom>
            <a:avLst/>
            <a:gdLst/>
            <a:ahLst/>
            <a:cxnLst/>
            <a:rect l="l" t="t" r="r" b="b"/>
            <a:pathLst>
              <a:path w="186054" h="20320">
                <a:moveTo>
                  <a:pt x="186054" y="20002"/>
                </a:moveTo>
                <a:lnTo>
                  <a:pt x="0" y="20002"/>
                </a:lnTo>
                <a:lnTo>
                  <a:pt x="0" y="0"/>
                </a:lnTo>
                <a:lnTo>
                  <a:pt x="186054" y="0"/>
                </a:lnTo>
                <a:lnTo>
                  <a:pt x="186054" y="200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859305" y="5411419"/>
            <a:ext cx="2988945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788920" algn="l"/>
              </a:tabLst>
            </a:pPr>
            <a:r>
              <a:rPr sz="1750" spc="-50" dirty="0">
                <a:latin typeface="Cambria Math" panose="02040503050406030204"/>
                <a:cs typeface="Cambria Math" panose="02040503050406030204"/>
              </a:rPr>
              <a:t>𝑚</a:t>
            </a:r>
            <a:r>
              <a:rPr sz="175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1750" spc="-50" dirty="0">
                <a:latin typeface="Cambria Math" panose="02040503050406030204"/>
                <a:cs typeface="Cambria Math" panose="02040503050406030204"/>
              </a:rPr>
              <a:t>𝑚</a:t>
            </a:r>
            <a:endParaRPr sz="17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312060" y="5370779"/>
            <a:ext cx="3161665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788920" algn="l"/>
              </a:tabLst>
            </a:pPr>
            <a:r>
              <a:rPr sz="1750" spc="-25" dirty="0">
                <a:latin typeface="Cambria Math" panose="02040503050406030204"/>
                <a:cs typeface="Cambria Math" panose="02040503050406030204"/>
              </a:rPr>
              <a:t>𝑖=1</a:t>
            </a:r>
            <a:r>
              <a:rPr sz="175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1750" spc="-25" dirty="0">
                <a:latin typeface="Cambria Math" panose="02040503050406030204"/>
                <a:cs typeface="Cambria Math" panose="02040503050406030204"/>
              </a:rPr>
              <a:t>𝑖=1</a:t>
            </a:r>
            <a:endParaRPr sz="1750">
              <a:latin typeface="Cambria Math" panose="02040503050406030204"/>
              <a:cs typeface="Cambria Math" panose="02040503050406030204"/>
            </a:endParaRPr>
          </a:p>
        </p:txBody>
      </p:sp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822541" y="5222621"/>
            <a:ext cx="121920" cy="105409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920071" y="5222621"/>
            <a:ext cx="121920" cy="105409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828700" y="5175199"/>
            <a:ext cx="98380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1905635" algn="l"/>
                <a:tab pos="4682490" algn="l"/>
              </a:tabLst>
            </a:pPr>
            <a:r>
              <a:rPr sz="2400" dirty="0">
                <a:latin typeface="Cambria Math" panose="02040503050406030204"/>
                <a:cs typeface="Cambria Math" panose="02040503050406030204"/>
              </a:rPr>
              <a:t>𝐽</a:t>
            </a:r>
            <a:r>
              <a:rPr sz="3600" baseline="200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𝑤</a:t>
            </a:r>
            <a:r>
              <a:rPr sz="3600" baseline="2000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3600" spc="187" baseline="2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2400" spc="36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625" baseline="44000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2625" spc="359" baseline="44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25" dirty="0">
                <a:latin typeface="Cambria Math" panose="02040503050406030204"/>
                <a:cs typeface="Cambria Math" panose="02040503050406030204"/>
              </a:rPr>
              <a:t>∑</a:t>
            </a:r>
            <a:r>
              <a:rPr sz="2625" spc="-37" baseline="37000" dirty="0">
                <a:latin typeface="Cambria Math" panose="02040503050406030204"/>
                <a:cs typeface="Cambria Math" panose="02040503050406030204"/>
              </a:rPr>
              <a:t>𝑚</a:t>
            </a:r>
            <a:r>
              <a:rPr sz="2625" baseline="370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𝐿</a:t>
            </a:r>
            <a:r>
              <a:rPr sz="2400" spc="-13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50" dirty="0">
                <a:latin typeface="Cambria Math" panose="02040503050406030204"/>
                <a:cs typeface="Cambria Math" panose="02040503050406030204"/>
              </a:rPr>
              <a:t>(𝑦</a:t>
            </a:r>
            <a:r>
              <a:rPr sz="2625" spc="75" baseline="51000" dirty="0">
                <a:latin typeface="Cambria Math" panose="02040503050406030204"/>
                <a:cs typeface="Cambria Math" panose="02040503050406030204"/>
              </a:rPr>
              <a:t>(𝑖)</a:t>
            </a:r>
            <a:r>
              <a:rPr sz="2400" spc="50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2400" spc="-12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60" dirty="0">
                <a:latin typeface="Cambria Math" panose="02040503050406030204"/>
                <a:cs typeface="Cambria Math" panose="02040503050406030204"/>
              </a:rPr>
              <a:t>𝑦</a:t>
            </a:r>
            <a:r>
              <a:rPr sz="2625" spc="89" baseline="27000" dirty="0">
                <a:latin typeface="Cambria Math" panose="02040503050406030204"/>
                <a:cs typeface="Cambria Math" panose="02040503050406030204"/>
              </a:rPr>
              <a:t>(𝑖)</a:t>
            </a:r>
            <a:r>
              <a:rPr sz="2400" spc="60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2400" spc="1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2400" spc="39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625" baseline="44000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2625" spc="397" baseline="44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25" dirty="0">
                <a:latin typeface="Cambria Math" panose="02040503050406030204"/>
                <a:cs typeface="Cambria Math" panose="02040503050406030204"/>
              </a:rPr>
              <a:t>∑</a:t>
            </a:r>
            <a:r>
              <a:rPr sz="2625" spc="-37" baseline="37000" dirty="0">
                <a:latin typeface="Cambria Math" panose="02040503050406030204"/>
                <a:cs typeface="Cambria Math" panose="02040503050406030204"/>
              </a:rPr>
              <a:t>𝑚</a:t>
            </a:r>
            <a:r>
              <a:rPr sz="2625" baseline="370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2400" spc="80" dirty="0">
                <a:latin typeface="Cambria Math" panose="02040503050406030204"/>
                <a:cs typeface="Cambria Math" panose="02040503050406030204"/>
              </a:rPr>
              <a:t>(−</a:t>
            </a:r>
            <a:r>
              <a:rPr sz="2400" spc="4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𝑦</a:t>
            </a:r>
            <a:r>
              <a:rPr sz="2625" baseline="27000" dirty="0">
                <a:latin typeface="Cambria Math" panose="02040503050406030204"/>
                <a:cs typeface="Cambria Math" panose="02040503050406030204"/>
              </a:rPr>
              <a:t>(𝑖)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log𝑦</a:t>
            </a:r>
            <a:r>
              <a:rPr sz="2625" baseline="51000" dirty="0">
                <a:latin typeface="Cambria Math" panose="02040503050406030204"/>
                <a:cs typeface="Cambria Math" panose="02040503050406030204"/>
              </a:rPr>
              <a:t>(𝑖)</a:t>
            </a:r>
            <a:r>
              <a:rPr sz="2625" spc="427" baseline="51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400" spc="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(1</a:t>
            </a:r>
            <a:r>
              <a:rPr sz="2400" spc="4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400" spc="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𝑦</a:t>
            </a:r>
            <a:r>
              <a:rPr sz="2625" baseline="27000" dirty="0">
                <a:latin typeface="Cambria Math" panose="02040503050406030204"/>
                <a:cs typeface="Cambria Math" panose="02040503050406030204"/>
              </a:rPr>
              <a:t>(𝑖)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)log(1</a:t>
            </a:r>
            <a:r>
              <a:rPr sz="2400" spc="4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400" spc="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10" dirty="0">
                <a:latin typeface="Cambria Math" panose="02040503050406030204"/>
                <a:cs typeface="Cambria Math" panose="02040503050406030204"/>
              </a:rPr>
              <a:t>𝑦</a:t>
            </a:r>
            <a:r>
              <a:rPr sz="2625" spc="-15" baseline="51000" dirty="0">
                <a:latin typeface="Cambria Math" panose="02040503050406030204"/>
                <a:cs typeface="Cambria Math" panose="02040503050406030204"/>
              </a:rPr>
              <a:t>(𝑖)</a:t>
            </a:r>
            <a:r>
              <a:rPr sz="2400" spc="-10" dirty="0">
                <a:latin typeface="Cambria Math" panose="02040503050406030204"/>
                <a:cs typeface="Cambria Math" panose="02040503050406030204"/>
              </a:rPr>
              <a:t>))</a:t>
            </a:r>
            <a:endParaRPr sz="24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985275" y="1745360"/>
            <a:ext cx="1962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 panose="02040503050406030204"/>
                <a:cs typeface="Cambria Math" panose="02040503050406030204"/>
              </a:rPr>
              <a:t>𝑦</a:t>
            </a:r>
            <a:endParaRPr sz="24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985275" y="2407132"/>
            <a:ext cx="1962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 panose="02040503050406030204"/>
                <a:cs typeface="Cambria Math" panose="02040503050406030204"/>
              </a:rPr>
              <a:t>𝑦</a:t>
            </a:r>
            <a:endParaRPr sz="24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385312" y="1760423"/>
            <a:ext cx="2133600" cy="1103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表示预测值</a:t>
            </a:r>
            <a:r>
              <a:rPr sz="2400" spc="-20" dirty="0">
                <a:latin typeface="Cambria Math" panose="02040503050406030204"/>
                <a:cs typeface="Cambria Math" panose="02040503050406030204"/>
              </a:rPr>
              <a:t>ℎ(𝑥)</a:t>
            </a:r>
            <a:endParaRPr sz="2400">
              <a:latin typeface="Cambria Math" panose="02040503050406030204"/>
              <a:cs typeface="Cambria Math" panose="02040503050406030204"/>
            </a:endParaRPr>
          </a:p>
          <a:p>
            <a:pPr marL="12700">
              <a:lnSpc>
                <a:spcPct val="100000"/>
              </a:lnSpc>
              <a:spcBef>
                <a:spcPts val="2725"/>
              </a:spcBef>
            </a:pPr>
            <a:r>
              <a:rPr sz="2400" spc="-10" dirty="0">
                <a:latin typeface="微软雅黑" panose="020B0503020204020204" charset="-122"/>
                <a:cs typeface="微软雅黑" panose="020B0503020204020204" charset="-122"/>
              </a:rPr>
              <a:t>表示真实值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latin typeface="Arial" panose="020B0604020202020204"/>
                <a:cs typeface="Arial" panose="020B0604020202020204"/>
              </a:rPr>
              <a:t>3.</a:t>
            </a:r>
            <a:r>
              <a:rPr spc="-10" dirty="0"/>
              <a:t>逻辑回归求解</a:t>
            </a:r>
            <a:endParaRPr spc="-1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999744"/>
            <a:ext cx="646430" cy="262255"/>
          </a:xfrm>
          <a:prstGeom prst="rect">
            <a:avLst/>
          </a:prstGeom>
          <a:solidFill>
            <a:srgbClr val="A40020"/>
          </a:solidFill>
        </p:spPr>
        <p:txBody>
          <a:bodyPr vert="horz" wrap="square" lIns="0" tIns="635" rIns="0" bIns="0" rtlCol="0">
            <a:spAutoFit/>
          </a:bodyPr>
          <a:lstStyle/>
          <a:p>
            <a:pPr marL="375285">
              <a:lnSpc>
                <a:spcPct val="100000"/>
              </a:lnSpc>
              <a:spcBef>
                <a:spcPts val="5"/>
              </a:spcBef>
            </a:pPr>
            <a:r>
              <a:rPr sz="1400" b="1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66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latin typeface="Arial" panose="020B0604020202020204"/>
                <a:cs typeface="Arial" panose="020B0604020202020204"/>
              </a:rPr>
              <a:t>3.</a:t>
            </a:r>
            <a:r>
              <a:rPr spc="-10" dirty="0"/>
              <a:t>逻辑回归求解</a:t>
            </a:r>
            <a:endParaRPr spc="-10" dirty="0"/>
          </a:p>
        </p:txBody>
      </p:sp>
      <p:sp>
        <p:nvSpPr>
          <p:cNvPr id="4" name="object 4"/>
          <p:cNvSpPr txBox="1"/>
          <p:nvPr/>
        </p:nvSpPr>
        <p:spPr>
          <a:xfrm>
            <a:off x="628307" y="1523644"/>
            <a:ext cx="1549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微软雅黑" panose="020B0503020204020204" charset="-122"/>
                <a:cs typeface="微软雅黑" panose="020B0503020204020204" charset="-122"/>
              </a:rPr>
              <a:t>求解过程：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22686" y="2369464"/>
            <a:ext cx="3269615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96870" algn="l"/>
              </a:tabLst>
            </a:pPr>
            <a:r>
              <a:rPr sz="1750" spc="-25" dirty="0">
                <a:latin typeface="Cambria Math" panose="02040503050406030204"/>
                <a:cs typeface="Cambria Math" panose="02040503050406030204"/>
              </a:rPr>
              <a:t>𝑖=1</a:t>
            </a:r>
            <a:r>
              <a:rPr sz="175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1750" spc="-25" dirty="0">
                <a:latin typeface="Cambria Math" panose="02040503050406030204"/>
                <a:cs typeface="Cambria Math" panose="02040503050406030204"/>
              </a:rPr>
              <a:t>𝑖=1</a:t>
            </a:r>
            <a:endParaRPr sz="17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0207" y="2173884"/>
            <a:ext cx="105321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2059305" algn="l"/>
                <a:tab pos="3755390" algn="l"/>
                <a:tab pos="6640195" algn="l"/>
              </a:tabLst>
            </a:pP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似然函数为</a:t>
            </a:r>
            <a:r>
              <a:rPr sz="2400" spc="-50" dirty="0">
                <a:latin typeface="微软雅黑" panose="020B0503020204020204" charset="-122"/>
                <a:cs typeface="微软雅黑" panose="020B0503020204020204" charset="-122"/>
              </a:rPr>
              <a:t>：</a:t>
            </a:r>
            <a:r>
              <a:rPr sz="2400" dirty="0">
                <a:latin typeface="微软雅黑" panose="020B0503020204020204" charset="-122"/>
                <a:cs typeface="微软雅黑" panose="020B0503020204020204" charset="-122"/>
              </a:rPr>
              <a:t>	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𝐿(𝑤)</a:t>
            </a:r>
            <a:r>
              <a:rPr sz="2400" spc="114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2400" spc="114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25" dirty="0">
                <a:latin typeface="Cambria Math" panose="02040503050406030204"/>
                <a:cs typeface="Cambria Math" panose="02040503050406030204"/>
              </a:rPr>
              <a:t>∏</a:t>
            </a:r>
            <a:r>
              <a:rPr sz="2625" spc="-37" baseline="37000" dirty="0">
                <a:latin typeface="Cambria Math" panose="02040503050406030204"/>
                <a:cs typeface="Cambria Math" panose="02040503050406030204"/>
              </a:rPr>
              <a:t>𝑚</a:t>
            </a:r>
            <a:r>
              <a:rPr sz="2625" baseline="370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𝑃</a:t>
            </a:r>
            <a:r>
              <a:rPr sz="2400" spc="-9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(𝑦</a:t>
            </a:r>
            <a:r>
              <a:rPr sz="2625" baseline="27000" dirty="0">
                <a:latin typeface="Cambria Math" panose="02040503050406030204"/>
                <a:cs typeface="Cambria Math" panose="02040503050406030204"/>
              </a:rPr>
              <a:t>(𝑖)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|𝑥</a:t>
            </a:r>
            <a:r>
              <a:rPr sz="2625" baseline="27000" dirty="0">
                <a:latin typeface="Cambria Math" panose="02040503050406030204"/>
                <a:cs typeface="Cambria Math" panose="02040503050406030204"/>
              </a:rPr>
              <a:t>(𝑖)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;</a:t>
            </a:r>
            <a:r>
              <a:rPr sz="2400" spc="-7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𝑤)</a:t>
            </a:r>
            <a:r>
              <a:rPr sz="2400" spc="21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2400" spc="21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25" dirty="0">
                <a:latin typeface="Cambria Math" panose="02040503050406030204"/>
                <a:cs typeface="Cambria Math" panose="02040503050406030204"/>
              </a:rPr>
              <a:t>∏</a:t>
            </a:r>
            <a:r>
              <a:rPr sz="2625" spc="-37" baseline="37000" dirty="0">
                <a:latin typeface="Cambria Math" panose="02040503050406030204"/>
                <a:cs typeface="Cambria Math" panose="02040503050406030204"/>
              </a:rPr>
              <a:t>𝑚</a:t>
            </a:r>
            <a:r>
              <a:rPr sz="2625" baseline="370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2400" spc="-1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2400" spc="-1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ℎ(𝑥</a:t>
            </a:r>
            <a:r>
              <a:rPr sz="2625" baseline="27000" dirty="0">
                <a:latin typeface="Cambria Math" panose="02040503050406030204"/>
                <a:cs typeface="Cambria Math" panose="02040503050406030204"/>
              </a:rPr>
              <a:t>(𝑖)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))</a:t>
            </a:r>
            <a:r>
              <a:rPr sz="2625" baseline="27000" dirty="0">
                <a:latin typeface="Cambria Math" panose="02040503050406030204"/>
                <a:cs typeface="Cambria Math" panose="02040503050406030204"/>
              </a:rPr>
              <a:t>𝑦</a:t>
            </a:r>
            <a:r>
              <a:rPr sz="2100" baseline="60000" dirty="0">
                <a:latin typeface="Cambria Math" panose="02040503050406030204"/>
                <a:cs typeface="Cambria Math" panose="02040503050406030204"/>
              </a:rPr>
              <a:t>(𝑖)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(1</a:t>
            </a:r>
            <a:r>
              <a:rPr sz="2400" spc="16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400" spc="17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10" dirty="0">
                <a:latin typeface="Cambria Math" panose="02040503050406030204"/>
                <a:cs typeface="Cambria Math" panose="02040503050406030204"/>
              </a:rPr>
              <a:t>ℎ(𝑥</a:t>
            </a:r>
            <a:r>
              <a:rPr sz="2625" spc="-15" baseline="27000" dirty="0">
                <a:latin typeface="Cambria Math" panose="02040503050406030204"/>
                <a:cs typeface="Cambria Math" panose="02040503050406030204"/>
              </a:rPr>
              <a:t>(𝑖)</a:t>
            </a:r>
            <a:r>
              <a:rPr sz="2400" spc="-10" dirty="0">
                <a:latin typeface="Cambria Math" panose="02040503050406030204"/>
                <a:cs typeface="Cambria Math" panose="02040503050406030204"/>
              </a:rPr>
              <a:t>))</a:t>
            </a:r>
            <a:r>
              <a:rPr sz="2625" spc="-15" baseline="27000" dirty="0">
                <a:latin typeface="Cambria Math" panose="02040503050406030204"/>
                <a:cs typeface="Cambria Math" panose="02040503050406030204"/>
              </a:rPr>
              <a:t>1−𝑦</a:t>
            </a:r>
            <a:r>
              <a:rPr sz="2100" spc="-15" baseline="60000" dirty="0">
                <a:latin typeface="Cambria Math" panose="02040503050406030204"/>
                <a:cs typeface="Cambria Math" panose="02040503050406030204"/>
              </a:rPr>
              <a:t>(𝑖)</a:t>
            </a:r>
            <a:endParaRPr sz="2100" baseline="60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02907" y="2822219"/>
            <a:ext cx="10883900" cy="19837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ts val="2730"/>
              </a:lnSpc>
              <a:spcBef>
                <a:spcPts val="100"/>
              </a:spcBef>
            </a:pPr>
            <a:r>
              <a:rPr sz="2400" spc="-5" dirty="0">
                <a:latin typeface="微软雅黑" panose="020B0503020204020204" charset="-122"/>
                <a:cs typeface="微软雅黑" panose="020B0503020204020204" charset="-122"/>
              </a:rPr>
              <a:t>似然函数两边取对数，则连乘号变成了连加号：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  <a:p>
            <a:pPr marR="1472565" algn="ctr">
              <a:lnSpc>
                <a:spcPts val="1950"/>
              </a:lnSpc>
            </a:pPr>
            <a:r>
              <a:rPr sz="1750" spc="-50" dirty="0">
                <a:latin typeface="Cambria Math" panose="02040503050406030204"/>
                <a:cs typeface="Cambria Math" panose="02040503050406030204"/>
              </a:rPr>
              <a:t>𝑚</a:t>
            </a:r>
            <a:endParaRPr sz="1750">
              <a:latin typeface="Cambria Math" panose="02040503050406030204"/>
              <a:cs typeface="Cambria Math" panose="02040503050406030204"/>
            </a:endParaRPr>
          </a:p>
          <a:p>
            <a:pPr marL="2093595">
              <a:lnSpc>
                <a:spcPct val="100000"/>
              </a:lnSpc>
              <a:spcBef>
                <a:spcPts val="825"/>
              </a:spcBef>
            </a:pPr>
            <a:r>
              <a:rPr sz="2400" dirty="0">
                <a:latin typeface="Cambria Math" panose="02040503050406030204"/>
                <a:cs typeface="Cambria Math" panose="02040503050406030204"/>
              </a:rPr>
              <a:t>𝑙(𝑤)</a:t>
            </a:r>
            <a:r>
              <a:rPr sz="2400" spc="15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2400" spc="15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log𝐿(𝑤)</a:t>
            </a:r>
            <a:r>
              <a:rPr sz="2400" spc="15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2400" spc="15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1475" dirty="0">
                <a:latin typeface="Cambria Math" panose="02040503050406030204"/>
                <a:cs typeface="Cambria Math" panose="02040503050406030204"/>
              </a:rPr>
              <a:t>∑</a:t>
            </a:r>
            <a:r>
              <a:rPr sz="2400" spc="-13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1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2400" spc="-12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𝑦</a:t>
            </a:r>
            <a:r>
              <a:rPr sz="2625" baseline="27000" dirty="0">
                <a:latin typeface="Cambria Math" panose="02040503050406030204"/>
                <a:cs typeface="Cambria Math" panose="02040503050406030204"/>
              </a:rPr>
              <a:t>(𝑖)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log(ℎ(𝑥</a:t>
            </a:r>
            <a:r>
              <a:rPr sz="2625" baseline="27000" dirty="0">
                <a:latin typeface="Cambria Math" panose="02040503050406030204"/>
                <a:cs typeface="Cambria Math" panose="02040503050406030204"/>
              </a:rPr>
              <a:t>(𝑖)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))</a:t>
            </a:r>
            <a:r>
              <a:rPr sz="2400" spc="2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+</a:t>
            </a:r>
            <a:r>
              <a:rPr sz="2400" spc="2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(1</a:t>
            </a:r>
            <a:r>
              <a:rPr sz="2400" spc="2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400" spc="2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𝑦</a:t>
            </a:r>
            <a:r>
              <a:rPr sz="2625" baseline="27000" dirty="0">
                <a:latin typeface="Cambria Math" panose="02040503050406030204"/>
                <a:cs typeface="Cambria Math" panose="02040503050406030204"/>
              </a:rPr>
              <a:t>(𝑖)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)log(1</a:t>
            </a:r>
            <a:r>
              <a:rPr sz="2400" spc="2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400" spc="2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10" dirty="0">
                <a:latin typeface="Cambria Math" panose="02040503050406030204"/>
                <a:cs typeface="Cambria Math" panose="02040503050406030204"/>
              </a:rPr>
              <a:t>ℎ(𝑥</a:t>
            </a:r>
            <a:r>
              <a:rPr sz="2625" spc="-15" baseline="27000" dirty="0">
                <a:latin typeface="Cambria Math" panose="02040503050406030204"/>
                <a:cs typeface="Cambria Math" panose="02040503050406030204"/>
              </a:rPr>
              <a:t>(𝑖)</a:t>
            </a:r>
            <a:r>
              <a:rPr sz="2400" spc="-10" dirty="0">
                <a:latin typeface="Cambria Math" panose="02040503050406030204"/>
                <a:cs typeface="Cambria Math" panose="02040503050406030204"/>
              </a:rPr>
              <a:t>)))</a:t>
            </a:r>
            <a:endParaRPr sz="2400">
              <a:latin typeface="Cambria Math" panose="02040503050406030204"/>
              <a:cs typeface="Cambria Math" panose="02040503050406030204"/>
            </a:endParaRPr>
          </a:p>
          <a:p>
            <a:pPr marR="1472565" algn="ctr">
              <a:lnSpc>
                <a:spcPts val="1895"/>
              </a:lnSpc>
              <a:spcBef>
                <a:spcPts val="900"/>
              </a:spcBef>
            </a:pPr>
            <a:r>
              <a:rPr sz="1750" spc="-25" dirty="0">
                <a:latin typeface="Cambria Math" panose="02040503050406030204"/>
                <a:cs typeface="Cambria Math" panose="02040503050406030204"/>
              </a:rPr>
              <a:t>𝑖=1</a:t>
            </a:r>
            <a:endParaRPr sz="1750">
              <a:latin typeface="Cambria Math" panose="02040503050406030204"/>
              <a:cs typeface="Cambria Math" panose="02040503050406030204"/>
            </a:endParaRPr>
          </a:p>
          <a:p>
            <a:pPr marL="38100">
              <a:lnSpc>
                <a:spcPts val="2405"/>
              </a:lnSpc>
            </a:pPr>
            <a:r>
              <a:rPr sz="2400" spc="-10" dirty="0">
                <a:latin typeface="微软雅黑" panose="020B0503020204020204" charset="-122"/>
                <a:cs typeface="微软雅黑" panose="020B0503020204020204" charset="-122"/>
              </a:rPr>
              <a:t>代价函数为：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  <a:p>
            <a:pPr marR="876935" algn="ctr">
              <a:lnSpc>
                <a:spcPts val="1830"/>
              </a:lnSpc>
            </a:pPr>
            <a:r>
              <a:rPr sz="1750" spc="-50" dirty="0">
                <a:latin typeface="Cambria Math" panose="02040503050406030204"/>
                <a:cs typeface="Cambria Math" panose="02040503050406030204"/>
              </a:rPr>
              <a:t>𝑚</a:t>
            </a:r>
            <a:endParaRPr sz="17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603281" y="5105831"/>
            <a:ext cx="255270" cy="20320"/>
          </a:xfrm>
          <a:custGeom>
            <a:avLst/>
            <a:gdLst/>
            <a:ahLst/>
            <a:cxnLst/>
            <a:rect l="l" t="t" r="r" b="b"/>
            <a:pathLst>
              <a:path w="255270" h="20320">
                <a:moveTo>
                  <a:pt x="255269" y="20002"/>
                </a:moveTo>
                <a:lnTo>
                  <a:pt x="0" y="20002"/>
                </a:lnTo>
                <a:lnTo>
                  <a:pt x="0" y="0"/>
                </a:lnTo>
                <a:lnTo>
                  <a:pt x="255269" y="0"/>
                </a:lnTo>
                <a:lnTo>
                  <a:pt x="255269" y="200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094261" y="5105831"/>
            <a:ext cx="255270" cy="20320"/>
          </a:xfrm>
          <a:custGeom>
            <a:avLst/>
            <a:gdLst/>
            <a:ahLst/>
            <a:cxnLst/>
            <a:rect l="l" t="t" r="r" b="b"/>
            <a:pathLst>
              <a:path w="255270" h="20320">
                <a:moveTo>
                  <a:pt x="255270" y="20002"/>
                </a:moveTo>
                <a:lnTo>
                  <a:pt x="0" y="20002"/>
                </a:lnTo>
                <a:lnTo>
                  <a:pt x="0" y="0"/>
                </a:lnTo>
                <a:lnTo>
                  <a:pt x="255270" y="0"/>
                </a:lnTo>
                <a:lnTo>
                  <a:pt x="255270" y="200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3590581" y="5089169"/>
            <a:ext cx="17722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03045" algn="l"/>
              </a:tabLst>
            </a:pPr>
            <a:r>
              <a:rPr sz="2400" spc="-50" dirty="0">
                <a:latin typeface="Cambria Math" panose="02040503050406030204"/>
                <a:cs typeface="Cambria Math" panose="02040503050406030204"/>
              </a:rPr>
              <a:t>𝑚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2400" spc="-50" dirty="0">
                <a:latin typeface="Cambria Math" panose="02040503050406030204"/>
                <a:cs typeface="Cambria Math" panose="02040503050406030204"/>
              </a:rPr>
              <a:t>𝑚</a:t>
            </a:r>
            <a:endParaRPr sz="24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61222" y="4885334"/>
            <a:ext cx="9423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 panose="02040503050406030204"/>
                <a:cs typeface="Cambria Math" panose="02040503050406030204"/>
              </a:rPr>
              <a:t>𝐽(𝑤)</a:t>
            </a:r>
            <a:r>
              <a:rPr sz="2400" spc="15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=−</a:t>
            </a:r>
            <a:r>
              <a:rPr sz="2400" spc="36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3600" baseline="42000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3600" spc="337" baseline="42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𝑙(𝑤)</a:t>
            </a:r>
            <a:r>
              <a:rPr sz="2400" spc="15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=−</a:t>
            </a:r>
            <a:r>
              <a:rPr sz="2400" spc="36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3600" baseline="42000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3600" spc="330" baseline="42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1475" dirty="0">
                <a:latin typeface="Cambria Math" panose="02040503050406030204"/>
                <a:cs typeface="Cambria Math" panose="02040503050406030204"/>
              </a:rPr>
              <a:t>∑</a:t>
            </a:r>
            <a:r>
              <a:rPr sz="2400" spc="-12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1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2400" spc="-12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𝑦</a:t>
            </a:r>
            <a:r>
              <a:rPr sz="2625" baseline="27000" dirty="0">
                <a:latin typeface="Cambria Math" panose="02040503050406030204"/>
                <a:cs typeface="Cambria Math" panose="02040503050406030204"/>
              </a:rPr>
              <a:t>(𝑖)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log(ℎ(𝑥</a:t>
            </a:r>
            <a:r>
              <a:rPr sz="2625" baseline="27000" dirty="0">
                <a:latin typeface="Cambria Math" panose="02040503050406030204"/>
                <a:cs typeface="Cambria Math" panose="02040503050406030204"/>
              </a:rPr>
              <a:t>(𝑖)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))</a:t>
            </a:r>
            <a:r>
              <a:rPr sz="2400" spc="2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+</a:t>
            </a:r>
            <a:r>
              <a:rPr sz="2400" spc="2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(1</a:t>
            </a:r>
            <a:r>
              <a:rPr sz="2400" spc="2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400" spc="2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𝑦</a:t>
            </a:r>
            <a:r>
              <a:rPr sz="2625" baseline="27000" dirty="0">
                <a:latin typeface="Cambria Math" panose="02040503050406030204"/>
                <a:cs typeface="Cambria Math" panose="02040503050406030204"/>
              </a:rPr>
              <a:t>(𝑖)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)log(1</a:t>
            </a:r>
            <a:r>
              <a:rPr sz="2400" spc="2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400" spc="1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10" dirty="0">
                <a:latin typeface="Cambria Math" panose="02040503050406030204"/>
                <a:cs typeface="Cambria Math" panose="02040503050406030204"/>
              </a:rPr>
              <a:t>ℎ(𝑥</a:t>
            </a:r>
            <a:r>
              <a:rPr sz="2625" spc="-15" baseline="27000" dirty="0">
                <a:latin typeface="Cambria Math" panose="02040503050406030204"/>
                <a:cs typeface="Cambria Math" panose="02040503050406030204"/>
              </a:rPr>
              <a:t>(𝑖)</a:t>
            </a:r>
            <a:r>
              <a:rPr sz="2400" spc="-10" dirty="0">
                <a:latin typeface="Cambria Math" panose="02040503050406030204"/>
                <a:cs typeface="Cambria Math" panose="02040503050406030204"/>
              </a:rPr>
              <a:t>)))</a:t>
            </a:r>
            <a:endParaRPr sz="24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409856" y="5365394"/>
            <a:ext cx="384810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25" dirty="0">
                <a:latin typeface="Cambria Math" panose="02040503050406030204"/>
                <a:cs typeface="Cambria Math" panose="02040503050406030204"/>
              </a:rPr>
              <a:t>𝑖=1</a:t>
            </a:r>
            <a:endParaRPr sz="1750">
              <a:latin typeface="Cambria Math" panose="02040503050406030204"/>
              <a:cs typeface="Cambria Math" panose="02040503050406030204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999744"/>
            <a:ext cx="646430" cy="262255"/>
          </a:xfrm>
          <a:prstGeom prst="rect">
            <a:avLst/>
          </a:prstGeom>
          <a:solidFill>
            <a:srgbClr val="A40020"/>
          </a:solidFill>
        </p:spPr>
        <p:txBody>
          <a:bodyPr vert="horz" wrap="square" lIns="0" tIns="635" rIns="0" bIns="0" rtlCol="0">
            <a:spAutoFit/>
          </a:bodyPr>
          <a:lstStyle/>
          <a:p>
            <a:pPr marL="375285">
              <a:lnSpc>
                <a:spcPct val="100000"/>
              </a:lnSpc>
              <a:spcBef>
                <a:spcPts val="5"/>
              </a:spcBef>
            </a:pPr>
            <a:r>
              <a:rPr sz="1400" b="1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67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latin typeface="Arial" panose="020B0604020202020204"/>
                <a:cs typeface="Arial" panose="020B0604020202020204"/>
              </a:rPr>
              <a:t>3.</a:t>
            </a:r>
            <a:r>
              <a:rPr spc="-10" dirty="0"/>
              <a:t>逻辑回归求解</a:t>
            </a:r>
            <a:endParaRPr spc="-10" dirty="0"/>
          </a:p>
        </p:txBody>
      </p:sp>
      <p:sp>
        <p:nvSpPr>
          <p:cNvPr id="4" name="object 4"/>
          <p:cNvSpPr txBox="1"/>
          <p:nvPr/>
        </p:nvSpPr>
        <p:spPr>
          <a:xfrm>
            <a:off x="628307" y="1523644"/>
            <a:ext cx="2768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微软雅黑" panose="020B0503020204020204" charset="-122"/>
                <a:cs typeface="微软雅黑" panose="020B0503020204020204" charset="-122"/>
              </a:rPr>
              <a:t>梯度下降求解过程：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23626" y="1829015"/>
            <a:ext cx="170116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140" dirty="0">
                <a:latin typeface="Cambria Math" panose="02040503050406030204"/>
                <a:cs typeface="Cambria Math" panose="02040503050406030204"/>
              </a:rPr>
              <a:t>𝑤</a:t>
            </a:r>
            <a:r>
              <a:rPr sz="2625" spc="209" baseline="-16000" dirty="0">
                <a:latin typeface="Cambria Math" panose="02040503050406030204"/>
                <a:cs typeface="Cambria Math" panose="02040503050406030204"/>
              </a:rPr>
              <a:t>j</a:t>
            </a:r>
            <a:r>
              <a:rPr sz="2400" spc="140" dirty="0">
                <a:latin typeface="Cambria Math" panose="02040503050406030204"/>
                <a:cs typeface="Cambria Math" panose="02040503050406030204"/>
              </a:rPr>
              <a:t>: </a:t>
            </a:r>
            <a:r>
              <a:rPr sz="2400" spc="110" dirty="0">
                <a:latin typeface="Cambria Math" panose="02040503050406030204"/>
                <a:cs typeface="Cambria Math" panose="02040503050406030204"/>
              </a:rPr>
              <a:t>=𝑤</a:t>
            </a:r>
            <a:r>
              <a:rPr sz="2625" spc="165" baseline="-16000" dirty="0">
                <a:latin typeface="Cambria Math" panose="02040503050406030204"/>
                <a:cs typeface="Cambria Math" panose="02040503050406030204"/>
              </a:rPr>
              <a:t>j</a:t>
            </a:r>
            <a:r>
              <a:rPr sz="2625" spc="375" baseline="-16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400" spc="1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50" dirty="0">
                <a:latin typeface="Cambria Math" panose="02040503050406030204"/>
                <a:cs typeface="Cambria Math" panose="02040503050406030204"/>
              </a:rPr>
              <a:t>𝛼</a:t>
            </a:r>
            <a:endParaRPr sz="24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25426" y="1599145"/>
            <a:ext cx="7899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mbria Math" panose="02040503050406030204"/>
                <a:cs typeface="Cambria Math" panose="02040503050406030204"/>
              </a:rPr>
              <a:t>𝜕𝐽(𝑤)</a:t>
            </a:r>
            <a:endParaRPr sz="24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838126" y="2049513"/>
            <a:ext cx="763905" cy="20320"/>
          </a:xfrm>
          <a:custGeom>
            <a:avLst/>
            <a:gdLst/>
            <a:ahLst/>
            <a:cxnLst/>
            <a:rect l="l" t="t" r="r" b="b"/>
            <a:pathLst>
              <a:path w="763904" h="20319">
                <a:moveTo>
                  <a:pt x="763905" y="20002"/>
                </a:moveTo>
                <a:lnTo>
                  <a:pt x="0" y="20002"/>
                </a:lnTo>
                <a:lnTo>
                  <a:pt x="0" y="0"/>
                </a:lnTo>
                <a:lnTo>
                  <a:pt x="763905" y="0"/>
                </a:lnTo>
                <a:lnTo>
                  <a:pt x="763905" y="200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010211" y="2032850"/>
            <a:ext cx="4203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 panose="02040503050406030204"/>
                <a:cs typeface="Cambria Math" panose="02040503050406030204"/>
              </a:rPr>
              <a:t>𝜕𝑤</a:t>
            </a:r>
            <a:endParaRPr sz="24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658046" y="3221088"/>
            <a:ext cx="255270" cy="20320"/>
          </a:xfrm>
          <a:custGeom>
            <a:avLst/>
            <a:gdLst/>
            <a:ahLst/>
            <a:cxnLst/>
            <a:rect l="l" t="t" r="r" b="b"/>
            <a:pathLst>
              <a:path w="255269" h="20319">
                <a:moveTo>
                  <a:pt x="255270" y="20002"/>
                </a:moveTo>
                <a:lnTo>
                  <a:pt x="0" y="20002"/>
                </a:lnTo>
                <a:lnTo>
                  <a:pt x="0" y="0"/>
                </a:lnTo>
                <a:lnTo>
                  <a:pt x="255270" y="0"/>
                </a:lnTo>
                <a:lnTo>
                  <a:pt x="255270" y="200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2645346" y="3204425"/>
            <a:ext cx="2813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 panose="02040503050406030204"/>
                <a:cs typeface="Cambria Math" panose="02040503050406030204"/>
              </a:rPr>
              <a:t>𝑚</a:t>
            </a:r>
            <a:endParaRPr sz="24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15986" y="3000590"/>
            <a:ext cx="79324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 panose="02040503050406030204"/>
                <a:cs typeface="Cambria Math" panose="02040503050406030204"/>
              </a:rPr>
              <a:t>𝐽(𝑤)</a:t>
            </a:r>
            <a:r>
              <a:rPr sz="2400" spc="16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=−</a:t>
            </a:r>
            <a:r>
              <a:rPr sz="2400" spc="37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3600" baseline="42000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3600" spc="352" baseline="42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1475" dirty="0">
                <a:latin typeface="Cambria Math" panose="02040503050406030204"/>
                <a:cs typeface="Cambria Math" panose="02040503050406030204"/>
              </a:rPr>
              <a:t>∑</a:t>
            </a:r>
            <a:r>
              <a:rPr sz="2400" spc="-12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1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2400" spc="-12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𝑦</a:t>
            </a:r>
            <a:r>
              <a:rPr sz="2625" baseline="27000" dirty="0">
                <a:latin typeface="Cambria Math" panose="02040503050406030204"/>
                <a:cs typeface="Cambria Math" panose="02040503050406030204"/>
              </a:rPr>
              <a:t>(𝑖)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log(ℎ(𝑥</a:t>
            </a:r>
            <a:r>
              <a:rPr sz="2625" baseline="27000" dirty="0">
                <a:latin typeface="Cambria Math" panose="02040503050406030204"/>
                <a:cs typeface="Cambria Math" panose="02040503050406030204"/>
              </a:rPr>
              <a:t>(𝑖)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))</a:t>
            </a:r>
            <a:r>
              <a:rPr sz="2400" spc="2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+</a:t>
            </a:r>
            <a:r>
              <a:rPr sz="2400" spc="3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(1</a:t>
            </a:r>
            <a:r>
              <a:rPr sz="2400" spc="2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400" spc="3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𝑦</a:t>
            </a:r>
            <a:r>
              <a:rPr sz="2625" baseline="27000" dirty="0">
                <a:latin typeface="Cambria Math" panose="02040503050406030204"/>
                <a:cs typeface="Cambria Math" panose="02040503050406030204"/>
              </a:rPr>
              <a:t>(𝑖)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)log(1</a:t>
            </a:r>
            <a:r>
              <a:rPr sz="2400" spc="2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400" spc="3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10" dirty="0">
                <a:latin typeface="Cambria Math" panose="02040503050406030204"/>
                <a:cs typeface="Cambria Math" panose="02040503050406030204"/>
              </a:rPr>
              <a:t>ℎ(𝑥</a:t>
            </a:r>
            <a:r>
              <a:rPr sz="2625" spc="-15" baseline="27000" dirty="0">
                <a:latin typeface="Cambria Math" panose="02040503050406030204"/>
                <a:cs typeface="Cambria Math" panose="02040503050406030204"/>
              </a:rPr>
              <a:t>(𝑖)</a:t>
            </a:r>
            <a:r>
              <a:rPr sz="2400" spc="-10" dirty="0">
                <a:latin typeface="Cambria Math" panose="02040503050406030204"/>
                <a:cs typeface="Cambria Math" panose="02040503050406030204"/>
              </a:rPr>
              <a:t>)))</a:t>
            </a:r>
            <a:endParaRPr sz="24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973641" y="3464908"/>
            <a:ext cx="399415" cy="695325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1750" spc="-25" dirty="0">
                <a:latin typeface="Cambria Math" panose="02040503050406030204"/>
                <a:cs typeface="Cambria Math" panose="02040503050406030204"/>
              </a:rPr>
              <a:t>𝑖=1</a:t>
            </a:r>
            <a:endParaRPr sz="1750">
              <a:latin typeface="Cambria Math" panose="02040503050406030204"/>
              <a:cs typeface="Cambria Math" panose="02040503050406030204"/>
            </a:endParaRPr>
          </a:p>
          <a:p>
            <a:pPr marL="216535">
              <a:lnSpc>
                <a:spcPct val="100000"/>
              </a:lnSpc>
              <a:spcBef>
                <a:spcPts val="170"/>
              </a:spcBef>
            </a:pPr>
            <a:r>
              <a:rPr sz="2400" spc="-50" dirty="0">
                <a:latin typeface="Cambria Math" panose="02040503050406030204"/>
                <a:cs typeface="Cambria Math" panose="02040503050406030204"/>
              </a:rPr>
              <a:t>𝜕</a:t>
            </a:r>
            <a:endParaRPr sz="24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060001" y="2629115"/>
            <a:ext cx="212090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50" dirty="0">
                <a:latin typeface="Cambria Math" panose="02040503050406030204"/>
                <a:cs typeface="Cambria Math" panose="02040503050406030204"/>
              </a:rPr>
              <a:t>𝑚</a:t>
            </a:r>
            <a:endParaRPr sz="17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019996" y="4219308"/>
            <a:ext cx="511175" cy="20320"/>
          </a:xfrm>
          <a:custGeom>
            <a:avLst/>
            <a:gdLst/>
            <a:ahLst/>
            <a:cxnLst/>
            <a:rect l="l" t="t" r="r" b="b"/>
            <a:pathLst>
              <a:path w="511175" h="20320">
                <a:moveTo>
                  <a:pt x="511175" y="20002"/>
                </a:moveTo>
                <a:lnTo>
                  <a:pt x="0" y="20002"/>
                </a:lnTo>
                <a:lnTo>
                  <a:pt x="0" y="0"/>
                </a:lnTo>
                <a:lnTo>
                  <a:pt x="511175" y="0"/>
                </a:lnTo>
                <a:lnTo>
                  <a:pt x="511175" y="200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2981896" y="4202645"/>
            <a:ext cx="575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80" dirty="0">
                <a:latin typeface="Cambria Math" panose="02040503050406030204"/>
                <a:cs typeface="Cambria Math" panose="02040503050406030204"/>
              </a:rPr>
              <a:t>𝜕𝑤</a:t>
            </a:r>
            <a:r>
              <a:rPr sz="2625" spc="120" baseline="-16000" dirty="0">
                <a:latin typeface="Cambria Math" panose="02040503050406030204"/>
                <a:cs typeface="Cambria Math" panose="02040503050406030204"/>
              </a:rPr>
              <a:t>j</a:t>
            </a:r>
            <a:endParaRPr sz="2625" baseline="-16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575111" y="4219308"/>
            <a:ext cx="255270" cy="20320"/>
          </a:xfrm>
          <a:custGeom>
            <a:avLst/>
            <a:gdLst/>
            <a:ahLst/>
            <a:cxnLst/>
            <a:rect l="l" t="t" r="r" b="b"/>
            <a:pathLst>
              <a:path w="255270" h="20320">
                <a:moveTo>
                  <a:pt x="255270" y="20002"/>
                </a:moveTo>
                <a:lnTo>
                  <a:pt x="0" y="20002"/>
                </a:lnTo>
                <a:lnTo>
                  <a:pt x="0" y="0"/>
                </a:lnTo>
                <a:lnTo>
                  <a:pt x="255270" y="0"/>
                </a:lnTo>
                <a:lnTo>
                  <a:pt x="255270" y="200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4562411" y="4202645"/>
            <a:ext cx="2813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 panose="02040503050406030204"/>
                <a:cs typeface="Cambria Math" panose="02040503050406030204"/>
              </a:rPr>
              <a:t>𝑚</a:t>
            </a:r>
            <a:endParaRPr sz="24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890706" y="4478870"/>
            <a:ext cx="384810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25" dirty="0">
                <a:latin typeface="Cambria Math" panose="02040503050406030204"/>
                <a:cs typeface="Cambria Math" panose="02040503050406030204"/>
              </a:rPr>
              <a:t>𝑖=1</a:t>
            </a:r>
            <a:endParaRPr sz="17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977066" y="3627335"/>
            <a:ext cx="212090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50" dirty="0">
                <a:latin typeface="Cambria Math" panose="02040503050406030204"/>
                <a:cs typeface="Cambria Math" panose="02040503050406030204"/>
              </a:rPr>
              <a:t>𝑚</a:t>
            </a:r>
            <a:endParaRPr sz="17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456741" y="4180420"/>
            <a:ext cx="130175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305" dirty="0">
                <a:latin typeface="Cambria Math" panose="02040503050406030204"/>
                <a:cs typeface="Cambria Math" panose="02040503050406030204"/>
              </a:rPr>
              <a:t>j</a:t>
            </a:r>
            <a:endParaRPr sz="17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544506" y="3998810"/>
            <a:ext cx="42259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073150" algn="l"/>
              </a:tabLst>
            </a:pPr>
            <a:r>
              <a:rPr sz="2400" dirty="0">
                <a:latin typeface="Cambria Math" panose="02040503050406030204"/>
                <a:cs typeface="Cambria Math" panose="02040503050406030204"/>
              </a:rPr>
              <a:t>𝐽(𝑤)</a:t>
            </a:r>
            <a:r>
              <a:rPr sz="2400" spc="9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50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3600" baseline="42000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3600" spc="352" baseline="42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1475" dirty="0">
                <a:latin typeface="Cambria Math" panose="02040503050406030204"/>
                <a:cs typeface="Cambria Math" panose="02040503050406030204"/>
              </a:rPr>
              <a:t>∑</a:t>
            </a:r>
            <a:r>
              <a:rPr sz="2400" spc="-12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1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2400" spc="-114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ℎ(𝑥</a:t>
            </a:r>
            <a:r>
              <a:rPr sz="2625" baseline="27000" dirty="0">
                <a:latin typeface="Cambria Math" panose="02040503050406030204"/>
                <a:cs typeface="Cambria Math" panose="02040503050406030204"/>
              </a:rPr>
              <a:t>(𝑖)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2400" spc="3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400" spc="3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10" dirty="0">
                <a:latin typeface="Cambria Math" panose="02040503050406030204"/>
                <a:cs typeface="Cambria Math" panose="02040503050406030204"/>
              </a:rPr>
              <a:t>𝑦</a:t>
            </a:r>
            <a:r>
              <a:rPr sz="2625" spc="-15" baseline="27000" dirty="0">
                <a:latin typeface="Cambria Math" panose="02040503050406030204"/>
                <a:cs typeface="Cambria Math" panose="02040503050406030204"/>
              </a:rPr>
              <a:t>(𝑖)</a:t>
            </a:r>
            <a:r>
              <a:rPr sz="2400" spc="-10" dirty="0">
                <a:latin typeface="Cambria Math" panose="02040503050406030204"/>
                <a:cs typeface="Cambria Math" panose="02040503050406030204"/>
              </a:rPr>
              <a:t>)𝑥</a:t>
            </a:r>
            <a:r>
              <a:rPr sz="2625" spc="-15" baseline="41000" dirty="0">
                <a:latin typeface="Cambria Math" panose="02040503050406030204"/>
                <a:cs typeface="Cambria Math" panose="02040503050406030204"/>
              </a:rPr>
              <a:t>(𝑖)</a:t>
            </a:r>
            <a:endParaRPr sz="2625" baseline="41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476561" y="5350827"/>
            <a:ext cx="186055" cy="20320"/>
          </a:xfrm>
          <a:custGeom>
            <a:avLst/>
            <a:gdLst/>
            <a:ahLst/>
            <a:cxnLst/>
            <a:rect l="l" t="t" r="r" b="b"/>
            <a:pathLst>
              <a:path w="186054" h="20320">
                <a:moveTo>
                  <a:pt x="186054" y="20002"/>
                </a:moveTo>
                <a:lnTo>
                  <a:pt x="0" y="20002"/>
                </a:lnTo>
                <a:lnTo>
                  <a:pt x="0" y="0"/>
                </a:lnTo>
                <a:lnTo>
                  <a:pt x="186054" y="0"/>
                </a:lnTo>
                <a:lnTo>
                  <a:pt x="186054" y="200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3463861" y="5366601"/>
            <a:ext cx="212090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50" dirty="0">
                <a:latin typeface="Cambria Math" panose="02040503050406030204"/>
                <a:cs typeface="Cambria Math" panose="02040503050406030204"/>
              </a:rPr>
              <a:t>𝑚</a:t>
            </a:r>
            <a:endParaRPr sz="17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916616" y="5325960"/>
            <a:ext cx="384810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25" dirty="0">
                <a:latin typeface="Cambria Math" panose="02040503050406030204"/>
                <a:cs typeface="Cambria Math" panose="02040503050406030204"/>
              </a:rPr>
              <a:t>𝑖=1</a:t>
            </a:r>
            <a:endParaRPr sz="17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152461" y="5130381"/>
            <a:ext cx="30016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50" dirty="0">
                <a:latin typeface="微软雅黑" panose="020B0503020204020204" charset="-122"/>
                <a:cs typeface="微软雅黑" panose="020B0503020204020204" charset="-122"/>
              </a:rPr>
              <a:t>则：</a:t>
            </a:r>
            <a:r>
              <a:rPr sz="2400" spc="105" dirty="0">
                <a:latin typeface="Cambria Math" panose="02040503050406030204"/>
                <a:cs typeface="Cambria Math" panose="02040503050406030204"/>
              </a:rPr>
              <a:t>𝑤</a:t>
            </a:r>
            <a:r>
              <a:rPr sz="2625" spc="157" baseline="-16000" dirty="0">
                <a:latin typeface="Cambria Math" panose="02040503050406030204"/>
                <a:cs typeface="Cambria Math" panose="02040503050406030204"/>
              </a:rPr>
              <a:t>j</a:t>
            </a:r>
            <a:r>
              <a:rPr sz="2400" spc="114" dirty="0">
                <a:latin typeface="Cambria Math" panose="02040503050406030204"/>
                <a:cs typeface="Cambria Math" panose="02040503050406030204"/>
              </a:rPr>
              <a:t>: =</a:t>
            </a:r>
            <a:r>
              <a:rPr sz="2400" spc="110" dirty="0">
                <a:latin typeface="Cambria Math" panose="02040503050406030204"/>
                <a:cs typeface="Cambria Math" panose="02040503050406030204"/>
              </a:rPr>
              <a:t>𝑤</a:t>
            </a:r>
            <a:r>
              <a:rPr sz="2625" spc="165" baseline="-16000" dirty="0">
                <a:latin typeface="Cambria Math" panose="02040503050406030204"/>
                <a:cs typeface="Cambria Math" panose="02040503050406030204"/>
              </a:rPr>
              <a:t>j</a:t>
            </a:r>
            <a:r>
              <a:rPr sz="2625" spc="367" baseline="-16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5" dirty="0">
                <a:latin typeface="Cambria Math" panose="02040503050406030204"/>
                <a:cs typeface="Cambria Math" panose="02040503050406030204"/>
              </a:rPr>
              <a:t>−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𝛼</a:t>
            </a:r>
            <a:r>
              <a:rPr sz="2400" spc="12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625" baseline="44000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2625" spc="390" baseline="44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25" dirty="0">
                <a:latin typeface="Cambria Math" panose="02040503050406030204"/>
                <a:cs typeface="Cambria Math" panose="02040503050406030204"/>
              </a:rPr>
              <a:t>∑</a:t>
            </a:r>
            <a:r>
              <a:rPr sz="2625" spc="-37" baseline="37000" dirty="0">
                <a:latin typeface="Cambria Math" panose="02040503050406030204"/>
                <a:cs typeface="Cambria Math" panose="02040503050406030204"/>
              </a:rPr>
              <a:t>𝑚</a:t>
            </a:r>
            <a:endParaRPr sz="2625" baseline="3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460426" y="5311990"/>
            <a:ext cx="130175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305" dirty="0">
                <a:latin typeface="Cambria Math" panose="02040503050406030204"/>
                <a:cs typeface="Cambria Math" panose="02040503050406030204"/>
              </a:rPr>
              <a:t>j</a:t>
            </a:r>
            <a:endParaRPr sz="17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301426" y="5130381"/>
            <a:ext cx="24726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2400" spc="-10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ℎ(𝑥</a:t>
            </a:r>
            <a:r>
              <a:rPr sz="2625" baseline="27000" dirty="0">
                <a:latin typeface="Cambria Math" panose="02040503050406030204"/>
                <a:cs typeface="Cambria Math" panose="02040503050406030204"/>
              </a:rPr>
              <a:t>(𝑖)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2400" spc="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400" spc="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10" dirty="0">
                <a:latin typeface="Cambria Math" panose="02040503050406030204"/>
                <a:cs typeface="Cambria Math" panose="02040503050406030204"/>
              </a:rPr>
              <a:t>𝑦</a:t>
            </a:r>
            <a:r>
              <a:rPr sz="2625" spc="-15" baseline="27000" dirty="0">
                <a:latin typeface="Cambria Math" panose="02040503050406030204"/>
                <a:cs typeface="Cambria Math" panose="02040503050406030204"/>
              </a:rPr>
              <a:t>(𝑖)</a:t>
            </a:r>
            <a:r>
              <a:rPr sz="2400" spc="-10" dirty="0">
                <a:latin typeface="Cambria Math" panose="02040503050406030204"/>
                <a:cs typeface="Cambria Math" panose="02040503050406030204"/>
              </a:rPr>
              <a:t>)𝑥</a:t>
            </a:r>
            <a:r>
              <a:rPr sz="2625" spc="-15" baseline="41000" dirty="0">
                <a:latin typeface="Cambria Math" panose="02040503050406030204"/>
                <a:cs typeface="Cambria Math" panose="02040503050406030204"/>
              </a:rPr>
              <a:t>(𝑖)</a:t>
            </a:r>
            <a:endParaRPr sz="2625" baseline="41000">
              <a:latin typeface="Cambria Math" panose="02040503050406030204"/>
              <a:cs typeface="Cambria Math" panose="02040503050406030204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999744"/>
            <a:ext cx="646430" cy="262255"/>
          </a:xfrm>
          <a:prstGeom prst="rect">
            <a:avLst/>
          </a:prstGeom>
          <a:solidFill>
            <a:srgbClr val="A40020"/>
          </a:solidFill>
        </p:spPr>
        <p:txBody>
          <a:bodyPr vert="horz" wrap="square" lIns="0" tIns="635" rIns="0" bIns="0" rtlCol="0">
            <a:spAutoFit/>
          </a:bodyPr>
          <a:lstStyle/>
          <a:p>
            <a:pPr marL="375285">
              <a:lnSpc>
                <a:spcPct val="100000"/>
              </a:lnSpc>
              <a:spcBef>
                <a:spcPts val="5"/>
              </a:spcBef>
            </a:pPr>
            <a:r>
              <a:rPr sz="1400" b="1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68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latin typeface="Arial" panose="020B0604020202020204"/>
                <a:cs typeface="Arial" panose="020B0604020202020204"/>
              </a:rPr>
              <a:t>3.</a:t>
            </a:r>
            <a:r>
              <a:rPr spc="-10" dirty="0"/>
              <a:t>逻辑回归求解</a:t>
            </a:r>
            <a:endParaRPr spc="-10" dirty="0"/>
          </a:p>
        </p:txBody>
      </p:sp>
      <p:sp>
        <p:nvSpPr>
          <p:cNvPr id="4" name="object 4"/>
          <p:cNvSpPr txBox="1"/>
          <p:nvPr/>
        </p:nvSpPr>
        <p:spPr>
          <a:xfrm>
            <a:off x="628307" y="1523644"/>
            <a:ext cx="1549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微软雅黑" panose="020B0503020204020204" charset="-122"/>
                <a:cs typeface="微软雅黑" panose="020B0503020204020204" charset="-122"/>
              </a:rPr>
              <a:t>求解过程：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32291" y="1389494"/>
            <a:ext cx="149225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50" dirty="0">
                <a:latin typeface="Cambria Math" panose="02040503050406030204"/>
                <a:cs typeface="Cambria Math" panose="02040503050406030204"/>
              </a:rPr>
              <a:t>𝜕</a:t>
            </a:r>
            <a:endParaRPr sz="17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206561" y="1705190"/>
            <a:ext cx="400685" cy="20320"/>
          </a:xfrm>
          <a:custGeom>
            <a:avLst/>
            <a:gdLst/>
            <a:ahLst/>
            <a:cxnLst/>
            <a:rect l="l" t="t" r="r" b="b"/>
            <a:pathLst>
              <a:path w="400685" h="20319">
                <a:moveTo>
                  <a:pt x="400684" y="20002"/>
                </a:moveTo>
                <a:lnTo>
                  <a:pt x="0" y="20002"/>
                </a:lnTo>
                <a:lnTo>
                  <a:pt x="0" y="0"/>
                </a:lnTo>
                <a:lnTo>
                  <a:pt x="400684" y="0"/>
                </a:lnTo>
                <a:lnTo>
                  <a:pt x="400684" y="200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168461" y="1720964"/>
            <a:ext cx="469265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750" spc="100" dirty="0">
                <a:latin typeface="Cambria Math" panose="02040503050406030204"/>
                <a:cs typeface="Cambria Math" panose="02040503050406030204"/>
              </a:rPr>
              <a:t>𝜕w</a:t>
            </a:r>
            <a:r>
              <a:rPr sz="2100" spc="150" baseline="-14000" dirty="0">
                <a:latin typeface="Cambria Math" panose="02040503050406030204"/>
                <a:cs typeface="Cambria Math" panose="02040503050406030204"/>
              </a:rPr>
              <a:t>j</a:t>
            </a:r>
            <a:endParaRPr sz="2100" baseline="-14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651186" y="1705190"/>
            <a:ext cx="186055" cy="20320"/>
          </a:xfrm>
          <a:custGeom>
            <a:avLst/>
            <a:gdLst/>
            <a:ahLst/>
            <a:cxnLst/>
            <a:rect l="l" t="t" r="r" b="b"/>
            <a:pathLst>
              <a:path w="186054" h="20319">
                <a:moveTo>
                  <a:pt x="186054" y="20002"/>
                </a:moveTo>
                <a:lnTo>
                  <a:pt x="0" y="20002"/>
                </a:lnTo>
                <a:lnTo>
                  <a:pt x="0" y="0"/>
                </a:lnTo>
                <a:lnTo>
                  <a:pt x="186054" y="0"/>
                </a:lnTo>
                <a:lnTo>
                  <a:pt x="186054" y="200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3638486" y="1720964"/>
            <a:ext cx="212090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50" dirty="0">
                <a:latin typeface="Cambria Math" panose="02040503050406030204"/>
                <a:cs typeface="Cambria Math" panose="02040503050406030204"/>
              </a:rPr>
              <a:t>𝑚</a:t>
            </a:r>
            <a:endParaRPr sz="17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91241" y="1680324"/>
            <a:ext cx="384810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25" dirty="0">
                <a:latin typeface="Cambria Math" panose="02040503050406030204"/>
                <a:cs typeface="Cambria Math" panose="02040503050406030204"/>
              </a:rPr>
              <a:t>𝑖=1</a:t>
            </a:r>
            <a:endParaRPr sz="17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620581" y="1484744"/>
            <a:ext cx="17081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 panose="02040503050406030204"/>
                <a:cs typeface="Cambria Math" panose="02040503050406030204"/>
              </a:rPr>
              <a:t>𝐽(𝑤)</a:t>
            </a:r>
            <a:r>
              <a:rPr sz="2400" spc="12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2400" spc="36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625" baseline="44000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2625" spc="367" baseline="44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25" dirty="0">
                <a:latin typeface="Cambria Math" panose="02040503050406030204"/>
                <a:cs typeface="Cambria Math" panose="02040503050406030204"/>
              </a:rPr>
              <a:t>∑</a:t>
            </a:r>
            <a:r>
              <a:rPr sz="2625" spc="-37" baseline="37000" dirty="0">
                <a:latin typeface="Cambria Math" panose="02040503050406030204"/>
                <a:cs typeface="Cambria Math" panose="02040503050406030204"/>
              </a:rPr>
              <a:t>𝑚</a:t>
            </a:r>
            <a:endParaRPr sz="2625" baseline="3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635051" y="1666354"/>
            <a:ext cx="130175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305" dirty="0">
                <a:latin typeface="Cambria Math" panose="02040503050406030204"/>
                <a:cs typeface="Cambria Math" panose="02040503050406030204"/>
              </a:rPr>
              <a:t>j</a:t>
            </a:r>
            <a:endParaRPr sz="17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476051" y="1484744"/>
            <a:ext cx="43129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15" dirty="0">
                <a:latin typeface="Cambria Math" panose="02040503050406030204"/>
                <a:cs typeface="Cambria Math" panose="02040503050406030204"/>
              </a:rPr>
              <a:t>( ℎ(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𝑥</a:t>
            </a:r>
            <a:r>
              <a:rPr sz="2625" baseline="27000" dirty="0">
                <a:latin typeface="Cambria Math" panose="02040503050406030204"/>
                <a:cs typeface="Cambria Math" panose="02040503050406030204"/>
              </a:rPr>
              <a:t>(𝑖)</a:t>
            </a:r>
            <a:r>
              <a:rPr sz="2400" spc="70" dirty="0">
                <a:latin typeface="Cambria Math" panose="02040503050406030204"/>
                <a:cs typeface="Cambria Math" panose="02040503050406030204"/>
              </a:rPr>
              <a:t>) −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𝑦</a:t>
            </a:r>
            <a:r>
              <a:rPr sz="2625" baseline="27000" dirty="0">
                <a:latin typeface="Cambria Math" panose="02040503050406030204"/>
                <a:cs typeface="Cambria Math" panose="02040503050406030204"/>
              </a:rPr>
              <a:t>(𝑖)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)𝑥</a:t>
            </a:r>
            <a:r>
              <a:rPr sz="2625" baseline="41000" dirty="0">
                <a:latin typeface="Cambria Math" panose="02040503050406030204"/>
                <a:cs typeface="Cambria Math" panose="02040503050406030204"/>
              </a:rPr>
              <a:t>(𝑖)</a:t>
            </a:r>
            <a:r>
              <a:rPr sz="2400" spc="-10" dirty="0">
                <a:latin typeface="微软雅黑" panose="020B0503020204020204" charset="-122"/>
                <a:cs typeface="微软雅黑" panose="020B0503020204020204" charset="-122"/>
              </a:rPr>
              <a:t>的推导过程：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384600" y="4380445"/>
            <a:ext cx="5664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 panose="02040503050406030204"/>
                <a:cs typeface="Cambria Math" panose="02040503050406030204"/>
              </a:rPr>
              <a:t>𝑦</a:t>
            </a:r>
            <a:r>
              <a:rPr sz="2625" baseline="27000" dirty="0">
                <a:latin typeface="Cambria Math" panose="02040503050406030204"/>
                <a:cs typeface="Cambria Math" panose="02040503050406030204"/>
              </a:rPr>
              <a:t>(𝑖)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log(ℎ(𝑥</a:t>
            </a:r>
            <a:r>
              <a:rPr sz="2625" baseline="27000" dirty="0">
                <a:latin typeface="Cambria Math" panose="02040503050406030204"/>
                <a:cs typeface="Cambria Math" panose="02040503050406030204"/>
              </a:rPr>
              <a:t>(𝑖)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))</a:t>
            </a:r>
            <a:r>
              <a:rPr sz="2400" spc="5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+</a:t>
            </a:r>
            <a:r>
              <a:rPr sz="2400" spc="5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(1</a:t>
            </a:r>
            <a:r>
              <a:rPr sz="2400" spc="5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400" spc="5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𝑦</a:t>
            </a:r>
            <a:r>
              <a:rPr sz="2625" baseline="27000" dirty="0">
                <a:latin typeface="Cambria Math" panose="02040503050406030204"/>
                <a:cs typeface="Cambria Math" panose="02040503050406030204"/>
              </a:rPr>
              <a:t>(𝑖)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)log(1</a:t>
            </a:r>
            <a:r>
              <a:rPr sz="2400" spc="5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400" spc="5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10" dirty="0">
                <a:latin typeface="Cambria Math" panose="02040503050406030204"/>
                <a:cs typeface="Cambria Math" panose="02040503050406030204"/>
              </a:rPr>
              <a:t>ℎ(𝑥</a:t>
            </a:r>
            <a:r>
              <a:rPr sz="2625" spc="-15" baseline="27000" dirty="0">
                <a:latin typeface="Cambria Math" panose="02040503050406030204"/>
                <a:cs typeface="Cambria Math" panose="02040503050406030204"/>
              </a:rPr>
              <a:t>(𝑖)</a:t>
            </a:r>
            <a:r>
              <a:rPr sz="2400" spc="-10" dirty="0">
                <a:latin typeface="Cambria Math" panose="02040503050406030204"/>
                <a:cs typeface="Cambria Math" panose="02040503050406030204"/>
              </a:rPr>
              <a:t>))</a:t>
            </a:r>
            <a:endParaRPr sz="24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484805" y="4978615"/>
            <a:ext cx="13563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2400" spc="14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10" dirty="0">
                <a:latin typeface="Cambria Math" panose="02040503050406030204"/>
                <a:cs typeface="Cambria Math" panose="02040503050406030204"/>
              </a:rPr>
              <a:t>𝑦</a:t>
            </a:r>
            <a:r>
              <a:rPr sz="2625" spc="-15" baseline="27000" dirty="0">
                <a:latin typeface="Cambria Math" panose="02040503050406030204"/>
                <a:cs typeface="Cambria Math" panose="02040503050406030204"/>
              </a:rPr>
              <a:t>(𝑖)</a:t>
            </a:r>
            <a:r>
              <a:rPr sz="2400" spc="-10" dirty="0">
                <a:latin typeface="Cambria Math" panose="02040503050406030204"/>
                <a:cs typeface="Cambria Math" panose="02040503050406030204"/>
              </a:rPr>
              <a:t>log(</a:t>
            </a:r>
            <a:endParaRPr sz="24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853865" y="5199113"/>
            <a:ext cx="1524000" cy="20320"/>
          </a:xfrm>
          <a:custGeom>
            <a:avLst/>
            <a:gdLst/>
            <a:ahLst/>
            <a:cxnLst/>
            <a:rect l="l" t="t" r="r" b="b"/>
            <a:pathLst>
              <a:path w="1524000" h="20320">
                <a:moveTo>
                  <a:pt x="1524000" y="20002"/>
                </a:moveTo>
                <a:lnTo>
                  <a:pt x="0" y="20002"/>
                </a:lnTo>
                <a:lnTo>
                  <a:pt x="0" y="0"/>
                </a:lnTo>
                <a:lnTo>
                  <a:pt x="1524000" y="0"/>
                </a:lnTo>
                <a:lnTo>
                  <a:pt x="1524000" y="200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5391200" y="4978615"/>
            <a:ext cx="27863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2400" spc="2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+</a:t>
            </a:r>
            <a:r>
              <a:rPr sz="2400" spc="2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(1</a:t>
            </a:r>
            <a:r>
              <a:rPr sz="2400" spc="2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400" spc="2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𝑦</a:t>
            </a:r>
            <a:r>
              <a:rPr sz="2625" baseline="27000" dirty="0">
                <a:latin typeface="Cambria Math" panose="02040503050406030204"/>
                <a:cs typeface="Cambria Math" panose="02040503050406030204"/>
              </a:rPr>
              <a:t>(𝑖)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)log(1</a:t>
            </a:r>
            <a:r>
              <a:rPr sz="2400" spc="2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50" dirty="0">
                <a:latin typeface="Cambria Math" panose="02040503050406030204"/>
                <a:cs typeface="Cambria Math" panose="02040503050406030204"/>
              </a:rPr>
              <a:t>−</a:t>
            </a:r>
            <a:endParaRPr sz="24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518710" y="4748745"/>
            <a:ext cx="45485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366260" algn="l"/>
              </a:tabLst>
            </a:pPr>
            <a:r>
              <a:rPr sz="2400" spc="-50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2400" spc="-50" dirty="0">
                <a:latin typeface="Cambria Math" panose="02040503050406030204"/>
                <a:cs typeface="Cambria Math" panose="02040503050406030204"/>
              </a:rPr>
              <a:t>1</a:t>
            </a:r>
            <a:endParaRPr sz="24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208061" y="5199113"/>
            <a:ext cx="1524000" cy="20320"/>
          </a:xfrm>
          <a:custGeom>
            <a:avLst/>
            <a:gdLst/>
            <a:ahLst/>
            <a:cxnLst/>
            <a:rect l="l" t="t" r="r" b="b"/>
            <a:pathLst>
              <a:path w="1524000" h="20320">
                <a:moveTo>
                  <a:pt x="1524000" y="20002"/>
                </a:moveTo>
                <a:lnTo>
                  <a:pt x="0" y="20002"/>
                </a:lnTo>
                <a:lnTo>
                  <a:pt x="0" y="0"/>
                </a:lnTo>
                <a:lnTo>
                  <a:pt x="1524000" y="0"/>
                </a:lnTo>
                <a:lnTo>
                  <a:pt x="1524000" y="200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3803065" y="5067515"/>
            <a:ext cx="59601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4404360" algn="l"/>
              </a:tabLst>
            </a:pPr>
            <a:r>
              <a:rPr sz="3600" baseline="-35000" dirty="0">
                <a:latin typeface="Cambria Math" panose="02040503050406030204"/>
                <a:cs typeface="Cambria Math" panose="02040503050406030204"/>
              </a:rPr>
              <a:t>1 +</a:t>
            </a:r>
            <a:r>
              <a:rPr sz="3600" spc="15" baseline="-35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3600" spc="52" baseline="-35000" dirty="0">
                <a:latin typeface="Cambria Math" panose="02040503050406030204"/>
                <a:cs typeface="Cambria Math" panose="02040503050406030204"/>
              </a:rPr>
              <a:t>𝑒</a:t>
            </a:r>
            <a:r>
              <a:rPr sz="2625" spc="52" baseline="-21000" dirty="0">
                <a:latin typeface="Cambria Math" panose="02040503050406030204"/>
                <a:cs typeface="Cambria Math" panose="02040503050406030204"/>
              </a:rPr>
              <a:t>−w</a:t>
            </a:r>
            <a:r>
              <a:rPr sz="1400" spc="35" dirty="0">
                <a:latin typeface="Cambria Math" panose="02040503050406030204"/>
                <a:cs typeface="Cambria Math" panose="02040503050406030204"/>
              </a:rPr>
              <a:t>𝑇</a:t>
            </a:r>
            <a:r>
              <a:rPr sz="2625" spc="52" baseline="-21000" dirty="0">
                <a:latin typeface="Cambria Math" panose="02040503050406030204"/>
                <a:cs typeface="Cambria Math" panose="02040503050406030204"/>
              </a:rPr>
              <a:t>𝑥</a:t>
            </a:r>
            <a:r>
              <a:rPr sz="1400" spc="35" dirty="0">
                <a:latin typeface="Cambria Math" panose="02040503050406030204"/>
                <a:cs typeface="Cambria Math" panose="02040503050406030204"/>
              </a:rPr>
              <a:t>(𝑖)</a:t>
            </a:r>
            <a:r>
              <a:rPr sz="14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3600" baseline="-35000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3600" spc="15" baseline="-35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3600" baseline="-35000" dirty="0">
                <a:latin typeface="Cambria Math" panose="02040503050406030204"/>
                <a:cs typeface="Cambria Math" panose="02040503050406030204"/>
              </a:rPr>
              <a:t>+</a:t>
            </a:r>
            <a:r>
              <a:rPr sz="3600" spc="15" baseline="-35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3600" spc="52" baseline="-35000" dirty="0">
                <a:latin typeface="Cambria Math" panose="02040503050406030204"/>
                <a:cs typeface="Cambria Math" panose="02040503050406030204"/>
              </a:rPr>
              <a:t>𝑒</a:t>
            </a:r>
            <a:r>
              <a:rPr sz="2625" spc="52" baseline="-21000" dirty="0">
                <a:latin typeface="Cambria Math" panose="02040503050406030204"/>
                <a:cs typeface="Cambria Math" panose="02040503050406030204"/>
              </a:rPr>
              <a:t>−w</a:t>
            </a:r>
            <a:r>
              <a:rPr sz="1400" spc="35" dirty="0">
                <a:latin typeface="Cambria Math" panose="02040503050406030204"/>
                <a:cs typeface="Cambria Math" panose="02040503050406030204"/>
              </a:rPr>
              <a:t>𝑇</a:t>
            </a:r>
            <a:r>
              <a:rPr sz="2625" spc="52" baseline="-21000" dirty="0">
                <a:latin typeface="Cambria Math" panose="02040503050406030204"/>
                <a:cs typeface="Cambria Math" panose="02040503050406030204"/>
              </a:rPr>
              <a:t>𝑥</a:t>
            </a:r>
            <a:r>
              <a:rPr sz="1400" spc="35" dirty="0">
                <a:latin typeface="Cambria Math" panose="02040503050406030204"/>
                <a:cs typeface="Cambria Math" panose="02040503050406030204"/>
              </a:rPr>
              <a:t>(𝑖)</a:t>
            </a:r>
            <a:endParaRPr sz="14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770795" y="4978615"/>
            <a:ext cx="152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 panose="02040503050406030204"/>
                <a:cs typeface="Cambria Math" panose="02040503050406030204"/>
              </a:rPr>
              <a:t>)</a:t>
            </a:r>
            <a:endParaRPr sz="24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804210" y="5684735"/>
            <a:ext cx="68249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 panose="02040503050406030204"/>
                <a:cs typeface="Cambria Math" panose="02040503050406030204"/>
              </a:rPr>
              <a:t>=−</a:t>
            </a:r>
            <a:r>
              <a:rPr sz="2400" spc="3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𝑦</a:t>
            </a:r>
            <a:r>
              <a:rPr sz="2625" baseline="27000" dirty="0">
                <a:latin typeface="Cambria Math" panose="02040503050406030204"/>
                <a:cs typeface="Cambria Math" panose="02040503050406030204"/>
              </a:rPr>
              <a:t>(𝑖)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log(1</a:t>
            </a:r>
            <a:r>
              <a:rPr sz="2400" spc="3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+</a:t>
            </a:r>
            <a:r>
              <a:rPr sz="2400" spc="3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55" dirty="0">
                <a:latin typeface="Cambria Math" panose="02040503050406030204"/>
                <a:cs typeface="Cambria Math" panose="02040503050406030204"/>
              </a:rPr>
              <a:t>𝑒</a:t>
            </a:r>
            <a:r>
              <a:rPr sz="2625" spc="82" baseline="27000" dirty="0">
                <a:latin typeface="Cambria Math" panose="02040503050406030204"/>
                <a:cs typeface="Cambria Math" panose="02040503050406030204"/>
              </a:rPr>
              <a:t>−w</a:t>
            </a:r>
            <a:r>
              <a:rPr sz="2100" spc="82" baseline="60000" dirty="0">
                <a:latin typeface="Cambria Math" panose="02040503050406030204"/>
                <a:cs typeface="Cambria Math" panose="02040503050406030204"/>
              </a:rPr>
              <a:t>𝑇</a:t>
            </a:r>
            <a:r>
              <a:rPr sz="2625" spc="82" baseline="27000" dirty="0">
                <a:latin typeface="Cambria Math" panose="02040503050406030204"/>
                <a:cs typeface="Cambria Math" panose="02040503050406030204"/>
              </a:rPr>
              <a:t>𝑥</a:t>
            </a:r>
            <a:r>
              <a:rPr sz="2100" spc="82" baseline="60000" dirty="0">
                <a:latin typeface="Cambria Math" panose="02040503050406030204"/>
                <a:cs typeface="Cambria Math" panose="02040503050406030204"/>
              </a:rPr>
              <a:t>(𝑖)</a:t>
            </a:r>
            <a:r>
              <a:rPr sz="2400" spc="55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2400" spc="3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400" spc="3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(1</a:t>
            </a:r>
            <a:r>
              <a:rPr sz="2400" spc="3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400" spc="3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𝑦</a:t>
            </a:r>
            <a:r>
              <a:rPr sz="2625" baseline="27000" dirty="0">
                <a:latin typeface="Cambria Math" panose="02040503050406030204"/>
                <a:cs typeface="Cambria Math" panose="02040503050406030204"/>
              </a:rPr>
              <a:t>(𝑖)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)log(1</a:t>
            </a:r>
            <a:r>
              <a:rPr sz="2400" spc="3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+</a:t>
            </a:r>
            <a:r>
              <a:rPr sz="2400" spc="3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60" dirty="0">
                <a:latin typeface="Cambria Math" panose="02040503050406030204"/>
                <a:cs typeface="Cambria Math" panose="02040503050406030204"/>
              </a:rPr>
              <a:t>𝑒</a:t>
            </a:r>
            <a:r>
              <a:rPr sz="2625" spc="89" baseline="27000" dirty="0">
                <a:latin typeface="Cambria Math" panose="02040503050406030204"/>
                <a:cs typeface="Cambria Math" panose="02040503050406030204"/>
              </a:rPr>
              <a:t>w</a:t>
            </a:r>
            <a:r>
              <a:rPr sz="2100" spc="89" baseline="60000" dirty="0">
                <a:latin typeface="Cambria Math" panose="02040503050406030204"/>
                <a:cs typeface="Cambria Math" panose="02040503050406030204"/>
              </a:rPr>
              <a:t>𝑇</a:t>
            </a:r>
            <a:r>
              <a:rPr sz="2625" spc="89" baseline="27000" dirty="0">
                <a:latin typeface="Cambria Math" panose="02040503050406030204"/>
                <a:cs typeface="Cambria Math" panose="02040503050406030204"/>
              </a:rPr>
              <a:t>𝑥</a:t>
            </a:r>
            <a:r>
              <a:rPr sz="2100" spc="89" baseline="60000" dirty="0">
                <a:latin typeface="Cambria Math" panose="02040503050406030204"/>
                <a:cs typeface="Cambria Math" panose="02040503050406030204"/>
              </a:rPr>
              <a:t>(𝑖)</a:t>
            </a:r>
            <a:r>
              <a:rPr sz="2400" spc="60" dirty="0">
                <a:latin typeface="Cambria Math" panose="02040503050406030204"/>
                <a:cs typeface="Cambria Math" panose="02040503050406030204"/>
              </a:rPr>
              <a:t>)</a:t>
            </a:r>
            <a:endParaRPr sz="24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656319" y="3150590"/>
            <a:ext cx="255270" cy="20320"/>
          </a:xfrm>
          <a:custGeom>
            <a:avLst/>
            <a:gdLst/>
            <a:ahLst/>
            <a:cxnLst/>
            <a:rect l="l" t="t" r="r" b="b"/>
            <a:pathLst>
              <a:path w="255269" h="20319">
                <a:moveTo>
                  <a:pt x="255269" y="20002"/>
                </a:moveTo>
                <a:lnTo>
                  <a:pt x="0" y="20002"/>
                </a:lnTo>
                <a:lnTo>
                  <a:pt x="0" y="0"/>
                </a:lnTo>
                <a:lnTo>
                  <a:pt x="255269" y="0"/>
                </a:lnTo>
                <a:lnTo>
                  <a:pt x="255269" y="200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2643619" y="3133928"/>
            <a:ext cx="2813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 panose="02040503050406030204"/>
                <a:cs typeface="Cambria Math" panose="02040503050406030204"/>
              </a:rPr>
              <a:t>𝑚</a:t>
            </a:r>
            <a:endParaRPr sz="24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414259" y="2930093"/>
            <a:ext cx="79324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 panose="02040503050406030204"/>
                <a:cs typeface="Cambria Math" panose="02040503050406030204"/>
              </a:rPr>
              <a:t>𝐽(𝑤)</a:t>
            </a:r>
            <a:r>
              <a:rPr sz="2400" spc="16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=−</a:t>
            </a:r>
            <a:r>
              <a:rPr sz="2400" spc="37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3600" baseline="42000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3600" spc="352" baseline="42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1475" dirty="0">
                <a:latin typeface="Cambria Math" panose="02040503050406030204"/>
                <a:cs typeface="Cambria Math" panose="02040503050406030204"/>
              </a:rPr>
              <a:t>∑</a:t>
            </a:r>
            <a:r>
              <a:rPr sz="2400" spc="-12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1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2400" spc="-12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𝑦</a:t>
            </a:r>
            <a:r>
              <a:rPr sz="2625" baseline="27000" dirty="0">
                <a:latin typeface="Cambria Math" panose="02040503050406030204"/>
                <a:cs typeface="Cambria Math" panose="02040503050406030204"/>
              </a:rPr>
              <a:t>(𝑖)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log(ℎ(𝑥</a:t>
            </a:r>
            <a:r>
              <a:rPr sz="2625" baseline="27000" dirty="0">
                <a:latin typeface="Cambria Math" panose="02040503050406030204"/>
                <a:cs typeface="Cambria Math" panose="02040503050406030204"/>
              </a:rPr>
              <a:t>(𝑖)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))</a:t>
            </a:r>
            <a:r>
              <a:rPr sz="2400" spc="2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+</a:t>
            </a:r>
            <a:r>
              <a:rPr sz="2400" spc="3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(1</a:t>
            </a:r>
            <a:r>
              <a:rPr sz="2400" spc="2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400" spc="3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𝑦</a:t>
            </a:r>
            <a:r>
              <a:rPr sz="2625" baseline="27000" dirty="0">
                <a:latin typeface="Cambria Math" panose="02040503050406030204"/>
                <a:cs typeface="Cambria Math" panose="02040503050406030204"/>
              </a:rPr>
              <a:t>(𝑖)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)log(1</a:t>
            </a:r>
            <a:r>
              <a:rPr sz="2400" spc="2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400" spc="3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10" dirty="0">
                <a:latin typeface="Cambria Math" panose="02040503050406030204"/>
                <a:cs typeface="Cambria Math" panose="02040503050406030204"/>
              </a:rPr>
              <a:t>ℎ(𝑥</a:t>
            </a:r>
            <a:r>
              <a:rPr sz="2625" spc="-15" baseline="27000" dirty="0">
                <a:latin typeface="Cambria Math" panose="02040503050406030204"/>
                <a:cs typeface="Cambria Math" panose="02040503050406030204"/>
              </a:rPr>
              <a:t>(𝑖)</a:t>
            </a:r>
            <a:r>
              <a:rPr sz="2400" spc="-10" dirty="0">
                <a:latin typeface="Cambria Math" panose="02040503050406030204"/>
                <a:cs typeface="Cambria Math" panose="02040503050406030204"/>
              </a:rPr>
              <a:t>)))</a:t>
            </a:r>
            <a:endParaRPr sz="24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971914" y="3410153"/>
            <a:ext cx="384810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25" dirty="0">
                <a:latin typeface="Cambria Math" panose="02040503050406030204"/>
                <a:cs typeface="Cambria Math" panose="02040503050406030204"/>
              </a:rPr>
              <a:t>𝑖=1</a:t>
            </a:r>
            <a:endParaRPr sz="17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058274" y="2558618"/>
            <a:ext cx="212090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50" dirty="0">
                <a:latin typeface="Cambria Math" panose="02040503050406030204"/>
                <a:cs typeface="Cambria Math" panose="02040503050406030204"/>
              </a:rPr>
              <a:t>𝑚</a:t>
            </a:r>
            <a:endParaRPr sz="1750">
              <a:latin typeface="Cambria Math" panose="02040503050406030204"/>
              <a:cs typeface="Cambria Math" panose="02040503050406030204"/>
            </a:endParaRPr>
          </a:p>
        </p:txBody>
      </p:sp>
      <p:pic>
        <p:nvPicPr>
          <p:cNvPr id="28" name="object 28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528838" y="3427960"/>
            <a:ext cx="5805511" cy="85046"/>
          </a:xfrm>
          <a:prstGeom prst="rect">
            <a:avLst/>
          </a:prstGeom>
        </p:spPr>
      </p:pic>
      <p:sp>
        <p:nvSpPr>
          <p:cNvPr id="29" name="object 29"/>
          <p:cNvSpPr/>
          <p:nvPr/>
        </p:nvSpPr>
        <p:spPr>
          <a:xfrm>
            <a:off x="5986348" y="3612578"/>
            <a:ext cx="279400" cy="638175"/>
          </a:xfrm>
          <a:custGeom>
            <a:avLst/>
            <a:gdLst/>
            <a:ahLst/>
            <a:cxnLst/>
            <a:rect l="l" t="t" r="r" b="b"/>
            <a:pathLst>
              <a:path w="279400" h="638175">
                <a:moveTo>
                  <a:pt x="279336" y="496938"/>
                </a:moveTo>
                <a:lnTo>
                  <a:pt x="278853" y="494271"/>
                </a:lnTo>
                <a:lnTo>
                  <a:pt x="277812" y="491756"/>
                </a:lnTo>
                <a:lnTo>
                  <a:pt x="276263" y="489534"/>
                </a:lnTo>
                <a:lnTo>
                  <a:pt x="275551" y="488873"/>
                </a:lnTo>
                <a:lnTo>
                  <a:pt x="274281" y="487680"/>
                </a:lnTo>
                <a:lnTo>
                  <a:pt x="271945" y="486295"/>
                </a:lnTo>
                <a:lnTo>
                  <a:pt x="269367" y="485444"/>
                </a:lnTo>
                <a:lnTo>
                  <a:pt x="266661" y="485152"/>
                </a:lnTo>
                <a:lnTo>
                  <a:pt x="215861" y="485152"/>
                </a:lnTo>
                <a:lnTo>
                  <a:pt x="215861" y="25400"/>
                </a:lnTo>
                <a:lnTo>
                  <a:pt x="215861" y="12700"/>
                </a:lnTo>
                <a:lnTo>
                  <a:pt x="215620" y="10210"/>
                </a:lnTo>
                <a:lnTo>
                  <a:pt x="203161" y="0"/>
                </a:lnTo>
                <a:lnTo>
                  <a:pt x="76161" y="0"/>
                </a:lnTo>
                <a:lnTo>
                  <a:pt x="63461" y="12700"/>
                </a:lnTo>
                <a:lnTo>
                  <a:pt x="63461" y="485152"/>
                </a:lnTo>
                <a:lnTo>
                  <a:pt x="12661" y="485152"/>
                </a:lnTo>
                <a:lnTo>
                  <a:pt x="0" y="496938"/>
                </a:lnTo>
                <a:lnTo>
                  <a:pt x="101" y="499656"/>
                </a:lnTo>
                <a:lnTo>
                  <a:pt x="130683" y="633831"/>
                </a:lnTo>
                <a:lnTo>
                  <a:pt x="139661" y="637552"/>
                </a:lnTo>
                <a:lnTo>
                  <a:pt x="142151" y="637298"/>
                </a:lnTo>
                <a:lnTo>
                  <a:pt x="144526" y="636587"/>
                </a:lnTo>
                <a:lnTo>
                  <a:pt x="146723" y="635406"/>
                </a:lnTo>
                <a:lnTo>
                  <a:pt x="148653" y="633831"/>
                </a:lnTo>
                <a:lnTo>
                  <a:pt x="166611" y="615873"/>
                </a:lnTo>
                <a:lnTo>
                  <a:pt x="271932" y="510552"/>
                </a:lnTo>
                <a:lnTo>
                  <a:pt x="275653" y="506831"/>
                </a:lnTo>
                <a:lnTo>
                  <a:pt x="277355" y="504710"/>
                </a:lnTo>
                <a:lnTo>
                  <a:pt x="278561" y="502285"/>
                </a:lnTo>
                <a:lnTo>
                  <a:pt x="279234" y="499656"/>
                </a:lnTo>
                <a:lnTo>
                  <a:pt x="279336" y="49693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999744"/>
            <a:ext cx="646430" cy="262255"/>
          </a:xfrm>
          <a:prstGeom prst="rect">
            <a:avLst/>
          </a:prstGeom>
          <a:solidFill>
            <a:srgbClr val="A40020"/>
          </a:solidFill>
        </p:spPr>
        <p:txBody>
          <a:bodyPr vert="horz" wrap="square" lIns="0" tIns="635" rIns="0" bIns="0" rtlCol="0">
            <a:spAutoFit/>
          </a:bodyPr>
          <a:lstStyle/>
          <a:p>
            <a:pPr marL="375285">
              <a:lnSpc>
                <a:spcPct val="100000"/>
              </a:lnSpc>
              <a:spcBef>
                <a:spcPts val="5"/>
              </a:spcBef>
            </a:pPr>
            <a:r>
              <a:rPr sz="1400" b="1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69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latin typeface="Arial" panose="020B0604020202020204"/>
                <a:cs typeface="Arial" panose="020B0604020202020204"/>
              </a:rPr>
              <a:t>3.</a:t>
            </a:r>
            <a:r>
              <a:rPr spc="-10" dirty="0"/>
              <a:t>逻辑回归求解</a:t>
            </a:r>
            <a:endParaRPr spc="-10" dirty="0"/>
          </a:p>
        </p:txBody>
      </p:sp>
      <p:sp>
        <p:nvSpPr>
          <p:cNvPr id="4" name="object 4"/>
          <p:cNvSpPr txBox="1"/>
          <p:nvPr/>
        </p:nvSpPr>
        <p:spPr>
          <a:xfrm>
            <a:off x="628307" y="1523644"/>
            <a:ext cx="1549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微软雅黑" panose="020B0503020204020204" charset="-122"/>
                <a:cs typeface="微软雅黑" panose="020B0503020204020204" charset="-122"/>
              </a:rPr>
              <a:t>求解过程：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32291" y="1389494"/>
            <a:ext cx="149225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50" dirty="0">
                <a:latin typeface="Cambria Math" panose="02040503050406030204"/>
                <a:cs typeface="Cambria Math" panose="02040503050406030204"/>
              </a:rPr>
              <a:t>𝜕</a:t>
            </a:r>
            <a:endParaRPr sz="17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206561" y="1705190"/>
            <a:ext cx="400685" cy="20320"/>
          </a:xfrm>
          <a:custGeom>
            <a:avLst/>
            <a:gdLst/>
            <a:ahLst/>
            <a:cxnLst/>
            <a:rect l="l" t="t" r="r" b="b"/>
            <a:pathLst>
              <a:path w="400685" h="20319">
                <a:moveTo>
                  <a:pt x="400684" y="20002"/>
                </a:moveTo>
                <a:lnTo>
                  <a:pt x="0" y="20002"/>
                </a:lnTo>
                <a:lnTo>
                  <a:pt x="0" y="0"/>
                </a:lnTo>
                <a:lnTo>
                  <a:pt x="400684" y="0"/>
                </a:lnTo>
                <a:lnTo>
                  <a:pt x="400684" y="200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168461" y="1720964"/>
            <a:ext cx="469265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750" spc="100" dirty="0">
                <a:latin typeface="Cambria Math" panose="02040503050406030204"/>
                <a:cs typeface="Cambria Math" panose="02040503050406030204"/>
              </a:rPr>
              <a:t>𝜕w</a:t>
            </a:r>
            <a:r>
              <a:rPr sz="2100" spc="150" baseline="-14000" dirty="0">
                <a:latin typeface="Cambria Math" panose="02040503050406030204"/>
                <a:cs typeface="Cambria Math" panose="02040503050406030204"/>
              </a:rPr>
              <a:t>j</a:t>
            </a:r>
            <a:endParaRPr sz="2100" baseline="-14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651186" y="1705190"/>
            <a:ext cx="186055" cy="20320"/>
          </a:xfrm>
          <a:custGeom>
            <a:avLst/>
            <a:gdLst/>
            <a:ahLst/>
            <a:cxnLst/>
            <a:rect l="l" t="t" r="r" b="b"/>
            <a:pathLst>
              <a:path w="186054" h="20319">
                <a:moveTo>
                  <a:pt x="186054" y="20002"/>
                </a:moveTo>
                <a:lnTo>
                  <a:pt x="0" y="20002"/>
                </a:lnTo>
                <a:lnTo>
                  <a:pt x="0" y="0"/>
                </a:lnTo>
                <a:lnTo>
                  <a:pt x="186054" y="0"/>
                </a:lnTo>
                <a:lnTo>
                  <a:pt x="186054" y="200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3638486" y="1720964"/>
            <a:ext cx="212090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50" dirty="0">
                <a:latin typeface="Cambria Math" panose="02040503050406030204"/>
                <a:cs typeface="Cambria Math" panose="02040503050406030204"/>
              </a:rPr>
              <a:t>𝑚</a:t>
            </a:r>
            <a:endParaRPr sz="17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91241" y="1680324"/>
            <a:ext cx="384810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25" dirty="0">
                <a:latin typeface="Cambria Math" panose="02040503050406030204"/>
                <a:cs typeface="Cambria Math" panose="02040503050406030204"/>
              </a:rPr>
              <a:t>𝑖=1</a:t>
            </a:r>
            <a:endParaRPr sz="17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620581" y="1484744"/>
            <a:ext cx="17081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 panose="02040503050406030204"/>
                <a:cs typeface="Cambria Math" panose="02040503050406030204"/>
              </a:rPr>
              <a:t>𝐽(𝑤)</a:t>
            </a:r>
            <a:r>
              <a:rPr sz="2400" spc="12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2400" spc="36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625" baseline="44000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2625" spc="367" baseline="44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25" dirty="0">
                <a:latin typeface="Cambria Math" panose="02040503050406030204"/>
                <a:cs typeface="Cambria Math" panose="02040503050406030204"/>
              </a:rPr>
              <a:t>∑</a:t>
            </a:r>
            <a:r>
              <a:rPr sz="2625" spc="-37" baseline="37000" dirty="0">
                <a:latin typeface="Cambria Math" panose="02040503050406030204"/>
                <a:cs typeface="Cambria Math" panose="02040503050406030204"/>
              </a:rPr>
              <a:t>𝑚</a:t>
            </a:r>
            <a:endParaRPr sz="2625" baseline="3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635051" y="1666354"/>
            <a:ext cx="130175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305" dirty="0">
                <a:latin typeface="Cambria Math" panose="02040503050406030204"/>
                <a:cs typeface="Cambria Math" panose="02040503050406030204"/>
              </a:rPr>
              <a:t>j</a:t>
            </a:r>
            <a:endParaRPr sz="17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476051" y="1484744"/>
            <a:ext cx="4318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15" dirty="0">
                <a:latin typeface="Cambria Math" panose="02040503050406030204"/>
                <a:cs typeface="Cambria Math" panose="02040503050406030204"/>
              </a:rPr>
              <a:t>( ℎ(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𝑥</a:t>
            </a:r>
            <a:r>
              <a:rPr sz="2625" baseline="27000" dirty="0">
                <a:latin typeface="Cambria Math" panose="02040503050406030204"/>
                <a:cs typeface="Cambria Math" panose="02040503050406030204"/>
              </a:rPr>
              <a:t>(𝑖)</a:t>
            </a:r>
            <a:r>
              <a:rPr sz="2400" spc="75" dirty="0">
                <a:latin typeface="Cambria Math" panose="02040503050406030204"/>
                <a:cs typeface="Cambria Math" panose="02040503050406030204"/>
              </a:rPr>
              <a:t>) −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𝑦</a:t>
            </a:r>
            <a:r>
              <a:rPr sz="2625" baseline="27000" dirty="0">
                <a:latin typeface="Cambria Math" panose="02040503050406030204"/>
                <a:cs typeface="Cambria Math" panose="02040503050406030204"/>
              </a:rPr>
              <a:t>(𝑖)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)𝑥</a:t>
            </a:r>
            <a:r>
              <a:rPr sz="2625" baseline="41000" dirty="0">
                <a:latin typeface="Cambria Math" panose="02040503050406030204"/>
                <a:cs typeface="Cambria Math" panose="02040503050406030204"/>
              </a:rPr>
              <a:t>(𝑖)</a:t>
            </a:r>
            <a:r>
              <a:rPr sz="2400" spc="-10" dirty="0">
                <a:latin typeface="宋体" panose="02010600030101010101" pitchFamily="2" charset="-122"/>
                <a:cs typeface="宋体" panose="02010600030101010101" pitchFamily="2" charset="-122"/>
              </a:rPr>
              <a:t>的推导过程：</a:t>
            </a:r>
            <a:endParaRPr sz="24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75575" y="2329789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 panose="02040503050406030204"/>
                <a:cs typeface="Cambria Math" panose="02040503050406030204"/>
              </a:rPr>
              <a:t>𝜕</a:t>
            </a:r>
            <a:endParaRPr sz="24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17460" y="2780157"/>
            <a:ext cx="511175" cy="20320"/>
          </a:xfrm>
          <a:custGeom>
            <a:avLst/>
            <a:gdLst/>
            <a:ahLst/>
            <a:cxnLst/>
            <a:rect l="l" t="t" r="r" b="b"/>
            <a:pathLst>
              <a:path w="511175" h="20319">
                <a:moveTo>
                  <a:pt x="511175" y="20002"/>
                </a:moveTo>
                <a:lnTo>
                  <a:pt x="0" y="20002"/>
                </a:lnTo>
                <a:lnTo>
                  <a:pt x="0" y="0"/>
                </a:lnTo>
                <a:lnTo>
                  <a:pt x="511175" y="0"/>
                </a:lnTo>
                <a:lnTo>
                  <a:pt x="511175" y="200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879360" y="2763494"/>
            <a:ext cx="575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80" dirty="0">
                <a:latin typeface="Cambria Math" panose="02040503050406030204"/>
                <a:cs typeface="Cambria Math" panose="02040503050406030204"/>
              </a:rPr>
              <a:t>𝜕𝑤</a:t>
            </a:r>
            <a:r>
              <a:rPr sz="2625" spc="120" baseline="-16000" dirty="0">
                <a:latin typeface="Cambria Math" panose="02040503050406030204"/>
                <a:cs typeface="Cambria Math" panose="02040503050406030204"/>
              </a:rPr>
              <a:t>j</a:t>
            </a:r>
            <a:endParaRPr sz="2625" baseline="-16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467370" y="2559659"/>
            <a:ext cx="9328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 panose="02040503050406030204"/>
                <a:cs typeface="Cambria Math" panose="02040503050406030204"/>
              </a:rPr>
              <a:t>𝐽(𝑤)</a:t>
            </a:r>
            <a:r>
              <a:rPr sz="2400" spc="9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50" dirty="0">
                <a:latin typeface="Cambria Math" panose="02040503050406030204"/>
                <a:cs typeface="Cambria Math" panose="02040503050406030204"/>
              </a:rPr>
              <a:t>=</a:t>
            </a:r>
            <a:endParaRPr sz="24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630690" y="2329789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 panose="02040503050406030204"/>
                <a:cs typeface="Cambria Math" panose="02040503050406030204"/>
              </a:rPr>
              <a:t>𝜕</a:t>
            </a:r>
            <a:endParaRPr sz="24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472575" y="2780157"/>
            <a:ext cx="511175" cy="20320"/>
          </a:xfrm>
          <a:custGeom>
            <a:avLst/>
            <a:gdLst/>
            <a:ahLst/>
            <a:cxnLst/>
            <a:rect l="l" t="t" r="r" b="b"/>
            <a:pathLst>
              <a:path w="511175" h="20319">
                <a:moveTo>
                  <a:pt x="511175" y="20002"/>
                </a:moveTo>
                <a:lnTo>
                  <a:pt x="0" y="20002"/>
                </a:lnTo>
                <a:lnTo>
                  <a:pt x="0" y="0"/>
                </a:lnTo>
                <a:lnTo>
                  <a:pt x="511175" y="0"/>
                </a:lnTo>
                <a:lnTo>
                  <a:pt x="511175" y="200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440950" y="2780157"/>
            <a:ext cx="255270" cy="20320"/>
          </a:xfrm>
          <a:custGeom>
            <a:avLst/>
            <a:gdLst/>
            <a:ahLst/>
            <a:cxnLst/>
            <a:rect l="l" t="t" r="r" b="b"/>
            <a:pathLst>
              <a:path w="255270" h="20319">
                <a:moveTo>
                  <a:pt x="255270" y="20002"/>
                </a:moveTo>
                <a:lnTo>
                  <a:pt x="0" y="20002"/>
                </a:lnTo>
                <a:lnTo>
                  <a:pt x="0" y="0"/>
                </a:lnTo>
                <a:lnTo>
                  <a:pt x="255270" y="0"/>
                </a:lnTo>
                <a:lnTo>
                  <a:pt x="255270" y="200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2421775" y="2763494"/>
            <a:ext cx="13131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1018540" algn="l"/>
              </a:tabLst>
            </a:pPr>
            <a:r>
              <a:rPr sz="2400" spc="80" dirty="0">
                <a:latin typeface="Cambria Math" panose="02040503050406030204"/>
                <a:cs typeface="Cambria Math" panose="02040503050406030204"/>
              </a:rPr>
              <a:t>𝜕𝑤</a:t>
            </a:r>
            <a:r>
              <a:rPr sz="2625" spc="120" baseline="-16000" dirty="0">
                <a:latin typeface="Cambria Math" panose="02040503050406030204"/>
                <a:cs typeface="Cambria Math" panose="02040503050406030204"/>
              </a:rPr>
              <a:t>j</a:t>
            </a:r>
            <a:r>
              <a:rPr sz="2625" baseline="-160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2400" spc="-50" dirty="0">
                <a:latin typeface="Cambria Math" panose="02040503050406030204"/>
                <a:cs typeface="Cambria Math" panose="02040503050406030204"/>
              </a:rPr>
              <a:t>𝑚</a:t>
            </a:r>
            <a:endParaRPr sz="24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997085" y="2560294"/>
            <a:ext cx="84404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 panose="02040503050406030204"/>
                <a:cs typeface="Cambria Math" panose="02040503050406030204"/>
              </a:rPr>
              <a:t>(−</a:t>
            </a:r>
            <a:r>
              <a:rPr sz="2400" spc="24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3600" baseline="42000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3600" spc="352" baseline="42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1475" dirty="0">
                <a:latin typeface="Cambria Math" panose="02040503050406030204"/>
                <a:cs typeface="Cambria Math" panose="02040503050406030204"/>
              </a:rPr>
              <a:t>∑</a:t>
            </a:r>
            <a:r>
              <a:rPr sz="2400" spc="-12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2400" spc="3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400" spc="3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𝑦</a:t>
            </a:r>
            <a:r>
              <a:rPr sz="2625" baseline="3000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2625" baseline="29000" dirty="0">
                <a:latin typeface="Cambria Math" panose="02040503050406030204"/>
                <a:cs typeface="Cambria Math" panose="02040503050406030204"/>
              </a:rPr>
              <a:t>𝑖</a:t>
            </a:r>
            <a:r>
              <a:rPr sz="2625" baseline="30000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log</a:t>
            </a:r>
            <a:r>
              <a:rPr sz="2400" spc="-114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80" dirty="0">
                <a:latin typeface="Cambria Math" panose="02040503050406030204"/>
                <a:cs typeface="Cambria Math" panose="02040503050406030204"/>
              </a:rPr>
              <a:t>(1</a:t>
            </a:r>
            <a:r>
              <a:rPr sz="2400" spc="3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+</a:t>
            </a:r>
            <a:r>
              <a:rPr sz="2400" spc="3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65" dirty="0">
                <a:latin typeface="Cambria Math" panose="02040503050406030204"/>
                <a:cs typeface="Cambria Math" panose="02040503050406030204"/>
              </a:rPr>
              <a:t>𝑒</a:t>
            </a:r>
            <a:r>
              <a:rPr sz="2625" spc="97" baseline="29000" dirty="0">
                <a:latin typeface="Cambria Math" panose="02040503050406030204"/>
                <a:cs typeface="Cambria Math" panose="02040503050406030204"/>
              </a:rPr>
              <a:t>−w</a:t>
            </a:r>
            <a:r>
              <a:rPr sz="2100" spc="97" baseline="60000" dirty="0">
                <a:latin typeface="Cambria Math" panose="02040503050406030204"/>
                <a:cs typeface="Cambria Math" panose="02040503050406030204"/>
              </a:rPr>
              <a:t>𝑇</a:t>
            </a:r>
            <a:r>
              <a:rPr sz="2625" spc="97" baseline="29000" dirty="0">
                <a:latin typeface="Cambria Math" panose="02040503050406030204"/>
                <a:cs typeface="Cambria Math" panose="02040503050406030204"/>
              </a:rPr>
              <a:t>𝑥</a:t>
            </a:r>
            <a:r>
              <a:rPr sz="2100" spc="97" baseline="6300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2100" spc="97" baseline="60000" dirty="0">
                <a:latin typeface="Cambria Math" panose="02040503050406030204"/>
                <a:cs typeface="Cambria Math" panose="02040503050406030204"/>
              </a:rPr>
              <a:t>𝑖</a:t>
            </a:r>
            <a:r>
              <a:rPr sz="2100" spc="97" baseline="63000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2400" spc="65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2400" spc="2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400" spc="3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(1</a:t>
            </a:r>
            <a:r>
              <a:rPr sz="2400" spc="3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400" spc="3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𝑦</a:t>
            </a:r>
            <a:r>
              <a:rPr sz="2625" baseline="3000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2625" baseline="29000" dirty="0">
                <a:latin typeface="Cambria Math" panose="02040503050406030204"/>
                <a:cs typeface="Cambria Math" panose="02040503050406030204"/>
              </a:rPr>
              <a:t>𝑖</a:t>
            </a:r>
            <a:r>
              <a:rPr sz="2625" baseline="30000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)log</a:t>
            </a:r>
            <a:r>
              <a:rPr sz="2400" spc="-114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80" dirty="0">
                <a:latin typeface="Cambria Math" panose="02040503050406030204"/>
                <a:cs typeface="Cambria Math" panose="02040503050406030204"/>
              </a:rPr>
              <a:t>(1</a:t>
            </a:r>
            <a:r>
              <a:rPr sz="2400" spc="3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+</a:t>
            </a:r>
            <a:r>
              <a:rPr sz="2400" spc="3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80" dirty="0">
                <a:latin typeface="Cambria Math" panose="02040503050406030204"/>
                <a:cs typeface="Cambria Math" panose="02040503050406030204"/>
              </a:rPr>
              <a:t>𝑒</a:t>
            </a:r>
            <a:r>
              <a:rPr sz="2625" spc="120" baseline="29000" dirty="0">
                <a:latin typeface="Cambria Math" panose="02040503050406030204"/>
                <a:cs typeface="Cambria Math" panose="02040503050406030204"/>
              </a:rPr>
              <a:t>w</a:t>
            </a:r>
            <a:r>
              <a:rPr sz="2100" spc="120" baseline="60000" dirty="0">
                <a:latin typeface="Cambria Math" panose="02040503050406030204"/>
                <a:cs typeface="Cambria Math" panose="02040503050406030204"/>
              </a:rPr>
              <a:t>𝑇</a:t>
            </a:r>
            <a:r>
              <a:rPr sz="2625" spc="120" baseline="29000" dirty="0">
                <a:latin typeface="Cambria Math" panose="02040503050406030204"/>
                <a:cs typeface="Cambria Math" panose="02040503050406030204"/>
              </a:rPr>
              <a:t>𝑥</a:t>
            </a:r>
            <a:r>
              <a:rPr sz="2100" spc="120" baseline="6300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2100" spc="120" baseline="60000" dirty="0">
                <a:latin typeface="Cambria Math" panose="02040503050406030204"/>
                <a:cs typeface="Cambria Math" panose="02040503050406030204"/>
              </a:rPr>
              <a:t>𝑖</a:t>
            </a:r>
            <a:r>
              <a:rPr sz="2100" spc="120" baseline="63000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2400" spc="80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2400" spc="-114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25" dirty="0">
                <a:latin typeface="Cambria Math" panose="02040503050406030204"/>
                <a:cs typeface="Cambria Math" panose="02040503050406030204"/>
              </a:rPr>
              <a:t>))</a:t>
            </a:r>
            <a:endParaRPr sz="24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756545" y="3039719"/>
            <a:ext cx="384810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25" dirty="0">
                <a:latin typeface="Cambria Math" panose="02040503050406030204"/>
                <a:cs typeface="Cambria Math" panose="02040503050406030204"/>
              </a:rPr>
              <a:t>𝑖=1</a:t>
            </a:r>
            <a:endParaRPr sz="17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842905" y="2188184"/>
            <a:ext cx="212090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50" dirty="0">
                <a:latin typeface="Cambria Math" panose="02040503050406030204"/>
                <a:cs typeface="Cambria Math" panose="02040503050406030204"/>
              </a:rPr>
              <a:t>𝑚</a:t>
            </a:r>
            <a:endParaRPr sz="17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120910" y="3421989"/>
            <a:ext cx="1943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 panose="02040503050406030204"/>
                <a:cs typeface="Cambria Math" panose="02040503050406030204"/>
              </a:rPr>
              <a:t>1</a:t>
            </a:r>
            <a:endParaRPr sz="24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090430" y="3872357"/>
            <a:ext cx="255270" cy="20320"/>
          </a:xfrm>
          <a:custGeom>
            <a:avLst/>
            <a:gdLst/>
            <a:ahLst/>
            <a:cxnLst/>
            <a:rect l="l" t="t" r="r" b="b"/>
            <a:pathLst>
              <a:path w="255270" h="20320">
                <a:moveTo>
                  <a:pt x="255269" y="20002"/>
                </a:moveTo>
                <a:lnTo>
                  <a:pt x="0" y="20002"/>
                </a:lnTo>
                <a:lnTo>
                  <a:pt x="0" y="0"/>
                </a:lnTo>
                <a:lnTo>
                  <a:pt x="255269" y="0"/>
                </a:lnTo>
                <a:lnTo>
                  <a:pt x="255269" y="200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3077730" y="3855694"/>
            <a:ext cx="2813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 panose="02040503050406030204"/>
                <a:cs typeface="Cambria Math" panose="02040503050406030204"/>
              </a:rPr>
              <a:t>𝑚</a:t>
            </a:r>
            <a:endParaRPr sz="24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492385" y="3280384"/>
            <a:ext cx="212090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50" dirty="0">
                <a:latin typeface="Cambria Math" panose="02040503050406030204"/>
                <a:cs typeface="Cambria Math" panose="02040503050406030204"/>
              </a:rPr>
              <a:t>𝑚</a:t>
            </a:r>
            <a:endParaRPr sz="17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527820" y="3495105"/>
            <a:ext cx="2299335" cy="929005"/>
          </a:xfrm>
          <a:prstGeom prst="rect">
            <a:avLst/>
          </a:prstGeom>
        </p:spPr>
        <p:txBody>
          <a:bodyPr vert="horz" wrap="square" lIns="0" tIns="1695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35"/>
              </a:spcBef>
              <a:tabLst>
                <a:tab pos="867410" algn="l"/>
              </a:tabLst>
            </a:pPr>
            <a:r>
              <a:rPr sz="2400" spc="-25" dirty="0">
                <a:latin typeface="Cambria Math" panose="02040503050406030204"/>
                <a:cs typeface="Cambria Math" panose="02040503050406030204"/>
              </a:rPr>
              <a:t>=−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2400" spc="1475" dirty="0">
                <a:latin typeface="Cambria Math" panose="02040503050406030204"/>
                <a:cs typeface="Cambria Math" panose="02040503050406030204"/>
              </a:rPr>
              <a:t>∑</a:t>
            </a:r>
            <a:r>
              <a:rPr sz="2400" spc="-13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2400" spc="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400" spc="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20" dirty="0">
                <a:latin typeface="Cambria Math" panose="02040503050406030204"/>
                <a:cs typeface="Cambria Math" panose="02040503050406030204"/>
              </a:rPr>
              <a:t>𝑦</a:t>
            </a:r>
            <a:r>
              <a:rPr sz="2625" spc="-30" baseline="27000" dirty="0">
                <a:latin typeface="Cambria Math" panose="02040503050406030204"/>
                <a:cs typeface="Cambria Math" panose="02040503050406030204"/>
              </a:rPr>
              <a:t>(𝑖)</a:t>
            </a:r>
            <a:endParaRPr sz="2625" baseline="27000">
              <a:latin typeface="Cambria Math" panose="02040503050406030204"/>
              <a:cs typeface="Cambria Math" panose="02040503050406030204"/>
            </a:endParaRPr>
          </a:p>
          <a:p>
            <a:pPr marR="149860" algn="ctr">
              <a:lnSpc>
                <a:spcPct val="100000"/>
              </a:lnSpc>
              <a:spcBef>
                <a:spcPts val="900"/>
              </a:spcBef>
            </a:pPr>
            <a:r>
              <a:rPr sz="1750" spc="-25" dirty="0">
                <a:latin typeface="Cambria Math" panose="02040503050406030204"/>
                <a:cs typeface="Cambria Math" panose="02040503050406030204"/>
              </a:rPr>
              <a:t>𝑖=1</a:t>
            </a:r>
            <a:endParaRPr sz="17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4838585" y="3872509"/>
            <a:ext cx="1722755" cy="20320"/>
          </a:xfrm>
          <a:custGeom>
            <a:avLst/>
            <a:gdLst/>
            <a:ahLst/>
            <a:cxnLst/>
            <a:rect l="l" t="t" r="r" b="b"/>
            <a:pathLst>
              <a:path w="1722754" h="20320">
                <a:moveTo>
                  <a:pt x="1722754" y="20002"/>
                </a:moveTo>
                <a:lnTo>
                  <a:pt x="0" y="20002"/>
                </a:lnTo>
                <a:lnTo>
                  <a:pt x="0" y="0"/>
                </a:lnTo>
                <a:lnTo>
                  <a:pt x="1722754" y="0"/>
                </a:lnTo>
                <a:lnTo>
                  <a:pt x="1722754" y="200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6591820" y="3651859"/>
            <a:ext cx="16052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400" spc="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(1</a:t>
            </a:r>
            <a:r>
              <a:rPr sz="2400" spc="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400" spc="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20" dirty="0">
                <a:latin typeface="Cambria Math" panose="02040503050406030204"/>
                <a:cs typeface="Cambria Math" panose="02040503050406030204"/>
              </a:rPr>
              <a:t>𝑦</a:t>
            </a:r>
            <a:r>
              <a:rPr sz="2625" spc="-30" baseline="27000" dirty="0">
                <a:latin typeface="Cambria Math" panose="02040503050406030204"/>
                <a:cs typeface="Cambria Math" panose="02040503050406030204"/>
              </a:rPr>
              <a:t>(𝑖)</a:t>
            </a:r>
            <a:r>
              <a:rPr sz="2400" spc="-20" dirty="0">
                <a:latin typeface="Cambria Math" panose="02040503050406030204"/>
                <a:cs typeface="Cambria Math" panose="02040503050406030204"/>
              </a:rPr>
              <a:t>)</a:t>
            </a:r>
            <a:endParaRPr sz="24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284355" y="3556609"/>
            <a:ext cx="3253740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135630" algn="l"/>
              </a:tabLst>
            </a:pPr>
            <a:r>
              <a:rPr sz="1750" spc="305" dirty="0">
                <a:latin typeface="Cambria Math" panose="02040503050406030204"/>
                <a:cs typeface="Cambria Math" panose="02040503050406030204"/>
              </a:rPr>
              <a:t>j</a:t>
            </a:r>
            <a:r>
              <a:rPr sz="175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1750" spc="295" dirty="0">
                <a:latin typeface="Cambria Math" panose="02040503050406030204"/>
                <a:cs typeface="Cambria Math" panose="02040503050406030204"/>
              </a:rPr>
              <a:t>j</a:t>
            </a:r>
            <a:endParaRPr sz="17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787785" y="3182594"/>
            <a:ext cx="47663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3470275" algn="l"/>
              </a:tabLst>
            </a:pPr>
            <a:r>
              <a:rPr sz="3600" baseline="-3500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3600" spc="15" baseline="-35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3600" spc="-15" baseline="-35000" dirty="0">
                <a:latin typeface="Cambria Math" panose="02040503050406030204"/>
                <a:cs typeface="Cambria Math" panose="02040503050406030204"/>
              </a:rPr>
              <a:t>𝑥</a:t>
            </a:r>
            <a:r>
              <a:rPr sz="2625" spc="-15" baseline="-8000" dirty="0">
                <a:latin typeface="Cambria Math" panose="02040503050406030204"/>
                <a:cs typeface="Cambria Math" panose="02040503050406030204"/>
              </a:rPr>
              <a:t>(𝑖)</a:t>
            </a:r>
            <a:r>
              <a:rPr sz="3600" spc="-15" baseline="-35000" dirty="0">
                <a:latin typeface="Cambria Math" panose="02040503050406030204"/>
                <a:cs typeface="Cambria Math" panose="02040503050406030204"/>
              </a:rPr>
              <a:t>𝑒</a:t>
            </a:r>
            <a:r>
              <a:rPr sz="2625" spc="-15" baseline="-21000" dirty="0">
                <a:latin typeface="Cambria Math" panose="02040503050406030204"/>
                <a:cs typeface="Cambria Math" panose="02040503050406030204"/>
              </a:rPr>
              <a:t>−w</a:t>
            </a:r>
            <a:r>
              <a:rPr sz="1400" spc="-10" dirty="0">
                <a:latin typeface="Cambria Math" panose="02040503050406030204"/>
                <a:cs typeface="Cambria Math" panose="02040503050406030204"/>
              </a:rPr>
              <a:t>𝑇</a:t>
            </a:r>
            <a:r>
              <a:rPr sz="2625" spc="-15" baseline="-21000" dirty="0">
                <a:latin typeface="Cambria Math" panose="02040503050406030204"/>
                <a:cs typeface="Cambria Math" panose="02040503050406030204"/>
              </a:rPr>
              <a:t>𝑥</a:t>
            </a:r>
            <a:r>
              <a:rPr sz="1400" spc="-10" dirty="0">
                <a:latin typeface="Cambria Math" panose="02040503050406030204"/>
                <a:cs typeface="Cambria Math" panose="02040503050406030204"/>
              </a:rPr>
              <a:t>(𝑖)</a:t>
            </a:r>
            <a:r>
              <a:rPr sz="14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3600" spc="60" baseline="-35000" dirty="0">
                <a:latin typeface="Cambria Math" panose="02040503050406030204"/>
                <a:cs typeface="Cambria Math" panose="02040503050406030204"/>
              </a:rPr>
              <a:t>𝑥</a:t>
            </a:r>
            <a:r>
              <a:rPr sz="2625" spc="60" baseline="-8000" dirty="0">
                <a:latin typeface="Cambria Math" panose="02040503050406030204"/>
                <a:cs typeface="Cambria Math" panose="02040503050406030204"/>
              </a:rPr>
              <a:t>(𝑖)</a:t>
            </a:r>
            <a:r>
              <a:rPr sz="3600" spc="60" baseline="-35000" dirty="0">
                <a:latin typeface="Cambria Math" panose="02040503050406030204"/>
                <a:cs typeface="Cambria Math" panose="02040503050406030204"/>
              </a:rPr>
              <a:t>𝑒</a:t>
            </a:r>
            <a:r>
              <a:rPr sz="2625" spc="60" baseline="-21000" dirty="0">
                <a:latin typeface="Cambria Math" panose="02040503050406030204"/>
                <a:cs typeface="Cambria Math" panose="02040503050406030204"/>
              </a:rPr>
              <a:t>w</a:t>
            </a:r>
            <a:r>
              <a:rPr sz="1400" spc="40" dirty="0">
                <a:latin typeface="Cambria Math" panose="02040503050406030204"/>
                <a:cs typeface="Cambria Math" panose="02040503050406030204"/>
              </a:rPr>
              <a:t>𝑇</a:t>
            </a:r>
            <a:r>
              <a:rPr sz="2625" spc="60" baseline="-21000" dirty="0">
                <a:latin typeface="Cambria Math" panose="02040503050406030204"/>
                <a:cs typeface="Cambria Math" panose="02040503050406030204"/>
              </a:rPr>
              <a:t>𝑥</a:t>
            </a:r>
            <a:r>
              <a:rPr sz="1400" spc="40" dirty="0">
                <a:latin typeface="Cambria Math" panose="02040503050406030204"/>
                <a:cs typeface="Cambria Math" panose="02040503050406030204"/>
              </a:rPr>
              <a:t>(𝑖)</a:t>
            </a:r>
            <a:endParaRPr sz="14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8209800" y="3872509"/>
            <a:ext cx="1362075" cy="20320"/>
          </a:xfrm>
          <a:custGeom>
            <a:avLst/>
            <a:gdLst/>
            <a:ahLst/>
            <a:cxnLst/>
            <a:rect l="l" t="t" r="r" b="b"/>
            <a:pathLst>
              <a:path w="1362075" h="20320">
                <a:moveTo>
                  <a:pt x="1362075" y="20002"/>
                </a:moveTo>
                <a:lnTo>
                  <a:pt x="0" y="20002"/>
                </a:lnTo>
                <a:lnTo>
                  <a:pt x="0" y="0"/>
                </a:lnTo>
                <a:lnTo>
                  <a:pt x="1362075" y="0"/>
                </a:lnTo>
                <a:lnTo>
                  <a:pt x="1362075" y="200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4887480" y="3740759"/>
            <a:ext cx="47155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3321685" algn="l"/>
              </a:tabLst>
            </a:pPr>
            <a:r>
              <a:rPr sz="3600" baseline="-35000" dirty="0">
                <a:latin typeface="Cambria Math" panose="02040503050406030204"/>
                <a:cs typeface="Cambria Math" panose="02040503050406030204"/>
              </a:rPr>
              <a:t>1 +</a:t>
            </a:r>
            <a:r>
              <a:rPr sz="3600" spc="15" baseline="-35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3600" spc="52" baseline="-35000" dirty="0">
                <a:latin typeface="Cambria Math" panose="02040503050406030204"/>
                <a:cs typeface="Cambria Math" panose="02040503050406030204"/>
              </a:rPr>
              <a:t>𝑒</a:t>
            </a:r>
            <a:r>
              <a:rPr sz="2625" spc="52" baseline="-21000" dirty="0">
                <a:latin typeface="Cambria Math" panose="02040503050406030204"/>
                <a:cs typeface="Cambria Math" panose="02040503050406030204"/>
              </a:rPr>
              <a:t>−w</a:t>
            </a:r>
            <a:r>
              <a:rPr sz="1400" spc="35" dirty="0">
                <a:latin typeface="Cambria Math" panose="02040503050406030204"/>
                <a:cs typeface="Cambria Math" panose="02040503050406030204"/>
              </a:rPr>
              <a:t>𝑇</a:t>
            </a:r>
            <a:r>
              <a:rPr sz="2625" spc="52" baseline="-21000" dirty="0">
                <a:latin typeface="Cambria Math" panose="02040503050406030204"/>
                <a:cs typeface="Cambria Math" panose="02040503050406030204"/>
              </a:rPr>
              <a:t>𝑥</a:t>
            </a:r>
            <a:r>
              <a:rPr sz="1400" spc="35" dirty="0">
                <a:latin typeface="Cambria Math" panose="02040503050406030204"/>
                <a:cs typeface="Cambria Math" panose="02040503050406030204"/>
              </a:rPr>
              <a:t>(𝑖)</a:t>
            </a:r>
            <a:r>
              <a:rPr sz="14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3600" baseline="-35000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3600" spc="15" baseline="-35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3600" baseline="-35000" dirty="0">
                <a:latin typeface="Cambria Math" panose="02040503050406030204"/>
                <a:cs typeface="Cambria Math" panose="02040503050406030204"/>
              </a:rPr>
              <a:t>+</a:t>
            </a:r>
            <a:r>
              <a:rPr sz="3600" spc="15" baseline="-35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3600" spc="75" baseline="-35000" dirty="0">
                <a:latin typeface="Cambria Math" panose="02040503050406030204"/>
                <a:cs typeface="Cambria Math" panose="02040503050406030204"/>
              </a:rPr>
              <a:t>𝑒</a:t>
            </a:r>
            <a:r>
              <a:rPr sz="2625" spc="75" baseline="-21000" dirty="0">
                <a:latin typeface="Cambria Math" panose="02040503050406030204"/>
                <a:cs typeface="Cambria Math" panose="02040503050406030204"/>
              </a:rPr>
              <a:t>w</a:t>
            </a:r>
            <a:r>
              <a:rPr sz="1400" spc="50" dirty="0">
                <a:latin typeface="Cambria Math" panose="02040503050406030204"/>
                <a:cs typeface="Cambria Math" panose="02040503050406030204"/>
              </a:rPr>
              <a:t>𝑇</a:t>
            </a:r>
            <a:r>
              <a:rPr sz="2625" spc="75" baseline="-21000" dirty="0">
                <a:latin typeface="Cambria Math" panose="02040503050406030204"/>
                <a:cs typeface="Cambria Math" panose="02040503050406030204"/>
              </a:rPr>
              <a:t>𝑥</a:t>
            </a:r>
            <a:r>
              <a:rPr sz="1400" spc="50" dirty="0">
                <a:latin typeface="Cambria Math" panose="02040503050406030204"/>
                <a:cs typeface="Cambria Math" panose="02040503050406030204"/>
              </a:rPr>
              <a:t>(𝑖)</a:t>
            </a:r>
            <a:endParaRPr sz="14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610611" y="3651859"/>
            <a:ext cx="152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 panose="02040503050406030204"/>
                <a:cs typeface="Cambria Math" panose="02040503050406030204"/>
              </a:rPr>
              <a:t>)</a:t>
            </a:r>
            <a:endParaRPr sz="24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4836045" y="4928361"/>
            <a:ext cx="255270" cy="20320"/>
          </a:xfrm>
          <a:custGeom>
            <a:avLst/>
            <a:gdLst/>
            <a:ahLst/>
            <a:cxnLst/>
            <a:rect l="l" t="t" r="r" b="b"/>
            <a:pathLst>
              <a:path w="255270" h="20320">
                <a:moveTo>
                  <a:pt x="255270" y="20002"/>
                </a:moveTo>
                <a:lnTo>
                  <a:pt x="0" y="20002"/>
                </a:lnTo>
                <a:lnTo>
                  <a:pt x="0" y="0"/>
                </a:lnTo>
                <a:lnTo>
                  <a:pt x="255270" y="0"/>
                </a:lnTo>
                <a:lnTo>
                  <a:pt x="255270" y="200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4823345" y="4911699"/>
            <a:ext cx="2813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 panose="02040503050406030204"/>
                <a:cs typeface="Cambria Math" panose="02040503050406030204"/>
              </a:rPr>
              <a:t>𝑚</a:t>
            </a:r>
            <a:endParaRPr sz="24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151640" y="5187924"/>
            <a:ext cx="384810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25" dirty="0">
                <a:latin typeface="Cambria Math" panose="02040503050406030204"/>
                <a:cs typeface="Cambria Math" panose="02040503050406030204"/>
              </a:rPr>
              <a:t>𝑖=1</a:t>
            </a:r>
            <a:endParaRPr sz="17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238000" y="4336389"/>
            <a:ext cx="212090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50" dirty="0">
                <a:latin typeface="Cambria Math" panose="02040503050406030204"/>
                <a:cs typeface="Cambria Math" panose="02040503050406030204"/>
              </a:rPr>
              <a:t>𝑚</a:t>
            </a:r>
            <a:endParaRPr sz="17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717675" y="4889474"/>
            <a:ext cx="130175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305" dirty="0">
                <a:latin typeface="Cambria Math" panose="02040503050406030204"/>
                <a:cs typeface="Cambria Math" panose="02040503050406030204"/>
              </a:rPr>
              <a:t>j</a:t>
            </a:r>
            <a:endParaRPr sz="17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273435" y="4707864"/>
            <a:ext cx="375792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 panose="02040503050406030204"/>
                <a:cs typeface="Cambria Math" panose="02040503050406030204"/>
              </a:rPr>
              <a:t>=−</a:t>
            </a:r>
            <a:r>
              <a:rPr sz="2400" spc="36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3600" baseline="42000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3600" spc="337" baseline="42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1475" dirty="0">
                <a:latin typeface="Cambria Math" panose="02040503050406030204"/>
                <a:cs typeface="Cambria Math" panose="02040503050406030204"/>
              </a:rPr>
              <a:t>∑</a:t>
            </a:r>
            <a:r>
              <a:rPr sz="2400" spc="-13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1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2400" spc="-12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𝑦</a:t>
            </a:r>
            <a:r>
              <a:rPr sz="2625" baseline="27000" dirty="0">
                <a:latin typeface="Cambria Math" panose="02040503050406030204"/>
                <a:cs typeface="Cambria Math" panose="02040503050406030204"/>
              </a:rPr>
              <a:t>(𝑖)</a:t>
            </a:r>
            <a:r>
              <a:rPr sz="2625" spc="382" baseline="27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400" spc="1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10" dirty="0">
                <a:latin typeface="Cambria Math" panose="02040503050406030204"/>
                <a:cs typeface="Cambria Math" panose="02040503050406030204"/>
              </a:rPr>
              <a:t>ℎ(𝑥</a:t>
            </a:r>
            <a:r>
              <a:rPr sz="2625" spc="-15" baseline="27000" dirty="0">
                <a:latin typeface="Cambria Math" panose="02040503050406030204"/>
                <a:cs typeface="Cambria Math" panose="02040503050406030204"/>
              </a:rPr>
              <a:t>(𝑖)</a:t>
            </a:r>
            <a:r>
              <a:rPr sz="2400" spc="-10" dirty="0">
                <a:latin typeface="Cambria Math" panose="02040503050406030204"/>
                <a:cs typeface="Cambria Math" panose="02040503050406030204"/>
              </a:rPr>
              <a:t>))𝑥</a:t>
            </a:r>
            <a:r>
              <a:rPr sz="2625" spc="-15" baseline="41000" dirty="0">
                <a:latin typeface="Cambria Math" panose="02040503050406030204"/>
                <a:cs typeface="Cambria Math" panose="02040503050406030204"/>
              </a:rPr>
              <a:t>(𝑖)</a:t>
            </a:r>
            <a:endParaRPr sz="2625" baseline="41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4730000" y="5983732"/>
            <a:ext cx="255270" cy="20320"/>
          </a:xfrm>
          <a:custGeom>
            <a:avLst/>
            <a:gdLst/>
            <a:ahLst/>
            <a:cxnLst/>
            <a:rect l="l" t="t" r="r" b="b"/>
            <a:pathLst>
              <a:path w="255270" h="20320">
                <a:moveTo>
                  <a:pt x="255270" y="20002"/>
                </a:moveTo>
                <a:lnTo>
                  <a:pt x="0" y="20002"/>
                </a:lnTo>
                <a:lnTo>
                  <a:pt x="0" y="0"/>
                </a:lnTo>
                <a:lnTo>
                  <a:pt x="255270" y="0"/>
                </a:lnTo>
                <a:lnTo>
                  <a:pt x="255270" y="200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4717300" y="5967069"/>
            <a:ext cx="2813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 panose="02040503050406030204"/>
                <a:cs typeface="Cambria Math" panose="02040503050406030204"/>
              </a:rPr>
              <a:t>𝑚</a:t>
            </a:r>
            <a:endParaRPr sz="24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045595" y="6243294"/>
            <a:ext cx="384810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25" dirty="0">
                <a:latin typeface="Cambria Math" panose="02040503050406030204"/>
                <a:cs typeface="Cambria Math" panose="02040503050406030204"/>
              </a:rPr>
              <a:t>𝑖=1</a:t>
            </a:r>
            <a:endParaRPr sz="17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131955" y="5391759"/>
            <a:ext cx="212090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50" dirty="0">
                <a:latin typeface="Cambria Math" panose="02040503050406030204"/>
                <a:cs typeface="Cambria Math" panose="02040503050406030204"/>
              </a:rPr>
              <a:t>𝑚</a:t>
            </a:r>
            <a:endParaRPr sz="17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7611630" y="5944844"/>
            <a:ext cx="130175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305" dirty="0">
                <a:latin typeface="Cambria Math" panose="02040503050406030204"/>
                <a:cs typeface="Cambria Math" panose="02040503050406030204"/>
              </a:rPr>
              <a:t>j</a:t>
            </a:r>
            <a:endParaRPr sz="17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378845" y="5763234"/>
            <a:ext cx="35464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393700" algn="l"/>
              </a:tabLst>
            </a:pPr>
            <a:r>
              <a:rPr sz="2400" spc="-50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3600" baseline="42000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3600" spc="352" baseline="42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1475" dirty="0">
                <a:latin typeface="Cambria Math" panose="02040503050406030204"/>
                <a:cs typeface="Cambria Math" panose="02040503050406030204"/>
              </a:rPr>
              <a:t>∑</a:t>
            </a:r>
            <a:r>
              <a:rPr sz="2400" spc="-12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1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2400" spc="-114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ℎ(𝑥</a:t>
            </a:r>
            <a:r>
              <a:rPr sz="2625" baseline="29000" dirty="0">
                <a:latin typeface="Cambria Math" panose="02040503050406030204"/>
                <a:cs typeface="Cambria Math" panose="02040503050406030204"/>
              </a:rPr>
              <a:t>(𝑖)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2400" spc="3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400" spc="3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10" dirty="0">
                <a:latin typeface="Cambria Math" panose="02040503050406030204"/>
                <a:cs typeface="Cambria Math" panose="02040503050406030204"/>
              </a:rPr>
              <a:t>𝑦</a:t>
            </a:r>
            <a:r>
              <a:rPr sz="2625" spc="-15" baseline="29000" dirty="0">
                <a:latin typeface="Cambria Math" panose="02040503050406030204"/>
                <a:cs typeface="Cambria Math" panose="02040503050406030204"/>
              </a:rPr>
              <a:t>(𝑖)</a:t>
            </a:r>
            <a:r>
              <a:rPr sz="2400" spc="-10" dirty="0">
                <a:latin typeface="Cambria Math" panose="02040503050406030204"/>
                <a:cs typeface="Cambria Math" panose="02040503050406030204"/>
              </a:rPr>
              <a:t>)𝑥</a:t>
            </a:r>
            <a:r>
              <a:rPr sz="2625" spc="-15" baseline="41000" dirty="0">
                <a:latin typeface="Cambria Math" panose="02040503050406030204"/>
                <a:cs typeface="Cambria Math" panose="02040503050406030204"/>
              </a:rPr>
              <a:t>(𝑖)</a:t>
            </a:r>
            <a:endParaRPr sz="2625" baseline="41000">
              <a:latin typeface="Cambria Math" panose="02040503050406030204"/>
              <a:cs typeface="Cambria Math" panose="02040503050406030204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999744"/>
            <a:ext cx="646430" cy="262255"/>
          </a:xfrm>
          <a:prstGeom prst="rect">
            <a:avLst/>
          </a:prstGeom>
          <a:solidFill>
            <a:srgbClr val="A40020"/>
          </a:solidFill>
        </p:spPr>
        <p:txBody>
          <a:bodyPr vert="horz" wrap="square" lIns="0" tIns="635" rIns="0" bIns="0" rtlCol="0">
            <a:spAutoFit/>
          </a:bodyPr>
          <a:lstStyle/>
          <a:p>
            <a:pPr marL="375285">
              <a:lnSpc>
                <a:spcPct val="100000"/>
              </a:lnSpc>
              <a:spcBef>
                <a:spcPts val="5"/>
              </a:spcBef>
            </a:pPr>
            <a:r>
              <a:rPr sz="1400" b="1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70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28015" y="2842260"/>
            <a:ext cx="3448969" cy="309161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51852" y="6103797"/>
            <a:ext cx="2768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微软雅黑" panose="020B0503020204020204" charset="-122"/>
                <a:cs typeface="微软雅黑" panose="020B0503020204020204" charset="-122"/>
              </a:rPr>
              <a:t>没有正则化，过拟合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34384" y="2724911"/>
            <a:ext cx="3756940" cy="336869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545812" y="6125336"/>
            <a:ext cx="2768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微软雅黑" panose="020B0503020204020204" charset="-122"/>
                <a:cs typeface="微软雅黑" panose="020B0503020204020204" charset="-122"/>
              </a:rPr>
              <a:t>正则化过度，欠拟合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54695" y="2784348"/>
            <a:ext cx="3579035" cy="3209073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8689340" y="6103797"/>
            <a:ext cx="1854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微软雅黑" panose="020B0503020204020204" charset="-122"/>
                <a:cs typeface="微软雅黑" panose="020B0503020204020204" charset="-122"/>
              </a:rPr>
              <a:t>适当的正则化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13066" y="1418577"/>
            <a:ext cx="4292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202020"/>
                </a:solidFill>
                <a:latin typeface="微软雅黑" panose="020B0503020204020204" charset="-122"/>
                <a:cs typeface="微软雅黑" panose="020B0503020204020204" charset="-122"/>
              </a:rPr>
              <a:t>正则化</a:t>
            </a:r>
            <a:r>
              <a:rPr sz="2400" dirty="0">
                <a:solidFill>
                  <a:srgbClr val="202020"/>
                </a:solidFill>
                <a:latin typeface="微软雅黑" panose="020B0503020204020204" charset="-122"/>
                <a:cs typeface="微软雅黑" panose="020B0503020204020204" charset="-122"/>
              </a:rPr>
              <a:t>：目的是</a:t>
            </a:r>
            <a:r>
              <a:rPr sz="2400" b="1" spc="-10" dirty="0">
                <a:solidFill>
                  <a:srgbClr val="111F1B"/>
                </a:solidFill>
                <a:latin typeface="微软雅黑" panose="020B0503020204020204" charset="-122"/>
                <a:cs typeface="微软雅黑" panose="020B0503020204020204" charset="-122"/>
              </a:rPr>
              <a:t>为了防止过拟合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09980" y="2074646"/>
            <a:ext cx="78295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Cambria Math" panose="02040503050406030204"/>
                <a:cs typeface="Cambria Math" panose="02040503050406030204"/>
              </a:rPr>
              <a:t>𝐽</a:t>
            </a:r>
            <a:r>
              <a:rPr sz="3000" baseline="300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2000" dirty="0">
                <a:latin typeface="Cambria Math" panose="02040503050406030204"/>
                <a:cs typeface="Cambria Math" panose="02040503050406030204"/>
              </a:rPr>
              <a:t>𝑤</a:t>
            </a:r>
            <a:r>
              <a:rPr sz="3000" baseline="3000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3000" spc="150" baseline="3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000" spc="-50" dirty="0">
                <a:latin typeface="Cambria Math" panose="02040503050406030204"/>
                <a:cs typeface="Cambria Math" panose="02040503050406030204"/>
              </a:rPr>
              <a:t>=</a:t>
            </a:r>
            <a:endParaRPr sz="2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750720" y="2260828"/>
            <a:ext cx="212725" cy="17145"/>
          </a:xfrm>
          <a:custGeom>
            <a:avLst/>
            <a:gdLst/>
            <a:ahLst/>
            <a:cxnLst/>
            <a:rect l="l" t="t" r="r" b="b"/>
            <a:pathLst>
              <a:path w="212725" h="17144">
                <a:moveTo>
                  <a:pt x="212725" y="16675"/>
                </a:moveTo>
                <a:lnTo>
                  <a:pt x="0" y="16675"/>
                </a:lnTo>
                <a:lnTo>
                  <a:pt x="0" y="0"/>
                </a:lnTo>
                <a:lnTo>
                  <a:pt x="212725" y="0"/>
                </a:lnTo>
                <a:lnTo>
                  <a:pt x="212725" y="166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738020" y="1827123"/>
            <a:ext cx="239395" cy="74803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48260">
              <a:lnSpc>
                <a:spcPct val="100000"/>
              </a:lnSpc>
              <a:spcBef>
                <a:spcPts val="540"/>
              </a:spcBef>
            </a:pPr>
            <a:r>
              <a:rPr sz="2000" spc="-50" dirty="0">
                <a:latin typeface="Cambria Math" panose="02040503050406030204"/>
                <a:cs typeface="Cambria Math" panose="02040503050406030204"/>
              </a:rPr>
              <a:t>1</a:t>
            </a:r>
            <a:endParaRPr sz="2000">
              <a:latin typeface="Cambria Math" panose="02040503050406030204"/>
              <a:cs typeface="Cambria Math" panose="02040503050406030204"/>
            </a:endParaRP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000" spc="-50" dirty="0">
                <a:latin typeface="Cambria Math" panose="02040503050406030204"/>
                <a:cs typeface="Cambria Math" panose="02040503050406030204"/>
              </a:rPr>
              <a:t>𝑚</a:t>
            </a:r>
            <a:endParaRPr sz="2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84095" y="1766671"/>
            <a:ext cx="180340" cy="2463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spc="-50" dirty="0">
                <a:latin typeface="Cambria Math" panose="02040503050406030204"/>
                <a:cs typeface="Cambria Math" panose="02040503050406030204"/>
              </a:rPr>
              <a:t>𝑚</a:t>
            </a:r>
            <a:endParaRPr sz="14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854350" y="2051786"/>
            <a:ext cx="4471035" cy="2463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18235" algn="l"/>
                <a:tab pos="2581910" algn="l"/>
                <a:tab pos="4246880" algn="l"/>
              </a:tabLst>
            </a:pPr>
            <a:r>
              <a:rPr sz="2175" spc="-37" baseline="200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1450" spc="-25" dirty="0">
                <a:latin typeface="Cambria Math" panose="02040503050406030204"/>
                <a:cs typeface="Cambria Math" panose="02040503050406030204"/>
              </a:rPr>
              <a:t>𝑖</a:t>
            </a:r>
            <a:r>
              <a:rPr sz="2175" spc="-37" baseline="2000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2175" baseline="20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2175" spc="-37" baseline="200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1450" spc="-25" dirty="0">
                <a:latin typeface="Cambria Math" panose="02040503050406030204"/>
                <a:cs typeface="Cambria Math" panose="02040503050406030204"/>
              </a:rPr>
              <a:t>𝑖</a:t>
            </a:r>
            <a:r>
              <a:rPr sz="2175" spc="-37" baseline="2000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2175" baseline="20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2175" spc="-37" baseline="200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1450" spc="-25" dirty="0">
                <a:latin typeface="Cambria Math" panose="02040503050406030204"/>
                <a:cs typeface="Cambria Math" panose="02040503050406030204"/>
              </a:rPr>
              <a:t>𝑖</a:t>
            </a:r>
            <a:r>
              <a:rPr sz="2175" spc="-37" baseline="2000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2175" baseline="20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2175" spc="-37" baseline="200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1450" spc="-25" dirty="0">
                <a:latin typeface="Cambria Math" panose="02040503050406030204"/>
                <a:cs typeface="Cambria Math" panose="02040503050406030204"/>
              </a:rPr>
              <a:t>𝑖</a:t>
            </a:r>
            <a:r>
              <a:rPr sz="2175" spc="-37" baseline="2000" dirty="0">
                <a:latin typeface="Cambria Math" panose="02040503050406030204"/>
                <a:cs typeface="Cambria Math" panose="02040503050406030204"/>
              </a:rPr>
              <a:t>)</a:t>
            </a:r>
            <a:endParaRPr sz="2175" baseline="2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993290" y="1943114"/>
            <a:ext cx="5920740" cy="779145"/>
          </a:xfrm>
          <a:prstGeom prst="rect">
            <a:avLst/>
          </a:prstGeom>
        </p:spPr>
        <p:txBody>
          <a:bodyPr vert="horz" wrap="square" lIns="0" tIns="144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0"/>
              </a:spcBef>
              <a:tabLst>
                <a:tab pos="1093470" algn="l"/>
                <a:tab pos="2199640" algn="l"/>
                <a:tab pos="3663315" algn="l"/>
                <a:tab pos="5328285" algn="l"/>
              </a:tabLst>
            </a:pPr>
            <a:r>
              <a:rPr sz="2000" spc="1240" dirty="0">
                <a:latin typeface="Cambria Math" panose="02040503050406030204"/>
                <a:cs typeface="Cambria Math" panose="02040503050406030204"/>
              </a:rPr>
              <a:t>∑</a:t>
            </a:r>
            <a:r>
              <a:rPr sz="2000" spc="-114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000" dirty="0">
                <a:latin typeface="Cambria Math" panose="02040503050406030204"/>
                <a:cs typeface="Cambria Math" panose="02040503050406030204"/>
              </a:rPr>
              <a:t>[−</a:t>
            </a:r>
            <a:r>
              <a:rPr sz="2000" spc="1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000" spc="-50" dirty="0">
                <a:latin typeface="Cambria Math" panose="02040503050406030204"/>
                <a:cs typeface="Cambria Math" panose="02040503050406030204"/>
              </a:rPr>
              <a:t>𝑦</a:t>
            </a:r>
            <a:r>
              <a:rPr sz="2000" dirty="0">
                <a:latin typeface="Cambria Math" panose="02040503050406030204"/>
                <a:cs typeface="Cambria Math" panose="02040503050406030204"/>
              </a:rPr>
              <a:t>	log</a:t>
            </a:r>
            <a:r>
              <a:rPr sz="2000" spc="-114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000" spc="30" dirty="0">
                <a:latin typeface="Cambria Math" panose="02040503050406030204"/>
                <a:cs typeface="Cambria Math" panose="02040503050406030204"/>
              </a:rPr>
              <a:t>(ℎ(𝑥</a:t>
            </a:r>
            <a:r>
              <a:rPr sz="20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2000" spc="110" dirty="0">
                <a:latin typeface="Cambria Math" panose="02040503050406030204"/>
                <a:cs typeface="Cambria Math" panose="02040503050406030204"/>
              </a:rPr>
              <a:t>))</a:t>
            </a:r>
            <a:r>
              <a:rPr sz="2000" spc="1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00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000" spc="1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000" dirty="0">
                <a:latin typeface="Cambria Math" panose="02040503050406030204"/>
                <a:cs typeface="Cambria Math" panose="02040503050406030204"/>
              </a:rPr>
              <a:t>(1</a:t>
            </a:r>
            <a:r>
              <a:rPr sz="2000" spc="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00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000" spc="1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000" spc="-50" dirty="0">
                <a:latin typeface="Cambria Math" panose="02040503050406030204"/>
                <a:cs typeface="Cambria Math" panose="02040503050406030204"/>
              </a:rPr>
              <a:t>𝑦</a:t>
            </a:r>
            <a:r>
              <a:rPr sz="2000" dirty="0">
                <a:latin typeface="Cambria Math" panose="02040503050406030204"/>
                <a:cs typeface="Cambria Math" panose="02040503050406030204"/>
              </a:rPr>
              <a:t>	)log</a:t>
            </a:r>
            <a:r>
              <a:rPr sz="2000" spc="-10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000" spc="70" dirty="0">
                <a:latin typeface="Cambria Math" panose="02040503050406030204"/>
                <a:cs typeface="Cambria Math" panose="02040503050406030204"/>
              </a:rPr>
              <a:t>(1</a:t>
            </a:r>
            <a:r>
              <a:rPr sz="2000" spc="2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00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000" spc="3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000" spc="-25" dirty="0">
                <a:latin typeface="Cambria Math" panose="02040503050406030204"/>
                <a:cs typeface="Cambria Math" panose="02040503050406030204"/>
              </a:rPr>
              <a:t>ℎ(𝑥</a:t>
            </a:r>
            <a:r>
              <a:rPr sz="20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2000" spc="80" dirty="0">
                <a:latin typeface="Cambria Math" panose="02040503050406030204"/>
                <a:cs typeface="Cambria Math" panose="02040503050406030204"/>
              </a:rPr>
              <a:t>))]</a:t>
            </a:r>
            <a:r>
              <a:rPr sz="2000" spc="1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000" spc="-50" dirty="0">
                <a:latin typeface="Cambria Math" panose="02040503050406030204"/>
                <a:cs typeface="Cambria Math" panose="02040503050406030204"/>
              </a:rPr>
              <a:t>+</a:t>
            </a:r>
            <a:endParaRPr sz="2000">
              <a:latin typeface="Cambria Math" panose="02040503050406030204"/>
              <a:cs typeface="Cambria Math" panose="02040503050406030204"/>
            </a:endParaRPr>
          </a:p>
          <a:p>
            <a:pPr marL="31750">
              <a:lnSpc>
                <a:spcPct val="100000"/>
              </a:lnSpc>
              <a:spcBef>
                <a:spcPts val="750"/>
              </a:spcBef>
            </a:pPr>
            <a:r>
              <a:rPr sz="1450" spc="-25" dirty="0">
                <a:latin typeface="Cambria Math" panose="02040503050406030204"/>
                <a:cs typeface="Cambria Math" panose="02040503050406030204"/>
              </a:rPr>
              <a:t>𝑖=1</a:t>
            </a:r>
            <a:endParaRPr sz="14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056270" y="1882876"/>
            <a:ext cx="15748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0" dirty="0">
                <a:latin typeface="Cambria Math" panose="02040503050406030204"/>
                <a:cs typeface="Cambria Math" panose="02040503050406030204"/>
              </a:rPr>
              <a:t>𝜆</a:t>
            </a:r>
            <a:endParaRPr sz="2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957845" y="2260828"/>
            <a:ext cx="353060" cy="17145"/>
          </a:xfrm>
          <a:custGeom>
            <a:avLst/>
            <a:gdLst/>
            <a:ahLst/>
            <a:cxnLst/>
            <a:rect l="l" t="t" r="r" b="b"/>
            <a:pathLst>
              <a:path w="353059" h="17144">
                <a:moveTo>
                  <a:pt x="353060" y="16675"/>
                </a:moveTo>
                <a:lnTo>
                  <a:pt x="0" y="16675"/>
                </a:lnTo>
                <a:lnTo>
                  <a:pt x="0" y="0"/>
                </a:lnTo>
                <a:lnTo>
                  <a:pt x="353060" y="0"/>
                </a:lnTo>
                <a:lnTo>
                  <a:pt x="353060" y="166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7945145" y="2244191"/>
            <a:ext cx="37973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25" dirty="0">
                <a:latin typeface="Cambria Math" panose="02040503050406030204"/>
                <a:cs typeface="Cambria Math" panose="02040503050406030204"/>
              </a:rPr>
              <a:t>2𝑚</a:t>
            </a:r>
            <a:endParaRPr sz="2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355990" y="2475331"/>
            <a:ext cx="331470" cy="2463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spc="-25" dirty="0">
                <a:latin typeface="Cambria Math" panose="02040503050406030204"/>
                <a:cs typeface="Cambria Math" panose="02040503050406030204"/>
              </a:rPr>
              <a:t>j=1</a:t>
            </a:r>
            <a:endParaRPr sz="14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340750" y="2074646"/>
            <a:ext cx="59309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1240" dirty="0">
                <a:latin typeface="Cambria Math" panose="02040503050406030204"/>
                <a:cs typeface="Cambria Math" panose="02040503050406030204"/>
              </a:rPr>
              <a:t>∑</a:t>
            </a:r>
            <a:r>
              <a:rPr sz="2000" spc="-114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000" spc="-50" dirty="0">
                <a:latin typeface="Cambria Math" panose="02040503050406030204"/>
                <a:cs typeface="Cambria Math" panose="02040503050406030204"/>
              </a:rPr>
              <a:t>𝑤</a:t>
            </a:r>
            <a:endParaRPr sz="2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907805" y="2041626"/>
            <a:ext cx="132080" cy="2463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spc="-50" dirty="0">
                <a:latin typeface="Cambria Math" panose="02040503050406030204"/>
                <a:cs typeface="Cambria Math" panose="02040503050406030204"/>
              </a:rPr>
              <a:t>2</a:t>
            </a:r>
            <a:endParaRPr sz="14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7921205" y="1783829"/>
            <a:ext cx="1346200" cy="953769"/>
          </a:xfrm>
          <a:custGeom>
            <a:avLst/>
            <a:gdLst/>
            <a:ahLst/>
            <a:cxnLst/>
            <a:rect l="l" t="t" r="r" b="b"/>
            <a:pathLst>
              <a:path w="1346200" h="953769">
                <a:moveTo>
                  <a:pt x="1211503" y="2539"/>
                </a:moveTo>
                <a:lnTo>
                  <a:pt x="134150" y="2539"/>
                </a:lnTo>
                <a:lnTo>
                  <a:pt x="141782" y="1269"/>
                </a:lnTo>
                <a:lnTo>
                  <a:pt x="150164" y="0"/>
                </a:lnTo>
                <a:lnTo>
                  <a:pt x="1195489" y="0"/>
                </a:lnTo>
                <a:lnTo>
                  <a:pt x="1203236" y="1269"/>
                </a:lnTo>
                <a:lnTo>
                  <a:pt x="1203871" y="1269"/>
                </a:lnTo>
                <a:lnTo>
                  <a:pt x="1211503" y="2539"/>
                </a:lnTo>
                <a:close/>
              </a:path>
              <a:path w="1346200" h="953769">
                <a:moveTo>
                  <a:pt x="87845" y="49530"/>
                </a:moveTo>
                <a:lnTo>
                  <a:pt x="88353" y="48260"/>
                </a:lnTo>
                <a:lnTo>
                  <a:pt x="49301" y="48260"/>
                </a:lnTo>
                <a:lnTo>
                  <a:pt x="55130" y="43180"/>
                </a:lnTo>
                <a:lnTo>
                  <a:pt x="61226" y="36830"/>
                </a:lnTo>
                <a:lnTo>
                  <a:pt x="67068" y="33019"/>
                </a:lnTo>
                <a:lnTo>
                  <a:pt x="73634" y="27939"/>
                </a:lnTo>
                <a:lnTo>
                  <a:pt x="80429" y="24130"/>
                </a:lnTo>
                <a:lnTo>
                  <a:pt x="80949" y="22860"/>
                </a:lnTo>
                <a:lnTo>
                  <a:pt x="87972" y="19050"/>
                </a:lnTo>
                <a:lnTo>
                  <a:pt x="94653" y="16510"/>
                </a:lnTo>
                <a:lnTo>
                  <a:pt x="102654" y="12700"/>
                </a:lnTo>
                <a:lnTo>
                  <a:pt x="110274" y="8889"/>
                </a:lnTo>
                <a:lnTo>
                  <a:pt x="117475" y="6350"/>
                </a:lnTo>
                <a:lnTo>
                  <a:pt x="125425" y="5080"/>
                </a:lnTo>
                <a:lnTo>
                  <a:pt x="133527" y="2539"/>
                </a:lnTo>
                <a:lnTo>
                  <a:pt x="1212126" y="2539"/>
                </a:lnTo>
                <a:lnTo>
                  <a:pt x="1220228" y="5080"/>
                </a:lnTo>
                <a:lnTo>
                  <a:pt x="1228191" y="6350"/>
                </a:lnTo>
                <a:lnTo>
                  <a:pt x="1235976" y="10160"/>
                </a:lnTo>
                <a:lnTo>
                  <a:pt x="1243012" y="12700"/>
                </a:lnTo>
                <a:lnTo>
                  <a:pt x="1251000" y="16510"/>
                </a:lnTo>
                <a:lnTo>
                  <a:pt x="1257680" y="19050"/>
                </a:lnTo>
                <a:lnTo>
                  <a:pt x="1265237" y="24130"/>
                </a:lnTo>
                <a:lnTo>
                  <a:pt x="167932" y="24130"/>
                </a:lnTo>
                <a:lnTo>
                  <a:pt x="159956" y="25400"/>
                </a:lnTo>
                <a:lnTo>
                  <a:pt x="153365" y="25400"/>
                </a:lnTo>
                <a:lnTo>
                  <a:pt x="145618" y="26669"/>
                </a:lnTo>
                <a:lnTo>
                  <a:pt x="146253" y="26669"/>
                </a:lnTo>
                <a:lnTo>
                  <a:pt x="138620" y="27939"/>
                </a:lnTo>
                <a:lnTo>
                  <a:pt x="139242" y="27939"/>
                </a:lnTo>
                <a:lnTo>
                  <a:pt x="132946" y="29007"/>
                </a:lnTo>
                <a:lnTo>
                  <a:pt x="128682" y="30480"/>
                </a:lnTo>
                <a:lnTo>
                  <a:pt x="125615" y="30480"/>
                </a:lnTo>
                <a:lnTo>
                  <a:pt x="118414" y="33019"/>
                </a:lnTo>
                <a:lnTo>
                  <a:pt x="118999" y="33019"/>
                </a:lnTo>
                <a:lnTo>
                  <a:pt x="111963" y="35560"/>
                </a:lnTo>
                <a:lnTo>
                  <a:pt x="112534" y="35560"/>
                </a:lnTo>
                <a:lnTo>
                  <a:pt x="107962" y="38100"/>
                </a:lnTo>
                <a:lnTo>
                  <a:pt x="106235" y="38100"/>
                </a:lnTo>
                <a:lnTo>
                  <a:pt x="99555" y="41910"/>
                </a:lnTo>
                <a:lnTo>
                  <a:pt x="100101" y="41910"/>
                </a:lnTo>
                <a:lnTo>
                  <a:pt x="93611" y="45719"/>
                </a:lnTo>
                <a:lnTo>
                  <a:pt x="94132" y="45719"/>
                </a:lnTo>
                <a:lnTo>
                  <a:pt x="87845" y="49530"/>
                </a:lnTo>
                <a:close/>
              </a:path>
              <a:path w="1346200" h="953769">
                <a:moveTo>
                  <a:pt x="1220647" y="31750"/>
                </a:moveTo>
                <a:lnTo>
                  <a:pt x="1212707" y="29007"/>
                </a:lnTo>
                <a:lnTo>
                  <a:pt x="1206411" y="27939"/>
                </a:lnTo>
                <a:lnTo>
                  <a:pt x="1207033" y="27939"/>
                </a:lnTo>
                <a:lnTo>
                  <a:pt x="1199413" y="26669"/>
                </a:lnTo>
                <a:lnTo>
                  <a:pt x="1200035" y="26669"/>
                </a:lnTo>
                <a:lnTo>
                  <a:pt x="1192288" y="25400"/>
                </a:lnTo>
                <a:lnTo>
                  <a:pt x="1185697" y="25400"/>
                </a:lnTo>
                <a:lnTo>
                  <a:pt x="1177721" y="24130"/>
                </a:lnTo>
                <a:lnTo>
                  <a:pt x="1265237" y="24130"/>
                </a:lnTo>
                <a:lnTo>
                  <a:pt x="1272019" y="27939"/>
                </a:lnTo>
                <a:lnTo>
                  <a:pt x="1275302" y="30480"/>
                </a:lnTo>
                <a:lnTo>
                  <a:pt x="1220050" y="30480"/>
                </a:lnTo>
                <a:lnTo>
                  <a:pt x="1220647" y="31750"/>
                </a:lnTo>
                <a:close/>
              </a:path>
              <a:path w="1346200" h="953769">
                <a:moveTo>
                  <a:pt x="125006" y="31750"/>
                </a:moveTo>
                <a:lnTo>
                  <a:pt x="125615" y="30480"/>
                </a:lnTo>
                <a:lnTo>
                  <a:pt x="128682" y="30480"/>
                </a:lnTo>
                <a:lnTo>
                  <a:pt x="125006" y="31750"/>
                </a:lnTo>
                <a:close/>
              </a:path>
              <a:path w="1346200" h="953769">
                <a:moveTo>
                  <a:pt x="1239977" y="39369"/>
                </a:moveTo>
                <a:lnTo>
                  <a:pt x="1233119" y="35560"/>
                </a:lnTo>
                <a:lnTo>
                  <a:pt x="1233690" y="35560"/>
                </a:lnTo>
                <a:lnTo>
                  <a:pt x="1226654" y="33019"/>
                </a:lnTo>
                <a:lnTo>
                  <a:pt x="1227239" y="33019"/>
                </a:lnTo>
                <a:lnTo>
                  <a:pt x="1220050" y="30480"/>
                </a:lnTo>
                <a:lnTo>
                  <a:pt x="1275302" y="30480"/>
                </a:lnTo>
                <a:lnTo>
                  <a:pt x="1278585" y="33019"/>
                </a:lnTo>
                <a:lnTo>
                  <a:pt x="1284439" y="36830"/>
                </a:lnTo>
                <a:lnTo>
                  <a:pt x="1285656" y="38100"/>
                </a:lnTo>
                <a:lnTo>
                  <a:pt x="1239418" y="38100"/>
                </a:lnTo>
                <a:lnTo>
                  <a:pt x="1239977" y="39369"/>
                </a:lnTo>
                <a:close/>
              </a:path>
              <a:path w="1346200" h="953769">
                <a:moveTo>
                  <a:pt x="105676" y="39369"/>
                </a:moveTo>
                <a:lnTo>
                  <a:pt x="106235" y="38100"/>
                </a:lnTo>
                <a:lnTo>
                  <a:pt x="107962" y="38100"/>
                </a:lnTo>
                <a:lnTo>
                  <a:pt x="105676" y="39369"/>
                </a:lnTo>
                <a:close/>
              </a:path>
              <a:path w="1346200" h="953769">
                <a:moveTo>
                  <a:pt x="1257807" y="49530"/>
                </a:moveTo>
                <a:lnTo>
                  <a:pt x="1251521" y="45719"/>
                </a:lnTo>
                <a:lnTo>
                  <a:pt x="1252042" y="45719"/>
                </a:lnTo>
                <a:lnTo>
                  <a:pt x="1245565" y="41910"/>
                </a:lnTo>
                <a:lnTo>
                  <a:pt x="1246098" y="41910"/>
                </a:lnTo>
                <a:lnTo>
                  <a:pt x="1239418" y="38100"/>
                </a:lnTo>
                <a:lnTo>
                  <a:pt x="1285656" y="38100"/>
                </a:lnTo>
                <a:lnTo>
                  <a:pt x="1290523" y="43180"/>
                </a:lnTo>
                <a:lnTo>
                  <a:pt x="1296352" y="48260"/>
                </a:lnTo>
                <a:lnTo>
                  <a:pt x="1257300" y="48260"/>
                </a:lnTo>
                <a:lnTo>
                  <a:pt x="1257807" y="49530"/>
                </a:lnTo>
                <a:close/>
              </a:path>
              <a:path w="1346200" h="953769">
                <a:moveTo>
                  <a:pt x="139242" y="925830"/>
                </a:moveTo>
                <a:lnTo>
                  <a:pt x="73634" y="925830"/>
                </a:lnTo>
                <a:lnTo>
                  <a:pt x="67068" y="920750"/>
                </a:lnTo>
                <a:lnTo>
                  <a:pt x="60756" y="915669"/>
                </a:lnTo>
                <a:lnTo>
                  <a:pt x="55130" y="910589"/>
                </a:lnTo>
                <a:lnTo>
                  <a:pt x="49301" y="905510"/>
                </a:lnTo>
                <a:lnTo>
                  <a:pt x="48869" y="905510"/>
                </a:lnTo>
                <a:lnTo>
                  <a:pt x="43332" y="899160"/>
                </a:lnTo>
                <a:lnTo>
                  <a:pt x="38087" y="892810"/>
                </a:lnTo>
                <a:lnTo>
                  <a:pt x="33489" y="887730"/>
                </a:lnTo>
                <a:lnTo>
                  <a:pt x="28803" y="880110"/>
                </a:lnTo>
                <a:lnTo>
                  <a:pt x="28460" y="880110"/>
                </a:lnTo>
                <a:lnTo>
                  <a:pt x="24117" y="873760"/>
                </a:lnTo>
                <a:lnTo>
                  <a:pt x="20091" y="866139"/>
                </a:lnTo>
                <a:lnTo>
                  <a:pt x="16662" y="859789"/>
                </a:lnTo>
                <a:lnTo>
                  <a:pt x="13296" y="852169"/>
                </a:lnTo>
                <a:lnTo>
                  <a:pt x="10274" y="844550"/>
                </a:lnTo>
                <a:lnTo>
                  <a:pt x="10058" y="844550"/>
                </a:lnTo>
                <a:lnTo>
                  <a:pt x="5194" y="828039"/>
                </a:lnTo>
                <a:lnTo>
                  <a:pt x="3340" y="820419"/>
                </a:lnTo>
                <a:lnTo>
                  <a:pt x="1981" y="812800"/>
                </a:lnTo>
                <a:lnTo>
                  <a:pt x="1879" y="811530"/>
                </a:lnTo>
                <a:lnTo>
                  <a:pt x="825" y="803910"/>
                </a:lnTo>
                <a:lnTo>
                  <a:pt x="228" y="795019"/>
                </a:lnTo>
                <a:lnTo>
                  <a:pt x="0" y="787400"/>
                </a:lnTo>
                <a:lnTo>
                  <a:pt x="0" y="166369"/>
                </a:lnTo>
                <a:lnTo>
                  <a:pt x="169" y="160019"/>
                </a:lnTo>
                <a:lnTo>
                  <a:pt x="228" y="157480"/>
                </a:lnTo>
                <a:lnTo>
                  <a:pt x="7442" y="116839"/>
                </a:lnTo>
                <a:lnTo>
                  <a:pt x="7632" y="116839"/>
                </a:lnTo>
                <a:lnTo>
                  <a:pt x="10274" y="109219"/>
                </a:lnTo>
                <a:lnTo>
                  <a:pt x="13055" y="101600"/>
                </a:lnTo>
                <a:lnTo>
                  <a:pt x="13296" y="101600"/>
                </a:lnTo>
                <a:lnTo>
                  <a:pt x="16662" y="93980"/>
                </a:lnTo>
                <a:lnTo>
                  <a:pt x="20383" y="86360"/>
                </a:lnTo>
                <a:lnTo>
                  <a:pt x="28460" y="73660"/>
                </a:lnTo>
                <a:lnTo>
                  <a:pt x="33121" y="67310"/>
                </a:lnTo>
                <a:lnTo>
                  <a:pt x="38468" y="59689"/>
                </a:lnTo>
                <a:lnTo>
                  <a:pt x="43332" y="54610"/>
                </a:lnTo>
                <a:lnTo>
                  <a:pt x="48869" y="48260"/>
                </a:lnTo>
                <a:lnTo>
                  <a:pt x="88353" y="48260"/>
                </a:lnTo>
                <a:lnTo>
                  <a:pt x="82283" y="53339"/>
                </a:lnTo>
                <a:lnTo>
                  <a:pt x="82765" y="53339"/>
                </a:lnTo>
                <a:lnTo>
                  <a:pt x="76911" y="57150"/>
                </a:lnTo>
                <a:lnTo>
                  <a:pt x="77381" y="57150"/>
                </a:lnTo>
                <a:lnTo>
                  <a:pt x="73171" y="60960"/>
                </a:lnTo>
                <a:lnTo>
                  <a:pt x="72212" y="60960"/>
                </a:lnTo>
                <a:lnTo>
                  <a:pt x="66827" y="66039"/>
                </a:lnTo>
                <a:lnTo>
                  <a:pt x="67259" y="66039"/>
                </a:lnTo>
                <a:lnTo>
                  <a:pt x="62128" y="71119"/>
                </a:lnTo>
                <a:lnTo>
                  <a:pt x="62534" y="71119"/>
                </a:lnTo>
                <a:lnTo>
                  <a:pt x="57670" y="76200"/>
                </a:lnTo>
                <a:lnTo>
                  <a:pt x="58051" y="76200"/>
                </a:lnTo>
                <a:lnTo>
                  <a:pt x="54373" y="81280"/>
                </a:lnTo>
                <a:lnTo>
                  <a:pt x="53822" y="81280"/>
                </a:lnTo>
                <a:lnTo>
                  <a:pt x="49504" y="87630"/>
                </a:lnTo>
                <a:lnTo>
                  <a:pt x="49847" y="87630"/>
                </a:lnTo>
                <a:lnTo>
                  <a:pt x="46616" y="92710"/>
                </a:lnTo>
                <a:lnTo>
                  <a:pt x="46126" y="92710"/>
                </a:lnTo>
                <a:lnTo>
                  <a:pt x="42405" y="99060"/>
                </a:lnTo>
                <a:lnTo>
                  <a:pt x="42697" y="99060"/>
                </a:lnTo>
                <a:lnTo>
                  <a:pt x="39268" y="105410"/>
                </a:lnTo>
                <a:lnTo>
                  <a:pt x="39547" y="105410"/>
                </a:lnTo>
                <a:lnTo>
                  <a:pt x="36436" y="111760"/>
                </a:lnTo>
                <a:lnTo>
                  <a:pt x="36677" y="111760"/>
                </a:lnTo>
                <a:lnTo>
                  <a:pt x="33908" y="118110"/>
                </a:lnTo>
                <a:lnTo>
                  <a:pt x="34124" y="118110"/>
                </a:lnTo>
                <a:lnTo>
                  <a:pt x="31686" y="124460"/>
                </a:lnTo>
                <a:lnTo>
                  <a:pt x="31876" y="124460"/>
                </a:lnTo>
                <a:lnTo>
                  <a:pt x="30130" y="130810"/>
                </a:lnTo>
                <a:lnTo>
                  <a:pt x="29946" y="130810"/>
                </a:lnTo>
                <a:lnTo>
                  <a:pt x="28346" y="138430"/>
                </a:lnTo>
                <a:lnTo>
                  <a:pt x="26822" y="146896"/>
                </a:lnTo>
                <a:lnTo>
                  <a:pt x="26162" y="152400"/>
                </a:lnTo>
                <a:lnTo>
                  <a:pt x="25755" y="157480"/>
                </a:lnTo>
                <a:lnTo>
                  <a:pt x="25653" y="158750"/>
                </a:lnTo>
                <a:lnTo>
                  <a:pt x="25552" y="160019"/>
                </a:lnTo>
                <a:lnTo>
                  <a:pt x="25416" y="166369"/>
                </a:lnTo>
                <a:lnTo>
                  <a:pt x="25414" y="787400"/>
                </a:lnTo>
                <a:lnTo>
                  <a:pt x="25552" y="793750"/>
                </a:lnTo>
                <a:lnTo>
                  <a:pt x="26085" y="801369"/>
                </a:lnTo>
                <a:lnTo>
                  <a:pt x="26663" y="805814"/>
                </a:lnTo>
                <a:lnTo>
                  <a:pt x="26822" y="806786"/>
                </a:lnTo>
                <a:lnTo>
                  <a:pt x="26912" y="807726"/>
                </a:lnTo>
                <a:lnTo>
                  <a:pt x="27178" y="808968"/>
                </a:lnTo>
                <a:lnTo>
                  <a:pt x="28219" y="815339"/>
                </a:lnTo>
                <a:lnTo>
                  <a:pt x="29946" y="822960"/>
                </a:lnTo>
                <a:lnTo>
                  <a:pt x="30130" y="822960"/>
                </a:lnTo>
                <a:lnTo>
                  <a:pt x="31876" y="829310"/>
                </a:lnTo>
                <a:lnTo>
                  <a:pt x="32092" y="829310"/>
                </a:lnTo>
                <a:lnTo>
                  <a:pt x="34124" y="835660"/>
                </a:lnTo>
                <a:lnTo>
                  <a:pt x="33908" y="835660"/>
                </a:lnTo>
                <a:lnTo>
                  <a:pt x="36677" y="842010"/>
                </a:lnTo>
                <a:lnTo>
                  <a:pt x="36436" y="842010"/>
                </a:lnTo>
                <a:lnTo>
                  <a:pt x="39547" y="848360"/>
                </a:lnTo>
                <a:lnTo>
                  <a:pt x="39268" y="848360"/>
                </a:lnTo>
                <a:lnTo>
                  <a:pt x="42697" y="854710"/>
                </a:lnTo>
                <a:lnTo>
                  <a:pt x="42405" y="854710"/>
                </a:lnTo>
                <a:lnTo>
                  <a:pt x="46126" y="861060"/>
                </a:lnTo>
                <a:lnTo>
                  <a:pt x="46616" y="861060"/>
                </a:lnTo>
                <a:lnTo>
                  <a:pt x="49847" y="866139"/>
                </a:lnTo>
                <a:lnTo>
                  <a:pt x="49504" y="866139"/>
                </a:lnTo>
                <a:lnTo>
                  <a:pt x="53822" y="872489"/>
                </a:lnTo>
                <a:lnTo>
                  <a:pt x="54373" y="872489"/>
                </a:lnTo>
                <a:lnTo>
                  <a:pt x="58051" y="877569"/>
                </a:lnTo>
                <a:lnTo>
                  <a:pt x="58643" y="877569"/>
                </a:lnTo>
                <a:lnTo>
                  <a:pt x="62534" y="882650"/>
                </a:lnTo>
                <a:lnTo>
                  <a:pt x="63154" y="882650"/>
                </a:lnTo>
                <a:lnTo>
                  <a:pt x="67259" y="887730"/>
                </a:lnTo>
                <a:lnTo>
                  <a:pt x="68173" y="887730"/>
                </a:lnTo>
                <a:lnTo>
                  <a:pt x="72212" y="891539"/>
                </a:lnTo>
                <a:lnTo>
                  <a:pt x="71767" y="891539"/>
                </a:lnTo>
                <a:lnTo>
                  <a:pt x="77381" y="896619"/>
                </a:lnTo>
                <a:lnTo>
                  <a:pt x="76911" y="896619"/>
                </a:lnTo>
                <a:lnTo>
                  <a:pt x="82765" y="900430"/>
                </a:lnTo>
                <a:lnTo>
                  <a:pt x="82283" y="900430"/>
                </a:lnTo>
                <a:lnTo>
                  <a:pt x="88353" y="904239"/>
                </a:lnTo>
                <a:lnTo>
                  <a:pt x="87845" y="904239"/>
                </a:lnTo>
                <a:lnTo>
                  <a:pt x="94132" y="908050"/>
                </a:lnTo>
                <a:lnTo>
                  <a:pt x="93611" y="908050"/>
                </a:lnTo>
                <a:lnTo>
                  <a:pt x="100101" y="911860"/>
                </a:lnTo>
                <a:lnTo>
                  <a:pt x="99555" y="911860"/>
                </a:lnTo>
                <a:lnTo>
                  <a:pt x="106235" y="914400"/>
                </a:lnTo>
                <a:lnTo>
                  <a:pt x="105676" y="914400"/>
                </a:lnTo>
                <a:lnTo>
                  <a:pt x="112534" y="918210"/>
                </a:lnTo>
                <a:lnTo>
                  <a:pt x="114308" y="918210"/>
                </a:lnTo>
                <a:lnTo>
                  <a:pt x="118999" y="920750"/>
                </a:lnTo>
                <a:lnTo>
                  <a:pt x="122015" y="920750"/>
                </a:lnTo>
                <a:lnTo>
                  <a:pt x="125615" y="922019"/>
                </a:lnTo>
                <a:lnTo>
                  <a:pt x="125006" y="922019"/>
                </a:lnTo>
                <a:lnTo>
                  <a:pt x="132359" y="924560"/>
                </a:lnTo>
                <a:lnTo>
                  <a:pt x="131749" y="924560"/>
                </a:lnTo>
                <a:lnTo>
                  <a:pt x="139242" y="925830"/>
                </a:lnTo>
                <a:close/>
              </a:path>
              <a:path w="1346200" h="953769">
                <a:moveTo>
                  <a:pt x="1273898" y="62230"/>
                </a:moveTo>
                <a:lnTo>
                  <a:pt x="1268272" y="57150"/>
                </a:lnTo>
                <a:lnTo>
                  <a:pt x="1268742" y="57150"/>
                </a:lnTo>
                <a:lnTo>
                  <a:pt x="1262888" y="53339"/>
                </a:lnTo>
                <a:lnTo>
                  <a:pt x="1263370" y="53339"/>
                </a:lnTo>
                <a:lnTo>
                  <a:pt x="1257300" y="48260"/>
                </a:lnTo>
                <a:lnTo>
                  <a:pt x="1296784" y="48260"/>
                </a:lnTo>
                <a:lnTo>
                  <a:pt x="1301915" y="54610"/>
                </a:lnTo>
                <a:lnTo>
                  <a:pt x="1307579" y="60960"/>
                </a:lnTo>
                <a:lnTo>
                  <a:pt x="1273441" y="60960"/>
                </a:lnTo>
                <a:lnTo>
                  <a:pt x="1273898" y="62230"/>
                </a:lnTo>
                <a:close/>
              </a:path>
              <a:path w="1346200" h="953769">
                <a:moveTo>
                  <a:pt x="71767" y="62230"/>
                </a:moveTo>
                <a:lnTo>
                  <a:pt x="72212" y="60960"/>
                </a:lnTo>
                <a:lnTo>
                  <a:pt x="73171" y="60960"/>
                </a:lnTo>
                <a:lnTo>
                  <a:pt x="71767" y="62230"/>
                </a:lnTo>
                <a:close/>
              </a:path>
              <a:path w="1346200" h="953769">
                <a:moveTo>
                  <a:pt x="1292199" y="82550"/>
                </a:moveTo>
                <a:lnTo>
                  <a:pt x="1287602" y="76200"/>
                </a:lnTo>
                <a:lnTo>
                  <a:pt x="1287983" y="76200"/>
                </a:lnTo>
                <a:lnTo>
                  <a:pt x="1283119" y="71119"/>
                </a:lnTo>
                <a:lnTo>
                  <a:pt x="1283525" y="71119"/>
                </a:lnTo>
                <a:lnTo>
                  <a:pt x="1278394" y="66039"/>
                </a:lnTo>
                <a:lnTo>
                  <a:pt x="1278826" y="66039"/>
                </a:lnTo>
                <a:lnTo>
                  <a:pt x="1273441" y="60960"/>
                </a:lnTo>
                <a:lnTo>
                  <a:pt x="1307579" y="60960"/>
                </a:lnTo>
                <a:lnTo>
                  <a:pt x="1312176" y="66039"/>
                </a:lnTo>
                <a:lnTo>
                  <a:pt x="1317193" y="73660"/>
                </a:lnTo>
                <a:lnTo>
                  <a:pt x="1321231" y="80010"/>
                </a:lnTo>
                <a:lnTo>
                  <a:pt x="1321955" y="81280"/>
                </a:lnTo>
                <a:lnTo>
                  <a:pt x="1291844" y="81280"/>
                </a:lnTo>
                <a:lnTo>
                  <a:pt x="1292199" y="82550"/>
                </a:lnTo>
                <a:close/>
              </a:path>
              <a:path w="1346200" h="953769">
                <a:moveTo>
                  <a:pt x="53454" y="82550"/>
                </a:moveTo>
                <a:lnTo>
                  <a:pt x="53822" y="81280"/>
                </a:lnTo>
                <a:lnTo>
                  <a:pt x="54373" y="81280"/>
                </a:lnTo>
                <a:lnTo>
                  <a:pt x="53454" y="82550"/>
                </a:lnTo>
                <a:close/>
              </a:path>
              <a:path w="1346200" h="953769">
                <a:moveTo>
                  <a:pt x="1299845" y="93980"/>
                </a:moveTo>
                <a:lnTo>
                  <a:pt x="1295819" y="87630"/>
                </a:lnTo>
                <a:lnTo>
                  <a:pt x="1296162" y="87630"/>
                </a:lnTo>
                <a:lnTo>
                  <a:pt x="1291844" y="81280"/>
                </a:lnTo>
                <a:lnTo>
                  <a:pt x="1321955" y="81280"/>
                </a:lnTo>
                <a:lnTo>
                  <a:pt x="1325575" y="87630"/>
                </a:lnTo>
                <a:lnTo>
                  <a:pt x="1328308" y="92710"/>
                </a:lnTo>
                <a:lnTo>
                  <a:pt x="1299527" y="92710"/>
                </a:lnTo>
                <a:lnTo>
                  <a:pt x="1299845" y="93980"/>
                </a:lnTo>
                <a:close/>
              </a:path>
              <a:path w="1346200" h="953769">
                <a:moveTo>
                  <a:pt x="45808" y="93980"/>
                </a:moveTo>
                <a:lnTo>
                  <a:pt x="46126" y="92710"/>
                </a:lnTo>
                <a:lnTo>
                  <a:pt x="46616" y="92710"/>
                </a:lnTo>
                <a:lnTo>
                  <a:pt x="45808" y="93980"/>
                </a:lnTo>
                <a:close/>
              </a:path>
              <a:path w="1346200" h="953769">
                <a:moveTo>
                  <a:pt x="1341649" y="822960"/>
                </a:moveTo>
                <a:lnTo>
                  <a:pt x="1315707" y="822960"/>
                </a:lnTo>
                <a:lnTo>
                  <a:pt x="1317320" y="815339"/>
                </a:lnTo>
                <a:lnTo>
                  <a:pt x="1318845" y="806786"/>
                </a:lnTo>
                <a:lnTo>
                  <a:pt x="1319504" y="801369"/>
                </a:lnTo>
                <a:lnTo>
                  <a:pt x="1319970" y="795019"/>
                </a:lnTo>
                <a:lnTo>
                  <a:pt x="1320063" y="793750"/>
                </a:lnTo>
                <a:lnTo>
                  <a:pt x="1320232" y="787400"/>
                </a:lnTo>
                <a:lnTo>
                  <a:pt x="1320237" y="166369"/>
                </a:lnTo>
                <a:lnTo>
                  <a:pt x="1320101" y="160019"/>
                </a:lnTo>
                <a:lnTo>
                  <a:pt x="1319568" y="152400"/>
                </a:lnTo>
                <a:lnTo>
                  <a:pt x="1318852" y="146896"/>
                </a:lnTo>
                <a:lnTo>
                  <a:pt x="1318677" y="146041"/>
                </a:lnTo>
                <a:lnTo>
                  <a:pt x="1317447" y="138430"/>
                </a:lnTo>
                <a:lnTo>
                  <a:pt x="1315707" y="130810"/>
                </a:lnTo>
                <a:lnTo>
                  <a:pt x="1315523" y="130810"/>
                </a:lnTo>
                <a:lnTo>
                  <a:pt x="1313776" y="124460"/>
                </a:lnTo>
                <a:lnTo>
                  <a:pt x="1313967" y="124460"/>
                </a:lnTo>
                <a:lnTo>
                  <a:pt x="1311528" y="118110"/>
                </a:lnTo>
                <a:lnTo>
                  <a:pt x="1311744" y="118110"/>
                </a:lnTo>
                <a:lnTo>
                  <a:pt x="1308976" y="111760"/>
                </a:lnTo>
                <a:lnTo>
                  <a:pt x="1309217" y="111760"/>
                </a:lnTo>
                <a:lnTo>
                  <a:pt x="1306118" y="105410"/>
                </a:lnTo>
                <a:lnTo>
                  <a:pt x="1306385" y="105410"/>
                </a:lnTo>
                <a:lnTo>
                  <a:pt x="1302956" y="99060"/>
                </a:lnTo>
                <a:lnTo>
                  <a:pt x="1303261" y="99060"/>
                </a:lnTo>
                <a:lnTo>
                  <a:pt x="1299527" y="92710"/>
                </a:lnTo>
                <a:lnTo>
                  <a:pt x="1328308" y="92710"/>
                </a:lnTo>
                <a:lnTo>
                  <a:pt x="1328991" y="93980"/>
                </a:lnTo>
                <a:lnTo>
                  <a:pt x="1332356" y="101600"/>
                </a:lnTo>
                <a:lnTo>
                  <a:pt x="1332598" y="101600"/>
                </a:lnTo>
                <a:lnTo>
                  <a:pt x="1335379" y="109219"/>
                </a:lnTo>
                <a:lnTo>
                  <a:pt x="1338033" y="116839"/>
                </a:lnTo>
                <a:lnTo>
                  <a:pt x="1340307" y="124460"/>
                </a:lnTo>
                <a:lnTo>
                  <a:pt x="1341740" y="130810"/>
                </a:lnTo>
                <a:lnTo>
                  <a:pt x="1315707" y="130810"/>
                </a:lnTo>
                <a:lnTo>
                  <a:pt x="1315991" y="132052"/>
                </a:lnTo>
                <a:lnTo>
                  <a:pt x="1342021" y="132052"/>
                </a:lnTo>
                <a:lnTo>
                  <a:pt x="1342313" y="133350"/>
                </a:lnTo>
                <a:lnTo>
                  <a:pt x="1343685" y="140969"/>
                </a:lnTo>
                <a:lnTo>
                  <a:pt x="1344828" y="149860"/>
                </a:lnTo>
                <a:lnTo>
                  <a:pt x="1345425" y="157480"/>
                </a:lnTo>
                <a:lnTo>
                  <a:pt x="1345653" y="166369"/>
                </a:lnTo>
                <a:lnTo>
                  <a:pt x="1345653" y="787400"/>
                </a:lnTo>
                <a:lnTo>
                  <a:pt x="1345495" y="793750"/>
                </a:lnTo>
                <a:lnTo>
                  <a:pt x="1345463" y="795019"/>
                </a:lnTo>
                <a:lnTo>
                  <a:pt x="1344764" y="803910"/>
                </a:lnTo>
                <a:lnTo>
                  <a:pt x="1343774" y="811530"/>
                </a:lnTo>
                <a:lnTo>
                  <a:pt x="1343685" y="812800"/>
                </a:lnTo>
                <a:lnTo>
                  <a:pt x="1342259" y="820052"/>
                </a:lnTo>
                <a:lnTo>
                  <a:pt x="1341649" y="822960"/>
                </a:lnTo>
                <a:close/>
              </a:path>
              <a:path w="1346200" h="953769">
                <a:moveTo>
                  <a:pt x="29788" y="132052"/>
                </a:moveTo>
                <a:lnTo>
                  <a:pt x="29946" y="130810"/>
                </a:lnTo>
                <a:lnTo>
                  <a:pt x="30130" y="130810"/>
                </a:lnTo>
                <a:lnTo>
                  <a:pt x="29788" y="132052"/>
                </a:lnTo>
                <a:close/>
              </a:path>
              <a:path w="1346200" h="953769">
                <a:moveTo>
                  <a:pt x="30130" y="822960"/>
                </a:moveTo>
                <a:lnTo>
                  <a:pt x="29946" y="822960"/>
                </a:lnTo>
                <a:lnTo>
                  <a:pt x="29663" y="821711"/>
                </a:lnTo>
                <a:lnTo>
                  <a:pt x="30130" y="822960"/>
                </a:lnTo>
                <a:close/>
              </a:path>
              <a:path w="1346200" h="953769">
                <a:moveTo>
                  <a:pt x="1340307" y="829310"/>
                </a:moveTo>
                <a:lnTo>
                  <a:pt x="1313776" y="829310"/>
                </a:lnTo>
                <a:lnTo>
                  <a:pt x="1315866" y="821711"/>
                </a:lnTo>
                <a:lnTo>
                  <a:pt x="1315707" y="822960"/>
                </a:lnTo>
                <a:lnTo>
                  <a:pt x="1341649" y="822960"/>
                </a:lnTo>
                <a:lnTo>
                  <a:pt x="1340307" y="829310"/>
                </a:lnTo>
                <a:close/>
              </a:path>
              <a:path w="1346200" h="953769">
                <a:moveTo>
                  <a:pt x="32092" y="829310"/>
                </a:moveTo>
                <a:lnTo>
                  <a:pt x="31876" y="829310"/>
                </a:lnTo>
                <a:lnTo>
                  <a:pt x="31686" y="828039"/>
                </a:lnTo>
                <a:lnTo>
                  <a:pt x="32092" y="829310"/>
                </a:lnTo>
                <a:close/>
              </a:path>
              <a:path w="1346200" h="953769">
                <a:moveTo>
                  <a:pt x="1328308" y="861060"/>
                </a:moveTo>
                <a:lnTo>
                  <a:pt x="1299527" y="861060"/>
                </a:lnTo>
                <a:lnTo>
                  <a:pt x="1303261" y="854710"/>
                </a:lnTo>
                <a:lnTo>
                  <a:pt x="1302956" y="854710"/>
                </a:lnTo>
                <a:lnTo>
                  <a:pt x="1306385" y="848360"/>
                </a:lnTo>
                <a:lnTo>
                  <a:pt x="1306118" y="848360"/>
                </a:lnTo>
                <a:lnTo>
                  <a:pt x="1309217" y="842010"/>
                </a:lnTo>
                <a:lnTo>
                  <a:pt x="1308976" y="842010"/>
                </a:lnTo>
                <a:lnTo>
                  <a:pt x="1311744" y="835660"/>
                </a:lnTo>
                <a:lnTo>
                  <a:pt x="1311528" y="835660"/>
                </a:lnTo>
                <a:lnTo>
                  <a:pt x="1313967" y="828039"/>
                </a:lnTo>
                <a:lnTo>
                  <a:pt x="1313776" y="829310"/>
                </a:lnTo>
                <a:lnTo>
                  <a:pt x="1340307" y="829310"/>
                </a:lnTo>
                <a:lnTo>
                  <a:pt x="1338033" y="836930"/>
                </a:lnTo>
                <a:lnTo>
                  <a:pt x="1335379" y="844550"/>
                </a:lnTo>
                <a:lnTo>
                  <a:pt x="1332356" y="852169"/>
                </a:lnTo>
                <a:lnTo>
                  <a:pt x="1328991" y="859789"/>
                </a:lnTo>
                <a:lnTo>
                  <a:pt x="1328308" y="861060"/>
                </a:lnTo>
                <a:close/>
              </a:path>
              <a:path w="1346200" h="953769">
                <a:moveTo>
                  <a:pt x="46616" y="861060"/>
                </a:moveTo>
                <a:lnTo>
                  <a:pt x="46126" y="861060"/>
                </a:lnTo>
                <a:lnTo>
                  <a:pt x="45808" y="859789"/>
                </a:lnTo>
                <a:lnTo>
                  <a:pt x="46616" y="861060"/>
                </a:lnTo>
                <a:close/>
              </a:path>
              <a:path w="1346200" h="953769">
                <a:moveTo>
                  <a:pt x="1322220" y="872489"/>
                </a:moveTo>
                <a:lnTo>
                  <a:pt x="1291844" y="872489"/>
                </a:lnTo>
                <a:lnTo>
                  <a:pt x="1296162" y="866139"/>
                </a:lnTo>
                <a:lnTo>
                  <a:pt x="1295819" y="866139"/>
                </a:lnTo>
                <a:lnTo>
                  <a:pt x="1299845" y="859789"/>
                </a:lnTo>
                <a:lnTo>
                  <a:pt x="1299527" y="861060"/>
                </a:lnTo>
                <a:lnTo>
                  <a:pt x="1328308" y="861060"/>
                </a:lnTo>
                <a:lnTo>
                  <a:pt x="1325575" y="866139"/>
                </a:lnTo>
                <a:lnTo>
                  <a:pt x="1322220" y="872489"/>
                </a:lnTo>
                <a:close/>
              </a:path>
              <a:path w="1346200" h="953769">
                <a:moveTo>
                  <a:pt x="54373" y="872489"/>
                </a:moveTo>
                <a:lnTo>
                  <a:pt x="53822" y="872489"/>
                </a:lnTo>
                <a:lnTo>
                  <a:pt x="53454" y="871219"/>
                </a:lnTo>
                <a:lnTo>
                  <a:pt x="54373" y="872489"/>
                </a:lnTo>
                <a:close/>
              </a:path>
              <a:path w="1346200" h="953769">
                <a:moveTo>
                  <a:pt x="1318808" y="877569"/>
                </a:moveTo>
                <a:lnTo>
                  <a:pt x="1287602" y="877569"/>
                </a:lnTo>
                <a:lnTo>
                  <a:pt x="1292199" y="871219"/>
                </a:lnTo>
                <a:lnTo>
                  <a:pt x="1291844" y="872489"/>
                </a:lnTo>
                <a:lnTo>
                  <a:pt x="1322220" y="872489"/>
                </a:lnTo>
                <a:lnTo>
                  <a:pt x="1321549" y="873760"/>
                </a:lnTo>
                <a:lnTo>
                  <a:pt x="1321231" y="873760"/>
                </a:lnTo>
                <a:lnTo>
                  <a:pt x="1318808" y="877569"/>
                </a:lnTo>
                <a:close/>
              </a:path>
              <a:path w="1346200" h="953769">
                <a:moveTo>
                  <a:pt x="58643" y="877569"/>
                </a:moveTo>
                <a:lnTo>
                  <a:pt x="58051" y="877569"/>
                </a:lnTo>
                <a:lnTo>
                  <a:pt x="57670" y="876300"/>
                </a:lnTo>
                <a:lnTo>
                  <a:pt x="58643" y="877569"/>
                </a:lnTo>
                <a:close/>
              </a:path>
              <a:path w="1346200" h="953769">
                <a:moveTo>
                  <a:pt x="1315292" y="882650"/>
                </a:moveTo>
                <a:lnTo>
                  <a:pt x="1283119" y="882650"/>
                </a:lnTo>
                <a:lnTo>
                  <a:pt x="1287983" y="876300"/>
                </a:lnTo>
                <a:lnTo>
                  <a:pt x="1287602" y="877569"/>
                </a:lnTo>
                <a:lnTo>
                  <a:pt x="1318808" y="877569"/>
                </a:lnTo>
                <a:lnTo>
                  <a:pt x="1317193" y="880110"/>
                </a:lnTo>
                <a:lnTo>
                  <a:pt x="1316850" y="880110"/>
                </a:lnTo>
                <a:lnTo>
                  <a:pt x="1315292" y="882650"/>
                </a:lnTo>
                <a:close/>
              </a:path>
              <a:path w="1346200" h="953769">
                <a:moveTo>
                  <a:pt x="63154" y="882650"/>
                </a:moveTo>
                <a:lnTo>
                  <a:pt x="62534" y="882650"/>
                </a:lnTo>
                <a:lnTo>
                  <a:pt x="62128" y="881380"/>
                </a:lnTo>
                <a:lnTo>
                  <a:pt x="63154" y="882650"/>
                </a:lnTo>
                <a:close/>
              </a:path>
              <a:path w="1346200" h="953769">
                <a:moveTo>
                  <a:pt x="1312176" y="887730"/>
                </a:moveTo>
                <a:lnTo>
                  <a:pt x="1278394" y="887730"/>
                </a:lnTo>
                <a:lnTo>
                  <a:pt x="1283525" y="881380"/>
                </a:lnTo>
                <a:lnTo>
                  <a:pt x="1283119" y="882650"/>
                </a:lnTo>
                <a:lnTo>
                  <a:pt x="1315292" y="882650"/>
                </a:lnTo>
                <a:lnTo>
                  <a:pt x="1312176" y="887730"/>
                </a:lnTo>
                <a:close/>
              </a:path>
              <a:path w="1346200" h="953769">
                <a:moveTo>
                  <a:pt x="68173" y="887730"/>
                </a:moveTo>
                <a:lnTo>
                  <a:pt x="67259" y="887730"/>
                </a:lnTo>
                <a:lnTo>
                  <a:pt x="66827" y="886460"/>
                </a:lnTo>
                <a:lnTo>
                  <a:pt x="68173" y="887730"/>
                </a:lnTo>
                <a:close/>
              </a:path>
              <a:path w="1346200" h="953769">
                <a:moveTo>
                  <a:pt x="1281747" y="918210"/>
                </a:moveTo>
                <a:lnTo>
                  <a:pt x="1233119" y="918210"/>
                </a:lnTo>
                <a:lnTo>
                  <a:pt x="1239977" y="914400"/>
                </a:lnTo>
                <a:lnTo>
                  <a:pt x="1239418" y="914400"/>
                </a:lnTo>
                <a:lnTo>
                  <a:pt x="1246098" y="911860"/>
                </a:lnTo>
                <a:lnTo>
                  <a:pt x="1245565" y="911860"/>
                </a:lnTo>
                <a:lnTo>
                  <a:pt x="1252042" y="908050"/>
                </a:lnTo>
                <a:lnTo>
                  <a:pt x="1251521" y="908050"/>
                </a:lnTo>
                <a:lnTo>
                  <a:pt x="1257807" y="904239"/>
                </a:lnTo>
                <a:lnTo>
                  <a:pt x="1257300" y="904239"/>
                </a:lnTo>
                <a:lnTo>
                  <a:pt x="1263370" y="900430"/>
                </a:lnTo>
                <a:lnTo>
                  <a:pt x="1262888" y="900430"/>
                </a:lnTo>
                <a:lnTo>
                  <a:pt x="1268742" y="896619"/>
                </a:lnTo>
                <a:lnTo>
                  <a:pt x="1268272" y="896619"/>
                </a:lnTo>
                <a:lnTo>
                  <a:pt x="1273898" y="891539"/>
                </a:lnTo>
                <a:lnTo>
                  <a:pt x="1273441" y="891539"/>
                </a:lnTo>
                <a:lnTo>
                  <a:pt x="1278826" y="886460"/>
                </a:lnTo>
                <a:lnTo>
                  <a:pt x="1278394" y="887730"/>
                </a:lnTo>
                <a:lnTo>
                  <a:pt x="1312176" y="887730"/>
                </a:lnTo>
                <a:lnTo>
                  <a:pt x="1307579" y="892810"/>
                </a:lnTo>
                <a:lnTo>
                  <a:pt x="1302321" y="899160"/>
                </a:lnTo>
                <a:lnTo>
                  <a:pt x="1296784" y="905510"/>
                </a:lnTo>
                <a:lnTo>
                  <a:pt x="1296352" y="905510"/>
                </a:lnTo>
                <a:lnTo>
                  <a:pt x="1290523" y="910589"/>
                </a:lnTo>
                <a:lnTo>
                  <a:pt x="1284909" y="915669"/>
                </a:lnTo>
                <a:lnTo>
                  <a:pt x="1281747" y="918210"/>
                </a:lnTo>
                <a:close/>
              </a:path>
              <a:path w="1346200" h="953769">
                <a:moveTo>
                  <a:pt x="114308" y="918210"/>
                </a:moveTo>
                <a:lnTo>
                  <a:pt x="112534" y="918210"/>
                </a:lnTo>
                <a:lnTo>
                  <a:pt x="111963" y="916939"/>
                </a:lnTo>
                <a:lnTo>
                  <a:pt x="114308" y="918210"/>
                </a:lnTo>
                <a:close/>
              </a:path>
              <a:path w="1346200" h="953769">
                <a:moveTo>
                  <a:pt x="1278585" y="920750"/>
                </a:moveTo>
                <a:lnTo>
                  <a:pt x="1226654" y="920750"/>
                </a:lnTo>
                <a:lnTo>
                  <a:pt x="1233690" y="916939"/>
                </a:lnTo>
                <a:lnTo>
                  <a:pt x="1233119" y="918210"/>
                </a:lnTo>
                <a:lnTo>
                  <a:pt x="1281747" y="918210"/>
                </a:lnTo>
                <a:lnTo>
                  <a:pt x="1278585" y="920750"/>
                </a:lnTo>
                <a:close/>
              </a:path>
              <a:path w="1346200" h="953769">
                <a:moveTo>
                  <a:pt x="122015" y="920750"/>
                </a:moveTo>
                <a:lnTo>
                  <a:pt x="118999" y="920750"/>
                </a:lnTo>
                <a:lnTo>
                  <a:pt x="118414" y="919480"/>
                </a:lnTo>
                <a:lnTo>
                  <a:pt x="122015" y="920750"/>
                </a:lnTo>
                <a:close/>
              </a:path>
              <a:path w="1346200" h="953769">
                <a:moveTo>
                  <a:pt x="1267498" y="928369"/>
                </a:moveTo>
                <a:lnTo>
                  <a:pt x="1192288" y="928369"/>
                </a:lnTo>
                <a:lnTo>
                  <a:pt x="1200035" y="927100"/>
                </a:lnTo>
                <a:lnTo>
                  <a:pt x="1199413" y="927100"/>
                </a:lnTo>
                <a:lnTo>
                  <a:pt x="1207033" y="925830"/>
                </a:lnTo>
                <a:lnTo>
                  <a:pt x="1206411" y="925830"/>
                </a:lnTo>
                <a:lnTo>
                  <a:pt x="1213904" y="924560"/>
                </a:lnTo>
                <a:lnTo>
                  <a:pt x="1213294" y="924560"/>
                </a:lnTo>
                <a:lnTo>
                  <a:pt x="1220647" y="922019"/>
                </a:lnTo>
                <a:lnTo>
                  <a:pt x="1220050" y="922019"/>
                </a:lnTo>
                <a:lnTo>
                  <a:pt x="1227239" y="919480"/>
                </a:lnTo>
                <a:lnTo>
                  <a:pt x="1226654" y="920750"/>
                </a:lnTo>
                <a:lnTo>
                  <a:pt x="1278585" y="920750"/>
                </a:lnTo>
                <a:lnTo>
                  <a:pt x="1272019" y="925830"/>
                </a:lnTo>
                <a:lnTo>
                  <a:pt x="1267498" y="928369"/>
                </a:lnTo>
                <a:close/>
              </a:path>
              <a:path w="1346200" h="953769">
                <a:moveTo>
                  <a:pt x="1243583" y="941069"/>
                </a:moveTo>
                <a:lnTo>
                  <a:pt x="102082" y="941069"/>
                </a:lnTo>
                <a:lnTo>
                  <a:pt x="94653" y="937260"/>
                </a:lnTo>
                <a:lnTo>
                  <a:pt x="87972" y="934719"/>
                </a:lnTo>
                <a:lnTo>
                  <a:pt x="80949" y="929639"/>
                </a:lnTo>
                <a:lnTo>
                  <a:pt x="80429" y="929639"/>
                </a:lnTo>
                <a:lnTo>
                  <a:pt x="74142" y="925830"/>
                </a:lnTo>
                <a:lnTo>
                  <a:pt x="138620" y="925830"/>
                </a:lnTo>
                <a:lnTo>
                  <a:pt x="146253" y="927100"/>
                </a:lnTo>
                <a:lnTo>
                  <a:pt x="145618" y="927100"/>
                </a:lnTo>
                <a:lnTo>
                  <a:pt x="153365" y="928369"/>
                </a:lnTo>
                <a:lnTo>
                  <a:pt x="1267498" y="928369"/>
                </a:lnTo>
                <a:lnTo>
                  <a:pt x="1265237" y="929639"/>
                </a:lnTo>
                <a:lnTo>
                  <a:pt x="1257680" y="934719"/>
                </a:lnTo>
                <a:lnTo>
                  <a:pt x="1251000" y="937260"/>
                </a:lnTo>
                <a:lnTo>
                  <a:pt x="1243583" y="941069"/>
                </a:lnTo>
                <a:close/>
              </a:path>
              <a:path w="1346200" h="953769">
                <a:moveTo>
                  <a:pt x="1212126" y="951230"/>
                </a:moveTo>
                <a:lnTo>
                  <a:pt x="133527" y="951230"/>
                </a:lnTo>
                <a:lnTo>
                  <a:pt x="125425" y="948689"/>
                </a:lnTo>
                <a:lnTo>
                  <a:pt x="118071" y="946150"/>
                </a:lnTo>
                <a:lnTo>
                  <a:pt x="110274" y="943610"/>
                </a:lnTo>
                <a:lnTo>
                  <a:pt x="109689" y="943610"/>
                </a:lnTo>
                <a:lnTo>
                  <a:pt x="102654" y="941069"/>
                </a:lnTo>
                <a:lnTo>
                  <a:pt x="1243012" y="941069"/>
                </a:lnTo>
                <a:lnTo>
                  <a:pt x="1235976" y="943610"/>
                </a:lnTo>
                <a:lnTo>
                  <a:pt x="1228191" y="946150"/>
                </a:lnTo>
                <a:lnTo>
                  <a:pt x="1227581" y="946150"/>
                </a:lnTo>
                <a:lnTo>
                  <a:pt x="1220228" y="948689"/>
                </a:lnTo>
                <a:lnTo>
                  <a:pt x="1212126" y="951230"/>
                </a:lnTo>
                <a:close/>
              </a:path>
              <a:path w="1346200" h="953769">
                <a:moveTo>
                  <a:pt x="1195489" y="953769"/>
                </a:moveTo>
                <a:lnTo>
                  <a:pt x="150164" y="953769"/>
                </a:lnTo>
                <a:lnTo>
                  <a:pt x="142417" y="952500"/>
                </a:lnTo>
                <a:lnTo>
                  <a:pt x="141782" y="952500"/>
                </a:lnTo>
                <a:lnTo>
                  <a:pt x="134150" y="951230"/>
                </a:lnTo>
                <a:lnTo>
                  <a:pt x="1211503" y="951230"/>
                </a:lnTo>
                <a:lnTo>
                  <a:pt x="1203871" y="952500"/>
                </a:lnTo>
                <a:lnTo>
                  <a:pt x="1195489" y="953769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7955991" y="1210564"/>
            <a:ext cx="1244600" cy="802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5" dirty="0">
                <a:latin typeface="微软雅黑" panose="020B0503020204020204" charset="-122"/>
                <a:cs typeface="微软雅黑" panose="020B0503020204020204" charset="-122"/>
              </a:rPr>
              <a:t>正则化项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  <a:p>
            <a:pPr marR="104775" algn="ctr">
              <a:lnSpc>
                <a:spcPct val="100000"/>
              </a:lnSpc>
              <a:spcBef>
                <a:spcPts val="1495"/>
              </a:spcBef>
            </a:pPr>
            <a:r>
              <a:rPr sz="1450" spc="-50" dirty="0">
                <a:latin typeface="Cambria Math" panose="02040503050406030204"/>
                <a:cs typeface="Cambria Math" panose="02040503050406030204"/>
              </a:rPr>
              <a:t>𝑛</a:t>
            </a:r>
            <a:endParaRPr sz="1450">
              <a:latin typeface="Cambria Math" panose="02040503050406030204"/>
              <a:cs typeface="Cambria Math" panose="02040503050406030204"/>
            </a:endParaRPr>
          </a:p>
        </p:txBody>
      </p:sp>
      <p:pic>
        <p:nvPicPr>
          <p:cNvPr id="24" name="object 2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517837" y="1587690"/>
            <a:ext cx="142903" cy="221526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8907805" y="1719745"/>
            <a:ext cx="303276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当 </a:t>
            </a:r>
            <a:r>
              <a:rPr sz="2400" spc="-1200" dirty="0">
                <a:solidFill>
                  <a:srgbClr val="FF0000"/>
                </a:solidFill>
                <a:latin typeface="Arial MT"/>
                <a:cs typeface="Arial MT"/>
              </a:rPr>
              <a:t>λ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的值开始上升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  <a:p>
            <a:pPr marR="22225" algn="r">
              <a:lnSpc>
                <a:spcPct val="100000"/>
              </a:lnSpc>
              <a:spcBef>
                <a:spcPts val="5"/>
              </a:spcBef>
              <a:tabLst>
                <a:tab pos="551815" algn="l"/>
              </a:tabLst>
            </a:pPr>
            <a:r>
              <a:rPr sz="1450" spc="240" dirty="0">
                <a:latin typeface="Cambria Math" panose="02040503050406030204"/>
                <a:cs typeface="Cambria Math" panose="02040503050406030204"/>
              </a:rPr>
              <a:t>j</a:t>
            </a:r>
            <a:r>
              <a:rPr sz="145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2400" spc="-10" dirty="0">
                <a:solidFill>
                  <a:srgbClr val="FF0000"/>
                </a:solidFill>
                <a:latin typeface="微软雅黑" panose="020B0503020204020204" charset="-122"/>
                <a:cs typeface="微软雅黑" panose="020B0503020204020204" charset="-122"/>
              </a:rPr>
              <a:t>时，降低了方差。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latin typeface="Arial" panose="020B0604020202020204"/>
                <a:cs typeface="Arial" panose="020B0604020202020204"/>
              </a:rPr>
              <a:t>3.</a:t>
            </a:r>
            <a:r>
              <a:rPr spc="-10" dirty="0"/>
              <a:t>逻辑回归求解</a:t>
            </a:r>
            <a:endParaRPr spc="-1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999744"/>
            <a:ext cx="646430" cy="262255"/>
          </a:xfrm>
          <a:custGeom>
            <a:avLst/>
            <a:gdLst/>
            <a:ahLst/>
            <a:cxnLst/>
            <a:rect l="l" t="t" r="r" b="b"/>
            <a:pathLst>
              <a:path w="646430" h="262255">
                <a:moveTo>
                  <a:pt x="646176" y="262127"/>
                </a:moveTo>
                <a:lnTo>
                  <a:pt x="0" y="262127"/>
                </a:lnTo>
                <a:lnTo>
                  <a:pt x="0" y="0"/>
                </a:lnTo>
                <a:lnTo>
                  <a:pt x="646176" y="0"/>
                </a:lnTo>
                <a:lnTo>
                  <a:pt x="646176" y="262127"/>
                </a:lnTo>
                <a:close/>
              </a:path>
            </a:pathLst>
          </a:custGeom>
          <a:solidFill>
            <a:srgbClr val="A400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02563" y="996696"/>
            <a:ext cx="11489690" cy="262255"/>
          </a:xfrm>
          <a:custGeom>
            <a:avLst/>
            <a:gdLst/>
            <a:ahLst/>
            <a:cxnLst/>
            <a:rect l="l" t="t" r="r" b="b"/>
            <a:pathLst>
              <a:path w="11489690" h="262255">
                <a:moveTo>
                  <a:pt x="11489436" y="262127"/>
                </a:moveTo>
                <a:lnTo>
                  <a:pt x="0" y="262127"/>
                </a:lnTo>
                <a:lnTo>
                  <a:pt x="0" y="0"/>
                </a:lnTo>
                <a:lnTo>
                  <a:pt x="11489436" y="0"/>
                </a:lnTo>
                <a:lnTo>
                  <a:pt x="11489436" y="262127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62902" y="987107"/>
            <a:ext cx="224154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71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122932" y="4332732"/>
            <a:ext cx="6278880" cy="647700"/>
          </a:xfrm>
          <a:custGeom>
            <a:avLst/>
            <a:gdLst/>
            <a:ahLst/>
            <a:cxnLst/>
            <a:rect l="l" t="t" r="r" b="b"/>
            <a:pathLst>
              <a:path w="6278880" h="647700">
                <a:moveTo>
                  <a:pt x="6143244" y="647700"/>
                </a:moveTo>
                <a:lnTo>
                  <a:pt x="0" y="647700"/>
                </a:lnTo>
                <a:lnTo>
                  <a:pt x="0" y="135635"/>
                </a:lnTo>
                <a:lnTo>
                  <a:pt x="6866" y="93004"/>
                </a:lnTo>
                <a:lnTo>
                  <a:pt x="26098" y="55889"/>
                </a:lnTo>
                <a:lnTo>
                  <a:pt x="55460" y="26527"/>
                </a:lnTo>
                <a:lnTo>
                  <a:pt x="92717" y="7153"/>
                </a:lnTo>
                <a:lnTo>
                  <a:pt x="135636" y="0"/>
                </a:lnTo>
                <a:lnTo>
                  <a:pt x="6278880" y="0"/>
                </a:lnTo>
                <a:lnTo>
                  <a:pt x="6278880" y="512063"/>
                </a:lnTo>
                <a:lnTo>
                  <a:pt x="6271891" y="555171"/>
                </a:lnTo>
                <a:lnTo>
                  <a:pt x="6252598" y="592523"/>
                </a:lnTo>
                <a:lnTo>
                  <a:pt x="6223236" y="621885"/>
                </a:lnTo>
                <a:lnTo>
                  <a:pt x="6186040" y="641022"/>
                </a:lnTo>
                <a:lnTo>
                  <a:pt x="6143244" y="647700"/>
                </a:lnTo>
                <a:close/>
              </a:path>
            </a:pathLst>
          </a:custGeom>
          <a:solidFill>
            <a:srgbClr val="1352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47077" y="257492"/>
            <a:ext cx="40640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latin typeface="Arial" panose="020B0604020202020204"/>
                <a:cs typeface="Arial" panose="020B0604020202020204"/>
              </a:rPr>
              <a:t>4.</a:t>
            </a:r>
            <a:r>
              <a:rPr spc="-10" dirty="0"/>
              <a:t>逻辑回归代码实现</a:t>
            </a:r>
            <a:endParaRPr spc="-10" dirty="0"/>
          </a:p>
        </p:txBody>
      </p:sp>
      <p:sp>
        <p:nvSpPr>
          <p:cNvPr id="7" name="object 7"/>
          <p:cNvSpPr txBox="1"/>
          <p:nvPr/>
        </p:nvSpPr>
        <p:spPr>
          <a:xfrm>
            <a:off x="2989808" y="1612176"/>
            <a:ext cx="4506595" cy="3301365"/>
          </a:xfrm>
          <a:prstGeom prst="rect">
            <a:avLst/>
          </a:prstGeom>
        </p:spPr>
        <p:txBody>
          <a:bodyPr vert="horz" wrap="square" lIns="0" tIns="286385" rIns="0" bIns="0" rtlCol="0">
            <a:spAutoFit/>
          </a:bodyPr>
          <a:lstStyle/>
          <a:p>
            <a:pPr marL="762635" indent="-749935">
              <a:lnSpc>
                <a:spcPct val="100000"/>
              </a:lnSpc>
              <a:spcBef>
                <a:spcPts val="2255"/>
              </a:spcBef>
              <a:buFont typeface="Impact" panose="020B0806030902050204"/>
              <a:buAutoNum type="arabicPeriod"/>
              <a:tabLst>
                <a:tab pos="762635" algn="l"/>
              </a:tabLst>
            </a:pPr>
            <a:r>
              <a:rPr sz="3600" spc="-15" dirty="0">
                <a:latin typeface="微软雅黑" panose="020B0503020204020204" charset="-122"/>
                <a:cs typeface="微软雅黑" panose="020B0503020204020204" charset="-122"/>
              </a:rPr>
              <a:t>分类问题</a:t>
            </a:r>
            <a:endParaRPr sz="3600">
              <a:latin typeface="微软雅黑" panose="020B0503020204020204" charset="-122"/>
              <a:cs typeface="微软雅黑" panose="020B0503020204020204" charset="-122"/>
            </a:endParaRPr>
          </a:p>
          <a:p>
            <a:pPr marL="808990" indent="-796290">
              <a:lnSpc>
                <a:spcPct val="100000"/>
              </a:lnSpc>
              <a:spcBef>
                <a:spcPts val="2160"/>
              </a:spcBef>
              <a:buAutoNum type="arabicPeriod"/>
              <a:tabLst>
                <a:tab pos="808990" algn="l"/>
              </a:tabLst>
            </a:pPr>
            <a:r>
              <a:rPr sz="3600" spc="-20" dirty="0">
                <a:latin typeface="Impact" panose="020B0806030902050204"/>
                <a:cs typeface="Impact" panose="020B0806030902050204"/>
              </a:rPr>
              <a:t>Sigmoid</a:t>
            </a:r>
            <a:r>
              <a:rPr sz="3600" spc="-25" dirty="0">
                <a:latin typeface="微软雅黑" panose="020B0503020204020204" charset="-122"/>
                <a:cs typeface="微软雅黑" panose="020B0503020204020204" charset="-122"/>
              </a:rPr>
              <a:t>函数</a:t>
            </a:r>
            <a:endParaRPr sz="3600">
              <a:latin typeface="微软雅黑" panose="020B0503020204020204" charset="-122"/>
              <a:cs typeface="微软雅黑" panose="020B0503020204020204" charset="-122"/>
            </a:endParaRPr>
          </a:p>
          <a:p>
            <a:pPr marL="822325" indent="-809625">
              <a:lnSpc>
                <a:spcPct val="100000"/>
              </a:lnSpc>
              <a:spcBef>
                <a:spcPts val="2100"/>
              </a:spcBef>
              <a:buFont typeface="Impact" panose="020B0806030902050204"/>
              <a:buAutoNum type="arabicPeriod"/>
              <a:tabLst>
                <a:tab pos="822325" algn="l"/>
              </a:tabLst>
            </a:pPr>
            <a:r>
              <a:rPr sz="3600" spc="-10" dirty="0">
                <a:latin typeface="微软雅黑" panose="020B0503020204020204" charset="-122"/>
                <a:cs typeface="微软雅黑" panose="020B0503020204020204" charset="-122"/>
              </a:rPr>
              <a:t>逻辑回归求解</a:t>
            </a:r>
            <a:endParaRPr sz="3600">
              <a:latin typeface="微软雅黑" panose="020B0503020204020204" charset="-122"/>
              <a:cs typeface="微软雅黑" panose="020B0503020204020204" charset="-122"/>
            </a:endParaRPr>
          </a:p>
          <a:p>
            <a:pPr marL="835660" indent="-796290">
              <a:lnSpc>
                <a:spcPct val="100000"/>
              </a:lnSpc>
              <a:spcBef>
                <a:spcPts val="2100"/>
              </a:spcBef>
              <a:buFont typeface="Impact" panose="020B0806030902050204"/>
              <a:buAutoNum type="arabicPeriod"/>
              <a:tabLst>
                <a:tab pos="835660" algn="l"/>
              </a:tabLst>
            </a:pPr>
            <a:r>
              <a:rPr sz="3600" spc="-1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逻辑回归代码实现</a:t>
            </a:r>
            <a:endParaRPr sz="3600"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999744"/>
            <a:ext cx="646430" cy="262255"/>
          </a:xfrm>
          <a:prstGeom prst="rect">
            <a:avLst/>
          </a:prstGeom>
          <a:solidFill>
            <a:srgbClr val="A40020"/>
          </a:solidFill>
        </p:spPr>
        <p:txBody>
          <a:bodyPr vert="horz" wrap="square" lIns="0" tIns="635" rIns="0" bIns="0" rtlCol="0">
            <a:spAutoFit/>
          </a:bodyPr>
          <a:lstStyle/>
          <a:p>
            <a:pPr marL="375285">
              <a:lnSpc>
                <a:spcPct val="100000"/>
              </a:lnSpc>
              <a:spcBef>
                <a:spcPts val="5"/>
              </a:spcBef>
            </a:pPr>
            <a:r>
              <a:rPr sz="1400" b="1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72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47077" y="257492"/>
            <a:ext cx="40640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latin typeface="Arial" panose="020B0604020202020204"/>
                <a:cs typeface="Arial" panose="020B0604020202020204"/>
              </a:rPr>
              <a:t>4.</a:t>
            </a:r>
            <a:r>
              <a:rPr spc="-10" dirty="0"/>
              <a:t>逻辑回归代码实现</a:t>
            </a:r>
            <a:endParaRPr spc="-10" dirty="0"/>
          </a:p>
        </p:txBody>
      </p:sp>
      <p:sp>
        <p:nvSpPr>
          <p:cNvPr id="4" name="object 4"/>
          <p:cNvSpPr txBox="1"/>
          <p:nvPr/>
        </p:nvSpPr>
        <p:spPr>
          <a:xfrm>
            <a:off x="946772" y="2241092"/>
            <a:ext cx="19284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ambria Math" panose="02040503050406030204"/>
                <a:cs typeface="Cambria Math" panose="02040503050406030204"/>
              </a:rPr>
              <a:t>𝜎</a:t>
            </a:r>
            <a:r>
              <a:rPr sz="3000" baseline="300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2000" dirty="0">
                <a:latin typeface="Cambria Math" panose="02040503050406030204"/>
                <a:cs typeface="Cambria Math" panose="02040503050406030204"/>
              </a:rPr>
              <a:t>𝑧</a:t>
            </a:r>
            <a:r>
              <a:rPr sz="3000" baseline="3000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3000" spc="150" baseline="3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800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2800" spc="-7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800" dirty="0">
                <a:latin typeface="Cambria Math" panose="02040503050406030204"/>
                <a:cs typeface="Cambria Math" panose="02040503050406030204"/>
              </a:rPr>
              <a:t>𝑔</a:t>
            </a:r>
            <a:r>
              <a:rPr sz="3000" baseline="300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2800" dirty="0">
                <a:latin typeface="Cambria Math" panose="02040503050406030204"/>
                <a:cs typeface="Cambria Math" panose="02040503050406030204"/>
              </a:rPr>
              <a:t>𝑧</a:t>
            </a:r>
            <a:r>
              <a:rPr sz="3000" baseline="3000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3000" spc="157" baseline="3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3600" spc="-50" dirty="0">
                <a:latin typeface="Cambria Math" panose="02040503050406030204"/>
                <a:cs typeface="Cambria Math" panose="02040503050406030204"/>
              </a:rPr>
              <a:t>=</a:t>
            </a:r>
            <a:endParaRPr sz="36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33687" y="2629585"/>
            <a:ext cx="749300" cy="17145"/>
          </a:xfrm>
          <a:custGeom>
            <a:avLst/>
            <a:gdLst/>
            <a:ahLst/>
            <a:cxnLst/>
            <a:rect l="l" t="t" r="r" b="b"/>
            <a:pathLst>
              <a:path w="749300" h="17144">
                <a:moveTo>
                  <a:pt x="749300" y="16662"/>
                </a:moveTo>
                <a:lnTo>
                  <a:pt x="0" y="16662"/>
                </a:lnTo>
                <a:lnTo>
                  <a:pt x="0" y="0"/>
                </a:lnTo>
                <a:lnTo>
                  <a:pt x="749300" y="0"/>
                </a:lnTo>
                <a:lnTo>
                  <a:pt x="749300" y="166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920987" y="2571292"/>
            <a:ext cx="49403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25" dirty="0">
                <a:latin typeface="Cambria Math" panose="02040503050406030204"/>
                <a:cs typeface="Cambria Math" panose="02040503050406030204"/>
              </a:rPr>
              <a:t>1+𝑒</a:t>
            </a:r>
            <a:endParaRPr sz="2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25787" y="2295067"/>
            <a:ext cx="463550" cy="5314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195"/>
              </a:lnSpc>
              <a:spcBef>
                <a:spcPts val="105"/>
              </a:spcBef>
            </a:pPr>
            <a:r>
              <a:rPr sz="2000" spc="-50" dirty="0">
                <a:latin typeface="Cambria Math" panose="02040503050406030204"/>
                <a:cs typeface="Cambria Math" panose="02040503050406030204"/>
              </a:rPr>
              <a:t>1</a:t>
            </a:r>
            <a:endParaRPr sz="2000">
              <a:latin typeface="Cambria Math" panose="02040503050406030204"/>
              <a:cs typeface="Cambria Math" panose="02040503050406030204"/>
            </a:endParaRPr>
          </a:p>
          <a:p>
            <a:pPr marL="175260">
              <a:lnSpc>
                <a:spcPts val="1775"/>
              </a:lnSpc>
            </a:pPr>
            <a:r>
              <a:rPr sz="1650" spc="30" dirty="0">
                <a:latin typeface="Cambria Math" panose="02040503050406030204"/>
                <a:cs typeface="Cambria Math" panose="02040503050406030204"/>
              </a:rPr>
              <a:t>−𝑧</a:t>
            </a:r>
            <a:endParaRPr sz="16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46772" y="1571231"/>
            <a:ext cx="19939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微软雅黑" panose="020B0503020204020204" charset="-122"/>
                <a:cs typeface="微软雅黑" panose="020B0503020204020204" charset="-122"/>
              </a:rPr>
              <a:t>Sigmoid</a:t>
            </a:r>
            <a:r>
              <a:rPr sz="2400" b="1" spc="-55" dirty="0">
                <a:latin typeface="微软雅黑" panose="020B0503020204020204" charset="-122"/>
                <a:cs typeface="微软雅黑" panose="020B0503020204020204" charset="-122"/>
              </a:rPr>
              <a:t> 函数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object 9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102352" y="2168651"/>
            <a:ext cx="4610100" cy="86258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2600" y="4504944"/>
            <a:ext cx="8023859" cy="222656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946772" y="3074136"/>
            <a:ext cx="1244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5" dirty="0">
                <a:latin typeface="微软雅黑" panose="020B0503020204020204" charset="-122"/>
                <a:cs typeface="微软雅黑" panose="020B0503020204020204" charset="-122"/>
              </a:rPr>
              <a:t>代价函数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193061" y="3821544"/>
            <a:ext cx="255270" cy="20320"/>
          </a:xfrm>
          <a:custGeom>
            <a:avLst/>
            <a:gdLst/>
            <a:ahLst/>
            <a:cxnLst/>
            <a:rect l="l" t="t" r="r" b="b"/>
            <a:pathLst>
              <a:path w="255269" h="20320">
                <a:moveTo>
                  <a:pt x="255270" y="20002"/>
                </a:moveTo>
                <a:lnTo>
                  <a:pt x="0" y="20002"/>
                </a:lnTo>
                <a:lnTo>
                  <a:pt x="0" y="0"/>
                </a:lnTo>
                <a:lnTo>
                  <a:pt x="255270" y="0"/>
                </a:lnTo>
                <a:lnTo>
                  <a:pt x="255270" y="200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2180361" y="3804881"/>
            <a:ext cx="2813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 panose="02040503050406030204"/>
                <a:cs typeface="Cambria Math" panose="02040503050406030204"/>
              </a:rPr>
              <a:t>𝑚</a:t>
            </a:r>
            <a:endParaRPr sz="24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51001" y="3601046"/>
            <a:ext cx="79324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 panose="02040503050406030204"/>
                <a:cs typeface="Cambria Math" panose="02040503050406030204"/>
              </a:rPr>
              <a:t>𝐽</a:t>
            </a:r>
            <a:r>
              <a:rPr sz="3600" baseline="200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𝑤</a:t>
            </a:r>
            <a:r>
              <a:rPr sz="3600" baseline="2000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3600" spc="247" baseline="2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=−</a:t>
            </a:r>
            <a:r>
              <a:rPr sz="2400" spc="37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3600" baseline="42000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3600" spc="352" baseline="42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1475" dirty="0">
                <a:latin typeface="Cambria Math" panose="02040503050406030204"/>
                <a:cs typeface="Cambria Math" panose="02040503050406030204"/>
              </a:rPr>
              <a:t>∑</a:t>
            </a:r>
            <a:r>
              <a:rPr sz="2400" spc="-12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1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2400" spc="-114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𝑦</a:t>
            </a:r>
            <a:r>
              <a:rPr sz="2625" baseline="27000" dirty="0">
                <a:latin typeface="Cambria Math" panose="02040503050406030204"/>
                <a:cs typeface="Cambria Math" panose="02040503050406030204"/>
              </a:rPr>
              <a:t>(𝑖)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log(ℎ(𝑥</a:t>
            </a:r>
            <a:r>
              <a:rPr sz="2625" baseline="27000" dirty="0">
                <a:latin typeface="Cambria Math" panose="02040503050406030204"/>
                <a:cs typeface="Cambria Math" panose="02040503050406030204"/>
              </a:rPr>
              <a:t>(𝑖)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))</a:t>
            </a:r>
            <a:r>
              <a:rPr sz="2400" spc="2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+</a:t>
            </a:r>
            <a:r>
              <a:rPr sz="2400" spc="2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(1</a:t>
            </a:r>
            <a:r>
              <a:rPr sz="2400" spc="3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400" spc="2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𝑦</a:t>
            </a:r>
            <a:r>
              <a:rPr sz="2625" baseline="27000" dirty="0">
                <a:latin typeface="Cambria Math" panose="02040503050406030204"/>
                <a:cs typeface="Cambria Math" panose="02040503050406030204"/>
              </a:rPr>
              <a:t>(𝑖)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)log(1</a:t>
            </a:r>
            <a:r>
              <a:rPr sz="2400" spc="2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400" spc="3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400" spc="-10" dirty="0">
                <a:latin typeface="Cambria Math" panose="02040503050406030204"/>
                <a:cs typeface="Cambria Math" panose="02040503050406030204"/>
              </a:rPr>
              <a:t>ℎ(𝑥</a:t>
            </a:r>
            <a:r>
              <a:rPr sz="2625" spc="-15" baseline="27000" dirty="0">
                <a:latin typeface="Cambria Math" panose="02040503050406030204"/>
                <a:cs typeface="Cambria Math" panose="02040503050406030204"/>
              </a:rPr>
              <a:t>(𝑖)</a:t>
            </a:r>
            <a:r>
              <a:rPr sz="2400" spc="-10" dirty="0">
                <a:latin typeface="Cambria Math" panose="02040503050406030204"/>
                <a:cs typeface="Cambria Math" panose="02040503050406030204"/>
              </a:rPr>
              <a:t>)))</a:t>
            </a:r>
            <a:endParaRPr sz="24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508656" y="4081106"/>
            <a:ext cx="384810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25" dirty="0">
                <a:latin typeface="Cambria Math" panose="02040503050406030204"/>
                <a:cs typeface="Cambria Math" panose="02040503050406030204"/>
              </a:rPr>
              <a:t>𝑖=1</a:t>
            </a:r>
            <a:endParaRPr sz="17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595016" y="3229571"/>
            <a:ext cx="212090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50" dirty="0">
                <a:latin typeface="Cambria Math" panose="02040503050406030204"/>
                <a:cs typeface="Cambria Math" panose="02040503050406030204"/>
              </a:rPr>
              <a:t>𝑚</a:t>
            </a:r>
            <a:endParaRPr sz="1750">
              <a:latin typeface="Cambria Math" panose="02040503050406030204"/>
              <a:cs typeface="Cambria Math" panose="02040503050406030204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999744"/>
            <a:ext cx="646430" cy="262255"/>
          </a:xfrm>
          <a:prstGeom prst="rect">
            <a:avLst/>
          </a:prstGeom>
          <a:solidFill>
            <a:srgbClr val="A40020"/>
          </a:solidFill>
        </p:spPr>
        <p:txBody>
          <a:bodyPr vert="horz" wrap="square" lIns="0" tIns="635" rIns="0" bIns="0" rtlCol="0">
            <a:spAutoFit/>
          </a:bodyPr>
          <a:lstStyle/>
          <a:p>
            <a:pPr marL="375285">
              <a:lnSpc>
                <a:spcPct val="100000"/>
              </a:lnSpc>
              <a:spcBef>
                <a:spcPts val="5"/>
              </a:spcBef>
            </a:pPr>
            <a:r>
              <a:rPr sz="1400" b="1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73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47077" y="257492"/>
            <a:ext cx="40640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latin typeface="Arial" panose="020B0604020202020204"/>
                <a:cs typeface="Arial" panose="020B0604020202020204"/>
              </a:rPr>
              <a:t>4.</a:t>
            </a:r>
            <a:r>
              <a:rPr spc="-10" dirty="0"/>
              <a:t>逻辑回归代码实现</a:t>
            </a:r>
            <a:endParaRPr spc="-10" dirty="0"/>
          </a:p>
        </p:txBody>
      </p:sp>
      <p:sp>
        <p:nvSpPr>
          <p:cNvPr id="4" name="object 4"/>
          <p:cNvSpPr txBox="1"/>
          <p:nvPr/>
        </p:nvSpPr>
        <p:spPr>
          <a:xfrm>
            <a:off x="946772" y="1571231"/>
            <a:ext cx="939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latin typeface="微软雅黑" panose="020B0503020204020204" charset="-122"/>
                <a:cs typeface="微软雅黑" panose="020B0503020204020204" charset="-122"/>
              </a:rPr>
              <a:t>正则化</a:t>
            </a:r>
            <a:endParaRPr sz="24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28482" y="2285618"/>
            <a:ext cx="78295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Cambria Math" panose="02040503050406030204"/>
                <a:cs typeface="Cambria Math" panose="02040503050406030204"/>
              </a:rPr>
              <a:t>𝐽</a:t>
            </a:r>
            <a:r>
              <a:rPr sz="3000" baseline="300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2000" dirty="0">
                <a:latin typeface="Cambria Math" panose="02040503050406030204"/>
                <a:cs typeface="Cambria Math" panose="02040503050406030204"/>
              </a:rPr>
              <a:t>𝑤</a:t>
            </a:r>
            <a:r>
              <a:rPr sz="3000" baseline="3000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3000" spc="150" baseline="3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000" spc="-50" dirty="0">
                <a:latin typeface="Cambria Math" panose="02040503050406030204"/>
                <a:cs typeface="Cambria Math" panose="02040503050406030204"/>
              </a:rPr>
              <a:t>=</a:t>
            </a:r>
            <a:endParaRPr sz="2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769222" y="2471801"/>
            <a:ext cx="212725" cy="17145"/>
          </a:xfrm>
          <a:custGeom>
            <a:avLst/>
            <a:gdLst/>
            <a:ahLst/>
            <a:cxnLst/>
            <a:rect l="l" t="t" r="r" b="b"/>
            <a:pathLst>
              <a:path w="212725" h="17144">
                <a:moveTo>
                  <a:pt x="212725" y="16675"/>
                </a:moveTo>
                <a:lnTo>
                  <a:pt x="0" y="16675"/>
                </a:lnTo>
                <a:lnTo>
                  <a:pt x="0" y="0"/>
                </a:lnTo>
                <a:lnTo>
                  <a:pt x="212725" y="0"/>
                </a:lnTo>
                <a:lnTo>
                  <a:pt x="212725" y="166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756522" y="2038096"/>
            <a:ext cx="239395" cy="74803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48260">
              <a:lnSpc>
                <a:spcPct val="100000"/>
              </a:lnSpc>
              <a:spcBef>
                <a:spcPts val="540"/>
              </a:spcBef>
            </a:pPr>
            <a:r>
              <a:rPr sz="2000" spc="-50" dirty="0">
                <a:latin typeface="Cambria Math" panose="02040503050406030204"/>
                <a:cs typeface="Cambria Math" panose="02040503050406030204"/>
              </a:rPr>
              <a:t>1</a:t>
            </a:r>
            <a:endParaRPr sz="2000">
              <a:latin typeface="Cambria Math" panose="02040503050406030204"/>
              <a:cs typeface="Cambria Math" panose="02040503050406030204"/>
            </a:endParaRP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000" spc="-50" dirty="0">
                <a:latin typeface="Cambria Math" panose="02040503050406030204"/>
                <a:cs typeface="Cambria Math" panose="02040503050406030204"/>
              </a:rPr>
              <a:t>𝑚</a:t>
            </a:r>
            <a:endParaRPr sz="2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02597" y="1977644"/>
            <a:ext cx="180340" cy="2463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spc="-50" dirty="0">
                <a:latin typeface="Cambria Math" panose="02040503050406030204"/>
                <a:cs typeface="Cambria Math" panose="02040503050406030204"/>
              </a:rPr>
              <a:t>𝑚</a:t>
            </a:r>
            <a:endParaRPr sz="14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72852" y="2262759"/>
            <a:ext cx="4471035" cy="2463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18235" algn="l"/>
                <a:tab pos="2581910" algn="l"/>
                <a:tab pos="4246880" algn="l"/>
              </a:tabLst>
            </a:pPr>
            <a:r>
              <a:rPr sz="2175" spc="-37" baseline="200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1450" spc="-25" dirty="0">
                <a:latin typeface="Cambria Math" panose="02040503050406030204"/>
                <a:cs typeface="Cambria Math" panose="02040503050406030204"/>
              </a:rPr>
              <a:t>𝑖</a:t>
            </a:r>
            <a:r>
              <a:rPr sz="2175" spc="-37" baseline="2000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2175" baseline="20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2175" spc="-37" baseline="200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1450" spc="-25" dirty="0">
                <a:latin typeface="Cambria Math" panose="02040503050406030204"/>
                <a:cs typeface="Cambria Math" panose="02040503050406030204"/>
              </a:rPr>
              <a:t>𝑖</a:t>
            </a:r>
            <a:r>
              <a:rPr sz="2175" spc="-37" baseline="2000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2175" baseline="20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2175" spc="-37" baseline="200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1450" spc="-25" dirty="0">
                <a:latin typeface="Cambria Math" panose="02040503050406030204"/>
                <a:cs typeface="Cambria Math" panose="02040503050406030204"/>
              </a:rPr>
              <a:t>𝑖</a:t>
            </a:r>
            <a:r>
              <a:rPr sz="2175" spc="-37" baseline="2000" dirty="0">
                <a:latin typeface="Cambria Math" panose="02040503050406030204"/>
                <a:cs typeface="Cambria Math" panose="02040503050406030204"/>
              </a:rPr>
              <a:t>)</a:t>
            </a:r>
            <a:r>
              <a:rPr sz="2175" baseline="20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2175" spc="-37" baseline="200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1450" spc="-25" dirty="0">
                <a:latin typeface="Cambria Math" panose="02040503050406030204"/>
                <a:cs typeface="Cambria Math" panose="02040503050406030204"/>
              </a:rPr>
              <a:t>𝑖</a:t>
            </a:r>
            <a:r>
              <a:rPr sz="2175" spc="-37" baseline="2000" dirty="0">
                <a:latin typeface="Cambria Math" panose="02040503050406030204"/>
                <a:cs typeface="Cambria Math" panose="02040503050406030204"/>
              </a:rPr>
              <a:t>)</a:t>
            </a:r>
            <a:endParaRPr sz="2175" baseline="2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11792" y="2154086"/>
            <a:ext cx="5920740" cy="779145"/>
          </a:xfrm>
          <a:prstGeom prst="rect">
            <a:avLst/>
          </a:prstGeom>
        </p:spPr>
        <p:txBody>
          <a:bodyPr vert="horz" wrap="square" lIns="0" tIns="144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0"/>
              </a:spcBef>
              <a:tabLst>
                <a:tab pos="1093470" algn="l"/>
                <a:tab pos="2199640" algn="l"/>
                <a:tab pos="3663315" algn="l"/>
                <a:tab pos="5328285" algn="l"/>
              </a:tabLst>
            </a:pPr>
            <a:r>
              <a:rPr sz="2000" spc="1240" dirty="0">
                <a:latin typeface="Cambria Math" panose="02040503050406030204"/>
                <a:cs typeface="Cambria Math" panose="02040503050406030204"/>
              </a:rPr>
              <a:t>∑</a:t>
            </a:r>
            <a:r>
              <a:rPr sz="2000" spc="-114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000" dirty="0">
                <a:latin typeface="Cambria Math" panose="02040503050406030204"/>
                <a:cs typeface="Cambria Math" panose="02040503050406030204"/>
              </a:rPr>
              <a:t>[−</a:t>
            </a:r>
            <a:r>
              <a:rPr sz="2000" spc="1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000" spc="-50" dirty="0">
                <a:latin typeface="Cambria Math" panose="02040503050406030204"/>
                <a:cs typeface="Cambria Math" panose="02040503050406030204"/>
              </a:rPr>
              <a:t>𝑦</a:t>
            </a:r>
            <a:r>
              <a:rPr sz="2000" dirty="0">
                <a:latin typeface="Cambria Math" panose="02040503050406030204"/>
                <a:cs typeface="Cambria Math" panose="02040503050406030204"/>
              </a:rPr>
              <a:t>	log</a:t>
            </a:r>
            <a:r>
              <a:rPr sz="2000" spc="-114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000" spc="30" dirty="0">
                <a:latin typeface="Cambria Math" panose="02040503050406030204"/>
                <a:cs typeface="Cambria Math" panose="02040503050406030204"/>
              </a:rPr>
              <a:t>(ℎ(𝑥</a:t>
            </a:r>
            <a:r>
              <a:rPr sz="20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2000" spc="110" dirty="0">
                <a:latin typeface="Cambria Math" panose="02040503050406030204"/>
                <a:cs typeface="Cambria Math" panose="02040503050406030204"/>
              </a:rPr>
              <a:t>))</a:t>
            </a:r>
            <a:r>
              <a:rPr sz="2000" spc="1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00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000" spc="1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000" dirty="0">
                <a:latin typeface="Cambria Math" panose="02040503050406030204"/>
                <a:cs typeface="Cambria Math" panose="02040503050406030204"/>
              </a:rPr>
              <a:t>(1</a:t>
            </a:r>
            <a:r>
              <a:rPr sz="2000" spc="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00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000" spc="1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000" spc="-50" dirty="0">
                <a:latin typeface="Cambria Math" panose="02040503050406030204"/>
                <a:cs typeface="Cambria Math" panose="02040503050406030204"/>
              </a:rPr>
              <a:t>𝑦</a:t>
            </a:r>
            <a:r>
              <a:rPr sz="2000" dirty="0">
                <a:latin typeface="Cambria Math" panose="02040503050406030204"/>
                <a:cs typeface="Cambria Math" panose="02040503050406030204"/>
              </a:rPr>
              <a:t>	)log</a:t>
            </a:r>
            <a:r>
              <a:rPr sz="2000" spc="-10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000" spc="70" dirty="0">
                <a:latin typeface="Cambria Math" panose="02040503050406030204"/>
                <a:cs typeface="Cambria Math" panose="02040503050406030204"/>
              </a:rPr>
              <a:t>(1</a:t>
            </a:r>
            <a:r>
              <a:rPr sz="2000" spc="2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00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000" spc="3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000" spc="-25" dirty="0">
                <a:latin typeface="Cambria Math" panose="02040503050406030204"/>
                <a:cs typeface="Cambria Math" panose="02040503050406030204"/>
              </a:rPr>
              <a:t>ℎ(𝑥</a:t>
            </a:r>
            <a:r>
              <a:rPr sz="20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2000" spc="80" dirty="0">
                <a:latin typeface="Cambria Math" panose="02040503050406030204"/>
                <a:cs typeface="Cambria Math" panose="02040503050406030204"/>
              </a:rPr>
              <a:t>))]</a:t>
            </a:r>
            <a:r>
              <a:rPr sz="2000" spc="1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000" spc="-50" dirty="0">
                <a:latin typeface="Cambria Math" panose="02040503050406030204"/>
                <a:cs typeface="Cambria Math" panose="02040503050406030204"/>
              </a:rPr>
              <a:t>+</a:t>
            </a:r>
            <a:endParaRPr sz="2000">
              <a:latin typeface="Cambria Math" panose="02040503050406030204"/>
              <a:cs typeface="Cambria Math" panose="02040503050406030204"/>
            </a:endParaRPr>
          </a:p>
          <a:p>
            <a:pPr marL="31750">
              <a:lnSpc>
                <a:spcPct val="100000"/>
              </a:lnSpc>
              <a:spcBef>
                <a:spcPts val="750"/>
              </a:spcBef>
            </a:pPr>
            <a:r>
              <a:rPr sz="1450" spc="-25" dirty="0">
                <a:latin typeface="Cambria Math" panose="02040503050406030204"/>
                <a:cs typeface="Cambria Math" panose="02040503050406030204"/>
              </a:rPr>
              <a:t>𝑖=1</a:t>
            </a:r>
            <a:endParaRPr sz="14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976347" y="2471801"/>
            <a:ext cx="353060" cy="17145"/>
          </a:xfrm>
          <a:custGeom>
            <a:avLst/>
            <a:gdLst/>
            <a:ahLst/>
            <a:cxnLst/>
            <a:rect l="l" t="t" r="r" b="b"/>
            <a:pathLst>
              <a:path w="353059" h="17144">
                <a:moveTo>
                  <a:pt x="353060" y="16675"/>
                </a:moveTo>
                <a:lnTo>
                  <a:pt x="0" y="16675"/>
                </a:lnTo>
                <a:lnTo>
                  <a:pt x="0" y="0"/>
                </a:lnTo>
                <a:lnTo>
                  <a:pt x="353060" y="0"/>
                </a:lnTo>
                <a:lnTo>
                  <a:pt x="353060" y="166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8963647" y="2038096"/>
            <a:ext cx="379730" cy="748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11125">
              <a:lnSpc>
                <a:spcPct val="119000"/>
              </a:lnSpc>
              <a:spcBef>
                <a:spcPts val="100"/>
              </a:spcBef>
            </a:pPr>
            <a:r>
              <a:rPr sz="2000" spc="-50" dirty="0">
                <a:latin typeface="Cambria Math" panose="02040503050406030204"/>
                <a:cs typeface="Cambria Math" panose="02040503050406030204"/>
              </a:rPr>
              <a:t>𝜆 </a:t>
            </a:r>
            <a:r>
              <a:rPr sz="2000" spc="-25" dirty="0">
                <a:latin typeface="Cambria Math" panose="02040503050406030204"/>
                <a:cs typeface="Cambria Math" panose="02040503050406030204"/>
              </a:rPr>
              <a:t>2𝑚</a:t>
            </a:r>
            <a:endParaRPr sz="2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359251" y="2285618"/>
            <a:ext cx="59309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1240" dirty="0">
                <a:latin typeface="Cambria Math" panose="02040503050406030204"/>
                <a:cs typeface="Cambria Math" panose="02040503050406030204"/>
              </a:rPr>
              <a:t>∑</a:t>
            </a:r>
            <a:r>
              <a:rPr sz="2000" spc="-114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000" spc="-50" dirty="0">
                <a:latin typeface="Cambria Math" panose="02040503050406030204"/>
                <a:cs typeface="Cambria Math" panose="02040503050406030204"/>
              </a:rPr>
              <a:t>𝑤</a:t>
            </a:r>
            <a:endParaRPr sz="2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374492" y="2686303"/>
            <a:ext cx="331470" cy="2463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spc="-25" dirty="0">
                <a:latin typeface="Cambria Math" panose="02040503050406030204"/>
                <a:cs typeface="Cambria Math" panose="02040503050406030204"/>
              </a:rPr>
              <a:t>j=1</a:t>
            </a:r>
            <a:endParaRPr sz="14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474822" y="1977644"/>
            <a:ext cx="131445" cy="2463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spc="-50" dirty="0">
                <a:latin typeface="Cambria Math" panose="02040503050406030204"/>
                <a:cs typeface="Cambria Math" panose="02040503050406030204"/>
              </a:rPr>
              <a:t>𝑛</a:t>
            </a:r>
            <a:endParaRPr sz="14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926307" y="2417698"/>
            <a:ext cx="112395" cy="2463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spc="240" dirty="0">
                <a:latin typeface="Cambria Math" panose="02040503050406030204"/>
                <a:cs typeface="Cambria Math" panose="02040503050406030204"/>
              </a:rPr>
              <a:t>j</a:t>
            </a:r>
            <a:endParaRPr sz="14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926307" y="2252598"/>
            <a:ext cx="132080" cy="2463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spc="-50" dirty="0">
                <a:latin typeface="Cambria Math" panose="02040503050406030204"/>
                <a:cs typeface="Cambria Math" panose="02040503050406030204"/>
              </a:rPr>
              <a:t>2</a:t>
            </a:r>
            <a:endParaRPr sz="1450">
              <a:latin typeface="Cambria Math" panose="02040503050406030204"/>
              <a:cs typeface="Cambria Math" panose="02040503050406030204"/>
            </a:endParaRPr>
          </a:p>
        </p:txBody>
      </p:sp>
      <p:pic>
        <p:nvPicPr>
          <p:cNvPr id="18" name="object 18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496567" y="3238500"/>
            <a:ext cx="9017508" cy="28087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13765</Words>
  <Application>WPS 演示</Application>
  <PresentationFormat>On-screen Show (4:3)</PresentationFormat>
  <Paragraphs>1890</Paragraphs>
  <Slides>77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77</vt:i4>
      </vt:variant>
    </vt:vector>
  </HeadingPairs>
  <TitlesOfParts>
    <vt:vector size="105" baseType="lpstr">
      <vt:lpstr>Arial</vt:lpstr>
      <vt:lpstr>宋体</vt:lpstr>
      <vt:lpstr>Wingdings</vt:lpstr>
      <vt:lpstr>微软雅黑</vt:lpstr>
      <vt:lpstr>Arial</vt:lpstr>
      <vt:lpstr>Wingdings</vt:lpstr>
      <vt:lpstr>Arial MT</vt:lpstr>
      <vt:lpstr>Impact</vt:lpstr>
      <vt:lpstr>Times New Roman</vt:lpstr>
      <vt:lpstr>Cambria Math</vt:lpstr>
      <vt:lpstr>Calibri</vt:lpstr>
      <vt:lpstr>Arial Unicode MS</vt:lpstr>
      <vt:lpstr>Microsoft JhengHei UI</vt:lpstr>
      <vt:lpstr>Symbol</vt:lpstr>
      <vt:lpstr>Microsoft Sans Serif</vt:lpstr>
      <vt:lpstr>Cambria</vt:lpstr>
      <vt:lpstr>Segoe Print</vt:lpstr>
      <vt:lpstr>Calibri</vt:lpstr>
      <vt:lpstr>Arial MT</vt:lpstr>
      <vt:lpstr>Cambria</vt:lpstr>
      <vt:lpstr>Cambria Math</vt:lpstr>
      <vt:lpstr>Impact</vt:lpstr>
      <vt:lpstr>Microsoft Sans Serif</vt:lpstr>
      <vt:lpstr>Segoe Print</vt:lpstr>
      <vt:lpstr>Symbol</vt:lpstr>
      <vt:lpstr>Times New Roman</vt:lpstr>
      <vt:lpstr>Wingdings</vt:lpstr>
      <vt:lpstr>Office Theme</vt:lpstr>
      <vt:lpstr>回归的概念</vt:lpstr>
      <vt:lpstr>回归的概念</vt:lpstr>
      <vt:lpstr>回归的概念</vt:lpstr>
      <vt:lpstr>回归的概念</vt:lpstr>
      <vt:lpstr>目录</vt:lpstr>
      <vt:lpstr>1. 线性回归</vt:lpstr>
      <vt:lpstr>线性回归-概念</vt:lpstr>
      <vt:lpstr>线性回归-概念</vt:lpstr>
      <vt:lpstr>线性回归-符号约定</vt:lpstr>
      <vt:lpstr>线性回归-算法流程</vt:lpstr>
      <vt:lpstr>线性回归-算法流程</vt:lpstr>
      <vt:lpstr>线性回归-算法流程</vt:lpstr>
      <vt:lpstr>PowerPoint 演示文稿</vt:lpstr>
      <vt:lpstr>PowerPoint 演示文稿</vt:lpstr>
      <vt:lpstr>PowerPoint 演示文稿</vt:lpstr>
      <vt:lpstr>线性回归-最小二乘法(LSM)</vt:lpstr>
      <vt:lpstr>线性回归-最小二乘法(LSM)</vt:lpstr>
      <vt:lpstr>线性回归-最小二乘法(LSM)</vt:lpstr>
      <vt:lpstr>从线性回归到感知机</vt:lpstr>
      <vt:lpstr>感知机算法流程</vt:lpstr>
      <vt:lpstr>1. 线性回归</vt:lpstr>
      <vt:lpstr>梯度下降</vt:lpstr>
      <vt:lpstr>梯度下降</vt:lpstr>
      <vt:lpstr>梯度下降的三种形式</vt:lpstr>
      <vt:lpstr>梯度下降的三种形式</vt:lpstr>
      <vt:lpstr>梯度下降的三种形式</vt:lpstr>
      <vt:lpstr>梯度下降的三种形式</vt:lpstr>
      <vt:lpstr>梯度下降的三种形式</vt:lpstr>
      <vt:lpstr>梯度下降的三种形式</vt:lpstr>
      <vt:lpstr>梯度下降与最小二乘法比较</vt:lpstr>
      <vt:lpstr>数据归一化/标准化</vt:lpstr>
      <vt:lpstr>数据归一化/标准化</vt:lpstr>
      <vt:lpstr>数据归一化/标准化</vt:lpstr>
      <vt:lpstr>3. 正则化</vt:lpstr>
      <vt:lpstr>过拟合和欠拟合</vt:lpstr>
      <vt:lpstr>过拟合和欠拟合</vt:lpstr>
      <vt:lpstr>为什么会出现过拟合</vt:lpstr>
      <vt:lpstr>过拟合的处理</vt:lpstr>
      <vt:lpstr>数据决定一切</vt:lpstr>
      <vt:lpstr>欠拟合的处理</vt:lpstr>
      <vt:lpstr>正则化</vt:lpstr>
      <vt:lpstr>正则化</vt:lpstr>
      <vt:lpstr>正则化</vt:lpstr>
      <vt:lpstr>正则化</vt:lpstr>
      <vt:lpstr>4. 回归的评价指标</vt:lpstr>
      <vt:lpstr>回归的评价指标</vt:lpstr>
      <vt:lpstr>回归的评价指标</vt:lpstr>
      <vt:lpstr>2. 多项式回归</vt:lpstr>
      <vt:lpstr>2. 多项式回归</vt:lpstr>
      <vt:lpstr>2. 多项式回归</vt:lpstr>
      <vt:lpstr>2. 多项式回归</vt:lpstr>
      <vt:lpstr>2. 多项式回归</vt:lpstr>
      <vt:lpstr>2. 多项式回归</vt:lpstr>
      <vt:lpstr>3 逻辑回归</vt:lpstr>
      <vt:lpstr>1.分类问题</vt:lpstr>
      <vt:lpstr>分类问题</vt:lpstr>
      <vt:lpstr>分类问题</vt:lpstr>
      <vt:lpstr>分类问题</vt:lpstr>
      <vt:lpstr>分类问题</vt:lpstr>
      <vt:lpstr>分类问题</vt:lpstr>
      <vt:lpstr>分类问题</vt:lpstr>
      <vt:lpstr>2.Sigmoid函数</vt:lpstr>
      <vt:lpstr>2.Sigmoid函数</vt:lpstr>
      <vt:lpstr>2.Sigmoid函数</vt:lpstr>
      <vt:lpstr>2.Sigmoid函数</vt:lpstr>
      <vt:lpstr>2.Sigmoid函数</vt:lpstr>
      <vt:lpstr>3.逻辑回归求解</vt:lpstr>
      <vt:lpstr>3.逻辑回归求解</vt:lpstr>
      <vt:lpstr>3.逻辑回归求解</vt:lpstr>
      <vt:lpstr>3.逻辑回归求解</vt:lpstr>
      <vt:lpstr>3.逻辑回归求解</vt:lpstr>
      <vt:lpstr>3.逻辑回归求解</vt:lpstr>
      <vt:lpstr>3.逻辑回归求解</vt:lpstr>
      <vt:lpstr>3.逻辑回归求解</vt:lpstr>
      <vt:lpstr>4.逻辑回归代码实现</vt:lpstr>
      <vt:lpstr>4.逻辑回归代码实现</vt:lpstr>
      <vt:lpstr>4.逻辑回归代码实现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回归的概念</dc:title>
  <dc:creator/>
  <cp:lastModifiedBy>周宇航</cp:lastModifiedBy>
  <cp:revision>3</cp:revision>
  <dcterms:created xsi:type="dcterms:W3CDTF">2026-04-19T16:06:00Z</dcterms:created>
  <dcterms:modified xsi:type="dcterms:W3CDTF">2026-04-20T16:00:55Z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2022-10-05T00:00:00Z</vt:filetime>
  </property>
  <property fmtid="{D5CDD505-2E9C-101B-9397-08002B2CF9AE}" pid="3" name="Creator">
    <vt:lpwstr>WPS 演示</vt:lpwstr>
  </property>
  <property fmtid="{D5CDD505-2E9C-101B-9397-08002B2CF9AE}" pid="4" name="LastSaved">
    <vt:filetime>2026-04-17T00:00:00Z</vt:filetime>
  </property>
  <property fmtid="{D5CDD505-2E9C-101B-9397-08002B2CF9AE}" pid="5" name="SourceModified">
    <vt:lpwstr>D:20221004231451+15'14'</vt:lpwstr>
  </property>
  <property fmtid="{D5CDD505-2E9C-101B-9397-08002B2CF9AE}" pid="6" name="KSOProductBuildVer">
    <vt:lpwstr>2052-12.1.0.25865</vt:lpwstr>
  </property>
  <property fmtid="{D5CDD505-2E9C-101B-9397-08002B2CF9AE}" pid="7" name="ICV">
    <vt:lpwstr>D1F6C13D95E6470E9B54C9AE5AF6D390_12</vt:lpwstr>
  </property>
</Properties>
</file>