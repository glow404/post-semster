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40"/>
  </p:handoutMasterIdLst>
  <p:sldIdLst>
    <p:sldId id="256" r:id="rId3"/>
    <p:sldId id="297" r:id="rId4"/>
    <p:sldId id="298" r:id="rId5"/>
    <p:sldId id="299" r:id="rId6"/>
    <p:sldId id="300" r:id="rId7"/>
    <p:sldId id="258" r:id="rId8"/>
    <p:sldId id="260" r:id="rId9"/>
    <p:sldId id="269" r:id="rId11"/>
    <p:sldId id="270" r:id="rId12"/>
    <p:sldId id="271" r:id="rId13"/>
    <p:sldId id="301" r:id="rId14"/>
    <p:sldId id="272" r:id="rId15"/>
    <p:sldId id="302" r:id="rId16"/>
    <p:sldId id="273" r:id="rId17"/>
    <p:sldId id="304" r:id="rId18"/>
    <p:sldId id="274" r:id="rId19"/>
    <p:sldId id="296" r:id="rId20"/>
    <p:sldId id="277" r:id="rId21"/>
    <p:sldId id="278" r:id="rId22"/>
    <p:sldId id="262" r:id="rId23"/>
    <p:sldId id="280" r:id="rId24"/>
    <p:sldId id="281" r:id="rId25"/>
    <p:sldId id="286" r:id="rId26"/>
    <p:sldId id="261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0" clrIdx="0"/>
  <p:cmAuthor id="2" name="Shang, Jingbo" initials="SJ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4"/>
    <p:restoredTop sz="86364"/>
  </p:normalViewPr>
  <p:slideViewPr>
    <p:cSldViewPr snapToGrid="0" snapToObjects="1">
      <p:cViewPr>
        <p:scale>
          <a:sx n="97" d="100"/>
          <a:sy n="97" d="100"/>
        </p:scale>
        <p:origin x="1664" y="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1977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6AF6C-110C-41AE-9FA9-A82250C708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4B6F1-29CF-4DE9-8F86-4AA9859035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673D-D7DD-324D-BAE5-739AF5E9008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DBF47-4361-1A4F-8B64-2383D122BBB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DBF47-4361-1A4F-8B64-2383D122BBB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9144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420" y="1731653"/>
            <a:ext cx="8245162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4194263"/>
            <a:ext cx="8245160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6" y="2180499"/>
            <a:ext cx="8272211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2" y="0"/>
            <a:ext cx="2616005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86218" y="1964075"/>
            <a:ext cx="224356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27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158218" y="1137358"/>
            <a:ext cx="454988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400"/>
            </a:lvl2pPr>
            <a:lvl3pPr algn="l">
              <a:defRPr sz="18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00" y="90000"/>
            <a:ext cx="1280364" cy="9717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3043913"/>
            <a:ext cx="8272211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Rectangle 6"/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2296"/>
            <a:ext cx="3682084" cy="605653"/>
          </a:xfrm>
          <a:prstGeom prst="rect">
            <a:avLst/>
          </a:prstGeom>
          <a:ln>
            <a:solidFill/>
          </a:ln>
        </p:spPr>
        <p:txBody>
          <a:bodyPr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buClr>
                <a:srgbClr val="004B83"/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rgbClr val="004B83"/>
              </a:buClr>
              <a:defRPr sz="1350">
                <a:solidFill>
                  <a:schemeClr val="tx2"/>
                </a:solidFill>
              </a:defRPr>
            </a:lvl2pPr>
            <a:lvl3pPr>
              <a:buClr>
                <a:srgbClr val="004B83"/>
              </a:buClr>
              <a:defRPr sz="1200">
                <a:solidFill>
                  <a:schemeClr val="tx2"/>
                </a:solidFill>
              </a:defRPr>
            </a:lvl3pPr>
            <a:lvl4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4pPr>
            <a:lvl5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9" y="5262300"/>
            <a:ext cx="3532445" cy="605650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30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  <a:endParaRPr lang="zh-CN" altLang="en-US">
              <a:solidFill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0"/>
            <a:ext cx="25145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675729"/>
            <a:ext cx="592220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6" y="5956140"/>
            <a:ext cx="99610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4" y="5951814"/>
            <a:ext cx="592220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3" y="5956140"/>
            <a:ext cx="727843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56" y="675729"/>
            <a:ext cx="1387269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936636E-AA82-48A0-9724-8B30587E83A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0"/>
            <a:ext cx="9144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9144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2783" y="87749"/>
            <a:ext cx="7836797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235" indent="-229235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40" indent="-229235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5" indent="-202565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45" indent="-17526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20" indent="-17526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94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73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155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45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b="1" dirty="0"/>
              <a:t>线性分类器与回归分析</a:t>
            </a:r>
            <a:endParaRPr kumimoji="1"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4633" y="1867166"/>
            <a:ext cx="4141470" cy="2719070"/>
          </a:xfrm>
          <a:prstGeom prst="rect">
            <a:avLst/>
          </a:prstGeom>
        </p:spPr>
        <p:txBody>
          <a:bodyPr vert="horz" wrap="square" lIns="0" tIns="1947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2400" b="1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监督学习分为回归和分类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9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回归</a:t>
            </a:r>
            <a:r>
              <a:rPr sz="2100" spc="-25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Regression</a:t>
            </a: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spc="-10" dirty="0">
                <a:latin typeface="Arial" panose="020B0604020202020204"/>
                <a:cs typeface="Arial" panose="020B0604020202020204"/>
              </a:rPr>
              <a:t>Prediction</a:t>
            </a:r>
            <a:r>
              <a:rPr sz="21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  <a:p>
            <a:pPr marL="1097915" lvl="1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097915" algn="l"/>
              </a:tabLst>
            </a:pPr>
            <a:r>
              <a:rPr sz="2100" spc="-35" dirty="0">
                <a:latin typeface="微软雅黑" panose="020B0503020204020204" charset="-122"/>
                <a:cs typeface="微软雅黑" panose="020B0503020204020204" charset="-122"/>
              </a:rPr>
              <a:t>如何预测上海浦东的房价？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  <a:p>
            <a:pPr marL="1097915" lvl="1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097915" algn="l"/>
              </a:tabLst>
            </a:pPr>
            <a:r>
              <a:rPr sz="2100" spc="-35" dirty="0">
                <a:latin typeface="微软雅黑" panose="020B0503020204020204" charset="-122"/>
                <a:cs typeface="微软雅黑" panose="020B0503020204020204" charset="-122"/>
              </a:rPr>
              <a:t>未来的股票市场走向？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分类</a:t>
            </a:r>
            <a:r>
              <a:rPr sz="21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100" spc="-10" dirty="0">
                <a:latin typeface="Arial" panose="020B0604020202020204"/>
                <a:cs typeface="Arial" panose="020B0604020202020204"/>
              </a:rPr>
              <a:t>Classification</a:t>
            </a:r>
            <a:r>
              <a:rPr sz="21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1846" y="4339523"/>
            <a:ext cx="6172200" cy="103124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身高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1.85m</a:t>
            </a: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，体重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100kg</a:t>
            </a:r>
            <a:r>
              <a:rPr sz="2100" spc="-30" dirty="0">
                <a:latin typeface="微软雅黑" panose="020B0503020204020204" charset="-122"/>
                <a:cs typeface="微软雅黑" panose="020B0503020204020204" charset="-122"/>
              </a:rPr>
              <a:t>的男人穿什么尺码的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T</a:t>
            </a:r>
            <a:r>
              <a:rPr sz="2100" spc="-40" dirty="0">
                <a:latin typeface="微软雅黑" panose="020B0503020204020204" charset="-122"/>
                <a:cs typeface="微软雅黑" panose="020B0503020204020204" charset="-122"/>
              </a:rPr>
              <a:t>恤？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100" spc="-35" dirty="0">
                <a:latin typeface="微软雅黑" panose="020B0503020204020204" charset="-122"/>
                <a:cs typeface="微软雅黑" panose="020B0503020204020204" charset="-122"/>
              </a:rPr>
              <a:t>根据肿瘤的体积、患者的年龄来判断良性或恶性？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0308" y="1267857"/>
            <a:ext cx="17335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15593" y="2586533"/>
            <a:ext cx="2233442" cy="6256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92218" y="2667152"/>
            <a:ext cx="1238726" cy="37846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标签连续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298" y="3804470"/>
            <a:ext cx="3403736" cy="6256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92218" y="3881961"/>
            <a:ext cx="1238726" cy="37846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标签离散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6493" y="486171"/>
            <a:ext cx="17335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4964" y="3431285"/>
            <a:ext cx="1927098" cy="1357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2983" y="3431285"/>
            <a:ext cx="1920240" cy="13578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6255" y="2064543"/>
            <a:ext cx="8092916" cy="397700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352425" marR="155575" indent="-340360" algn="just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353695" algn="l"/>
              </a:tabLst>
            </a:pP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回归分析是指一种预测性的建模技术，主要是研究自变量	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和因变量的关系。通常使用线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/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曲线来拟合数据点，然后研	究如何使曲线到数据点的距离差异最小。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 marL="411480" marR="5080" indent="-340360" algn="just">
              <a:lnSpc>
                <a:spcPct val="100000"/>
              </a:lnSpc>
              <a:buFont typeface="Arial" panose="020B0604020202020204"/>
              <a:buChar char="•"/>
              <a:tabLst>
                <a:tab pos="414020" algn="l"/>
              </a:tabLst>
            </a:pPr>
            <a:r>
              <a:rPr spc="-5" dirty="0">
                <a:latin typeface="微软雅黑" panose="020B0503020204020204" charset="-122"/>
                <a:cs typeface="微软雅黑" panose="020B0503020204020204" charset="-122"/>
              </a:rPr>
              <a:t>回归问题多用来预测一个具体的数值，如预测房价、未来的天气情况等等。例	</a:t>
            </a: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如我们根据一个地区的若干年的</a:t>
            </a:r>
            <a:r>
              <a:rPr spc="-20" dirty="0">
                <a:latin typeface="Arial" panose="020B0604020202020204"/>
                <a:cs typeface="Arial" panose="020B0604020202020204"/>
              </a:rPr>
              <a:t>PM2.5</a:t>
            </a: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数值变化来估计某一天该地区的</a:t>
            </a:r>
            <a:r>
              <a:rPr spc="-10" dirty="0">
                <a:latin typeface="Arial" panose="020B0604020202020204"/>
                <a:cs typeface="Arial" panose="020B0604020202020204"/>
              </a:rPr>
              <a:t>PM2.5	</a:t>
            </a:r>
            <a:r>
              <a:rPr spc="-5" dirty="0">
                <a:latin typeface="微软雅黑" panose="020B0503020204020204" charset="-122"/>
                <a:cs typeface="微软雅黑" panose="020B0503020204020204" charset="-122"/>
              </a:rPr>
              <a:t>值大小，预测值与当天实际数值大小越接近，回归分析算法的可信度越高。</a:t>
            </a:r>
            <a:endParaRPr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0308" y="551577"/>
            <a:ext cx="17335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300608" y="1892808"/>
            <a:ext cx="8743950" cy="2050733"/>
            <a:chOff x="400811" y="1380744"/>
            <a:chExt cx="11658600" cy="273431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0811" y="1380744"/>
              <a:ext cx="6374892" cy="27340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4179" y="1692368"/>
              <a:ext cx="5285232" cy="226088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608" y="4061078"/>
            <a:ext cx="4879467" cy="1843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7800" y="4104513"/>
            <a:ext cx="3859398" cy="348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255" y="2003012"/>
            <a:ext cx="7901464" cy="4182745"/>
          </a:xfrm>
          <a:prstGeom prst="rect">
            <a:avLst/>
          </a:prstGeom>
        </p:spPr>
        <p:txBody>
          <a:bodyPr vert="horz" wrap="square" lIns="0" tIns="733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100" spc="-35" dirty="0">
                <a:latin typeface="宋体" panose="02010600030101010101" pitchFamily="2" charset="-122"/>
                <a:cs typeface="宋体" panose="02010600030101010101" pitchFamily="2" charset="-122"/>
              </a:rPr>
              <a:t>面对一个回归问题，我们可简要描述其求解流程：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45085" indent="-514350">
              <a:lnSpc>
                <a:spcPct val="100000"/>
              </a:lnSpc>
              <a:spcBef>
                <a:spcPts val="655"/>
              </a:spcBef>
            </a:pPr>
            <a:r>
              <a:rPr sz="2100" spc="-35" dirty="0">
                <a:latin typeface="宋体" panose="02010600030101010101" pitchFamily="2" charset="-122"/>
                <a:cs typeface="宋体" panose="02010600030101010101" pitchFamily="2" charset="-122"/>
              </a:rPr>
              <a:t>① 选定训练模型，即我们为程序选定一个求解框架，如线性回归模</a:t>
            </a:r>
            <a:r>
              <a:rPr sz="2100" spc="-30" dirty="0">
                <a:latin typeface="宋体" panose="02010600030101010101" pitchFamily="2" charset="-122"/>
                <a:cs typeface="宋体" panose="02010600030101010101" pitchFamily="2" charset="-122"/>
              </a:rPr>
              <a:t>型</a:t>
            </a:r>
            <a:r>
              <a:rPr sz="2100" dirty="0">
                <a:latin typeface="Arial" panose="020B0604020202020204"/>
                <a:cs typeface="Arial" panose="020B0604020202020204"/>
              </a:rPr>
              <a:t>(Linear</a:t>
            </a:r>
            <a:r>
              <a:rPr sz="21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Regression)</a:t>
            </a:r>
            <a:r>
              <a:rPr sz="2100" spc="-40" dirty="0"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5080" indent="-514350" algn="just">
              <a:lnSpc>
                <a:spcPts val="3340"/>
              </a:lnSpc>
              <a:spcBef>
                <a:spcPts val="800"/>
              </a:spcBef>
            </a:pPr>
            <a:r>
              <a:rPr sz="2100" spc="-125" dirty="0">
                <a:latin typeface="宋体" panose="02010600030101010101" pitchFamily="2" charset="-122"/>
                <a:cs typeface="宋体" panose="02010600030101010101" pitchFamily="2" charset="-122"/>
              </a:rPr>
              <a:t>② 导入训练集 </a:t>
            </a:r>
            <a:r>
              <a:rPr sz="2100" spc="-15" dirty="0">
                <a:latin typeface="Arial" panose="020B0604020202020204"/>
                <a:cs typeface="Arial" panose="020B0604020202020204"/>
              </a:rPr>
              <a:t>train_set</a:t>
            </a:r>
            <a:r>
              <a:rPr sz="2100" spc="-30" dirty="0">
                <a:latin typeface="宋体" panose="02010600030101010101" pitchFamily="2" charset="-122"/>
                <a:cs typeface="宋体" panose="02010600030101010101" pitchFamily="2" charset="-122"/>
              </a:rPr>
              <a:t>，即给模型提供大量可供学习参考的正确数据。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17780" indent="-514350" algn="just">
              <a:lnSpc>
                <a:spcPct val="100000"/>
              </a:lnSpc>
              <a:spcBef>
                <a:spcPts val="565"/>
              </a:spcBef>
            </a:pPr>
            <a:r>
              <a:rPr sz="2100" spc="-35" dirty="0">
                <a:latin typeface="宋体" panose="02010600030101010101" pitchFamily="2" charset="-122"/>
                <a:cs typeface="宋体" panose="02010600030101010101" pitchFamily="2" charset="-122"/>
              </a:rPr>
              <a:t>③ 选择合适的学习算法，通过训练集中大量输入输出结果让程序不</a:t>
            </a:r>
            <a:r>
              <a:rPr sz="2100" spc="-30" dirty="0">
                <a:latin typeface="宋体" panose="02010600030101010101" pitchFamily="2" charset="-122"/>
                <a:cs typeface="宋体" panose="02010600030101010101" pitchFamily="2" charset="-122"/>
              </a:rPr>
              <a:t>断优化</a:t>
            </a:r>
            <a:r>
              <a:rPr sz="2100" spc="-10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输入数据与输出数据间的关联性</a:t>
            </a:r>
            <a:r>
              <a:rPr sz="2100" spc="-35" dirty="0">
                <a:latin typeface="宋体" panose="02010600030101010101" pitchFamily="2" charset="-122"/>
                <a:cs typeface="宋体" panose="02010600030101010101" pitchFamily="2" charset="-122"/>
              </a:rPr>
              <a:t>，从而提升模型的预测准</a:t>
            </a:r>
            <a:r>
              <a:rPr sz="2100" spc="-40" dirty="0">
                <a:latin typeface="宋体" panose="02010600030101010101" pitchFamily="2" charset="-122"/>
                <a:cs typeface="宋体" panose="02010600030101010101" pitchFamily="2" charset="-122"/>
              </a:rPr>
              <a:t>确度。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45085" indent="-514350" algn="just">
              <a:lnSpc>
                <a:spcPct val="100000"/>
              </a:lnSpc>
              <a:spcBef>
                <a:spcPts val="670"/>
              </a:spcBef>
            </a:pPr>
            <a:r>
              <a:rPr sz="2100" spc="-35" dirty="0">
                <a:latin typeface="宋体" panose="02010600030101010101" pitchFamily="2" charset="-122"/>
                <a:cs typeface="宋体" panose="02010600030101010101" pitchFamily="2" charset="-122"/>
              </a:rPr>
              <a:t>④ 在训练结束后即可让模型预测结果，我们为程序提供一组新的输入数据，模型根据训练集的学习成果来预测这组输入对应的输出</a:t>
            </a:r>
            <a:r>
              <a:rPr sz="2100" spc="-40" dirty="0">
                <a:latin typeface="宋体" panose="02010600030101010101" pitchFamily="2" charset="-122"/>
                <a:cs typeface="宋体" panose="02010600030101010101" pitchFamily="2" charset="-122"/>
              </a:rPr>
              <a:t>值。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0308" y="1053227"/>
            <a:ext cx="17335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/>
              <a:t>线性分类器</a:t>
            </a:r>
            <a:endParaRPr kumimoji="1" lang="zh-CN" altLang="en-US"/>
          </a:p>
          <a:p>
            <a:pPr>
              <a:defRPr>
                <a:solidFill/>
              </a:defRPr>
            </a:pPr>
            <a:r>
              <a:rPr kumimoji="1" lang="zh-CN" altLang="en-US"/>
              <a:t>线性回归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/>
              <a:t>线性回归模型执行分类任务：感知机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逻辑</a:t>
            </a:r>
            <a:r>
              <a:rPr kumimoji="1" lang="zh-CN" altLang="en-US" dirty="0">
                <a:solidFill/>
              </a:rPr>
              <a:t>回归</a:t>
            </a:r>
            <a:endParaRPr kumimoji="1" lang="zh-CN" altLang="en-US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多项式</a:t>
            </a:r>
            <a:r>
              <a:rPr kumimoji="1" lang="zh-CN" altLang="en-US" dirty="0">
                <a:solidFill/>
              </a:rPr>
              <a:t>回归</a:t>
            </a:r>
            <a:endParaRPr kumimoji="1" lang="zh-CN" altLang="en-US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模型复杂性和过拟合</a:t>
            </a:r>
            <a:r>
              <a:rPr kumimoji="1" lang="zh-CN" altLang="en-US" dirty="0">
                <a:solidFill/>
              </a:rPr>
              <a:t>问题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5" y="1235710"/>
            <a:ext cx="9321800" cy="4765040"/>
          </a:xfrm>
          <a:ln>
            <a:noFill/>
          </a:ln>
        </p:spPr>
        <p:txBody>
          <a:bodyPr/>
          <a:lstStyle/>
          <a:p>
            <a:pPr marL="0" indent="0">
              <a:buNone/>
              <a:defRPr>
                <a:solidFill/>
              </a:defRPr>
            </a:pPr>
            <a:r>
              <a:rPr kumimoji="1" lang="zh-CN" altLang="en-US" sz="1800" b="1" dirty="0"/>
              <a:t>线性分类器，就是用一条线性决策边界来做分类的分类模型。决策树可能形成</a:t>
            </a:r>
            <a:r>
              <a:rPr kumimoji="1" lang="en-US" altLang="zh-CN" sz="1800" b="1" dirty="0"/>
              <a:t>“</a:t>
            </a:r>
            <a:r>
              <a:rPr kumimoji="1" lang="zh-CN" altLang="en-US" sz="1800" b="1" dirty="0"/>
              <a:t>超矩形</a:t>
            </a:r>
            <a:r>
              <a:rPr kumimoji="1" lang="en-US" altLang="zh-CN" sz="1800" b="1" dirty="0"/>
              <a:t>”</a:t>
            </a:r>
            <a:r>
              <a:rPr kumimoji="1" lang="zh-CN" altLang="en-US" sz="1800" b="1" dirty="0"/>
              <a:t>式边界，</a:t>
            </a:r>
            <a:r>
              <a:rPr kumimoji="1" lang="en-US" altLang="zh-CN" sz="1800" b="1" dirty="0"/>
              <a:t>k </a:t>
            </a:r>
            <a:r>
              <a:rPr kumimoji="1" lang="zh-CN" altLang="en-US" sz="1800" b="1" dirty="0"/>
              <a:t>近邻可能形成</a:t>
            </a:r>
            <a:r>
              <a:rPr kumimoji="1" lang="en-US" altLang="zh-CN" sz="1800" b="1" dirty="0"/>
              <a:t>“</a:t>
            </a:r>
            <a:r>
              <a:rPr kumimoji="1" lang="zh-CN" altLang="en-US" sz="1800" b="1" dirty="0"/>
              <a:t>超多边形</a:t>
            </a:r>
            <a:r>
              <a:rPr kumimoji="1" lang="en-US" altLang="zh-CN" sz="1800" b="1" dirty="0"/>
              <a:t>”</a:t>
            </a:r>
            <a:r>
              <a:rPr kumimoji="1" lang="zh-CN" altLang="en-US" sz="1800" b="1" dirty="0"/>
              <a:t>式边界，而线性分类器用的是一条直线、一个平面，或者在更高维空间中的一个超平面来把不同类别分开。虽然别的分类器能画出更复杂的边界，但在某些数据上，一条简单的直线就已经足够把正样本和负样本分开，而且效果几乎一样好。</a:t>
            </a:r>
            <a:br>
              <a:rPr kumimoji="1" lang="zh-CN" altLang="en-US" sz="1800" b="1" dirty="0"/>
            </a:br>
            <a:r>
              <a:rPr lang="zh-CN" altLang="en-US" sz="1800">
                <a:sym typeface="+mn-ea"/>
              </a:rPr>
              <a:t>从几何角度看，线性分类器的本质是：它把样本空间切成两半。假设一个样本用特征向量</a:t>
            </a:r>
            <a:r>
              <a:rPr lang="en-US" altLang="zh-CN" sz="1800">
                <a:sym typeface="+mn-ea"/>
              </a:rPr>
              <a:t> x </a:t>
            </a:r>
            <a:r>
              <a:rPr lang="zh-CN" altLang="en-US" sz="1800">
                <a:sym typeface="+mn-ea"/>
              </a:rPr>
              <a:t>表示，模型会计算一个线性打分</a:t>
            </a:r>
            <a:r>
              <a:rPr lang="en-US" altLang="zh-CN" sz="1800">
                <a:sym typeface="+mn-ea"/>
              </a:rPr>
              <a:t>    f(x)=wTx+b</a:t>
            </a:r>
            <a:endParaRPr lang="en-US" altLang="zh-CN" sz="1800"/>
          </a:p>
          <a:p>
            <a:pPr marL="0" indent="0">
              <a:buNone/>
              <a:defRPr>
                <a:solidFill/>
              </a:defRPr>
            </a:pPr>
            <a:r>
              <a:rPr lang="zh-CN" altLang="en-US" sz="1800">
                <a:sym typeface="+mn-ea"/>
              </a:rPr>
              <a:t>其中</a:t>
            </a:r>
            <a:r>
              <a:rPr lang="en-US" altLang="zh-CN" sz="1800">
                <a:sym typeface="+mn-ea"/>
              </a:rPr>
              <a:t>w</a:t>
            </a:r>
            <a:r>
              <a:rPr lang="zh-CN" altLang="en-US" sz="1800">
                <a:sym typeface="+mn-ea"/>
              </a:rPr>
              <a:t>是权重向量，</a:t>
            </a:r>
            <a:r>
              <a:rPr lang="en-US" altLang="zh-CN" sz="1800">
                <a:sym typeface="+mn-ea"/>
              </a:rPr>
              <a:t>b </a:t>
            </a:r>
            <a:r>
              <a:rPr lang="zh-CN" altLang="en-US" sz="1800">
                <a:sym typeface="+mn-ea"/>
              </a:rPr>
              <a:t>是偏置项。这个式子本身定义了一个</a:t>
            </a:r>
            <a:r>
              <a:rPr lang="en-US" altLang="zh-CN" sz="1800">
                <a:sym typeface="+mn-ea"/>
              </a:rPr>
              <a:t>“</a:t>
            </a:r>
            <a:r>
              <a:rPr lang="zh-CN" altLang="en-US" sz="1800">
                <a:sym typeface="+mn-ea"/>
              </a:rPr>
              <a:t>分界面</a:t>
            </a:r>
            <a:r>
              <a:rPr lang="en-US" altLang="zh-CN" sz="1800">
                <a:sym typeface="+mn-ea"/>
              </a:rPr>
              <a:t>”</a:t>
            </a:r>
            <a:r>
              <a:rPr lang="zh-CN" altLang="en-US" sz="1800">
                <a:sym typeface="+mn-ea"/>
              </a:rPr>
              <a:t>。在二维里它是一条直线，在三维里它是一个平面，在更高维里它就是超平面。分类时，模型看这个样本落在分界面的哪一侧：一侧判为正类，另一侧判为负类。</a:t>
            </a:r>
            <a:endParaRPr lang="zh-CN" altLang="en-US" sz="1800">
              <a:sym typeface="+mn-ea"/>
            </a:endParaRPr>
          </a:p>
          <a:p>
            <a:pPr marL="0" indent="0">
              <a:buNone/>
              <a:defRPr>
                <a:solidFill/>
              </a:defRPr>
            </a:pPr>
            <a:r>
              <a:rPr kumimoji="1" lang="zh-CN" altLang="en-US" sz="1800" b="1" dirty="0"/>
              <a:t>常见的线性分类器</a:t>
            </a:r>
            <a:r>
              <a:rPr kumimoji="1" lang="zh-CN" altLang="en-US" sz="1800" b="1" dirty="0"/>
              <a:t>有：感知机和逻辑回归，支持向量机。</a:t>
            </a:r>
            <a:endParaRPr kumimoji="1" lang="zh-CN" altLang="en-US" sz="1800" b="1" dirty="0"/>
          </a:p>
          <a:p>
            <a:pPr>
              <a:defRPr>
                <a:solidFill/>
              </a:defRPr>
            </a:pPr>
            <a:endParaRPr kumimoji="1" lang="zh-CN" altLang="en-US" sz="18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1325" y="4603115"/>
            <a:ext cx="6162675" cy="1990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1145" y="28257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800" b="1" dirty="0">
                <a:sym typeface="+mn-ea"/>
              </a:rPr>
              <a:t>线性分类器</a:t>
            </a:r>
            <a:endParaRPr lang="zh-CN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267460"/>
            <a:ext cx="9144000" cy="5322570"/>
          </a:xfrm>
        </p:spPr>
        <p:txBody>
          <a:bodyPr>
            <a:noAutofit/>
          </a:bodyPr>
          <a:p>
            <a:r>
              <a:rPr lang="zh-CN" altLang="en-US" sz="1800"/>
              <a:t>优势</a:t>
            </a:r>
            <a:endParaRPr lang="zh-CN" altLang="en-US" sz="1800"/>
          </a:p>
          <a:p>
            <a:r>
              <a:rPr lang="zh-CN" altLang="en-US" sz="1800"/>
              <a:t>一</a:t>
            </a:r>
            <a:r>
              <a:rPr lang="en-US" altLang="zh-CN" sz="1800"/>
              <a:t>,</a:t>
            </a:r>
            <a:r>
              <a:rPr lang="zh-CN" altLang="en-US" sz="1800"/>
              <a:t>训练和预测效率高。</a:t>
            </a:r>
            <a:endParaRPr lang="zh-CN" altLang="en-US" sz="1800"/>
          </a:p>
          <a:p>
            <a:r>
              <a:rPr lang="zh-CN" altLang="en-US" sz="1800"/>
              <a:t>线性分类器本质上只是做一次特征加权求和，再过一个符号判断或概率映射，所以计算量很小，尤其适合样本多、特征多的任务。书相比复杂边界模型，训练更高效。</a:t>
            </a:r>
            <a:endParaRPr lang="en-US" altLang="zh-CN" sz="1800"/>
          </a:p>
          <a:p>
            <a:r>
              <a:rPr lang="zh-CN" altLang="en-US" sz="1800"/>
              <a:t>二，泛化能力较强。</a:t>
            </a:r>
            <a:endParaRPr lang="zh-CN" altLang="en-US" sz="1800"/>
          </a:p>
          <a:p>
            <a:r>
              <a:rPr lang="zh-CN" altLang="en-US" sz="1800"/>
              <a:t>因为模型形式简单，不容易把训练集里的局部噪声、偶然波动也一起</a:t>
            </a:r>
            <a:r>
              <a:rPr lang="en-US" altLang="zh-CN" sz="1800"/>
              <a:t>“</a:t>
            </a:r>
            <a:r>
              <a:rPr lang="zh-CN" altLang="en-US" sz="1800"/>
              <a:t>记住</a:t>
            </a:r>
            <a:r>
              <a:rPr lang="en-US" altLang="zh-CN" sz="1800"/>
              <a:t>”</a:t>
            </a:r>
            <a:r>
              <a:rPr lang="zh-CN" altLang="en-US" sz="1800"/>
              <a:t>。很多时候，简单模型反而比复杂模型更稳定。所以当线性边界已经大致可行时，线性分类器常常是一个很强的基线模型。</a:t>
            </a:r>
            <a:endParaRPr lang="en-US" altLang="zh-CN" sz="1800"/>
          </a:p>
          <a:p>
            <a:r>
              <a:rPr lang="zh-CN" altLang="en-US" sz="1800"/>
              <a:t>三，可解释性强。</a:t>
            </a:r>
            <a:endParaRPr lang="zh-CN" altLang="en-US" sz="1800"/>
          </a:p>
          <a:p>
            <a:r>
              <a:rPr lang="zh-CN" altLang="en-US" sz="1800"/>
              <a:t>每个特征都有一个对应权重，权重大小和正负方向，通常都能帮助我们理解</a:t>
            </a:r>
            <a:r>
              <a:rPr lang="en-US" altLang="zh-CN" sz="1800"/>
              <a:t>“</a:t>
            </a:r>
            <a:r>
              <a:rPr lang="zh-CN" altLang="en-US" sz="1800"/>
              <a:t>为什么模型会这样判</a:t>
            </a:r>
            <a:r>
              <a:rPr lang="en-US" altLang="zh-CN" sz="1800"/>
              <a:t>”</a:t>
            </a:r>
            <a:r>
              <a:rPr lang="zh-CN" altLang="en-US" sz="1800"/>
              <a:t>。比如某个特征权重大且为正，就说明它会把样本往正类方向推；为负则往负类方向推。在需要说明依据的场景里非常有价值。</a:t>
            </a:r>
            <a:endParaRPr lang="en-US" altLang="zh-CN" sz="1800"/>
          </a:p>
          <a:p>
            <a:r>
              <a:rPr lang="zh-CN" altLang="en-US" sz="1800"/>
              <a:t>四，工程实现和部署成本低。</a:t>
            </a:r>
            <a:endParaRPr lang="zh-CN" altLang="en-US" sz="1800"/>
          </a:p>
          <a:p>
            <a:r>
              <a:rPr lang="zh-CN" altLang="en-US" sz="1800"/>
              <a:t>模型结构简单、参数少、推理快，对硬件要求通常不高，容易嵌入到资源受限环境中。</a:t>
            </a:r>
            <a:endParaRPr lang="en-US" altLang="zh-CN" sz="1800"/>
          </a:p>
          <a:p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线性分类器的优</a:t>
            </a:r>
            <a:r>
              <a:rPr lang="zh-CN" altLang="en-US"/>
              <a:t>劣势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1930" y="1398905"/>
            <a:ext cx="8668385" cy="49377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>
                <a:sym typeface="+mn-ea"/>
              </a:rPr>
              <a:t>劣势</a:t>
            </a:r>
            <a:endParaRPr lang="zh-CN" altLang="en-US" sz="1800"/>
          </a:p>
          <a:p>
            <a:r>
              <a:rPr lang="zh-CN" altLang="en-US" sz="1800">
                <a:sym typeface="+mn-ea"/>
              </a:rPr>
              <a:t>第一，表达能力有限。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这是它最核心的短板。线性分类器只能学习一个线性决策边界，如果真实类别边界很弯曲、很复杂、存在明显的非线性交互关系，那么单个线性分界面就会显得过于</a:t>
            </a:r>
            <a:r>
              <a:rPr lang="zh-CN" altLang="en-US" sz="1800">
                <a:sym typeface="+mn-ea"/>
              </a:rPr>
              <a:t>简单。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第二，对特征表示比较依赖。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线性分类器本身不太擅长自动挖掘复杂模式，所以很多时候效果好不好，不只取决于模型本身，更取决于前面的特征工程做得怎么样。</a:t>
            </a:r>
            <a:endParaRPr lang="en-US" altLang="zh-CN" sz="1800"/>
          </a:p>
          <a:p>
            <a:r>
              <a:rPr lang="zh-CN" altLang="en-US" sz="1800">
                <a:sym typeface="+mn-ea"/>
              </a:rPr>
              <a:t>第三，在线性不可分的数据上能力受限。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如果数据不能被一个线性边界较好地区分，那么线性分类器即使能用，通常也会留下较明显的误差。尤其像感知机这类方法，训练数据线性可分时它能收敛并找到分界面；如果线性不可分，则无法收敛。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线性分类器的优劣势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1605" y="1256030"/>
            <a:ext cx="8566150" cy="460311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1800"/>
              <a:t>1.</a:t>
            </a:r>
            <a:r>
              <a:rPr lang="zh-CN" altLang="en-US" sz="1800"/>
              <a:t>高维但关系相对简单的数据。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比如文本分类、垃圾邮件识别、情感分析、广告点击预测、用户流失预测这类任务，往往特征维度很高，但</a:t>
            </a:r>
            <a:r>
              <a:rPr lang="en-US" altLang="zh-CN" sz="1800"/>
              <a:t>“</a:t>
            </a:r>
            <a:r>
              <a:rPr lang="zh-CN" altLang="en-US" sz="1800"/>
              <a:t>加权打分后做阈值判断</a:t>
            </a:r>
            <a:r>
              <a:rPr lang="en-US" altLang="zh-CN" sz="1800"/>
              <a:t>”</a:t>
            </a:r>
            <a:r>
              <a:rPr lang="zh-CN" altLang="en-US" sz="1800"/>
              <a:t>已经能取得不错效果。</a:t>
            </a: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2.</a:t>
            </a:r>
            <a:r>
              <a:rPr lang="zh-CN" altLang="en-US" sz="1800"/>
              <a:t>需要快速训练、快速预测和大规模部署的场景。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例如线上推荐中的某些粗排阶段、实时风控中的初筛模型、工业系统中的轻量预测模块，通常都希望模型又快又稳，这时线性分类器很合适。</a:t>
            </a: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3.</a:t>
            </a:r>
            <a:r>
              <a:rPr lang="zh-CN" altLang="en-US" sz="1800"/>
              <a:t>需要较强解释性的场景。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比如金融审核、医疗辅助、经营分析、客户流失归因等。线性分类器比很多复杂模型更容易解释。</a:t>
            </a: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4.</a:t>
            </a:r>
            <a:r>
              <a:rPr lang="zh-CN" altLang="en-US" sz="1800"/>
              <a:t>作为基线模型或第一版模型。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在做一个新任务时，线性分类器是很好的起点</a:t>
            </a:r>
            <a:r>
              <a:rPr lang="zh-CN" altLang="en-US" sz="1800"/>
              <a:t>：先快速得到一个可解释、可部署、可评估的基线，再决定是否需要更复杂的非线性模型。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线性分类器的应用场景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8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378" y="561737"/>
            <a:ext cx="21907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25" dirty="0"/>
              <a:t>概念</a:t>
            </a:r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54838" y="2143829"/>
            <a:ext cx="3905250" cy="239522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100" b="1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sz="2100" dirty="0">
                <a:latin typeface="微软雅黑" panose="020B0503020204020204" charset="-122"/>
                <a:cs typeface="微软雅黑" panose="020B0503020204020204" charset="-122"/>
              </a:rPr>
              <a:t>（Linear</a:t>
            </a:r>
            <a:r>
              <a:rPr sz="2100" spc="-7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spc="-10" dirty="0">
                <a:latin typeface="微软雅黑" panose="020B0503020204020204" charset="-122"/>
                <a:cs typeface="微软雅黑" panose="020B0503020204020204" charset="-122"/>
              </a:rPr>
              <a:t>Regression）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spcBef>
                <a:spcPts val="3130"/>
              </a:spcBef>
            </a:pPr>
            <a:r>
              <a:rPr spc="-5" dirty="0">
                <a:latin typeface="微软雅黑" panose="020B0503020204020204" charset="-122"/>
                <a:cs typeface="微软雅黑" panose="020B0503020204020204" charset="-122"/>
              </a:rPr>
              <a:t>是一种通过属性的线性组合来进行预测</a:t>
            </a: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线性模型</a:t>
            </a:r>
            <a:r>
              <a:rPr spc="-5" dirty="0">
                <a:latin typeface="微软雅黑" panose="020B0503020204020204" charset="-122"/>
                <a:cs typeface="微软雅黑" panose="020B0503020204020204" charset="-122"/>
              </a:rPr>
              <a:t>，其目的是找到一条直线或</a:t>
            </a: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者一个平面或者更高维的超平面，</a:t>
            </a:r>
            <a:r>
              <a:rPr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使得</a:t>
            </a:r>
            <a:r>
              <a:rPr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预测值与真实值之间的误差最小化。</a:t>
            </a:r>
            <a:endParaRPr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24526" y="2345620"/>
            <a:ext cx="4527615" cy="24257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9070" y="1273175"/>
            <a:ext cx="8822690" cy="5175250"/>
          </a:xfrm>
        </p:spPr>
        <p:txBody>
          <a:bodyPr/>
          <a:p>
            <a:pPr marL="0" indent="0">
              <a:buNone/>
            </a:pPr>
            <a:r>
              <a:rPr lang="zh-CN" altLang="en-US" sz="1600"/>
              <a:t>线性回归是一种用来预测连续数值型输出的统计学习方法，假设我们有</a:t>
            </a:r>
            <a:r>
              <a:rPr lang="en-US" altLang="zh-CN" sz="1600"/>
              <a:t>n</a:t>
            </a:r>
            <a:r>
              <a:rPr lang="zh-CN" altLang="en-US" sz="1600"/>
              <a:t>个样本，每个样本有</a:t>
            </a:r>
            <a:r>
              <a:rPr lang="en-US" altLang="zh-CN" sz="1600"/>
              <a:t>p</a:t>
            </a:r>
            <a:r>
              <a:rPr lang="zh-CN" altLang="en-US" sz="1600"/>
              <a:t>个属性，记作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同时每个样本对应一个连续输出</a:t>
            </a:r>
            <a:r>
              <a:rPr lang="en-US" altLang="zh-CN" sz="1600"/>
              <a:t>y</a:t>
            </a:r>
            <a:r>
              <a:rPr lang="en-US" altLang="zh-CN" sz="1600" baseline="-25000"/>
              <a:t>i</a:t>
            </a:r>
            <a:r>
              <a:rPr lang="en-US" altLang="zh-CN" sz="1600"/>
              <a:t> </a:t>
            </a:r>
            <a:r>
              <a:rPr lang="zh-CN" altLang="en-US" sz="1600"/>
              <a:t>线性回归希望学习一个线性函数，把输入属性映射到输出变量上。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即找到一条直线，或者在高维空间中找到一个超平面，使得它尽可能贴近训练数据的变化趋势。</a:t>
            </a: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线性</a:t>
            </a:r>
            <a:r>
              <a:rPr lang="zh-CN" altLang="en-US"/>
              <a:t>回归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630" y="1595120"/>
            <a:ext cx="2333625" cy="314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7593" r="1073"/>
          <a:stretch>
            <a:fillRect/>
          </a:stretch>
        </p:blipFill>
        <p:spPr>
          <a:xfrm>
            <a:off x="476885" y="2954655"/>
            <a:ext cx="5559425" cy="2279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16129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9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0491" y="2146554"/>
            <a:ext cx="5549265" cy="3321844"/>
            <a:chOff x="160654" y="1719072"/>
            <a:chExt cx="7399020" cy="44291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5739" y="1719072"/>
              <a:ext cx="7324725" cy="44287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6374" y="3942714"/>
              <a:ext cx="7353300" cy="19050"/>
            </a:xfrm>
            <a:custGeom>
              <a:avLst/>
              <a:gdLst/>
              <a:ahLst/>
              <a:cxnLst/>
              <a:rect l="l" t="t" r="r" b="b"/>
              <a:pathLst>
                <a:path w="7353300" h="19050">
                  <a:moveTo>
                    <a:pt x="7353300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7353300" y="0"/>
                  </a:lnTo>
                  <a:lnTo>
                    <a:pt x="73533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160654" y="4508500"/>
              <a:ext cx="7369175" cy="903605"/>
            </a:xfrm>
            <a:custGeom>
              <a:avLst/>
              <a:gdLst/>
              <a:ahLst/>
              <a:cxnLst/>
              <a:rect l="l" t="t" r="r" b="b"/>
              <a:pathLst>
                <a:path w="7369175" h="903604">
                  <a:moveTo>
                    <a:pt x="7356475" y="903604"/>
                  </a:moveTo>
                  <a:lnTo>
                    <a:pt x="12700" y="903604"/>
                  </a:lnTo>
                  <a:lnTo>
                    <a:pt x="10223" y="903363"/>
                  </a:lnTo>
                  <a:lnTo>
                    <a:pt x="0" y="89090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7356475" y="0"/>
                  </a:lnTo>
                  <a:lnTo>
                    <a:pt x="7369175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78204"/>
                  </a:lnTo>
                  <a:lnTo>
                    <a:pt x="12700" y="878204"/>
                  </a:lnTo>
                  <a:lnTo>
                    <a:pt x="25400" y="890904"/>
                  </a:lnTo>
                  <a:lnTo>
                    <a:pt x="7369175" y="890904"/>
                  </a:lnTo>
                  <a:lnTo>
                    <a:pt x="7368933" y="893381"/>
                  </a:lnTo>
                  <a:lnTo>
                    <a:pt x="7358951" y="903363"/>
                  </a:lnTo>
                  <a:lnTo>
                    <a:pt x="7356475" y="903604"/>
                  </a:lnTo>
                  <a:close/>
                </a:path>
                <a:path w="7369175" h="90360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7369175" h="903604">
                  <a:moveTo>
                    <a:pt x="7343775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7343775" y="12700"/>
                  </a:lnTo>
                  <a:lnTo>
                    <a:pt x="7343775" y="25400"/>
                  </a:lnTo>
                  <a:close/>
                </a:path>
                <a:path w="7369175" h="903604">
                  <a:moveTo>
                    <a:pt x="7343775" y="890904"/>
                  </a:moveTo>
                  <a:lnTo>
                    <a:pt x="7343775" y="12700"/>
                  </a:lnTo>
                  <a:lnTo>
                    <a:pt x="7356475" y="25400"/>
                  </a:lnTo>
                  <a:lnTo>
                    <a:pt x="7369175" y="25400"/>
                  </a:lnTo>
                  <a:lnTo>
                    <a:pt x="7369175" y="878204"/>
                  </a:lnTo>
                  <a:lnTo>
                    <a:pt x="7356475" y="878204"/>
                  </a:lnTo>
                  <a:lnTo>
                    <a:pt x="7343775" y="890904"/>
                  </a:lnTo>
                  <a:close/>
                </a:path>
                <a:path w="7369175" h="903604">
                  <a:moveTo>
                    <a:pt x="7369175" y="25400"/>
                  </a:moveTo>
                  <a:lnTo>
                    <a:pt x="7356475" y="25400"/>
                  </a:lnTo>
                  <a:lnTo>
                    <a:pt x="7343775" y="12700"/>
                  </a:lnTo>
                  <a:lnTo>
                    <a:pt x="7369175" y="12700"/>
                  </a:lnTo>
                  <a:lnTo>
                    <a:pt x="7369175" y="25400"/>
                  </a:lnTo>
                  <a:close/>
                </a:path>
                <a:path w="7369175" h="903604">
                  <a:moveTo>
                    <a:pt x="25400" y="890904"/>
                  </a:moveTo>
                  <a:lnTo>
                    <a:pt x="12700" y="878204"/>
                  </a:lnTo>
                  <a:lnTo>
                    <a:pt x="25400" y="878204"/>
                  </a:lnTo>
                  <a:lnTo>
                    <a:pt x="25400" y="890904"/>
                  </a:lnTo>
                  <a:close/>
                </a:path>
                <a:path w="7369175" h="903604">
                  <a:moveTo>
                    <a:pt x="7343775" y="890904"/>
                  </a:moveTo>
                  <a:lnTo>
                    <a:pt x="25400" y="890904"/>
                  </a:lnTo>
                  <a:lnTo>
                    <a:pt x="25400" y="878204"/>
                  </a:lnTo>
                  <a:lnTo>
                    <a:pt x="7343775" y="878204"/>
                  </a:lnTo>
                  <a:lnTo>
                    <a:pt x="7343775" y="890904"/>
                  </a:lnTo>
                  <a:close/>
                </a:path>
                <a:path w="7369175" h="903604">
                  <a:moveTo>
                    <a:pt x="7369175" y="890904"/>
                  </a:moveTo>
                  <a:lnTo>
                    <a:pt x="7343775" y="890904"/>
                  </a:lnTo>
                  <a:lnTo>
                    <a:pt x="7356475" y="878204"/>
                  </a:lnTo>
                  <a:lnTo>
                    <a:pt x="7369175" y="878204"/>
                  </a:lnTo>
                  <a:lnTo>
                    <a:pt x="7369175" y="89090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5378" y="439181"/>
            <a:ext cx="21907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25" dirty="0"/>
              <a:t>概念</a:t>
            </a:r>
            <a:endParaRPr spc="-2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001" y="2237994"/>
            <a:ext cx="3345561" cy="14733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3001" y="4107941"/>
            <a:ext cx="3346704" cy="152361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781675" y="1912144"/>
            <a:ext cx="1390650" cy="286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微软雅黑" panose="020B0503020204020204" charset="-122"/>
                <a:cs typeface="微软雅黑" panose="020B0503020204020204" charset="-122"/>
              </a:rPr>
              <a:t>一元线性回归</a:t>
            </a:r>
            <a:endParaRPr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1675" y="3756184"/>
            <a:ext cx="1390650" cy="286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微软雅黑" panose="020B0503020204020204" charset="-122"/>
                <a:cs typeface="微软雅黑" panose="020B0503020204020204" charset="-122"/>
              </a:rPr>
              <a:t>多元线性回归</a:t>
            </a:r>
            <a:endParaRPr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内容占位符 4"/>
          <p:cNvGraphicFramePr/>
          <p:nvPr>
            <p:ph idx="1"/>
          </p:nvPr>
        </p:nvGraphicFramePr>
        <p:xfrm>
          <a:off x="202851" y="1357539"/>
          <a:ext cx="827341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805"/>
                <a:gridCol w="2757805"/>
                <a:gridCol w="2757805"/>
              </a:tblGrid>
              <a:tr h="381000">
                <a:tc>
                  <a:txBody>
                    <a:bodyPr/>
                    <a:p>
                      <a:r>
                        <a:rPr lang="zh-CN" altLang="en-US" sz="1100"/>
                        <a:t>房屋编号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zh-CN" altLang="en-US" sz="1100"/>
                        <a:t>面积 </a:t>
                      </a:r>
                      <a:r>
                        <a:rPr lang="en-US" altLang="zh-CN" sz="1100"/>
                        <a:t>x</a:t>
                      </a:r>
                      <a:r>
                        <a:rPr lang="zh-CN" altLang="en-US" sz="1100"/>
                        <a:t>（㎡）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zh-CN" altLang="en-US" sz="1100"/>
                        <a:t>房价 </a:t>
                      </a:r>
                      <a:r>
                        <a:rPr lang="en-US" altLang="zh-CN" sz="1100"/>
                        <a:t>y</a:t>
                      </a:r>
                      <a:r>
                        <a:rPr lang="zh-CN" altLang="en-US" sz="1100"/>
                        <a:t>（万元）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60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130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80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170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100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220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120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r"/>
                      <a:r>
                        <a:rPr lang="en-US" altLang="zh-CN" sz="1100"/>
                        <a:t>250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典型案例：房价</a:t>
            </a:r>
            <a:r>
              <a:rPr lang="zh-CN" altLang="en-US"/>
              <a:t>预测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65" y="3517900"/>
            <a:ext cx="8651240" cy="287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线性回归的核心组成：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输入特征</a:t>
            </a:r>
            <a:r>
              <a:rPr lang="en-US" altLang="zh-CN"/>
              <a:t>x</a:t>
            </a:r>
            <a:r>
              <a:rPr lang="zh-CN" altLang="en-US"/>
              <a:t>，在房价预测中，输入特征可以是面积，楼层</a:t>
            </a:r>
            <a:endParaRPr lang="zh-CN" altLang="en-US"/>
          </a:p>
          <a:p>
            <a:r>
              <a:rPr lang="zh-CN" altLang="en-US"/>
              <a:t>房龄，是否学区房，距离地铁距离。。。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输出变量</a:t>
            </a:r>
            <a:r>
              <a:rPr lang="en-US" altLang="zh-CN"/>
              <a:t>y</a:t>
            </a:r>
            <a:r>
              <a:rPr lang="zh-CN" altLang="en-US"/>
              <a:t>，这是我们要预测的目标值。在房价问题中：</a:t>
            </a:r>
            <a:r>
              <a:rPr lang="en-US" altLang="zh-CN"/>
              <a:t>y = </a:t>
            </a:r>
            <a:r>
              <a:rPr lang="zh-CN" altLang="en-US"/>
              <a:t>房价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权重</a:t>
            </a:r>
            <a:r>
              <a:rPr lang="en-US" altLang="zh-CN"/>
              <a:t>w</a:t>
            </a:r>
            <a:r>
              <a:rPr lang="zh-CN" altLang="en-US"/>
              <a:t>，表示每个特征对预测结果的影响程度。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偏置量</a:t>
            </a:r>
            <a:r>
              <a:rPr lang="en-US" altLang="zh-CN"/>
              <a:t>b</a:t>
            </a:r>
            <a:endParaRPr lang="en-US" altLang="zh-CN"/>
          </a:p>
          <a:p>
            <a:r>
              <a:rPr lang="en-US" altLang="zh-CN"/>
              <a:t>5. </a:t>
            </a:r>
            <a:r>
              <a:rPr lang="zh-CN" altLang="en-US"/>
              <a:t>预测值</a:t>
            </a:r>
            <a:r>
              <a:rPr lang="en-US" altLang="zh-CN"/>
              <a:t> y^</a:t>
            </a:r>
            <a:r>
              <a:rPr lang="zh-CN" altLang="en-US"/>
              <a:t>这是模型根据输入特征算出来的结果。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50" y="3357880"/>
            <a:ext cx="17145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607058"/>
            <a:ext cx="484823" cy="322580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476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5"/>
              </a:spcBef>
            </a:pPr>
            <a:r>
              <a:rPr sz="10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378" y="628412"/>
            <a:ext cx="287655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15" dirty="0"/>
              <a:t>算法流程</a:t>
            </a:r>
            <a:endParaRPr spc="-15" dirty="0"/>
          </a:p>
        </p:txBody>
      </p:sp>
      <p:sp>
        <p:nvSpPr>
          <p:cNvPr id="4" name="object 4"/>
          <p:cNvSpPr txBox="1"/>
          <p:nvPr/>
        </p:nvSpPr>
        <p:spPr>
          <a:xfrm>
            <a:off x="638765" y="2502893"/>
            <a:ext cx="3758565" cy="18662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700" spc="2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80" dirty="0">
                <a:latin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27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2700" spc="2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的关系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6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36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27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59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590" spc="509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59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59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59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59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59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59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8255" algn="ctr">
              <a:lnSpc>
                <a:spcPct val="100000"/>
              </a:lnSpc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59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59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endParaRPr sz="2590" baseline="-16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48753" y="3595621"/>
            <a:ext cx="688658" cy="521970"/>
            <a:chOff x="5798337" y="3651161"/>
            <a:chExt cx="918210" cy="695960"/>
          </a:xfrm>
        </p:grpSpPr>
        <p:sp>
          <p:nvSpPr>
            <p:cNvPr id="6" name="object 6"/>
            <p:cNvSpPr/>
            <p:nvPr/>
          </p:nvSpPr>
          <p:spPr>
            <a:xfrm>
              <a:off x="5811012" y="3663696"/>
              <a:ext cx="893444" cy="670560"/>
            </a:xfrm>
            <a:custGeom>
              <a:avLst/>
              <a:gdLst/>
              <a:ahLst/>
              <a:cxnLst/>
              <a:rect l="l" t="t" r="r" b="b"/>
              <a:pathLst>
                <a:path w="893445" h="670560">
                  <a:moveTo>
                    <a:pt x="667512" y="670559"/>
                  </a:moveTo>
                  <a:lnTo>
                    <a:pt x="711708" y="601979"/>
                  </a:lnTo>
                  <a:lnTo>
                    <a:pt x="0" y="135636"/>
                  </a:lnTo>
                  <a:lnTo>
                    <a:pt x="88391" y="0"/>
                  </a:lnTo>
                  <a:lnTo>
                    <a:pt x="801623" y="466343"/>
                  </a:lnTo>
                  <a:lnTo>
                    <a:pt x="845819" y="397763"/>
                  </a:lnTo>
                  <a:lnTo>
                    <a:pt x="893063" y="623315"/>
                  </a:lnTo>
                  <a:lnTo>
                    <a:pt x="667512" y="6705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5798337" y="3651161"/>
              <a:ext cx="918210" cy="695960"/>
            </a:xfrm>
            <a:custGeom>
              <a:avLst/>
              <a:gdLst/>
              <a:ahLst/>
              <a:cxnLst/>
              <a:rect l="l" t="t" r="r" b="b"/>
              <a:pathLst>
                <a:path w="918209" h="695960">
                  <a:moveTo>
                    <a:pt x="707205" y="618609"/>
                  </a:moveTo>
                  <a:lnTo>
                    <a:pt x="5740" y="159435"/>
                  </a:lnTo>
                  <a:lnTo>
                    <a:pt x="0" y="148932"/>
                  </a:lnTo>
                  <a:lnTo>
                    <a:pt x="215" y="146456"/>
                  </a:lnTo>
                  <a:lnTo>
                    <a:pt x="91173" y="5740"/>
                  </a:lnTo>
                  <a:lnTo>
                    <a:pt x="99377" y="215"/>
                  </a:lnTo>
                  <a:lnTo>
                    <a:pt x="99681" y="215"/>
                  </a:lnTo>
                  <a:lnTo>
                    <a:pt x="101676" y="0"/>
                  </a:lnTo>
                  <a:lnTo>
                    <a:pt x="104165" y="215"/>
                  </a:lnTo>
                  <a:lnTo>
                    <a:pt x="106552" y="914"/>
                  </a:lnTo>
                  <a:lnTo>
                    <a:pt x="108762" y="2070"/>
                  </a:lnTo>
                  <a:lnTo>
                    <a:pt x="135614" y="19646"/>
                  </a:lnTo>
                  <a:lnTo>
                    <a:pt x="112433" y="19646"/>
                  </a:lnTo>
                  <a:lnTo>
                    <a:pt x="94843" y="23317"/>
                  </a:lnTo>
                  <a:lnTo>
                    <a:pt x="105475" y="30276"/>
                  </a:lnTo>
                  <a:lnTo>
                    <a:pt x="34835" y="138188"/>
                  </a:lnTo>
                  <a:lnTo>
                    <a:pt x="19659" y="138188"/>
                  </a:lnTo>
                  <a:lnTo>
                    <a:pt x="23329" y="155765"/>
                  </a:lnTo>
                  <a:lnTo>
                    <a:pt x="46510" y="155765"/>
                  </a:lnTo>
                  <a:lnTo>
                    <a:pt x="731735" y="604316"/>
                  </a:lnTo>
                  <a:lnTo>
                    <a:pt x="733678" y="605866"/>
                  </a:lnTo>
                  <a:lnTo>
                    <a:pt x="735279" y="607783"/>
                  </a:lnTo>
                  <a:lnTo>
                    <a:pt x="735390" y="607987"/>
                  </a:lnTo>
                  <a:lnTo>
                    <a:pt x="714159" y="607987"/>
                  </a:lnTo>
                  <a:lnTo>
                    <a:pt x="707205" y="618609"/>
                  </a:lnTo>
                  <a:close/>
                </a:path>
                <a:path w="918209" h="695960">
                  <a:moveTo>
                    <a:pt x="105475" y="30276"/>
                  </a:moveTo>
                  <a:lnTo>
                    <a:pt x="94843" y="23317"/>
                  </a:lnTo>
                  <a:lnTo>
                    <a:pt x="112433" y="19646"/>
                  </a:lnTo>
                  <a:lnTo>
                    <a:pt x="105475" y="30276"/>
                  </a:lnTo>
                  <a:close/>
                </a:path>
                <a:path w="918209" h="695960">
                  <a:moveTo>
                    <a:pt x="814006" y="491515"/>
                  </a:moveTo>
                  <a:lnTo>
                    <a:pt x="810947" y="491248"/>
                  </a:lnTo>
                  <a:lnTo>
                    <a:pt x="811358" y="491248"/>
                  </a:lnTo>
                  <a:lnTo>
                    <a:pt x="808829" y="490499"/>
                  </a:lnTo>
                  <a:lnTo>
                    <a:pt x="808958" y="490499"/>
                  </a:lnTo>
                  <a:lnTo>
                    <a:pt x="806932" y="489445"/>
                  </a:lnTo>
                  <a:lnTo>
                    <a:pt x="105475" y="30276"/>
                  </a:lnTo>
                  <a:lnTo>
                    <a:pt x="112433" y="19646"/>
                  </a:lnTo>
                  <a:lnTo>
                    <a:pt x="135614" y="19646"/>
                  </a:lnTo>
                  <a:lnTo>
                    <a:pt x="810216" y="461232"/>
                  </a:lnTo>
                  <a:lnTo>
                    <a:pt x="803262" y="471855"/>
                  </a:lnTo>
                  <a:lnTo>
                    <a:pt x="833620" y="471855"/>
                  </a:lnTo>
                  <a:lnTo>
                    <a:pt x="816482" y="491248"/>
                  </a:lnTo>
                  <a:lnTo>
                    <a:pt x="814006" y="491515"/>
                  </a:lnTo>
                  <a:close/>
                </a:path>
                <a:path w="918209" h="695960">
                  <a:moveTo>
                    <a:pt x="23329" y="155765"/>
                  </a:moveTo>
                  <a:lnTo>
                    <a:pt x="19659" y="138188"/>
                  </a:lnTo>
                  <a:lnTo>
                    <a:pt x="30283" y="145143"/>
                  </a:lnTo>
                  <a:lnTo>
                    <a:pt x="23329" y="155765"/>
                  </a:lnTo>
                  <a:close/>
                </a:path>
                <a:path w="918209" h="695960">
                  <a:moveTo>
                    <a:pt x="30283" y="145143"/>
                  </a:moveTo>
                  <a:lnTo>
                    <a:pt x="19659" y="138188"/>
                  </a:lnTo>
                  <a:lnTo>
                    <a:pt x="34835" y="138188"/>
                  </a:lnTo>
                  <a:lnTo>
                    <a:pt x="30283" y="145143"/>
                  </a:lnTo>
                  <a:close/>
                </a:path>
                <a:path w="918209" h="695960">
                  <a:moveTo>
                    <a:pt x="46510" y="155765"/>
                  </a:moveTo>
                  <a:lnTo>
                    <a:pt x="23329" y="155765"/>
                  </a:lnTo>
                  <a:lnTo>
                    <a:pt x="30283" y="145143"/>
                  </a:lnTo>
                  <a:lnTo>
                    <a:pt x="46510" y="155765"/>
                  </a:lnTo>
                  <a:close/>
                </a:path>
                <a:path w="918209" h="695960">
                  <a:moveTo>
                    <a:pt x="833620" y="471855"/>
                  </a:moveTo>
                  <a:lnTo>
                    <a:pt x="803262" y="471855"/>
                  </a:lnTo>
                  <a:lnTo>
                    <a:pt x="820839" y="468185"/>
                  </a:lnTo>
                  <a:lnTo>
                    <a:pt x="810216" y="461232"/>
                  </a:lnTo>
                  <a:lnTo>
                    <a:pt x="847813" y="403796"/>
                  </a:lnTo>
                  <a:lnTo>
                    <a:pt x="857038" y="398094"/>
                  </a:lnTo>
                  <a:lnTo>
                    <a:pt x="859447" y="398094"/>
                  </a:lnTo>
                  <a:lnTo>
                    <a:pt x="871946" y="413346"/>
                  </a:lnTo>
                  <a:lnTo>
                    <a:pt x="846010" y="413346"/>
                  </a:lnTo>
                  <a:lnTo>
                    <a:pt x="852275" y="443358"/>
                  </a:lnTo>
                  <a:lnTo>
                    <a:pt x="833620" y="471855"/>
                  </a:lnTo>
                  <a:close/>
                </a:path>
                <a:path w="918209" h="695960">
                  <a:moveTo>
                    <a:pt x="852275" y="443358"/>
                  </a:moveTo>
                  <a:lnTo>
                    <a:pt x="846010" y="413346"/>
                  </a:lnTo>
                  <a:lnTo>
                    <a:pt x="869060" y="417715"/>
                  </a:lnTo>
                  <a:lnTo>
                    <a:pt x="852275" y="443358"/>
                  </a:lnTo>
                  <a:close/>
                </a:path>
                <a:path w="918209" h="695960">
                  <a:moveTo>
                    <a:pt x="890431" y="626138"/>
                  </a:moveTo>
                  <a:lnTo>
                    <a:pt x="852275" y="443358"/>
                  </a:lnTo>
                  <a:lnTo>
                    <a:pt x="869060" y="417715"/>
                  </a:lnTo>
                  <a:lnTo>
                    <a:pt x="846010" y="413346"/>
                  </a:lnTo>
                  <a:lnTo>
                    <a:pt x="871946" y="413346"/>
                  </a:lnTo>
                  <a:lnTo>
                    <a:pt x="915825" y="623544"/>
                  </a:lnTo>
                  <a:lnTo>
                    <a:pt x="902855" y="623544"/>
                  </a:lnTo>
                  <a:lnTo>
                    <a:pt x="890431" y="626138"/>
                  </a:lnTo>
                  <a:close/>
                </a:path>
                <a:path w="918209" h="695960">
                  <a:moveTo>
                    <a:pt x="803262" y="471855"/>
                  </a:moveTo>
                  <a:lnTo>
                    <a:pt x="810216" y="461232"/>
                  </a:lnTo>
                  <a:lnTo>
                    <a:pt x="820839" y="468185"/>
                  </a:lnTo>
                  <a:lnTo>
                    <a:pt x="803262" y="471855"/>
                  </a:lnTo>
                  <a:close/>
                </a:path>
                <a:path w="918209" h="695960">
                  <a:moveTo>
                    <a:pt x="717829" y="625563"/>
                  </a:moveTo>
                  <a:lnTo>
                    <a:pt x="707205" y="618609"/>
                  </a:lnTo>
                  <a:lnTo>
                    <a:pt x="714159" y="607987"/>
                  </a:lnTo>
                  <a:lnTo>
                    <a:pt x="717829" y="625563"/>
                  </a:lnTo>
                  <a:close/>
                </a:path>
                <a:path w="918209" h="695960">
                  <a:moveTo>
                    <a:pt x="733003" y="625563"/>
                  </a:moveTo>
                  <a:lnTo>
                    <a:pt x="717829" y="625563"/>
                  </a:lnTo>
                  <a:lnTo>
                    <a:pt x="714159" y="607987"/>
                  </a:lnTo>
                  <a:lnTo>
                    <a:pt x="735390" y="607987"/>
                  </a:lnTo>
                  <a:lnTo>
                    <a:pt x="736473" y="609968"/>
                  </a:lnTo>
                  <a:lnTo>
                    <a:pt x="737209" y="612343"/>
                  </a:lnTo>
                  <a:lnTo>
                    <a:pt x="737476" y="614819"/>
                  </a:lnTo>
                  <a:lnTo>
                    <a:pt x="737260" y="617296"/>
                  </a:lnTo>
                  <a:lnTo>
                    <a:pt x="736561" y="619683"/>
                  </a:lnTo>
                  <a:lnTo>
                    <a:pt x="735406" y="621893"/>
                  </a:lnTo>
                  <a:lnTo>
                    <a:pt x="733003" y="625563"/>
                  </a:lnTo>
                  <a:close/>
                </a:path>
                <a:path w="918209" h="695960">
                  <a:moveTo>
                    <a:pt x="680123" y="695693"/>
                  </a:moveTo>
                  <a:lnTo>
                    <a:pt x="667550" y="683793"/>
                  </a:lnTo>
                  <a:lnTo>
                    <a:pt x="667677" y="681088"/>
                  </a:lnTo>
                  <a:lnTo>
                    <a:pt x="668362" y="678459"/>
                  </a:lnTo>
                  <a:lnTo>
                    <a:pt x="669607" y="676046"/>
                  </a:lnTo>
                  <a:lnTo>
                    <a:pt x="707205" y="618609"/>
                  </a:lnTo>
                  <a:lnTo>
                    <a:pt x="717829" y="625563"/>
                  </a:lnTo>
                  <a:lnTo>
                    <a:pt x="733003" y="625563"/>
                  </a:lnTo>
                  <a:lnTo>
                    <a:pt x="707650" y="664293"/>
                  </a:lnTo>
                  <a:lnTo>
                    <a:pt x="677633" y="670560"/>
                  </a:lnTo>
                  <a:lnTo>
                    <a:pt x="690854" y="689952"/>
                  </a:lnTo>
                  <a:lnTo>
                    <a:pt x="709049" y="689952"/>
                  </a:lnTo>
                  <a:lnTo>
                    <a:pt x="683010" y="695388"/>
                  </a:lnTo>
                  <a:lnTo>
                    <a:pt x="683214" y="695388"/>
                  </a:lnTo>
                  <a:lnTo>
                    <a:pt x="680123" y="695693"/>
                  </a:lnTo>
                  <a:close/>
                </a:path>
                <a:path w="918209" h="695960">
                  <a:moveTo>
                    <a:pt x="893025" y="638568"/>
                  </a:moveTo>
                  <a:lnTo>
                    <a:pt x="890431" y="626138"/>
                  </a:lnTo>
                  <a:lnTo>
                    <a:pt x="902855" y="623544"/>
                  </a:lnTo>
                  <a:lnTo>
                    <a:pt x="893025" y="638568"/>
                  </a:lnTo>
                  <a:close/>
                </a:path>
                <a:path w="918209" h="695960">
                  <a:moveTo>
                    <a:pt x="917863" y="638568"/>
                  </a:moveTo>
                  <a:lnTo>
                    <a:pt x="893025" y="638568"/>
                  </a:lnTo>
                  <a:lnTo>
                    <a:pt x="902855" y="623544"/>
                  </a:lnTo>
                  <a:lnTo>
                    <a:pt x="915825" y="623544"/>
                  </a:lnTo>
                  <a:lnTo>
                    <a:pt x="917879" y="633387"/>
                  </a:lnTo>
                  <a:lnTo>
                    <a:pt x="918159" y="635863"/>
                  </a:lnTo>
                  <a:lnTo>
                    <a:pt x="917930" y="638340"/>
                  </a:lnTo>
                  <a:lnTo>
                    <a:pt x="917863" y="638568"/>
                  </a:lnTo>
                  <a:close/>
                </a:path>
                <a:path w="918209" h="695960">
                  <a:moveTo>
                    <a:pt x="709049" y="689952"/>
                  </a:moveTo>
                  <a:lnTo>
                    <a:pt x="690854" y="689952"/>
                  </a:lnTo>
                  <a:lnTo>
                    <a:pt x="707650" y="664293"/>
                  </a:lnTo>
                  <a:lnTo>
                    <a:pt x="890431" y="626138"/>
                  </a:lnTo>
                  <a:lnTo>
                    <a:pt x="892978" y="638340"/>
                  </a:lnTo>
                  <a:lnTo>
                    <a:pt x="893025" y="638568"/>
                  </a:lnTo>
                  <a:lnTo>
                    <a:pt x="917863" y="638568"/>
                  </a:lnTo>
                  <a:lnTo>
                    <a:pt x="917232" y="640727"/>
                  </a:lnTo>
                  <a:lnTo>
                    <a:pt x="908050" y="648411"/>
                  </a:lnTo>
                  <a:lnTo>
                    <a:pt x="709049" y="689952"/>
                  </a:lnTo>
                  <a:close/>
                </a:path>
                <a:path w="918209" h="695960">
                  <a:moveTo>
                    <a:pt x="690854" y="689952"/>
                  </a:moveTo>
                  <a:lnTo>
                    <a:pt x="677633" y="670560"/>
                  </a:lnTo>
                  <a:lnTo>
                    <a:pt x="707650" y="664293"/>
                  </a:lnTo>
                  <a:lnTo>
                    <a:pt x="690854" y="689952"/>
                  </a:lnTo>
                  <a:close/>
                </a:path>
              </a:pathLst>
            </a:custGeom>
            <a:solidFill>
              <a:srgbClr val="88A3A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8898" y="4799314"/>
            <a:ext cx="4060508" cy="11645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可以设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970" spc="585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7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pc="-50" dirty="0">
                <a:latin typeface="Cambria Math" panose="02040503050406030204"/>
                <a:cs typeface="Cambria Math" panose="02040503050406030204"/>
              </a:rPr>
              <a:t>1</a:t>
            </a:r>
            <a:endParaRPr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</a:pPr>
            <a:r>
              <a:rPr dirty="0">
                <a:latin typeface="微软雅黑" panose="020B0503020204020204" charset="-122"/>
                <a:cs typeface="微软雅黑" panose="020B0503020204020204" charset="-122"/>
              </a:rPr>
              <a:t>则：</a:t>
            </a:r>
            <a:r>
              <a:rPr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27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700" spc="135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pc="8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970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2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970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2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970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970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pc="-30" dirty="0">
                <a:latin typeface="Cambria Math" panose="02040503050406030204"/>
                <a:cs typeface="Cambria Math" panose="02040503050406030204"/>
              </a:rPr>
              <a:t>+ . . . +</a:t>
            </a:r>
            <a:endParaRPr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pc="8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970" spc="120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pc="8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970" spc="120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pc="80" dirty="0">
                <a:latin typeface="Cambria Math" panose="02040503050406030204"/>
                <a:cs typeface="Cambria Math" panose="02040503050406030204"/>
              </a:rPr>
              <a:t>=𝑤</a:t>
            </a:r>
            <a:r>
              <a:rPr sz="1970" spc="120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pc="80" dirty="0">
                <a:latin typeface="Cambria Math" panose="02040503050406030204"/>
                <a:cs typeface="Cambria Math" panose="02040503050406030204"/>
              </a:rPr>
              <a:t>X</a:t>
            </a:r>
            <a:endParaRPr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sz="900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注意：若表达式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ℎ</a:t>
            </a:r>
            <a:r>
              <a:rPr sz="135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350" spc="6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 </a:t>
            </a:r>
            <a:r>
              <a:rPr sz="9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95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95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955" spc="20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. . . +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95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95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900" spc="15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， 则</a:t>
            </a:r>
            <a:r>
              <a:rPr sz="9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9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可以融入到</a:t>
            </a:r>
            <a:r>
              <a:rPr sz="9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955" spc="-3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955" baseline="-16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23085" y="4252846"/>
            <a:ext cx="1926431" cy="561023"/>
            <a:chOff x="6697446" y="4527461"/>
            <a:chExt cx="2568575" cy="748030"/>
          </a:xfrm>
        </p:grpSpPr>
        <p:sp>
          <p:nvSpPr>
            <p:cNvPr id="10" name="object 10"/>
            <p:cNvSpPr/>
            <p:nvPr/>
          </p:nvSpPr>
          <p:spPr>
            <a:xfrm>
              <a:off x="6710171" y="4539996"/>
              <a:ext cx="2543810" cy="723900"/>
            </a:xfrm>
            <a:custGeom>
              <a:avLst/>
              <a:gdLst/>
              <a:ahLst/>
              <a:cxnLst/>
              <a:rect l="l" t="t" r="r" b="b"/>
              <a:pathLst>
                <a:path w="2543809" h="723900">
                  <a:moveTo>
                    <a:pt x="2423159" y="723900"/>
                  </a:moveTo>
                  <a:lnTo>
                    <a:pt x="120396" y="723900"/>
                  </a:lnTo>
                  <a:lnTo>
                    <a:pt x="73548" y="714199"/>
                  </a:lnTo>
                  <a:lnTo>
                    <a:pt x="35271" y="688305"/>
                  </a:lnTo>
                  <a:lnTo>
                    <a:pt x="9457" y="650108"/>
                  </a:lnTo>
                  <a:lnTo>
                    <a:pt x="0" y="603503"/>
                  </a:lnTo>
                  <a:lnTo>
                    <a:pt x="0" y="120395"/>
                  </a:lnTo>
                  <a:lnTo>
                    <a:pt x="9457" y="73648"/>
                  </a:lnTo>
                  <a:lnTo>
                    <a:pt x="35271" y="35404"/>
                  </a:lnTo>
                  <a:lnTo>
                    <a:pt x="73548" y="9557"/>
                  </a:lnTo>
                  <a:lnTo>
                    <a:pt x="120396" y="0"/>
                  </a:lnTo>
                  <a:lnTo>
                    <a:pt x="2423159" y="0"/>
                  </a:lnTo>
                  <a:lnTo>
                    <a:pt x="2469686" y="9557"/>
                  </a:lnTo>
                  <a:lnTo>
                    <a:pt x="2507856" y="35404"/>
                  </a:lnTo>
                  <a:lnTo>
                    <a:pt x="2533777" y="73648"/>
                  </a:lnTo>
                  <a:lnTo>
                    <a:pt x="2543555" y="120395"/>
                  </a:lnTo>
                  <a:lnTo>
                    <a:pt x="2543555" y="603503"/>
                  </a:lnTo>
                  <a:lnTo>
                    <a:pt x="2533777" y="650108"/>
                  </a:lnTo>
                  <a:lnTo>
                    <a:pt x="2507856" y="688305"/>
                  </a:lnTo>
                  <a:lnTo>
                    <a:pt x="2469686" y="714199"/>
                  </a:lnTo>
                  <a:lnTo>
                    <a:pt x="2423159" y="723900"/>
                  </a:lnTo>
                  <a:close/>
                </a:path>
              </a:pathLst>
            </a:custGeom>
            <a:solidFill>
              <a:srgbClr val="2C2C8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7446" y="4527461"/>
              <a:ext cx="2568575" cy="748030"/>
            </a:xfrm>
            <a:custGeom>
              <a:avLst/>
              <a:gdLst/>
              <a:ahLst/>
              <a:cxnLst/>
              <a:rect l="l" t="t" r="r" b="b"/>
              <a:pathLst>
                <a:path w="2568575" h="748029">
                  <a:moveTo>
                    <a:pt x="2461704" y="2539"/>
                  </a:moveTo>
                  <a:lnTo>
                    <a:pt x="106730" y="2539"/>
                  </a:lnTo>
                  <a:lnTo>
                    <a:pt x="112661" y="1270"/>
                  </a:lnTo>
                  <a:lnTo>
                    <a:pt x="119329" y="0"/>
                  </a:lnTo>
                  <a:lnTo>
                    <a:pt x="2449106" y="0"/>
                  </a:lnTo>
                  <a:lnTo>
                    <a:pt x="2455138" y="1270"/>
                  </a:lnTo>
                  <a:lnTo>
                    <a:pt x="2455760" y="1270"/>
                  </a:lnTo>
                  <a:lnTo>
                    <a:pt x="2461704" y="2539"/>
                  </a:lnTo>
                  <a:close/>
                </a:path>
                <a:path w="2568575" h="748029">
                  <a:moveTo>
                    <a:pt x="2486761" y="10160"/>
                  </a:moveTo>
                  <a:lnTo>
                    <a:pt x="81673" y="10160"/>
                  </a:lnTo>
                  <a:lnTo>
                    <a:pt x="87731" y="7620"/>
                  </a:lnTo>
                  <a:lnTo>
                    <a:pt x="93332" y="5079"/>
                  </a:lnTo>
                  <a:lnTo>
                    <a:pt x="93941" y="5079"/>
                  </a:lnTo>
                  <a:lnTo>
                    <a:pt x="99656" y="3810"/>
                  </a:lnTo>
                  <a:lnTo>
                    <a:pt x="106108" y="2539"/>
                  </a:lnTo>
                  <a:lnTo>
                    <a:pt x="2462326" y="2539"/>
                  </a:lnTo>
                  <a:lnTo>
                    <a:pt x="2468778" y="3810"/>
                  </a:lnTo>
                  <a:lnTo>
                    <a:pt x="2474493" y="5079"/>
                  </a:lnTo>
                  <a:lnTo>
                    <a:pt x="2480691" y="7620"/>
                  </a:lnTo>
                  <a:lnTo>
                    <a:pt x="2481287" y="7620"/>
                  </a:lnTo>
                  <a:lnTo>
                    <a:pt x="2486761" y="10160"/>
                  </a:lnTo>
                  <a:close/>
                </a:path>
                <a:path w="2568575" h="748029">
                  <a:moveTo>
                    <a:pt x="38557" y="666750"/>
                  </a:moveTo>
                  <a:lnTo>
                    <a:pt x="10363" y="666750"/>
                  </a:lnTo>
                  <a:lnTo>
                    <a:pt x="8204" y="660400"/>
                  </a:lnTo>
                  <a:lnTo>
                    <a:pt x="5905" y="654050"/>
                  </a:lnTo>
                  <a:lnTo>
                    <a:pt x="4114" y="647700"/>
                  </a:lnTo>
                  <a:lnTo>
                    <a:pt x="2768" y="642620"/>
                  </a:lnTo>
                  <a:lnTo>
                    <a:pt x="2641" y="641350"/>
                  </a:lnTo>
                  <a:lnTo>
                    <a:pt x="1485" y="635000"/>
                  </a:lnTo>
                  <a:lnTo>
                    <a:pt x="723" y="628650"/>
                  </a:lnTo>
                  <a:lnTo>
                    <a:pt x="190" y="622300"/>
                  </a:lnTo>
                  <a:lnTo>
                    <a:pt x="124" y="619654"/>
                  </a:lnTo>
                  <a:lnTo>
                    <a:pt x="0" y="132079"/>
                  </a:lnTo>
                  <a:lnTo>
                    <a:pt x="132" y="127000"/>
                  </a:lnTo>
                  <a:lnTo>
                    <a:pt x="165" y="125729"/>
                  </a:lnTo>
                  <a:lnTo>
                    <a:pt x="437" y="122241"/>
                  </a:lnTo>
                  <a:lnTo>
                    <a:pt x="560" y="120660"/>
                  </a:lnTo>
                  <a:lnTo>
                    <a:pt x="660" y="119379"/>
                  </a:lnTo>
                  <a:lnTo>
                    <a:pt x="740" y="117999"/>
                  </a:lnTo>
                  <a:lnTo>
                    <a:pt x="1403" y="113582"/>
                  </a:lnTo>
                  <a:lnTo>
                    <a:pt x="1485" y="113029"/>
                  </a:lnTo>
                  <a:lnTo>
                    <a:pt x="2641" y="106679"/>
                  </a:lnTo>
                  <a:lnTo>
                    <a:pt x="2768" y="105410"/>
                  </a:lnTo>
                  <a:lnTo>
                    <a:pt x="4114" y="99060"/>
                  </a:lnTo>
                  <a:lnTo>
                    <a:pt x="5905" y="92710"/>
                  </a:lnTo>
                  <a:lnTo>
                    <a:pt x="7988" y="87629"/>
                  </a:lnTo>
                  <a:lnTo>
                    <a:pt x="8204" y="86360"/>
                  </a:lnTo>
                  <a:lnTo>
                    <a:pt x="10363" y="81279"/>
                  </a:lnTo>
                  <a:lnTo>
                    <a:pt x="10604" y="80010"/>
                  </a:lnTo>
                  <a:lnTo>
                    <a:pt x="13284" y="74929"/>
                  </a:lnTo>
                  <a:lnTo>
                    <a:pt x="16243" y="68579"/>
                  </a:lnTo>
                  <a:lnTo>
                    <a:pt x="19138" y="63500"/>
                  </a:lnTo>
                  <a:lnTo>
                    <a:pt x="22593" y="58420"/>
                  </a:lnTo>
                  <a:lnTo>
                    <a:pt x="22936" y="58420"/>
                  </a:lnTo>
                  <a:lnTo>
                    <a:pt x="26301" y="53339"/>
                  </a:lnTo>
                  <a:lnTo>
                    <a:pt x="30238" y="48260"/>
                  </a:lnTo>
                  <a:lnTo>
                    <a:pt x="34823" y="43179"/>
                  </a:lnTo>
                  <a:lnTo>
                    <a:pt x="39243" y="38100"/>
                  </a:lnTo>
                  <a:lnTo>
                    <a:pt x="43878" y="34289"/>
                  </a:lnTo>
                  <a:lnTo>
                    <a:pt x="48260" y="30479"/>
                  </a:lnTo>
                  <a:lnTo>
                    <a:pt x="53276" y="25400"/>
                  </a:lnTo>
                  <a:lnTo>
                    <a:pt x="58496" y="22860"/>
                  </a:lnTo>
                  <a:lnTo>
                    <a:pt x="59004" y="21589"/>
                  </a:lnTo>
                  <a:lnTo>
                    <a:pt x="64414" y="19050"/>
                  </a:lnTo>
                  <a:lnTo>
                    <a:pt x="69456" y="15239"/>
                  </a:lnTo>
                  <a:lnTo>
                    <a:pt x="75196" y="12700"/>
                  </a:lnTo>
                  <a:lnTo>
                    <a:pt x="81102" y="10160"/>
                  </a:lnTo>
                  <a:lnTo>
                    <a:pt x="2487333" y="10160"/>
                  </a:lnTo>
                  <a:lnTo>
                    <a:pt x="2493225" y="12700"/>
                  </a:lnTo>
                  <a:lnTo>
                    <a:pt x="2498432" y="15239"/>
                  </a:lnTo>
                  <a:lnTo>
                    <a:pt x="2504020" y="19050"/>
                  </a:lnTo>
                  <a:lnTo>
                    <a:pt x="2509431" y="21589"/>
                  </a:lnTo>
                  <a:lnTo>
                    <a:pt x="2509939" y="22860"/>
                  </a:lnTo>
                  <a:lnTo>
                    <a:pt x="2512548" y="24129"/>
                  </a:lnTo>
                  <a:lnTo>
                    <a:pt x="133578" y="24129"/>
                  </a:lnTo>
                  <a:lnTo>
                    <a:pt x="127381" y="25400"/>
                  </a:lnTo>
                  <a:lnTo>
                    <a:pt x="117132" y="25400"/>
                  </a:lnTo>
                  <a:lnTo>
                    <a:pt x="111188" y="26670"/>
                  </a:lnTo>
                  <a:lnTo>
                    <a:pt x="111810" y="26670"/>
                  </a:lnTo>
                  <a:lnTo>
                    <a:pt x="105981" y="27939"/>
                  </a:lnTo>
                  <a:lnTo>
                    <a:pt x="106591" y="27939"/>
                  </a:lnTo>
                  <a:lnTo>
                    <a:pt x="101444" y="29083"/>
                  </a:lnTo>
                  <a:lnTo>
                    <a:pt x="101751" y="29083"/>
                  </a:lnTo>
                  <a:lnTo>
                    <a:pt x="95872" y="31750"/>
                  </a:lnTo>
                  <a:lnTo>
                    <a:pt x="96469" y="31750"/>
                  </a:lnTo>
                  <a:lnTo>
                    <a:pt x="91537" y="32894"/>
                  </a:lnTo>
                  <a:lnTo>
                    <a:pt x="91831" y="32894"/>
                  </a:lnTo>
                  <a:lnTo>
                    <a:pt x="86220" y="35560"/>
                  </a:lnTo>
                  <a:lnTo>
                    <a:pt x="86779" y="35560"/>
                  </a:lnTo>
                  <a:lnTo>
                    <a:pt x="81584" y="38100"/>
                  </a:lnTo>
                  <a:lnTo>
                    <a:pt x="82118" y="38100"/>
                  </a:lnTo>
                  <a:lnTo>
                    <a:pt x="77076" y="40639"/>
                  </a:lnTo>
                  <a:lnTo>
                    <a:pt x="77597" y="40639"/>
                  </a:lnTo>
                  <a:lnTo>
                    <a:pt x="72707" y="43179"/>
                  </a:lnTo>
                  <a:lnTo>
                    <a:pt x="73215" y="43179"/>
                  </a:lnTo>
                  <a:lnTo>
                    <a:pt x="68491" y="45720"/>
                  </a:lnTo>
                  <a:lnTo>
                    <a:pt x="68973" y="45720"/>
                  </a:lnTo>
                  <a:lnTo>
                    <a:pt x="64414" y="49529"/>
                  </a:lnTo>
                  <a:lnTo>
                    <a:pt x="64884" y="49529"/>
                  </a:lnTo>
                  <a:lnTo>
                    <a:pt x="61971" y="52070"/>
                  </a:lnTo>
                  <a:lnTo>
                    <a:pt x="60960" y="52070"/>
                  </a:lnTo>
                  <a:lnTo>
                    <a:pt x="57816" y="55879"/>
                  </a:lnTo>
                  <a:lnTo>
                    <a:pt x="57200" y="55879"/>
                  </a:lnTo>
                  <a:lnTo>
                    <a:pt x="54209" y="59689"/>
                  </a:lnTo>
                  <a:lnTo>
                    <a:pt x="53619" y="59689"/>
                  </a:lnTo>
                  <a:lnTo>
                    <a:pt x="50771" y="63500"/>
                  </a:lnTo>
                  <a:lnTo>
                    <a:pt x="50215" y="63500"/>
                  </a:lnTo>
                  <a:lnTo>
                    <a:pt x="47529" y="67310"/>
                  </a:lnTo>
                  <a:lnTo>
                    <a:pt x="47002" y="67310"/>
                  </a:lnTo>
                  <a:lnTo>
                    <a:pt x="43637" y="72389"/>
                  </a:lnTo>
                  <a:lnTo>
                    <a:pt x="43980" y="72389"/>
                  </a:lnTo>
                  <a:lnTo>
                    <a:pt x="41627" y="76200"/>
                  </a:lnTo>
                  <a:lnTo>
                    <a:pt x="41160" y="76200"/>
                  </a:lnTo>
                  <a:lnTo>
                    <a:pt x="38265" y="81279"/>
                  </a:lnTo>
                  <a:lnTo>
                    <a:pt x="38557" y="81279"/>
                  </a:lnTo>
                  <a:lnTo>
                    <a:pt x="36556" y="85089"/>
                  </a:lnTo>
                  <a:lnTo>
                    <a:pt x="36156" y="85089"/>
                  </a:lnTo>
                  <a:lnTo>
                    <a:pt x="34226" y="90170"/>
                  </a:lnTo>
                  <a:lnTo>
                    <a:pt x="33985" y="90170"/>
                  </a:lnTo>
                  <a:lnTo>
                    <a:pt x="31826" y="95250"/>
                  </a:lnTo>
                  <a:lnTo>
                    <a:pt x="32042" y="95250"/>
                  </a:lnTo>
                  <a:lnTo>
                    <a:pt x="30149" y="100329"/>
                  </a:lnTo>
                  <a:lnTo>
                    <a:pt x="30340" y="100329"/>
                  </a:lnTo>
                  <a:lnTo>
                    <a:pt x="28714" y="105410"/>
                  </a:lnTo>
                  <a:lnTo>
                    <a:pt x="28867" y="105410"/>
                  </a:lnTo>
                  <a:lnTo>
                    <a:pt x="27790" y="110489"/>
                  </a:lnTo>
                  <a:lnTo>
                    <a:pt x="27647" y="110489"/>
                  </a:lnTo>
                  <a:lnTo>
                    <a:pt x="26391" y="117999"/>
                  </a:lnTo>
                  <a:lnTo>
                    <a:pt x="25915" y="121917"/>
                  </a:lnTo>
                  <a:lnTo>
                    <a:pt x="25875" y="122241"/>
                  </a:lnTo>
                  <a:lnTo>
                    <a:pt x="25638" y="125729"/>
                  </a:lnTo>
                  <a:lnTo>
                    <a:pt x="25676" y="622300"/>
                  </a:lnTo>
                  <a:lnTo>
                    <a:pt x="28867" y="642620"/>
                  </a:lnTo>
                  <a:lnTo>
                    <a:pt x="29039" y="642620"/>
                  </a:lnTo>
                  <a:lnTo>
                    <a:pt x="30340" y="647700"/>
                  </a:lnTo>
                  <a:lnTo>
                    <a:pt x="30528" y="647700"/>
                  </a:lnTo>
                  <a:lnTo>
                    <a:pt x="32042" y="652779"/>
                  </a:lnTo>
                  <a:lnTo>
                    <a:pt x="32365" y="652779"/>
                  </a:lnTo>
                  <a:lnTo>
                    <a:pt x="33985" y="656589"/>
                  </a:lnTo>
                  <a:lnTo>
                    <a:pt x="33743" y="656589"/>
                  </a:lnTo>
                  <a:lnTo>
                    <a:pt x="36156" y="661670"/>
                  </a:lnTo>
                  <a:lnTo>
                    <a:pt x="35890" y="661670"/>
                  </a:lnTo>
                  <a:lnTo>
                    <a:pt x="38557" y="666750"/>
                  </a:lnTo>
                  <a:close/>
                </a:path>
                <a:path w="2568575" h="748029">
                  <a:moveTo>
                    <a:pt x="2523233" y="32894"/>
                  </a:moveTo>
                  <a:lnTo>
                    <a:pt x="2476897" y="32894"/>
                  </a:lnTo>
                  <a:lnTo>
                    <a:pt x="2471966" y="31750"/>
                  </a:lnTo>
                  <a:lnTo>
                    <a:pt x="2472550" y="31750"/>
                  </a:lnTo>
                  <a:lnTo>
                    <a:pt x="2466670" y="29083"/>
                  </a:lnTo>
                  <a:lnTo>
                    <a:pt x="2466989" y="29083"/>
                  </a:lnTo>
                  <a:lnTo>
                    <a:pt x="2461831" y="27939"/>
                  </a:lnTo>
                  <a:lnTo>
                    <a:pt x="2462453" y="27939"/>
                  </a:lnTo>
                  <a:lnTo>
                    <a:pt x="2456611" y="26670"/>
                  </a:lnTo>
                  <a:lnTo>
                    <a:pt x="2457234" y="26670"/>
                  </a:lnTo>
                  <a:lnTo>
                    <a:pt x="2451303" y="25400"/>
                  </a:lnTo>
                  <a:lnTo>
                    <a:pt x="2441054" y="25400"/>
                  </a:lnTo>
                  <a:lnTo>
                    <a:pt x="2434856" y="24129"/>
                  </a:lnTo>
                  <a:lnTo>
                    <a:pt x="2512548" y="24129"/>
                  </a:lnTo>
                  <a:lnTo>
                    <a:pt x="2515158" y="25400"/>
                  </a:lnTo>
                  <a:lnTo>
                    <a:pt x="2520175" y="30479"/>
                  </a:lnTo>
                  <a:lnTo>
                    <a:pt x="2523233" y="32894"/>
                  </a:lnTo>
                  <a:close/>
                </a:path>
                <a:path w="2568575" h="748029">
                  <a:moveTo>
                    <a:pt x="116497" y="26670"/>
                  </a:moveTo>
                  <a:lnTo>
                    <a:pt x="117132" y="25400"/>
                  </a:lnTo>
                  <a:lnTo>
                    <a:pt x="122529" y="25400"/>
                  </a:lnTo>
                  <a:lnTo>
                    <a:pt x="116497" y="26670"/>
                  </a:lnTo>
                  <a:close/>
                </a:path>
                <a:path w="2568575" h="748029">
                  <a:moveTo>
                    <a:pt x="2451938" y="26670"/>
                  </a:moveTo>
                  <a:lnTo>
                    <a:pt x="2445905" y="25400"/>
                  </a:lnTo>
                  <a:lnTo>
                    <a:pt x="2451303" y="25400"/>
                  </a:lnTo>
                  <a:lnTo>
                    <a:pt x="2451938" y="26670"/>
                  </a:lnTo>
                  <a:close/>
                </a:path>
                <a:path w="2568575" h="748029">
                  <a:moveTo>
                    <a:pt x="101751" y="29083"/>
                  </a:moveTo>
                  <a:lnTo>
                    <a:pt x="101444" y="29083"/>
                  </a:lnTo>
                  <a:lnTo>
                    <a:pt x="102046" y="28949"/>
                  </a:lnTo>
                  <a:lnTo>
                    <a:pt x="101751" y="29083"/>
                  </a:lnTo>
                  <a:close/>
                </a:path>
                <a:path w="2568575" h="748029">
                  <a:moveTo>
                    <a:pt x="91831" y="32894"/>
                  </a:moveTo>
                  <a:lnTo>
                    <a:pt x="91537" y="32894"/>
                  </a:lnTo>
                  <a:lnTo>
                    <a:pt x="92112" y="32760"/>
                  </a:lnTo>
                  <a:lnTo>
                    <a:pt x="91831" y="32894"/>
                  </a:lnTo>
                  <a:close/>
                </a:path>
                <a:path w="2568575" h="748029">
                  <a:moveTo>
                    <a:pt x="2529179" y="38100"/>
                  </a:moveTo>
                  <a:lnTo>
                    <a:pt x="2486850" y="38100"/>
                  </a:lnTo>
                  <a:lnTo>
                    <a:pt x="2481656" y="35560"/>
                  </a:lnTo>
                  <a:lnTo>
                    <a:pt x="2482215" y="35560"/>
                  </a:lnTo>
                  <a:lnTo>
                    <a:pt x="2476322" y="32760"/>
                  </a:lnTo>
                  <a:lnTo>
                    <a:pt x="2476897" y="32894"/>
                  </a:lnTo>
                  <a:lnTo>
                    <a:pt x="2523233" y="32894"/>
                  </a:lnTo>
                  <a:lnTo>
                    <a:pt x="2525001" y="34289"/>
                  </a:lnTo>
                  <a:lnTo>
                    <a:pt x="2529179" y="38100"/>
                  </a:lnTo>
                  <a:close/>
                </a:path>
                <a:path w="2568575" h="748029">
                  <a:moveTo>
                    <a:pt x="2507919" y="53339"/>
                  </a:moveTo>
                  <a:lnTo>
                    <a:pt x="2503551" y="49529"/>
                  </a:lnTo>
                  <a:lnTo>
                    <a:pt x="2504008" y="49529"/>
                  </a:lnTo>
                  <a:lnTo>
                    <a:pt x="2499461" y="45720"/>
                  </a:lnTo>
                  <a:lnTo>
                    <a:pt x="2499944" y="45720"/>
                  </a:lnTo>
                  <a:lnTo>
                    <a:pt x="2495219" y="43179"/>
                  </a:lnTo>
                  <a:lnTo>
                    <a:pt x="2495727" y="43179"/>
                  </a:lnTo>
                  <a:lnTo>
                    <a:pt x="2490838" y="40639"/>
                  </a:lnTo>
                  <a:lnTo>
                    <a:pt x="2491359" y="40639"/>
                  </a:lnTo>
                  <a:lnTo>
                    <a:pt x="2486304" y="38100"/>
                  </a:lnTo>
                  <a:lnTo>
                    <a:pt x="2529611" y="38100"/>
                  </a:lnTo>
                  <a:lnTo>
                    <a:pt x="2534018" y="43179"/>
                  </a:lnTo>
                  <a:lnTo>
                    <a:pt x="2537802" y="46989"/>
                  </a:lnTo>
                  <a:lnTo>
                    <a:pt x="2541267" y="52070"/>
                  </a:lnTo>
                  <a:lnTo>
                    <a:pt x="2507475" y="52070"/>
                  </a:lnTo>
                  <a:lnTo>
                    <a:pt x="2507919" y="53339"/>
                  </a:lnTo>
                  <a:close/>
                </a:path>
                <a:path w="2568575" h="748029">
                  <a:moveTo>
                    <a:pt x="60515" y="53339"/>
                  </a:moveTo>
                  <a:lnTo>
                    <a:pt x="60960" y="52070"/>
                  </a:lnTo>
                  <a:lnTo>
                    <a:pt x="61971" y="52070"/>
                  </a:lnTo>
                  <a:lnTo>
                    <a:pt x="60515" y="53339"/>
                  </a:lnTo>
                  <a:close/>
                </a:path>
                <a:path w="2568575" h="748029">
                  <a:moveTo>
                    <a:pt x="2511653" y="57150"/>
                  </a:moveTo>
                  <a:lnTo>
                    <a:pt x="2507475" y="52070"/>
                  </a:lnTo>
                  <a:lnTo>
                    <a:pt x="2541267" y="52070"/>
                  </a:lnTo>
                  <a:lnTo>
                    <a:pt x="2542133" y="53339"/>
                  </a:lnTo>
                  <a:lnTo>
                    <a:pt x="2543816" y="55879"/>
                  </a:lnTo>
                  <a:lnTo>
                    <a:pt x="2511234" y="55879"/>
                  </a:lnTo>
                  <a:lnTo>
                    <a:pt x="2511653" y="57150"/>
                  </a:lnTo>
                  <a:close/>
                </a:path>
                <a:path w="2568575" h="748029">
                  <a:moveTo>
                    <a:pt x="56769" y="57150"/>
                  </a:moveTo>
                  <a:lnTo>
                    <a:pt x="57200" y="55879"/>
                  </a:lnTo>
                  <a:lnTo>
                    <a:pt x="57816" y="55879"/>
                  </a:lnTo>
                  <a:lnTo>
                    <a:pt x="56769" y="57150"/>
                  </a:lnTo>
                  <a:close/>
                </a:path>
                <a:path w="2568575" h="748029">
                  <a:moveTo>
                    <a:pt x="2515222" y="60960"/>
                  </a:moveTo>
                  <a:lnTo>
                    <a:pt x="2511234" y="55879"/>
                  </a:lnTo>
                  <a:lnTo>
                    <a:pt x="2543816" y="55879"/>
                  </a:lnTo>
                  <a:lnTo>
                    <a:pt x="2545499" y="58420"/>
                  </a:lnTo>
                  <a:lnTo>
                    <a:pt x="2546365" y="59689"/>
                  </a:lnTo>
                  <a:lnTo>
                    <a:pt x="2514815" y="59689"/>
                  </a:lnTo>
                  <a:lnTo>
                    <a:pt x="2515222" y="60960"/>
                  </a:lnTo>
                  <a:close/>
                </a:path>
                <a:path w="2568575" h="748029">
                  <a:moveTo>
                    <a:pt x="53213" y="60960"/>
                  </a:moveTo>
                  <a:lnTo>
                    <a:pt x="53619" y="59689"/>
                  </a:lnTo>
                  <a:lnTo>
                    <a:pt x="54209" y="59689"/>
                  </a:lnTo>
                  <a:lnTo>
                    <a:pt x="53213" y="60960"/>
                  </a:lnTo>
                  <a:close/>
                </a:path>
                <a:path w="2568575" h="748029">
                  <a:moveTo>
                    <a:pt x="2518600" y="64770"/>
                  </a:moveTo>
                  <a:lnTo>
                    <a:pt x="2514815" y="59689"/>
                  </a:lnTo>
                  <a:lnTo>
                    <a:pt x="2546365" y="59689"/>
                  </a:lnTo>
                  <a:lnTo>
                    <a:pt x="2548966" y="63500"/>
                  </a:lnTo>
                  <a:lnTo>
                    <a:pt x="2518219" y="63500"/>
                  </a:lnTo>
                  <a:lnTo>
                    <a:pt x="2518600" y="64770"/>
                  </a:lnTo>
                  <a:close/>
                </a:path>
                <a:path w="2568575" h="748029">
                  <a:moveTo>
                    <a:pt x="49822" y="64770"/>
                  </a:moveTo>
                  <a:lnTo>
                    <a:pt x="50215" y="63500"/>
                  </a:lnTo>
                  <a:lnTo>
                    <a:pt x="50771" y="63500"/>
                  </a:lnTo>
                  <a:lnTo>
                    <a:pt x="49822" y="64770"/>
                  </a:lnTo>
                  <a:close/>
                </a:path>
                <a:path w="2568575" h="748029">
                  <a:moveTo>
                    <a:pt x="2521800" y="68579"/>
                  </a:moveTo>
                  <a:lnTo>
                    <a:pt x="2518219" y="63500"/>
                  </a:lnTo>
                  <a:lnTo>
                    <a:pt x="2549283" y="63500"/>
                  </a:lnTo>
                  <a:lnTo>
                    <a:pt x="2551464" y="67310"/>
                  </a:lnTo>
                  <a:lnTo>
                    <a:pt x="2521432" y="67310"/>
                  </a:lnTo>
                  <a:lnTo>
                    <a:pt x="2521800" y="68579"/>
                  </a:lnTo>
                  <a:close/>
                </a:path>
                <a:path w="2568575" h="748029">
                  <a:moveTo>
                    <a:pt x="46634" y="68579"/>
                  </a:moveTo>
                  <a:lnTo>
                    <a:pt x="47002" y="67310"/>
                  </a:lnTo>
                  <a:lnTo>
                    <a:pt x="47529" y="67310"/>
                  </a:lnTo>
                  <a:lnTo>
                    <a:pt x="46634" y="68579"/>
                  </a:lnTo>
                  <a:close/>
                </a:path>
                <a:path w="2568575" h="748029">
                  <a:moveTo>
                    <a:pt x="2527592" y="77470"/>
                  </a:moveTo>
                  <a:lnTo>
                    <a:pt x="2524455" y="72389"/>
                  </a:lnTo>
                  <a:lnTo>
                    <a:pt x="2524798" y="72389"/>
                  </a:lnTo>
                  <a:lnTo>
                    <a:pt x="2521432" y="67310"/>
                  </a:lnTo>
                  <a:lnTo>
                    <a:pt x="2551464" y="67310"/>
                  </a:lnTo>
                  <a:lnTo>
                    <a:pt x="2552192" y="68579"/>
                  </a:lnTo>
                  <a:lnTo>
                    <a:pt x="2555151" y="74929"/>
                  </a:lnTo>
                  <a:lnTo>
                    <a:pt x="2555821" y="76200"/>
                  </a:lnTo>
                  <a:lnTo>
                    <a:pt x="2527274" y="76200"/>
                  </a:lnTo>
                  <a:lnTo>
                    <a:pt x="2527592" y="77470"/>
                  </a:lnTo>
                  <a:close/>
                </a:path>
                <a:path w="2568575" h="748029">
                  <a:moveTo>
                    <a:pt x="40843" y="77470"/>
                  </a:moveTo>
                  <a:lnTo>
                    <a:pt x="41160" y="76200"/>
                  </a:lnTo>
                  <a:lnTo>
                    <a:pt x="41627" y="76200"/>
                  </a:lnTo>
                  <a:lnTo>
                    <a:pt x="40843" y="77470"/>
                  </a:lnTo>
                  <a:close/>
                </a:path>
                <a:path w="2568575" h="748029">
                  <a:moveTo>
                    <a:pt x="2532545" y="86360"/>
                  </a:moveTo>
                  <a:lnTo>
                    <a:pt x="2529878" y="81279"/>
                  </a:lnTo>
                  <a:lnTo>
                    <a:pt x="2530170" y="81279"/>
                  </a:lnTo>
                  <a:lnTo>
                    <a:pt x="2527274" y="76200"/>
                  </a:lnTo>
                  <a:lnTo>
                    <a:pt x="2555821" y="76200"/>
                  </a:lnTo>
                  <a:lnTo>
                    <a:pt x="2557830" y="80010"/>
                  </a:lnTo>
                  <a:lnTo>
                    <a:pt x="2558072" y="81279"/>
                  </a:lnTo>
                  <a:lnTo>
                    <a:pt x="2559691" y="85089"/>
                  </a:lnTo>
                  <a:lnTo>
                    <a:pt x="2532278" y="85089"/>
                  </a:lnTo>
                  <a:lnTo>
                    <a:pt x="2532545" y="86360"/>
                  </a:lnTo>
                  <a:close/>
                </a:path>
                <a:path w="2568575" h="748029">
                  <a:moveTo>
                    <a:pt x="35890" y="86360"/>
                  </a:moveTo>
                  <a:lnTo>
                    <a:pt x="36156" y="85089"/>
                  </a:lnTo>
                  <a:lnTo>
                    <a:pt x="36556" y="85089"/>
                  </a:lnTo>
                  <a:lnTo>
                    <a:pt x="35890" y="86360"/>
                  </a:lnTo>
                  <a:close/>
                </a:path>
                <a:path w="2568575" h="748029">
                  <a:moveTo>
                    <a:pt x="2534691" y="91439"/>
                  </a:moveTo>
                  <a:lnTo>
                    <a:pt x="2532278" y="85089"/>
                  </a:lnTo>
                  <a:lnTo>
                    <a:pt x="2559691" y="85089"/>
                  </a:lnTo>
                  <a:lnTo>
                    <a:pt x="2560231" y="86360"/>
                  </a:lnTo>
                  <a:lnTo>
                    <a:pt x="2561610" y="90170"/>
                  </a:lnTo>
                  <a:lnTo>
                    <a:pt x="2534437" y="90170"/>
                  </a:lnTo>
                  <a:lnTo>
                    <a:pt x="2534691" y="91439"/>
                  </a:lnTo>
                  <a:close/>
                </a:path>
                <a:path w="2568575" h="748029">
                  <a:moveTo>
                    <a:pt x="33743" y="91439"/>
                  </a:moveTo>
                  <a:lnTo>
                    <a:pt x="33985" y="90170"/>
                  </a:lnTo>
                  <a:lnTo>
                    <a:pt x="34226" y="90170"/>
                  </a:lnTo>
                  <a:lnTo>
                    <a:pt x="33743" y="91439"/>
                  </a:lnTo>
                  <a:close/>
                </a:path>
                <a:path w="2568575" h="748029">
                  <a:moveTo>
                    <a:pt x="2565654" y="642620"/>
                  </a:moveTo>
                  <a:lnTo>
                    <a:pt x="2539568" y="642620"/>
                  </a:lnTo>
                  <a:lnTo>
                    <a:pt x="2539720" y="641350"/>
                  </a:lnTo>
                  <a:lnTo>
                    <a:pt x="2540400" y="638694"/>
                  </a:lnTo>
                  <a:lnTo>
                    <a:pt x="2540914" y="636270"/>
                  </a:lnTo>
                  <a:lnTo>
                    <a:pt x="2540774" y="636270"/>
                  </a:lnTo>
                  <a:lnTo>
                    <a:pt x="2541739" y="631189"/>
                  </a:lnTo>
                  <a:lnTo>
                    <a:pt x="2542451" y="626110"/>
                  </a:lnTo>
                  <a:lnTo>
                    <a:pt x="2542725" y="622300"/>
                  </a:lnTo>
                  <a:lnTo>
                    <a:pt x="2542816" y="125729"/>
                  </a:lnTo>
                  <a:lnTo>
                    <a:pt x="2542565" y="122241"/>
                  </a:lnTo>
                  <a:lnTo>
                    <a:pt x="2542036" y="117999"/>
                  </a:lnTo>
                  <a:lnTo>
                    <a:pt x="2540774" y="110489"/>
                  </a:lnTo>
                  <a:lnTo>
                    <a:pt x="2540645" y="110489"/>
                  </a:lnTo>
                  <a:lnTo>
                    <a:pt x="2539568" y="105410"/>
                  </a:lnTo>
                  <a:lnTo>
                    <a:pt x="2539720" y="105410"/>
                  </a:lnTo>
                  <a:lnTo>
                    <a:pt x="2538095" y="100329"/>
                  </a:lnTo>
                  <a:lnTo>
                    <a:pt x="2538285" y="100329"/>
                  </a:lnTo>
                  <a:lnTo>
                    <a:pt x="2536380" y="95250"/>
                  </a:lnTo>
                  <a:lnTo>
                    <a:pt x="2536596" y="95250"/>
                  </a:lnTo>
                  <a:lnTo>
                    <a:pt x="2534437" y="90170"/>
                  </a:lnTo>
                  <a:lnTo>
                    <a:pt x="2561610" y="90170"/>
                  </a:lnTo>
                  <a:lnTo>
                    <a:pt x="2562529" y="92710"/>
                  </a:lnTo>
                  <a:lnTo>
                    <a:pt x="2564155" y="99060"/>
                  </a:lnTo>
                  <a:lnTo>
                    <a:pt x="2565654" y="105410"/>
                  </a:lnTo>
                  <a:lnTo>
                    <a:pt x="2565781" y="106679"/>
                  </a:lnTo>
                  <a:lnTo>
                    <a:pt x="2566581" y="110489"/>
                  </a:lnTo>
                  <a:lnTo>
                    <a:pt x="2540774" y="110489"/>
                  </a:lnTo>
                  <a:lnTo>
                    <a:pt x="2540985" y="111746"/>
                  </a:lnTo>
                  <a:lnTo>
                    <a:pt x="2566844" y="111746"/>
                  </a:lnTo>
                  <a:lnTo>
                    <a:pt x="2567696" y="117999"/>
                  </a:lnTo>
                  <a:lnTo>
                    <a:pt x="2567774" y="119379"/>
                  </a:lnTo>
                  <a:lnTo>
                    <a:pt x="2568244" y="125729"/>
                  </a:lnTo>
                  <a:lnTo>
                    <a:pt x="2568244" y="622300"/>
                  </a:lnTo>
                  <a:lnTo>
                    <a:pt x="2567711" y="628650"/>
                  </a:lnTo>
                  <a:lnTo>
                    <a:pt x="2566847" y="635000"/>
                  </a:lnTo>
                  <a:lnTo>
                    <a:pt x="2565781" y="641350"/>
                  </a:lnTo>
                  <a:lnTo>
                    <a:pt x="2565654" y="642620"/>
                  </a:lnTo>
                  <a:close/>
                </a:path>
                <a:path w="2568575" h="748029">
                  <a:moveTo>
                    <a:pt x="27523" y="111746"/>
                  </a:moveTo>
                  <a:lnTo>
                    <a:pt x="27647" y="110489"/>
                  </a:lnTo>
                  <a:lnTo>
                    <a:pt x="27790" y="110489"/>
                  </a:lnTo>
                  <a:lnTo>
                    <a:pt x="27523" y="111746"/>
                  </a:lnTo>
                  <a:close/>
                </a:path>
                <a:path w="2568575" h="748029">
                  <a:moveTo>
                    <a:pt x="29039" y="642620"/>
                  </a:moveTo>
                  <a:lnTo>
                    <a:pt x="28867" y="642620"/>
                  </a:lnTo>
                  <a:lnTo>
                    <a:pt x="28597" y="641350"/>
                  </a:lnTo>
                  <a:lnTo>
                    <a:pt x="29039" y="642620"/>
                  </a:lnTo>
                  <a:close/>
                </a:path>
                <a:path w="2568575" h="748029">
                  <a:moveTo>
                    <a:pt x="2564455" y="647700"/>
                  </a:moveTo>
                  <a:lnTo>
                    <a:pt x="2538095" y="647700"/>
                  </a:lnTo>
                  <a:lnTo>
                    <a:pt x="2539720" y="641350"/>
                  </a:lnTo>
                  <a:lnTo>
                    <a:pt x="2539568" y="642620"/>
                  </a:lnTo>
                  <a:lnTo>
                    <a:pt x="2565654" y="642620"/>
                  </a:lnTo>
                  <a:lnTo>
                    <a:pt x="2564455" y="647700"/>
                  </a:lnTo>
                  <a:close/>
                </a:path>
                <a:path w="2568575" h="748029">
                  <a:moveTo>
                    <a:pt x="2562936" y="652779"/>
                  </a:moveTo>
                  <a:lnTo>
                    <a:pt x="2536380" y="652779"/>
                  </a:lnTo>
                  <a:lnTo>
                    <a:pt x="2539203" y="643370"/>
                  </a:lnTo>
                  <a:lnTo>
                    <a:pt x="2538095" y="647700"/>
                  </a:lnTo>
                  <a:lnTo>
                    <a:pt x="2564455" y="647700"/>
                  </a:lnTo>
                  <a:lnTo>
                    <a:pt x="2564155" y="648970"/>
                  </a:lnTo>
                  <a:lnTo>
                    <a:pt x="2562936" y="652779"/>
                  </a:lnTo>
                  <a:close/>
                </a:path>
                <a:path w="2568575" h="748029">
                  <a:moveTo>
                    <a:pt x="30528" y="647700"/>
                  </a:moveTo>
                  <a:lnTo>
                    <a:pt x="30340" y="647700"/>
                  </a:lnTo>
                  <a:lnTo>
                    <a:pt x="30149" y="646429"/>
                  </a:lnTo>
                  <a:lnTo>
                    <a:pt x="30528" y="647700"/>
                  </a:lnTo>
                  <a:close/>
                </a:path>
                <a:path w="2568575" h="748029">
                  <a:moveTo>
                    <a:pt x="32365" y="652779"/>
                  </a:moveTo>
                  <a:lnTo>
                    <a:pt x="32042" y="652779"/>
                  </a:lnTo>
                  <a:lnTo>
                    <a:pt x="31826" y="651510"/>
                  </a:lnTo>
                  <a:lnTo>
                    <a:pt x="32365" y="652779"/>
                  </a:lnTo>
                  <a:close/>
                </a:path>
                <a:path w="2568575" h="748029">
                  <a:moveTo>
                    <a:pt x="2558072" y="666750"/>
                  </a:moveTo>
                  <a:lnTo>
                    <a:pt x="2529878" y="666750"/>
                  </a:lnTo>
                  <a:lnTo>
                    <a:pt x="2532545" y="661670"/>
                  </a:lnTo>
                  <a:lnTo>
                    <a:pt x="2532278" y="661670"/>
                  </a:lnTo>
                  <a:lnTo>
                    <a:pt x="2534691" y="656589"/>
                  </a:lnTo>
                  <a:lnTo>
                    <a:pt x="2534437" y="656589"/>
                  </a:lnTo>
                  <a:lnTo>
                    <a:pt x="2536596" y="651510"/>
                  </a:lnTo>
                  <a:lnTo>
                    <a:pt x="2536380" y="652779"/>
                  </a:lnTo>
                  <a:lnTo>
                    <a:pt x="2562936" y="652779"/>
                  </a:lnTo>
                  <a:lnTo>
                    <a:pt x="2560447" y="660400"/>
                  </a:lnTo>
                  <a:lnTo>
                    <a:pt x="2560231" y="660400"/>
                  </a:lnTo>
                  <a:lnTo>
                    <a:pt x="2558072" y="666750"/>
                  </a:lnTo>
                  <a:close/>
                </a:path>
                <a:path w="2568575" h="748029">
                  <a:moveTo>
                    <a:pt x="2509939" y="725170"/>
                  </a:moveTo>
                  <a:lnTo>
                    <a:pt x="58496" y="725170"/>
                  </a:lnTo>
                  <a:lnTo>
                    <a:pt x="53276" y="721360"/>
                  </a:lnTo>
                  <a:lnTo>
                    <a:pt x="48260" y="717550"/>
                  </a:lnTo>
                  <a:lnTo>
                    <a:pt x="43878" y="713739"/>
                  </a:lnTo>
                  <a:lnTo>
                    <a:pt x="39243" y="708660"/>
                  </a:lnTo>
                  <a:lnTo>
                    <a:pt x="34823" y="704850"/>
                  </a:lnTo>
                  <a:lnTo>
                    <a:pt x="30238" y="699770"/>
                  </a:lnTo>
                  <a:lnTo>
                    <a:pt x="26670" y="694689"/>
                  </a:lnTo>
                  <a:lnTo>
                    <a:pt x="22936" y="689610"/>
                  </a:lnTo>
                  <a:lnTo>
                    <a:pt x="22593" y="689610"/>
                  </a:lnTo>
                  <a:lnTo>
                    <a:pt x="19138" y="683260"/>
                  </a:lnTo>
                  <a:lnTo>
                    <a:pt x="15951" y="678179"/>
                  </a:lnTo>
                  <a:lnTo>
                    <a:pt x="13284" y="673100"/>
                  </a:lnTo>
                  <a:lnTo>
                    <a:pt x="10604" y="666750"/>
                  </a:lnTo>
                  <a:lnTo>
                    <a:pt x="38557" y="666750"/>
                  </a:lnTo>
                  <a:lnTo>
                    <a:pt x="38265" y="665479"/>
                  </a:lnTo>
                  <a:lnTo>
                    <a:pt x="41160" y="670560"/>
                  </a:lnTo>
                  <a:lnTo>
                    <a:pt x="40843" y="670560"/>
                  </a:lnTo>
                  <a:lnTo>
                    <a:pt x="43980" y="675639"/>
                  </a:lnTo>
                  <a:lnTo>
                    <a:pt x="44478" y="675639"/>
                  </a:lnTo>
                  <a:lnTo>
                    <a:pt x="47002" y="679450"/>
                  </a:lnTo>
                  <a:lnTo>
                    <a:pt x="46634" y="679450"/>
                  </a:lnTo>
                  <a:lnTo>
                    <a:pt x="50215" y="683260"/>
                  </a:lnTo>
                  <a:lnTo>
                    <a:pt x="49822" y="683260"/>
                  </a:lnTo>
                  <a:lnTo>
                    <a:pt x="53619" y="687070"/>
                  </a:lnTo>
                  <a:lnTo>
                    <a:pt x="53213" y="687070"/>
                  </a:lnTo>
                  <a:lnTo>
                    <a:pt x="57200" y="690879"/>
                  </a:lnTo>
                  <a:lnTo>
                    <a:pt x="56769" y="690879"/>
                  </a:lnTo>
                  <a:lnTo>
                    <a:pt x="60960" y="694689"/>
                  </a:lnTo>
                  <a:lnTo>
                    <a:pt x="60515" y="694689"/>
                  </a:lnTo>
                  <a:lnTo>
                    <a:pt x="64884" y="698500"/>
                  </a:lnTo>
                  <a:lnTo>
                    <a:pt x="64414" y="698500"/>
                  </a:lnTo>
                  <a:lnTo>
                    <a:pt x="68973" y="701039"/>
                  </a:lnTo>
                  <a:lnTo>
                    <a:pt x="68491" y="701039"/>
                  </a:lnTo>
                  <a:lnTo>
                    <a:pt x="73215" y="704850"/>
                  </a:lnTo>
                  <a:lnTo>
                    <a:pt x="74337" y="704850"/>
                  </a:lnTo>
                  <a:lnTo>
                    <a:pt x="77597" y="707389"/>
                  </a:lnTo>
                  <a:lnTo>
                    <a:pt x="77076" y="707389"/>
                  </a:lnTo>
                  <a:lnTo>
                    <a:pt x="82118" y="709929"/>
                  </a:lnTo>
                  <a:lnTo>
                    <a:pt x="81584" y="709929"/>
                  </a:lnTo>
                  <a:lnTo>
                    <a:pt x="86779" y="712470"/>
                  </a:lnTo>
                  <a:lnTo>
                    <a:pt x="86220" y="712470"/>
                  </a:lnTo>
                  <a:lnTo>
                    <a:pt x="91567" y="713739"/>
                  </a:lnTo>
                  <a:lnTo>
                    <a:pt x="90995" y="713739"/>
                  </a:lnTo>
                  <a:lnTo>
                    <a:pt x="96469" y="716279"/>
                  </a:lnTo>
                  <a:lnTo>
                    <a:pt x="95872" y="716279"/>
                  </a:lnTo>
                  <a:lnTo>
                    <a:pt x="101473" y="717550"/>
                  </a:lnTo>
                  <a:lnTo>
                    <a:pt x="100876" y="717550"/>
                  </a:lnTo>
                  <a:lnTo>
                    <a:pt x="106591" y="718820"/>
                  </a:lnTo>
                  <a:lnTo>
                    <a:pt x="105981" y="718820"/>
                  </a:lnTo>
                  <a:lnTo>
                    <a:pt x="111810" y="720089"/>
                  </a:lnTo>
                  <a:lnTo>
                    <a:pt x="111188" y="720089"/>
                  </a:lnTo>
                  <a:lnTo>
                    <a:pt x="117132" y="721360"/>
                  </a:lnTo>
                  <a:lnTo>
                    <a:pt x="116497" y="721360"/>
                  </a:lnTo>
                  <a:lnTo>
                    <a:pt x="122529" y="722629"/>
                  </a:lnTo>
                  <a:lnTo>
                    <a:pt x="2513418" y="722629"/>
                  </a:lnTo>
                  <a:lnTo>
                    <a:pt x="2509939" y="725170"/>
                  </a:lnTo>
                  <a:close/>
                </a:path>
                <a:path w="2568575" h="748029">
                  <a:moveTo>
                    <a:pt x="2553817" y="675639"/>
                  </a:moveTo>
                  <a:lnTo>
                    <a:pt x="2524455" y="675639"/>
                  </a:lnTo>
                  <a:lnTo>
                    <a:pt x="2527592" y="670560"/>
                  </a:lnTo>
                  <a:lnTo>
                    <a:pt x="2527274" y="670560"/>
                  </a:lnTo>
                  <a:lnTo>
                    <a:pt x="2530170" y="665479"/>
                  </a:lnTo>
                  <a:lnTo>
                    <a:pt x="2529878" y="666750"/>
                  </a:lnTo>
                  <a:lnTo>
                    <a:pt x="2557830" y="666750"/>
                  </a:lnTo>
                  <a:lnTo>
                    <a:pt x="2555151" y="673100"/>
                  </a:lnTo>
                  <a:lnTo>
                    <a:pt x="2553817" y="675639"/>
                  </a:lnTo>
                  <a:close/>
                </a:path>
                <a:path w="2568575" h="748029">
                  <a:moveTo>
                    <a:pt x="44478" y="675639"/>
                  </a:moveTo>
                  <a:lnTo>
                    <a:pt x="43980" y="675639"/>
                  </a:lnTo>
                  <a:lnTo>
                    <a:pt x="43637" y="674370"/>
                  </a:lnTo>
                  <a:lnTo>
                    <a:pt x="44478" y="675639"/>
                  </a:lnTo>
                  <a:close/>
                </a:path>
                <a:path w="2568575" h="748029">
                  <a:moveTo>
                    <a:pt x="2532916" y="704850"/>
                  </a:moveTo>
                  <a:lnTo>
                    <a:pt x="2495219" y="704850"/>
                  </a:lnTo>
                  <a:lnTo>
                    <a:pt x="2499944" y="701039"/>
                  </a:lnTo>
                  <a:lnTo>
                    <a:pt x="2499461" y="701039"/>
                  </a:lnTo>
                  <a:lnTo>
                    <a:pt x="2504008" y="698500"/>
                  </a:lnTo>
                  <a:lnTo>
                    <a:pt x="2503551" y="698500"/>
                  </a:lnTo>
                  <a:lnTo>
                    <a:pt x="2507919" y="694689"/>
                  </a:lnTo>
                  <a:lnTo>
                    <a:pt x="2507475" y="694689"/>
                  </a:lnTo>
                  <a:lnTo>
                    <a:pt x="2511653" y="690879"/>
                  </a:lnTo>
                  <a:lnTo>
                    <a:pt x="2511234" y="690879"/>
                  </a:lnTo>
                  <a:lnTo>
                    <a:pt x="2515222" y="687070"/>
                  </a:lnTo>
                  <a:lnTo>
                    <a:pt x="2514815" y="687070"/>
                  </a:lnTo>
                  <a:lnTo>
                    <a:pt x="2518600" y="683260"/>
                  </a:lnTo>
                  <a:lnTo>
                    <a:pt x="2518219" y="683260"/>
                  </a:lnTo>
                  <a:lnTo>
                    <a:pt x="2521800" y="679450"/>
                  </a:lnTo>
                  <a:lnTo>
                    <a:pt x="2521432" y="679450"/>
                  </a:lnTo>
                  <a:lnTo>
                    <a:pt x="2524798" y="674370"/>
                  </a:lnTo>
                  <a:lnTo>
                    <a:pt x="2524455" y="675639"/>
                  </a:lnTo>
                  <a:lnTo>
                    <a:pt x="2553817" y="675639"/>
                  </a:lnTo>
                  <a:lnTo>
                    <a:pt x="2552484" y="678179"/>
                  </a:lnTo>
                  <a:lnTo>
                    <a:pt x="2549283" y="683260"/>
                  </a:lnTo>
                  <a:lnTo>
                    <a:pt x="2545499" y="689610"/>
                  </a:lnTo>
                  <a:lnTo>
                    <a:pt x="2541765" y="694689"/>
                  </a:lnTo>
                  <a:lnTo>
                    <a:pt x="2537802" y="699770"/>
                  </a:lnTo>
                  <a:lnTo>
                    <a:pt x="2534018" y="703579"/>
                  </a:lnTo>
                  <a:lnTo>
                    <a:pt x="2532916" y="704850"/>
                  </a:lnTo>
                  <a:close/>
                </a:path>
                <a:path w="2568575" h="748029">
                  <a:moveTo>
                    <a:pt x="74337" y="704850"/>
                  </a:moveTo>
                  <a:lnTo>
                    <a:pt x="73215" y="704850"/>
                  </a:lnTo>
                  <a:lnTo>
                    <a:pt x="72707" y="703579"/>
                  </a:lnTo>
                  <a:lnTo>
                    <a:pt x="74337" y="704850"/>
                  </a:lnTo>
                  <a:close/>
                </a:path>
                <a:path w="2568575" h="748029">
                  <a:moveTo>
                    <a:pt x="2481128" y="712728"/>
                  </a:moveTo>
                  <a:lnTo>
                    <a:pt x="2486850" y="709929"/>
                  </a:lnTo>
                  <a:lnTo>
                    <a:pt x="2486304" y="709929"/>
                  </a:lnTo>
                  <a:lnTo>
                    <a:pt x="2491359" y="707389"/>
                  </a:lnTo>
                  <a:lnTo>
                    <a:pt x="2490838" y="707389"/>
                  </a:lnTo>
                  <a:lnTo>
                    <a:pt x="2495727" y="703579"/>
                  </a:lnTo>
                  <a:lnTo>
                    <a:pt x="2495219" y="704850"/>
                  </a:lnTo>
                  <a:lnTo>
                    <a:pt x="2532916" y="704850"/>
                  </a:lnTo>
                  <a:lnTo>
                    <a:pt x="2529611" y="708660"/>
                  </a:lnTo>
                  <a:lnTo>
                    <a:pt x="2529179" y="708660"/>
                  </a:lnTo>
                  <a:lnTo>
                    <a:pt x="2525702" y="712470"/>
                  </a:lnTo>
                  <a:lnTo>
                    <a:pt x="2482215" y="712470"/>
                  </a:lnTo>
                  <a:lnTo>
                    <a:pt x="2481128" y="712728"/>
                  </a:lnTo>
                  <a:close/>
                </a:path>
                <a:path w="2568575" h="748029">
                  <a:moveTo>
                    <a:pt x="87306" y="712728"/>
                  </a:moveTo>
                  <a:lnTo>
                    <a:pt x="86220" y="712470"/>
                  </a:lnTo>
                  <a:lnTo>
                    <a:pt x="86779" y="712470"/>
                  </a:lnTo>
                  <a:lnTo>
                    <a:pt x="87306" y="712728"/>
                  </a:lnTo>
                  <a:close/>
                </a:path>
                <a:path w="2568575" h="748029">
                  <a:moveTo>
                    <a:pt x="2471407" y="716539"/>
                  </a:moveTo>
                  <a:lnTo>
                    <a:pt x="2477439" y="713739"/>
                  </a:lnTo>
                  <a:lnTo>
                    <a:pt x="2476868" y="713739"/>
                  </a:lnTo>
                  <a:lnTo>
                    <a:pt x="2482215" y="712470"/>
                  </a:lnTo>
                  <a:lnTo>
                    <a:pt x="2525702" y="712470"/>
                  </a:lnTo>
                  <a:lnTo>
                    <a:pt x="2524544" y="713739"/>
                  </a:lnTo>
                  <a:lnTo>
                    <a:pt x="2521631" y="716279"/>
                  </a:lnTo>
                  <a:lnTo>
                    <a:pt x="2472550" y="716279"/>
                  </a:lnTo>
                  <a:lnTo>
                    <a:pt x="2471407" y="716539"/>
                  </a:lnTo>
                  <a:close/>
                </a:path>
                <a:path w="2568575" h="748029">
                  <a:moveTo>
                    <a:pt x="2513418" y="722629"/>
                  </a:moveTo>
                  <a:lnTo>
                    <a:pt x="2445905" y="722629"/>
                  </a:lnTo>
                  <a:lnTo>
                    <a:pt x="2451938" y="721360"/>
                  </a:lnTo>
                  <a:lnTo>
                    <a:pt x="2451303" y="721360"/>
                  </a:lnTo>
                  <a:lnTo>
                    <a:pt x="2457234" y="720089"/>
                  </a:lnTo>
                  <a:lnTo>
                    <a:pt x="2456611" y="720089"/>
                  </a:lnTo>
                  <a:lnTo>
                    <a:pt x="2462453" y="718820"/>
                  </a:lnTo>
                  <a:lnTo>
                    <a:pt x="2461831" y="718820"/>
                  </a:lnTo>
                  <a:lnTo>
                    <a:pt x="2467559" y="717550"/>
                  </a:lnTo>
                  <a:lnTo>
                    <a:pt x="2466949" y="717550"/>
                  </a:lnTo>
                  <a:lnTo>
                    <a:pt x="2472550" y="716279"/>
                  </a:lnTo>
                  <a:lnTo>
                    <a:pt x="2521631" y="716279"/>
                  </a:lnTo>
                  <a:lnTo>
                    <a:pt x="2520175" y="717550"/>
                  </a:lnTo>
                  <a:lnTo>
                    <a:pt x="2515158" y="721360"/>
                  </a:lnTo>
                  <a:lnTo>
                    <a:pt x="2513418" y="722629"/>
                  </a:lnTo>
                  <a:close/>
                </a:path>
                <a:path w="2568575" h="748029">
                  <a:moveTo>
                    <a:pt x="2487333" y="737870"/>
                  </a:moveTo>
                  <a:lnTo>
                    <a:pt x="81102" y="737870"/>
                  </a:lnTo>
                  <a:lnTo>
                    <a:pt x="75196" y="735329"/>
                  </a:lnTo>
                  <a:lnTo>
                    <a:pt x="69456" y="731520"/>
                  </a:lnTo>
                  <a:lnTo>
                    <a:pt x="64414" y="728979"/>
                  </a:lnTo>
                  <a:lnTo>
                    <a:pt x="59004" y="725170"/>
                  </a:lnTo>
                  <a:lnTo>
                    <a:pt x="2509431" y="725170"/>
                  </a:lnTo>
                  <a:lnTo>
                    <a:pt x="2504020" y="728979"/>
                  </a:lnTo>
                  <a:lnTo>
                    <a:pt x="2498432" y="731520"/>
                  </a:lnTo>
                  <a:lnTo>
                    <a:pt x="2493225" y="735329"/>
                  </a:lnTo>
                  <a:lnTo>
                    <a:pt x="2487333" y="737870"/>
                  </a:lnTo>
                  <a:close/>
                </a:path>
                <a:path w="2568575" h="748029">
                  <a:moveTo>
                    <a:pt x="2462326" y="745489"/>
                  </a:moveTo>
                  <a:lnTo>
                    <a:pt x="106108" y="745489"/>
                  </a:lnTo>
                  <a:lnTo>
                    <a:pt x="99656" y="744220"/>
                  </a:lnTo>
                  <a:lnTo>
                    <a:pt x="93941" y="741679"/>
                  </a:lnTo>
                  <a:lnTo>
                    <a:pt x="93332" y="741679"/>
                  </a:lnTo>
                  <a:lnTo>
                    <a:pt x="87731" y="740410"/>
                  </a:lnTo>
                  <a:lnTo>
                    <a:pt x="81673" y="737870"/>
                  </a:lnTo>
                  <a:lnTo>
                    <a:pt x="2486761" y="737870"/>
                  </a:lnTo>
                  <a:lnTo>
                    <a:pt x="2481287" y="740410"/>
                  </a:lnTo>
                  <a:lnTo>
                    <a:pt x="2474493" y="741679"/>
                  </a:lnTo>
                  <a:lnTo>
                    <a:pt x="2468778" y="744220"/>
                  </a:lnTo>
                  <a:lnTo>
                    <a:pt x="2462326" y="745489"/>
                  </a:lnTo>
                  <a:close/>
                </a:path>
                <a:path w="2568575" h="748029">
                  <a:moveTo>
                    <a:pt x="2455760" y="746760"/>
                  </a:moveTo>
                  <a:lnTo>
                    <a:pt x="112661" y="746760"/>
                  </a:lnTo>
                  <a:lnTo>
                    <a:pt x="106730" y="745489"/>
                  </a:lnTo>
                  <a:lnTo>
                    <a:pt x="2461704" y="745489"/>
                  </a:lnTo>
                  <a:lnTo>
                    <a:pt x="2455760" y="746760"/>
                  </a:lnTo>
                  <a:close/>
                </a:path>
                <a:path w="2568575" h="748029">
                  <a:moveTo>
                    <a:pt x="2448458" y="748029"/>
                  </a:moveTo>
                  <a:lnTo>
                    <a:pt x="119964" y="748029"/>
                  </a:lnTo>
                  <a:lnTo>
                    <a:pt x="119329" y="746760"/>
                  </a:lnTo>
                  <a:lnTo>
                    <a:pt x="2449106" y="746760"/>
                  </a:lnTo>
                  <a:lnTo>
                    <a:pt x="2448458" y="748029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09647" y="4346000"/>
            <a:ext cx="551974" cy="33147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模型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92319" y="3238395"/>
            <a:ext cx="1987858" cy="62308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176247" y="3345075"/>
            <a:ext cx="1618774" cy="33147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机器学习算法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8368" y="2233256"/>
            <a:ext cx="1952641" cy="58780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442947" y="2317604"/>
            <a:ext cx="1085374" cy="33147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训练数据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63091" y="4252846"/>
            <a:ext cx="1373981" cy="561023"/>
            <a:chOff x="4217454" y="4527461"/>
            <a:chExt cx="1831975" cy="748030"/>
          </a:xfrm>
        </p:grpSpPr>
        <p:sp>
          <p:nvSpPr>
            <p:cNvPr id="18" name="object 18"/>
            <p:cNvSpPr/>
            <p:nvPr/>
          </p:nvSpPr>
          <p:spPr>
            <a:xfrm>
              <a:off x="4230624" y="4539996"/>
              <a:ext cx="1805939" cy="723900"/>
            </a:xfrm>
            <a:custGeom>
              <a:avLst/>
              <a:gdLst/>
              <a:ahLst/>
              <a:cxnLst/>
              <a:rect l="l" t="t" r="r" b="b"/>
              <a:pathLst>
                <a:path w="1805939" h="723900">
                  <a:moveTo>
                    <a:pt x="1685543" y="723900"/>
                  </a:moveTo>
                  <a:lnTo>
                    <a:pt x="120396" y="723900"/>
                  </a:lnTo>
                  <a:lnTo>
                    <a:pt x="73212" y="714199"/>
                  </a:lnTo>
                  <a:lnTo>
                    <a:pt x="34823" y="688305"/>
                  </a:lnTo>
                  <a:lnTo>
                    <a:pt x="9121" y="650108"/>
                  </a:lnTo>
                  <a:lnTo>
                    <a:pt x="0" y="603503"/>
                  </a:lnTo>
                  <a:lnTo>
                    <a:pt x="0" y="120395"/>
                  </a:lnTo>
                  <a:lnTo>
                    <a:pt x="9121" y="73648"/>
                  </a:lnTo>
                  <a:lnTo>
                    <a:pt x="34823" y="35404"/>
                  </a:lnTo>
                  <a:lnTo>
                    <a:pt x="73212" y="9557"/>
                  </a:lnTo>
                  <a:lnTo>
                    <a:pt x="120396" y="0"/>
                  </a:lnTo>
                  <a:lnTo>
                    <a:pt x="1685543" y="0"/>
                  </a:lnTo>
                  <a:lnTo>
                    <a:pt x="1732320" y="9557"/>
                  </a:lnTo>
                  <a:lnTo>
                    <a:pt x="1770573" y="35404"/>
                  </a:lnTo>
                  <a:lnTo>
                    <a:pt x="1796411" y="73648"/>
                  </a:lnTo>
                  <a:lnTo>
                    <a:pt x="1805939" y="120395"/>
                  </a:lnTo>
                  <a:lnTo>
                    <a:pt x="1805939" y="603503"/>
                  </a:lnTo>
                  <a:lnTo>
                    <a:pt x="1796411" y="650108"/>
                  </a:lnTo>
                  <a:lnTo>
                    <a:pt x="1770573" y="688305"/>
                  </a:lnTo>
                  <a:lnTo>
                    <a:pt x="1732320" y="714199"/>
                  </a:lnTo>
                  <a:lnTo>
                    <a:pt x="1685543" y="723900"/>
                  </a:lnTo>
                  <a:close/>
                </a:path>
              </a:pathLst>
            </a:custGeom>
            <a:solidFill>
              <a:srgbClr val="2C2C8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7454" y="4527461"/>
              <a:ext cx="1831975" cy="748030"/>
            </a:xfrm>
            <a:custGeom>
              <a:avLst/>
              <a:gdLst/>
              <a:ahLst/>
              <a:cxnLst/>
              <a:rect l="l" t="t" r="r" b="b"/>
              <a:pathLst>
                <a:path w="1831975" h="748029">
                  <a:moveTo>
                    <a:pt x="1724977" y="2539"/>
                  </a:moveTo>
                  <a:lnTo>
                    <a:pt x="106578" y="2539"/>
                  </a:lnTo>
                  <a:lnTo>
                    <a:pt x="112509" y="1270"/>
                  </a:lnTo>
                  <a:lnTo>
                    <a:pt x="119176" y="0"/>
                  </a:lnTo>
                  <a:lnTo>
                    <a:pt x="1712379" y="0"/>
                  </a:lnTo>
                  <a:lnTo>
                    <a:pt x="1718411" y="1270"/>
                  </a:lnTo>
                  <a:lnTo>
                    <a:pt x="1719033" y="1270"/>
                  </a:lnTo>
                  <a:lnTo>
                    <a:pt x="1724977" y="2539"/>
                  </a:lnTo>
                  <a:close/>
                </a:path>
                <a:path w="1831975" h="748029">
                  <a:moveTo>
                    <a:pt x="1750034" y="10160"/>
                  </a:moveTo>
                  <a:lnTo>
                    <a:pt x="81521" y="10160"/>
                  </a:lnTo>
                  <a:lnTo>
                    <a:pt x="93776" y="5079"/>
                  </a:lnTo>
                  <a:lnTo>
                    <a:pt x="99504" y="3810"/>
                  </a:lnTo>
                  <a:lnTo>
                    <a:pt x="105956" y="2539"/>
                  </a:lnTo>
                  <a:lnTo>
                    <a:pt x="1725599" y="2539"/>
                  </a:lnTo>
                  <a:lnTo>
                    <a:pt x="1732051" y="3810"/>
                  </a:lnTo>
                  <a:lnTo>
                    <a:pt x="1737766" y="5079"/>
                  </a:lnTo>
                  <a:lnTo>
                    <a:pt x="1743964" y="7620"/>
                  </a:lnTo>
                  <a:lnTo>
                    <a:pt x="1744560" y="7620"/>
                  </a:lnTo>
                  <a:lnTo>
                    <a:pt x="1750034" y="10160"/>
                  </a:lnTo>
                  <a:close/>
                </a:path>
                <a:path w="1831975" h="748029">
                  <a:moveTo>
                    <a:pt x="81432" y="38100"/>
                  </a:moveTo>
                  <a:lnTo>
                    <a:pt x="39090" y="38100"/>
                  </a:lnTo>
                  <a:lnTo>
                    <a:pt x="43726" y="34289"/>
                  </a:lnTo>
                  <a:lnTo>
                    <a:pt x="47355" y="30479"/>
                  </a:lnTo>
                  <a:lnTo>
                    <a:pt x="48732" y="29083"/>
                  </a:lnTo>
                  <a:lnTo>
                    <a:pt x="53606" y="25400"/>
                  </a:lnTo>
                  <a:lnTo>
                    <a:pt x="58839" y="21589"/>
                  </a:lnTo>
                  <a:lnTo>
                    <a:pt x="63728" y="19050"/>
                  </a:lnTo>
                  <a:lnTo>
                    <a:pt x="69303" y="15239"/>
                  </a:lnTo>
                  <a:lnTo>
                    <a:pt x="75044" y="12700"/>
                  </a:lnTo>
                  <a:lnTo>
                    <a:pt x="80949" y="10160"/>
                  </a:lnTo>
                  <a:lnTo>
                    <a:pt x="1750606" y="10160"/>
                  </a:lnTo>
                  <a:lnTo>
                    <a:pt x="1756498" y="12700"/>
                  </a:lnTo>
                  <a:lnTo>
                    <a:pt x="1761705" y="15239"/>
                  </a:lnTo>
                  <a:lnTo>
                    <a:pt x="1767293" y="19050"/>
                  </a:lnTo>
                  <a:lnTo>
                    <a:pt x="1772704" y="21589"/>
                  </a:lnTo>
                  <a:lnTo>
                    <a:pt x="1773212" y="22860"/>
                  </a:lnTo>
                  <a:lnTo>
                    <a:pt x="1775821" y="24129"/>
                  </a:lnTo>
                  <a:lnTo>
                    <a:pt x="133426" y="24129"/>
                  </a:lnTo>
                  <a:lnTo>
                    <a:pt x="127215" y="25400"/>
                  </a:lnTo>
                  <a:lnTo>
                    <a:pt x="116979" y="25400"/>
                  </a:lnTo>
                  <a:lnTo>
                    <a:pt x="111036" y="26670"/>
                  </a:lnTo>
                  <a:lnTo>
                    <a:pt x="111658" y="26670"/>
                  </a:lnTo>
                  <a:lnTo>
                    <a:pt x="105829" y="27939"/>
                  </a:lnTo>
                  <a:lnTo>
                    <a:pt x="106438" y="27939"/>
                  </a:lnTo>
                  <a:lnTo>
                    <a:pt x="101292" y="29083"/>
                  </a:lnTo>
                  <a:lnTo>
                    <a:pt x="101599" y="29083"/>
                  </a:lnTo>
                  <a:lnTo>
                    <a:pt x="95719" y="31750"/>
                  </a:lnTo>
                  <a:lnTo>
                    <a:pt x="96304" y="31750"/>
                  </a:lnTo>
                  <a:lnTo>
                    <a:pt x="91372" y="32894"/>
                  </a:lnTo>
                  <a:lnTo>
                    <a:pt x="91666" y="32894"/>
                  </a:lnTo>
                  <a:lnTo>
                    <a:pt x="86067" y="35560"/>
                  </a:lnTo>
                  <a:lnTo>
                    <a:pt x="86626" y="35560"/>
                  </a:lnTo>
                  <a:lnTo>
                    <a:pt x="81432" y="38100"/>
                  </a:lnTo>
                  <a:close/>
                </a:path>
                <a:path w="1831975" h="748029">
                  <a:moveTo>
                    <a:pt x="1786506" y="32894"/>
                  </a:moveTo>
                  <a:lnTo>
                    <a:pt x="1740170" y="32894"/>
                  </a:lnTo>
                  <a:lnTo>
                    <a:pt x="1735239" y="31750"/>
                  </a:lnTo>
                  <a:lnTo>
                    <a:pt x="1735823" y="31750"/>
                  </a:lnTo>
                  <a:lnTo>
                    <a:pt x="1729943" y="29083"/>
                  </a:lnTo>
                  <a:lnTo>
                    <a:pt x="1730262" y="29083"/>
                  </a:lnTo>
                  <a:lnTo>
                    <a:pt x="1725104" y="27939"/>
                  </a:lnTo>
                  <a:lnTo>
                    <a:pt x="1725714" y="27939"/>
                  </a:lnTo>
                  <a:lnTo>
                    <a:pt x="1719884" y="26670"/>
                  </a:lnTo>
                  <a:lnTo>
                    <a:pt x="1720507" y="26670"/>
                  </a:lnTo>
                  <a:lnTo>
                    <a:pt x="1714576" y="25400"/>
                  </a:lnTo>
                  <a:lnTo>
                    <a:pt x="1704327" y="25400"/>
                  </a:lnTo>
                  <a:lnTo>
                    <a:pt x="1698129" y="24129"/>
                  </a:lnTo>
                  <a:lnTo>
                    <a:pt x="1775821" y="24129"/>
                  </a:lnTo>
                  <a:lnTo>
                    <a:pt x="1778431" y="25400"/>
                  </a:lnTo>
                  <a:lnTo>
                    <a:pt x="1783448" y="30479"/>
                  </a:lnTo>
                  <a:lnTo>
                    <a:pt x="1786506" y="32894"/>
                  </a:lnTo>
                  <a:close/>
                </a:path>
                <a:path w="1831975" h="748029">
                  <a:moveTo>
                    <a:pt x="116344" y="26670"/>
                  </a:moveTo>
                  <a:lnTo>
                    <a:pt x="116979" y="25400"/>
                  </a:lnTo>
                  <a:lnTo>
                    <a:pt x="122377" y="25400"/>
                  </a:lnTo>
                  <a:lnTo>
                    <a:pt x="116344" y="26670"/>
                  </a:lnTo>
                  <a:close/>
                </a:path>
                <a:path w="1831975" h="748029">
                  <a:moveTo>
                    <a:pt x="1715211" y="26670"/>
                  </a:moveTo>
                  <a:lnTo>
                    <a:pt x="1709165" y="25400"/>
                  </a:lnTo>
                  <a:lnTo>
                    <a:pt x="1714576" y="25400"/>
                  </a:lnTo>
                  <a:lnTo>
                    <a:pt x="1715211" y="26670"/>
                  </a:lnTo>
                  <a:close/>
                </a:path>
                <a:path w="1831975" h="748029">
                  <a:moveTo>
                    <a:pt x="101599" y="29083"/>
                  </a:moveTo>
                  <a:lnTo>
                    <a:pt x="101292" y="29083"/>
                  </a:lnTo>
                  <a:lnTo>
                    <a:pt x="101894" y="28949"/>
                  </a:lnTo>
                  <a:lnTo>
                    <a:pt x="101599" y="29083"/>
                  </a:lnTo>
                  <a:close/>
                </a:path>
                <a:path w="1831975" h="748029">
                  <a:moveTo>
                    <a:pt x="91666" y="32894"/>
                  </a:moveTo>
                  <a:lnTo>
                    <a:pt x="91372" y="32894"/>
                  </a:lnTo>
                  <a:lnTo>
                    <a:pt x="91947" y="32760"/>
                  </a:lnTo>
                  <a:lnTo>
                    <a:pt x="91666" y="32894"/>
                  </a:lnTo>
                  <a:close/>
                </a:path>
                <a:path w="1831975" h="748029">
                  <a:moveTo>
                    <a:pt x="1792452" y="38100"/>
                  </a:moveTo>
                  <a:lnTo>
                    <a:pt x="1750123" y="38100"/>
                  </a:lnTo>
                  <a:lnTo>
                    <a:pt x="1744929" y="35560"/>
                  </a:lnTo>
                  <a:lnTo>
                    <a:pt x="1745488" y="35560"/>
                  </a:lnTo>
                  <a:lnTo>
                    <a:pt x="1739595" y="32760"/>
                  </a:lnTo>
                  <a:lnTo>
                    <a:pt x="1740170" y="32894"/>
                  </a:lnTo>
                  <a:lnTo>
                    <a:pt x="1786506" y="32894"/>
                  </a:lnTo>
                  <a:lnTo>
                    <a:pt x="1788274" y="34289"/>
                  </a:lnTo>
                  <a:lnTo>
                    <a:pt x="1792452" y="38100"/>
                  </a:lnTo>
                  <a:close/>
                </a:path>
                <a:path w="1831975" h="748029">
                  <a:moveTo>
                    <a:pt x="1750606" y="737870"/>
                  </a:moveTo>
                  <a:lnTo>
                    <a:pt x="80949" y="737870"/>
                  </a:lnTo>
                  <a:lnTo>
                    <a:pt x="75044" y="735329"/>
                  </a:lnTo>
                  <a:lnTo>
                    <a:pt x="69303" y="731520"/>
                  </a:lnTo>
                  <a:lnTo>
                    <a:pt x="63728" y="728979"/>
                  </a:lnTo>
                  <a:lnTo>
                    <a:pt x="58839" y="725170"/>
                  </a:lnTo>
                  <a:lnTo>
                    <a:pt x="53606" y="721360"/>
                  </a:lnTo>
                  <a:lnTo>
                    <a:pt x="48564" y="717550"/>
                  </a:lnTo>
                  <a:lnTo>
                    <a:pt x="43726" y="713739"/>
                  </a:lnTo>
                  <a:lnTo>
                    <a:pt x="39090" y="708660"/>
                  </a:lnTo>
                  <a:lnTo>
                    <a:pt x="38658" y="708660"/>
                  </a:lnTo>
                  <a:lnTo>
                    <a:pt x="34670" y="704850"/>
                  </a:lnTo>
                  <a:lnTo>
                    <a:pt x="30086" y="699770"/>
                  </a:lnTo>
                  <a:lnTo>
                    <a:pt x="26504" y="694689"/>
                  </a:lnTo>
                  <a:lnTo>
                    <a:pt x="22783" y="689610"/>
                  </a:lnTo>
                  <a:lnTo>
                    <a:pt x="22440" y="689610"/>
                  </a:lnTo>
                  <a:lnTo>
                    <a:pt x="18986" y="683260"/>
                  </a:lnTo>
                  <a:lnTo>
                    <a:pt x="15786" y="678179"/>
                  </a:lnTo>
                  <a:lnTo>
                    <a:pt x="13131" y="673100"/>
                  </a:lnTo>
                  <a:lnTo>
                    <a:pt x="10198" y="666750"/>
                  </a:lnTo>
                  <a:lnTo>
                    <a:pt x="8039" y="660400"/>
                  </a:lnTo>
                  <a:lnTo>
                    <a:pt x="5930" y="655320"/>
                  </a:lnTo>
                  <a:lnTo>
                    <a:pt x="3962" y="647700"/>
                  </a:lnTo>
                  <a:lnTo>
                    <a:pt x="2616" y="642620"/>
                  </a:lnTo>
                  <a:lnTo>
                    <a:pt x="2489" y="641350"/>
                  </a:lnTo>
                  <a:lnTo>
                    <a:pt x="1333" y="635000"/>
                  </a:lnTo>
                  <a:lnTo>
                    <a:pt x="571" y="628650"/>
                  </a:lnTo>
                  <a:lnTo>
                    <a:pt x="38" y="622300"/>
                  </a:lnTo>
                  <a:lnTo>
                    <a:pt x="0" y="125729"/>
                  </a:lnTo>
                  <a:lnTo>
                    <a:pt x="279" y="122241"/>
                  </a:lnTo>
                  <a:lnTo>
                    <a:pt x="405" y="120660"/>
                  </a:lnTo>
                  <a:lnTo>
                    <a:pt x="507" y="119379"/>
                  </a:lnTo>
                  <a:lnTo>
                    <a:pt x="588" y="117999"/>
                  </a:lnTo>
                  <a:lnTo>
                    <a:pt x="1229" y="113722"/>
                  </a:lnTo>
                  <a:lnTo>
                    <a:pt x="1333" y="113029"/>
                  </a:lnTo>
                  <a:lnTo>
                    <a:pt x="2489" y="106679"/>
                  </a:lnTo>
                  <a:lnTo>
                    <a:pt x="2616" y="105410"/>
                  </a:lnTo>
                  <a:lnTo>
                    <a:pt x="15786" y="69850"/>
                  </a:lnTo>
                  <a:lnTo>
                    <a:pt x="18986" y="63500"/>
                  </a:lnTo>
                  <a:lnTo>
                    <a:pt x="22440" y="58420"/>
                  </a:lnTo>
                  <a:lnTo>
                    <a:pt x="22783" y="58420"/>
                  </a:lnTo>
                  <a:lnTo>
                    <a:pt x="26504" y="52070"/>
                  </a:lnTo>
                  <a:lnTo>
                    <a:pt x="30086" y="48260"/>
                  </a:lnTo>
                  <a:lnTo>
                    <a:pt x="34670" y="43179"/>
                  </a:lnTo>
                  <a:lnTo>
                    <a:pt x="38658" y="38100"/>
                  </a:lnTo>
                  <a:lnTo>
                    <a:pt x="81965" y="38100"/>
                  </a:lnTo>
                  <a:lnTo>
                    <a:pt x="76923" y="40639"/>
                  </a:lnTo>
                  <a:lnTo>
                    <a:pt x="77444" y="40639"/>
                  </a:lnTo>
                  <a:lnTo>
                    <a:pt x="72555" y="43179"/>
                  </a:lnTo>
                  <a:lnTo>
                    <a:pt x="73063" y="43179"/>
                  </a:lnTo>
                  <a:lnTo>
                    <a:pt x="68325" y="45720"/>
                  </a:lnTo>
                  <a:lnTo>
                    <a:pt x="68821" y="45720"/>
                  </a:lnTo>
                  <a:lnTo>
                    <a:pt x="64261" y="49529"/>
                  </a:lnTo>
                  <a:lnTo>
                    <a:pt x="64731" y="49529"/>
                  </a:lnTo>
                  <a:lnTo>
                    <a:pt x="61819" y="52070"/>
                  </a:lnTo>
                  <a:lnTo>
                    <a:pt x="60807" y="52070"/>
                  </a:lnTo>
                  <a:lnTo>
                    <a:pt x="57664" y="55879"/>
                  </a:lnTo>
                  <a:lnTo>
                    <a:pt x="57048" y="55879"/>
                  </a:lnTo>
                  <a:lnTo>
                    <a:pt x="54057" y="59689"/>
                  </a:lnTo>
                  <a:lnTo>
                    <a:pt x="53466" y="59689"/>
                  </a:lnTo>
                  <a:lnTo>
                    <a:pt x="50619" y="63500"/>
                  </a:lnTo>
                  <a:lnTo>
                    <a:pt x="50063" y="63500"/>
                  </a:lnTo>
                  <a:lnTo>
                    <a:pt x="47377" y="67310"/>
                  </a:lnTo>
                  <a:lnTo>
                    <a:pt x="46850" y="67310"/>
                  </a:lnTo>
                  <a:lnTo>
                    <a:pt x="43484" y="72389"/>
                  </a:lnTo>
                  <a:lnTo>
                    <a:pt x="43827" y="72389"/>
                  </a:lnTo>
                  <a:lnTo>
                    <a:pt x="41475" y="76200"/>
                  </a:lnTo>
                  <a:lnTo>
                    <a:pt x="41008" y="76200"/>
                  </a:lnTo>
                  <a:lnTo>
                    <a:pt x="38100" y="81279"/>
                  </a:lnTo>
                  <a:lnTo>
                    <a:pt x="38404" y="81279"/>
                  </a:lnTo>
                  <a:lnTo>
                    <a:pt x="36404" y="85089"/>
                  </a:lnTo>
                  <a:lnTo>
                    <a:pt x="36004" y="85089"/>
                  </a:lnTo>
                  <a:lnTo>
                    <a:pt x="34074" y="90170"/>
                  </a:lnTo>
                  <a:lnTo>
                    <a:pt x="33832" y="90170"/>
                  </a:lnTo>
                  <a:lnTo>
                    <a:pt x="31673" y="95250"/>
                  </a:lnTo>
                  <a:lnTo>
                    <a:pt x="31889" y="95250"/>
                  </a:lnTo>
                  <a:lnTo>
                    <a:pt x="29997" y="100329"/>
                  </a:lnTo>
                  <a:lnTo>
                    <a:pt x="30187" y="100329"/>
                  </a:lnTo>
                  <a:lnTo>
                    <a:pt x="28562" y="105410"/>
                  </a:lnTo>
                  <a:lnTo>
                    <a:pt x="28714" y="105410"/>
                  </a:lnTo>
                  <a:lnTo>
                    <a:pt x="27637" y="110489"/>
                  </a:lnTo>
                  <a:lnTo>
                    <a:pt x="27495" y="110489"/>
                  </a:lnTo>
                  <a:lnTo>
                    <a:pt x="26238" y="117999"/>
                  </a:lnTo>
                  <a:lnTo>
                    <a:pt x="25762" y="121917"/>
                  </a:lnTo>
                  <a:lnTo>
                    <a:pt x="25723" y="122241"/>
                  </a:lnTo>
                  <a:lnTo>
                    <a:pt x="25486" y="125729"/>
                  </a:lnTo>
                  <a:lnTo>
                    <a:pt x="25400" y="127000"/>
                  </a:lnTo>
                  <a:lnTo>
                    <a:pt x="25267" y="132079"/>
                  </a:lnTo>
                  <a:lnTo>
                    <a:pt x="25234" y="614679"/>
                  </a:lnTo>
                  <a:lnTo>
                    <a:pt x="25364" y="619654"/>
                  </a:lnTo>
                  <a:lnTo>
                    <a:pt x="25768" y="626110"/>
                  </a:lnTo>
                  <a:lnTo>
                    <a:pt x="26441" y="631189"/>
                  </a:lnTo>
                  <a:lnTo>
                    <a:pt x="27368" y="636270"/>
                  </a:lnTo>
                  <a:lnTo>
                    <a:pt x="28714" y="642620"/>
                  </a:lnTo>
                  <a:lnTo>
                    <a:pt x="28887" y="642620"/>
                  </a:lnTo>
                  <a:lnTo>
                    <a:pt x="30187" y="647700"/>
                  </a:lnTo>
                  <a:lnTo>
                    <a:pt x="30375" y="647700"/>
                  </a:lnTo>
                  <a:lnTo>
                    <a:pt x="31889" y="652779"/>
                  </a:lnTo>
                  <a:lnTo>
                    <a:pt x="32213" y="652779"/>
                  </a:lnTo>
                  <a:lnTo>
                    <a:pt x="33832" y="656589"/>
                  </a:lnTo>
                  <a:lnTo>
                    <a:pt x="33591" y="656589"/>
                  </a:lnTo>
                  <a:lnTo>
                    <a:pt x="36004" y="661670"/>
                  </a:lnTo>
                  <a:lnTo>
                    <a:pt x="35737" y="661670"/>
                  </a:lnTo>
                  <a:lnTo>
                    <a:pt x="38404" y="666750"/>
                  </a:lnTo>
                  <a:lnTo>
                    <a:pt x="38827" y="666750"/>
                  </a:lnTo>
                  <a:lnTo>
                    <a:pt x="41008" y="670560"/>
                  </a:lnTo>
                  <a:lnTo>
                    <a:pt x="40690" y="670560"/>
                  </a:lnTo>
                  <a:lnTo>
                    <a:pt x="43827" y="675639"/>
                  </a:lnTo>
                  <a:lnTo>
                    <a:pt x="44326" y="675639"/>
                  </a:lnTo>
                  <a:lnTo>
                    <a:pt x="46850" y="679450"/>
                  </a:lnTo>
                  <a:lnTo>
                    <a:pt x="46481" y="679450"/>
                  </a:lnTo>
                  <a:lnTo>
                    <a:pt x="50063" y="683260"/>
                  </a:lnTo>
                  <a:lnTo>
                    <a:pt x="49669" y="683260"/>
                  </a:lnTo>
                  <a:lnTo>
                    <a:pt x="53466" y="687070"/>
                  </a:lnTo>
                  <a:lnTo>
                    <a:pt x="53060" y="687070"/>
                  </a:lnTo>
                  <a:lnTo>
                    <a:pt x="57048" y="690879"/>
                  </a:lnTo>
                  <a:lnTo>
                    <a:pt x="56616" y="690879"/>
                  </a:lnTo>
                  <a:lnTo>
                    <a:pt x="60807" y="694689"/>
                  </a:lnTo>
                  <a:lnTo>
                    <a:pt x="60363" y="694689"/>
                  </a:lnTo>
                  <a:lnTo>
                    <a:pt x="64731" y="698500"/>
                  </a:lnTo>
                  <a:lnTo>
                    <a:pt x="64261" y="698500"/>
                  </a:lnTo>
                  <a:lnTo>
                    <a:pt x="68821" y="701039"/>
                  </a:lnTo>
                  <a:lnTo>
                    <a:pt x="68325" y="701039"/>
                  </a:lnTo>
                  <a:lnTo>
                    <a:pt x="73063" y="704850"/>
                  </a:lnTo>
                  <a:lnTo>
                    <a:pt x="74184" y="704850"/>
                  </a:lnTo>
                  <a:lnTo>
                    <a:pt x="77444" y="707389"/>
                  </a:lnTo>
                  <a:lnTo>
                    <a:pt x="76923" y="707389"/>
                  </a:lnTo>
                  <a:lnTo>
                    <a:pt x="81965" y="709929"/>
                  </a:lnTo>
                  <a:lnTo>
                    <a:pt x="81432" y="709929"/>
                  </a:lnTo>
                  <a:lnTo>
                    <a:pt x="86626" y="712470"/>
                  </a:lnTo>
                  <a:lnTo>
                    <a:pt x="86067" y="712470"/>
                  </a:lnTo>
                  <a:lnTo>
                    <a:pt x="91401" y="713739"/>
                  </a:lnTo>
                  <a:lnTo>
                    <a:pt x="90830" y="713739"/>
                  </a:lnTo>
                  <a:lnTo>
                    <a:pt x="96304" y="716279"/>
                  </a:lnTo>
                  <a:lnTo>
                    <a:pt x="95719" y="716279"/>
                  </a:lnTo>
                  <a:lnTo>
                    <a:pt x="101320" y="717550"/>
                  </a:lnTo>
                  <a:lnTo>
                    <a:pt x="100723" y="717550"/>
                  </a:lnTo>
                  <a:lnTo>
                    <a:pt x="106438" y="718820"/>
                  </a:lnTo>
                  <a:lnTo>
                    <a:pt x="105829" y="718820"/>
                  </a:lnTo>
                  <a:lnTo>
                    <a:pt x="111658" y="720089"/>
                  </a:lnTo>
                  <a:lnTo>
                    <a:pt x="111036" y="720089"/>
                  </a:lnTo>
                  <a:lnTo>
                    <a:pt x="116979" y="721360"/>
                  </a:lnTo>
                  <a:lnTo>
                    <a:pt x="116344" y="721360"/>
                  </a:lnTo>
                  <a:lnTo>
                    <a:pt x="122377" y="722629"/>
                  </a:lnTo>
                  <a:lnTo>
                    <a:pt x="1776691" y="722629"/>
                  </a:lnTo>
                  <a:lnTo>
                    <a:pt x="1773212" y="725170"/>
                  </a:lnTo>
                  <a:lnTo>
                    <a:pt x="1772704" y="725170"/>
                  </a:lnTo>
                  <a:lnTo>
                    <a:pt x="1767293" y="728979"/>
                  </a:lnTo>
                  <a:lnTo>
                    <a:pt x="1761705" y="731520"/>
                  </a:lnTo>
                  <a:lnTo>
                    <a:pt x="1756498" y="735329"/>
                  </a:lnTo>
                  <a:lnTo>
                    <a:pt x="1750606" y="737870"/>
                  </a:lnTo>
                  <a:close/>
                </a:path>
                <a:path w="1831975" h="748029">
                  <a:moveTo>
                    <a:pt x="1771192" y="53339"/>
                  </a:moveTo>
                  <a:lnTo>
                    <a:pt x="1766811" y="49529"/>
                  </a:lnTo>
                  <a:lnTo>
                    <a:pt x="1767281" y="49529"/>
                  </a:lnTo>
                  <a:lnTo>
                    <a:pt x="1762734" y="45720"/>
                  </a:lnTo>
                  <a:lnTo>
                    <a:pt x="1763217" y="45720"/>
                  </a:lnTo>
                  <a:lnTo>
                    <a:pt x="1758492" y="43179"/>
                  </a:lnTo>
                  <a:lnTo>
                    <a:pt x="1759000" y="43179"/>
                  </a:lnTo>
                  <a:lnTo>
                    <a:pt x="1754111" y="40639"/>
                  </a:lnTo>
                  <a:lnTo>
                    <a:pt x="1754631" y="40639"/>
                  </a:lnTo>
                  <a:lnTo>
                    <a:pt x="1749577" y="38100"/>
                  </a:lnTo>
                  <a:lnTo>
                    <a:pt x="1792884" y="38100"/>
                  </a:lnTo>
                  <a:lnTo>
                    <a:pt x="1797291" y="43179"/>
                  </a:lnTo>
                  <a:lnTo>
                    <a:pt x="1801075" y="46989"/>
                  </a:lnTo>
                  <a:lnTo>
                    <a:pt x="1804540" y="52070"/>
                  </a:lnTo>
                  <a:lnTo>
                    <a:pt x="1770748" y="52070"/>
                  </a:lnTo>
                  <a:lnTo>
                    <a:pt x="1771192" y="53339"/>
                  </a:lnTo>
                  <a:close/>
                </a:path>
                <a:path w="1831975" h="748029">
                  <a:moveTo>
                    <a:pt x="60363" y="53339"/>
                  </a:moveTo>
                  <a:lnTo>
                    <a:pt x="60807" y="52070"/>
                  </a:lnTo>
                  <a:lnTo>
                    <a:pt x="61819" y="52070"/>
                  </a:lnTo>
                  <a:lnTo>
                    <a:pt x="60363" y="53339"/>
                  </a:lnTo>
                  <a:close/>
                </a:path>
                <a:path w="1831975" h="748029">
                  <a:moveTo>
                    <a:pt x="1774926" y="57150"/>
                  </a:moveTo>
                  <a:lnTo>
                    <a:pt x="1770748" y="52070"/>
                  </a:lnTo>
                  <a:lnTo>
                    <a:pt x="1804540" y="52070"/>
                  </a:lnTo>
                  <a:lnTo>
                    <a:pt x="1805406" y="53339"/>
                  </a:lnTo>
                  <a:lnTo>
                    <a:pt x="1807082" y="55879"/>
                  </a:lnTo>
                  <a:lnTo>
                    <a:pt x="1774507" y="55879"/>
                  </a:lnTo>
                  <a:lnTo>
                    <a:pt x="1774926" y="57150"/>
                  </a:lnTo>
                  <a:close/>
                </a:path>
                <a:path w="1831975" h="748029">
                  <a:moveTo>
                    <a:pt x="56616" y="57150"/>
                  </a:moveTo>
                  <a:lnTo>
                    <a:pt x="57048" y="55879"/>
                  </a:lnTo>
                  <a:lnTo>
                    <a:pt x="57664" y="55879"/>
                  </a:lnTo>
                  <a:lnTo>
                    <a:pt x="56616" y="57150"/>
                  </a:lnTo>
                  <a:close/>
                </a:path>
                <a:path w="1831975" h="748029">
                  <a:moveTo>
                    <a:pt x="1778495" y="60960"/>
                  </a:moveTo>
                  <a:lnTo>
                    <a:pt x="1774507" y="55879"/>
                  </a:lnTo>
                  <a:lnTo>
                    <a:pt x="1807082" y="55879"/>
                  </a:lnTo>
                  <a:lnTo>
                    <a:pt x="1808759" y="58420"/>
                  </a:lnTo>
                  <a:lnTo>
                    <a:pt x="1809102" y="58420"/>
                  </a:lnTo>
                  <a:lnTo>
                    <a:pt x="1809965" y="59689"/>
                  </a:lnTo>
                  <a:lnTo>
                    <a:pt x="1778088" y="59689"/>
                  </a:lnTo>
                  <a:lnTo>
                    <a:pt x="1778495" y="60960"/>
                  </a:lnTo>
                  <a:close/>
                </a:path>
                <a:path w="1831975" h="748029">
                  <a:moveTo>
                    <a:pt x="53060" y="60960"/>
                  </a:moveTo>
                  <a:lnTo>
                    <a:pt x="53466" y="59689"/>
                  </a:lnTo>
                  <a:lnTo>
                    <a:pt x="54057" y="59689"/>
                  </a:lnTo>
                  <a:lnTo>
                    <a:pt x="53060" y="60960"/>
                  </a:lnTo>
                  <a:close/>
                </a:path>
                <a:path w="1831975" h="748029">
                  <a:moveTo>
                    <a:pt x="1781873" y="64770"/>
                  </a:moveTo>
                  <a:lnTo>
                    <a:pt x="1778088" y="59689"/>
                  </a:lnTo>
                  <a:lnTo>
                    <a:pt x="1809965" y="59689"/>
                  </a:lnTo>
                  <a:lnTo>
                    <a:pt x="1812556" y="63500"/>
                  </a:lnTo>
                  <a:lnTo>
                    <a:pt x="1781492" y="63500"/>
                  </a:lnTo>
                  <a:lnTo>
                    <a:pt x="1781873" y="64770"/>
                  </a:lnTo>
                  <a:close/>
                </a:path>
                <a:path w="1831975" h="748029">
                  <a:moveTo>
                    <a:pt x="49669" y="64770"/>
                  </a:moveTo>
                  <a:lnTo>
                    <a:pt x="50063" y="63500"/>
                  </a:lnTo>
                  <a:lnTo>
                    <a:pt x="50619" y="63500"/>
                  </a:lnTo>
                  <a:lnTo>
                    <a:pt x="49669" y="64770"/>
                  </a:lnTo>
                  <a:close/>
                </a:path>
                <a:path w="1831975" h="748029">
                  <a:moveTo>
                    <a:pt x="1785073" y="68579"/>
                  </a:moveTo>
                  <a:lnTo>
                    <a:pt x="1781492" y="63500"/>
                  </a:lnTo>
                  <a:lnTo>
                    <a:pt x="1812556" y="63500"/>
                  </a:lnTo>
                  <a:lnTo>
                    <a:pt x="1814737" y="67310"/>
                  </a:lnTo>
                  <a:lnTo>
                    <a:pt x="1784705" y="67310"/>
                  </a:lnTo>
                  <a:lnTo>
                    <a:pt x="1785073" y="68579"/>
                  </a:lnTo>
                  <a:close/>
                </a:path>
                <a:path w="1831975" h="748029">
                  <a:moveTo>
                    <a:pt x="46481" y="68579"/>
                  </a:moveTo>
                  <a:lnTo>
                    <a:pt x="46850" y="67310"/>
                  </a:lnTo>
                  <a:lnTo>
                    <a:pt x="47377" y="67310"/>
                  </a:lnTo>
                  <a:lnTo>
                    <a:pt x="46481" y="68579"/>
                  </a:lnTo>
                  <a:close/>
                </a:path>
                <a:path w="1831975" h="748029">
                  <a:moveTo>
                    <a:pt x="1790865" y="77470"/>
                  </a:moveTo>
                  <a:lnTo>
                    <a:pt x="1787728" y="72389"/>
                  </a:lnTo>
                  <a:lnTo>
                    <a:pt x="1788071" y="72389"/>
                  </a:lnTo>
                  <a:lnTo>
                    <a:pt x="1784705" y="67310"/>
                  </a:lnTo>
                  <a:lnTo>
                    <a:pt x="1814737" y="67310"/>
                  </a:lnTo>
                  <a:lnTo>
                    <a:pt x="1815464" y="68579"/>
                  </a:lnTo>
                  <a:lnTo>
                    <a:pt x="1818424" y="74929"/>
                  </a:lnTo>
                  <a:lnTo>
                    <a:pt x="1819094" y="76200"/>
                  </a:lnTo>
                  <a:lnTo>
                    <a:pt x="1790534" y="76200"/>
                  </a:lnTo>
                  <a:lnTo>
                    <a:pt x="1790865" y="77470"/>
                  </a:lnTo>
                  <a:close/>
                </a:path>
                <a:path w="1831975" h="748029">
                  <a:moveTo>
                    <a:pt x="40690" y="77470"/>
                  </a:moveTo>
                  <a:lnTo>
                    <a:pt x="41008" y="76200"/>
                  </a:lnTo>
                  <a:lnTo>
                    <a:pt x="41475" y="76200"/>
                  </a:lnTo>
                  <a:lnTo>
                    <a:pt x="40690" y="77470"/>
                  </a:lnTo>
                  <a:close/>
                </a:path>
                <a:path w="1831975" h="748029">
                  <a:moveTo>
                    <a:pt x="1795818" y="86360"/>
                  </a:moveTo>
                  <a:lnTo>
                    <a:pt x="1793151" y="81279"/>
                  </a:lnTo>
                  <a:lnTo>
                    <a:pt x="1793443" y="81279"/>
                  </a:lnTo>
                  <a:lnTo>
                    <a:pt x="1790534" y="76200"/>
                  </a:lnTo>
                  <a:lnTo>
                    <a:pt x="1819094" y="76200"/>
                  </a:lnTo>
                  <a:lnTo>
                    <a:pt x="1821103" y="80010"/>
                  </a:lnTo>
                  <a:lnTo>
                    <a:pt x="1821345" y="81279"/>
                  </a:lnTo>
                  <a:lnTo>
                    <a:pt x="1822964" y="85089"/>
                  </a:lnTo>
                  <a:lnTo>
                    <a:pt x="1795538" y="85089"/>
                  </a:lnTo>
                  <a:lnTo>
                    <a:pt x="1795818" y="86360"/>
                  </a:lnTo>
                  <a:close/>
                </a:path>
                <a:path w="1831975" h="748029">
                  <a:moveTo>
                    <a:pt x="35737" y="86360"/>
                  </a:moveTo>
                  <a:lnTo>
                    <a:pt x="36004" y="85089"/>
                  </a:lnTo>
                  <a:lnTo>
                    <a:pt x="36404" y="85089"/>
                  </a:lnTo>
                  <a:lnTo>
                    <a:pt x="35737" y="86360"/>
                  </a:lnTo>
                  <a:close/>
                </a:path>
                <a:path w="1831975" h="748029">
                  <a:moveTo>
                    <a:pt x="1797964" y="91439"/>
                  </a:moveTo>
                  <a:lnTo>
                    <a:pt x="1795538" y="85089"/>
                  </a:lnTo>
                  <a:lnTo>
                    <a:pt x="1822964" y="85089"/>
                  </a:lnTo>
                  <a:lnTo>
                    <a:pt x="1823504" y="86360"/>
                  </a:lnTo>
                  <a:lnTo>
                    <a:pt x="1824883" y="90170"/>
                  </a:lnTo>
                  <a:lnTo>
                    <a:pt x="1797710" y="90170"/>
                  </a:lnTo>
                  <a:lnTo>
                    <a:pt x="1797964" y="91439"/>
                  </a:lnTo>
                  <a:close/>
                </a:path>
                <a:path w="1831975" h="748029">
                  <a:moveTo>
                    <a:pt x="33591" y="91439"/>
                  </a:moveTo>
                  <a:lnTo>
                    <a:pt x="33832" y="90170"/>
                  </a:lnTo>
                  <a:lnTo>
                    <a:pt x="34074" y="90170"/>
                  </a:lnTo>
                  <a:lnTo>
                    <a:pt x="33591" y="91439"/>
                  </a:lnTo>
                  <a:close/>
                </a:path>
                <a:path w="1831975" h="748029">
                  <a:moveTo>
                    <a:pt x="1828927" y="642620"/>
                  </a:moveTo>
                  <a:lnTo>
                    <a:pt x="1802828" y="642620"/>
                  </a:lnTo>
                  <a:lnTo>
                    <a:pt x="1805012" y="631189"/>
                  </a:lnTo>
                  <a:lnTo>
                    <a:pt x="1805724" y="626110"/>
                  </a:lnTo>
                  <a:lnTo>
                    <a:pt x="1805998" y="622300"/>
                  </a:lnTo>
                  <a:lnTo>
                    <a:pt x="1806089" y="125729"/>
                  </a:lnTo>
                  <a:lnTo>
                    <a:pt x="1805838" y="122241"/>
                  </a:lnTo>
                  <a:lnTo>
                    <a:pt x="1805309" y="117999"/>
                  </a:lnTo>
                  <a:lnTo>
                    <a:pt x="1804047" y="110489"/>
                  </a:lnTo>
                  <a:lnTo>
                    <a:pt x="1803905" y="110489"/>
                  </a:lnTo>
                  <a:lnTo>
                    <a:pt x="1802828" y="105410"/>
                  </a:lnTo>
                  <a:lnTo>
                    <a:pt x="1802993" y="105410"/>
                  </a:lnTo>
                  <a:lnTo>
                    <a:pt x="1801367" y="100329"/>
                  </a:lnTo>
                  <a:lnTo>
                    <a:pt x="1801558" y="100329"/>
                  </a:lnTo>
                  <a:lnTo>
                    <a:pt x="1799653" y="95250"/>
                  </a:lnTo>
                  <a:lnTo>
                    <a:pt x="1799869" y="95250"/>
                  </a:lnTo>
                  <a:lnTo>
                    <a:pt x="1797710" y="90170"/>
                  </a:lnTo>
                  <a:lnTo>
                    <a:pt x="1824883" y="90170"/>
                  </a:lnTo>
                  <a:lnTo>
                    <a:pt x="1825802" y="92710"/>
                  </a:lnTo>
                  <a:lnTo>
                    <a:pt x="1827428" y="99060"/>
                  </a:lnTo>
                  <a:lnTo>
                    <a:pt x="1828927" y="105410"/>
                  </a:lnTo>
                  <a:lnTo>
                    <a:pt x="1829053" y="106679"/>
                  </a:lnTo>
                  <a:lnTo>
                    <a:pt x="1829854" y="110489"/>
                  </a:lnTo>
                  <a:lnTo>
                    <a:pt x="1804047" y="110489"/>
                  </a:lnTo>
                  <a:lnTo>
                    <a:pt x="1804258" y="111745"/>
                  </a:lnTo>
                  <a:lnTo>
                    <a:pt x="1830117" y="111745"/>
                  </a:lnTo>
                  <a:lnTo>
                    <a:pt x="1830969" y="117999"/>
                  </a:lnTo>
                  <a:lnTo>
                    <a:pt x="1831047" y="119379"/>
                  </a:lnTo>
                  <a:lnTo>
                    <a:pt x="1831543" y="125729"/>
                  </a:lnTo>
                  <a:lnTo>
                    <a:pt x="1831450" y="622300"/>
                  </a:lnTo>
                  <a:lnTo>
                    <a:pt x="1830984" y="628650"/>
                  </a:lnTo>
                  <a:lnTo>
                    <a:pt x="1830120" y="635000"/>
                  </a:lnTo>
                  <a:lnTo>
                    <a:pt x="1829053" y="641350"/>
                  </a:lnTo>
                  <a:lnTo>
                    <a:pt x="1828927" y="642620"/>
                  </a:lnTo>
                  <a:close/>
                </a:path>
                <a:path w="1831975" h="748029">
                  <a:moveTo>
                    <a:pt x="27371" y="111745"/>
                  </a:moveTo>
                  <a:lnTo>
                    <a:pt x="27495" y="110489"/>
                  </a:lnTo>
                  <a:lnTo>
                    <a:pt x="27637" y="110489"/>
                  </a:lnTo>
                  <a:lnTo>
                    <a:pt x="27371" y="111745"/>
                  </a:lnTo>
                  <a:close/>
                </a:path>
                <a:path w="1831975" h="748029">
                  <a:moveTo>
                    <a:pt x="28887" y="642620"/>
                  </a:moveTo>
                  <a:lnTo>
                    <a:pt x="28714" y="642620"/>
                  </a:lnTo>
                  <a:lnTo>
                    <a:pt x="28445" y="641350"/>
                  </a:lnTo>
                  <a:lnTo>
                    <a:pt x="28887" y="642620"/>
                  </a:lnTo>
                  <a:close/>
                </a:path>
                <a:path w="1831975" h="748029">
                  <a:moveTo>
                    <a:pt x="1827728" y="647700"/>
                  </a:moveTo>
                  <a:lnTo>
                    <a:pt x="1801367" y="647700"/>
                  </a:lnTo>
                  <a:lnTo>
                    <a:pt x="1802993" y="641350"/>
                  </a:lnTo>
                  <a:lnTo>
                    <a:pt x="1802828" y="642620"/>
                  </a:lnTo>
                  <a:lnTo>
                    <a:pt x="1828927" y="642620"/>
                  </a:lnTo>
                  <a:lnTo>
                    <a:pt x="1827728" y="647700"/>
                  </a:lnTo>
                  <a:close/>
                </a:path>
                <a:path w="1831975" h="748029">
                  <a:moveTo>
                    <a:pt x="1826209" y="652779"/>
                  </a:moveTo>
                  <a:lnTo>
                    <a:pt x="1799653" y="652779"/>
                  </a:lnTo>
                  <a:lnTo>
                    <a:pt x="1802476" y="643370"/>
                  </a:lnTo>
                  <a:lnTo>
                    <a:pt x="1801367" y="647700"/>
                  </a:lnTo>
                  <a:lnTo>
                    <a:pt x="1827728" y="647700"/>
                  </a:lnTo>
                  <a:lnTo>
                    <a:pt x="1827428" y="648970"/>
                  </a:lnTo>
                  <a:lnTo>
                    <a:pt x="1826209" y="652779"/>
                  </a:lnTo>
                  <a:close/>
                </a:path>
                <a:path w="1831975" h="748029">
                  <a:moveTo>
                    <a:pt x="30375" y="647700"/>
                  </a:moveTo>
                  <a:lnTo>
                    <a:pt x="30187" y="647700"/>
                  </a:lnTo>
                  <a:lnTo>
                    <a:pt x="29997" y="646429"/>
                  </a:lnTo>
                  <a:lnTo>
                    <a:pt x="30375" y="647700"/>
                  </a:lnTo>
                  <a:close/>
                </a:path>
                <a:path w="1831975" h="748029">
                  <a:moveTo>
                    <a:pt x="32213" y="652779"/>
                  </a:moveTo>
                  <a:lnTo>
                    <a:pt x="31889" y="652779"/>
                  </a:lnTo>
                  <a:lnTo>
                    <a:pt x="31673" y="651510"/>
                  </a:lnTo>
                  <a:lnTo>
                    <a:pt x="32213" y="652779"/>
                  </a:lnTo>
                  <a:close/>
                </a:path>
                <a:path w="1831975" h="748029">
                  <a:moveTo>
                    <a:pt x="1821345" y="666750"/>
                  </a:moveTo>
                  <a:lnTo>
                    <a:pt x="1793151" y="666750"/>
                  </a:lnTo>
                  <a:lnTo>
                    <a:pt x="1795818" y="661670"/>
                  </a:lnTo>
                  <a:lnTo>
                    <a:pt x="1795538" y="661670"/>
                  </a:lnTo>
                  <a:lnTo>
                    <a:pt x="1797964" y="656589"/>
                  </a:lnTo>
                  <a:lnTo>
                    <a:pt x="1797710" y="656589"/>
                  </a:lnTo>
                  <a:lnTo>
                    <a:pt x="1799869" y="651510"/>
                  </a:lnTo>
                  <a:lnTo>
                    <a:pt x="1799653" y="652779"/>
                  </a:lnTo>
                  <a:lnTo>
                    <a:pt x="1826209" y="652779"/>
                  </a:lnTo>
                  <a:lnTo>
                    <a:pt x="1823719" y="660400"/>
                  </a:lnTo>
                  <a:lnTo>
                    <a:pt x="1823504" y="660400"/>
                  </a:lnTo>
                  <a:lnTo>
                    <a:pt x="1821345" y="666750"/>
                  </a:lnTo>
                  <a:close/>
                </a:path>
                <a:path w="1831975" h="748029">
                  <a:moveTo>
                    <a:pt x="38827" y="666750"/>
                  </a:moveTo>
                  <a:lnTo>
                    <a:pt x="38404" y="666750"/>
                  </a:lnTo>
                  <a:lnTo>
                    <a:pt x="38100" y="665479"/>
                  </a:lnTo>
                  <a:lnTo>
                    <a:pt x="38827" y="666750"/>
                  </a:lnTo>
                  <a:close/>
                </a:path>
                <a:path w="1831975" h="748029">
                  <a:moveTo>
                    <a:pt x="1817090" y="675639"/>
                  </a:moveTo>
                  <a:lnTo>
                    <a:pt x="1787728" y="675639"/>
                  </a:lnTo>
                  <a:lnTo>
                    <a:pt x="1790865" y="670560"/>
                  </a:lnTo>
                  <a:lnTo>
                    <a:pt x="1790534" y="670560"/>
                  </a:lnTo>
                  <a:lnTo>
                    <a:pt x="1793443" y="665479"/>
                  </a:lnTo>
                  <a:lnTo>
                    <a:pt x="1793151" y="666750"/>
                  </a:lnTo>
                  <a:lnTo>
                    <a:pt x="1821103" y="666750"/>
                  </a:lnTo>
                  <a:lnTo>
                    <a:pt x="1818424" y="673100"/>
                  </a:lnTo>
                  <a:lnTo>
                    <a:pt x="1817090" y="675639"/>
                  </a:lnTo>
                  <a:close/>
                </a:path>
                <a:path w="1831975" h="748029">
                  <a:moveTo>
                    <a:pt x="44326" y="675639"/>
                  </a:moveTo>
                  <a:lnTo>
                    <a:pt x="43827" y="675639"/>
                  </a:lnTo>
                  <a:lnTo>
                    <a:pt x="43484" y="674370"/>
                  </a:lnTo>
                  <a:lnTo>
                    <a:pt x="44326" y="675639"/>
                  </a:lnTo>
                  <a:close/>
                </a:path>
                <a:path w="1831975" h="748029">
                  <a:moveTo>
                    <a:pt x="1796189" y="704850"/>
                  </a:moveTo>
                  <a:lnTo>
                    <a:pt x="1758492" y="704850"/>
                  </a:lnTo>
                  <a:lnTo>
                    <a:pt x="1763217" y="701039"/>
                  </a:lnTo>
                  <a:lnTo>
                    <a:pt x="1762734" y="701039"/>
                  </a:lnTo>
                  <a:lnTo>
                    <a:pt x="1767281" y="698500"/>
                  </a:lnTo>
                  <a:lnTo>
                    <a:pt x="1766811" y="698500"/>
                  </a:lnTo>
                  <a:lnTo>
                    <a:pt x="1771192" y="694689"/>
                  </a:lnTo>
                  <a:lnTo>
                    <a:pt x="1770748" y="694689"/>
                  </a:lnTo>
                  <a:lnTo>
                    <a:pt x="1774926" y="690879"/>
                  </a:lnTo>
                  <a:lnTo>
                    <a:pt x="1774507" y="690879"/>
                  </a:lnTo>
                  <a:lnTo>
                    <a:pt x="1778495" y="687070"/>
                  </a:lnTo>
                  <a:lnTo>
                    <a:pt x="1778088" y="687070"/>
                  </a:lnTo>
                  <a:lnTo>
                    <a:pt x="1781873" y="683260"/>
                  </a:lnTo>
                  <a:lnTo>
                    <a:pt x="1781492" y="683260"/>
                  </a:lnTo>
                  <a:lnTo>
                    <a:pt x="1785073" y="679450"/>
                  </a:lnTo>
                  <a:lnTo>
                    <a:pt x="1784705" y="679450"/>
                  </a:lnTo>
                  <a:lnTo>
                    <a:pt x="1788071" y="674370"/>
                  </a:lnTo>
                  <a:lnTo>
                    <a:pt x="1787728" y="675639"/>
                  </a:lnTo>
                  <a:lnTo>
                    <a:pt x="1817090" y="675639"/>
                  </a:lnTo>
                  <a:lnTo>
                    <a:pt x="1815757" y="678179"/>
                  </a:lnTo>
                  <a:lnTo>
                    <a:pt x="1812556" y="683260"/>
                  </a:lnTo>
                  <a:lnTo>
                    <a:pt x="1809102" y="689610"/>
                  </a:lnTo>
                  <a:lnTo>
                    <a:pt x="1808759" y="689610"/>
                  </a:lnTo>
                  <a:lnTo>
                    <a:pt x="1805038" y="694689"/>
                  </a:lnTo>
                  <a:lnTo>
                    <a:pt x="1801075" y="699770"/>
                  </a:lnTo>
                  <a:lnTo>
                    <a:pt x="1797291" y="703579"/>
                  </a:lnTo>
                  <a:lnTo>
                    <a:pt x="1796189" y="704850"/>
                  </a:lnTo>
                  <a:close/>
                </a:path>
                <a:path w="1831975" h="748029">
                  <a:moveTo>
                    <a:pt x="74184" y="704850"/>
                  </a:moveTo>
                  <a:lnTo>
                    <a:pt x="73063" y="704850"/>
                  </a:lnTo>
                  <a:lnTo>
                    <a:pt x="72555" y="703579"/>
                  </a:lnTo>
                  <a:lnTo>
                    <a:pt x="74184" y="704850"/>
                  </a:lnTo>
                  <a:close/>
                </a:path>
                <a:path w="1831975" h="748029">
                  <a:moveTo>
                    <a:pt x="1744401" y="712728"/>
                  </a:moveTo>
                  <a:lnTo>
                    <a:pt x="1750123" y="709929"/>
                  </a:lnTo>
                  <a:lnTo>
                    <a:pt x="1749577" y="709929"/>
                  </a:lnTo>
                  <a:lnTo>
                    <a:pt x="1754631" y="707389"/>
                  </a:lnTo>
                  <a:lnTo>
                    <a:pt x="1754111" y="707389"/>
                  </a:lnTo>
                  <a:lnTo>
                    <a:pt x="1759000" y="703579"/>
                  </a:lnTo>
                  <a:lnTo>
                    <a:pt x="1758492" y="704850"/>
                  </a:lnTo>
                  <a:lnTo>
                    <a:pt x="1796189" y="704850"/>
                  </a:lnTo>
                  <a:lnTo>
                    <a:pt x="1792884" y="708660"/>
                  </a:lnTo>
                  <a:lnTo>
                    <a:pt x="1792452" y="708660"/>
                  </a:lnTo>
                  <a:lnTo>
                    <a:pt x="1788975" y="712470"/>
                  </a:lnTo>
                  <a:lnTo>
                    <a:pt x="1745487" y="712470"/>
                  </a:lnTo>
                  <a:lnTo>
                    <a:pt x="1744401" y="712728"/>
                  </a:lnTo>
                  <a:close/>
                </a:path>
                <a:path w="1831975" h="748029">
                  <a:moveTo>
                    <a:pt x="87154" y="712728"/>
                  </a:moveTo>
                  <a:lnTo>
                    <a:pt x="86067" y="712470"/>
                  </a:lnTo>
                  <a:lnTo>
                    <a:pt x="86626" y="712470"/>
                  </a:lnTo>
                  <a:lnTo>
                    <a:pt x="87154" y="712728"/>
                  </a:lnTo>
                  <a:close/>
                </a:path>
                <a:path w="1831975" h="748029">
                  <a:moveTo>
                    <a:pt x="1734680" y="716539"/>
                  </a:moveTo>
                  <a:lnTo>
                    <a:pt x="1740712" y="713739"/>
                  </a:lnTo>
                  <a:lnTo>
                    <a:pt x="1740141" y="713739"/>
                  </a:lnTo>
                  <a:lnTo>
                    <a:pt x="1745488" y="712470"/>
                  </a:lnTo>
                  <a:lnTo>
                    <a:pt x="1788975" y="712470"/>
                  </a:lnTo>
                  <a:lnTo>
                    <a:pt x="1787817" y="713739"/>
                  </a:lnTo>
                  <a:lnTo>
                    <a:pt x="1784904" y="716279"/>
                  </a:lnTo>
                  <a:lnTo>
                    <a:pt x="1735823" y="716279"/>
                  </a:lnTo>
                  <a:lnTo>
                    <a:pt x="1734680" y="716539"/>
                  </a:lnTo>
                  <a:close/>
                </a:path>
                <a:path w="1831975" h="748029">
                  <a:moveTo>
                    <a:pt x="96862" y="716539"/>
                  </a:moveTo>
                  <a:lnTo>
                    <a:pt x="95719" y="716279"/>
                  </a:lnTo>
                  <a:lnTo>
                    <a:pt x="96304" y="716279"/>
                  </a:lnTo>
                  <a:lnTo>
                    <a:pt x="96862" y="716539"/>
                  </a:lnTo>
                  <a:close/>
                </a:path>
                <a:path w="1831975" h="748029">
                  <a:moveTo>
                    <a:pt x="1776691" y="722629"/>
                  </a:moveTo>
                  <a:lnTo>
                    <a:pt x="1709165" y="722629"/>
                  </a:lnTo>
                  <a:lnTo>
                    <a:pt x="1715211" y="721360"/>
                  </a:lnTo>
                  <a:lnTo>
                    <a:pt x="1714576" y="721360"/>
                  </a:lnTo>
                  <a:lnTo>
                    <a:pt x="1720507" y="720089"/>
                  </a:lnTo>
                  <a:lnTo>
                    <a:pt x="1719884" y="720089"/>
                  </a:lnTo>
                  <a:lnTo>
                    <a:pt x="1725714" y="718820"/>
                  </a:lnTo>
                  <a:lnTo>
                    <a:pt x="1725104" y="718820"/>
                  </a:lnTo>
                  <a:lnTo>
                    <a:pt x="1730832" y="717550"/>
                  </a:lnTo>
                  <a:lnTo>
                    <a:pt x="1730222" y="717550"/>
                  </a:lnTo>
                  <a:lnTo>
                    <a:pt x="1735823" y="716279"/>
                  </a:lnTo>
                  <a:lnTo>
                    <a:pt x="1784904" y="716279"/>
                  </a:lnTo>
                  <a:lnTo>
                    <a:pt x="1783448" y="717550"/>
                  </a:lnTo>
                  <a:lnTo>
                    <a:pt x="1778431" y="721360"/>
                  </a:lnTo>
                  <a:lnTo>
                    <a:pt x="1776691" y="722629"/>
                  </a:lnTo>
                  <a:close/>
                </a:path>
                <a:path w="1831975" h="748029">
                  <a:moveTo>
                    <a:pt x="1725599" y="745489"/>
                  </a:moveTo>
                  <a:lnTo>
                    <a:pt x="105956" y="745489"/>
                  </a:lnTo>
                  <a:lnTo>
                    <a:pt x="99504" y="744220"/>
                  </a:lnTo>
                  <a:lnTo>
                    <a:pt x="93776" y="741679"/>
                  </a:lnTo>
                  <a:lnTo>
                    <a:pt x="87579" y="740410"/>
                  </a:lnTo>
                  <a:lnTo>
                    <a:pt x="81521" y="737870"/>
                  </a:lnTo>
                  <a:lnTo>
                    <a:pt x="1750034" y="737870"/>
                  </a:lnTo>
                  <a:lnTo>
                    <a:pt x="1744560" y="740410"/>
                  </a:lnTo>
                  <a:lnTo>
                    <a:pt x="1737766" y="741679"/>
                  </a:lnTo>
                  <a:lnTo>
                    <a:pt x="1732051" y="744220"/>
                  </a:lnTo>
                  <a:lnTo>
                    <a:pt x="1725599" y="745489"/>
                  </a:lnTo>
                  <a:close/>
                </a:path>
                <a:path w="1831975" h="748029">
                  <a:moveTo>
                    <a:pt x="1719033" y="746760"/>
                  </a:moveTo>
                  <a:lnTo>
                    <a:pt x="112509" y="746760"/>
                  </a:lnTo>
                  <a:lnTo>
                    <a:pt x="106578" y="745489"/>
                  </a:lnTo>
                  <a:lnTo>
                    <a:pt x="1724977" y="745489"/>
                  </a:lnTo>
                  <a:lnTo>
                    <a:pt x="1719033" y="746760"/>
                  </a:lnTo>
                  <a:close/>
                </a:path>
                <a:path w="1831975" h="748029">
                  <a:moveTo>
                    <a:pt x="1711731" y="748029"/>
                  </a:moveTo>
                  <a:lnTo>
                    <a:pt x="119811" y="748029"/>
                  </a:lnTo>
                  <a:lnTo>
                    <a:pt x="119176" y="746760"/>
                  </a:lnTo>
                  <a:lnTo>
                    <a:pt x="1712379" y="746760"/>
                  </a:lnTo>
                  <a:lnTo>
                    <a:pt x="1711731" y="748029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73313" y="4346000"/>
            <a:ext cx="551974" cy="33147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特征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448" y="4252846"/>
            <a:ext cx="1923183" cy="56102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29791" y="4346000"/>
            <a:ext cx="1085374" cy="331470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预测结果</a:t>
            </a:r>
            <a:endParaRPr sz="21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17812" y="2827400"/>
            <a:ext cx="1568767" cy="1839754"/>
            <a:chOff x="6023749" y="2626867"/>
            <a:chExt cx="2091689" cy="2453005"/>
          </a:xfrm>
        </p:grpSpPr>
        <p:sp>
          <p:nvSpPr>
            <p:cNvPr id="24" name="object 24"/>
            <p:cNvSpPr/>
            <p:nvPr/>
          </p:nvSpPr>
          <p:spPr>
            <a:xfrm>
              <a:off x="6036564" y="4736591"/>
              <a:ext cx="706120" cy="330835"/>
            </a:xfrm>
            <a:custGeom>
              <a:avLst/>
              <a:gdLst/>
              <a:ahLst/>
              <a:cxnLst/>
              <a:rect l="l" t="t" r="r" b="b"/>
              <a:pathLst>
                <a:path w="706120" h="330835">
                  <a:moveTo>
                    <a:pt x="539495" y="330708"/>
                  </a:moveTo>
                  <a:lnTo>
                    <a:pt x="539495" y="248412"/>
                  </a:lnTo>
                  <a:lnTo>
                    <a:pt x="0" y="248412"/>
                  </a:lnTo>
                  <a:lnTo>
                    <a:pt x="0" y="82296"/>
                  </a:lnTo>
                  <a:lnTo>
                    <a:pt x="539495" y="82296"/>
                  </a:lnTo>
                  <a:lnTo>
                    <a:pt x="539495" y="0"/>
                  </a:lnTo>
                  <a:lnTo>
                    <a:pt x="705612" y="164592"/>
                  </a:lnTo>
                  <a:lnTo>
                    <a:pt x="539495" y="3307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023749" y="4723676"/>
              <a:ext cx="730885" cy="356235"/>
            </a:xfrm>
            <a:custGeom>
              <a:avLst/>
              <a:gdLst/>
              <a:ahLst/>
              <a:cxnLst/>
              <a:rect l="l" t="t" r="r" b="b"/>
              <a:pathLst>
                <a:path w="730884" h="356235">
                  <a:moveTo>
                    <a:pt x="539661" y="95402"/>
                  </a:moveTo>
                  <a:lnTo>
                    <a:pt x="539661" y="12661"/>
                  </a:lnTo>
                  <a:lnTo>
                    <a:pt x="539953" y="9969"/>
                  </a:lnTo>
                  <a:lnTo>
                    <a:pt x="551446" y="0"/>
                  </a:lnTo>
                  <a:lnTo>
                    <a:pt x="553817" y="0"/>
                  </a:lnTo>
                  <a:lnTo>
                    <a:pt x="556793" y="762"/>
                  </a:lnTo>
                  <a:lnTo>
                    <a:pt x="559219" y="1981"/>
                  </a:lnTo>
                  <a:lnTo>
                    <a:pt x="561339" y="3683"/>
                  </a:lnTo>
                  <a:lnTo>
                    <a:pt x="570318" y="12661"/>
                  </a:lnTo>
                  <a:lnTo>
                    <a:pt x="565061" y="12661"/>
                  </a:lnTo>
                  <a:lnTo>
                    <a:pt x="543382" y="21640"/>
                  </a:lnTo>
                  <a:lnTo>
                    <a:pt x="565061" y="43321"/>
                  </a:lnTo>
                  <a:lnTo>
                    <a:pt x="565061" y="82702"/>
                  </a:lnTo>
                  <a:lnTo>
                    <a:pt x="552361" y="82702"/>
                  </a:lnTo>
                  <a:lnTo>
                    <a:pt x="539661" y="95402"/>
                  </a:lnTo>
                  <a:close/>
                </a:path>
                <a:path w="730884" h="356235">
                  <a:moveTo>
                    <a:pt x="565061" y="43321"/>
                  </a:moveTo>
                  <a:lnTo>
                    <a:pt x="543382" y="21640"/>
                  </a:lnTo>
                  <a:lnTo>
                    <a:pt x="565061" y="12661"/>
                  </a:lnTo>
                  <a:lnTo>
                    <a:pt x="565061" y="43321"/>
                  </a:lnTo>
                  <a:close/>
                </a:path>
                <a:path w="730884" h="356235">
                  <a:moveTo>
                    <a:pt x="699872" y="178142"/>
                  </a:moveTo>
                  <a:lnTo>
                    <a:pt x="565061" y="43321"/>
                  </a:lnTo>
                  <a:lnTo>
                    <a:pt x="565061" y="12661"/>
                  </a:lnTo>
                  <a:lnTo>
                    <a:pt x="570318" y="12661"/>
                  </a:lnTo>
                  <a:lnTo>
                    <a:pt x="726821" y="169163"/>
                  </a:lnTo>
                  <a:lnTo>
                    <a:pt x="708850" y="169163"/>
                  </a:lnTo>
                  <a:lnTo>
                    <a:pt x="699872" y="178142"/>
                  </a:lnTo>
                  <a:close/>
                </a:path>
                <a:path w="730884" h="356235">
                  <a:moveTo>
                    <a:pt x="539661" y="273583"/>
                  </a:moveTo>
                  <a:lnTo>
                    <a:pt x="12700" y="273583"/>
                  </a:lnTo>
                  <a:lnTo>
                    <a:pt x="10223" y="273342"/>
                  </a:lnTo>
                  <a:lnTo>
                    <a:pt x="0" y="260883"/>
                  </a:lnTo>
                  <a:lnTo>
                    <a:pt x="0" y="95402"/>
                  </a:lnTo>
                  <a:lnTo>
                    <a:pt x="12700" y="82702"/>
                  </a:lnTo>
                  <a:lnTo>
                    <a:pt x="539661" y="82702"/>
                  </a:lnTo>
                  <a:lnTo>
                    <a:pt x="539661" y="95402"/>
                  </a:lnTo>
                  <a:lnTo>
                    <a:pt x="25400" y="95402"/>
                  </a:lnTo>
                  <a:lnTo>
                    <a:pt x="12700" y="108102"/>
                  </a:lnTo>
                  <a:lnTo>
                    <a:pt x="25400" y="108102"/>
                  </a:lnTo>
                  <a:lnTo>
                    <a:pt x="25400" y="248183"/>
                  </a:lnTo>
                  <a:lnTo>
                    <a:pt x="12700" y="248183"/>
                  </a:lnTo>
                  <a:lnTo>
                    <a:pt x="25400" y="260883"/>
                  </a:lnTo>
                  <a:lnTo>
                    <a:pt x="539661" y="260883"/>
                  </a:lnTo>
                  <a:lnTo>
                    <a:pt x="539661" y="273583"/>
                  </a:lnTo>
                  <a:close/>
                </a:path>
                <a:path w="730884" h="356235">
                  <a:moveTo>
                    <a:pt x="552361" y="108102"/>
                  </a:moveTo>
                  <a:lnTo>
                    <a:pt x="25400" y="108102"/>
                  </a:lnTo>
                  <a:lnTo>
                    <a:pt x="25400" y="95402"/>
                  </a:lnTo>
                  <a:lnTo>
                    <a:pt x="539661" y="95402"/>
                  </a:lnTo>
                  <a:lnTo>
                    <a:pt x="552361" y="82702"/>
                  </a:lnTo>
                  <a:lnTo>
                    <a:pt x="565061" y="82702"/>
                  </a:lnTo>
                  <a:lnTo>
                    <a:pt x="565061" y="95402"/>
                  </a:lnTo>
                  <a:lnTo>
                    <a:pt x="554837" y="107861"/>
                  </a:lnTo>
                  <a:lnTo>
                    <a:pt x="552361" y="108102"/>
                  </a:lnTo>
                  <a:close/>
                </a:path>
                <a:path w="730884" h="356235">
                  <a:moveTo>
                    <a:pt x="25400" y="108102"/>
                  </a:moveTo>
                  <a:lnTo>
                    <a:pt x="12700" y="108102"/>
                  </a:lnTo>
                  <a:lnTo>
                    <a:pt x="25400" y="95402"/>
                  </a:lnTo>
                  <a:lnTo>
                    <a:pt x="25400" y="108102"/>
                  </a:lnTo>
                  <a:close/>
                </a:path>
                <a:path w="730884" h="356235">
                  <a:moveTo>
                    <a:pt x="708850" y="187121"/>
                  </a:moveTo>
                  <a:lnTo>
                    <a:pt x="699872" y="178142"/>
                  </a:lnTo>
                  <a:lnTo>
                    <a:pt x="708850" y="169163"/>
                  </a:lnTo>
                  <a:lnTo>
                    <a:pt x="708850" y="187121"/>
                  </a:lnTo>
                  <a:close/>
                </a:path>
                <a:path w="730884" h="356235">
                  <a:moveTo>
                    <a:pt x="726821" y="187121"/>
                  </a:moveTo>
                  <a:lnTo>
                    <a:pt x="708850" y="187121"/>
                  </a:lnTo>
                  <a:lnTo>
                    <a:pt x="708850" y="169163"/>
                  </a:lnTo>
                  <a:lnTo>
                    <a:pt x="726821" y="169163"/>
                  </a:lnTo>
                  <a:lnTo>
                    <a:pt x="728395" y="171081"/>
                  </a:lnTo>
                  <a:lnTo>
                    <a:pt x="729564" y="173278"/>
                  </a:lnTo>
                  <a:lnTo>
                    <a:pt x="730288" y="175666"/>
                  </a:lnTo>
                  <a:lnTo>
                    <a:pt x="730542" y="178142"/>
                  </a:lnTo>
                  <a:lnTo>
                    <a:pt x="730288" y="180619"/>
                  </a:lnTo>
                  <a:lnTo>
                    <a:pt x="729564" y="183007"/>
                  </a:lnTo>
                  <a:lnTo>
                    <a:pt x="728395" y="185204"/>
                  </a:lnTo>
                  <a:lnTo>
                    <a:pt x="726821" y="187121"/>
                  </a:lnTo>
                  <a:close/>
                </a:path>
                <a:path w="730884" h="356235">
                  <a:moveTo>
                    <a:pt x="570318" y="343623"/>
                  </a:moveTo>
                  <a:lnTo>
                    <a:pt x="565061" y="343623"/>
                  </a:lnTo>
                  <a:lnTo>
                    <a:pt x="565061" y="312964"/>
                  </a:lnTo>
                  <a:lnTo>
                    <a:pt x="699872" y="178142"/>
                  </a:lnTo>
                  <a:lnTo>
                    <a:pt x="708850" y="187121"/>
                  </a:lnTo>
                  <a:lnTo>
                    <a:pt x="726821" y="187121"/>
                  </a:lnTo>
                  <a:lnTo>
                    <a:pt x="570318" y="343623"/>
                  </a:lnTo>
                  <a:close/>
                </a:path>
                <a:path w="730884" h="356235">
                  <a:moveTo>
                    <a:pt x="25400" y="260883"/>
                  </a:moveTo>
                  <a:lnTo>
                    <a:pt x="12700" y="248183"/>
                  </a:lnTo>
                  <a:lnTo>
                    <a:pt x="25400" y="248183"/>
                  </a:lnTo>
                  <a:lnTo>
                    <a:pt x="25400" y="260883"/>
                  </a:lnTo>
                  <a:close/>
                </a:path>
                <a:path w="730884" h="356235">
                  <a:moveTo>
                    <a:pt x="565061" y="273583"/>
                  </a:moveTo>
                  <a:lnTo>
                    <a:pt x="552361" y="273583"/>
                  </a:lnTo>
                  <a:lnTo>
                    <a:pt x="539661" y="260883"/>
                  </a:lnTo>
                  <a:lnTo>
                    <a:pt x="25400" y="260883"/>
                  </a:lnTo>
                  <a:lnTo>
                    <a:pt x="25400" y="248183"/>
                  </a:lnTo>
                  <a:lnTo>
                    <a:pt x="552361" y="248183"/>
                  </a:lnTo>
                  <a:lnTo>
                    <a:pt x="565061" y="260883"/>
                  </a:lnTo>
                  <a:lnTo>
                    <a:pt x="565061" y="273583"/>
                  </a:lnTo>
                  <a:close/>
                </a:path>
                <a:path w="730884" h="356235">
                  <a:moveTo>
                    <a:pt x="554164" y="356196"/>
                  </a:moveTo>
                  <a:lnTo>
                    <a:pt x="550955" y="356196"/>
                  </a:lnTo>
                  <a:lnTo>
                    <a:pt x="548779" y="355803"/>
                  </a:lnTo>
                  <a:lnTo>
                    <a:pt x="539661" y="343623"/>
                  </a:lnTo>
                  <a:lnTo>
                    <a:pt x="539661" y="260883"/>
                  </a:lnTo>
                  <a:lnTo>
                    <a:pt x="552361" y="273583"/>
                  </a:lnTo>
                  <a:lnTo>
                    <a:pt x="565061" y="273583"/>
                  </a:lnTo>
                  <a:lnTo>
                    <a:pt x="565061" y="312964"/>
                  </a:lnTo>
                  <a:lnTo>
                    <a:pt x="543382" y="334645"/>
                  </a:lnTo>
                  <a:lnTo>
                    <a:pt x="565061" y="343623"/>
                  </a:lnTo>
                  <a:lnTo>
                    <a:pt x="570318" y="343623"/>
                  </a:lnTo>
                  <a:lnTo>
                    <a:pt x="561339" y="352602"/>
                  </a:lnTo>
                  <a:lnTo>
                    <a:pt x="559219" y="354304"/>
                  </a:lnTo>
                  <a:lnTo>
                    <a:pt x="556793" y="355523"/>
                  </a:lnTo>
                  <a:lnTo>
                    <a:pt x="554164" y="356196"/>
                  </a:lnTo>
                  <a:close/>
                </a:path>
                <a:path w="730884" h="356235">
                  <a:moveTo>
                    <a:pt x="565061" y="343623"/>
                  </a:moveTo>
                  <a:lnTo>
                    <a:pt x="543382" y="334645"/>
                  </a:lnTo>
                  <a:lnTo>
                    <a:pt x="565061" y="312964"/>
                  </a:lnTo>
                  <a:lnTo>
                    <a:pt x="565061" y="343623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778496" y="2639567"/>
              <a:ext cx="323215" cy="530860"/>
            </a:xfrm>
            <a:custGeom>
              <a:avLst/>
              <a:gdLst/>
              <a:ahLst/>
              <a:cxnLst/>
              <a:rect l="l" t="t" r="r" b="b"/>
              <a:pathLst>
                <a:path w="323215" h="530860">
                  <a:moveTo>
                    <a:pt x="161544" y="530351"/>
                  </a:moveTo>
                  <a:lnTo>
                    <a:pt x="0" y="368807"/>
                  </a:lnTo>
                  <a:lnTo>
                    <a:pt x="80772" y="368807"/>
                  </a:lnTo>
                  <a:lnTo>
                    <a:pt x="80772" y="0"/>
                  </a:lnTo>
                  <a:lnTo>
                    <a:pt x="242315" y="0"/>
                  </a:lnTo>
                  <a:lnTo>
                    <a:pt x="242315" y="368807"/>
                  </a:lnTo>
                  <a:lnTo>
                    <a:pt x="323087" y="368807"/>
                  </a:lnTo>
                  <a:lnTo>
                    <a:pt x="161544" y="53035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766558" y="2626867"/>
              <a:ext cx="348615" cy="556260"/>
            </a:xfrm>
            <a:custGeom>
              <a:avLst/>
              <a:gdLst/>
              <a:ahLst/>
              <a:cxnLst/>
              <a:rect l="l" t="t" r="r" b="b"/>
              <a:pathLst>
                <a:path w="348615" h="556260">
                  <a:moveTo>
                    <a:pt x="80708" y="381825"/>
                  </a:moveTo>
                  <a:lnTo>
                    <a:pt x="80708" y="12699"/>
                  </a:lnTo>
                  <a:lnTo>
                    <a:pt x="80962" y="10223"/>
                  </a:lnTo>
                  <a:lnTo>
                    <a:pt x="93408" y="0"/>
                  </a:lnTo>
                  <a:lnTo>
                    <a:pt x="254914" y="0"/>
                  </a:lnTo>
                  <a:lnTo>
                    <a:pt x="267614" y="12699"/>
                  </a:lnTo>
                  <a:lnTo>
                    <a:pt x="106108" y="12699"/>
                  </a:lnTo>
                  <a:lnTo>
                    <a:pt x="93408" y="25399"/>
                  </a:lnTo>
                  <a:lnTo>
                    <a:pt x="106108" y="25399"/>
                  </a:lnTo>
                  <a:lnTo>
                    <a:pt x="106108" y="369125"/>
                  </a:lnTo>
                  <a:lnTo>
                    <a:pt x="93408" y="369125"/>
                  </a:lnTo>
                  <a:lnTo>
                    <a:pt x="80708" y="381825"/>
                  </a:lnTo>
                  <a:close/>
                </a:path>
                <a:path w="348615" h="556260">
                  <a:moveTo>
                    <a:pt x="106108" y="25399"/>
                  </a:moveTo>
                  <a:lnTo>
                    <a:pt x="93408" y="25399"/>
                  </a:lnTo>
                  <a:lnTo>
                    <a:pt x="106108" y="12699"/>
                  </a:lnTo>
                  <a:lnTo>
                    <a:pt x="106108" y="25399"/>
                  </a:lnTo>
                  <a:close/>
                </a:path>
                <a:path w="348615" h="556260">
                  <a:moveTo>
                    <a:pt x="242214" y="25399"/>
                  </a:moveTo>
                  <a:lnTo>
                    <a:pt x="106108" y="25399"/>
                  </a:lnTo>
                  <a:lnTo>
                    <a:pt x="106108" y="12699"/>
                  </a:lnTo>
                  <a:lnTo>
                    <a:pt x="242214" y="12699"/>
                  </a:lnTo>
                  <a:lnTo>
                    <a:pt x="242214" y="25399"/>
                  </a:lnTo>
                  <a:close/>
                </a:path>
                <a:path w="348615" h="556260">
                  <a:moveTo>
                    <a:pt x="305003" y="394525"/>
                  </a:moveTo>
                  <a:lnTo>
                    <a:pt x="254914" y="394525"/>
                  </a:lnTo>
                  <a:lnTo>
                    <a:pt x="252437" y="394284"/>
                  </a:lnTo>
                  <a:lnTo>
                    <a:pt x="242214" y="381825"/>
                  </a:lnTo>
                  <a:lnTo>
                    <a:pt x="242214" y="12699"/>
                  </a:lnTo>
                  <a:lnTo>
                    <a:pt x="254914" y="25399"/>
                  </a:lnTo>
                  <a:lnTo>
                    <a:pt x="267614" y="25399"/>
                  </a:lnTo>
                  <a:lnTo>
                    <a:pt x="267614" y="369125"/>
                  </a:lnTo>
                  <a:lnTo>
                    <a:pt x="254914" y="369125"/>
                  </a:lnTo>
                  <a:lnTo>
                    <a:pt x="267614" y="381825"/>
                  </a:lnTo>
                  <a:lnTo>
                    <a:pt x="317703" y="381825"/>
                  </a:lnTo>
                  <a:lnTo>
                    <a:pt x="305003" y="394525"/>
                  </a:lnTo>
                  <a:close/>
                </a:path>
                <a:path w="348615" h="556260">
                  <a:moveTo>
                    <a:pt x="267614" y="25399"/>
                  </a:moveTo>
                  <a:lnTo>
                    <a:pt x="254914" y="25399"/>
                  </a:lnTo>
                  <a:lnTo>
                    <a:pt x="242214" y="12699"/>
                  </a:lnTo>
                  <a:lnTo>
                    <a:pt x="267614" y="12699"/>
                  </a:lnTo>
                  <a:lnTo>
                    <a:pt x="267614" y="25399"/>
                  </a:lnTo>
                  <a:close/>
                </a:path>
                <a:path w="348615" h="556260">
                  <a:moveTo>
                    <a:pt x="174167" y="556018"/>
                  </a:moveTo>
                  <a:lnTo>
                    <a:pt x="3683" y="390804"/>
                  </a:lnTo>
                  <a:lnTo>
                    <a:pt x="0" y="380911"/>
                  </a:lnTo>
                  <a:lnTo>
                    <a:pt x="482" y="378244"/>
                  </a:lnTo>
                  <a:lnTo>
                    <a:pt x="12661" y="369125"/>
                  </a:lnTo>
                  <a:lnTo>
                    <a:pt x="80708" y="369125"/>
                  </a:lnTo>
                  <a:lnTo>
                    <a:pt x="80708" y="372846"/>
                  </a:lnTo>
                  <a:lnTo>
                    <a:pt x="21640" y="372846"/>
                  </a:lnTo>
                  <a:lnTo>
                    <a:pt x="12761" y="394284"/>
                  </a:lnTo>
                  <a:lnTo>
                    <a:pt x="12661" y="394525"/>
                  </a:lnTo>
                  <a:lnTo>
                    <a:pt x="43321" y="394525"/>
                  </a:lnTo>
                  <a:lnTo>
                    <a:pt x="174167" y="525361"/>
                  </a:lnTo>
                  <a:lnTo>
                    <a:pt x="165188" y="534339"/>
                  </a:lnTo>
                  <a:lnTo>
                    <a:pt x="201104" y="534339"/>
                  </a:lnTo>
                  <a:lnTo>
                    <a:pt x="183146" y="552297"/>
                  </a:lnTo>
                  <a:lnTo>
                    <a:pt x="181216" y="553885"/>
                  </a:lnTo>
                  <a:lnTo>
                    <a:pt x="179019" y="555053"/>
                  </a:lnTo>
                  <a:lnTo>
                    <a:pt x="176644" y="555777"/>
                  </a:lnTo>
                  <a:lnTo>
                    <a:pt x="174167" y="556018"/>
                  </a:lnTo>
                  <a:close/>
                </a:path>
                <a:path w="348615" h="556260">
                  <a:moveTo>
                    <a:pt x="106108" y="381825"/>
                  </a:moveTo>
                  <a:lnTo>
                    <a:pt x="80708" y="381825"/>
                  </a:lnTo>
                  <a:lnTo>
                    <a:pt x="93408" y="369125"/>
                  </a:lnTo>
                  <a:lnTo>
                    <a:pt x="106108" y="369125"/>
                  </a:lnTo>
                  <a:lnTo>
                    <a:pt x="106108" y="381825"/>
                  </a:lnTo>
                  <a:close/>
                </a:path>
                <a:path w="348615" h="556260">
                  <a:moveTo>
                    <a:pt x="267614" y="381825"/>
                  </a:moveTo>
                  <a:lnTo>
                    <a:pt x="254914" y="369125"/>
                  </a:lnTo>
                  <a:lnTo>
                    <a:pt x="267614" y="369125"/>
                  </a:lnTo>
                  <a:lnTo>
                    <a:pt x="267614" y="381825"/>
                  </a:lnTo>
                  <a:close/>
                </a:path>
                <a:path w="348615" h="556260">
                  <a:moveTo>
                    <a:pt x="317703" y="381825"/>
                  </a:moveTo>
                  <a:lnTo>
                    <a:pt x="267614" y="381825"/>
                  </a:lnTo>
                  <a:lnTo>
                    <a:pt x="267614" y="369125"/>
                  </a:lnTo>
                  <a:lnTo>
                    <a:pt x="335661" y="369125"/>
                  </a:lnTo>
                  <a:lnTo>
                    <a:pt x="338366" y="369417"/>
                  </a:lnTo>
                  <a:lnTo>
                    <a:pt x="340931" y="370268"/>
                  </a:lnTo>
                  <a:lnTo>
                    <a:pt x="343268" y="371652"/>
                  </a:lnTo>
                  <a:lnTo>
                    <a:pt x="344552" y="372846"/>
                  </a:lnTo>
                  <a:lnTo>
                    <a:pt x="326682" y="372846"/>
                  </a:lnTo>
                  <a:lnTo>
                    <a:pt x="317703" y="381825"/>
                  </a:lnTo>
                  <a:close/>
                </a:path>
                <a:path w="348615" h="556260">
                  <a:moveTo>
                    <a:pt x="43321" y="394525"/>
                  </a:moveTo>
                  <a:lnTo>
                    <a:pt x="12661" y="394525"/>
                  </a:lnTo>
                  <a:lnTo>
                    <a:pt x="21640" y="372846"/>
                  </a:lnTo>
                  <a:lnTo>
                    <a:pt x="43321" y="394525"/>
                  </a:lnTo>
                  <a:close/>
                </a:path>
                <a:path w="348615" h="556260">
                  <a:moveTo>
                    <a:pt x="93408" y="394525"/>
                  </a:moveTo>
                  <a:lnTo>
                    <a:pt x="43321" y="394525"/>
                  </a:lnTo>
                  <a:lnTo>
                    <a:pt x="21640" y="372846"/>
                  </a:lnTo>
                  <a:lnTo>
                    <a:pt x="80708" y="372846"/>
                  </a:lnTo>
                  <a:lnTo>
                    <a:pt x="80708" y="381825"/>
                  </a:lnTo>
                  <a:lnTo>
                    <a:pt x="106108" y="381825"/>
                  </a:lnTo>
                  <a:lnTo>
                    <a:pt x="105932" y="383628"/>
                  </a:lnTo>
                  <a:lnTo>
                    <a:pt x="105867" y="384301"/>
                  </a:lnTo>
                  <a:lnTo>
                    <a:pt x="105143" y="386689"/>
                  </a:lnTo>
                  <a:lnTo>
                    <a:pt x="95885" y="394284"/>
                  </a:lnTo>
                  <a:lnTo>
                    <a:pt x="93408" y="394525"/>
                  </a:lnTo>
                  <a:close/>
                </a:path>
                <a:path w="348615" h="556260">
                  <a:moveTo>
                    <a:pt x="201104" y="534339"/>
                  </a:moveTo>
                  <a:lnTo>
                    <a:pt x="183146" y="534339"/>
                  </a:lnTo>
                  <a:lnTo>
                    <a:pt x="174167" y="525361"/>
                  </a:lnTo>
                  <a:lnTo>
                    <a:pt x="326682" y="372846"/>
                  </a:lnTo>
                  <a:lnTo>
                    <a:pt x="335561" y="394284"/>
                  </a:lnTo>
                  <a:lnTo>
                    <a:pt x="335661" y="394525"/>
                  </a:lnTo>
                  <a:lnTo>
                    <a:pt x="340918" y="394525"/>
                  </a:lnTo>
                  <a:lnTo>
                    <a:pt x="201104" y="534339"/>
                  </a:lnTo>
                  <a:close/>
                </a:path>
                <a:path w="348615" h="556260">
                  <a:moveTo>
                    <a:pt x="340918" y="394525"/>
                  </a:moveTo>
                  <a:lnTo>
                    <a:pt x="335661" y="394525"/>
                  </a:lnTo>
                  <a:lnTo>
                    <a:pt x="326682" y="372846"/>
                  </a:lnTo>
                  <a:lnTo>
                    <a:pt x="344552" y="372846"/>
                  </a:lnTo>
                  <a:lnTo>
                    <a:pt x="345262" y="373506"/>
                  </a:lnTo>
                  <a:lnTo>
                    <a:pt x="346811" y="375742"/>
                  </a:lnTo>
                  <a:lnTo>
                    <a:pt x="347852" y="378244"/>
                  </a:lnTo>
                  <a:lnTo>
                    <a:pt x="348322" y="380911"/>
                  </a:lnTo>
                  <a:lnTo>
                    <a:pt x="348234" y="383628"/>
                  </a:lnTo>
                  <a:lnTo>
                    <a:pt x="347560" y="386257"/>
                  </a:lnTo>
                  <a:lnTo>
                    <a:pt x="346341" y="388683"/>
                  </a:lnTo>
                  <a:lnTo>
                    <a:pt x="344639" y="390804"/>
                  </a:lnTo>
                  <a:lnTo>
                    <a:pt x="340918" y="394525"/>
                  </a:lnTo>
                  <a:close/>
                </a:path>
                <a:path w="348615" h="556260">
                  <a:moveTo>
                    <a:pt x="183146" y="534339"/>
                  </a:moveTo>
                  <a:lnTo>
                    <a:pt x="165188" y="534339"/>
                  </a:lnTo>
                  <a:lnTo>
                    <a:pt x="174167" y="525361"/>
                  </a:lnTo>
                  <a:lnTo>
                    <a:pt x="183146" y="534339"/>
                  </a:lnTo>
                  <a:close/>
                </a:path>
              </a:pathLst>
            </a:custGeom>
            <a:solidFill>
              <a:srgbClr val="22226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7778496" y="4009643"/>
              <a:ext cx="323215" cy="530860"/>
            </a:xfrm>
            <a:custGeom>
              <a:avLst/>
              <a:gdLst/>
              <a:ahLst/>
              <a:cxnLst/>
              <a:rect l="l" t="t" r="r" b="b"/>
              <a:pathLst>
                <a:path w="323215" h="530860">
                  <a:moveTo>
                    <a:pt x="161544" y="530351"/>
                  </a:moveTo>
                  <a:lnTo>
                    <a:pt x="0" y="368807"/>
                  </a:lnTo>
                  <a:lnTo>
                    <a:pt x="80772" y="368807"/>
                  </a:lnTo>
                  <a:lnTo>
                    <a:pt x="80772" y="0"/>
                  </a:lnTo>
                  <a:lnTo>
                    <a:pt x="242315" y="0"/>
                  </a:lnTo>
                  <a:lnTo>
                    <a:pt x="242315" y="368807"/>
                  </a:lnTo>
                  <a:lnTo>
                    <a:pt x="323087" y="368807"/>
                  </a:lnTo>
                  <a:lnTo>
                    <a:pt x="161544" y="53035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766558" y="3996829"/>
              <a:ext cx="348615" cy="556260"/>
            </a:xfrm>
            <a:custGeom>
              <a:avLst/>
              <a:gdLst/>
              <a:ahLst/>
              <a:cxnLst/>
              <a:rect l="l" t="t" r="r" b="b"/>
              <a:pathLst>
                <a:path w="348615" h="556260">
                  <a:moveTo>
                    <a:pt x="80708" y="381825"/>
                  </a:moveTo>
                  <a:lnTo>
                    <a:pt x="80708" y="12700"/>
                  </a:lnTo>
                  <a:lnTo>
                    <a:pt x="80962" y="10223"/>
                  </a:lnTo>
                  <a:lnTo>
                    <a:pt x="93408" y="0"/>
                  </a:lnTo>
                  <a:lnTo>
                    <a:pt x="254914" y="0"/>
                  </a:lnTo>
                  <a:lnTo>
                    <a:pt x="267614" y="12700"/>
                  </a:lnTo>
                  <a:lnTo>
                    <a:pt x="106108" y="12700"/>
                  </a:lnTo>
                  <a:lnTo>
                    <a:pt x="93408" y="25400"/>
                  </a:lnTo>
                  <a:lnTo>
                    <a:pt x="106108" y="25400"/>
                  </a:lnTo>
                  <a:lnTo>
                    <a:pt x="106108" y="369125"/>
                  </a:lnTo>
                  <a:lnTo>
                    <a:pt x="93408" y="369125"/>
                  </a:lnTo>
                  <a:lnTo>
                    <a:pt x="80708" y="381825"/>
                  </a:lnTo>
                  <a:close/>
                </a:path>
                <a:path w="348615" h="556260">
                  <a:moveTo>
                    <a:pt x="106108" y="25400"/>
                  </a:moveTo>
                  <a:lnTo>
                    <a:pt x="93408" y="25400"/>
                  </a:lnTo>
                  <a:lnTo>
                    <a:pt x="106108" y="12700"/>
                  </a:lnTo>
                  <a:lnTo>
                    <a:pt x="106108" y="25400"/>
                  </a:lnTo>
                  <a:close/>
                </a:path>
                <a:path w="348615" h="556260">
                  <a:moveTo>
                    <a:pt x="242214" y="25400"/>
                  </a:moveTo>
                  <a:lnTo>
                    <a:pt x="106108" y="25400"/>
                  </a:lnTo>
                  <a:lnTo>
                    <a:pt x="106108" y="12700"/>
                  </a:lnTo>
                  <a:lnTo>
                    <a:pt x="242214" y="12700"/>
                  </a:lnTo>
                  <a:lnTo>
                    <a:pt x="242214" y="25400"/>
                  </a:lnTo>
                  <a:close/>
                </a:path>
                <a:path w="348615" h="556260">
                  <a:moveTo>
                    <a:pt x="305003" y="394525"/>
                  </a:moveTo>
                  <a:lnTo>
                    <a:pt x="254914" y="394525"/>
                  </a:lnTo>
                  <a:lnTo>
                    <a:pt x="252437" y="394284"/>
                  </a:lnTo>
                  <a:lnTo>
                    <a:pt x="242214" y="381825"/>
                  </a:lnTo>
                  <a:lnTo>
                    <a:pt x="242214" y="12700"/>
                  </a:lnTo>
                  <a:lnTo>
                    <a:pt x="254914" y="25400"/>
                  </a:lnTo>
                  <a:lnTo>
                    <a:pt x="267614" y="25400"/>
                  </a:lnTo>
                  <a:lnTo>
                    <a:pt x="267614" y="369125"/>
                  </a:lnTo>
                  <a:lnTo>
                    <a:pt x="254914" y="369125"/>
                  </a:lnTo>
                  <a:lnTo>
                    <a:pt x="267614" y="381825"/>
                  </a:lnTo>
                  <a:lnTo>
                    <a:pt x="317703" y="381825"/>
                  </a:lnTo>
                  <a:lnTo>
                    <a:pt x="305003" y="394525"/>
                  </a:lnTo>
                  <a:close/>
                </a:path>
                <a:path w="348615" h="556260">
                  <a:moveTo>
                    <a:pt x="267614" y="25400"/>
                  </a:moveTo>
                  <a:lnTo>
                    <a:pt x="254914" y="25400"/>
                  </a:lnTo>
                  <a:lnTo>
                    <a:pt x="242214" y="12700"/>
                  </a:lnTo>
                  <a:lnTo>
                    <a:pt x="267614" y="12700"/>
                  </a:lnTo>
                  <a:lnTo>
                    <a:pt x="267614" y="25400"/>
                  </a:lnTo>
                  <a:close/>
                </a:path>
                <a:path w="348615" h="556260">
                  <a:moveTo>
                    <a:pt x="174167" y="556018"/>
                  </a:moveTo>
                  <a:lnTo>
                    <a:pt x="3683" y="390804"/>
                  </a:lnTo>
                  <a:lnTo>
                    <a:pt x="0" y="380923"/>
                  </a:lnTo>
                  <a:lnTo>
                    <a:pt x="482" y="378244"/>
                  </a:lnTo>
                  <a:lnTo>
                    <a:pt x="12661" y="369125"/>
                  </a:lnTo>
                  <a:lnTo>
                    <a:pt x="80708" y="369125"/>
                  </a:lnTo>
                  <a:lnTo>
                    <a:pt x="80708" y="372846"/>
                  </a:lnTo>
                  <a:lnTo>
                    <a:pt x="21640" y="372846"/>
                  </a:lnTo>
                  <a:lnTo>
                    <a:pt x="12761" y="394284"/>
                  </a:lnTo>
                  <a:lnTo>
                    <a:pt x="12661" y="394525"/>
                  </a:lnTo>
                  <a:lnTo>
                    <a:pt x="43321" y="394525"/>
                  </a:lnTo>
                  <a:lnTo>
                    <a:pt x="174167" y="525361"/>
                  </a:lnTo>
                  <a:lnTo>
                    <a:pt x="165188" y="534339"/>
                  </a:lnTo>
                  <a:lnTo>
                    <a:pt x="201115" y="534339"/>
                  </a:lnTo>
                  <a:lnTo>
                    <a:pt x="183146" y="552310"/>
                  </a:lnTo>
                  <a:lnTo>
                    <a:pt x="181216" y="553885"/>
                  </a:lnTo>
                  <a:lnTo>
                    <a:pt x="179019" y="555053"/>
                  </a:lnTo>
                  <a:lnTo>
                    <a:pt x="176644" y="555777"/>
                  </a:lnTo>
                  <a:lnTo>
                    <a:pt x="174167" y="556018"/>
                  </a:lnTo>
                  <a:close/>
                </a:path>
                <a:path w="348615" h="556260">
                  <a:moveTo>
                    <a:pt x="106108" y="381825"/>
                  </a:moveTo>
                  <a:lnTo>
                    <a:pt x="80708" y="381825"/>
                  </a:lnTo>
                  <a:lnTo>
                    <a:pt x="93408" y="369125"/>
                  </a:lnTo>
                  <a:lnTo>
                    <a:pt x="106108" y="369125"/>
                  </a:lnTo>
                  <a:lnTo>
                    <a:pt x="106108" y="381825"/>
                  </a:lnTo>
                  <a:close/>
                </a:path>
                <a:path w="348615" h="556260">
                  <a:moveTo>
                    <a:pt x="267614" y="381825"/>
                  </a:moveTo>
                  <a:lnTo>
                    <a:pt x="254914" y="369125"/>
                  </a:lnTo>
                  <a:lnTo>
                    <a:pt x="267614" y="369125"/>
                  </a:lnTo>
                  <a:lnTo>
                    <a:pt x="267614" y="381825"/>
                  </a:lnTo>
                  <a:close/>
                </a:path>
                <a:path w="348615" h="556260">
                  <a:moveTo>
                    <a:pt x="317703" y="381825"/>
                  </a:moveTo>
                  <a:lnTo>
                    <a:pt x="267614" y="381825"/>
                  </a:lnTo>
                  <a:lnTo>
                    <a:pt x="267614" y="369125"/>
                  </a:lnTo>
                  <a:lnTo>
                    <a:pt x="335661" y="369125"/>
                  </a:lnTo>
                  <a:lnTo>
                    <a:pt x="338366" y="369417"/>
                  </a:lnTo>
                  <a:lnTo>
                    <a:pt x="340931" y="370268"/>
                  </a:lnTo>
                  <a:lnTo>
                    <a:pt x="343268" y="371652"/>
                  </a:lnTo>
                  <a:lnTo>
                    <a:pt x="344552" y="372846"/>
                  </a:lnTo>
                  <a:lnTo>
                    <a:pt x="326682" y="372846"/>
                  </a:lnTo>
                  <a:lnTo>
                    <a:pt x="317703" y="381825"/>
                  </a:lnTo>
                  <a:close/>
                </a:path>
                <a:path w="348615" h="556260">
                  <a:moveTo>
                    <a:pt x="43321" y="394525"/>
                  </a:moveTo>
                  <a:lnTo>
                    <a:pt x="12661" y="394525"/>
                  </a:lnTo>
                  <a:lnTo>
                    <a:pt x="21640" y="372846"/>
                  </a:lnTo>
                  <a:lnTo>
                    <a:pt x="43321" y="394525"/>
                  </a:lnTo>
                  <a:close/>
                </a:path>
                <a:path w="348615" h="556260">
                  <a:moveTo>
                    <a:pt x="93408" y="394525"/>
                  </a:moveTo>
                  <a:lnTo>
                    <a:pt x="43321" y="394525"/>
                  </a:lnTo>
                  <a:lnTo>
                    <a:pt x="21640" y="372846"/>
                  </a:lnTo>
                  <a:lnTo>
                    <a:pt x="80708" y="372846"/>
                  </a:lnTo>
                  <a:lnTo>
                    <a:pt x="80708" y="381825"/>
                  </a:lnTo>
                  <a:lnTo>
                    <a:pt x="106108" y="381825"/>
                  </a:lnTo>
                  <a:lnTo>
                    <a:pt x="105932" y="383628"/>
                  </a:lnTo>
                  <a:lnTo>
                    <a:pt x="105867" y="384301"/>
                  </a:lnTo>
                  <a:lnTo>
                    <a:pt x="105143" y="386689"/>
                  </a:lnTo>
                  <a:lnTo>
                    <a:pt x="104076" y="388696"/>
                  </a:lnTo>
                  <a:lnTo>
                    <a:pt x="103974" y="388886"/>
                  </a:lnTo>
                  <a:lnTo>
                    <a:pt x="102387" y="390804"/>
                  </a:lnTo>
                  <a:lnTo>
                    <a:pt x="100469" y="392379"/>
                  </a:lnTo>
                  <a:lnTo>
                    <a:pt x="98272" y="393560"/>
                  </a:lnTo>
                  <a:lnTo>
                    <a:pt x="95885" y="394284"/>
                  </a:lnTo>
                  <a:lnTo>
                    <a:pt x="93408" y="394525"/>
                  </a:lnTo>
                  <a:close/>
                </a:path>
                <a:path w="348615" h="556260">
                  <a:moveTo>
                    <a:pt x="201115" y="534339"/>
                  </a:moveTo>
                  <a:lnTo>
                    <a:pt x="183146" y="534339"/>
                  </a:lnTo>
                  <a:lnTo>
                    <a:pt x="174167" y="525361"/>
                  </a:lnTo>
                  <a:lnTo>
                    <a:pt x="326682" y="372846"/>
                  </a:lnTo>
                  <a:lnTo>
                    <a:pt x="335561" y="394284"/>
                  </a:lnTo>
                  <a:lnTo>
                    <a:pt x="335661" y="394525"/>
                  </a:lnTo>
                  <a:lnTo>
                    <a:pt x="340919" y="394525"/>
                  </a:lnTo>
                  <a:lnTo>
                    <a:pt x="201115" y="534339"/>
                  </a:lnTo>
                  <a:close/>
                </a:path>
                <a:path w="348615" h="556260">
                  <a:moveTo>
                    <a:pt x="340919" y="394525"/>
                  </a:moveTo>
                  <a:lnTo>
                    <a:pt x="335661" y="394525"/>
                  </a:lnTo>
                  <a:lnTo>
                    <a:pt x="326682" y="372846"/>
                  </a:lnTo>
                  <a:lnTo>
                    <a:pt x="344552" y="372846"/>
                  </a:lnTo>
                  <a:lnTo>
                    <a:pt x="345262" y="373506"/>
                  </a:lnTo>
                  <a:lnTo>
                    <a:pt x="346811" y="375742"/>
                  </a:lnTo>
                  <a:lnTo>
                    <a:pt x="347852" y="378244"/>
                  </a:lnTo>
                  <a:lnTo>
                    <a:pt x="348322" y="380923"/>
                  </a:lnTo>
                  <a:lnTo>
                    <a:pt x="348234" y="383628"/>
                  </a:lnTo>
                  <a:lnTo>
                    <a:pt x="347560" y="386257"/>
                  </a:lnTo>
                  <a:lnTo>
                    <a:pt x="346341" y="388696"/>
                  </a:lnTo>
                  <a:lnTo>
                    <a:pt x="344639" y="390804"/>
                  </a:lnTo>
                  <a:lnTo>
                    <a:pt x="340919" y="394525"/>
                  </a:lnTo>
                  <a:close/>
                </a:path>
                <a:path w="348615" h="556260">
                  <a:moveTo>
                    <a:pt x="183146" y="534339"/>
                  </a:moveTo>
                  <a:lnTo>
                    <a:pt x="165188" y="534339"/>
                  </a:lnTo>
                  <a:lnTo>
                    <a:pt x="174167" y="525361"/>
                  </a:lnTo>
                  <a:lnTo>
                    <a:pt x="183146" y="534339"/>
                  </a:lnTo>
                  <a:close/>
                </a:path>
              </a:pathLst>
            </a:custGeom>
            <a:solidFill>
              <a:srgbClr val="22226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7800" y="1245870"/>
            <a:ext cx="8813800" cy="5201920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 sz="2665"/>
              <a:t>最小二乘回归（</a:t>
            </a:r>
            <a:r>
              <a:rPr lang="en-US" altLang="zh-CN" sz="2665"/>
              <a:t>least squares regression</a:t>
            </a:r>
            <a:r>
              <a:rPr lang="zh-CN" altLang="en-US" sz="2665"/>
              <a:t>），目标为最小化平方误差损失，也就是使</a:t>
            </a:r>
            <a:r>
              <a:rPr lang="en-US" altLang="zh-CN" sz="2665"/>
              <a:t>L</a:t>
            </a:r>
            <a:r>
              <a:rPr lang="zh-CN" altLang="en-US" sz="2665"/>
              <a:t>最小。</a:t>
            </a:r>
            <a:endParaRPr lang="zh-CN" altLang="en-US" sz="2665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en-US" altLang="zh-CN" sz="1600"/>
          </a:p>
          <a:p>
            <a:pPr marL="0" indent="0">
              <a:buNone/>
            </a:pPr>
            <a:r>
              <a:rPr lang="zh-CN" altLang="en-US" sz="3200"/>
              <a:t>平方误差（</a:t>
            </a:r>
            <a:r>
              <a:rPr lang="en-US" altLang="zh-CN" sz="3200"/>
              <a:t>MSE</a:t>
            </a:r>
            <a:r>
              <a:rPr lang="zh-CN" altLang="en-US" sz="3200"/>
              <a:t>）的特点：</a:t>
            </a:r>
            <a:r>
              <a:rPr lang="en-US" altLang="zh-CN" sz="3200"/>
              <a:t>1. </a:t>
            </a:r>
            <a:r>
              <a:rPr lang="zh-CN" altLang="en-US" sz="3200"/>
              <a:t>大误差会被放大，如果某套房子预测偏差很大，平方后会显著增加损失，因此模型会更重视</a:t>
            </a:r>
            <a:r>
              <a:rPr lang="en-US" altLang="zh-CN" sz="3200"/>
              <a:t>“</a:t>
            </a:r>
            <a:r>
              <a:rPr lang="zh-CN" altLang="en-US" sz="3200"/>
              <a:t>偏差大的样本</a:t>
            </a:r>
            <a:r>
              <a:rPr lang="en-US" altLang="zh-CN" sz="3200"/>
              <a:t>”</a:t>
            </a:r>
            <a:r>
              <a:rPr lang="zh-CN" altLang="en-US" sz="3200"/>
              <a:t>。平方误差对异常值较敏感，对此可以</a:t>
            </a:r>
            <a:r>
              <a:rPr lang="zh-CN" altLang="en-US" sz="3200"/>
              <a:t>使用一种典型方法：</a:t>
            </a:r>
            <a:r>
              <a:rPr lang="en-US" altLang="zh-CN" sz="3200"/>
              <a:t>Huber </a:t>
            </a:r>
            <a:r>
              <a:rPr lang="zh-CN" altLang="en-US" sz="3200"/>
              <a:t>方法。这种方法在误差较小时采用平方损失，在误差较大时采用近似线性增长的损失，因此对极端样本不那么敏感。</a:t>
            </a:r>
            <a:endParaRPr lang="zh-CN" altLang="en-US" sz="3200"/>
          </a:p>
          <a:p>
            <a:pPr marL="0" indent="0">
              <a:buNone/>
            </a:pPr>
            <a:r>
              <a:rPr lang="en-US" altLang="zh-CN" sz="3200"/>
              <a:t>2.</a:t>
            </a:r>
            <a:r>
              <a:rPr lang="zh-CN" altLang="en-US" sz="3200"/>
              <a:t>平方函数连续、可导，适合推导解析解，也适合用梯度下降等优化方法。</a:t>
            </a:r>
            <a:endParaRPr lang="en-US" altLang="zh-CN" sz="3200"/>
          </a:p>
          <a:p>
            <a:pPr marL="0" indent="0">
              <a:buNone/>
            </a:pP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线性回归如何学习参数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3210"/>
            <a:ext cx="5730875" cy="2840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3520" y="1368425"/>
            <a:ext cx="8727440" cy="4988560"/>
          </a:xfrm>
        </p:spPr>
        <p:txBody>
          <a:bodyPr/>
          <a:p>
            <a:pPr marL="0" indent="0">
              <a:buNone/>
            </a:pPr>
            <a:r>
              <a:rPr lang="zh-CN" altLang="en-US" sz="1600"/>
              <a:t>绝对误差（</a:t>
            </a:r>
            <a:r>
              <a:rPr lang="en-US" altLang="zh-CN" sz="1600"/>
              <a:t>MAE</a:t>
            </a:r>
            <a:r>
              <a:rPr lang="zh-CN" altLang="en-US" sz="1600"/>
              <a:t>）：如果数据中有较多异常值，可以将损失函数换成绝对误差，这就变成了最小绝对偏差回归（</a:t>
            </a:r>
            <a:r>
              <a:rPr lang="en-US" altLang="zh-CN" sz="1600"/>
              <a:t>LAD</a:t>
            </a:r>
            <a:r>
              <a:rPr lang="zh-CN" altLang="en-US" sz="1600"/>
              <a:t>）。</a:t>
            </a:r>
            <a:br>
              <a:rPr lang="zh-CN" altLang="en-US" sz="1600"/>
            </a:br>
            <a:r>
              <a:rPr lang="en-US" altLang="zh-CN" sz="1600"/>
              <a:t>Huber </a:t>
            </a:r>
            <a:r>
              <a:rPr lang="zh-CN" altLang="en-US" sz="1600"/>
              <a:t>方法，在误差接近</a:t>
            </a:r>
            <a:r>
              <a:rPr lang="en-US" altLang="zh-CN" sz="1600"/>
              <a:t> 0 </a:t>
            </a:r>
            <a:r>
              <a:rPr lang="zh-CN" altLang="en-US" sz="1600"/>
              <a:t>时倾向</a:t>
            </a:r>
            <a:r>
              <a:rPr lang="en-US" altLang="zh-CN" sz="1600"/>
              <a:t> MSE</a:t>
            </a:r>
            <a:r>
              <a:rPr lang="zh-CN" altLang="en-US" sz="1600"/>
              <a:t>，在误差很大时（可能有</a:t>
            </a:r>
            <a:r>
              <a:rPr lang="zh-CN" altLang="en-US" sz="1600"/>
              <a:t>异常值）倾向</a:t>
            </a:r>
            <a:r>
              <a:rPr lang="en-US" altLang="zh-CN" sz="1600"/>
              <a:t> MAE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数学定义</a:t>
            </a:r>
            <a:r>
              <a:rPr lang="zh-CN" altLang="en-US" sz="1600"/>
              <a:t>如下：</a:t>
            </a:r>
            <a:br>
              <a:rPr lang="zh-CN" altLang="en-US" sz="1600"/>
            </a:b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线性回归如何学习参数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10" y="2514600"/>
            <a:ext cx="5991225" cy="1828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7345" y="4436745"/>
            <a:ext cx="8603615" cy="183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当</a:t>
            </a:r>
            <a:r>
              <a:rPr lang="en-US" altLang="zh-CN"/>
              <a:t> δ </a:t>
            </a:r>
            <a:r>
              <a:rPr lang="zh-CN" altLang="en-US"/>
              <a:t>趋近于</a:t>
            </a:r>
            <a:r>
              <a:rPr lang="en-US" altLang="zh-CN"/>
              <a:t> 0 </a:t>
            </a:r>
            <a:r>
              <a:rPr lang="zh-CN" altLang="en-US"/>
              <a:t>时，</a:t>
            </a:r>
            <a:r>
              <a:rPr lang="en-US" altLang="zh-CN"/>
              <a:t>Huber </a:t>
            </a:r>
            <a:r>
              <a:rPr lang="zh-CN" altLang="en-US"/>
              <a:t>损失几乎等同于绝对误差</a:t>
            </a:r>
            <a:r>
              <a:rPr lang="en-US" altLang="zh-CN"/>
              <a:t> (MAE)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当</a:t>
            </a:r>
            <a:r>
              <a:rPr lang="en-US" altLang="zh-CN"/>
              <a:t> δ </a:t>
            </a:r>
            <a:r>
              <a:rPr lang="zh-CN" altLang="en-US"/>
              <a:t>趋近于无穷大</a:t>
            </a:r>
            <a:r>
              <a:rPr lang="en-US" altLang="zh-CN"/>
              <a:t> (∞) </a:t>
            </a:r>
            <a:r>
              <a:rPr lang="zh-CN" altLang="en-US"/>
              <a:t>时，</a:t>
            </a:r>
            <a:r>
              <a:rPr lang="en-US" altLang="zh-CN"/>
              <a:t>Huber </a:t>
            </a:r>
            <a:r>
              <a:rPr lang="zh-CN" altLang="en-US"/>
              <a:t>损失完全等同于平方误差</a:t>
            </a:r>
            <a:r>
              <a:rPr lang="en-US" altLang="zh-CN"/>
              <a:t> (MSE)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通过调节</a:t>
            </a:r>
            <a:r>
              <a:rPr lang="en-US" altLang="zh-CN"/>
              <a:t> δ</a:t>
            </a:r>
            <a:r>
              <a:rPr lang="zh-CN" altLang="en-US"/>
              <a:t>，我们可以在</a:t>
            </a:r>
            <a:r>
              <a:rPr lang="en-US" altLang="zh-CN"/>
              <a:t>“</a:t>
            </a:r>
            <a:r>
              <a:rPr lang="zh-CN" altLang="en-US"/>
              <a:t>平滑收敛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抵抗异常值</a:t>
            </a:r>
            <a:r>
              <a:rPr lang="en-US" altLang="zh-CN"/>
              <a:t>”</a:t>
            </a:r>
            <a:r>
              <a:rPr lang="zh-CN" altLang="en-US"/>
              <a:t>之间找到最佳的平衡点。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565" y="4087495"/>
            <a:ext cx="6257925" cy="23526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从线性回归过渡到感知机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3360" y="1410335"/>
            <a:ext cx="8829040" cy="5043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线性回归</a:t>
            </a:r>
            <a:r>
              <a:rPr lang="zh-CN" altLang="en-US"/>
              <a:t>模型：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把这个输出不再解释为</a:t>
            </a:r>
            <a:r>
              <a:rPr lang="en-US" altLang="zh-CN"/>
              <a:t>“</a:t>
            </a:r>
            <a:r>
              <a:rPr lang="zh-CN" altLang="en-US"/>
              <a:t>数值预测</a:t>
            </a:r>
            <a:r>
              <a:rPr lang="en-US" altLang="zh-CN"/>
              <a:t>”</a:t>
            </a:r>
            <a:r>
              <a:rPr lang="zh-CN" altLang="en-US"/>
              <a:t>，而是解释为</a:t>
            </a:r>
            <a:r>
              <a:rPr lang="en-US" altLang="zh-CN"/>
              <a:t>“</a:t>
            </a:r>
            <a:r>
              <a:rPr lang="zh-CN" altLang="en-US"/>
              <a:t>分类分数</a:t>
            </a:r>
            <a:r>
              <a:rPr lang="en-US" altLang="zh-CN"/>
              <a:t>”</a:t>
            </a:r>
            <a:r>
              <a:rPr lang="zh-CN" altLang="en-US"/>
              <a:t>，那么只需要再加一个判定规则，就可以把它变成分类器，</a:t>
            </a:r>
            <a:r>
              <a:rPr lang="zh-CN" altLang="en-US"/>
              <a:t>例如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" y="2959735"/>
            <a:ext cx="3076575" cy="714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68339" t="2857" r="-1063" b="68186"/>
          <a:stretch>
            <a:fillRect/>
          </a:stretch>
        </p:blipFill>
        <p:spPr>
          <a:xfrm>
            <a:off x="2291080" y="1252855"/>
            <a:ext cx="183896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7800" y="1286510"/>
            <a:ext cx="8857615" cy="516191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先初始化权重向量</a:t>
            </a:r>
            <a:r>
              <a:rPr lang="en-US" altLang="zh-CN" sz="1800"/>
              <a:t> w</a:t>
            </a:r>
            <a:r>
              <a:rPr lang="zh-CN" altLang="en-US" sz="1800"/>
              <a:t>，例如直接设为</a:t>
            </a:r>
            <a:r>
              <a:rPr lang="en-US" altLang="zh-CN" sz="1800"/>
              <a:t> 0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逐轮扫描训练样本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对每个样本，用当前权重预测类别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如果预测正确，不更新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如果预测错误，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</a:t>
            </a:r>
            <a:r>
              <a:rPr lang="en-US" altLang="zh-CN" sz="1800"/>
              <a:t>yi= + 1</a:t>
            </a:r>
            <a:r>
              <a:rPr lang="zh-CN" altLang="en-US" sz="1800"/>
              <a:t>（即，第</a:t>
            </a:r>
            <a:r>
              <a:rPr lang="en-US" altLang="zh-CN" sz="1800"/>
              <a:t>i</a:t>
            </a:r>
            <a:r>
              <a:rPr lang="zh-CN" altLang="en-US" sz="1800"/>
              <a:t>个元组是正元组，但当前分类器预测它是负元组），我们将权重向量更新为</a:t>
            </a:r>
            <a:r>
              <a:rPr lang="en-US" altLang="zh-CN" sz="1800"/>
              <a:t>w</a:t>
            </a:r>
            <a:r>
              <a:rPr lang="en-US" altLang="en-US" sz="1800"/>
              <a:t>←</a:t>
            </a:r>
            <a:r>
              <a:rPr lang="en-US" altLang="zh-CN" sz="1800"/>
              <a:t>w+ηxi</a:t>
            </a:r>
            <a:r>
              <a:rPr lang="zh-CN" altLang="en-US" sz="1800"/>
              <a:t>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</a:t>
            </a:r>
            <a:r>
              <a:rPr lang="en-US" altLang="zh-CN" sz="1800"/>
              <a:t>yi= 0</a:t>
            </a:r>
            <a:r>
              <a:rPr lang="zh-CN" altLang="en-US" sz="1800"/>
              <a:t>（即第</a:t>
            </a:r>
            <a:r>
              <a:rPr lang="en-US" altLang="zh-CN" sz="1800"/>
              <a:t>i </a:t>
            </a:r>
            <a:r>
              <a:rPr lang="zh-CN" altLang="en-US" sz="1800"/>
              <a:t>个元组是负元组，当前分类器错误地预</a:t>
            </a:r>
            <a:r>
              <a:rPr lang="zh-CN" altLang="en-US" sz="1800">
                <a:sym typeface="+mn-ea"/>
              </a:rPr>
              <a:t>测为正元组），我们将权重向量更新为</a:t>
            </a:r>
            <a:r>
              <a:rPr lang="en-US" altLang="zh-CN" sz="1800">
                <a:sym typeface="+mn-ea"/>
              </a:rPr>
              <a:t>w</a:t>
            </a:r>
            <a:r>
              <a:rPr lang="en-US" altLang="en-US" sz="1800">
                <a:sym typeface="+mn-ea"/>
              </a:rPr>
              <a:t>←</a:t>
            </a:r>
            <a:r>
              <a:rPr lang="en-US" altLang="zh-CN" sz="1800">
                <a:sym typeface="+mn-ea"/>
              </a:rPr>
              <a:t>w−ηxi</a:t>
            </a:r>
            <a:r>
              <a:rPr lang="zh-CN" altLang="en-US" sz="1800">
                <a:sym typeface="+mn-ea"/>
              </a:rPr>
              <a:t>，其中</a:t>
            </a:r>
            <a:r>
              <a:rPr lang="en-US" altLang="zh-CN" sz="1800">
                <a:sym typeface="+mn-ea"/>
              </a:rPr>
              <a:t>η &gt;</a:t>
            </a:r>
            <a:r>
              <a:rPr lang="en-US" altLang="zh-CN" sz="1800"/>
              <a:t>0 </a:t>
            </a:r>
            <a:r>
              <a:rPr lang="zh-CN" altLang="en-US" sz="1800"/>
              <a:t>是指定的学习率。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感知机如何学习</a:t>
            </a:r>
            <a:r>
              <a:rPr lang="zh-CN" altLang="en-US"/>
              <a:t>参数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52270"/>
            <a:ext cx="4493895" cy="23793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9105" y="198120"/>
            <a:ext cx="854392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0830" y="198120"/>
            <a:ext cx="8472170" cy="1867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如果一条直线能够把所有正训练样本和负训练样本完全分到两边，那么这组数据就是线性可分的，这时线性分类器可以做到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完美分离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zh-CN" altLang="en-US"/>
              <a:t>如果训练样本是线性可分的，感知机算法一定能够找到一个超平面，把正负训练样本完全分开</a:t>
            </a:r>
            <a:endParaRPr lang="zh-CN" altLang="en-US"/>
          </a:p>
          <a:p>
            <a:r>
              <a:rPr lang="zh-CN" altLang="en-US"/>
              <a:t>如果训练样本是线性不可分的，感知机算法将无法收敛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9" name="图片 8" descr="线性可分与不可分数据集对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960" y="1742440"/>
            <a:ext cx="6188075" cy="41255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5755" y="5633720"/>
            <a:ext cx="8437245" cy="969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感知机是最早的线性分类器之一，最早提出于</a:t>
            </a:r>
            <a:r>
              <a:rPr lang="en-US" altLang="zh-CN"/>
              <a:t> 1958 </a:t>
            </a:r>
            <a:r>
              <a:rPr lang="zh-CN" altLang="en-US"/>
              <a:t>年；同时，它也可以作为后续深度神经网络中的构建模块，即</a:t>
            </a:r>
            <a:r>
              <a:rPr lang="en-US" altLang="zh-CN"/>
              <a:t>“</a:t>
            </a:r>
            <a:r>
              <a:rPr lang="zh-CN" altLang="en-US"/>
              <a:t>神经元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0660" y="1314450"/>
            <a:ext cx="8862060" cy="5275580"/>
          </a:xfrm>
        </p:spPr>
        <p:txBody>
          <a:bodyPr/>
          <a:p>
            <a:pPr marL="0" indent="0">
              <a:buNone/>
            </a:pPr>
            <a:r>
              <a:rPr lang="zh-CN" altLang="en-US" sz="1600"/>
              <a:t>感知机虽然可以做分类，但只能给出类别，不能给出概率或置信度。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逻辑回归：它仍然从线性模型出发，但通过一个非线性映射，把线性输出转化为</a:t>
            </a:r>
            <a:r>
              <a:rPr lang="en-US" altLang="zh-CN" sz="1600"/>
              <a:t> 0 </a:t>
            </a:r>
            <a:r>
              <a:rPr lang="zh-CN" altLang="en-US" sz="1600"/>
              <a:t>到</a:t>
            </a:r>
            <a:r>
              <a:rPr lang="en-US" altLang="zh-CN" sz="1600"/>
              <a:t> 1 </a:t>
            </a:r>
            <a:r>
              <a:rPr lang="zh-CN" altLang="en-US" sz="1600"/>
              <a:t>之间的概率，从而既能做分类，又能表达模型对分类结果的信心。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逻辑回归的输出映射是非线性的，但决策边界仍是线性的。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逻辑回归的模型如下：</a:t>
            </a:r>
            <a:endParaRPr lang="zh-CN" altLang="en-US" sz="1600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非线性回归：逻辑回归</a:t>
            </a:r>
            <a:endParaRPr lang="zh-CN" altLang="en-US"/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>
          <a:blip r:embed="rId1"/>
          <a:srcRect l="-430" t="9240"/>
          <a:stretch>
            <a:fillRect/>
          </a:stretch>
        </p:blipFill>
        <p:spPr>
          <a:xfrm>
            <a:off x="283845" y="2964815"/>
            <a:ext cx="5932170" cy="3411855"/>
          </a:xfrm>
          <a:prstGeom prst="rect">
            <a:avLst/>
          </a:prstGeom>
          <a:ln>
            <a:solid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65" y="2037715"/>
            <a:ext cx="2571750" cy="18478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16015" y="3885565"/>
            <a:ext cx="2692400" cy="2698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sigmoid </a:t>
            </a:r>
            <a:r>
              <a:rPr lang="zh-CN" altLang="en-US"/>
              <a:t>函数的示意图。</a:t>
            </a:r>
            <a:r>
              <a:rPr lang="en-US" altLang="zh-CN"/>
              <a:t>sigmoid </a:t>
            </a:r>
            <a:r>
              <a:rPr lang="zh-CN" altLang="en-US"/>
              <a:t>函数将输入从更大的范围（</a:t>
            </a:r>
            <a:r>
              <a:rPr lang="en-US" altLang="zh-CN"/>
              <a:t>−∞, +∞</a:t>
            </a:r>
            <a:r>
              <a:rPr lang="zh-CN" altLang="en-US"/>
              <a:t>）压缩到一个</a:t>
            </a:r>
            <a:endParaRPr lang="zh-CN" altLang="en-US"/>
          </a:p>
          <a:p>
            <a:r>
              <a:rPr lang="zh-CN" altLang="en-US"/>
              <a:t>较小的范围（</a:t>
            </a:r>
            <a:r>
              <a:rPr lang="en-US" altLang="zh-CN"/>
              <a:t>0, 1</a:t>
            </a:r>
            <a:r>
              <a:rPr lang="zh-CN" altLang="en-US"/>
              <a:t>）。因此，</a:t>
            </a:r>
            <a:r>
              <a:rPr lang="en-US" altLang="zh-CN"/>
              <a:t>sigmoid </a:t>
            </a:r>
            <a:r>
              <a:rPr lang="zh-CN" altLang="en-US"/>
              <a:t>函数被称为压缩函数，在深度学习</a:t>
            </a:r>
            <a:r>
              <a:rPr lang="zh-CN" altLang="en-US"/>
              <a:t>中也被称为激活函数。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逻辑回归如何学习参数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5265" y="1205865"/>
            <a:ext cx="5473700" cy="53606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1930" y="1256030"/>
            <a:ext cx="8759190" cy="5273675"/>
          </a:xfrm>
        </p:spPr>
        <p:txBody>
          <a:bodyPr/>
          <a:p>
            <a:pPr marL="0" indent="0">
              <a:buNone/>
            </a:pPr>
            <a:r>
              <a:rPr lang="zh-CN" altLang="en-US"/>
              <a:t>逻辑回归的损失函数一般使用</a:t>
            </a:r>
            <a:r>
              <a:rPr lang="en-US" altLang="zh-CN"/>
              <a:t>“</a:t>
            </a:r>
            <a:r>
              <a:rPr lang="zh-CN" altLang="en-US"/>
              <a:t>最小化负对数似然</a:t>
            </a:r>
            <a:r>
              <a:rPr lang="en-US" altLang="zh-CN"/>
              <a:t>”</a:t>
            </a:r>
            <a:r>
              <a:rPr lang="zh-CN" altLang="en-US"/>
              <a:t>，也就是交叉熵损失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逻辑回归的损失函数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" y="1699895"/>
            <a:ext cx="6372225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" y="854710"/>
            <a:ext cx="6248400" cy="4619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61175" y="1010920"/>
            <a:ext cx="904875" cy="415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</a:rPr>
              <a:t>逻辑回归的梯度更新公式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1930" y="1317625"/>
            <a:ext cx="9043670" cy="51308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1800"/>
              <a:t>当训练数据线性可分时，逻辑回归虽然仍然能不断提高似然，但可能会出现一个问题：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权重向量的模不断变大。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因为如果样本已经可以被一条线完全分开，那么只要把权重不断放大，</a:t>
            </a:r>
            <a:r>
              <a:rPr lang="en-US" altLang="zh-CN" sz="1800"/>
              <a:t>sigmoid </a:t>
            </a:r>
            <a:r>
              <a:rPr lang="zh-CN" altLang="en-US" sz="1800"/>
              <a:t>输出就会越来越接近</a:t>
            </a:r>
            <a:r>
              <a:rPr lang="en-US" altLang="zh-CN" sz="1800"/>
              <a:t> 0 </a:t>
            </a:r>
            <a:r>
              <a:rPr lang="zh-CN" altLang="en-US" sz="1800"/>
              <a:t>和</a:t>
            </a:r>
            <a:r>
              <a:rPr lang="en-US" altLang="zh-CN" sz="1800"/>
              <a:t> 1</a:t>
            </a:r>
            <a:r>
              <a:rPr lang="zh-CN" altLang="en-US" sz="1800"/>
              <a:t>，训练集上的似然也会越来越高。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这样会导致：</a:t>
            </a:r>
            <a:endParaRPr lang="en-US" altLang="zh-CN" sz="1800"/>
          </a:p>
          <a:p>
            <a:r>
              <a:rPr lang="zh-CN" altLang="en-US" sz="1800"/>
              <a:t>参数过大</a:t>
            </a:r>
            <a:endParaRPr lang="zh-CN" altLang="en-US" sz="1800"/>
          </a:p>
          <a:p>
            <a:r>
              <a:rPr lang="zh-CN" altLang="en-US" sz="1800"/>
              <a:t>模型对某些特征的微小扰动非常敏感</a:t>
            </a:r>
            <a:endParaRPr lang="zh-CN" altLang="en-US" sz="1800"/>
          </a:p>
          <a:p>
            <a:r>
              <a:rPr lang="zh-CN" altLang="en-US" sz="1800"/>
              <a:t>容易过拟合</a:t>
            </a:r>
            <a:endParaRPr lang="zh-CN" altLang="en-US" sz="1800"/>
          </a:p>
          <a:p>
            <a:r>
              <a:rPr lang="zh-CN" altLang="en-US" sz="1800"/>
              <a:t>泛化能力变差</a:t>
            </a:r>
            <a:endParaRPr lang="zh-CN" altLang="en-US" sz="1800"/>
          </a:p>
          <a:p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所以逻辑回归在实践中通常需要加入正则化。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逻辑回归在线性可分时的问题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50645" y="1590040"/>
            <a:ext cx="5583555" cy="3677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6080" y="384175"/>
            <a:ext cx="30480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342900">
              <a:buClrTx/>
              <a:buSzTx/>
              <a:buFontTx/>
            </a:pPr>
            <a:r>
              <a:rPr lang="zh-CN" altLang="en-US" sz="21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正则化</a:t>
            </a:r>
            <a:endParaRPr lang="zh-CN" altLang="en-US" sz="21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4645" y="1539875"/>
            <a:ext cx="8143875" cy="304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正则化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 sz="1600">
                <a:sym typeface="+mn-ea"/>
              </a:rPr>
              <a:t>当样本量非常大时，如果每次更新都使用全部训练样本，计算成本会很高。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因此，逻辑回归在大规模数据上通常采用：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随机梯度下降（</a:t>
            </a:r>
            <a:r>
              <a:rPr lang="en-US" altLang="zh-CN" sz="1600">
                <a:sym typeface="+mn-ea"/>
              </a:rPr>
              <a:t>SGD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小批量梯度下降（</a:t>
            </a:r>
            <a:r>
              <a:rPr lang="en-US" altLang="zh-CN" sz="1600">
                <a:sym typeface="+mn-ea"/>
              </a:rPr>
              <a:t>mini-batch gradient descent</a:t>
            </a:r>
            <a:r>
              <a:rPr lang="zh-CN" altLang="en-US" sz="1600">
                <a:sym typeface="+mn-ea"/>
              </a:rPr>
              <a:t>）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其思想是：每次只用一个样本，或一小批样本更新参数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降低单次计算量，提高训练效率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更适合大规模机器学习任务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逻辑回归的计算挑战与</a:t>
            </a:r>
            <a:r>
              <a:rPr lang="en-US" altLang="zh-CN"/>
              <a:t> SGD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5" y="1302385"/>
            <a:ext cx="9072245" cy="5307965"/>
          </a:xfrm>
        </p:spPr>
        <p:txBody>
          <a:bodyPr/>
          <a:p>
            <a:r>
              <a:rPr lang="zh-CN" altLang="en-US"/>
              <a:t>多项式回归是一种用于连续值预测的回归方法。</a:t>
            </a:r>
            <a:endParaRPr lang="zh-CN" altLang="en-US"/>
          </a:p>
          <a:p>
            <a:r>
              <a:rPr lang="zh-CN" altLang="en-US"/>
              <a:t>用于处理当输入变量与输出变量之间不再呈简单线性关系，而表现出弯曲、拐点或非线性趋势时，如何在回归模型中刻画这种关系的</a:t>
            </a:r>
            <a:r>
              <a:rPr lang="zh-CN" altLang="en-US"/>
              <a:t>问题。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多项式回归</a:t>
            </a:r>
            <a:endParaRPr lang="zh-CN" altLang="en-US"/>
          </a:p>
        </p:txBody>
      </p:sp>
      <p:pic>
        <p:nvPicPr>
          <p:cNvPr id="7" name="图片 6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" y="2337435"/>
            <a:ext cx="7104380" cy="3735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9635" y="1312545"/>
            <a:ext cx="5981700" cy="24669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多项式回归的基本形式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" y="3855720"/>
            <a:ext cx="8305165" cy="26835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r="-620" b="6431"/>
          <a:stretch>
            <a:fillRect/>
          </a:stretch>
        </p:blipFill>
        <p:spPr>
          <a:xfrm>
            <a:off x="202565" y="1337310"/>
            <a:ext cx="6391275" cy="466534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多项式回归的核心思想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2565" y="1317625"/>
            <a:ext cx="8728710" cy="51403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1600">
                <a:sym typeface="+mn-ea"/>
              </a:rPr>
              <a:t>多项式回归中，阶数</a:t>
            </a:r>
            <a:r>
              <a:rPr lang="en-US" altLang="zh-CN" sz="1600">
                <a:sym typeface="+mn-ea"/>
              </a:rPr>
              <a:t> d </a:t>
            </a:r>
            <a:r>
              <a:rPr lang="zh-CN" altLang="en-US" sz="1600">
                <a:sym typeface="+mn-ea"/>
              </a:rPr>
              <a:t>是一个非常关键的超参数。阶数过低模型过于简单，拟合能力不足，容易欠拟合。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阶数适中，能够较好刻画数据趋势，在偏差和方差之间达到较平衡状态。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阶数过高，模型过于灵活，容易把训练数据中的噪声也一起拟合进去，从而产生过拟合。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这通常需要通过：验证集评估，交叉验证，模型选择准则，来确定合适的阶数。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5450" y="3219450"/>
            <a:ext cx="5163820" cy="30200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2565" y="38417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多项式回归的核心思想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131570"/>
            <a:ext cx="9043035" cy="54483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600"/>
              <a:t>多项式回归的优点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1. </a:t>
            </a:r>
            <a:r>
              <a:rPr lang="zh-CN" altLang="en-US" sz="1600"/>
              <a:t>能拟合非线性趋势，适合处理曲线型关系。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2. </a:t>
            </a:r>
            <a:r>
              <a:rPr lang="zh-CN" altLang="en-US" sz="1600"/>
              <a:t>建模思路清晰，</a:t>
            </a:r>
            <a:r>
              <a:rPr lang="zh-CN" altLang="en-US" sz="1600">
                <a:sym typeface="+mn-ea"/>
              </a:rPr>
              <a:t>可解释性相对较强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3. </a:t>
            </a:r>
            <a:r>
              <a:rPr lang="zh-CN" altLang="en-US" sz="1600"/>
              <a:t>仍然可用线性回归方法训练，尽管拟合的是曲线，但在参数求解上仍可沿用成熟的线性回归框架。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多项式回归的局限性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1. </a:t>
            </a:r>
            <a:r>
              <a:rPr lang="zh-CN" altLang="en-US" sz="1600"/>
              <a:t>容易过拟合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尤其当阶数较高时，模型可能对训练集拟合得很好，但对新数据泛化能力较差。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2. </a:t>
            </a:r>
            <a:r>
              <a:rPr lang="zh-CN" altLang="en-US" sz="1600"/>
              <a:t>对异常值敏感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如果仍采用平方误差损失，异常点会被放大，对模型影响较大。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3. </a:t>
            </a:r>
            <a:r>
              <a:rPr lang="zh-CN" altLang="en-US" sz="1600"/>
              <a:t>高维场景下特征数量迅速膨胀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当原始特征较多、阶数较高时，特征维度会大幅上升，训练和解释都会变得困难。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4. </a:t>
            </a:r>
            <a:r>
              <a:rPr lang="zh-CN" altLang="en-US" sz="1600"/>
              <a:t>并不能处理所有复杂非线性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如果数据结构非常复杂，多项式回归仍可能不够灵活。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/>
              <a:t>5. </a:t>
            </a:r>
            <a:r>
              <a:rPr lang="zh-CN" altLang="en-US" sz="1600"/>
              <a:t>边界行为可能不稳定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/>
              <a:t>高阶多项式在训练数据范围之外的外推通常不稳定，容易出现不合理波动。</a:t>
            </a: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多项式回归的</a:t>
            </a:r>
            <a:r>
              <a:rPr lang="zh-CN" altLang="en-US">
                <a:sym typeface="+mn-ea"/>
              </a:rPr>
              <a:t>优缺点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2565" y="1449705"/>
            <a:ext cx="8758555" cy="489648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模型复杂性，指的是模型表示数据规律的能力强弱。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可以通过参数数量，函数形状的灵活程度，特征空间维度等来衡量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模型复杂性</a:t>
            </a:r>
            <a:endParaRPr lang="zh-CN" altLang="en-US"/>
          </a:p>
        </p:txBody>
      </p:sp>
      <p:pic>
        <p:nvPicPr>
          <p:cNvPr id="7" name="图片 6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2215515"/>
            <a:ext cx="7104380" cy="37357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2565" y="1348105"/>
            <a:ext cx="8738235" cy="50895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400"/>
              <a:t>过拟合：模型在训练集上表现很好，但在新数据、测试集或验证集上表现变差，权重参数过大，模型曲线或边界过于扭曲。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欠拟合指的是：模型过于简单，连训练数据中的主要规律都没有学好。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过拟合产生的根本原因是：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模型自由度过高，而训练数据不足以约束它。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更具体地说，常见原因有以下几个。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1. </a:t>
            </a:r>
            <a:r>
              <a:rPr lang="zh-CN" altLang="en-US" sz="1400"/>
              <a:t>模型过于复杂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例如多项式阶数太高、参数太多、特征组合太多。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2. </a:t>
            </a:r>
            <a:r>
              <a:rPr lang="zh-CN" altLang="en-US" sz="1400"/>
              <a:t>训练样本太少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数据量不足时，模型容易把少量样本中的偶然性误当成规律。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3. </a:t>
            </a:r>
            <a:r>
              <a:rPr lang="zh-CN" altLang="en-US" sz="1400"/>
              <a:t>数据中噪声较多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如果训练数据本身包含测量误差、异常值或标签噪声，复杂模型更容易把这些噪声学进去。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4. </a:t>
            </a:r>
            <a:r>
              <a:rPr lang="zh-CN" altLang="en-US" sz="1400"/>
              <a:t>特征维度过高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高维特征会增加模型自由度，也更容易导致过拟合。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5. </a:t>
            </a:r>
            <a:r>
              <a:rPr lang="zh-CN" altLang="en-US" sz="1400"/>
              <a:t>缺乏正则化或约束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如果模型训练过程中没有限制参数大小或复杂度，过拟合风险会明显增加。</a:t>
            </a:r>
            <a:endParaRPr lang="zh-CN" altLang="en-US" sz="14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过拟合与</a:t>
            </a:r>
            <a:r>
              <a:rPr lang="zh-CN" altLang="en-US"/>
              <a:t>欠拟合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1</a:t>
            </a:r>
            <a:r>
              <a:rPr lang="zh-CN" altLang="en-US" sz="1800"/>
              <a:t>：控制模型复杂度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2</a:t>
            </a:r>
            <a:r>
              <a:rPr lang="zh-CN" altLang="en-US" sz="1800"/>
              <a:t>：正则化，在损失函数中加入对参数的约束项，从而限制模型复杂度。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3</a:t>
            </a:r>
            <a:r>
              <a:rPr lang="zh-CN" altLang="en-US" sz="1800"/>
              <a:t>：增加训练数据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4</a:t>
            </a:r>
            <a:r>
              <a:rPr lang="zh-CN" altLang="en-US" sz="1800"/>
              <a:t>：特征选择，如果输入特征很多，其中一部分是无关、冗余或高噪声特征，那么模型更容易过拟合。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可以删除弱相关特征，高共性特征，保留更有判别力的特征。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5</a:t>
            </a:r>
            <a:r>
              <a:rPr lang="zh-CN" altLang="en-US" sz="1800"/>
              <a:t>：交叉验证选择模型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6</a:t>
            </a:r>
            <a:r>
              <a:rPr lang="zh-CN" altLang="en-US" sz="1800"/>
              <a:t>：早停（</a:t>
            </a:r>
            <a:r>
              <a:rPr lang="en-US" altLang="zh-CN" sz="1800"/>
              <a:t>Early Stopping</a:t>
            </a:r>
            <a:r>
              <a:rPr lang="zh-CN" altLang="en-US" sz="1800"/>
              <a:t>）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在迭代训练模型时，如果发现验证误差不再下降而开始上升，可以提前停止训练。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方法</a:t>
            </a:r>
            <a:r>
              <a:rPr lang="en-US" altLang="zh-CN" sz="1800"/>
              <a:t> 7</a:t>
            </a:r>
            <a:r>
              <a:rPr lang="zh-CN" altLang="en-US" sz="1800"/>
              <a:t>：数据清洗与异常值处理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解决过拟合的</a:t>
            </a:r>
            <a:r>
              <a:rPr lang="zh-CN" altLang="en-US"/>
              <a:t>方法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清华简约主题-顶边-4:3">
  <a:themeElements>
    <a:clrScheme name="自定义 1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5419</Words>
  <Application>WPS 演示</Application>
  <PresentationFormat>全屏显示(4:3)</PresentationFormat>
  <Paragraphs>374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Arial</vt:lpstr>
      <vt:lpstr>宋体</vt:lpstr>
      <vt:lpstr>Wingdings</vt:lpstr>
      <vt:lpstr>Wingdings 2</vt:lpstr>
      <vt:lpstr>Wingdings</vt:lpstr>
      <vt:lpstr>Gill Sans MT</vt:lpstr>
      <vt:lpstr>华文中宋</vt:lpstr>
      <vt:lpstr>微软雅黑</vt:lpstr>
      <vt:lpstr>Arial Unicode MS</vt:lpstr>
      <vt:lpstr>等线</vt:lpstr>
      <vt:lpstr>MS PGothic</vt:lpstr>
      <vt:lpstr>Arial</vt:lpstr>
      <vt:lpstr>Wingdings</vt:lpstr>
      <vt:lpstr>Calibri</vt:lpstr>
      <vt:lpstr>Times New Roman</vt:lpstr>
      <vt:lpstr>Cambria Math</vt:lpstr>
      <vt:lpstr>清华简约主题-顶边-4:3</vt:lpstr>
      <vt:lpstr>线性分类器与回归分析</vt:lpstr>
      <vt:lpstr>回归的概念</vt:lpstr>
      <vt:lpstr>回归的概念</vt:lpstr>
      <vt:lpstr>回归的概念</vt:lpstr>
      <vt:lpstr>回归的概念</vt:lpstr>
      <vt:lpstr>目录</vt:lpstr>
      <vt:lpstr>PowerPoint 演示文稿</vt:lpstr>
      <vt:lpstr>线性分类器的优劣势</vt:lpstr>
      <vt:lpstr>线性分类器的优劣势</vt:lpstr>
      <vt:lpstr>线性分类器的应用场景</vt:lpstr>
      <vt:lpstr>线性回归-概念</vt:lpstr>
      <vt:lpstr>线性回归</vt:lpstr>
      <vt:lpstr>线性回归-概念</vt:lpstr>
      <vt:lpstr>典型案例：房价预测</vt:lpstr>
      <vt:lpstr>线性回归-算法流程</vt:lpstr>
      <vt:lpstr>线性回归如何学习参数</vt:lpstr>
      <vt:lpstr>线性回归如何学习参数</vt:lpstr>
      <vt:lpstr>从线性回归过渡到感知机</vt:lpstr>
      <vt:lpstr>感知机如何学习参数</vt:lpstr>
      <vt:lpstr>PowerPoint 演示文稿</vt:lpstr>
      <vt:lpstr>非线性回归：逻辑回归</vt:lpstr>
      <vt:lpstr>逻辑回归如何学习参数</vt:lpstr>
      <vt:lpstr>逻辑回归的损失函数</vt:lpstr>
      <vt:lpstr>PowerPoint 演示文稿</vt:lpstr>
      <vt:lpstr>逻辑回归在线性可分时的问题</vt:lpstr>
      <vt:lpstr>PowerPoint 演示文稿</vt:lpstr>
      <vt:lpstr>正则化</vt:lpstr>
      <vt:lpstr>逻辑回归的计算挑战与 SGD</vt:lpstr>
      <vt:lpstr>多项式回归</vt:lpstr>
      <vt:lpstr>多项式回归的基本形式</vt:lpstr>
      <vt:lpstr>多项式回归的核心思想</vt:lpstr>
      <vt:lpstr>PowerPoint 演示文稿</vt:lpstr>
      <vt:lpstr>多项式回归的优缺点</vt:lpstr>
      <vt:lpstr>模型复杂性</vt:lpstr>
      <vt:lpstr>过拟合与欠拟合</vt:lpstr>
      <vt:lpstr>解决过拟合的方法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周宇航</cp:lastModifiedBy>
  <cp:revision>1268</cp:revision>
  <cp:lastPrinted>2020-04-04T02:50:00Z</cp:lastPrinted>
  <dcterms:created xsi:type="dcterms:W3CDTF">2020-01-04T07:43:00Z</dcterms:created>
  <dcterms:modified xsi:type="dcterms:W3CDTF">2026-04-16T16:07:49Z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E6B29F38DA614B908CA922D636D3E370_13</vt:lpwstr>
  </property>
</Properties>
</file>