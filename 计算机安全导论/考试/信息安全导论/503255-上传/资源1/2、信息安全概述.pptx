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264" r:id="rId7"/>
    <p:sldId id="265" r:id="rId8"/>
    <p:sldId id="267" r:id="rId9"/>
    <p:sldId id="269" r:id="rId10"/>
    <p:sldId id="270" r:id="rId11"/>
    <p:sldId id="271" r:id="rId12"/>
    <p:sldId id="272" r:id="rId13"/>
    <p:sldId id="273" r:id="rId14"/>
    <p:sldId id="274" r:id="rId15"/>
    <p:sldId id="275" r:id="rId16"/>
    <p:sldId id="276" r:id="rId17"/>
    <p:sldId id="277" r:id="rId18"/>
    <p:sldId id="279" r:id="rId19"/>
    <p:sldId id="280" r:id="rId20"/>
    <p:sldId id="281"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96"/>
      </p:cViewPr>
      <p:guideLst>
        <p:guide orient="horz" pos="2160"/>
        <p:guide pos="28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904"/>
            <a:ext cx="7772400" cy="1470025"/>
          </a:xfrm>
        </p:spPr>
        <p:txBody>
          <a:bodyPr/>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8" name="矩形 7"/>
          <p:cNvSpPr/>
          <p:nvPr userDrawn="1"/>
        </p:nvSpPr>
        <p:spPr>
          <a:xfrm>
            <a:off x="0" y="0"/>
            <a:ext cx="9144000" cy="1916832"/>
          </a:xfrm>
          <a:prstGeom prst="rect">
            <a:avLst/>
          </a:prstGeom>
          <a:solidFill>
            <a:schemeClr val="accent4">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35416" y="4941168"/>
            <a:ext cx="9179416" cy="1916832"/>
          </a:xfrm>
          <a:prstGeom prst="rect">
            <a:avLst/>
          </a:prstGeom>
          <a:solidFill>
            <a:schemeClr val="accent4">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grpSp>
        <p:nvGrpSpPr>
          <p:cNvPr id="34" name="组合 33"/>
          <p:cNvGrpSpPr/>
          <p:nvPr userDrawn="1"/>
        </p:nvGrpSpPr>
        <p:grpSpPr>
          <a:xfrm>
            <a:off x="1835696" y="-24556"/>
            <a:ext cx="5328592" cy="6882556"/>
            <a:chOff x="2195736" y="0"/>
            <a:chExt cx="5328592" cy="6882556"/>
          </a:xfrm>
        </p:grpSpPr>
        <p:sp>
          <p:nvSpPr>
            <p:cNvPr id="35" name="平行四边形 34"/>
            <p:cNvSpPr/>
            <p:nvPr/>
          </p:nvSpPr>
          <p:spPr>
            <a:xfrm>
              <a:off x="2195736" y="0"/>
              <a:ext cx="5328592" cy="6882556"/>
            </a:xfrm>
            <a:prstGeom prst="parallelogram">
              <a:avLst>
                <a:gd name="adj" fmla="val 32508"/>
              </a:avLst>
            </a:prstGeom>
            <a:solidFill>
              <a:schemeClr val="accent4">
                <a:lumMod val="75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6" name="组合 35"/>
            <p:cNvGrpSpPr/>
            <p:nvPr/>
          </p:nvGrpSpPr>
          <p:grpSpPr>
            <a:xfrm>
              <a:off x="2729508" y="1268760"/>
              <a:ext cx="3168352" cy="461665"/>
              <a:chOff x="2729508" y="1268760"/>
              <a:chExt cx="3168352" cy="461665"/>
            </a:xfrm>
          </p:grpSpPr>
          <p:cxnSp>
            <p:nvCxnSpPr>
              <p:cNvPr id="58" name="直接连接符 5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37" name="组合 36"/>
            <p:cNvGrpSpPr/>
            <p:nvPr/>
          </p:nvGrpSpPr>
          <p:grpSpPr>
            <a:xfrm>
              <a:off x="2881908" y="1861167"/>
              <a:ext cx="3168352" cy="461665"/>
              <a:chOff x="2729508" y="1268760"/>
              <a:chExt cx="3168352" cy="461665"/>
            </a:xfrm>
          </p:grpSpPr>
          <p:cxnSp>
            <p:nvCxnSpPr>
              <p:cNvPr id="56" name="直接连接符 5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系统状态</a:t>
                </a:r>
                <a:endParaRPr lang="zh-CN" altLang="en-US" sz="2400" dirty="0">
                  <a:solidFill>
                    <a:schemeClr val="bg2"/>
                  </a:solidFill>
                </a:endParaRPr>
              </a:p>
            </p:txBody>
          </p:sp>
        </p:grpSp>
        <p:grpSp>
          <p:nvGrpSpPr>
            <p:cNvPr id="38" name="组合 37"/>
            <p:cNvGrpSpPr/>
            <p:nvPr/>
          </p:nvGrpSpPr>
          <p:grpSpPr>
            <a:xfrm>
              <a:off x="3034308" y="2453574"/>
              <a:ext cx="3168352" cy="461665"/>
              <a:chOff x="2729508" y="1268760"/>
              <a:chExt cx="3168352" cy="461665"/>
            </a:xfrm>
          </p:grpSpPr>
          <p:cxnSp>
            <p:nvCxnSpPr>
              <p:cNvPr id="54" name="直接连接符 5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安全特性</a:t>
                </a:r>
                <a:endParaRPr lang="zh-CN" altLang="en-US" sz="2400" dirty="0">
                  <a:solidFill>
                    <a:schemeClr val="bg2"/>
                  </a:solidFill>
                </a:endParaRPr>
              </a:p>
            </p:txBody>
          </p:sp>
        </p:grpSp>
        <p:grpSp>
          <p:nvGrpSpPr>
            <p:cNvPr id="39" name="组合 38"/>
            <p:cNvGrpSpPr/>
            <p:nvPr/>
          </p:nvGrpSpPr>
          <p:grpSpPr>
            <a:xfrm>
              <a:off x="3186708" y="3045981"/>
              <a:ext cx="3168352" cy="461665"/>
              <a:chOff x="2729508" y="1268760"/>
              <a:chExt cx="3168352" cy="461665"/>
            </a:xfrm>
          </p:grpSpPr>
          <p:cxnSp>
            <p:nvCxnSpPr>
              <p:cNvPr id="52" name="直接连接符 51"/>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059832" y="1268760"/>
                <a:ext cx="800219" cy="461665"/>
              </a:xfrm>
              <a:prstGeom prst="rect">
                <a:avLst/>
              </a:prstGeom>
              <a:noFill/>
            </p:spPr>
            <p:txBody>
              <a:bodyPr wrap="none" rtlCol="0">
                <a:spAutoFit/>
              </a:bodyPr>
              <a:lstStyle/>
              <a:p>
                <a:r>
                  <a:rPr lang="zh-CN" altLang="en-US" sz="2400" dirty="0">
                    <a:solidFill>
                      <a:schemeClr val="bg2"/>
                    </a:solidFill>
                  </a:rPr>
                  <a:t>请求</a:t>
                </a:r>
                <a:endParaRPr lang="zh-CN" altLang="en-US" sz="2400" dirty="0">
                  <a:solidFill>
                    <a:schemeClr val="bg2"/>
                  </a:solidFill>
                </a:endParaRPr>
              </a:p>
            </p:txBody>
          </p:sp>
        </p:grpSp>
        <p:grpSp>
          <p:nvGrpSpPr>
            <p:cNvPr id="40" name="组合 39"/>
            <p:cNvGrpSpPr/>
            <p:nvPr/>
          </p:nvGrpSpPr>
          <p:grpSpPr>
            <a:xfrm>
              <a:off x="3339108" y="3638388"/>
              <a:ext cx="3168352" cy="461665"/>
              <a:chOff x="2729508" y="1268760"/>
              <a:chExt cx="3168352" cy="461665"/>
            </a:xfrm>
          </p:grpSpPr>
          <p:cxnSp>
            <p:nvCxnSpPr>
              <p:cNvPr id="50" name="直接连接符 49"/>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059832" y="1268760"/>
                <a:ext cx="2031325" cy="461665"/>
              </a:xfrm>
              <a:prstGeom prst="rect">
                <a:avLst/>
              </a:prstGeom>
              <a:noFill/>
            </p:spPr>
            <p:txBody>
              <a:bodyPr wrap="none" rtlCol="0">
                <a:spAutoFit/>
              </a:bodyPr>
              <a:lstStyle/>
              <a:p>
                <a:r>
                  <a:rPr lang="zh-CN" altLang="en-US" sz="2400" dirty="0">
                    <a:solidFill>
                      <a:schemeClr val="bg2"/>
                    </a:solidFill>
                  </a:rPr>
                  <a:t>状态</a:t>
                </a:r>
                <a:r>
                  <a:rPr lang="zh-CN" altLang="en-US" sz="2400" dirty="0" smtClean="0">
                    <a:solidFill>
                      <a:schemeClr val="bg2"/>
                    </a:solidFill>
                  </a:rPr>
                  <a:t>转换规则</a:t>
                </a:r>
                <a:endParaRPr lang="zh-CN" altLang="en-US" sz="2400" dirty="0">
                  <a:solidFill>
                    <a:schemeClr val="bg2"/>
                  </a:solidFill>
                </a:endParaRPr>
              </a:p>
            </p:txBody>
          </p:sp>
        </p:grpSp>
        <p:grpSp>
          <p:nvGrpSpPr>
            <p:cNvPr id="41" name="组合 40"/>
            <p:cNvGrpSpPr/>
            <p:nvPr/>
          </p:nvGrpSpPr>
          <p:grpSpPr>
            <a:xfrm>
              <a:off x="3491508" y="4230795"/>
              <a:ext cx="3168352" cy="461665"/>
              <a:chOff x="2729508" y="1268760"/>
              <a:chExt cx="3168352" cy="461665"/>
            </a:xfrm>
          </p:grpSpPr>
          <p:cxnSp>
            <p:nvCxnSpPr>
              <p:cNvPr id="48" name="直接连接符 4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42" name="组合 41"/>
            <p:cNvGrpSpPr/>
            <p:nvPr/>
          </p:nvGrpSpPr>
          <p:grpSpPr>
            <a:xfrm>
              <a:off x="3643908" y="4823202"/>
              <a:ext cx="3168352" cy="461665"/>
              <a:chOff x="2729508" y="1268760"/>
              <a:chExt cx="3168352" cy="461665"/>
            </a:xfrm>
          </p:grpSpPr>
          <p:cxnSp>
            <p:nvCxnSpPr>
              <p:cNvPr id="46" name="直接连接符 4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059832" y="1268760"/>
                <a:ext cx="1723549" cy="461665"/>
              </a:xfrm>
              <a:prstGeom prst="rect">
                <a:avLst/>
              </a:prstGeom>
              <a:noFill/>
            </p:spPr>
            <p:txBody>
              <a:bodyPr wrap="none" rtlCol="0">
                <a:spAutoFit/>
              </a:bodyPr>
              <a:lstStyle/>
              <a:p>
                <a:r>
                  <a:rPr lang="zh-CN" altLang="en-US" sz="2400" dirty="0" smtClean="0">
                    <a:solidFill>
                      <a:schemeClr val="bg2"/>
                    </a:solidFill>
                  </a:rPr>
                  <a:t>系统的定义</a:t>
                </a:r>
                <a:endParaRPr lang="zh-CN" altLang="en-US" sz="2400" dirty="0">
                  <a:solidFill>
                    <a:schemeClr val="bg2"/>
                  </a:solidFill>
                </a:endParaRPr>
              </a:p>
            </p:txBody>
          </p:sp>
        </p:grpSp>
        <p:grpSp>
          <p:nvGrpSpPr>
            <p:cNvPr id="43" name="组合 42"/>
            <p:cNvGrpSpPr/>
            <p:nvPr/>
          </p:nvGrpSpPr>
          <p:grpSpPr>
            <a:xfrm>
              <a:off x="3796308" y="5415607"/>
              <a:ext cx="3168352" cy="461665"/>
              <a:chOff x="2729508" y="1268760"/>
              <a:chExt cx="3168352" cy="461665"/>
            </a:xfrm>
          </p:grpSpPr>
          <p:cxnSp>
            <p:nvCxnSpPr>
              <p:cNvPr id="44" name="直接连接符 4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059832" y="1268760"/>
                <a:ext cx="2339102" cy="461665"/>
              </a:xfrm>
              <a:prstGeom prst="rect">
                <a:avLst/>
              </a:prstGeom>
              <a:noFill/>
            </p:spPr>
            <p:txBody>
              <a:bodyPr wrap="none" rtlCol="0">
                <a:spAutoFit/>
              </a:bodyPr>
              <a:lstStyle/>
              <a:p>
                <a:r>
                  <a:rPr lang="zh-CN" altLang="en-US" sz="2400" dirty="0" smtClean="0">
                    <a:solidFill>
                      <a:schemeClr val="bg2"/>
                    </a:solidFill>
                  </a:rPr>
                  <a:t>安全系统的定义</a:t>
                </a:r>
                <a:endParaRPr lang="zh-CN" altLang="en-US" sz="2400" dirty="0">
                  <a:solidFill>
                    <a:schemeClr val="bg2"/>
                  </a:solidFill>
                </a:endParaRPr>
              </a:p>
            </p:txBody>
          </p:sp>
        </p:grpSp>
      </p:grpSp>
      <p:grpSp>
        <p:nvGrpSpPr>
          <p:cNvPr id="60" name="组合 59"/>
          <p:cNvGrpSpPr/>
          <p:nvPr userDrawn="1"/>
        </p:nvGrpSpPr>
        <p:grpSpPr>
          <a:xfrm>
            <a:off x="2372455" y="6311526"/>
            <a:ext cx="6602742" cy="216024"/>
            <a:chOff x="1613680" y="6332710"/>
            <a:chExt cx="6602742" cy="216024"/>
          </a:xfrm>
        </p:grpSpPr>
        <p:sp>
          <p:nvSpPr>
            <p:cNvPr id="61" name="圆角矩形 60"/>
            <p:cNvSpPr/>
            <p:nvPr/>
          </p:nvSpPr>
          <p:spPr>
            <a:xfrm>
              <a:off x="349212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386781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4243503"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4619192"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4994881"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537057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574625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a:off x="612194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649763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762470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687332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800039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a:off x="724901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161368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p:cNvSpPr/>
            <p:nvPr/>
          </p:nvSpPr>
          <p:spPr>
            <a:xfrm>
              <a:off x="198936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236505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274074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311643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userDrawn="1"/>
        </p:nvGrpSpPr>
        <p:grpSpPr>
          <a:xfrm>
            <a:off x="7096747" y="2474254"/>
            <a:ext cx="1286732" cy="1370410"/>
            <a:chOff x="7096747" y="2474254"/>
            <a:chExt cx="1286732" cy="1370410"/>
          </a:xfrm>
          <a:effectLst>
            <a:reflection blurRad="6350" stA="52000" endA="300" endPos="35000" dir="5400000" sy="-100000" algn="bl" rotWithShape="0"/>
          </a:effectLst>
        </p:grpSpPr>
        <p:sp>
          <p:nvSpPr>
            <p:cNvPr id="80" name="圆角矩形 79"/>
            <p:cNvSpPr/>
            <p:nvPr/>
          </p:nvSpPr>
          <p:spPr>
            <a:xfrm>
              <a:off x="7096747" y="2890683"/>
              <a:ext cx="1286732" cy="953981"/>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联系 80"/>
            <p:cNvSpPr/>
            <p:nvPr/>
          </p:nvSpPr>
          <p:spPr>
            <a:xfrm>
              <a:off x="7318362" y="2474254"/>
              <a:ext cx="843502" cy="823240"/>
            </a:xfrm>
            <a:prstGeom prst="flowChartConnector">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流程图: 联系 81"/>
            <p:cNvSpPr/>
            <p:nvPr/>
          </p:nvSpPr>
          <p:spPr>
            <a:xfrm>
              <a:off x="7632101" y="3252257"/>
              <a:ext cx="216024" cy="230833"/>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7690061" y="3429000"/>
              <a:ext cx="108012" cy="233942"/>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0" y="260648"/>
            <a:ext cx="3779912" cy="1143000"/>
          </a:xfrm>
        </p:spPr>
        <p:txBody>
          <a:body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843808" y="2540502"/>
            <a:ext cx="6120680" cy="746956"/>
          </a:xfrm>
        </p:spPr>
        <p:txBody>
          <a:bodyPr/>
          <a:lstStyle/>
          <a:p>
            <a:r>
              <a:rPr lang="zh-CN" altLang="en-US" dirty="0" smtClean="0"/>
              <a:t>单击此处编辑母版标题</a:t>
            </a:r>
            <a:endParaRPr lang="zh-CN" altLang="en-US" dirty="0"/>
          </a:p>
        </p:txBody>
      </p:sp>
      <p:sp>
        <p:nvSpPr>
          <p:cNvPr id="3" name="日期占位符 2"/>
          <p:cNvSpPr>
            <a:spLocks noGrp="1"/>
          </p:cNvSpPr>
          <p:nvPr>
            <p:ph type="dt" sz="half" idx="10"/>
          </p:nvPr>
        </p:nvSpPr>
        <p:spPr/>
        <p:txBody>
          <a:bodyPr/>
          <a:lstStyle/>
          <a:p>
            <a:fld id="{D41979AF-1B79-48DE-B66B-AF721FF346D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C9942C-5AE4-40E7-B4D2-6AAA9ED4AF95}" type="slidenum">
              <a:rPr lang="zh-CN" altLang="en-US" smtClean="0"/>
            </a:fld>
            <a:endParaRPr lang="zh-CN" altLang="en-US"/>
          </a:p>
        </p:txBody>
      </p:sp>
      <p:grpSp>
        <p:nvGrpSpPr>
          <p:cNvPr id="15" name="组合 14"/>
          <p:cNvGrpSpPr/>
          <p:nvPr userDrawn="1"/>
        </p:nvGrpSpPr>
        <p:grpSpPr>
          <a:xfrm>
            <a:off x="2843808" y="1988840"/>
            <a:ext cx="6300192" cy="1224136"/>
            <a:chOff x="2843808" y="1988840"/>
            <a:chExt cx="6300192" cy="1224136"/>
          </a:xfrm>
        </p:grpSpPr>
        <p:sp>
          <p:nvSpPr>
            <p:cNvPr id="6" name="矩形 5"/>
            <p:cNvSpPr/>
            <p:nvPr userDrawn="1"/>
          </p:nvSpPr>
          <p:spPr>
            <a:xfrm>
              <a:off x="2843808" y="1988840"/>
              <a:ext cx="6300192" cy="57606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五边形 6"/>
            <p:cNvSpPr/>
            <p:nvPr userDrawn="1"/>
          </p:nvSpPr>
          <p:spPr>
            <a:xfrm rot="16200000">
              <a:off x="8424428" y="2024844"/>
              <a:ext cx="432048" cy="648072"/>
            </a:xfrm>
            <a:prstGeom prst="homePlate">
              <a:avLst>
                <a:gd name="adj" fmla="val 2782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2843808" y="3212976"/>
              <a:ext cx="6120680" cy="0"/>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8964488" y="2276872"/>
              <a:ext cx="0" cy="936104"/>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矩形 6"/>
          <p:cNvSpPr/>
          <p:nvPr userDrawn="1"/>
        </p:nvSpPr>
        <p:spPr>
          <a:xfrm>
            <a:off x="-26126" y="548680"/>
            <a:ext cx="9196252" cy="93610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dirty="0" smtClean="0"/>
              <a:t>     目录</a:t>
            </a:r>
            <a:endParaRPr lang="zh-CN" altLang="en-US" sz="4400" dirty="0"/>
          </a:p>
        </p:txBody>
      </p:sp>
      <p:grpSp>
        <p:nvGrpSpPr>
          <p:cNvPr id="12" name="组合 11"/>
          <p:cNvGrpSpPr/>
          <p:nvPr userDrawn="1"/>
        </p:nvGrpSpPr>
        <p:grpSpPr>
          <a:xfrm>
            <a:off x="2411760" y="3380995"/>
            <a:ext cx="4536504" cy="45719"/>
            <a:chOff x="1187624" y="2375169"/>
            <a:chExt cx="4536504" cy="45719"/>
          </a:xfrm>
        </p:grpSpPr>
        <p:cxnSp>
          <p:nvCxnSpPr>
            <p:cNvPr id="13" name="直接连接符 12"/>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2411760" y="4557126"/>
            <a:ext cx="4536504" cy="45719"/>
            <a:chOff x="1187624" y="2375169"/>
            <a:chExt cx="4536504" cy="45719"/>
          </a:xfrm>
        </p:grpSpPr>
        <p:cxnSp>
          <p:nvCxnSpPr>
            <p:cNvPr id="16" name="直接连接符 15"/>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userDrawn="1"/>
        </p:nvGrpSpPr>
        <p:grpSpPr>
          <a:xfrm>
            <a:off x="2411760" y="5733256"/>
            <a:ext cx="4536504" cy="45719"/>
            <a:chOff x="1187624" y="2375169"/>
            <a:chExt cx="4536504" cy="45719"/>
          </a:xfrm>
        </p:grpSpPr>
        <p:cxnSp>
          <p:nvCxnSpPr>
            <p:cNvPr id="19" name="直接连接符 18"/>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userDrawn="1"/>
        </p:nvGrpSpPr>
        <p:grpSpPr>
          <a:xfrm>
            <a:off x="2411760" y="2204864"/>
            <a:ext cx="4536504" cy="45719"/>
            <a:chOff x="1187624" y="2375169"/>
            <a:chExt cx="4536504" cy="45719"/>
          </a:xfrm>
        </p:grpSpPr>
        <p:cxnSp>
          <p:nvCxnSpPr>
            <p:cNvPr id="23" name="直接连接符 22"/>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6" name="矩形 5"/>
          <p:cNvSpPr/>
          <p:nvPr userDrawn="1"/>
        </p:nvSpPr>
        <p:spPr>
          <a:xfrm>
            <a:off x="0" y="0"/>
            <a:ext cx="2627784"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标题 1"/>
          <p:cNvSpPr txBox="1"/>
          <p:nvPr userDrawn="1"/>
        </p:nvSpPr>
        <p:spPr>
          <a:xfrm>
            <a:off x="827584" y="58011"/>
            <a:ext cx="6120680" cy="746956"/>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solidFill>
                  <a:schemeClr val="bg2"/>
                </a:solidFill>
              </a:rPr>
              <a:t>1.1</a:t>
            </a:r>
            <a:r>
              <a:rPr lang="en-US" altLang="zh-CN" sz="3200" dirty="0" smtClean="0"/>
              <a:t> </a:t>
            </a:r>
            <a:r>
              <a:rPr lang="zh-CN" altLang="zh-CN" sz="3200" b="1" dirty="0" smtClean="0">
                <a:solidFill>
                  <a:schemeClr val="accent4">
                    <a:lumMod val="75000"/>
                  </a:schemeClr>
                </a:solidFill>
              </a:rPr>
              <a:t>信息安全基本概念</a:t>
            </a:r>
            <a:endParaRPr lang="zh-CN" altLang="en-US" sz="3200" b="1" dirty="0">
              <a:solidFill>
                <a:schemeClr val="accent4">
                  <a:lumMod val="75000"/>
                </a:schemeClr>
              </a:solidFill>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内容占位符 6"/>
          <p:cNvSpPr>
            <a:spLocks noGrp="1"/>
          </p:cNvSpPr>
          <p:nvPr>
            <p:ph sz="quarter" idx="13"/>
          </p:nvPr>
        </p:nvSpPr>
        <p:spPr>
          <a:xfrm>
            <a:off x="1547812" y="2349500"/>
            <a:ext cx="6552579" cy="35277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矩形 7"/>
          <p:cNvSpPr/>
          <p:nvPr userDrawn="1"/>
        </p:nvSpPr>
        <p:spPr>
          <a:xfrm>
            <a:off x="-52251" y="6165304"/>
            <a:ext cx="9252520" cy="69269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90CF0-DF98-4D2E-96D5-87D8DCAB4F5F}"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222CD-E3C2-480D-8A0A-AB0483A3D4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zh-CN" dirty="0"/>
              <a:t>第</a:t>
            </a:r>
            <a:r>
              <a:rPr lang="en-US" altLang="zh-CN" dirty="0"/>
              <a:t>2</a:t>
            </a:r>
            <a:r>
              <a:rPr lang="zh-CN" altLang="zh-CN" dirty="0"/>
              <a:t>章</a:t>
            </a:r>
            <a:r>
              <a:rPr lang="en-US" altLang="zh-CN" dirty="0"/>
              <a:t>  </a:t>
            </a:r>
            <a:r>
              <a:rPr lang="zh-CN" altLang="zh-CN" dirty="0"/>
              <a:t>信息安全概述</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99970" y="2373392"/>
            <a:ext cx="3446780" cy="460375"/>
          </a:xfrm>
          <a:prstGeom prst="rect">
            <a:avLst/>
          </a:prstGeom>
          <a:noFill/>
        </p:spPr>
        <p:txBody>
          <a:bodyPr wrap="none" rtlCol="0">
            <a:spAutoFit/>
          </a:bodyPr>
          <a:lstStyle/>
          <a:p>
            <a:r>
              <a:rPr lang="en-US" altLang="zh-CN" sz="2400" dirty="0">
                <a:latin typeface="+mn-ea"/>
              </a:rPr>
              <a:t>2.1 </a:t>
            </a:r>
            <a:r>
              <a:rPr lang="zh-CN" altLang="zh-CN" sz="2400" dirty="0">
                <a:latin typeface="+mn-ea"/>
              </a:rPr>
              <a:t>信息安全的</a:t>
            </a:r>
            <a:r>
              <a:rPr lang="zh-CN" altLang="zh-CN" sz="2400" dirty="0">
                <a:latin typeface="+mn-ea"/>
              </a:rPr>
              <a:t>基本概念</a:t>
            </a:r>
            <a:endParaRPr lang="zh-CN" altLang="en-US" sz="2400" dirty="0">
              <a:latin typeface="+mn-ea"/>
            </a:endParaRPr>
          </a:p>
        </p:txBody>
      </p:sp>
      <p:sp>
        <p:nvSpPr>
          <p:cNvPr id="4" name="矩形 3"/>
          <p:cNvSpPr/>
          <p:nvPr/>
        </p:nvSpPr>
        <p:spPr>
          <a:xfrm>
            <a:off x="2299970" y="3573016"/>
            <a:ext cx="2519680" cy="460375"/>
          </a:xfrm>
          <a:prstGeom prst="rect">
            <a:avLst/>
          </a:prstGeom>
        </p:spPr>
        <p:txBody>
          <a:bodyPr wrap="none">
            <a:spAutoFit/>
          </a:bodyPr>
          <a:lstStyle/>
          <a:p>
            <a:r>
              <a:rPr lang="en-US" altLang="zh-CN" sz="2400" dirty="0"/>
              <a:t>2.2 </a:t>
            </a:r>
            <a:r>
              <a:rPr lang="zh-CN" altLang="zh-CN" sz="2400" dirty="0"/>
              <a:t>信息安全体系</a:t>
            </a:r>
            <a:endParaRPr lang="zh-CN" altLang="en-US" sz="2400" dirty="0"/>
          </a:p>
        </p:txBody>
      </p:sp>
      <p:sp>
        <p:nvSpPr>
          <p:cNvPr id="5" name="矩形 4"/>
          <p:cNvSpPr/>
          <p:nvPr/>
        </p:nvSpPr>
        <p:spPr>
          <a:xfrm>
            <a:off x="2299970" y="4725144"/>
            <a:ext cx="2824480" cy="460375"/>
          </a:xfrm>
          <a:prstGeom prst="rect">
            <a:avLst/>
          </a:prstGeom>
        </p:spPr>
        <p:txBody>
          <a:bodyPr wrap="none">
            <a:spAutoFit/>
          </a:bodyPr>
          <a:lstStyle/>
          <a:p>
            <a:r>
              <a:rPr lang="en-US" altLang="zh-CN" sz="2400" dirty="0"/>
              <a:t>2.3 </a:t>
            </a:r>
            <a:r>
              <a:rPr lang="zh-CN" altLang="zh-CN" sz="2400" dirty="0"/>
              <a:t>信息安全发展史</a:t>
            </a:r>
            <a:endParaRPr lang="zh-CN" altLang="zh-CN"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2.1 </a:t>
            </a:r>
            <a:r>
              <a:rPr lang="zh-CN" altLang="zh-CN" dirty="0" smtClean="0"/>
              <a:t>信息安全的基本概念</a:t>
            </a:r>
            <a:endParaRPr lang="zh-CN" altLang="zh-CN" dirty="0" smtClean="0"/>
          </a:p>
        </p:txBody>
      </p:sp>
      <p:sp>
        <p:nvSpPr>
          <p:cNvPr id="13" name="TextBox 12"/>
          <p:cNvSpPr txBox="1"/>
          <p:nvPr/>
        </p:nvSpPr>
        <p:spPr>
          <a:xfrm>
            <a:off x="3502174" y="3804700"/>
            <a:ext cx="2694305" cy="460375"/>
          </a:xfrm>
          <a:prstGeom prst="rect">
            <a:avLst/>
          </a:prstGeom>
          <a:noFill/>
        </p:spPr>
        <p:txBody>
          <a:bodyPr wrap="none" rtlCol="0">
            <a:spAutoFit/>
          </a:bodyPr>
          <a:lstStyle/>
          <a:p>
            <a:pPr algn="l"/>
            <a:r>
              <a:rPr lang="en-US" altLang="zh-CN" sz="2400" b="0" kern="1200" dirty="0" smtClean="0">
                <a:effectLst/>
                <a:latin typeface="+mn-ea"/>
                <a:ea typeface="+mn-ea"/>
              </a:rPr>
              <a:t>2.1.1</a:t>
            </a:r>
            <a:r>
              <a:rPr lang="zh-CN" altLang="en-US" sz="2400" b="0" dirty="0" smtClean="0">
                <a:latin typeface="+mn-ea"/>
                <a:ea typeface="+mn-ea"/>
              </a:rPr>
              <a:t>信息安全威胁</a:t>
            </a:r>
            <a:endParaRPr lang="zh-CN" altLang="en-US" sz="2400" b="0" dirty="0" smtClean="0">
              <a:latin typeface="+mn-ea"/>
              <a:ea typeface="+mn-ea"/>
            </a:endParaRPr>
          </a:p>
        </p:txBody>
      </p:sp>
      <p:sp>
        <p:nvSpPr>
          <p:cNvPr id="17" name="TextBox 16"/>
          <p:cNvSpPr txBox="1"/>
          <p:nvPr/>
        </p:nvSpPr>
        <p:spPr>
          <a:xfrm>
            <a:off x="3491880" y="4451920"/>
            <a:ext cx="2694305" cy="1568450"/>
          </a:xfrm>
          <a:prstGeom prst="rect">
            <a:avLst/>
          </a:prstGeom>
          <a:noFill/>
        </p:spPr>
        <p:txBody>
          <a:bodyPr wrap="none" rtlCol="0">
            <a:spAutoFit/>
          </a:bodyPr>
          <a:lstStyle/>
          <a:p>
            <a:pPr algn="l"/>
            <a:r>
              <a:rPr lang="en-US" altLang="zh-CN" sz="2400" b="0" kern="1200" dirty="0" smtClean="0">
                <a:effectLst/>
                <a:latin typeface="+mn-ea"/>
                <a:ea typeface="+mn-ea"/>
              </a:rPr>
              <a:t>2.1.2</a:t>
            </a:r>
            <a:r>
              <a:rPr lang="zh-CN" altLang="en-US" sz="2400" b="0" dirty="0" smtClean="0">
                <a:latin typeface="+mn-ea"/>
                <a:ea typeface="+mn-ea"/>
              </a:rPr>
              <a:t>信息安全定义</a:t>
            </a:r>
            <a:endParaRPr lang="zh-CN" altLang="en-US" sz="2400" b="0" dirty="0" smtClean="0">
              <a:latin typeface="+mn-ea"/>
              <a:ea typeface="+mn-ea"/>
            </a:endParaRPr>
          </a:p>
          <a:p>
            <a:pPr algn="l"/>
            <a:endParaRPr lang="zh-CN" altLang="en-US" sz="2400" b="0" dirty="0" smtClean="0">
              <a:latin typeface="+mn-ea"/>
              <a:ea typeface="+mn-ea"/>
            </a:endParaRPr>
          </a:p>
          <a:p>
            <a:pPr algn="l"/>
            <a:r>
              <a:rPr lang="en-US" altLang="zh-CN" sz="2400" b="0" dirty="0" smtClean="0">
                <a:latin typeface="+mn-ea"/>
                <a:ea typeface="+mn-ea"/>
              </a:rPr>
              <a:t>2.1.3信息安全属性</a:t>
            </a:r>
            <a:endParaRPr lang="en-US" altLang="zh-CN" sz="2400" b="0" dirty="0" smtClean="0">
              <a:latin typeface="+mn-ea"/>
              <a:ea typeface="+mn-ea"/>
            </a:endParaRPr>
          </a:p>
          <a:p>
            <a:pPr algn="l"/>
            <a:endParaRPr lang="zh-CN" altLang="en-US" sz="2400" b="0" dirty="0" smtClean="0">
              <a:latin typeface="+mn-ea"/>
              <a:ea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131840" cy="548655"/>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694305" cy="460375"/>
            </a:xfrm>
            <a:prstGeom prst="rect">
              <a:avLst/>
            </a:prstGeom>
            <a:noFill/>
          </p:spPr>
          <p:txBody>
            <a:bodyPr wrap="none" rtlCol="0">
              <a:spAutoFit/>
            </a:bodyPr>
            <a:lstStyle/>
            <a:p>
              <a:pPr algn="l"/>
              <a:r>
                <a:rPr lang="en-US" altLang="zh-CN" sz="2400" b="0" kern="1200" dirty="0" smtClean="0">
                  <a:solidFill>
                    <a:schemeClr val="bg2"/>
                  </a:solidFill>
                  <a:effectLst/>
                  <a:latin typeface="+mn-ea"/>
                  <a:ea typeface="+mn-ea"/>
                </a:rPr>
                <a:t>2.1.1</a:t>
              </a:r>
              <a:r>
                <a:rPr lang="zh-CN" altLang="en-US" sz="2400" b="0" dirty="0" smtClean="0">
                  <a:solidFill>
                    <a:schemeClr val="bg2"/>
                  </a:solidFill>
                  <a:latin typeface="+mn-ea"/>
                  <a:ea typeface="+mn-ea"/>
                </a:rPr>
                <a:t>信息安全威胁</a:t>
              </a:r>
              <a:endParaRPr lang="zh-CN" altLang="en-US" sz="2400" b="0" dirty="0" smtClean="0">
                <a:solidFill>
                  <a:schemeClr val="bg2"/>
                </a:solidFill>
                <a:latin typeface="+mn-ea"/>
                <a:ea typeface="+mn-ea"/>
              </a:endParaRPr>
            </a:p>
          </p:txBody>
        </p:sp>
      </p:grpSp>
      <p:sp>
        <p:nvSpPr>
          <p:cNvPr id="17" name="TextBox 16"/>
          <p:cNvSpPr txBox="1"/>
          <p:nvPr/>
        </p:nvSpPr>
        <p:spPr>
          <a:xfrm>
            <a:off x="2253635" y="6412686"/>
            <a:ext cx="52882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2</a:t>
            </a:r>
            <a:r>
              <a:rPr lang="zh-CN" altLang="zh-CN" dirty="0" smtClean="0">
                <a:solidFill>
                  <a:schemeClr val="bg2"/>
                </a:solidFill>
              </a:rPr>
              <a:t>章</a:t>
            </a:r>
            <a:r>
              <a:rPr lang="en-US" altLang="zh-CN" dirty="0" smtClean="0">
                <a:solidFill>
                  <a:schemeClr val="bg2"/>
                </a:solidFill>
              </a:rPr>
              <a:t>  </a:t>
            </a:r>
            <a:r>
              <a:rPr lang="zh-CN" altLang="zh-CN" dirty="0" smtClean="0">
                <a:solidFill>
                  <a:schemeClr val="bg2"/>
                </a:solidFill>
              </a:rPr>
              <a:t>信息安全概述</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1</a:t>
            </a:r>
            <a:r>
              <a:rPr lang="zh-CN" altLang="en-US" dirty="0" smtClean="0">
                <a:solidFill>
                  <a:schemeClr val="bg2"/>
                </a:solidFill>
              </a:rPr>
              <a:t>节 </a:t>
            </a:r>
            <a:r>
              <a:rPr lang="zh-CN" altLang="zh-CN" dirty="0" smtClean="0">
                <a:solidFill>
                  <a:schemeClr val="bg2"/>
                </a:solidFill>
              </a:rPr>
              <a:t>信息安全的基本威胁</a:t>
            </a:r>
            <a:endParaRPr lang="zh-CN" altLang="zh-CN" dirty="0" smtClean="0">
              <a:solidFill>
                <a:schemeClr val="bg2"/>
              </a:solidFill>
            </a:endParaRPr>
          </a:p>
        </p:txBody>
      </p:sp>
      <p:graphicFrame>
        <p:nvGraphicFramePr>
          <p:cNvPr id="10" name="表格 9"/>
          <p:cNvGraphicFramePr>
            <a:graphicFrameLocks noGrp="1"/>
          </p:cNvGraphicFramePr>
          <p:nvPr/>
        </p:nvGraphicFramePr>
        <p:xfrm>
          <a:off x="413385" y="1148715"/>
          <a:ext cx="8317230" cy="3419475"/>
        </p:xfrm>
        <a:graphic>
          <a:graphicData uri="http://schemas.openxmlformats.org/drawingml/2006/table">
            <a:tbl>
              <a:tblPr firstRow="1" bandRow="1">
                <a:tableStyleId>{17292A2E-F333-43FB-9621-5CBBE7FDCDCB}</a:tableStyleId>
              </a:tblPr>
              <a:tblGrid>
                <a:gridCol w="1695450"/>
                <a:gridCol w="6621780"/>
              </a:tblGrid>
              <a:tr h="487045">
                <a:tc gridSpan="2">
                  <a:txBody>
                    <a:bodyPr/>
                    <a:p>
                      <a:pPr algn="ctr"/>
                      <a:endParaRPr lang="zh-CN" altLang="en-US" sz="2000" b="1" kern="1200" dirty="0" smtClean="0">
                        <a:solidFill>
                          <a:schemeClr val="bg2"/>
                        </a:solidFill>
                        <a:effectLst/>
                        <a:latin typeface="+mn-ea"/>
                        <a:ea typeface="+mn-ea"/>
                        <a:cs typeface="+mn-cs"/>
                      </a:endParaRPr>
                    </a:p>
                  </a:txBody>
                  <a:tcPr>
                    <a:solidFill>
                      <a:schemeClr val="accent4">
                        <a:lumMod val="75000"/>
                      </a:schemeClr>
                    </a:solidFill>
                  </a:tcPr>
                </a:tc>
                <a:tc hMerge="1">
                  <a:tcPr/>
                </a:tc>
              </a:tr>
              <a:tr h="487680">
                <a:tc>
                  <a:txBody>
                    <a:bodyPr/>
                    <a:p>
                      <a:pPr algn="ctr"/>
                      <a:r>
                        <a:rPr lang="zh-CN" sz="1800" dirty="0" smtClean="0"/>
                        <a:t>内部泄密</a:t>
                      </a:r>
                      <a:endParaRPr lang="zh-CN" sz="1800" dirty="0" smtClean="0"/>
                    </a:p>
                  </a:txBody>
                  <a:tcPr/>
                </a:tc>
                <a:tc>
                  <a:txBody>
                    <a:bodyPr/>
                    <a:p>
                      <a:r>
                        <a:rPr lang="zh-CN" altLang="zh-CN" sz="1800" kern="1200" dirty="0" smtClean="0">
                          <a:solidFill>
                            <a:schemeClr val="tx1"/>
                          </a:solidFill>
                          <a:effectLst/>
                          <a:latin typeface="+mn-lt"/>
                          <a:ea typeface="+mn-ea"/>
                          <a:cs typeface="+mn-cs"/>
                        </a:rPr>
                        <a:t>内部泄密指由于不严谨的企业内部管理，导致内部信息被企业内部人员有意或无意被泄露。</a:t>
                      </a:r>
                      <a:endParaRPr lang="zh-CN" altLang="zh-CN" sz="1800" kern="1200" dirty="0" smtClean="0">
                        <a:solidFill>
                          <a:schemeClr val="tx1"/>
                        </a:solidFill>
                        <a:effectLst/>
                        <a:latin typeface="+mn-lt"/>
                        <a:ea typeface="+mn-ea"/>
                        <a:cs typeface="+mn-cs"/>
                      </a:endParaRPr>
                    </a:p>
                  </a:txBody>
                  <a:tcPr/>
                </a:tc>
              </a:tr>
              <a:tr h="486410">
                <a:tc>
                  <a:txBody>
                    <a:bodyPr/>
                    <a:p>
                      <a:pPr algn="ctr"/>
                      <a:r>
                        <a:rPr lang="zh-CN" sz="1800" dirty="0" smtClean="0">
                          <a:sym typeface="+mn-ea"/>
                        </a:rPr>
                        <a:t>网络窃听</a:t>
                      </a:r>
                      <a:endParaRPr lang="zh-CN" sz="1800" dirty="0" smtClean="0">
                        <a:sym typeface="+mn-ea"/>
                      </a:endParaRPr>
                    </a:p>
                  </a:txBody>
                  <a:tcPr/>
                </a:tc>
                <a:tc>
                  <a:txBody>
                    <a:bodyPr/>
                    <a:p>
                      <a:r>
                        <a:rPr lang="zh-CN" altLang="zh-CN" sz="1800" kern="1200" dirty="0" smtClean="0">
                          <a:solidFill>
                            <a:schemeClr val="tx1"/>
                          </a:solidFill>
                          <a:effectLst/>
                          <a:latin typeface="+mn-lt"/>
                          <a:ea typeface="+mn-ea"/>
                          <a:cs typeface="+mn-cs"/>
                        </a:rPr>
                        <a:t>网络监听工具可以监视和截获网络状态、数据流程以及网络上信息传输。</a:t>
                      </a:r>
                      <a:endParaRPr lang="zh-CN" altLang="zh-CN" sz="1800" kern="1200" dirty="0" smtClean="0">
                        <a:solidFill>
                          <a:schemeClr val="tx1"/>
                        </a:solidFill>
                        <a:effectLst/>
                        <a:latin typeface="+mn-lt"/>
                        <a:ea typeface="+mn-ea"/>
                        <a:cs typeface="+mn-cs"/>
                      </a:endParaRPr>
                    </a:p>
                  </a:txBody>
                  <a:tcPr/>
                </a:tc>
              </a:tr>
              <a:tr h="497205">
                <a:tc>
                  <a:txBody>
                    <a:bodyPr/>
                    <a:p>
                      <a:pPr algn="ctr"/>
                      <a:r>
                        <a:rPr lang="zh-CN" sz="1800" dirty="0" smtClean="0"/>
                        <a:t>病毒感染</a:t>
                      </a:r>
                      <a:endParaRPr lang="zh-CN" sz="1800" dirty="0" smtClean="0"/>
                    </a:p>
                  </a:txBody>
                  <a:tcPr/>
                </a:tc>
                <a:tc>
                  <a:txBody>
                    <a:bodyPr/>
                    <a:p>
                      <a:r>
                        <a:rPr lang="zh-CN" sz="1800" kern="1200" dirty="0" smtClean="0">
                          <a:solidFill>
                            <a:schemeClr val="tx1"/>
                          </a:solidFill>
                          <a:effectLst/>
                          <a:latin typeface="+mn-lt"/>
                          <a:ea typeface="+mn-ea"/>
                          <a:cs typeface="+mn-cs"/>
                        </a:rPr>
                        <a:t>计算机病毒是一组计算机指令或者程序代码，它通过自我复制对计算机的功能和数据进行破坏，影响计算机的正常运转甚至导致计算机系统瘫痪。</a:t>
                      </a:r>
                      <a:endParaRPr lang="zh-CN" sz="1800" kern="1200" dirty="0" smtClean="0">
                        <a:solidFill>
                          <a:schemeClr val="tx1"/>
                        </a:solidFill>
                        <a:effectLst/>
                        <a:latin typeface="+mn-lt"/>
                        <a:ea typeface="+mn-ea"/>
                        <a:cs typeface="+mn-cs"/>
                      </a:endParaRPr>
                    </a:p>
                  </a:txBody>
                  <a:tcPr/>
                </a:tc>
              </a:tr>
              <a:tr h="486410">
                <a:tc>
                  <a:txBody>
                    <a:bodyPr/>
                    <a:p>
                      <a:pPr algn="ctr"/>
                      <a:r>
                        <a:rPr lang="zh-CN" sz="1800" dirty="0" smtClean="0"/>
                        <a:t>黑客攻击</a:t>
                      </a:r>
                      <a:endParaRPr lang="zh-CN" sz="1800" dirty="0" smtClean="0"/>
                    </a:p>
                  </a:txBody>
                  <a:tcPr/>
                </a:tc>
                <a:tc>
                  <a:txBody>
                    <a:bodyPr/>
                    <a:p>
                      <a:r>
                        <a:rPr lang="zh-CN" altLang="zh-CN" sz="1800" kern="1200" dirty="0" smtClean="0">
                          <a:solidFill>
                            <a:schemeClr val="tx1"/>
                          </a:solidFill>
                          <a:effectLst/>
                          <a:latin typeface="+mn-lt"/>
                          <a:ea typeface="+mn-ea"/>
                          <a:cs typeface="+mn-cs"/>
                        </a:rPr>
                        <a:t>黑客攻击是通过一定的技术手段进入内部网络，通过扫描系统漏洞，利用系统中安全防护的薄弱环节或系统缺陷，攻击目标主机或窃取其中存储的敏感信息。</a:t>
                      </a:r>
                      <a:endParaRPr lang="zh-CN" altLang="zh-CN" sz="1800" kern="1200" dirty="0" smtClean="0">
                        <a:solidFill>
                          <a:schemeClr val="tx1"/>
                        </a:solidFill>
                        <a:effectLst/>
                        <a:latin typeface="+mn-lt"/>
                        <a:ea typeface="+mn-ea"/>
                        <a:cs typeface="+mn-cs"/>
                      </a:endParaRPr>
                    </a:p>
                  </a:txBody>
                  <a:tcPr/>
                </a:tc>
              </a:tr>
              <a:tr h="487045">
                <a:tc>
                  <a:txBody>
                    <a:bodyPr/>
                    <a:p>
                      <a:pPr algn="ctr"/>
                      <a:r>
                        <a:rPr lang="zh-CN" sz="1800" dirty="0" smtClean="0"/>
                        <a:t>非授权访问</a:t>
                      </a:r>
                      <a:endParaRPr lang="zh-CN" sz="1800" dirty="0" smtClean="0"/>
                    </a:p>
                  </a:txBody>
                  <a:tcPr/>
                </a:tc>
                <a:tc>
                  <a:txBody>
                    <a:bodyPr/>
                    <a:p>
                      <a:r>
                        <a:rPr lang="zh-CN" altLang="zh-CN" sz="1800" kern="1200" dirty="0" smtClean="0">
                          <a:solidFill>
                            <a:schemeClr val="tx1"/>
                          </a:solidFill>
                          <a:effectLst/>
                          <a:latin typeface="+mn-lt"/>
                          <a:ea typeface="+mn-ea"/>
                          <a:cs typeface="+mn-cs"/>
                        </a:rPr>
                        <a:t>是指未经系统授权就使用网络或计算机资源，通过各种手段规避系统的访问控制机制，越权对网络设备及资源进行访问。</a:t>
                      </a:r>
                      <a:endParaRPr lang="zh-CN" altLang="zh-CN" sz="1800" kern="1200" dirty="0" smtClean="0">
                        <a:solidFill>
                          <a:schemeClr val="tx1"/>
                        </a:solidFill>
                        <a:effectLst/>
                        <a:latin typeface="+mn-lt"/>
                        <a:ea typeface="+mn-ea"/>
                        <a:cs typeface="+mn-cs"/>
                      </a:endParaRPr>
                    </a:p>
                  </a:txBody>
                  <a:tcPr/>
                </a:tc>
              </a:tr>
              <a:tr h="487680">
                <a:tc>
                  <a:txBody>
                    <a:bodyPr/>
                    <a:p>
                      <a:pPr algn="ctr"/>
                      <a:r>
                        <a:rPr lang="zh-CN" sz="1800" kern="1200" dirty="0" smtClean="0">
                          <a:solidFill>
                            <a:schemeClr val="tx1"/>
                          </a:solidFill>
                          <a:effectLst/>
                          <a:latin typeface="+mn-lt"/>
                          <a:ea typeface="+mn-ea"/>
                          <a:cs typeface="+mn-cs"/>
                        </a:rPr>
                        <a:t>信息丢失</a:t>
                      </a:r>
                      <a:endParaRPr lang="zh-CN" sz="1800" kern="1200" dirty="0" smtClean="0">
                        <a:solidFill>
                          <a:schemeClr val="tx1"/>
                        </a:solidFill>
                        <a:effectLst/>
                        <a:latin typeface="+mn-lt"/>
                        <a:ea typeface="+mn-ea"/>
                        <a:cs typeface="+mn-cs"/>
                      </a:endParaRPr>
                    </a:p>
                  </a:txBody>
                  <a:tcPr/>
                </a:tc>
                <a:tc>
                  <a:txBody>
                    <a:bodyPr/>
                    <a:p>
                      <a:r>
                        <a:rPr lang="zh-CN" altLang="zh-CN" sz="1800" kern="1200" dirty="0" smtClean="0">
                          <a:solidFill>
                            <a:schemeClr val="tx1"/>
                          </a:solidFill>
                          <a:effectLst/>
                          <a:latin typeface="+mn-lt"/>
                          <a:ea typeface="+mn-ea"/>
                          <a:cs typeface="+mn-cs"/>
                        </a:rPr>
                        <a:t>由于病毒感染或者黑客攻击导致文件删除、数据破化，从而造成关键信息丢失。</a:t>
                      </a:r>
                      <a:endParaRPr lang="zh-CN" altLang="zh-CN" sz="1800" kern="1200" dirty="0" smtClean="0">
                        <a:solidFill>
                          <a:schemeClr val="tx1"/>
                        </a:solidFill>
                        <a:effectLst/>
                        <a:latin typeface="+mn-lt"/>
                        <a:ea typeface="+mn-ea"/>
                        <a:cs typeface="+mn-cs"/>
                      </a:endParaRPr>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512" y="1268760"/>
            <a:ext cx="197956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信息安全的概念</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6" name="组合 15"/>
          <p:cNvGrpSpPr/>
          <p:nvPr/>
        </p:nvGrpSpPr>
        <p:grpSpPr>
          <a:xfrm>
            <a:off x="0" y="404664"/>
            <a:ext cx="3131840" cy="548655"/>
            <a:chOff x="0" y="1080145"/>
            <a:chExt cx="3131840" cy="548655"/>
          </a:xfrm>
        </p:grpSpPr>
        <p:sp>
          <p:nvSpPr>
            <p:cNvPr id="17" name="五边形 16"/>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204810" y="1098550"/>
              <a:ext cx="2694305" cy="460375"/>
            </a:xfrm>
            <a:prstGeom prst="rect">
              <a:avLst/>
            </a:prstGeom>
            <a:noFill/>
          </p:spPr>
          <p:txBody>
            <a:bodyPr wrap="none" rtlCol="0">
              <a:spAutoFit/>
            </a:bodyPr>
            <a:lstStyle/>
            <a:p>
              <a:pPr algn="l"/>
              <a:r>
                <a:rPr lang="en-US" altLang="zh-CN" sz="2400" b="0" kern="1200" dirty="0" smtClean="0">
                  <a:solidFill>
                    <a:schemeClr val="bg2"/>
                  </a:solidFill>
                  <a:effectLst/>
                  <a:latin typeface="+mn-ea"/>
                  <a:ea typeface="+mn-ea"/>
                </a:rPr>
                <a:t>2.1.2</a:t>
              </a:r>
              <a:r>
                <a:rPr lang="zh-CN" altLang="en-US" sz="2400" b="0" dirty="0" smtClean="0">
                  <a:solidFill>
                    <a:schemeClr val="bg2"/>
                  </a:solidFill>
                  <a:latin typeface="+mn-ea"/>
                  <a:ea typeface="+mn-ea"/>
                </a:rPr>
                <a:t>信息安全定义</a:t>
              </a:r>
              <a:endParaRPr lang="zh-CN" altLang="en-US" sz="2400" b="0" dirty="0" smtClean="0">
                <a:solidFill>
                  <a:schemeClr val="bg2"/>
                </a:solidFill>
                <a:latin typeface="+mn-ea"/>
                <a:ea typeface="+mn-ea"/>
              </a:endParaRPr>
            </a:p>
          </p:txBody>
        </p:sp>
      </p:grpSp>
      <p:sp>
        <p:nvSpPr>
          <p:cNvPr id="22" name="TextBox 21"/>
          <p:cNvSpPr txBox="1"/>
          <p:nvPr/>
        </p:nvSpPr>
        <p:spPr>
          <a:xfrm>
            <a:off x="2253635" y="6412686"/>
            <a:ext cx="52882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zh-CN" dirty="0" smtClean="0">
                <a:solidFill>
                  <a:schemeClr val="bg2"/>
                </a:solidFill>
                <a:sym typeface="+mn-ea"/>
              </a:rPr>
              <a:t>信息安全的基本威胁</a:t>
            </a:r>
            <a:endParaRPr lang="zh-CN" altLang="en-US" dirty="0">
              <a:solidFill>
                <a:schemeClr val="bg2"/>
              </a:solidFill>
            </a:endParaRPr>
          </a:p>
        </p:txBody>
      </p:sp>
      <p:sp>
        <p:nvSpPr>
          <p:cNvPr id="6" name="内容占位符 6"/>
          <p:cNvSpPr>
            <a:spLocks noGrp="1"/>
          </p:cNvSpPr>
          <p:nvPr>
            <p:ph sz="quarter" idx="13"/>
          </p:nvPr>
        </p:nvSpPr>
        <p:spPr>
          <a:xfrm>
            <a:off x="1551062" y="1772816"/>
            <a:ext cx="6552579" cy="3527772"/>
          </a:xfrm>
        </p:spPr>
        <p:txBody>
          <a:bodyPr>
            <a:normAutofit fontScale="62500" lnSpcReduction="20000"/>
          </a:bodyPr>
          <a:p>
            <a:pPr indent="720090">
              <a:lnSpc>
                <a:spcPct val="150000"/>
              </a:lnSpc>
            </a:pPr>
            <a:r>
              <a:rPr lang="zh-CN" altLang="zh-CN" dirty="0" smtClean="0">
                <a:solidFill>
                  <a:schemeClr val="accent4">
                    <a:lumMod val="75000"/>
                  </a:schemeClr>
                </a:solidFill>
              </a:rPr>
              <a:t>信息安全是指信息网络的硬件、软件及其系统中的数据受到保护，不受偶然的或者恶意的原因而遭到破坏、更改、泄露，系统连续可靠正常地运行，信息服务不中断。</a:t>
            </a:r>
            <a:endParaRPr lang="en-US" altLang="zh-CN" dirty="0" smtClean="0">
              <a:solidFill>
                <a:schemeClr val="accent4">
                  <a:lumMod val="75000"/>
                </a:schemeClr>
              </a:solidFill>
            </a:endParaRPr>
          </a:p>
          <a:p>
            <a:pPr indent="720090">
              <a:lnSpc>
                <a:spcPct val="150000"/>
              </a:lnSpc>
            </a:pPr>
            <a:endParaRPr lang="en-US" altLang="zh-CN" dirty="0" smtClean="0">
              <a:solidFill>
                <a:schemeClr val="accent4">
                  <a:lumMod val="75000"/>
                </a:schemeClr>
              </a:solidFill>
            </a:endParaRPr>
          </a:p>
          <a:p>
            <a:pPr indent="720090">
              <a:lnSpc>
                <a:spcPct val="150000"/>
              </a:lnSpc>
            </a:pPr>
            <a:r>
              <a:rPr lang="zh-CN" altLang="zh-CN" dirty="0" smtClean="0">
                <a:solidFill>
                  <a:schemeClr val="accent4">
                    <a:lumMod val="75000"/>
                  </a:schemeClr>
                </a:solidFill>
              </a:rPr>
              <a:t>信息安全主要包括以下五方面的内容，即需保证信息的保密性、真实性、完整性、未授权拷贝和所寄生系统的安全性。</a:t>
            </a:r>
            <a:endParaRPr lang="zh-CN" altLang="en-US" dirty="0">
              <a:solidFill>
                <a:schemeClr val="accent4">
                  <a:lumMod val="75000"/>
                </a:schemeClr>
              </a:solidFill>
            </a:endParaRPr>
          </a:p>
        </p:txBody>
      </p:sp>
      <p:cxnSp>
        <p:nvCxnSpPr>
          <p:cNvPr id="9" name="直接连接符 8"/>
          <p:cNvCxnSpPr/>
          <p:nvPr/>
        </p:nvCxnSpPr>
        <p:spPr>
          <a:xfrm>
            <a:off x="1945909" y="1641490"/>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945909" y="3749690"/>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0" y="1268730"/>
            <a:ext cx="205168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信息安全的演变</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sp>
        <p:nvSpPr>
          <p:cNvPr id="6" name="内容占位符 6"/>
          <p:cNvSpPr>
            <a:spLocks noGrp="1"/>
          </p:cNvSpPr>
          <p:nvPr>
            <p:ph sz="quarter" idx="13"/>
          </p:nvPr>
        </p:nvSpPr>
        <p:spPr>
          <a:xfrm>
            <a:off x="1177925" y="2364105"/>
            <a:ext cx="7254240" cy="3609975"/>
          </a:xfrm>
        </p:spPr>
        <p:txBody>
          <a:bodyPr>
            <a:normAutofit fontScale="55000" lnSpcReduction="20000"/>
          </a:bodyPr>
          <a:lstStyle/>
          <a:p>
            <a:pPr indent="720090">
              <a:lnSpc>
                <a:spcPct val="150000"/>
              </a:lnSpc>
            </a:pPr>
            <a:r>
              <a:rPr lang="zh-CN" altLang="zh-CN" dirty="0"/>
              <a:t>(1)通信安全(COMSEC)，本阶段开始于20世纪40年代，主要目的是保障传递的信息的安全，防止信源信宿以外的对象查看到信息。</a:t>
            </a:r>
            <a:endParaRPr lang="zh-CN" altLang="zh-CN" dirty="0"/>
          </a:p>
          <a:p>
            <a:pPr indent="720090">
              <a:lnSpc>
                <a:spcPct val="150000"/>
              </a:lnSpc>
            </a:pPr>
            <a:endParaRPr lang="en-US" altLang="zh-CN" dirty="0" smtClean="0">
              <a:solidFill>
                <a:schemeClr val="accent4">
                  <a:lumMod val="75000"/>
                </a:schemeClr>
              </a:solidFill>
            </a:endParaRPr>
          </a:p>
          <a:p>
            <a:pPr indent="720090">
              <a:lnSpc>
                <a:spcPct val="150000"/>
              </a:lnSpc>
            </a:pPr>
            <a:r>
              <a:rPr lang="zh-CN" altLang="zh-CN" dirty="0"/>
              <a:t>(2)信息安全(INFOSEC)，20世纪70年代以后，计算机软硬件技术、网络技术快速发展，这种环境下的信息安全可以归纳为对信息系统的保护，是针对信源、信宿之间的传递活动进行的。</a:t>
            </a:r>
            <a:endParaRPr lang="zh-CN" altLang="zh-CN" dirty="0"/>
          </a:p>
          <a:p>
            <a:pPr indent="720090">
              <a:lnSpc>
                <a:spcPct val="150000"/>
              </a:lnSpc>
            </a:pPr>
            <a:endParaRPr lang="en-US" altLang="zh-CN" dirty="0" smtClean="0"/>
          </a:p>
          <a:p>
            <a:pPr indent="720090">
              <a:lnSpc>
                <a:spcPct val="150000"/>
              </a:lnSpc>
            </a:pPr>
            <a:r>
              <a:rPr lang="zh-CN" altLang="zh-CN" dirty="0"/>
              <a:t>(3)信息保障(IA)，是世界各国信息安全发展的最新阶段。</a:t>
            </a:r>
            <a:endParaRPr lang="zh-CN" altLang="zh-CN" dirty="0"/>
          </a:p>
        </p:txBody>
      </p:sp>
      <p:cxnSp>
        <p:nvCxnSpPr>
          <p:cNvPr id="8" name="直接连接符 7"/>
          <p:cNvCxnSpPr/>
          <p:nvPr/>
        </p:nvCxnSpPr>
        <p:spPr>
          <a:xfrm>
            <a:off x="1585382" y="2282974"/>
            <a:ext cx="662488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619672" y="3757042"/>
            <a:ext cx="662488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619672" y="5284068"/>
            <a:ext cx="662488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0" y="404664"/>
            <a:ext cx="3131840" cy="548655"/>
            <a:chOff x="0" y="1080145"/>
            <a:chExt cx="3131840" cy="548655"/>
          </a:xfrm>
        </p:grpSpPr>
        <p:sp>
          <p:nvSpPr>
            <p:cNvPr id="12" name="五边形 11"/>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204810" y="1098550"/>
              <a:ext cx="2694305" cy="460375"/>
            </a:xfrm>
            <a:prstGeom prst="rect">
              <a:avLst/>
            </a:prstGeom>
            <a:noFill/>
          </p:spPr>
          <p:txBody>
            <a:bodyPr wrap="none" rtlCol="0">
              <a:spAutoFit/>
            </a:bodyPr>
            <a:lstStyle/>
            <a:p>
              <a:pPr algn="l"/>
              <a:r>
                <a:rPr sz="2400" b="0" dirty="0" smtClean="0">
                  <a:solidFill>
                    <a:schemeClr val="bg2"/>
                  </a:solidFill>
                  <a:latin typeface="+mn-ea"/>
                  <a:ea typeface="+mn-ea"/>
                </a:rPr>
                <a:t>2.1.2信息安全定义</a:t>
              </a:r>
              <a:endParaRPr sz="2400" b="0" dirty="0" smtClean="0">
                <a:solidFill>
                  <a:schemeClr val="bg2"/>
                </a:solidFill>
                <a:latin typeface="+mn-ea"/>
                <a:ea typeface="+mn-ea"/>
              </a:endParaRPr>
            </a:p>
          </p:txBody>
        </p:sp>
      </p:grpSp>
      <p:sp>
        <p:nvSpPr>
          <p:cNvPr id="16" name="TextBox 15"/>
          <p:cNvSpPr txBox="1"/>
          <p:nvPr/>
        </p:nvSpPr>
        <p:spPr>
          <a:xfrm>
            <a:off x="2253635" y="6412686"/>
            <a:ext cx="52882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zh-CN" dirty="0" smtClean="0">
                <a:solidFill>
                  <a:schemeClr val="bg2"/>
                </a:solidFill>
                <a:sym typeface="+mn-ea"/>
              </a:rPr>
              <a:t>信息安全的基本威胁</a:t>
            </a:r>
            <a:endParaRPr lang="zh-CN" altLang="en-US" dirty="0">
              <a:solidFill>
                <a:schemeClr val="bg2"/>
              </a:solidFill>
            </a:endParaRPr>
          </a:p>
        </p:txBody>
      </p:sp>
      <p:sp>
        <p:nvSpPr>
          <p:cNvPr id="2" name="矩形 1"/>
          <p:cNvSpPr/>
          <p:nvPr/>
        </p:nvSpPr>
        <p:spPr>
          <a:xfrm>
            <a:off x="2236470" y="1268730"/>
            <a:ext cx="5609590" cy="829945"/>
          </a:xfrm>
          <a:prstGeom prst="rect">
            <a:avLst/>
          </a:prstGeom>
          <a:ln>
            <a:solidFill>
              <a:schemeClr val="accent4">
                <a:lumMod val="75000"/>
              </a:schemeClr>
            </a:solidFill>
          </a:ln>
        </p:spPr>
        <p:txBody>
          <a:bodyPr wrap="square">
            <a:spAutoFit/>
          </a:bodyPr>
          <a:p>
            <a:pPr indent="266700"/>
            <a:r>
              <a:rPr lang="zh-CN" altLang="zh-CN" sz="1600" dirty="0">
                <a:sym typeface="+mn-ea"/>
              </a:rPr>
              <a:t>致分为通信安全(COMSEC)，信息安全(INFOSEC)，信息保障(IA:Information Assurance)三个发展阶段，也称为:保密→保护→保障发展阶段。</a:t>
            </a:r>
            <a:endParaRPr lang="zh-CN" altLang="zh-CN" sz="1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p:cNvGraphicFramePr>
            <a:graphicFrameLocks noGrp="1"/>
          </p:cNvGraphicFramePr>
          <p:nvPr/>
        </p:nvGraphicFramePr>
        <p:xfrm>
          <a:off x="1133872" y="1844824"/>
          <a:ext cx="7560841" cy="4110550"/>
        </p:xfrm>
        <a:graphic>
          <a:graphicData uri="http://schemas.openxmlformats.org/drawingml/2006/table">
            <a:tbl>
              <a:tblPr firstRow="1" bandRow="1">
                <a:tableStyleId>{2D5ABB26-0587-4C30-8999-92F81FD0307C}</a:tableStyleId>
              </a:tblPr>
              <a:tblGrid>
                <a:gridCol w="1800200"/>
                <a:gridCol w="5760641"/>
              </a:tblGrid>
              <a:tr h="864096">
                <a:tc>
                  <a:txBody>
                    <a:bodyPr/>
                    <a:lstStyle/>
                    <a:p>
                      <a:pPr algn="r"/>
                      <a:r>
                        <a:rPr lang="zh-CN" altLang="en-US" sz="2400" dirty="0" smtClean="0">
                          <a:solidFill>
                            <a:schemeClr val="accent4">
                              <a:lumMod val="75000"/>
                            </a:schemeClr>
                          </a:solidFill>
                          <a:latin typeface="+mn-ea"/>
                          <a:ea typeface="+mn-ea"/>
                        </a:rPr>
                        <a:t>保密性</a:t>
                      </a:r>
                      <a:endParaRPr lang="zh-CN" altLang="en-US" sz="2400" dirty="0">
                        <a:solidFill>
                          <a:schemeClr val="accent4">
                            <a:lumMod val="75000"/>
                          </a:schemeClr>
                        </a:solidFill>
                        <a:latin typeface="+mn-ea"/>
                        <a:ea typeface="+mn-ea"/>
                      </a:endParaRPr>
                    </a:p>
                  </a:txBody>
                  <a:tcPr>
                    <a:lnL>
                      <a:noFill/>
                    </a:lnL>
                    <a:lnR w="12700" cap="flat" cmpd="sng" algn="ctr">
                      <a:noFill/>
                      <a:prstDash val="solid"/>
                      <a:round/>
                      <a:headEnd type="none" w="med" len="med"/>
                      <a:tailEnd type="none" w="med" len="med"/>
                    </a:lnR>
                    <a:lnT>
                      <a:noFill/>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系统中有密级要求的信息只能经过特定的方式传输给特定的对象，确保合法用户对该信息的合法访问和使用，阻止非授权的主体阅读信息。</a:t>
                      </a:r>
                      <a:endParaRPr lang="zh-CN" altLang="en-US" dirty="0">
                        <a:solidFill>
                          <a:schemeClr val="accent4">
                            <a:lumMod val="75000"/>
                          </a:schemeClr>
                        </a:solidFill>
                        <a:latin typeface="+mn-ea"/>
                        <a:ea typeface="+mn-ea"/>
                      </a:endParaRPr>
                    </a:p>
                  </a:txBody>
                  <a:tcPr>
                    <a:lnL w="12700" cap="flat" cmpd="sng" algn="ctr">
                      <a:noFill/>
                      <a:prstDash val="solid"/>
                      <a:round/>
                      <a:headEnd type="none" w="med" len="med"/>
                      <a:tailEnd type="none" w="med" len="med"/>
                    </a:lnL>
                    <a:lnR>
                      <a:noFill/>
                    </a:lnR>
                    <a:lnT>
                      <a:noFill/>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r h="811133">
                <a:tc>
                  <a:txBody>
                    <a:bodyPr/>
                    <a:lstStyle/>
                    <a:p>
                      <a:pPr algn="r"/>
                      <a:r>
                        <a:rPr lang="zh-CN" altLang="zh-CN" sz="2400" kern="1200" dirty="0" smtClean="0">
                          <a:solidFill>
                            <a:schemeClr val="accent4">
                              <a:lumMod val="75000"/>
                            </a:schemeClr>
                          </a:solidFill>
                          <a:effectLst/>
                          <a:latin typeface="+mn-ea"/>
                          <a:ea typeface="+mn-ea"/>
                          <a:cs typeface="+mn-cs"/>
                        </a:rPr>
                        <a:t>完整性</a:t>
                      </a:r>
                      <a:endParaRPr lang="zh-CN" altLang="en-US" sz="2400" dirty="0">
                        <a:solidFill>
                          <a:schemeClr val="accent4">
                            <a:lumMod val="75000"/>
                          </a:schemeClr>
                        </a:solidFill>
                        <a:latin typeface="+mn-ea"/>
                        <a:ea typeface="+mn-ea"/>
                      </a:endParaRPr>
                    </a:p>
                  </a:txBody>
                  <a:tcPr>
                    <a:lnL>
                      <a:noFill/>
                    </a:lnL>
                    <a:lnR w="12700" cap="flat" cmpd="sng" algn="ctr">
                      <a:noFill/>
                      <a:prstDash val="solid"/>
                      <a:round/>
                      <a:headEnd type="none" w="med" len="med"/>
                      <a:tailEnd type="none" w="med" len="med"/>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系统保证信息在存储和传输的过程中保持不被非法存取收偷窃、篡改、删除等，以及不因意外事件的发生而使信息丢失。</a:t>
                      </a:r>
                      <a:endParaRPr lang="zh-CN" altLang="en-US" dirty="0">
                        <a:solidFill>
                          <a:schemeClr val="accent4">
                            <a:lumMod val="75000"/>
                          </a:schemeClr>
                        </a:solidFill>
                        <a:latin typeface="+mn-ea"/>
                        <a:ea typeface="+mn-ea"/>
                      </a:endParaRPr>
                    </a:p>
                  </a:txBody>
                  <a:tcPr>
                    <a:lnL w="12700" cap="flat" cmpd="sng" algn="ctr">
                      <a:noFill/>
                      <a:prstDash val="solid"/>
                      <a:round/>
                      <a:headEnd type="none" w="med" len="med"/>
                      <a:tailEnd type="none" w="med" len="med"/>
                    </a:lnL>
                    <a:lnR>
                      <a:noFill/>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r h="683675">
                <a:tc>
                  <a:txBody>
                    <a:bodyPr/>
                    <a:lstStyle/>
                    <a:p>
                      <a:pPr algn="r"/>
                      <a:r>
                        <a:rPr lang="zh-CN" altLang="zh-CN" sz="2400" kern="1200" dirty="0" smtClean="0">
                          <a:solidFill>
                            <a:schemeClr val="accent4">
                              <a:lumMod val="75000"/>
                            </a:schemeClr>
                          </a:solidFill>
                          <a:effectLst/>
                          <a:latin typeface="+mn-ea"/>
                          <a:ea typeface="+mn-ea"/>
                          <a:cs typeface="+mn-cs"/>
                        </a:rPr>
                        <a:t>可用性</a:t>
                      </a:r>
                      <a:endParaRPr lang="zh-CN" altLang="en-US" sz="2400" dirty="0">
                        <a:solidFill>
                          <a:schemeClr val="accent4">
                            <a:lumMod val="75000"/>
                          </a:schemeClr>
                        </a:solidFill>
                        <a:latin typeface="+mn-ea"/>
                        <a:ea typeface="+mn-ea"/>
                      </a:endParaRPr>
                    </a:p>
                  </a:txBody>
                  <a:tcPr>
                    <a:lnL>
                      <a:noFill/>
                    </a:lnL>
                    <a:lnR w="12700" cap="flat" cmpd="sng" algn="ctr">
                      <a:noFill/>
                      <a:prstDash val="solid"/>
                      <a:round/>
                      <a:headEnd type="none" w="med" len="med"/>
                      <a:tailEnd type="none" w="med" len="med"/>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授权主体在需要信息时能及时得到服务的能力。</a:t>
                      </a:r>
                      <a:endParaRPr lang="zh-CN" altLang="en-US" dirty="0">
                        <a:solidFill>
                          <a:schemeClr val="accent4">
                            <a:lumMod val="75000"/>
                          </a:schemeClr>
                        </a:solidFill>
                        <a:latin typeface="+mn-ea"/>
                        <a:ea typeface="+mn-ea"/>
                      </a:endParaRPr>
                    </a:p>
                  </a:txBody>
                  <a:tcPr>
                    <a:lnL w="12700" cap="flat" cmpd="sng" algn="ctr">
                      <a:noFill/>
                      <a:prstDash val="solid"/>
                      <a:round/>
                      <a:headEnd type="none" w="med" len="med"/>
                      <a:tailEnd type="none" w="med" len="med"/>
                    </a:lnL>
                    <a:lnR>
                      <a:noFill/>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r h="811133">
                <a:tc>
                  <a:txBody>
                    <a:bodyPr/>
                    <a:lstStyle/>
                    <a:p>
                      <a:pPr algn="r"/>
                      <a:r>
                        <a:rPr lang="zh-CN" altLang="zh-CN" sz="2400" kern="1200" dirty="0" smtClean="0">
                          <a:solidFill>
                            <a:schemeClr val="accent4">
                              <a:lumMod val="75000"/>
                            </a:schemeClr>
                          </a:solidFill>
                          <a:effectLst/>
                          <a:latin typeface="+mn-ea"/>
                          <a:ea typeface="+mn-ea"/>
                          <a:cs typeface="+mn-cs"/>
                        </a:rPr>
                        <a:t>可控性</a:t>
                      </a:r>
                      <a:endParaRPr lang="zh-CN" altLang="en-US" sz="2400" dirty="0">
                        <a:solidFill>
                          <a:schemeClr val="accent4">
                            <a:lumMod val="75000"/>
                          </a:schemeClr>
                        </a:solidFill>
                        <a:latin typeface="+mn-ea"/>
                        <a:ea typeface="+mn-ea"/>
                      </a:endParaRPr>
                    </a:p>
                  </a:txBody>
                  <a:tcPr>
                    <a:lnL>
                      <a:noFill/>
                    </a:lnL>
                    <a:lnR w="12700" cap="flat" cmpd="sng" algn="ctr">
                      <a:noFill/>
                      <a:prstDash val="solid"/>
                      <a:round/>
                      <a:headEnd type="none" w="med" len="med"/>
                      <a:tailEnd type="none" w="med" len="med"/>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系统对信息的传播及其内容具有可控制能力的特性，是对信息和信息系统实施安全监控管理，防止非法利用信息和信息系统。</a:t>
                      </a:r>
                      <a:endParaRPr lang="zh-CN" altLang="en-US" dirty="0">
                        <a:solidFill>
                          <a:schemeClr val="accent4">
                            <a:lumMod val="75000"/>
                          </a:schemeClr>
                        </a:solidFill>
                        <a:latin typeface="+mn-ea"/>
                        <a:ea typeface="+mn-ea"/>
                      </a:endParaRPr>
                    </a:p>
                  </a:txBody>
                  <a:tcPr>
                    <a:lnL w="12700" cap="flat" cmpd="sng" algn="ctr">
                      <a:noFill/>
                      <a:prstDash val="solid"/>
                      <a:round/>
                      <a:headEnd type="none" w="med" len="med"/>
                      <a:tailEnd type="none" w="med" len="med"/>
                    </a:lnL>
                    <a:lnR>
                      <a:noFill/>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r h="683675">
                <a:tc>
                  <a:txBody>
                    <a:bodyPr/>
                    <a:lstStyle/>
                    <a:p>
                      <a:pPr algn="r"/>
                      <a:r>
                        <a:rPr lang="zh-CN" altLang="zh-CN" sz="2400" kern="1200" dirty="0" smtClean="0">
                          <a:solidFill>
                            <a:schemeClr val="accent4">
                              <a:lumMod val="75000"/>
                            </a:schemeClr>
                          </a:solidFill>
                          <a:effectLst/>
                          <a:latin typeface="+mn-ea"/>
                          <a:ea typeface="+mn-ea"/>
                          <a:cs typeface="+mn-cs"/>
                        </a:rPr>
                        <a:t>不可否认性</a:t>
                      </a:r>
                      <a:endParaRPr lang="zh-CN" altLang="zh-CN" sz="2400" kern="1200" dirty="0" smtClean="0">
                        <a:solidFill>
                          <a:schemeClr val="accent4">
                            <a:lumMod val="75000"/>
                          </a:schemeClr>
                        </a:solidFill>
                        <a:effectLst/>
                        <a:latin typeface="+mn-ea"/>
                        <a:ea typeface="+mn-ea"/>
                        <a:cs typeface="+mn-cs"/>
                      </a:endParaRPr>
                    </a:p>
                  </a:txBody>
                  <a:tcPr>
                    <a:lnL>
                      <a:noFill/>
                    </a:lnL>
                    <a:lnR w="12700" cap="flat" cmpd="sng" algn="ctr">
                      <a:noFill/>
                      <a:prstDash val="solid"/>
                      <a:round/>
                      <a:headEnd type="none" w="med" len="med"/>
                      <a:tailEnd type="none" w="med" len="med"/>
                    </a:lnR>
                    <a:lnT w="19050" cap="flat" cmpd="sng" algn="ctr">
                      <a:solidFill>
                        <a:schemeClr val="accent4">
                          <a:lumMod val="75000"/>
                        </a:schemeClr>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在网络环境中，信息交换的双方不能否认其在交换过程中发送信息或接收信息的行为。</a:t>
                      </a:r>
                      <a:endParaRPr lang="zh-CN" altLang="en-US" dirty="0">
                        <a:solidFill>
                          <a:schemeClr val="accent4">
                            <a:lumMod val="75000"/>
                          </a:schemeClr>
                        </a:solidFill>
                        <a:latin typeface="+mn-ea"/>
                        <a:ea typeface="+mn-ea"/>
                      </a:endParaRPr>
                    </a:p>
                  </a:txBody>
                  <a:tcPr>
                    <a:lnL w="12700" cap="flat" cmpd="sng" algn="ctr">
                      <a:noFill/>
                      <a:prstDash val="solid"/>
                      <a:round/>
                      <a:headEnd type="none" w="med" len="med"/>
                      <a:tailEnd type="none" w="med" len="med"/>
                    </a:lnL>
                    <a:lnR>
                      <a:noFill/>
                    </a:lnR>
                    <a:lnT w="19050" cap="flat" cmpd="sng" algn="ctr">
                      <a:solidFill>
                        <a:schemeClr val="accent4">
                          <a:lumMod val="75000"/>
                        </a:schemeClr>
                      </a:solidFill>
                      <a:prstDash val="solid"/>
                      <a:round/>
                      <a:headEnd type="none" w="med" len="med"/>
                      <a:tailEnd type="none" w="med" len="med"/>
                    </a:lnT>
                    <a:lnB>
                      <a:noFill/>
                    </a:lnB>
                    <a:lnTlToBr w="12700" cmpd="sng">
                      <a:noFill/>
                      <a:prstDash val="solid"/>
                    </a:lnTlToBr>
                    <a:lnBlToTr w="12700" cmpd="sng">
                      <a:noFill/>
                      <a:prstDash val="solid"/>
                    </a:lnBlToTr>
                  </a:tcPr>
                </a:tc>
              </a:tr>
            </a:tbl>
          </a:graphicData>
        </a:graphic>
      </p:graphicFrame>
      <p:sp>
        <p:nvSpPr>
          <p:cNvPr id="23" name="五边形 22"/>
          <p:cNvSpPr/>
          <p:nvPr/>
        </p:nvSpPr>
        <p:spPr>
          <a:xfrm>
            <a:off x="0" y="1268760"/>
            <a:ext cx="226774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信息</a:t>
            </a:r>
            <a:r>
              <a:rPr lang="zh-CN" altLang="en-US" dirty="0" smtClean="0">
                <a:solidFill>
                  <a:schemeClr val="bg2"/>
                </a:solidFill>
              </a:rPr>
              <a:t>安全的属性</a:t>
            </a:r>
            <a:endParaRPr lang="zh-CN" altLang="en-US" dirty="0">
              <a:solidFill>
                <a:schemeClr val="bg2"/>
              </a:solidFill>
            </a:endParaRPr>
          </a:p>
        </p:txBody>
      </p:sp>
      <p:grpSp>
        <p:nvGrpSpPr>
          <p:cNvPr id="24" name="组合 23"/>
          <p:cNvGrpSpPr/>
          <p:nvPr/>
        </p:nvGrpSpPr>
        <p:grpSpPr>
          <a:xfrm>
            <a:off x="0" y="404495"/>
            <a:ext cx="3175635" cy="548640"/>
            <a:chOff x="0" y="1080145"/>
            <a:chExt cx="3131840" cy="548655"/>
          </a:xfrm>
        </p:grpSpPr>
        <p:sp>
          <p:nvSpPr>
            <p:cNvPr id="25" name="五边形 24"/>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204781" y="1098561"/>
              <a:ext cx="2927059" cy="460388"/>
            </a:xfrm>
            <a:prstGeom prst="rect">
              <a:avLst/>
            </a:prstGeom>
            <a:noFill/>
          </p:spPr>
          <p:txBody>
            <a:bodyPr wrap="square" rtlCol="0">
              <a:spAutoFit/>
            </a:bodyPr>
            <a:lstStyle/>
            <a:p>
              <a:pPr algn="l"/>
              <a:r>
                <a:rPr sz="2400" b="0" dirty="0" smtClean="0">
                  <a:solidFill>
                    <a:schemeClr val="bg2"/>
                  </a:solidFill>
                  <a:latin typeface="+mn-ea"/>
                  <a:ea typeface="+mn-ea"/>
                </a:rPr>
                <a:t>2.1.3信息安全属性</a:t>
              </a:r>
              <a:endParaRPr sz="2400" b="0" dirty="0" smtClean="0">
                <a:solidFill>
                  <a:schemeClr val="bg2"/>
                </a:solidFill>
                <a:latin typeface="+mn-ea"/>
                <a:ea typeface="+mn-ea"/>
              </a:endParaRPr>
            </a:p>
          </p:txBody>
        </p:sp>
      </p:grpSp>
      <p:sp>
        <p:nvSpPr>
          <p:cNvPr id="7" name="TextBox 6"/>
          <p:cNvSpPr txBox="1"/>
          <p:nvPr/>
        </p:nvSpPr>
        <p:spPr>
          <a:xfrm>
            <a:off x="2253635" y="6412686"/>
            <a:ext cx="52882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zh-CN" dirty="0" smtClean="0">
                <a:solidFill>
                  <a:schemeClr val="bg2"/>
                </a:solidFill>
                <a:sym typeface="+mn-ea"/>
              </a:rPr>
              <a:t>信息安全的基本威胁</a:t>
            </a:r>
            <a:endParaRPr lang="zh-CN" altLang="en-US" dirty="0">
              <a:solidFill>
                <a:schemeClr val="bg2"/>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dirty="0" smtClean="0">
                <a:solidFill>
                  <a:schemeClr val="accent4">
                    <a:lumMod val="75000"/>
                  </a:schemeClr>
                </a:solidFill>
              </a:rPr>
              <a:t>2.2 信息安全体系</a:t>
            </a:r>
            <a:endParaRPr dirty="0" smtClean="0">
              <a:solidFill>
                <a:schemeClr val="accent4">
                  <a:lumMod val="75000"/>
                </a:schemeClr>
              </a:solidFill>
            </a:endParaRPr>
          </a:p>
        </p:txBody>
      </p:sp>
      <p:sp>
        <p:nvSpPr>
          <p:cNvPr id="9" name="矩形 8"/>
          <p:cNvSpPr/>
          <p:nvPr/>
        </p:nvSpPr>
        <p:spPr>
          <a:xfrm>
            <a:off x="3996055" y="3429000"/>
            <a:ext cx="4340860" cy="2676525"/>
          </a:xfrm>
          <a:prstGeom prst="rect">
            <a:avLst/>
          </a:prstGeom>
        </p:spPr>
        <p:txBody>
          <a:bodyPr wrap="square">
            <a:spAutoFit/>
          </a:bodyPr>
          <a:lstStyle/>
          <a:p>
            <a:r>
              <a:rPr altLang="zh-CN" sz="2400" dirty="0">
                <a:solidFill>
                  <a:schemeClr val="accent4">
                    <a:lumMod val="75000"/>
                  </a:schemeClr>
                </a:solidFill>
                <a:latin typeface="+mn-ea"/>
              </a:rPr>
              <a:t>2.2.1 信息安全体系结构</a:t>
            </a:r>
            <a:endParaRPr altLang="zh-CN" sz="2400" dirty="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altLang="zh-CN" sz="2400" dirty="0">
                <a:solidFill>
                  <a:schemeClr val="accent4">
                    <a:lumMod val="75000"/>
                  </a:schemeClr>
                </a:solidFill>
                <a:latin typeface="+mn-ea"/>
              </a:rPr>
              <a:t>2.2.2 信息安全管理体系</a:t>
            </a:r>
            <a:endParaRPr altLang="zh-CN" sz="2400" dirty="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altLang="zh-CN" sz="2400" dirty="0">
                <a:solidFill>
                  <a:schemeClr val="accent4">
                    <a:lumMod val="75000"/>
                  </a:schemeClr>
                </a:solidFill>
                <a:latin typeface="+mn-ea"/>
              </a:rPr>
              <a:t>2.2.3 信息安全测评认证体系</a:t>
            </a:r>
            <a:endParaRPr altLang="zh-CN" sz="2400" dirty="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altLang="zh-CN" sz="2400" dirty="0">
                <a:solidFill>
                  <a:schemeClr val="accent4">
                    <a:lumMod val="75000"/>
                  </a:schemeClr>
                </a:solidFill>
                <a:latin typeface="+mn-ea"/>
              </a:rPr>
              <a:t>2.2.4 信息安全研究体系</a:t>
            </a:r>
            <a:endParaRPr altLang="zh-CN" sz="2400" dirty="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68760"/>
            <a:ext cx="151216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安全服务</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995936"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b="0" dirty="0" smtClean="0">
                  <a:solidFill>
                    <a:schemeClr val="bg2"/>
                  </a:solidFill>
                  <a:latin typeface="+mn-ea"/>
                  <a:ea typeface="+mn-ea"/>
                </a:rPr>
                <a:t>2.2.1 信息安全体系结构</a:t>
              </a:r>
              <a:endParaRPr sz="2400" b="0" dirty="0" smtClean="0">
                <a:solidFill>
                  <a:schemeClr val="bg2"/>
                </a:solidFill>
                <a:latin typeface="+mn-ea"/>
                <a:ea typeface="+mn-ea"/>
              </a:endParaRPr>
            </a:p>
          </p:txBody>
        </p:sp>
      </p:grpSp>
      <p:sp>
        <p:nvSpPr>
          <p:cNvPr id="17" name="TextBox 16"/>
          <p:cNvSpPr txBox="1"/>
          <p:nvPr/>
        </p:nvSpPr>
        <p:spPr>
          <a:xfrm>
            <a:off x="2596536" y="6412686"/>
            <a:ext cx="4602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graphicFrame>
        <p:nvGraphicFramePr>
          <p:cNvPr id="10" name="表格 9"/>
          <p:cNvGraphicFramePr>
            <a:graphicFrameLocks noGrp="1"/>
          </p:cNvGraphicFramePr>
          <p:nvPr/>
        </p:nvGraphicFramePr>
        <p:xfrm>
          <a:off x="395536" y="2276870"/>
          <a:ext cx="8316924" cy="2412858"/>
        </p:xfrm>
        <a:graphic>
          <a:graphicData uri="http://schemas.openxmlformats.org/drawingml/2006/table">
            <a:tbl>
              <a:tblPr firstRow="1" bandRow="1">
                <a:tableStyleId>{17292A2E-F333-43FB-9621-5CBBE7FDCDCB}</a:tableStyleId>
              </a:tblPr>
              <a:tblGrid>
                <a:gridCol w="1695684"/>
                <a:gridCol w="6621240"/>
              </a:tblGrid>
              <a:tr h="402143">
                <a:tc gridSpan="2">
                  <a:txBody>
                    <a:bodyPr/>
                    <a:lstStyle/>
                    <a:p>
                      <a:pPr algn="ctr"/>
                      <a:r>
                        <a:rPr lang="en-US" altLang="zh-CN" sz="2000" b="1" kern="1200" dirty="0" smtClean="0">
                          <a:solidFill>
                            <a:schemeClr val="bg2"/>
                          </a:solidFill>
                          <a:effectLst/>
                          <a:latin typeface="+mn-ea"/>
                          <a:ea typeface="+mn-ea"/>
                        </a:rPr>
                        <a:t>ISO7498-2</a:t>
                      </a:r>
                      <a:r>
                        <a:rPr lang="zh-CN" altLang="zh-CN" sz="2000" b="1" kern="1200" dirty="0" smtClean="0">
                          <a:solidFill>
                            <a:schemeClr val="bg2"/>
                          </a:solidFill>
                          <a:effectLst/>
                          <a:latin typeface="+mn-ea"/>
                          <a:ea typeface="+mn-ea"/>
                        </a:rPr>
                        <a:t>确定了</a:t>
                      </a:r>
                      <a:r>
                        <a:rPr lang="zh-CN" altLang="en-US" sz="2000" b="1" dirty="0" smtClean="0">
                          <a:solidFill>
                            <a:schemeClr val="bg2"/>
                          </a:solidFill>
                          <a:latin typeface="+mn-ea"/>
                          <a:ea typeface="+mn-ea"/>
                        </a:rPr>
                        <a:t>五大类安全服务</a:t>
                      </a:r>
                      <a:endParaRPr lang="zh-CN" altLang="en-US" sz="2000" b="1" dirty="0">
                        <a:solidFill>
                          <a:schemeClr val="bg2"/>
                        </a:solidFill>
                        <a:latin typeface="+mn-ea"/>
                        <a:ea typeface="+mn-ea"/>
                      </a:endParaRPr>
                    </a:p>
                  </a:txBody>
                  <a:tcPr>
                    <a:solidFill>
                      <a:schemeClr val="accent4">
                        <a:lumMod val="75000"/>
                      </a:schemeClr>
                    </a:solidFill>
                  </a:tcPr>
                </a:tc>
                <a:tc hMerge="1">
                  <a:tcPr/>
                </a:tc>
              </a:tr>
              <a:tr h="402143">
                <a:tc>
                  <a:txBody>
                    <a:bodyPr/>
                    <a:lstStyle/>
                    <a:p>
                      <a:pPr algn="r"/>
                      <a:r>
                        <a:rPr lang="zh-CN" altLang="en-US" sz="2000" dirty="0" smtClean="0"/>
                        <a:t>鉴别：</a:t>
                      </a:r>
                      <a:endParaRPr lang="zh-CN" altLang="en-US" sz="2000" dirty="0"/>
                    </a:p>
                  </a:txBody>
                  <a:tcPr/>
                </a:tc>
                <a:tc>
                  <a:txBody>
                    <a:bodyPr/>
                    <a:lstStyle/>
                    <a:p>
                      <a:r>
                        <a:rPr lang="zh-CN" altLang="zh-CN" sz="2000" kern="1200" dirty="0" smtClean="0">
                          <a:effectLst/>
                        </a:rPr>
                        <a:t>可以鉴别参与通信的对等实体和数据源。</a:t>
                      </a:r>
                      <a:endParaRPr lang="zh-CN" altLang="en-US" sz="2000" dirty="0"/>
                    </a:p>
                  </a:txBody>
                  <a:tcPr/>
                </a:tc>
              </a:tr>
              <a:tr h="402143">
                <a:tc>
                  <a:txBody>
                    <a:bodyPr/>
                    <a:lstStyle/>
                    <a:p>
                      <a:pPr algn="r"/>
                      <a:r>
                        <a:rPr lang="zh-CN" altLang="en-US" sz="2000" dirty="0" smtClean="0"/>
                        <a:t>访问控制：</a:t>
                      </a:r>
                      <a:endParaRPr lang="zh-CN" altLang="en-US" sz="2000" dirty="0"/>
                    </a:p>
                  </a:txBody>
                  <a:tcPr/>
                </a:tc>
                <a:tc>
                  <a:txBody>
                    <a:bodyPr/>
                    <a:lstStyle/>
                    <a:p>
                      <a:r>
                        <a:rPr lang="zh-CN" altLang="zh-CN" sz="2000" kern="1200" dirty="0" smtClean="0">
                          <a:effectLst/>
                        </a:rPr>
                        <a:t>能够防止未经授权而利用通过</a:t>
                      </a:r>
                      <a:r>
                        <a:rPr lang="en-US" altLang="zh-CN" sz="2000" kern="1200" dirty="0" smtClean="0">
                          <a:effectLst/>
                        </a:rPr>
                        <a:t>OSI</a:t>
                      </a:r>
                      <a:r>
                        <a:rPr lang="zh-CN" altLang="zh-CN" sz="2000" kern="1200" dirty="0" smtClean="0">
                          <a:effectLst/>
                        </a:rPr>
                        <a:t>可访问的资源。</a:t>
                      </a:r>
                      <a:endParaRPr lang="zh-CN" altLang="en-US" sz="2000" dirty="0"/>
                    </a:p>
                  </a:txBody>
                  <a:tcPr/>
                </a:tc>
              </a:tr>
              <a:tr h="402143">
                <a:tc>
                  <a:txBody>
                    <a:bodyPr/>
                    <a:lstStyle/>
                    <a:p>
                      <a:pPr algn="r"/>
                      <a:r>
                        <a:rPr lang="zh-CN" altLang="en-US" sz="2000" dirty="0" smtClean="0"/>
                        <a:t>数据保密性：</a:t>
                      </a:r>
                      <a:endParaRPr lang="zh-CN" altLang="en-US" sz="2000" dirty="0"/>
                    </a:p>
                  </a:txBody>
                  <a:tcPr/>
                </a:tc>
                <a:tc>
                  <a:txBody>
                    <a:bodyPr/>
                    <a:lstStyle/>
                    <a:p>
                      <a:r>
                        <a:rPr lang="zh-CN" altLang="zh-CN" sz="2000" kern="1200" dirty="0" smtClean="0">
                          <a:effectLst/>
                        </a:rPr>
                        <a:t>防止数据未经授权而泄露。</a:t>
                      </a:r>
                      <a:endParaRPr lang="zh-CN" altLang="en-US" sz="2000" dirty="0"/>
                    </a:p>
                  </a:txBody>
                  <a:tcPr/>
                </a:tc>
              </a:tr>
              <a:tr h="402143">
                <a:tc>
                  <a:txBody>
                    <a:bodyPr/>
                    <a:lstStyle/>
                    <a:p>
                      <a:pPr algn="r"/>
                      <a:r>
                        <a:rPr lang="zh-CN" altLang="en-US" sz="2000" dirty="0" smtClean="0"/>
                        <a:t>数据完整性：</a:t>
                      </a:r>
                      <a:endParaRPr lang="zh-CN" altLang="en-US" sz="2000" dirty="0"/>
                    </a:p>
                  </a:txBody>
                  <a:tcPr/>
                </a:tc>
                <a:tc>
                  <a:txBody>
                    <a:bodyPr/>
                    <a:lstStyle/>
                    <a:p>
                      <a:r>
                        <a:rPr lang="zh-CN" altLang="zh-CN" sz="2000" kern="1200" dirty="0" smtClean="0">
                          <a:effectLst/>
                        </a:rPr>
                        <a:t>用于对付主动威胁。</a:t>
                      </a:r>
                      <a:endParaRPr lang="zh-CN" altLang="en-US" sz="2000" dirty="0"/>
                    </a:p>
                  </a:txBody>
                  <a:tcPr/>
                </a:tc>
              </a:tr>
              <a:tr h="402143">
                <a:tc>
                  <a:txBody>
                    <a:bodyPr/>
                    <a:lstStyle/>
                    <a:p>
                      <a:pPr algn="r"/>
                      <a:r>
                        <a:rPr lang="zh-CN" altLang="en-US" sz="2000" dirty="0" smtClean="0"/>
                        <a:t>不可否认：</a:t>
                      </a:r>
                      <a:endParaRPr lang="zh-CN" altLang="en-US" sz="2000" dirty="0"/>
                    </a:p>
                  </a:txBody>
                  <a:tcPr/>
                </a:tc>
                <a:tc>
                  <a:txBody>
                    <a:bodyPr/>
                    <a:lstStyle/>
                    <a:p>
                      <a:r>
                        <a:rPr lang="zh-CN" altLang="zh-CN" sz="2000" kern="1200" dirty="0" smtClean="0">
                          <a:effectLst/>
                        </a:rPr>
                        <a:t>包括带数据源证明的不可否认和带递交证明的不可否认。</a:t>
                      </a:r>
                      <a:endParaRPr lang="zh-CN" altLang="en-US" sz="2000"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68760"/>
            <a:ext cx="151216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安全</a:t>
            </a:r>
            <a:r>
              <a:rPr lang="zh-CN" altLang="en-US" dirty="0">
                <a:solidFill>
                  <a:schemeClr val="bg2"/>
                </a:solidFill>
              </a:rPr>
              <a:t>机制</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995936" cy="849402"/>
            <a:chOff x="0" y="1080145"/>
            <a:chExt cx="3275857" cy="849402"/>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830997"/>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1.2.1</a:t>
              </a:r>
              <a:r>
                <a:rPr lang="zh-CN" altLang="en-US" sz="2400" b="0" dirty="0" smtClean="0">
                  <a:solidFill>
                    <a:schemeClr val="bg2"/>
                  </a:solidFill>
                  <a:latin typeface="+mn-ea"/>
                  <a:ea typeface="+mn-ea"/>
                </a:rPr>
                <a:t>信息安全体系结构</a:t>
              </a:r>
              <a:endParaRPr lang="zh-CN" altLang="en-US" sz="2400" b="0" dirty="0">
                <a:solidFill>
                  <a:schemeClr val="bg2"/>
                </a:solidFill>
                <a:latin typeface="+mn-ea"/>
                <a:ea typeface="+mn-ea"/>
              </a:endParaRPr>
            </a:p>
          </p:txBody>
        </p:sp>
      </p:grpSp>
      <p:sp>
        <p:nvSpPr>
          <p:cNvPr id="17" name="TextBox 16"/>
          <p:cNvSpPr txBox="1"/>
          <p:nvPr/>
        </p:nvSpPr>
        <p:spPr>
          <a:xfrm>
            <a:off x="2596536" y="6412686"/>
            <a:ext cx="4602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信息安全</a:t>
            </a:r>
            <a:r>
              <a:rPr lang="zh-CN" altLang="en-US" dirty="0">
                <a:solidFill>
                  <a:schemeClr val="bg2"/>
                </a:solidFill>
                <a:sym typeface="+mn-ea"/>
              </a:rPr>
              <a:t>体系</a:t>
            </a:r>
            <a:endParaRPr lang="zh-CN" altLang="en-US" dirty="0">
              <a:solidFill>
                <a:schemeClr val="bg2"/>
              </a:solidFill>
            </a:endParaRPr>
          </a:p>
        </p:txBody>
      </p:sp>
      <p:graphicFrame>
        <p:nvGraphicFramePr>
          <p:cNvPr id="10" name="表格 9"/>
          <p:cNvGraphicFramePr>
            <a:graphicFrameLocks noGrp="1"/>
          </p:cNvGraphicFramePr>
          <p:nvPr/>
        </p:nvGraphicFramePr>
        <p:xfrm>
          <a:off x="395536" y="1844824"/>
          <a:ext cx="8316924" cy="4095161"/>
        </p:xfrm>
        <a:graphic>
          <a:graphicData uri="http://schemas.openxmlformats.org/drawingml/2006/table">
            <a:tbl>
              <a:tblPr firstRow="1" bandRow="1">
                <a:tableStyleId>{17292A2E-F333-43FB-9621-5CBBE7FDCDCB}</a:tableStyleId>
              </a:tblPr>
              <a:tblGrid>
                <a:gridCol w="1695684"/>
                <a:gridCol w="6621240"/>
              </a:tblGrid>
              <a:tr h="402143">
                <a:tc gridSpan="2">
                  <a:txBody>
                    <a:bodyPr/>
                    <a:lstStyle/>
                    <a:p>
                      <a:pPr algn="ctr"/>
                      <a:r>
                        <a:rPr lang="en-US" altLang="zh-CN" sz="2000" b="1" kern="1200" dirty="0" smtClean="0">
                          <a:solidFill>
                            <a:schemeClr val="bg2"/>
                          </a:solidFill>
                          <a:effectLst/>
                          <a:latin typeface="+mn-ea"/>
                          <a:ea typeface="+mn-ea"/>
                          <a:cs typeface="+mn-cs"/>
                        </a:rPr>
                        <a:t>ISO7498-2</a:t>
                      </a:r>
                      <a:r>
                        <a:rPr lang="zh-CN" altLang="zh-CN" sz="2000" b="1" kern="1200" dirty="0" smtClean="0">
                          <a:solidFill>
                            <a:schemeClr val="bg2"/>
                          </a:solidFill>
                          <a:effectLst/>
                          <a:latin typeface="+mn-ea"/>
                          <a:ea typeface="+mn-ea"/>
                          <a:cs typeface="+mn-cs"/>
                        </a:rPr>
                        <a:t>确定了八大类安全机制</a:t>
                      </a:r>
                      <a:endParaRPr lang="zh-CN" altLang="en-US" sz="2000" b="1" dirty="0">
                        <a:solidFill>
                          <a:schemeClr val="bg2"/>
                        </a:solidFill>
                        <a:latin typeface="+mn-ea"/>
                        <a:ea typeface="+mn-ea"/>
                      </a:endParaRPr>
                    </a:p>
                  </a:txBody>
                  <a:tcPr>
                    <a:solidFill>
                      <a:schemeClr val="accent4">
                        <a:lumMod val="75000"/>
                      </a:schemeClr>
                    </a:solidFill>
                  </a:tcPr>
                </a:tc>
                <a:tc hMerge="1">
                  <a:tcPr/>
                </a:tc>
              </a:tr>
              <a:tr h="402143">
                <a:tc>
                  <a:txBody>
                    <a:bodyPr/>
                    <a:lstStyle/>
                    <a:p>
                      <a:pPr algn="r"/>
                      <a:r>
                        <a:rPr lang="zh-CN" altLang="zh-CN" sz="1800" kern="1200" dirty="0" smtClean="0">
                          <a:solidFill>
                            <a:schemeClr val="tx1"/>
                          </a:solidFill>
                          <a:effectLst/>
                          <a:latin typeface="+mn-lt"/>
                          <a:ea typeface="+mn-ea"/>
                          <a:cs typeface="+mn-cs"/>
                        </a:rPr>
                        <a:t>加密</a:t>
                      </a:r>
                      <a:r>
                        <a:rPr lang="zh-CN" altLang="en-US" sz="1800" dirty="0" smtClean="0"/>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包括保密性，加密算法和密钥管理几个部分。</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数字签名</a:t>
                      </a:r>
                      <a:r>
                        <a:rPr lang="zh-CN" altLang="en-US" sz="1800" dirty="0" smtClean="0"/>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决定于两个过程：对数据单元签名和验证已签名的数据单元。</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访问控制</a:t>
                      </a:r>
                      <a:r>
                        <a:rPr lang="zh-CN" altLang="en-US" sz="1800" dirty="0" smtClean="0"/>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确定访问权，建立多个限制手段</a:t>
                      </a:r>
                      <a:r>
                        <a:rPr lang="zh-CN" altLang="en-US" sz="1800" kern="1200" dirty="0" smtClean="0">
                          <a:solidFill>
                            <a:schemeClr val="tx1"/>
                          </a:solidFill>
                          <a:effectLst/>
                          <a:latin typeface="+mn-lt"/>
                          <a:ea typeface="+mn-ea"/>
                          <a:cs typeface="+mn-cs"/>
                        </a:rPr>
                        <a:t>。</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数据完整性</a:t>
                      </a:r>
                      <a:r>
                        <a:rPr lang="zh-CN" altLang="en-US" sz="1800" dirty="0" smtClean="0"/>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一是数据完整性机制。二是确定单个数据单元的完整性。</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鉴别交换</a:t>
                      </a:r>
                      <a:r>
                        <a:rPr lang="zh-CN" altLang="en-US" sz="1800" dirty="0" smtClean="0"/>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这种安全机制是通过信息交换以确保实体身份的一种机制。</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业务填充</a:t>
                      </a:r>
                      <a:r>
                        <a:rPr lang="zh-CN" altLang="en-US" sz="1800" kern="1200" dirty="0" smtClean="0">
                          <a:solidFill>
                            <a:schemeClr val="tx1"/>
                          </a:solidFill>
                          <a:effectLst/>
                          <a:latin typeface="+mn-lt"/>
                          <a:ea typeface="+mn-ea"/>
                          <a:cs typeface="+mn-cs"/>
                        </a:rPr>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这是一种制造假的通信实例、产生欺骗性数据单元或在数据单元中产生假数据的安全机制。</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路由控制</a:t>
                      </a:r>
                      <a:r>
                        <a:rPr lang="zh-CN" altLang="en-US" sz="1800" kern="1200" dirty="0" smtClean="0">
                          <a:solidFill>
                            <a:schemeClr val="tx1"/>
                          </a:solidFill>
                          <a:effectLst/>
                          <a:latin typeface="+mn-lt"/>
                          <a:ea typeface="+mn-ea"/>
                          <a:cs typeface="+mn-cs"/>
                        </a:rPr>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包括路由选择，路由连接和安全策略。</a:t>
                      </a:r>
                      <a:endParaRPr lang="zh-CN" altLang="en-US" sz="1800" dirty="0"/>
                    </a:p>
                  </a:txBody>
                  <a:tcPr/>
                </a:tc>
              </a:tr>
              <a:tr h="402143">
                <a:tc>
                  <a:txBody>
                    <a:bodyPr/>
                    <a:lstStyle/>
                    <a:p>
                      <a:pPr algn="r"/>
                      <a:r>
                        <a:rPr lang="zh-CN" altLang="zh-CN" sz="1800" kern="1200" dirty="0" smtClean="0">
                          <a:solidFill>
                            <a:schemeClr val="tx1"/>
                          </a:solidFill>
                          <a:effectLst/>
                          <a:latin typeface="+mn-lt"/>
                          <a:ea typeface="+mn-ea"/>
                          <a:cs typeface="+mn-cs"/>
                        </a:rPr>
                        <a:t>公证</a:t>
                      </a:r>
                      <a:r>
                        <a:rPr lang="zh-CN" altLang="en-US" sz="1800" kern="1200" dirty="0" smtClean="0">
                          <a:solidFill>
                            <a:schemeClr val="tx1"/>
                          </a:solidFill>
                          <a:effectLst/>
                          <a:latin typeface="+mn-lt"/>
                          <a:ea typeface="+mn-ea"/>
                          <a:cs typeface="+mn-cs"/>
                        </a:rPr>
                        <a:t>：</a:t>
                      </a:r>
                      <a:endParaRPr lang="zh-CN" altLang="en-US" sz="1800" dirty="0"/>
                    </a:p>
                  </a:txBody>
                  <a:tcPr/>
                </a:tc>
                <a:tc>
                  <a:txBody>
                    <a:bodyPr/>
                    <a:lstStyle/>
                    <a:p>
                      <a:r>
                        <a:rPr lang="zh-CN" altLang="zh-CN" sz="1800" kern="1200" dirty="0" smtClean="0">
                          <a:solidFill>
                            <a:schemeClr val="tx1"/>
                          </a:solidFill>
                          <a:effectLst/>
                          <a:latin typeface="+mn-lt"/>
                          <a:ea typeface="+mn-ea"/>
                          <a:cs typeface="+mn-cs"/>
                        </a:rPr>
                        <a:t>保证由第三方公证人提供，公证人能够得到通信实体的信任，而且可以掌握按照某种可证实方式提供所需保证的必要的信息。</a:t>
                      </a:r>
                      <a:endParaRPr lang="zh-CN" altLang="en-US" sz="1800"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403648" y="2436970"/>
            <a:ext cx="307794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1</a:t>
            </a:r>
            <a:r>
              <a:rPr lang="zh-CN" altLang="en-US" dirty="0" smtClean="0">
                <a:solidFill>
                  <a:schemeClr val="bg2"/>
                </a:solidFill>
              </a:rPr>
              <a:t>、</a:t>
            </a:r>
            <a:r>
              <a:rPr lang="zh-CN" altLang="zh-CN" dirty="0" smtClean="0">
                <a:solidFill>
                  <a:schemeClr val="bg2"/>
                </a:solidFill>
              </a:rPr>
              <a:t>建立</a:t>
            </a:r>
            <a:r>
              <a:rPr lang="zh-CN" altLang="zh-CN" dirty="0">
                <a:solidFill>
                  <a:schemeClr val="bg2"/>
                </a:solidFill>
              </a:rPr>
              <a:t>信息安全管理框架</a:t>
            </a:r>
            <a:endParaRPr lang="zh-CN" altLang="en-US" dirty="0">
              <a:solidFill>
                <a:schemeClr val="bg2"/>
              </a:solidFill>
            </a:endParaRPr>
          </a:p>
        </p:txBody>
      </p:sp>
      <p:grpSp>
        <p:nvGrpSpPr>
          <p:cNvPr id="14" name="组合 13"/>
          <p:cNvGrpSpPr/>
          <p:nvPr/>
        </p:nvGrpSpPr>
        <p:grpSpPr>
          <a:xfrm>
            <a:off x="0" y="404664"/>
            <a:ext cx="3995936"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b="0" dirty="0" smtClean="0">
                  <a:solidFill>
                    <a:schemeClr val="bg2"/>
                  </a:solidFill>
                  <a:latin typeface="+mn-ea"/>
                  <a:ea typeface="+mn-ea"/>
                </a:rPr>
                <a:t>2.2.2 信息安全管理体系</a:t>
              </a:r>
              <a:endParaRPr sz="2400" b="0" dirty="0" smtClean="0">
                <a:solidFill>
                  <a:schemeClr val="bg2"/>
                </a:solidFill>
                <a:latin typeface="+mn-ea"/>
                <a:ea typeface="+mn-ea"/>
              </a:endParaRPr>
            </a:p>
          </p:txBody>
        </p:sp>
      </p:grpSp>
      <p:sp>
        <p:nvSpPr>
          <p:cNvPr id="17" name="TextBox 16"/>
          <p:cNvSpPr txBox="1"/>
          <p:nvPr/>
        </p:nvSpPr>
        <p:spPr>
          <a:xfrm>
            <a:off x="2564786" y="6412686"/>
            <a:ext cx="46659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sp>
        <p:nvSpPr>
          <p:cNvPr id="11" name="五边形 10"/>
          <p:cNvSpPr/>
          <p:nvPr/>
        </p:nvSpPr>
        <p:spPr>
          <a:xfrm>
            <a:off x="1403648" y="3223697"/>
            <a:ext cx="3692116"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2</a:t>
            </a:r>
            <a:r>
              <a:rPr lang="zh-CN" altLang="en-US" dirty="0" smtClean="0">
                <a:solidFill>
                  <a:schemeClr val="bg2"/>
                </a:solidFill>
              </a:rPr>
              <a:t>、</a:t>
            </a:r>
            <a:r>
              <a:rPr lang="zh-CN" altLang="zh-CN" dirty="0" smtClean="0">
                <a:solidFill>
                  <a:schemeClr val="bg2"/>
                </a:solidFill>
              </a:rPr>
              <a:t>具体</a:t>
            </a:r>
            <a:r>
              <a:rPr lang="zh-CN" altLang="zh-CN" dirty="0">
                <a:solidFill>
                  <a:schemeClr val="bg2"/>
                </a:solidFill>
              </a:rPr>
              <a:t>实施构架的信息安全管理</a:t>
            </a:r>
            <a:endParaRPr lang="zh-CN" altLang="en-US" dirty="0">
              <a:solidFill>
                <a:schemeClr val="bg2"/>
              </a:solidFill>
            </a:endParaRPr>
          </a:p>
        </p:txBody>
      </p:sp>
      <p:sp>
        <p:nvSpPr>
          <p:cNvPr id="12" name="五边形 11"/>
          <p:cNvSpPr/>
          <p:nvPr/>
        </p:nvSpPr>
        <p:spPr>
          <a:xfrm>
            <a:off x="1403648" y="4010424"/>
            <a:ext cx="506026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3</a:t>
            </a:r>
            <a:r>
              <a:rPr lang="zh-CN" altLang="en-US" dirty="0" smtClean="0">
                <a:solidFill>
                  <a:schemeClr val="bg2"/>
                </a:solidFill>
              </a:rPr>
              <a:t>、</a:t>
            </a:r>
            <a:r>
              <a:rPr lang="zh-CN" altLang="zh-CN" dirty="0" smtClean="0">
                <a:solidFill>
                  <a:schemeClr val="bg2"/>
                </a:solidFill>
              </a:rPr>
              <a:t>在</a:t>
            </a:r>
            <a:r>
              <a:rPr lang="zh-CN" altLang="zh-CN" dirty="0">
                <a:solidFill>
                  <a:schemeClr val="bg2"/>
                </a:solidFill>
              </a:rPr>
              <a:t>信息安全管理体系基础上建立相关的文档</a:t>
            </a:r>
            <a:endParaRPr lang="zh-CN" altLang="en-US" dirty="0">
              <a:solidFill>
                <a:schemeClr val="bg2"/>
              </a:solidFill>
            </a:endParaRPr>
          </a:p>
        </p:txBody>
      </p:sp>
      <p:sp>
        <p:nvSpPr>
          <p:cNvPr id="15" name="五边形 14"/>
          <p:cNvSpPr/>
          <p:nvPr/>
        </p:nvSpPr>
        <p:spPr>
          <a:xfrm>
            <a:off x="1403648" y="4797152"/>
            <a:ext cx="3014229"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4</a:t>
            </a:r>
            <a:r>
              <a:rPr lang="zh-CN" altLang="en-US" dirty="0" smtClean="0">
                <a:solidFill>
                  <a:schemeClr val="bg2"/>
                </a:solidFill>
              </a:rPr>
              <a:t>、</a:t>
            </a:r>
            <a:r>
              <a:rPr lang="zh-CN" altLang="zh-CN" dirty="0" smtClean="0">
                <a:solidFill>
                  <a:schemeClr val="bg2"/>
                </a:solidFill>
              </a:rPr>
              <a:t>安全</a:t>
            </a:r>
            <a:r>
              <a:rPr lang="zh-CN" altLang="zh-CN" dirty="0">
                <a:solidFill>
                  <a:schemeClr val="bg2"/>
                </a:solidFill>
              </a:rPr>
              <a:t>事件的记录、反馈</a:t>
            </a:r>
            <a:endParaRPr lang="zh-CN" altLang="en-US" dirty="0">
              <a:solidFill>
                <a:schemeClr val="bg2"/>
              </a:solidFill>
            </a:endParaRPr>
          </a:p>
        </p:txBody>
      </p:sp>
      <p:sp>
        <p:nvSpPr>
          <p:cNvPr id="6" name="矩形 5"/>
          <p:cNvSpPr/>
          <p:nvPr/>
        </p:nvSpPr>
        <p:spPr>
          <a:xfrm>
            <a:off x="1259632" y="1828274"/>
            <a:ext cx="7488832" cy="461665"/>
          </a:xfrm>
          <a:prstGeom prst="rect">
            <a:avLst/>
          </a:prstGeom>
        </p:spPr>
        <p:txBody>
          <a:bodyPr wrap="square">
            <a:spAutoFit/>
          </a:bodyPr>
          <a:lstStyle/>
          <a:p>
            <a:r>
              <a:rPr lang="zh-CN" altLang="zh-CN" sz="2400" dirty="0">
                <a:latin typeface="+mn-ea"/>
              </a:rPr>
              <a:t>网络与信息</a:t>
            </a:r>
            <a:r>
              <a:rPr lang="zh-CN" altLang="zh-CN" sz="2400" dirty="0" smtClean="0">
                <a:latin typeface="+mn-ea"/>
              </a:rPr>
              <a:t>安全</a:t>
            </a:r>
            <a:r>
              <a:rPr lang="en-US" altLang="zh-CN" sz="2400" dirty="0" smtClean="0">
                <a:latin typeface="+mn-ea"/>
              </a:rPr>
              <a:t> = </a:t>
            </a:r>
            <a:r>
              <a:rPr lang="zh-CN" altLang="zh-CN" sz="2400" dirty="0" smtClean="0">
                <a:latin typeface="+mn-ea"/>
              </a:rPr>
              <a:t>信息</a:t>
            </a:r>
            <a:r>
              <a:rPr lang="zh-CN" altLang="zh-CN" sz="2400" dirty="0">
                <a:latin typeface="+mn-ea"/>
              </a:rPr>
              <a:t>安全技术</a:t>
            </a:r>
            <a:r>
              <a:rPr lang="en-US" altLang="zh-CN" sz="2400" dirty="0">
                <a:latin typeface="+mn-ea"/>
              </a:rPr>
              <a:t> + </a:t>
            </a:r>
            <a:r>
              <a:rPr lang="zh-CN" altLang="zh-CN" sz="2400" dirty="0">
                <a:latin typeface="+mn-ea"/>
              </a:rPr>
              <a:t>信息安全管理体系</a:t>
            </a:r>
            <a:endParaRPr lang="zh-CN" altLang="en-US" sz="2400" dirty="0">
              <a:latin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512" y="1268760"/>
            <a:ext cx="295232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bg2"/>
                </a:solidFill>
              </a:rPr>
              <a:t>信息安全性的度量标准</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466280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b="0" dirty="0" smtClean="0">
                  <a:solidFill>
                    <a:schemeClr val="bg2"/>
                  </a:solidFill>
                  <a:latin typeface="+mn-ea"/>
                  <a:ea typeface="+mn-ea"/>
                </a:rPr>
                <a:t>2.2.3 信息安全测评认证体系</a:t>
              </a:r>
              <a:endParaRPr sz="2400" b="0" dirty="0" smtClean="0">
                <a:solidFill>
                  <a:schemeClr val="bg2"/>
                </a:solidFill>
                <a:latin typeface="+mn-ea"/>
                <a:ea typeface="+mn-ea"/>
              </a:endParaRPr>
            </a:p>
          </p:txBody>
        </p:sp>
      </p:grpSp>
      <p:sp>
        <p:nvSpPr>
          <p:cNvPr id="17" name="TextBox 16"/>
          <p:cNvSpPr txBox="1"/>
          <p:nvPr/>
        </p:nvSpPr>
        <p:spPr>
          <a:xfrm>
            <a:off x="2596536" y="6412686"/>
            <a:ext cx="4602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sp>
        <p:nvSpPr>
          <p:cNvPr id="2" name="矩形 1"/>
          <p:cNvSpPr/>
          <p:nvPr/>
        </p:nvSpPr>
        <p:spPr>
          <a:xfrm>
            <a:off x="742428" y="1868631"/>
            <a:ext cx="7285955" cy="923330"/>
          </a:xfrm>
          <a:prstGeom prst="rect">
            <a:avLst/>
          </a:prstGeom>
          <a:ln>
            <a:solidFill>
              <a:schemeClr val="accent4">
                <a:lumMod val="75000"/>
              </a:schemeClr>
            </a:solidFill>
          </a:ln>
        </p:spPr>
        <p:txBody>
          <a:bodyPr wrap="square">
            <a:spAutoFit/>
          </a:bodyPr>
          <a:lstStyle/>
          <a:p>
            <a:r>
              <a:rPr lang="zh-CN" altLang="zh-CN" dirty="0"/>
              <a:t>信息技术安全性评估通用准则，通常简称为通用准则</a:t>
            </a:r>
            <a:r>
              <a:rPr lang="en-US" altLang="zh-CN" dirty="0"/>
              <a:t>(CC)</a:t>
            </a:r>
            <a:r>
              <a:rPr lang="zh-CN" altLang="zh-CN" dirty="0"/>
              <a:t>，是评估信息技术产品和系统安全特性的基础准则</a:t>
            </a:r>
            <a:r>
              <a:rPr lang="zh-CN" altLang="zh-CN" dirty="0" smtClean="0"/>
              <a:t>。通用</a:t>
            </a:r>
            <a:r>
              <a:rPr lang="zh-CN" altLang="zh-CN" dirty="0"/>
              <a:t>准则内容分为</a:t>
            </a:r>
            <a:r>
              <a:rPr lang="en-US" altLang="zh-CN" dirty="0"/>
              <a:t>3</a:t>
            </a:r>
            <a:r>
              <a:rPr lang="zh-CN" altLang="zh-CN" dirty="0"/>
              <a:t>部分</a:t>
            </a:r>
            <a:r>
              <a:rPr lang="zh-CN" altLang="zh-CN" dirty="0" smtClean="0"/>
              <a:t>： </a:t>
            </a:r>
            <a:r>
              <a:rPr lang="en-US" altLang="zh-CN" dirty="0" smtClean="0"/>
              <a:t>“</a:t>
            </a:r>
            <a:r>
              <a:rPr lang="zh-CN" altLang="zh-CN" dirty="0"/>
              <a:t>简介和一般模型</a:t>
            </a:r>
            <a:r>
              <a:rPr lang="en-US" altLang="zh-CN" dirty="0"/>
              <a:t>”</a:t>
            </a:r>
            <a:r>
              <a:rPr lang="zh-CN" altLang="zh-CN" dirty="0" smtClean="0"/>
              <a:t>； </a:t>
            </a:r>
            <a:r>
              <a:rPr lang="en-US" altLang="zh-CN" dirty="0" smtClean="0"/>
              <a:t>“</a:t>
            </a:r>
            <a:r>
              <a:rPr lang="zh-CN" altLang="zh-CN" dirty="0"/>
              <a:t>安全功能要求</a:t>
            </a:r>
            <a:r>
              <a:rPr lang="en-US" altLang="zh-CN" dirty="0"/>
              <a:t>”</a:t>
            </a:r>
            <a:r>
              <a:rPr lang="zh-CN" altLang="zh-CN" dirty="0" smtClean="0"/>
              <a:t>； </a:t>
            </a:r>
            <a:r>
              <a:rPr lang="en-US" altLang="zh-CN" dirty="0" smtClean="0"/>
              <a:t>“</a:t>
            </a:r>
            <a:r>
              <a:rPr lang="zh-CN" altLang="zh-CN" dirty="0"/>
              <a:t>安全保证要求</a:t>
            </a:r>
            <a:r>
              <a:rPr lang="en-US" altLang="zh-CN" dirty="0"/>
              <a:t>”</a:t>
            </a:r>
            <a:r>
              <a:rPr lang="zh-CN" altLang="zh-CN" dirty="0"/>
              <a:t>。</a:t>
            </a:r>
            <a:endParaRPr lang="zh-CN" altLang="en-US" dirty="0"/>
          </a:p>
        </p:txBody>
      </p:sp>
      <p:sp>
        <p:nvSpPr>
          <p:cNvPr id="11" name="五边形 10"/>
          <p:cNvSpPr/>
          <p:nvPr/>
        </p:nvSpPr>
        <p:spPr>
          <a:xfrm>
            <a:off x="-85625" y="2852936"/>
            <a:ext cx="295232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rPr>
              <a:t>  </a:t>
            </a:r>
            <a:r>
              <a:rPr lang="zh-CN" altLang="zh-CN" b="1" dirty="0">
                <a:solidFill>
                  <a:schemeClr val="bg2"/>
                </a:solidFill>
              </a:rPr>
              <a:t>国际测评认证体系的发展</a:t>
            </a:r>
            <a:endParaRPr lang="zh-CN" altLang="en-US" dirty="0">
              <a:solidFill>
                <a:schemeClr val="bg2"/>
              </a:solidFill>
            </a:endParaRPr>
          </a:p>
        </p:txBody>
      </p:sp>
      <p:sp>
        <p:nvSpPr>
          <p:cNvPr id="6" name="矩形 5"/>
          <p:cNvSpPr/>
          <p:nvPr/>
        </p:nvSpPr>
        <p:spPr>
          <a:xfrm>
            <a:off x="742429" y="3429000"/>
            <a:ext cx="7285954" cy="2585323"/>
          </a:xfrm>
          <a:prstGeom prst="rect">
            <a:avLst/>
          </a:prstGeom>
          <a:ln>
            <a:solidFill>
              <a:schemeClr val="accent4">
                <a:lumMod val="75000"/>
              </a:schemeClr>
            </a:solidFill>
          </a:ln>
        </p:spPr>
        <p:txBody>
          <a:bodyPr wrap="square">
            <a:spAutoFit/>
          </a:bodyPr>
          <a:lstStyle/>
          <a:p>
            <a:r>
              <a:rPr lang="en-US" altLang="zh-CN" dirty="0" smtClean="0"/>
              <a:t>      </a:t>
            </a:r>
            <a:r>
              <a:rPr lang="en-US" altLang="zh-CN" dirty="0"/>
              <a:t>1995</a:t>
            </a:r>
            <a:r>
              <a:rPr lang="zh-CN" altLang="zh-CN" dirty="0"/>
              <a:t>年，</a:t>
            </a:r>
            <a:r>
              <a:rPr lang="en-US" altLang="zh-CN" dirty="0"/>
              <a:t>CC</a:t>
            </a:r>
            <a:r>
              <a:rPr lang="zh-CN" altLang="zh-CN" dirty="0"/>
              <a:t>项目组成立了代国际互认</a:t>
            </a:r>
            <a:r>
              <a:rPr lang="zh-CN" altLang="zh-CN" dirty="0" smtClean="0"/>
              <a:t>工作组。</a:t>
            </a:r>
            <a:r>
              <a:rPr lang="zh-CN" altLang="zh-CN" dirty="0"/>
              <a:t>同年</a:t>
            </a:r>
            <a:r>
              <a:rPr lang="en-US" altLang="zh-CN" dirty="0"/>
              <a:t>10</a:t>
            </a:r>
            <a:r>
              <a:rPr lang="zh-CN" altLang="zh-CN" dirty="0"/>
              <a:t>月，美国的</a:t>
            </a:r>
            <a:r>
              <a:rPr lang="en-US" altLang="zh-CN" dirty="0"/>
              <a:t>NSA</a:t>
            </a:r>
            <a:r>
              <a:rPr lang="zh-CN" altLang="zh-CN" dirty="0"/>
              <a:t>和</a:t>
            </a:r>
            <a:r>
              <a:rPr lang="en-US" altLang="zh-CN" dirty="0"/>
              <a:t>NIST</a:t>
            </a:r>
            <a:r>
              <a:rPr lang="zh-CN" altLang="zh-CN" dirty="0"/>
              <a:t>、加拿大的</a:t>
            </a:r>
            <a:r>
              <a:rPr lang="en-US" altLang="zh-CN" dirty="0"/>
              <a:t>CSE</a:t>
            </a:r>
            <a:r>
              <a:rPr lang="zh-CN" altLang="zh-CN" dirty="0"/>
              <a:t>和英国的</a:t>
            </a:r>
            <a:r>
              <a:rPr lang="en-US" altLang="zh-CN" dirty="0"/>
              <a:t>CESG</a:t>
            </a:r>
            <a:r>
              <a:rPr lang="zh-CN" altLang="zh-CN" dirty="0"/>
              <a:t>签署了该协定。</a:t>
            </a:r>
            <a:r>
              <a:rPr lang="en-US" altLang="zh-CN" dirty="0"/>
              <a:t>1998</a:t>
            </a:r>
            <a:r>
              <a:rPr lang="zh-CN" altLang="zh-CN" dirty="0"/>
              <a:t>年</a:t>
            </a:r>
            <a:r>
              <a:rPr lang="en-US" altLang="zh-CN" dirty="0"/>
              <a:t>5</a:t>
            </a:r>
            <a:r>
              <a:rPr lang="zh-CN" altLang="zh-CN" dirty="0"/>
              <a:t>月德国的</a:t>
            </a:r>
            <a:r>
              <a:rPr lang="en-US" altLang="zh-CN" dirty="0"/>
              <a:t>GISA</a:t>
            </a:r>
            <a:r>
              <a:rPr lang="zh-CN" altLang="zh-CN" dirty="0"/>
              <a:t>、法国的</a:t>
            </a:r>
            <a:r>
              <a:rPr lang="en-US" altLang="zh-CN" dirty="0"/>
              <a:t>SCSSI</a:t>
            </a:r>
            <a:r>
              <a:rPr lang="zh-CN" altLang="zh-CN" dirty="0"/>
              <a:t>也签署了此协定</a:t>
            </a:r>
            <a:r>
              <a:rPr lang="zh-CN" altLang="zh-CN" dirty="0" smtClean="0"/>
              <a:t>。</a:t>
            </a:r>
            <a:endParaRPr lang="zh-CN" altLang="zh-CN" dirty="0"/>
          </a:p>
          <a:p>
            <a:r>
              <a:rPr lang="en-US" altLang="zh-CN" dirty="0" smtClean="0"/>
              <a:t>      1999</a:t>
            </a:r>
            <a:r>
              <a:rPr lang="zh-CN" altLang="zh-CN" dirty="0"/>
              <a:t>年</a:t>
            </a:r>
            <a:r>
              <a:rPr lang="en-US" altLang="zh-CN" dirty="0"/>
              <a:t>10</a:t>
            </a:r>
            <a:r>
              <a:rPr lang="zh-CN" altLang="zh-CN" dirty="0"/>
              <a:t>月澳大利亚和新西兰的</a:t>
            </a:r>
            <a:r>
              <a:rPr lang="en-US" altLang="zh-CN" dirty="0"/>
              <a:t>DSD</a:t>
            </a:r>
            <a:r>
              <a:rPr lang="zh-CN" altLang="zh-CN" dirty="0"/>
              <a:t>也加入了</a:t>
            </a:r>
            <a:r>
              <a:rPr lang="en-US" altLang="zh-CN" dirty="0"/>
              <a:t>CC</a:t>
            </a:r>
            <a:r>
              <a:rPr lang="zh-CN" altLang="zh-CN" dirty="0"/>
              <a:t>互认协定</a:t>
            </a:r>
            <a:r>
              <a:rPr lang="zh-CN" altLang="zh-CN" dirty="0" smtClean="0"/>
              <a:t>。证书</a:t>
            </a:r>
            <a:r>
              <a:rPr lang="zh-CN" altLang="zh-CN" dirty="0"/>
              <a:t>发放机构还限于政府机构。</a:t>
            </a:r>
            <a:endParaRPr lang="zh-CN" altLang="zh-CN" dirty="0"/>
          </a:p>
          <a:p>
            <a:r>
              <a:rPr lang="en-US" altLang="zh-CN" dirty="0"/>
              <a:t> </a:t>
            </a:r>
            <a:r>
              <a:rPr lang="en-US" altLang="zh-CN" dirty="0" smtClean="0"/>
              <a:t>     2000</a:t>
            </a:r>
            <a:r>
              <a:rPr lang="zh-CN" altLang="zh-CN" dirty="0"/>
              <a:t>年，荷兰、西班牙、意大利、挪威、芬兰、瑞典和希腊等国也加入了该互认协定，日本、韩国、以色列等国也正在积极准备加入此协定。目前的证书发放机构已不再限于政府机构，非政府的认证机构也可以加入此协定，但必须有政府机构的参与或授权。</a:t>
            </a:r>
            <a:endParaRPr lang="zh-CN" altLang="zh-C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512" y="1268760"/>
            <a:ext cx="1427051"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组织结构</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4596130" cy="548661"/>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0"/>
            </a:xfrm>
            <a:prstGeom prst="rect">
              <a:avLst/>
            </a:prstGeom>
            <a:noFill/>
          </p:spPr>
          <p:txBody>
            <a:bodyPr wrap="square" rtlCol="0">
              <a:spAutoFit/>
            </a:bodyPr>
            <a:lstStyle/>
            <a:p>
              <a:r>
                <a:rPr sz="2400" b="0" dirty="0" smtClean="0">
                  <a:solidFill>
                    <a:schemeClr val="bg2"/>
                  </a:solidFill>
                  <a:latin typeface="+mn-ea"/>
                  <a:ea typeface="+mn-ea"/>
                </a:rPr>
                <a:t>2.2.3 信息安全测评认证体系</a:t>
              </a:r>
              <a:endParaRPr sz="2400" b="0" dirty="0" smtClean="0">
                <a:solidFill>
                  <a:schemeClr val="bg2"/>
                </a:solidFill>
                <a:latin typeface="+mn-ea"/>
                <a:ea typeface="+mn-ea"/>
              </a:endParaRPr>
            </a:p>
          </p:txBody>
        </p:sp>
      </p:grpSp>
      <p:sp>
        <p:nvSpPr>
          <p:cNvPr id="17" name="TextBox 16"/>
          <p:cNvSpPr txBox="1"/>
          <p:nvPr/>
        </p:nvSpPr>
        <p:spPr>
          <a:xfrm>
            <a:off x="2596536" y="6412686"/>
            <a:ext cx="4602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10" name="Group 3"/>
          <p:cNvGrpSpPr>
            <a:grpSpLocks noChangeAspect="1"/>
          </p:cNvGrpSpPr>
          <p:nvPr/>
        </p:nvGrpSpPr>
        <p:grpSpPr bwMode="auto">
          <a:xfrm>
            <a:off x="1187624" y="1866239"/>
            <a:ext cx="6453261" cy="2926923"/>
            <a:chOff x="8247" y="9162"/>
            <a:chExt cx="5061" cy="2294"/>
          </a:xfrm>
        </p:grpSpPr>
        <p:sp>
          <p:nvSpPr>
            <p:cNvPr id="12" name="AutoShape 16"/>
            <p:cNvSpPr>
              <a:spLocks noChangeAspect="1" noChangeArrowheads="1" noTextEdit="1"/>
            </p:cNvSpPr>
            <p:nvPr/>
          </p:nvSpPr>
          <p:spPr bwMode="auto">
            <a:xfrm>
              <a:off x="8247" y="9162"/>
              <a:ext cx="5061" cy="22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2000">
                <a:latin typeface="+mn-ea"/>
              </a:endParaRPr>
            </a:p>
          </p:txBody>
        </p:sp>
        <p:sp>
          <p:nvSpPr>
            <p:cNvPr id="15" name="Text Box 15"/>
            <p:cNvSpPr txBox="1">
              <a:spLocks noChangeArrowheads="1"/>
            </p:cNvSpPr>
            <p:nvPr/>
          </p:nvSpPr>
          <p:spPr bwMode="auto">
            <a:xfrm>
              <a:off x="8898" y="10557"/>
              <a:ext cx="819"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mn-ea"/>
                  <a:cs typeface="Times New Roman" panose="02020603050405020304" pitchFamily="18" charset="0"/>
                </a:rPr>
                <a:t>提交</a:t>
              </a:r>
              <a:endParaRPr kumimoji="0" lang="zh-CN" sz="2000" b="0" i="0" u="none" strike="noStrike" cap="none" normalizeH="0" baseline="0" dirty="0" smtClean="0">
                <a:ln>
                  <a:noFill/>
                </a:ln>
                <a:solidFill>
                  <a:schemeClr val="tx1"/>
                </a:solidFill>
                <a:effectLst/>
                <a:latin typeface="+mn-ea"/>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mn-ea"/>
                  <a:cs typeface="Times New Roman" panose="02020603050405020304" pitchFamily="18" charset="0"/>
                </a:rPr>
                <a:t>报告</a:t>
              </a:r>
              <a:endParaRPr kumimoji="0" lang="zh-CN" sz="2000" b="0" i="0" u="none" strike="noStrike" cap="none" normalizeH="0" baseline="0" dirty="0" smtClean="0">
                <a:ln>
                  <a:noFill/>
                </a:ln>
                <a:solidFill>
                  <a:schemeClr val="tx1"/>
                </a:solidFill>
                <a:effectLst/>
                <a:latin typeface="+mn-ea"/>
              </a:endParaRPr>
            </a:p>
          </p:txBody>
        </p:sp>
        <p:sp>
          <p:nvSpPr>
            <p:cNvPr id="16" name="Text Box 14"/>
            <p:cNvSpPr txBox="1">
              <a:spLocks noChangeArrowheads="1"/>
            </p:cNvSpPr>
            <p:nvPr/>
          </p:nvSpPr>
          <p:spPr bwMode="auto">
            <a:xfrm>
              <a:off x="11922" y="10557"/>
              <a:ext cx="840"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mn-ea"/>
                  <a:cs typeface="Times New Roman" panose="02020603050405020304" pitchFamily="18" charset="0"/>
                </a:rPr>
                <a:t>技术</a:t>
              </a:r>
              <a:endParaRPr kumimoji="0" lang="zh-CN" sz="2000" b="0" i="0" u="none" strike="noStrike" cap="none" normalizeH="0" baseline="0" dirty="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mn-ea"/>
                  <a:cs typeface="Times New Roman" panose="02020603050405020304" pitchFamily="18" charset="0"/>
                </a:rPr>
                <a:t>监管</a:t>
              </a:r>
              <a:endParaRPr kumimoji="0" lang="zh-CN" sz="2000" b="0" i="0" u="none" strike="noStrike" cap="none" normalizeH="0" baseline="0" dirty="0" smtClean="0">
                <a:ln>
                  <a:noFill/>
                </a:ln>
                <a:solidFill>
                  <a:schemeClr val="tx1"/>
                </a:solidFill>
                <a:effectLst/>
                <a:latin typeface="+mn-ea"/>
              </a:endParaRPr>
            </a:p>
          </p:txBody>
        </p:sp>
        <p:sp>
          <p:nvSpPr>
            <p:cNvPr id="18" name="Text Box 13"/>
            <p:cNvSpPr txBox="1">
              <a:spLocks noChangeArrowheads="1"/>
            </p:cNvSpPr>
            <p:nvPr/>
          </p:nvSpPr>
          <p:spPr bwMode="auto">
            <a:xfrm>
              <a:off x="11796" y="9689"/>
              <a:ext cx="726"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smtClean="0">
                  <a:ln>
                    <a:noFill/>
                  </a:ln>
                  <a:solidFill>
                    <a:schemeClr val="tx1"/>
                  </a:solidFill>
                  <a:effectLst/>
                  <a:latin typeface="+mn-ea"/>
                  <a:cs typeface="Times New Roman" panose="02020603050405020304" pitchFamily="18" charset="0"/>
                </a:rPr>
                <a:t>授权</a:t>
              </a:r>
              <a:endParaRPr kumimoji="0" lang="zh-CN" sz="2000" b="0" i="0" u="none" strike="noStrike" cap="none" normalizeH="0" baseline="0" smtClean="0">
                <a:ln>
                  <a:noFill/>
                </a:ln>
                <a:solidFill>
                  <a:schemeClr val="tx1"/>
                </a:solidFill>
                <a:effectLst/>
                <a:latin typeface="+mn-ea"/>
              </a:endParaRPr>
            </a:p>
          </p:txBody>
        </p:sp>
        <p:sp>
          <p:nvSpPr>
            <p:cNvPr id="19" name="Text Box 12"/>
            <p:cNvSpPr txBox="1">
              <a:spLocks noChangeArrowheads="1"/>
            </p:cNvSpPr>
            <p:nvPr/>
          </p:nvSpPr>
          <p:spPr bwMode="auto">
            <a:xfrm>
              <a:off x="9161" y="9800"/>
              <a:ext cx="726"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mn-ea"/>
                  <a:cs typeface="Times New Roman" panose="02020603050405020304" pitchFamily="18" charset="0"/>
                </a:rPr>
                <a:t>监管</a:t>
              </a:r>
              <a:endParaRPr kumimoji="0" lang="zh-CN" sz="2000" b="0" i="0" u="none" strike="noStrike" cap="none" normalizeH="0" baseline="0" dirty="0" smtClean="0">
                <a:ln>
                  <a:noFill/>
                </a:ln>
                <a:solidFill>
                  <a:schemeClr val="tx1"/>
                </a:solidFill>
                <a:effectLst/>
                <a:latin typeface="+mn-ea"/>
              </a:endParaRPr>
            </a:p>
          </p:txBody>
        </p:sp>
        <p:sp>
          <p:nvSpPr>
            <p:cNvPr id="20" name="Text Box 11"/>
            <p:cNvSpPr txBox="1">
              <a:spLocks noChangeArrowheads="1"/>
            </p:cNvSpPr>
            <p:nvPr/>
          </p:nvSpPr>
          <p:spPr bwMode="auto">
            <a:xfrm>
              <a:off x="8247" y="9162"/>
              <a:ext cx="2120" cy="49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smtClean="0">
                  <a:ln>
                    <a:noFill/>
                  </a:ln>
                  <a:solidFill>
                    <a:schemeClr val="tx1"/>
                  </a:solidFill>
                  <a:effectLst/>
                  <a:latin typeface="+mn-ea"/>
                  <a:cs typeface="Times New Roman" panose="02020603050405020304" pitchFamily="18" charset="0"/>
                </a:rPr>
                <a:t>国家安全</a:t>
              </a:r>
              <a:r>
                <a:rPr kumimoji="0" lang="en-US" altLang="zh-CN" sz="2000" b="0" i="0" u="none" strike="noStrike" cap="none" normalizeH="0" baseline="0" smtClean="0">
                  <a:ln>
                    <a:noFill/>
                  </a:ln>
                  <a:solidFill>
                    <a:schemeClr val="tx1"/>
                  </a:solidFill>
                  <a:effectLst/>
                  <a:latin typeface="+mn-ea"/>
                  <a:cs typeface="Times New Roman" panose="02020603050405020304" pitchFamily="18" charset="0"/>
                </a:rPr>
                <a:t>/</a:t>
              </a:r>
              <a:r>
                <a:rPr kumimoji="0" lang="zh-CN" altLang="en-US" sz="2000" b="0" i="0" u="none" strike="noStrike" cap="none" normalizeH="0" baseline="0" smtClean="0">
                  <a:ln>
                    <a:noFill/>
                  </a:ln>
                  <a:solidFill>
                    <a:schemeClr val="tx1"/>
                  </a:solidFill>
                  <a:effectLst/>
                  <a:latin typeface="+mn-ea"/>
                  <a:cs typeface="Times New Roman" panose="02020603050405020304" pitchFamily="18" charset="0"/>
                </a:rPr>
                <a:t>情报部门</a:t>
              </a:r>
              <a:endParaRPr kumimoji="0" lang="zh-CN" altLang="en-US" sz="2000" b="0" i="0" u="none" strike="noStrike" cap="none" normalizeH="0" baseline="0" smtClean="0">
                <a:ln>
                  <a:noFill/>
                </a:ln>
                <a:solidFill>
                  <a:schemeClr val="tx1"/>
                </a:solidFill>
                <a:effectLst/>
                <a:latin typeface="+mn-ea"/>
              </a:endParaRPr>
            </a:p>
          </p:txBody>
        </p:sp>
        <p:sp>
          <p:nvSpPr>
            <p:cNvPr id="21" name="Text Box 10"/>
            <p:cNvSpPr txBox="1">
              <a:spLocks noChangeArrowheads="1"/>
            </p:cNvSpPr>
            <p:nvPr/>
          </p:nvSpPr>
          <p:spPr bwMode="auto">
            <a:xfrm>
              <a:off x="11250" y="9193"/>
              <a:ext cx="2016" cy="49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mn-ea"/>
                  <a:cs typeface="Times New Roman" panose="02020603050405020304" pitchFamily="18" charset="0"/>
                </a:rPr>
                <a:t>国家标准化部门</a:t>
              </a:r>
              <a:endParaRPr kumimoji="0" lang="zh-CN" sz="2000" b="0" i="0" u="none" strike="noStrike" cap="none" normalizeH="0" baseline="0" dirty="0" smtClean="0">
                <a:ln>
                  <a:noFill/>
                </a:ln>
                <a:solidFill>
                  <a:schemeClr val="tx1"/>
                </a:solidFill>
                <a:effectLst/>
                <a:latin typeface="+mn-ea"/>
              </a:endParaRPr>
            </a:p>
          </p:txBody>
        </p:sp>
        <p:sp>
          <p:nvSpPr>
            <p:cNvPr id="22" name="Text Box 9"/>
            <p:cNvSpPr txBox="1">
              <a:spLocks noChangeArrowheads="1"/>
            </p:cNvSpPr>
            <p:nvPr/>
          </p:nvSpPr>
          <p:spPr bwMode="auto">
            <a:xfrm>
              <a:off x="9612" y="10092"/>
              <a:ext cx="2310" cy="46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smtClean="0">
                  <a:ln>
                    <a:noFill/>
                  </a:ln>
                  <a:solidFill>
                    <a:schemeClr val="tx1"/>
                  </a:solidFill>
                  <a:effectLst/>
                  <a:latin typeface="+mn-ea"/>
                  <a:cs typeface="Times New Roman" panose="02020603050405020304" pitchFamily="18" charset="0"/>
                </a:rPr>
                <a:t>政府授权的认证机构</a:t>
              </a:r>
              <a:endParaRPr kumimoji="0" lang="zh-CN" sz="2000" b="0" i="0" u="none" strike="noStrike" cap="none" normalizeH="0" baseline="0" smtClean="0">
                <a:ln>
                  <a:noFill/>
                </a:ln>
                <a:solidFill>
                  <a:schemeClr val="tx1"/>
                </a:solidFill>
                <a:effectLst/>
                <a:latin typeface="+mn-ea"/>
              </a:endParaRPr>
            </a:p>
          </p:txBody>
        </p:sp>
        <p:sp>
          <p:nvSpPr>
            <p:cNvPr id="23" name="Text Box 8"/>
            <p:cNvSpPr txBox="1">
              <a:spLocks noChangeArrowheads="1"/>
            </p:cNvSpPr>
            <p:nvPr/>
          </p:nvSpPr>
          <p:spPr bwMode="auto">
            <a:xfrm>
              <a:off x="9549" y="10991"/>
              <a:ext cx="2310" cy="46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mn-ea"/>
                  <a:cs typeface="Times New Roman" panose="02020603050405020304" pitchFamily="18" charset="0"/>
                </a:rPr>
                <a:t>CC</a:t>
              </a:r>
              <a:r>
                <a:rPr kumimoji="0" lang="zh-CN" altLang="en-US" sz="2000" b="0" i="0" u="none" strike="noStrike" cap="none" normalizeH="0" baseline="0" smtClean="0">
                  <a:ln>
                    <a:noFill/>
                  </a:ln>
                  <a:solidFill>
                    <a:schemeClr val="tx1"/>
                  </a:solidFill>
                  <a:effectLst/>
                  <a:latin typeface="+mn-ea"/>
                  <a:cs typeface="Times New Roman" panose="02020603050405020304" pitchFamily="18" charset="0"/>
                </a:rPr>
                <a:t>评估</a:t>
              </a:r>
              <a:r>
                <a:rPr kumimoji="0" lang="en-US" altLang="zh-CN" sz="2000" b="0" i="0" u="none" strike="noStrike" cap="none" normalizeH="0" baseline="0" smtClean="0">
                  <a:ln>
                    <a:noFill/>
                  </a:ln>
                  <a:solidFill>
                    <a:schemeClr val="tx1"/>
                  </a:solidFill>
                  <a:effectLst/>
                  <a:latin typeface="+mn-ea"/>
                  <a:cs typeface="Times New Roman" panose="02020603050405020304" pitchFamily="18" charset="0"/>
                </a:rPr>
                <a:t>/</a:t>
              </a:r>
              <a:r>
                <a:rPr kumimoji="0" lang="zh-CN" altLang="en-US" sz="2000" b="0" i="0" u="none" strike="noStrike" cap="none" normalizeH="0" baseline="0" smtClean="0">
                  <a:ln>
                    <a:noFill/>
                  </a:ln>
                  <a:solidFill>
                    <a:schemeClr val="tx1"/>
                  </a:solidFill>
                  <a:effectLst/>
                  <a:latin typeface="+mn-ea"/>
                  <a:cs typeface="Times New Roman" panose="02020603050405020304" pitchFamily="18" charset="0"/>
                </a:rPr>
                <a:t>测试实验室</a:t>
              </a:r>
              <a:endParaRPr kumimoji="0" lang="zh-CN" altLang="en-US" sz="2000" b="0" i="0" u="none" strike="noStrike" cap="none" normalizeH="0" baseline="0" smtClean="0">
                <a:ln>
                  <a:noFill/>
                </a:ln>
                <a:solidFill>
                  <a:schemeClr val="tx1"/>
                </a:solidFill>
                <a:effectLst/>
                <a:latin typeface="+mn-ea"/>
              </a:endParaRPr>
            </a:p>
          </p:txBody>
        </p:sp>
        <p:sp>
          <p:nvSpPr>
            <p:cNvPr id="24" name="Line 7"/>
            <p:cNvSpPr>
              <a:spLocks noChangeShapeType="1"/>
            </p:cNvSpPr>
            <p:nvPr/>
          </p:nvSpPr>
          <p:spPr bwMode="auto">
            <a:xfrm>
              <a:off x="9591" y="9676"/>
              <a:ext cx="546" cy="38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000">
                <a:latin typeface="+mn-ea"/>
              </a:endParaRPr>
            </a:p>
          </p:txBody>
        </p:sp>
        <p:sp>
          <p:nvSpPr>
            <p:cNvPr id="25" name="Line 6"/>
            <p:cNvSpPr>
              <a:spLocks noChangeShapeType="1"/>
            </p:cNvSpPr>
            <p:nvPr/>
          </p:nvSpPr>
          <p:spPr bwMode="auto">
            <a:xfrm flipH="1">
              <a:off x="11334" y="9689"/>
              <a:ext cx="567" cy="37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000">
                <a:latin typeface="+mn-ea"/>
              </a:endParaRPr>
            </a:p>
          </p:txBody>
        </p:sp>
        <p:sp>
          <p:nvSpPr>
            <p:cNvPr id="26" name="Line 5"/>
            <p:cNvSpPr>
              <a:spLocks noChangeShapeType="1"/>
            </p:cNvSpPr>
            <p:nvPr/>
          </p:nvSpPr>
          <p:spPr bwMode="auto">
            <a:xfrm>
              <a:off x="10179" y="10557"/>
              <a:ext cx="1" cy="43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000">
                <a:latin typeface="+mn-ea"/>
              </a:endParaRPr>
            </a:p>
          </p:txBody>
        </p:sp>
        <p:sp>
          <p:nvSpPr>
            <p:cNvPr id="27" name="Line 4"/>
            <p:cNvSpPr>
              <a:spLocks noChangeShapeType="1"/>
            </p:cNvSpPr>
            <p:nvPr/>
          </p:nvSpPr>
          <p:spPr bwMode="auto">
            <a:xfrm flipV="1">
              <a:off x="11271" y="10557"/>
              <a:ext cx="1" cy="43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000">
                <a:latin typeface="+mn-ea"/>
              </a:endParaRPr>
            </a:p>
          </p:txBody>
        </p:sp>
      </p:grpSp>
      <p:sp>
        <p:nvSpPr>
          <p:cNvPr id="28" name="矩形 27"/>
          <p:cNvSpPr/>
          <p:nvPr/>
        </p:nvSpPr>
        <p:spPr>
          <a:xfrm>
            <a:off x="2786515" y="5157192"/>
            <a:ext cx="3091180" cy="368300"/>
          </a:xfrm>
          <a:prstGeom prst="rect">
            <a:avLst/>
          </a:prstGeom>
        </p:spPr>
        <p:txBody>
          <a:bodyPr wrap="none">
            <a:spAutoFit/>
          </a:bodyPr>
          <a:lstStyle/>
          <a:p>
            <a:r>
              <a:rPr lang="zh-CN" altLang="zh-CN" dirty="0"/>
              <a:t>图</a:t>
            </a:r>
            <a:r>
              <a:rPr lang="en-US" altLang="zh-CN" dirty="0"/>
              <a:t>2</a:t>
            </a:r>
            <a:r>
              <a:rPr lang="en-US" altLang="zh-CN" dirty="0"/>
              <a:t>-1 </a:t>
            </a:r>
            <a:r>
              <a:rPr lang="zh-CN" altLang="zh-CN" dirty="0"/>
              <a:t>信息安全测评认证机构</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512" y="1268760"/>
            <a:ext cx="2823027"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信息安全测评认证体系</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4624070" cy="548661"/>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0"/>
            </a:xfrm>
            <a:prstGeom prst="rect">
              <a:avLst/>
            </a:prstGeom>
            <a:noFill/>
          </p:spPr>
          <p:txBody>
            <a:bodyPr wrap="square" rtlCol="0">
              <a:spAutoFit/>
            </a:bodyPr>
            <a:lstStyle/>
            <a:p>
              <a:r>
                <a:rPr sz="2400" dirty="0" smtClean="0">
                  <a:solidFill>
                    <a:schemeClr val="bg2"/>
                  </a:solidFill>
                  <a:latin typeface="+mn-ea"/>
                  <a:sym typeface="+mn-ea"/>
                </a:rPr>
                <a:t>2.2.3 信息安全测评认证体系</a:t>
              </a:r>
              <a:endParaRPr lang="zh-CN" altLang="en-US" sz="2400" b="0" dirty="0">
                <a:solidFill>
                  <a:schemeClr val="bg2"/>
                </a:solidFill>
                <a:latin typeface="+mn-ea"/>
                <a:ea typeface="+mn-ea"/>
              </a:endParaRPr>
            </a:p>
          </p:txBody>
        </p:sp>
      </p:grpSp>
      <p:sp>
        <p:nvSpPr>
          <p:cNvPr id="17" name="TextBox 16"/>
          <p:cNvSpPr txBox="1"/>
          <p:nvPr/>
        </p:nvSpPr>
        <p:spPr>
          <a:xfrm>
            <a:off x="2564786" y="6412686"/>
            <a:ext cx="46659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sym typeface="+mn-ea"/>
              </a:rPr>
              <a:t> </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矩形 27"/>
          <p:cNvSpPr/>
          <p:nvPr/>
        </p:nvSpPr>
        <p:spPr>
          <a:xfrm>
            <a:off x="2765083" y="5733256"/>
            <a:ext cx="3091180" cy="368300"/>
          </a:xfrm>
          <a:prstGeom prst="rect">
            <a:avLst/>
          </a:prstGeom>
        </p:spPr>
        <p:txBody>
          <a:bodyPr wrap="none">
            <a:spAutoFit/>
          </a:bodyPr>
          <a:lstStyle/>
          <a:p>
            <a:r>
              <a:rPr lang="zh-CN" altLang="zh-CN" dirty="0"/>
              <a:t>图</a:t>
            </a:r>
            <a:r>
              <a:rPr lang="en-US" altLang="zh-CN" dirty="0"/>
              <a:t>2</a:t>
            </a:r>
            <a:r>
              <a:rPr lang="en-US" altLang="zh-CN" dirty="0" smtClean="0"/>
              <a:t>-2 </a:t>
            </a:r>
            <a:r>
              <a:rPr lang="zh-CN" altLang="zh-CN" dirty="0" smtClean="0"/>
              <a:t>信息</a:t>
            </a:r>
            <a:r>
              <a:rPr lang="zh-CN" altLang="zh-CN" dirty="0"/>
              <a:t>安全测评认证体系</a:t>
            </a:r>
            <a:endParaRPr lang="zh-CN" altLang="en-US" dirty="0"/>
          </a:p>
        </p:txBody>
      </p:sp>
      <p:sp>
        <p:nvSpPr>
          <p:cNvPr id="83" name="Rectangle 11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84" name="Group 83"/>
          <p:cNvGrpSpPr>
            <a:grpSpLocks noChangeAspect="1"/>
          </p:cNvGrpSpPr>
          <p:nvPr/>
        </p:nvGrpSpPr>
        <p:grpSpPr bwMode="auto">
          <a:xfrm>
            <a:off x="539647" y="1852377"/>
            <a:ext cx="8280729" cy="3878904"/>
            <a:chOff x="5898" y="9100"/>
            <a:chExt cx="9549" cy="4472"/>
          </a:xfrm>
        </p:grpSpPr>
        <p:sp>
          <p:nvSpPr>
            <p:cNvPr id="85" name="AutoShape 110"/>
            <p:cNvSpPr>
              <a:spLocks noChangeAspect="1" noChangeArrowheads="1" noTextEdit="1"/>
            </p:cNvSpPr>
            <p:nvPr/>
          </p:nvSpPr>
          <p:spPr bwMode="auto">
            <a:xfrm>
              <a:off x="6168" y="9100"/>
              <a:ext cx="9051" cy="44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latin typeface="+mn-ea"/>
              </a:endParaRPr>
            </a:p>
          </p:txBody>
        </p:sp>
        <p:sp>
          <p:nvSpPr>
            <p:cNvPr id="86" name="Text Box 109"/>
            <p:cNvSpPr txBox="1">
              <a:spLocks noChangeArrowheads="1"/>
            </p:cNvSpPr>
            <p:nvPr/>
          </p:nvSpPr>
          <p:spPr bwMode="auto">
            <a:xfrm>
              <a:off x="7197" y="11766"/>
              <a:ext cx="819"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认可</a:t>
              </a:r>
              <a:endParaRPr kumimoji="0" lang="zh-CN" sz="1600" b="0" i="0" u="none" strike="noStrike" cap="none" normalizeH="0" baseline="0" smtClean="0">
                <a:ln>
                  <a:noFill/>
                </a:ln>
                <a:solidFill>
                  <a:schemeClr val="tx1"/>
                </a:solidFill>
                <a:effectLst/>
                <a:latin typeface="+mn-ea"/>
              </a:endParaRPr>
            </a:p>
          </p:txBody>
        </p:sp>
        <p:sp>
          <p:nvSpPr>
            <p:cNvPr id="87" name="Text Box 108"/>
            <p:cNvSpPr txBox="1">
              <a:spLocks noChangeArrowheads="1"/>
            </p:cNvSpPr>
            <p:nvPr/>
          </p:nvSpPr>
          <p:spPr bwMode="auto">
            <a:xfrm>
              <a:off x="13119" y="13068"/>
              <a:ext cx="2100"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mn-ea"/>
                  <a:cs typeface="Times New Roman" panose="02020603050405020304" pitchFamily="18" charset="0"/>
                </a:rPr>
                <a:t>IT</a:t>
              </a:r>
              <a:r>
                <a:rPr kumimoji="0" lang="zh-CN" altLang="en-US" sz="1600" b="0" i="0" u="none" strike="noStrike" cap="none" normalizeH="0" baseline="0" smtClean="0">
                  <a:ln>
                    <a:noFill/>
                  </a:ln>
                  <a:solidFill>
                    <a:schemeClr val="tx1"/>
                  </a:solidFill>
                  <a:effectLst/>
                  <a:latin typeface="+mn-ea"/>
                  <a:cs typeface="Times New Roman" panose="02020603050405020304" pitchFamily="18" charset="0"/>
                </a:rPr>
                <a:t>产品或保护轮廓</a:t>
              </a:r>
              <a:endParaRPr kumimoji="0" lang="zh-CN" altLang="en-US" sz="1600" b="0" i="0" u="none" strike="noStrike" cap="none" normalizeH="0" baseline="0" smtClean="0">
                <a:ln>
                  <a:noFill/>
                </a:ln>
                <a:solidFill>
                  <a:schemeClr val="tx1"/>
                </a:solidFill>
                <a:effectLst/>
                <a:latin typeface="+mn-ea"/>
              </a:endParaRPr>
            </a:p>
          </p:txBody>
        </p:sp>
        <p:sp>
          <p:nvSpPr>
            <p:cNvPr id="88" name="Text Box 107"/>
            <p:cNvSpPr txBox="1">
              <a:spLocks noChangeArrowheads="1"/>
            </p:cNvSpPr>
            <p:nvPr/>
          </p:nvSpPr>
          <p:spPr bwMode="auto">
            <a:xfrm>
              <a:off x="5898" y="9472"/>
              <a:ext cx="2411" cy="80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chemeClr val="tx1"/>
                  </a:solidFill>
                  <a:effectLst/>
                  <a:latin typeface="+mn-ea"/>
                  <a:cs typeface="Times New Roman" panose="02020603050405020304" pitchFamily="18" charset="0"/>
                </a:rPr>
                <a:t>CC</a:t>
              </a:r>
              <a:r>
                <a:rPr kumimoji="0" lang="zh-CN" altLang="en-US" sz="1600" b="0" i="0" u="none" strike="noStrike" cap="none" normalizeH="0" baseline="0" dirty="0" smtClean="0">
                  <a:ln>
                    <a:noFill/>
                  </a:ln>
                  <a:solidFill>
                    <a:schemeClr val="tx1"/>
                  </a:solidFill>
                  <a:effectLst/>
                  <a:latin typeface="+mn-ea"/>
                  <a:cs typeface="Times New Roman" panose="02020603050405020304" pitchFamily="18" charset="0"/>
                </a:rPr>
                <a:t>及通用评估方法其他测评认证标准</a:t>
              </a:r>
              <a:endParaRPr kumimoji="0" lang="zh-CN" altLang="en-US" sz="1600" b="0" i="0" u="none" strike="noStrike" cap="none" normalizeH="0" baseline="0" dirty="0" smtClean="0">
                <a:ln>
                  <a:noFill/>
                </a:ln>
                <a:solidFill>
                  <a:schemeClr val="tx1"/>
                </a:solidFill>
                <a:effectLst/>
                <a:latin typeface="+mn-ea"/>
              </a:endParaRPr>
            </a:p>
          </p:txBody>
        </p:sp>
        <p:sp>
          <p:nvSpPr>
            <p:cNvPr id="89" name="Text Box 106"/>
            <p:cNvSpPr txBox="1">
              <a:spLocks noChangeArrowheads="1"/>
            </p:cNvSpPr>
            <p:nvPr/>
          </p:nvSpPr>
          <p:spPr bwMode="auto">
            <a:xfrm>
              <a:off x="12846" y="9100"/>
              <a:ext cx="2601" cy="15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已批准实验室名单</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已批准测试方法目录</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认证报告</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已认证产品目录</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通用准则证书</a:t>
              </a:r>
              <a:endParaRPr kumimoji="0" lang="zh-CN" sz="1600" b="0" i="0" u="none" strike="noStrike" cap="none" normalizeH="0" baseline="0" smtClean="0">
                <a:ln>
                  <a:noFill/>
                </a:ln>
                <a:solidFill>
                  <a:schemeClr val="tx1"/>
                </a:solidFill>
                <a:effectLst/>
                <a:latin typeface="+mn-ea"/>
              </a:endParaRPr>
            </a:p>
          </p:txBody>
        </p:sp>
        <p:sp>
          <p:nvSpPr>
            <p:cNvPr id="90" name="Text Box 105"/>
            <p:cNvSpPr txBox="1">
              <a:spLocks noChangeArrowheads="1"/>
            </p:cNvSpPr>
            <p:nvPr/>
          </p:nvSpPr>
          <p:spPr bwMode="auto">
            <a:xfrm>
              <a:off x="9612" y="9441"/>
              <a:ext cx="2310" cy="111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评价认证机构</a:t>
              </a:r>
              <a:endParaRPr kumimoji="0" lang="zh-CN" sz="1600" b="0" i="0" u="none" strike="noStrike" cap="none" normalizeH="0" baseline="0" smtClean="0">
                <a:ln>
                  <a:noFill/>
                </a:ln>
                <a:solidFill>
                  <a:schemeClr val="tx1"/>
                </a:solidFill>
                <a:effectLst/>
                <a:latin typeface="+mn-ea"/>
              </a:endParaRPr>
            </a:p>
          </p:txBody>
        </p:sp>
        <p:sp>
          <p:nvSpPr>
            <p:cNvPr id="91" name="Text Box 104"/>
            <p:cNvSpPr txBox="1">
              <a:spLocks noChangeArrowheads="1"/>
            </p:cNvSpPr>
            <p:nvPr/>
          </p:nvSpPr>
          <p:spPr bwMode="auto">
            <a:xfrm>
              <a:off x="9612" y="12572"/>
              <a:ext cx="2310" cy="46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mn-ea"/>
                  <a:cs typeface="Times New Roman" panose="02020603050405020304" pitchFamily="18" charset="0"/>
                </a:rPr>
                <a:t>CC</a:t>
              </a:r>
              <a:r>
                <a:rPr kumimoji="0" lang="zh-CN" altLang="en-US" sz="1600" b="0" i="0" u="none" strike="noStrike" cap="none" normalizeH="0" baseline="0" smtClean="0">
                  <a:ln>
                    <a:noFill/>
                  </a:ln>
                  <a:solidFill>
                    <a:schemeClr val="tx1"/>
                  </a:solidFill>
                  <a:effectLst/>
                  <a:latin typeface="+mn-ea"/>
                  <a:cs typeface="Times New Roman" panose="02020603050405020304" pitchFamily="18" charset="0"/>
                </a:rPr>
                <a:t>测试实验室</a:t>
              </a:r>
              <a:endParaRPr kumimoji="0" lang="zh-CN" altLang="en-US" sz="1600" b="0" i="0" u="none" strike="noStrike" cap="none" normalizeH="0" baseline="0" smtClean="0">
                <a:ln>
                  <a:noFill/>
                </a:ln>
                <a:solidFill>
                  <a:schemeClr val="tx1"/>
                </a:solidFill>
                <a:effectLst/>
                <a:latin typeface="+mn-ea"/>
              </a:endParaRPr>
            </a:p>
          </p:txBody>
        </p:sp>
        <p:sp>
          <p:nvSpPr>
            <p:cNvPr id="92" name="Text Box 103"/>
            <p:cNvSpPr txBox="1">
              <a:spLocks noChangeArrowheads="1"/>
            </p:cNvSpPr>
            <p:nvPr/>
          </p:nvSpPr>
          <p:spPr bwMode="auto">
            <a:xfrm>
              <a:off x="6273" y="12727"/>
              <a:ext cx="2352"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mn-ea"/>
                  <a:cs typeface="Times New Roman" panose="02020603050405020304" pitchFamily="18" charset="0"/>
                </a:rPr>
                <a:t>ISO/IEC</a:t>
              </a:r>
              <a:r>
                <a:rPr kumimoji="0" lang="zh-CN" altLang="en-US" sz="1600" b="0" i="0" u="none" strike="noStrike" cap="none" normalizeH="0" baseline="0" smtClean="0">
                  <a:ln>
                    <a:noFill/>
                  </a:ln>
                  <a:solidFill>
                    <a:schemeClr val="tx1"/>
                  </a:solidFill>
                  <a:effectLst/>
                  <a:latin typeface="+mn-ea"/>
                  <a:cs typeface="Times New Roman" panose="02020603050405020304" pitchFamily="18" charset="0"/>
                </a:rPr>
                <a:t>导则</a:t>
              </a:r>
              <a:r>
                <a:rPr kumimoji="0" lang="en-US" altLang="zh-CN" sz="1600" b="0" i="0" u="none" strike="noStrike" cap="none" normalizeH="0" baseline="0" smtClean="0">
                  <a:ln>
                    <a:noFill/>
                  </a:ln>
                  <a:solidFill>
                    <a:schemeClr val="tx1"/>
                  </a:solidFill>
                  <a:effectLst/>
                  <a:latin typeface="+mn-ea"/>
                  <a:cs typeface="Times New Roman" panose="02020603050405020304" pitchFamily="18" charset="0"/>
                </a:rPr>
                <a:t>25</a:t>
              </a:r>
              <a:r>
                <a:rPr kumimoji="0" lang="zh-CN" altLang="en-US" sz="1600" b="0" i="0" u="none" strike="noStrike" cap="none" normalizeH="0" baseline="0" smtClean="0">
                  <a:ln>
                    <a:noFill/>
                  </a:ln>
                  <a:solidFill>
                    <a:schemeClr val="tx1"/>
                  </a:solidFill>
                  <a:effectLst/>
                  <a:latin typeface="+mn-ea"/>
                  <a:cs typeface="Times New Roman" panose="02020603050405020304" pitchFamily="18" charset="0"/>
                </a:rPr>
                <a:t>要求</a:t>
              </a:r>
              <a:endParaRPr kumimoji="0" lang="zh-CN" altLang="en-US" sz="1600" b="0" i="0" u="none" strike="noStrike" cap="none" normalizeH="0" baseline="0" smtClean="0">
                <a:ln>
                  <a:noFill/>
                </a:ln>
                <a:solidFill>
                  <a:schemeClr val="tx1"/>
                </a:solidFill>
                <a:effectLst/>
                <a:latin typeface="+mn-ea"/>
              </a:endParaRPr>
            </a:p>
          </p:txBody>
        </p:sp>
        <p:sp>
          <p:nvSpPr>
            <p:cNvPr id="93" name="Text Box 102"/>
            <p:cNvSpPr txBox="1">
              <a:spLocks noChangeArrowheads="1"/>
            </p:cNvSpPr>
            <p:nvPr/>
          </p:nvSpPr>
          <p:spPr bwMode="auto">
            <a:xfrm>
              <a:off x="9234" y="10588"/>
              <a:ext cx="819" cy="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技术支持</a:t>
              </a:r>
              <a:endParaRPr kumimoji="0" lang="zh-CN" sz="1600" b="0" i="0" u="none" strike="noStrike" cap="none" normalizeH="0" baseline="0" smtClean="0">
                <a:ln>
                  <a:noFill/>
                </a:ln>
                <a:solidFill>
                  <a:schemeClr val="tx1"/>
                </a:solidFill>
                <a:effectLst/>
                <a:latin typeface="+mn-ea"/>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提交</a:t>
              </a:r>
              <a:endParaRPr kumimoji="0" lang="zh-CN" sz="1600" b="0" i="0" u="none" strike="noStrike" cap="none" normalizeH="0" baseline="0" smtClean="0">
                <a:ln>
                  <a:noFill/>
                </a:ln>
                <a:solidFill>
                  <a:schemeClr val="tx1"/>
                </a:solidFill>
                <a:effectLst/>
                <a:latin typeface="+mn-ea"/>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报告</a:t>
              </a:r>
              <a:endParaRPr kumimoji="0" lang="zh-CN" sz="1600" b="0" i="0" u="none" strike="noStrike" cap="none" normalizeH="0" baseline="0" smtClean="0">
                <a:ln>
                  <a:noFill/>
                </a:ln>
                <a:solidFill>
                  <a:schemeClr val="tx1"/>
                </a:solidFill>
                <a:effectLst/>
                <a:latin typeface="+mn-ea"/>
              </a:endParaRPr>
            </a:p>
          </p:txBody>
        </p:sp>
        <p:sp>
          <p:nvSpPr>
            <p:cNvPr id="94" name="Text Box 101"/>
            <p:cNvSpPr txBox="1">
              <a:spLocks noChangeArrowheads="1"/>
            </p:cNvSpPr>
            <p:nvPr/>
          </p:nvSpPr>
          <p:spPr bwMode="auto">
            <a:xfrm>
              <a:off x="11439" y="10588"/>
              <a:ext cx="840" cy="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方案</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需求</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技术</a:t>
              </a:r>
              <a:endParaRPr kumimoji="0" lang="zh-CN" sz="1600" b="0" i="0" u="none" strike="noStrike" cap="none" normalizeH="0" baseline="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监管</a:t>
              </a:r>
              <a:endParaRPr kumimoji="0" lang="zh-CN" sz="1600" b="0" i="0" u="none" strike="noStrike" cap="none" normalizeH="0" baseline="0" smtClean="0">
                <a:ln>
                  <a:noFill/>
                </a:ln>
                <a:solidFill>
                  <a:schemeClr val="tx1"/>
                </a:solidFill>
                <a:effectLst/>
                <a:latin typeface="+mn-ea"/>
              </a:endParaRPr>
            </a:p>
          </p:txBody>
        </p:sp>
        <p:sp>
          <p:nvSpPr>
            <p:cNvPr id="95" name="Line 100"/>
            <p:cNvSpPr>
              <a:spLocks noChangeShapeType="1"/>
            </p:cNvSpPr>
            <p:nvPr/>
          </p:nvSpPr>
          <p:spPr bwMode="auto">
            <a:xfrm>
              <a:off x="8289" y="9813"/>
              <a:ext cx="126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96" name="Line 99"/>
            <p:cNvSpPr>
              <a:spLocks noChangeShapeType="1"/>
            </p:cNvSpPr>
            <p:nvPr/>
          </p:nvSpPr>
          <p:spPr bwMode="auto">
            <a:xfrm flipH="1">
              <a:off x="11964" y="12820"/>
              <a:ext cx="105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97" name="Line 98"/>
            <p:cNvSpPr>
              <a:spLocks noChangeShapeType="1"/>
            </p:cNvSpPr>
            <p:nvPr/>
          </p:nvSpPr>
          <p:spPr bwMode="auto">
            <a:xfrm>
              <a:off x="10179" y="10557"/>
              <a:ext cx="1" cy="195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98" name="Line 97"/>
            <p:cNvSpPr>
              <a:spLocks noChangeShapeType="1"/>
            </p:cNvSpPr>
            <p:nvPr/>
          </p:nvSpPr>
          <p:spPr bwMode="auto">
            <a:xfrm flipV="1">
              <a:off x="11271" y="10557"/>
              <a:ext cx="1" cy="192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99" name="Text Box 96"/>
            <p:cNvSpPr txBox="1">
              <a:spLocks noChangeArrowheads="1"/>
            </p:cNvSpPr>
            <p:nvPr/>
          </p:nvSpPr>
          <p:spPr bwMode="auto">
            <a:xfrm>
              <a:off x="13161" y="12572"/>
              <a:ext cx="2016" cy="496"/>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评估发起者</a:t>
              </a:r>
              <a:endParaRPr kumimoji="0" lang="zh-CN" sz="1600" b="0" i="0" u="none" strike="noStrike" cap="none" normalizeH="0" baseline="0" smtClean="0">
                <a:ln>
                  <a:noFill/>
                </a:ln>
                <a:solidFill>
                  <a:schemeClr val="tx1"/>
                </a:solidFill>
                <a:effectLst/>
                <a:latin typeface="+mn-ea"/>
              </a:endParaRPr>
            </a:p>
          </p:txBody>
        </p:sp>
        <p:sp>
          <p:nvSpPr>
            <p:cNvPr id="100" name="Text Box 95"/>
            <p:cNvSpPr txBox="1">
              <a:spLocks noChangeArrowheads="1"/>
            </p:cNvSpPr>
            <p:nvPr/>
          </p:nvSpPr>
          <p:spPr bwMode="auto">
            <a:xfrm>
              <a:off x="12594" y="11022"/>
              <a:ext cx="2562" cy="1271"/>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smtClean="0">
                  <a:ln>
                    <a:noFill/>
                  </a:ln>
                  <a:solidFill>
                    <a:schemeClr val="tx1"/>
                  </a:solidFill>
                  <a:effectLst/>
                  <a:latin typeface="+mn-ea"/>
                  <a:cs typeface="Times New Roman" panose="02020603050405020304" pitchFamily="18" charset="0"/>
                </a:rPr>
                <a:t>消费者群体：</a:t>
              </a:r>
              <a:endParaRPr kumimoji="0" lang="zh-CN" sz="1600" b="0" i="0" u="none" strike="noStrike" cap="none" normalizeH="0" baseline="0" dirty="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dirty="0" smtClean="0">
                  <a:ln>
                    <a:noFill/>
                  </a:ln>
                  <a:solidFill>
                    <a:schemeClr val="tx1"/>
                  </a:solidFill>
                  <a:effectLst/>
                  <a:latin typeface="+mn-ea"/>
                  <a:cs typeface="Times New Roman" panose="02020603050405020304" pitchFamily="18" charset="0"/>
                </a:rPr>
                <a:t>本国政府、本国非政府</a:t>
              </a:r>
              <a:endParaRPr kumimoji="0" lang="zh-CN" sz="1600" b="0" i="0" u="none" strike="noStrike" cap="none" normalizeH="0" baseline="0" dirty="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dirty="0" smtClean="0">
                  <a:ln>
                    <a:noFill/>
                  </a:ln>
                  <a:solidFill>
                    <a:schemeClr val="tx1"/>
                  </a:solidFill>
                  <a:effectLst/>
                  <a:latin typeface="+mn-ea"/>
                  <a:cs typeface="Times New Roman" panose="02020603050405020304" pitchFamily="18" charset="0"/>
                </a:rPr>
                <a:t>外国政府、外国非政府</a:t>
              </a:r>
              <a:endParaRPr kumimoji="0" lang="zh-CN" sz="1600" b="0" i="0" u="none" strike="noStrike" cap="none" normalizeH="0" baseline="0" dirty="0" smtClean="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600" b="0" i="0" u="none" strike="noStrike" cap="none" normalizeH="0" baseline="0" dirty="0" smtClean="0">
                  <a:ln>
                    <a:noFill/>
                  </a:ln>
                  <a:solidFill>
                    <a:schemeClr val="tx1"/>
                  </a:solidFill>
                  <a:effectLst/>
                  <a:latin typeface="+mn-ea"/>
                  <a:cs typeface="Times New Roman" panose="02020603050405020304" pitchFamily="18" charset="0"/>
                </a:rPr>
                <a:t>信息安全有关组织</a:t>
              </a:r>
              <a:endParaRPr kumimoji="0" lang="zh-CN" sz="1600" b="0" i="0" u="none" strike="noStrike" cap="none" normalizeH="0" baseline="0" dirty="0" smtClean="0">
                <a:ln>
                  <a:noFill/>
                </a:ln>
                <a:solidFill>
                  <a:schemeClr val="tx1"/>
                </a:solidFill>
                <a:effectLst/>
                <a:latin typeface="+mn-ea"/>
              </a:endParaRPr>
            </a:p>
          </p:txBody>
        </p:sp>
        <p:sp>
          <p:nvSpPr>
            <p:cNvPr id="101" name="Line 94"/>
            <p:cNvSpPr>
              <a:spLocks noChangeShapeType="1"/>
            </p:cNvSpPr>
            <p:nvPr/>
          </p:nvSpPr>
          <p:spPr bwMode="auto">
            <a:xfrm>
              <a:off x="11922" y="9627"/>
              <a:ext cx="819"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2" name="Line 93"/>
            <p:cNvSpPr>
              <a:spLocks noChangeShapeType="1"/>
            </p:cNvSpPr>
            <p:nvPr/>
          </p:nvSpPr>
          <p:spPr bwMode="auto">
            <a:xfrm>
              <a:off x="11922" y="9937"/>
              <a:ext cx="798"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3" name="Line 92"/>
            <p:cNvSpPr>
              <a:spLocks noChangeShapeType="1"/>
            </p:cNvSpPr>
            <p:nvPr/>
          </p:nvSpPr>
          <p:spPr bwMode="auto">
            <a:xfrm>
              <a:off x="11901" y="10278"/>
              <a:ext cx="819"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4" name="Line 91"/>
            <p:cNvSpPr>
              <a:spLocks noChangeShapeType="1"/>
            </p:cNvSpPr>
            <p:nvPr/>
          </p:nvSpPr>
          <p:spPr bwMode="auto">
            <a:xfrm>
              <a:off x="8478" y="12944"/>
              <a:ext cx="100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5" name="Line 90"/>
            <p:cNvSpPr>
              <a:spLocks noChangeShapeType="1"/>
            </p:cNvSpPr>
            <p:nvPr/>
          </p:nvSpPr>
          <p:spPr bwMode="auto">
            <a:xfrm>
              <a:off x="8289" y="10091"/>
              <a:ext cx="1281"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6" name="Text Box 89"/>
            <p:cNvSpPr txBox="1">
              <a:spLocks noChangeArrowheads="1"/>
            </p:cNvSpPr>
            <p:nvPr/>
          </p:nvSpPr>
          <p:spPr bwMode="auto">
            <a:xfrm>
              <a:off x="6168" y="11022"/>
              <a:ext cx="2310" cy="46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chemeClr val="tx1"/>
                  </a:solidFill>
                  <a:effectLst/>
                  <a:latin typeface="+mn-ea"/>
                  <a:cs typeface="Times New Roman" panose="02020603050405020304" pitchFamily="18" charset="0"/>
                </a:rPr>
                <a:t>实验室认可机构</a:t>
              </a:r>
              <a:endParaRPr kumimoji="0" lang="zh-CN" sz="1600" b="0" i="0" u="none" strike="noStrike" cap="none" normalizeH="0" baseline="0" smtClean="0">
                <a:ln>
                  <a:noFill/>
                </a:ln>
                <a:solidFill>
                  <a:schemeClr val="tx1"/>
                </a:solidFill>
                <a:effectLst/>
                <a:latin typeface="+mn-ea"/>
              </a:endParaRPr>
            </a:p>
          </p:txBody>
        </p:sp>
        <p:sp>
          <p:nvSpPr>
            <p:cNvPr id="107" name="Line 88"/>
            <p:cNvSpPr>
              <a:spLocks noChangeShapeType="1"/>
            </p:cNvSpPr>
            <p:nvPr/>
          </p:nvSpPr>
          <p:spPr bwMode="auto">
            <a:xfrm>
              <a:off x="7239" y="10433"/>
              <a:ext cx="0" cy="55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8" name="Line 87"/>
            <p:cNvSpPr>
              <a:spLocks noChangeShapeType="1"/>
            </p:cNvSpPr>
            <p:nvPr/>
          </p:nvSpPr>
          <p:spPr bwMode="auto">
            <a:xfrm>
              <a:off x="7239" y="10433"/>
              <a:ext cx="235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09" name="Line 86"/>
            <p:cNvSpPr>
              <a:spLocks noChangeShapeType="1"/>
            </p:cNvSpPr>
            <p:nvPr/>
          </p:nvSpPr>
          <p:spPr bwMode="auto">
            <a:xfrm>
              <a:off x="7218" y="11518"/>
              <a:ext cx="0" cy="10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10" name="Line 85"/>
            <p:cNvSpPr>
              <a:spLocks noChangeShapeType="1"/>
            </p:cNvSpPr>
            <p:nvPr/>
          </p:nvSpPr>
          <p:spPr bwMode="auto">
            <a:xfrm>
              <a:off x="7218" y="12602"/>
              <a:ext cx="2247"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sp>
          <p:nvSpPr>
            <p:cNvPr id="111" name="Line 84"/>
            <p:cNvSpPr>
              <a:spLocks noChangeShapeType="1"/>
            </p:cNvSpPr>
            <p:nvPr/>
          </p:nvSpPr>
          <p:spPr bwMode="auto">
            <a:xfrm>
              <a:off x="13930" y="10645"/>
              <a:ext cx="0" cy="34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latin typeface="+mn-ea"/>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512" y="1268760"/>
            <a:ext cx="3469081"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2"/>
                </a:solidFill>
              </a:rPr>
              <a:t>中国信息安全测评认证体系</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4567555" cy="548661"/>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0"/>
            </a:xfrm>
            <a:prstGeom prst="rect">
              <a:avLst/>
            </a:prstGeom>
            <a:noFill/>
          </p:spPr>
          <p:txBody>
            <a:bodyPr wrap="square" rtlCol="0">
              <a:spAutoFit/>
            </a:bodyPr>
            <a:lstStyle/>
            <a:p>
              <a:r>
                <a:rPr sz="2400" dirty="0" smtClean="0">
                  <a:solidFill>
                    <a:schemeClr val="bg2"/>
                  </a:solidFill>
                  <a:latin typeface="+mn-ea"/>
                  <a:sym typeface="+mn-ea"/>
                </a:rPr>
                <a:t>2.2.3 信息安全测评认证体系</a:t>
              </a:r>
              <a:endParaRPr lang="zh-CN" altLang="en-US" sz="2400" b="0" dirty="0">
                <a:solidFill>
                  <a:schemeClr val="bg2"/>
                </a:solidFill>
                <a:latin typeface="+mn-ea"/>
                <a:ea typeface="+mn-ea"/>
              </a:endParaRPr>
            </a:p>
          </p:txBody>
        </p:sp>
      </p:grpSp>
      <p:sp>
        <p:nvSpPr>
          <p:cNvPr id="17" name="TextBox 16"/>
          <p:cNvSpPr txBox="1"/>
          <p:nvPr/>
        </p:nvSpPr>
        <p:spPr>
          <a:xfrm>
            <a:off x="2596536" y="6412686"/>
            <a:ext cx="4602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2</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信息安全概述</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3" name="Rectangle 11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5"/>
          <p:cNvSpPr>
            <a:spLocks noGrp="1"/>
          </p:cNvSpPr>
          <p:nvPr>
            <p:ph sz="quarter" idx="13"/>
          </p:nvPr>
        </p:nvSpPr>
        <p:spPr>
          <a:xfrm>
            <a:off x="971600" y="2204864"/>
            <a:ext cx="7200652" cy="3312368"/>
          </a:xfrm>
          <a:ln>
            <a:solidFill>
              <a:schemeClr val="accent4">
                <a:lumMod val="75000"/>
              </a:schemeClr>
            </a:solidFill>
          </a:ln>
        </p:spPr>
        <p:txBody>
          <a:bodyPr>
            <a:normAutofit fontScale="55000" lnSpcReduction="20000"/>
          </a:bodyPr>
          <a:lstStyle/>
          <a:p>
            <a:pPr indent="-539750">
              <a:lnSpc>
                <a:spcPct val="170000"/>
              </a:lnSpc>
            </a:pPr>
            <a:r>
              <a:rPr lang="zh-CN" altLang="zh-CN" dirty="0"/>
              <a:t>中国国家信息安全测评认证中心是经国家授权，依据国家认证的法律、法规和信息安全管理的政策，并按照国际通用准则建立的中立的技术机构</a:t>
            </a:r>
            <a:r>
              <a:rPr lang="zh-CN" altLang="zh-CN" dirty="0" smtClean="0"/>
              <a:t>。</a:t>
            </a:r>
            <a:endParaRPr lang="en-US" altLang="zh-CN" dirty="0" smtClean="0"/>
          </a:p>
          <a:p>
            <a:pPr indent="-539750">
              <a:lnSpc>
                <a:spcPct val="170000"/>
              </a:lnSpc>
            </a:pPr>
            <a:r>
              <a:rPr lang="zh-CN" altLang="zh-CN" dirty="0" smtClean="0"/>
              <a:t> </a:t>
            </a:r>
            <a:r>
              <a:rPr lang="en-US" altLang="zh-CN" dirty="0" smtClean="0"/>
              <a:t>“</a:t>
            </a:r>
            <a:r>
              <a:rPr lang="zh-CN" altLang="zh-CN" dirty="0"/>
              <a:t>中华人民共和国国家信息安全证</a:t>
            </a:r>
            <a:r>
              <a:rPr lang="en-US" altLang="zh-CN" dirty="0"/>
              <a:t>”</a:t>
            </a:r>
            <a:r>
              <a:rPr lang="zh-CN" altLang="zh-CN" dirty="0"/>
              <a:t>是国家对信息安全技术、产品或系统安全质量的最高认可</a:t>
            </a:r>
            <a:r>
              <a:rPr lang="zh-CN" altLang="zh-CN" dirty="0" smtClean="0"/>
              <a:t>。</a:t>
            </a:r>
            <a:endParaRPr lang="en-US" altLang="zh-CN" dirty="0" smtClean="0"/>
          </a:p>
          <a:p>
            <a:pPr indent="-539750">
              <a:lnSpc>
                <a:spcPct val="170000"/>
              </a:lnSpc>
            </a:pPr>
            <a:r>
              <a:rPr lang="zh-CN" altLang="zh-CN" dirty="0" smtClean="0"/>
              <a:t>中国</a:t>
            </a:r>
            <a:r>
              <a:rPr lang="zh-CN" altLang="zh-CN" dirty="0"/>
              <a:t>国家信息安全测评认证中心开展以下四种认证业务：产品型号认证，产品认证，信息系统安全认证，信息安全服务认证。</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511" y="1124744"/>
            <a:ext cx="2610573"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2"/>
                </a:solidFill>
              </a:rPr>
              <a:t>密码理论与技术研究</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995936"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b="0" dirty="0" smtClean="0">
                  <a:solidFill>
                    <a:schemeClr val="bg2"/>
                  </a:solidFill>
                  <a:latin typeface="+mn-ea"/>
                  <a:ea typeface="+mn-ea"/>
                </a:rPr>
                <a:t>2.2.4 信息安全研究体系</a:t>
              </a:r>
              <a:endParaRPr sz="2400" b="0" dirty="0" smtClean="0">
                <a:solidFill>
                  <a:schemeClr val="bg2"/>
                </a:solidFill>
                <a:latin typeface="+mn-ea"/>
                <a:ea typeface="+mn-ea"/>
              </a:endParaRPr>
            </a:p>
          </p:txBody>
        </p:sp>
      </p:grpSp>
      <p:sp>
        <p:nvSpPr>
          <p:cNvPr id="17" name="TextBox 16"/>
          <p:cNvSpPr txBox="1"/>
          <p:nvPr/>
        </p:nvSpPr>
        <p:spPr>
          <a:xfrm>
            <a:off x="2596536" y="6412686"/>
            <a:ext cx="46024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2</a:t>
            </a:r>
            <a:r>
              <a:rPr lang="zh-CN" altLang="zh-CN" dirty="0" smtClean="0">
                <a:solidFill>
                  <a:schemeClr val="bg2"/>
                </a:solidFill>
              </a:rPr>
              <a:t>章</a:t>
            </a:r>
            <a:r>
              <a:rPr lang="en-US" altLang="zh-CN" dirty="0" smtClean="0">
                <a:solidFill>
                  <a:schemeClr val="bg2"/>
                </a:solidFill>
              </a:rPr>
              <a:t>  </a:t>
            </a:r>
            <a:r>
              <a:rPr lang="zh-CN" altLang="zh-CN" dirty="0" smtClean="0">
                <a:solidFill>
                  <a:schemeClr val="bg2"/>
                </a:solidFill>
              </a:rPr>
              <a:t>信息安全概述</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信息安全</a:t>
            </a:r>
            <a:r>
              <a:rPr lang="zh-CN" altLang="en-US" dirty="0">
                <a:solidFill>
                  <a:schemeClr val="bg2"/>
                </a:solidFill>
              </a:rPr>
              <a:t>体系</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3" name="Rectangle 11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五边形 11"/>
          <p:cNvSpPr/>
          <p:nvPr/>
        </p:nvSpPr>
        <p:spPr>
          <a:xfrm>
            <a:off x="-36512" y="2060848"/>
            <a:ext cx="2880320"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安全协议</a:t>
            </a:r>
            <a:r>
              <a:rPr lang="zh-CN" altLang="zh-CN" dirty="0" smtClean="0">
                <a:solidFill>
                  <a:schemeClr val="bg2"/>
                </a:solidFill>
              </a:rPr>
              <a:t>理论</a:t>
            </a:r>
            <a:r>
              <a:rPr lang="zh-CN" altLang="zh-CN" dirty="0">
                <a:solidFill>
                  <a:schemeClr val="bg2"/>
                </a:solidFill>
              </a:rPr>
              <a:t>与技术研究</a:t>
            </a:r>
            <a:endParaRPr lang="zh-CN" altLang="en-US" dirty="0">
              <a:solidFill>
                <a:schemeClr val="bg2"/>
              </a:solidFill>
            </a:endParaRPr>
          </a:p>
        </p:txBody>
      </p:sp>
      <p:sp>
        <p:nvSpPr>
          <p:cNvPr id="2" name="矩形 1"/>
          <p:cNvSpPr/>
          <p:nvPr/>
        </p:nvSpPr>
        <p:spPr>
          <a:xfrm>
            <a:off x="0" y="2564904"/>
            <a:ext cx="9144000" cy="369332"/>
          </a:xfrm>
          <a:prstGeom prst="rect">
            <a:avLst/>
          </a:prstGeom>
        </p:spPr>
        <p:txBody>
          <a:bodyPr wrap="square">
            <a:spAutoFit/>
          </a:bodyPr>
          <a:lstStyle/>
          <a:p>
            <a:r>
              <a:rPr lang="zh-CN" altLang="zh-CN" dirty="0"/>
              <a:t>安全协议的安全性分析方法研究和各种实用安全协议的设计与分析研究。</a:t>
            </a:r>
            <a:endParaRPr lang="zh-CN" altLang="en-US" dirty="0"/>
          </a:p>
        </p:txBody>
      </p:sp>
      <p:sp>
        <p:nvSpPr>
          <p:cNvPr id="8" name="矩形 7"/>
          <p:cNvSpPr/>
          <p:nvPr/>
        </p:nvSpPr>
        <p:spPr>
          <a:xfrm>
            <a:off x="-36512" y="1628800"/>
            <a:ext cx="8784976" cy="424732"/>
          </a:xfrm>
          <a:prstGeom prst="rect">
            <a:avLst/>
          </a:prstGeom>
        </p:spPr>
        <p:txBody>
          <a:bodyPr wrap="square">
            <a:spAutoFit/>
          </a:bodyPr>
          <a:lstStyle/>
          <a:p>
            <a:pPr indent="-539750">
              <a:lnSpc>
                <a:spcPct val="120000"/>
              </a:lnSpc>
            </a:pPr>
            <a:r>
              <a:rPr lang="zh-CN" altLang="zh-CN" dirty="0" smtClean="0"/>
              <a:t>包括</a:t>
            </a:r>
            <a:r>
              <a:rPr lang="zh-CN" altLang="zh-CN" dirty="0"/>
              <a:t>两部分，即基于数学的密码理论与技术和非数学的密码理论与技术。</a:t>
            </a:r>
            <a:endParaRPr lang="zh-CN" altLang="en-US" dirty="0"/>
          </a:p>
        </p:txBody>
      </p:sp>
      <p:sp>
        <p:nvSpPr>
          <p:cNvPr id="15" name="五边形 14"/>
          <p:cNvSpPr/>
          <p:nvPr/>
        </p:nvSpPr>
        <p:spPr>
          <a:xfrm>
            <a:off x="-36512" y="2924944"/>
            <a:ext cx="3312367"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2"/>
                </a:solidFill>
              </a:rPr>
              <a:t>安全体系结构理论与技术研究</a:t>
            </a:r>
            <a:endParaRPr lang="zh-CN" altLang="en-US" dirty="0">
              <a:solidFill>
                <a:schemeClr val="bg2"/>
              </a:solidFill>
            </a:endParaRPr>
          </a:p>
        </p:txBody>
      </p:sp>
      <p:sp>
        <p:nvSpPr>
          <p:cNvPr id="10" name="矩形 9"/>
          <p:cNvSpPr/>
          <p:nvPr/>
        </p:nvSpPr>
        <p:spPr>
          <a:xfrm>
            <a:off x="-36511" y="3430741"/>
            <a:ext cx="9180511" cy="646331"/>
          </a:xfrm>
          <a:prstGeom prst="rect">
            <a:avLst/>
          </a:prstGeom>
        </p:spPr>
        <p:txBody>
          <a:bodyPr wrap="square">
            <a:spAutoFit/>
          </a:bodyPr>
          <a:lstStyle/>
          <a:p>
            <a:r>
              <a:rPr lang="zh-CN" altLang="zh-CN" dirty="0"/>
              <a:t>安全体系模型的建立及其形式化描述与分析，安全策略和机制的研究，检验和评估系统安全性的科学方法和准则的建立，符合这些模型、策略和准则的系统的</a:t>
            </a:r>
            <a:r>
              <a:rPr lang="zh-CN" altLang="zh-CN" dirty="0" smtClean="0"/>
              <a:t>研制</a:t>
            </a:r>
            <a:r>
              <a:rPr lang="zh-CN" altLang="en-US" dirty="0" smtClean="0"/>
              <a:t>。</a:t>
            </a:r>
            <a:endParaRPr lang="zh-CN" altLang="en-US" dirty="0"/>
          </a:p>
        </p:txBody>
      </p:sp>
      <p:sp>
        <p:nvSpPr>
          <p:cNvPr id="18" name="五边形 17"/>
          <p:cNvSpPr/>
          <p:nvPr/>
        </p:nvSpPr>
        <p:spPr>
          <a:xfrm>
            <a:off x="-36513" y="5189731"/>
            <a:ext cx="2880322"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2"/>
                </a:solidFill>
              </a:rPr>
              <a:t>网络安全与安全产品研究</a:t>
            </a:r>
            <a:endParaRPr lang="zh-CN" altLang="en-US" dirty="0">
              <a:solidFill>
                <a:schemeClr val="bg2"/>
              </a:solidFill>
            </a:endParaRPr>
          </a:p>
        </p:txBody>
      </p:sp>
      <p:sp>
        <p:nvSpPr>
          <p:cNvPr id="11" name="矩形 10"/>
          <p:cNvSpPr/>
          <p:nvPr/>
        </p:nvSpPr>
        <p:spPr>
          <a:xfrm>
            <a:off x="-18256" y="4581128"/>
            <a:ext cx="9162256" cy="646331"/>
          </a:xfrm>
          <a:prstGeom prst="rect">
            <a:avLst/>
          </a:prstGeom>
        </p:spPr>
        <p:txBody>
          <a:bodyPr wrap="square">
            <a:spAutoFit/>
          </a:bodyPr>
          <a:lstStyle/>
          <a:p>
            <a:r>
              <a:rPr lang="zh-CN" altLang="zh-CN" dirty="0"/>
              <a:t>黑客防范体系，信息伪装理论与技术，信息分析与监控，入侵检测原理与技术，反击方法，应急响应系统，计算机病毒，人工免疫系统在反病毒和抗入侵系统中的应用等。</a:t>
            </a:r>
            <a:endParaRPr lang="zh-CN" altLang="en-US" dirty="0"/>
          </a:p>
        </p:txBody>
      </p:sp>
      <p:sp>
        <p:nvSpPr>
          <p:cNvPr id="19" name="五边形 18"/>
          <p:cNvSpPr/>
          <p:nvPr/>
        </p:nvSpPr>
        <p:spPr>
          <a:xfrm>
            <a:off x="-36512" y="4062772"/>
            <a:ext cx="2880320"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信息对抗</a:t>
            </a:r>
            <a:r>
              <a:rPr lang="zh-CN" altLang="zh-CN" dirty="0" smtClean="0">
                <a:solidFill>
                  <a:schemeClr val="bg2"/>
                </a:solidFill>
              </a:rPr>
              <a:t>理论</a:t>
            </a:r>
            <a:r>
              <a:rPr lang="zh-CN" altLang="zh-CN" dirty="0">
                <a:solidFill>
                  <a:schemeClr val="bg2"/>
                </a:solidFill>
              </a:rPr>
              <a:t>与技术研究</a:t>
            </a:r>
            <a:endParaRPr lang="zh-CN" altLang="en-US" dirty="0">
              <a:solidFill>
                <a:schemeClr val="bg2"/>
              </a:solidFill>
            </a:endParaRPr>
          </a:p>
        </p:txBody>
      </p:sp>
      <p:sp>
        <p:nvSpPr>
          <p:cNvPr id="16" name="矩形 15"/>
          <p:cNvSpPr/>
          <p:nvPr/>
        </p:nvSpPr>
        <p:spPr>
          <a:xfrm>
            <a:off x="-45700" y="5693787"/>
            <a:ext cx="9189700" cy="369332"/>
          </a:xfrm>
          <a:prstGeom prst="rect">
            <a:avLst/>
          </a:prstGeom>
        </p:spPr>
        <p:txBody>
          <a:bodyPr wrap="square">
            <a:spAutoFit/>
          </a:bodyPr>
          <a:lstStyle/>
          <a:p>
            <a:r>
              <a:rPr lang="zh-CN" altLang="zh-CN" dirty="0"/>
              <a:t>网络安全整体解决方案的设计与分析，网络安全产品的研发等。</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dirty="0" smtClean="0">
                <a:solidFill>
                  <a:schemeClr val="accent4">
                    <a:lumMod val="75000"/>
                  </a:schemeClr>
                </a:solidFill>
              </a:rPr>
              <a:t>2.3信息安全发展史</a:t>
            </a:r>
            <a:endParaRPr dirty="0" smtClean="0">
              <a:solidFill>
                <a:schemeClr val="accent4">
                  <a:lumMod val="75000"/>
                </a:schemeClr>
              </a:solidFill>
            </a:endParaRPr>
          </a:p>
        </p:txBody>
      </p:sp>
      <p:sp>
        <p:nvSpPr>
          <p:cNvPr id="9" name="矩形 8"/>
          <p:cNvSpPr/>
          <p:nvPr/>
        </p:nvSpPr>
        <p:spPr>
          <a:xfrm>
            <a:off x="3995936" y="3429000"/>
            <a:ext cx="4320480" cy="1568450"/>
          </a:xfrm>
          <a:prstGeom prst="rect">
            <a:avLst/>
          </a:prstGeom>
        </p:spPr>
        <p:txBody>
          <a:bodyPr wrap="square">
            <a:spAutoFit/>
          </a:bodyPr>
          <a:lstStyle/>
          <a:p>
            <a:r>
              <a:rPr sz="2400" dirty="0" smtClean="0">
                <a:solidFill>
                  <a:schemeClr val="accent4">
                    <a:lumMod val="75000"/>
                  </a:schemeClr>
                </a:solidFill>
                <a:latin typeface="+mn-ea"/>
              </a:rPr>
              <a:t>2.3.1信息安全发展</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2.3.2中国信息安全发展</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0" y="404664"/>
            <a:ext cx="5220072"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b="0" dirty="0" smtClean="0">
                  <a:solidFill>
                    <a:schemeClr val="bg2"/>
                  </a:solidFill>
                  <a:latin typeface="+mn-ea"/>
                </a:rPr>
                <a:t>2.3.1信息安全发展</a:t>
              </a:r>
              <a:endParaRPr sz="2400" b="0" dirty="0" smtClean="0">
                <a:solidFill>
                  <a:schemeClr val="bg2"/>
                </a:solidFill>
                <a:latin typeface="+mn-ea"/>
              </a:endParaRPr>
            </a:p>
          </p:txBody>
        </p:sp>
      </p:grpSp>
      <p:sp>
        <p:nvSpPr>
          <p:cNvPr id="17" name="TextBox 16"/>
          <p:cNvSpPr txBox="1"/>
          <p:nvPr/>
        </p:nvSpPr>
        <p:spPr>
          <a:xfrm>
            <a:off x="2482235" y="6412686"/>
            <a:ext cx="48310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2</a:t>
            </a:r>
            <a:r>
              <a:rPr lang="zh-CN" altLang="zh-CN" dirty="0" smtClean="0">
                <a:solidFill>
                  <a:schemeClr val="bg2"/>
                </a:solidFill>
              </a:rPr>
              <a:t>章</a:t>
            </a:r>
            <a:r>
              <a:rPr lang="en-US" altLang="zh-CN" dirty="0" smtClean="0">
                <a:solidFill>
                  <a:schemeClr val="bg2"/>
                </a:solidFill>
              </a:rPr>
              <a:t>  </a:t>
            </a:r>
            <a:r>
              <a:rPr lang="zh-CN" altLang="zh-CN" dirty="0" smtClean="0">
                <a:solidFill>
                  <a:schemeClr val="bg2"/>
                </a:solidFill>
              </a:rPr>
              <a:t>信息安全概述</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3</a:t>
            </a:r>
            <a:r>
              <a:rPr lang="zh-CN" altLang="en-US" dirty="0" smtClean="0">
                <a:solidFill>
                  <a:schemeClr val="bg2"/>
                </a:solidFill>
              </a:rPr>
              <a:t>节 </a:t>
            </a:r>
            <a:r>
              <a:rPr lang="zh-CN" dirty="0" smtClean="0">
                <a:solidFill>
                  <a:schemeClr val="bg2"/>
                </a:solidFill>
              </a:rPr>
              <a:t>信息安全发展史</a:t>
            </a:r>
            <a:endParaRPr lang="zh-CN" dirty="0" smtClean="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表格 7"/>
          <p:cNvGraphicFramePr>
            <a:graphicFrameLocks noGrp="1"/>
          </p:cNvGraphicFramePr>
          <p:nvPr/>
        </p:nvGraphicFramePr>
        <p:xfrm>
          <a:off x="326366" y="1397000"/>
          <a:ext cx="8494105" cy="4530711"/>
        </p:xfrm>
        <a:graphic>
          <a:graphicData uri="http://schemas.openxmlformats.org/drawingml/2006/table">
            <a:tbl>
              <a:tblPr firstRow="1" bandRow="1">
                <a:tableStyleId>{073A0DAA-6AF3-43AB-8588-CEC1D06C72B9}</a:tableStyleId>
              </a:tblPr>
              <a:tblGrid>
                <a:gridCol w="1698821"/>
                <a:gridCol w="1698821"/>
                <a:gridCol w="1698821"/>
                <a:gridCol w="1698821"/>
                <a:gridCol w="1698821"/>
              </a:tblGrid>
              <a:tr h="677799">
                <a:tc>
                  <a:txBody>
                    <a:bodyPr/>
                    <a:lstStyle/>
                    <a:p>
                      <a:r>
                        <a:rPr lang="zh-CN" altLang="en-US" dirty="0" smtClean="0"/>
                        <a:t>理论与技术</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c>
                  <a:txBody>
                    <a:bodyPr/>
                    <a:lstStyle/>
                    <a:p>
                      <a:r>
                        <a:rPr lang="en-US" altLang="zh-CN" dirty="0" smtClean="0"/>
                        <a:t>70</a:t>
                      </a:r>
                      <a:r>
                        <a:rPr lang="zh-CN" altLang="en-US" dirty="0" smtClean="0"/>
                        <a:t>年代</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c>
                  <a:txBody>
                    <a:bodyPr/>
                    <a:lstStyle/>
                    <a:p>
                      <a:r>
                        <a:rPr lang="en-US" altLang="zh-CN" dirty="0" smtClean="0"/>
                        <a:t>80</a:t>
                      </a:r>
                      <a:r>
                        <a:rPr lang="zh-CN" altLang="en-US" dirty="0" smtClean="0"/>
                        <a:t>年代</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c>
                  <a:txBody>
                    <a:bodyPr/>
                    <a:lstStyle/>
                    <a:p>
                      <a:r>
                        <a:rPr lang="en-US" altLang="zh-CN" dirty="0" smtClean="0"/>
                        <a:t>90</a:t>
                      </a:r>
                      <a:r>
                        <a:rPr lang="zh-CN" altLang="en-US" dirty="0" smtClean="0"/>
                        <a:t>年代</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c>
                  <a:txBody>
                    <a:bodyPr/>
                    <a:lstStyle/>
                    <a:p>
                      <a:r>
                        <a:rPr lang="en-US" altLang="zh-CN" dirty="0" smtClean="0"/>
                        <a:t>21</a:t>
                      </a:r>
                      <a:r>
                        <a:rPr lang="zh-CN" altLang="en-US" dirty="0" smtClean="0"/>
                        <a:t>世纪</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r>
              <a:tr h="677799">
                <a:tc>
                  <a:txBody>
                    <a:bodyPr/>
                    <a:lstStyle/>
                    <a:p>
                      <a:r>
                        <a:rPr lang="zh-CN" altLang="zh-CN" sz="1800" kern="1200" dirty="0" smtClean="0">
                          <a:solidFill>
                            <a:schemeClr val="dk1"/>
                          </a:solidFill>
                          <a:effectLst/>
                          <a:latin typeface="+mn-lt"/>
                          <a:ea typeface="+mn-ea"/>
                          <a:cs typeface="+mn-cs"/>
                        </a:rPr>
                        <a:t>密码</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公钥密码</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认证码</a:t>
                      </a:r>
                      <a:endParaRPr lang="en-US" altLang="zh-CN" sz="1800" kern="1200" dirty="0" smtClean="0">
                        <a:solidFill>
                          <a:schemeClr val="dk1"/>
                        </a:solidFill>
                        <a:effectLst/>
                        <a:latin typeface="+mn-lt"/>
                        <a:ea typeface="+mn-ea"/>
                        <a:cs typeface="+mn-cs"/>
                      </a:endParaRPr>
                    </a:p>
                    <a:p>
                      <a:r>
                        <a:rPr lang="zh-CN" altLang="zh-CN" sz="1800" kern="1200" dirty="0" smtClean="0">
                          <a:solidFill>
                            <a:schemeClr val="dk1"/>
                          </a:solidFill>
                          <a:effectLst/>
                          <a:latin typeface="+mn-lt"/>
                          <a:ea typeface="+mn-ea"/>
                          <a:cs typeface="+mn-cs"/>
                        </a:rPr>
                        <a:t>序列密码</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数字签名法</a:t>
                      </a:r>
                      <a:endParaRPr lang="en-US" altLang="zh-CN" sz="1800" kern="1200" dirty="0" smtClean="0">
                        <a:solidFill>
                          <a:schemeClr val="dk1"/>
                        </a:solidFill>
                        <a:effectLst/>
                        <a:latin typeface="+mn-lt"/>
                        <a:ea typeface="+mn-ea"/>
                        <a:cs typeface="+mn-cs"/>
                      </a:endParaRPr>
                    </a:p>
                    <a:p>
                      <a:r>
                        <a:rPr lang="zh-CN" altLang="zh-CN" sz="1800" kern="1200" dirty="0" smtClean="0">
                          <a:solidFill>
                            <a:schemeClr val="dk1"/>
                          </a:solidFill>
                          <a:effectLst/>
                          <a:latin typeface="+mn-lt"/>
                          <a:ea typeface="+mn-ea"/>
                          <a:cs typeface="+mn-cs"/>
                        </a:rPr>
                        <a:t>数据加密标准</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非数学的密码理论与技术</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r>
              <a:tr h="677799">
                <a:tc>
                  <a:txBody>
                    <a:bodyPr/>
                    <a:lstStyle/>
                    <a:p>
                      <a:r>
                        <a:rPr lang="zh-CN" altLang="en-US" dirty="0" smtClean="0"/>
                        <a:t>安全协议</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zh-CN"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形式化分析方法</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电子商务协议</a:t>
                      </a:r>
                      <a:r>
                        <a:rPr lang="en-US" altLang="zh-CN" sz="1800" kern="1200" dirty="0" err="1" smtClean="0">
                          <a:solidFill>
                            <a:schemeClr val="dk1"/>
                          </a:solidFill>
                          <a:effectLst/>
                          <a:latin typeface="+mn-lt"/>
                          <a:ea typeface="+mn-ea"/>
                          <a:cs typeface="+mn-cs"/>
                        </a:rPr>
                        <a:t>IPSec</a:t>
                      </a:r>
                      <a:r>
                        <a:rPr lang="zh-CN" altLang="zh-CN" sz="1800" kern="1200" dirty="0" smtClean="0">
                          <a:solidFill>
                            <a:schemeClr val="dk1"/>
                          </a:solidFill>
                          <a:effectLst/>
                          <a:latin typeface="+mn-lt"/>
                          <a:ea typeface="+mn-ea"/>
                          <a:cs typeface="+mn-cs"/>
                        </a:rPr>
                        <a:t>协议</a:t>
                      </a:r>
                      <a:endParaRPr lang="en-US" altLang="zh-CN" sz="1800" kern="1200" dirty="0" smtClean="0">
                        <a:solidFill>
                          <a:schemeClr val="dk1"/>
                        </a:solidFill>
                        <a:effectLst/>
                        <a:latin typeface="+mn-lt"/>
                        <a:ea typeface="+mn-ea"/>
                        <a:cs typeface="+mn-cs"/>
                      </a:endParaRPr>
                    </a:p>
                    <a:p>
                      <a:r>
                        <a:rPr lang="en-US" altLang="zh-CN" sz="1800" kern="1200" dirty="0" smtClean="0">
                          <a:solidFill>
                            <a:schemeClr val="dk1"/>
                          </a:solidFill>
                          <a:effectLst/>
                          <a:latin typeface="+mn-lt"/>
                          <a:ea typeface="+mn-ea"/>
                          <a:cs typeface="+mn-cs"/>
                        </a:rPr>
                        <a:t>TLS</a:t>
                      </a:r>
                      <a:r>
                        <a:rPr lang="zh-CN" altLang="zh-CN" sz="1800" kern="1200" dirty="0" smtClean="0">
                          <a:solidFill>
                            <a:schemeClr val="dk1"/>
                          </a:solidFill>
                          <a:effectLst/>
                          <a:latin typeface="+mn-lt"/>
                          <a:ea typeface="+mn-ea"/>
                          <a:cs typeface="+mn-cs"/>
                        </a:rPr>
                        <a:t>协议</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677799">
                <a:tc>
                  <a:txBody>
                    <a:bodyPr/>
                    <a:lstStyle/>
                    <a:p>
                      <a:r>
                        <a:rPr lang="zh-CN" altLang="en-US" dirty="0" smtClean="0"/>
                        <a:t>安全体系结构</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800" kern="1200" dirty="0" smtClean="0">
                          <a:solidFill>
                            <a:schemeClr val="dk1"/>
                          </a:solidFill>
                          <a:effectLst/>
                          <a:latin typeface="+mn-lt"/>
                          <a:ea typeface="+mn-ea"/>
                          <a:cs typeface="+mn-cs"/>
                        </a:rPr>
                        <a:t>ARPANET</a:t>
                      </a:r>
                      <a:endParaRPr lang="en-US" altLang="zh-CN" sz="1800" kern="1200" dirty="0" smtClean="0">
                        <a:solidFill>
                          <a:schemeClr val="dk1"/>
                        </a:solidFill>
                        <a:effectLst/>
                        <a:latin typeface="+mn-lt"/>
                        <a:ea typeface="+mn-ea"/>
                        <a:cs typeface="+mn-cs"/>
                      </a:endParaRPr>
                    </a:p>
                    <a:p>
                      <a:r>
                        <a:rPr lang="en-US" altLang="zh-CN" sz="1800" kern="1200" dirty="0" smtClean="0">
                          <a:solidFill>
                            <a:schemeClr val="dk1"/>
                          </a:solidFill>
                          <a:effectLst/>
                          <a:latin typeface="+mn-lt"/>
                          <a:ea typeface="+mn-ea"/>
                          <a:cs typeface="+mn-cs"/>
                        </a:rPr>
                        <a:t>BLP</a:t>
                      </a:r>
                      <a:r>
                        <a:rPr lang="zh-CN" altLang="zh-CN" sz="1800" kern="1200" dirty="0" smtClean="0">
                          <a:solidFill>
                            <a:schemeClr val="dk1"/>
                          </a:solidFill>
                          <a:effectLst/>
                          <a:latin typeface="+mn-lt"/>
                          <a:ea typeface="+mn-ea"/>
                          <a:cs typeface="+mn-cs"/>
                        </a:rPr>
                        <a:t>模型</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800" kern="1200" dirty="0" smtClean="0">
                          <a:solidFill>
                            <a:schemeClr val="dk1"/>
                          </a:solidFill>
                          <a:effectLst/>
                          <a:latin typeface="+mn-lt"/>
                          <a:ea typeface="+mn-ea"/>
                          <a:cs typeface="+mn-cs"/>
                        </a:rPr>
                        <a:t>TCSEC</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800" kern="1200" dirty="0" smtClean="0">
                          <a:solidFill>
                            <a:schemeClr val="dk1"/>
                          </a:solidFill>
                          <a:effectLst/>
                          <a:latin typeface="+mn-lt"/>
                          <a:ea typeface="+mn-ea"/>
                          <a:cs typeface="+mn-cs"/>
                        </a:rPr>
                        <a:t>CC for ITSEC</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800" kern="1200" dirty="0" smtClean="0">
                          <a:solidFill>
                            <a:schemeClr val="dk1"/>
                          </a:solidFill>
                          <a:effectLst/>
                          <a:latin typeface="+mn-lt"/>
                          <a:ea typeface="+mn-ea"/>
                          <a:cs typeface="+mn-cs"/>
                        </a:rPr>
                        <a:t>达到</a:t>
                      </a:r>
                      <a:r>
                        <a:rPr lang="en-US" altLang="zh-CN" sz="1800" kern="1200" dirty="0" smtClean="0">
                          <a:solidFill>
                            <a:schemeClr val="dk1"/>
                          </a:solidFill>
                          <a:effectLst/>
                          <a:latin typeface="+mn-lt"/>
                          <a:ea typeface="+mn-ea"/>
                          <a:cs typeface="+mn-cs"/>
                        </a:rPr>
                        <a:t>TCSEC</a:t>
                      </a:r>
                      <a:r>
                        <a:rPr lang="zh-CN" altLang="zh-CN" sz="1800" kern="1200" dirty="0" smtClean="0">
                          <a:solidFill>
                            <a:schemeClr val="dk1"/>
                          </a:solidFill>
                          <a:effectLst/>
                          <a:latin typeface="+mn-lt"/>
                          <a:ea typeface="+mn-ea"/>
                          <a:cs typeface="+mn-cs"/>
                        </a:rPr>
                        <a:t>要求</a:t>
                      </a:r>
                      <a:r>
                        <a:rPr lang="en-US" altLang="zh-CN" sz="1800" kern="1200" dirty="0" smtClean="0">
                          <a:solidFill>
                            <a:schemeClr val="dk1"/>
                          </a:solidFill>
                          <a:effectLst/>
                          <a:latin typeface="+mn-lt"/>
                          <a:ea typeface="+mn-ea"/>
                          <a:cs typeface="+mn-cs"/>
                        </a:rPr>
                        <a:t>100</a:t>
                      </a:r>
                      <a:r>
                        <a:rPr lang="zh-CN" altLang="en-US" sz="1800" kern="1200" dirty="0" smtClean="0">
                          <a:solidFill>
                            <a:schemeClr val="dk1"/>
                          </a:solidFill>
                          <a:effectLst/>
                          <a:latin typeface="+mn-lt"/>
                          <a:ea typeface="+mn-ea"/>
                          <a:cs typeface="+mn-cs"/>
                        </a:rPr>
                        <a:t>多种</a:t>
                      </a:r>
                      <a:endParaRPr lang="zh-CN" altLang="en-US" dirty="0" smtClean="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668514">
                <a:tc>
                  <a:txBody>
                    <a:bodyPr/>
                    <a:lstStyle/>
                    <a:p>
                      <a:r>
                        <a:rPr lang="zh-CN" altLang="en-US" dirty="0" smtClean="0"/>
                        <a:t>信息对抗</a:t>
                      </a:r>
                      <a:endParaRPr lang="zh-CN"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1800" kern="1200" dirty="0" smtClean="0">
                          <a:solidFill>
                            <a:schemeClr val="dk1"/>
                          </a:solidFill>
                          <a:effectLst/>
                          <a:latin typeface="+mn-lt"/>
                          <a:ea typeface="+mn-ea"/>
                          <a:cs typeface="+mn-cs"/>
                        </a:rPr>
                        <a:t>"</a:t>
                      </a:r>
                      <a:r>
                        <a:rPr lang="zh-CN" altLang="zh-CN" sz="1800" kern="1200" dirty="0" smtClean="0">
                          <a:solidFill>
                            <a:schemeClr val="dk1"/>
                          </a:solidFill>
                          <a:effectLst/>
                          <a:latin typeface="+mn-lt"/>
                          <a:ea typeface="+mn-ea"/>
                          <a:cs typeface="+mn-cs"/>
                        </a:rPr>
                        <a:t>蠕虫事件</a:t>
                      </a:r>
                      <a:r>
                        <a:rPr lang="en-US" altLang="zh-CN" sz="1800" kern="1200" dirty="0" smtClean="0">
                          <a:solidFill>
                            <a:schemeClr val="dk1"/>
                          </a:solidFill>
                          <a:effectLst/>
                          <a:latin typeface="+mn-lt"/>
                          <a:ea typeface="+mn-ea"/>
                          <a:cs typeface="+mn-cs"/>
                        </a:rPr>
                        <a:t>“</a:t>
                      </a:r>
                      <a:endParaRPr lang="en-US" altLang="zh-CN" sz="1800" kern="1200" dirty="0" smtClean="0">
                        <a:solidFill>
                          <a:schemeClr val="dk1"/>
                        </a:solidFill>
                        <a:effectLst/>
                        <a:latin typeface="+mn-lt"/>
                        <a:ea typeface="+mn-ea"/>
                        <a:cs typeface="+mn-cs"/>
                      </a:endParaRPr>
                    </a:p>
                    <a:p>
                      <a:r>
                        <a:rPr lang="en-US" altLang="zh-CN" sz="1800" kern="1200" dirty="0" smtClean="0">
                          <a:solidFill>
                            <a:schemeClr val="dk1"/>
                          </a:solidFill>
                          <a:effectLst/>
                          <a:latin typeface="+mn-lt"/>
                          <a:ea typeface="+mn-ea"/>
                          <a:cs typeface="+mn-cs"/>
                        </a:rPr>
                        <a:t>Y2k</a:t>
                      </a:r>
                      <a:r>
                        <a:rPr lang="zh-CN" altLang="zh-CN" sz="1800" kern="1200" dirty="0" smtClean="0">
                          <a:solidFill>
                            <a:schemeClr val="dk1"/>
                          </a:solidFill>
                          <a:effectLst/>
                          <a:latin typeface="+mn-lt"/>
                          <a:ea typeface="+mn-ea"/>
                          <a:cs typeface="+mn-cs"/>
                        </a:rPr>
                        <a:t>问题</a:t>
                      </a:r>
                      <a:endParaRPr lang="zh-CN"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计算机病毒</a:t>
                      </a:r>
                      <a:endParaRPr lang="en-US" altLang="zh-CN" sz="1800" kern="1200" dirty="0" smtClean="0">
                        <a:solidFill>
                          <a:schemeClr val="dk1"/>
                        </a:solidFill>
                        <a:effectLst/>
                        <a:latin typeface="+mn-lt"/>
                        <a:ea typeface="+mn-ea"/>
                        <a:cs typeface="+mn-cs"/>
                      </a:endParaRPr>
                    </a:p>
                    <a:p>
                      <a:r>
                        <a:rPr lang="zh-CN" altLang="zh-CN" sz="1800" kern="1200" dirty="0" smtClean="0">
                          <a:solidFill>
                            <a:schemeClr val="dk1"/>
                          </a:solidFill>
                          <a:effectLst/>
                          <a:latin typeface="+mn-lt"/>
                          <a:ea typeface="+mn-ea"/>
                          <a:cs typeface="+mn-cs"/>
                        </a:rPr>
                        <a:t>黑客攻击技术</a:t>
                      </a:r>
                      <a:endParaRPr lang="zh-CN"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网络攻击</a:t>
                      </a:r>
                      <a:endParaRPr lang="en-US" altLang="zh-CN" sz="1800" kern="1200" dirty="0" smtClean="0">
                        <a:solidFill>
                          <a:schemeClr val="dk1"/>
                        </a:solidFill>
                        <a:effectLst/>
                        <a:latin typeface="+mn-lt"/>
                        <a:ea typeface="+mn-ea"/>
                        <a:cs typeface="+mn-cs"/>
                      </a:endParaRPr>
                    </a:p>
                    <a:p>
                      <a:r>
                        <a:rPr lang="zh-CN" altLang="zh-CN" sz="1800" kern="1200" dirty="0" smtClean="0">
                          <a:solidFill>
                            <a:schemeClr val="dk1"/>
                          </a:solidFill>
                          <a:effectLst/>
                          <a:latin typeface="+mn-lt"/>
                          <a:ea typeface="+mn-ea"/>
                          <a:cs typeface="+mn-cs"/>
                        </a:rPr>
                        <a:t>入侵检测与防范</a:t>
                      </a:r>
                      <a:endParaRPr lang="zh-CN" alt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8514">
                <a:tc>
                  <a:txBody>
                    <a:bodyPr/>
                    <a:lstStyle/>
                    <a:p>
                      <a:r>
                        <a:rPr lang="zh-CN" altLang="en-US" dirty="0" smtClean="0"/>
                        <a:t>安全产品</a:t>
                      </a:r>
                      <a:endParaRPr lang="zh-CN" altLang="en-US"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zh-CN" altLang="en-US"/>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zh-CN" altLang="en-US"/>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zh-CN" altLang="en-US"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zh-CN" altLang="zh-CN" sz="1800" kern="1200" dirty="0" smtClean="0">
                          <a:solidFill>
                            <a:schemeClr val="dk1"/>
                          </a:solidFill>
                          <a:effectLst/>
                          <a:latin typeface="+mn-lt"/>
                          <a:ea typeface="+mn-ea"/>
                          <a:cs typeface="+mn-cs"/>
                        </a:rPr>
                        <a:t>防火墙</a:t>
                      </a:r>
                      <a:endParaRPr lang="en-US" altLang="zh-CN" sz="1800" kern="1200" dirty="0" smtClean="0">
                        <a:solidFill>
                          <a:schemeClr val="dk1"/>
                        </a:solidFill>
                        <a:effectLst/>
                        <a:latin typeface="+mn-lt"/>
                        <a:ea typeface="+mn-ea"/>
                        <a:cs typeface="+mn-cs"/>
                      </a:endParaRPr>
                    </a:p>
                    <a:p>
                      <a:r>
                        <a:rPr lang="zh-CN" altLang="zh-CN" sz="1800" kern="1200" dirty="0" smtClean="0">
                          <a:solidFill>
                            <a:schemeClr val="dk1"/>
                          </a:solidFill>
                          <a:effectLst/>
                          <a:latin typeface="+mn-lt"/>
                          <a:ea typeface="+mn-ea"/>
                          <a:cs typeface="+mn-cs"/>
                        </a:rPr>
                        <a:t>安全路由器</a:t>
                      </a:r>
                      <a:r>
                        <a:rPr lang="en-US" altLang="zh-CN" sz="1800" kern="1200" baseline="0" dirty="0" smtClean="0">
                          <a:solidFill>
                            <a:schemeClr val="dk1"/>
                          </a:solidFill>
                          <a:effectLst/>
                          <a:latin typeface="+mn-lt"/>
                          <a:ea typeface="+mn-ea"/>
                          <a:cs typeface="+mn-cs"/>
                        </a:rPr>
                        <a:t> </a:t>
                      </a:r>
                      <a:r>
                        <a:rPr lang="zh-CN" altLang="en-US" sz="1800" kern="1200" baseline="0" dirty="0" smtClean="0">
                          <a:solidFill>
                            <a:schemeClr val="dk1"/>
                          </a:solidFill>
                          <a:effectLst/>
                          <a:latin typeface="+mn-lt"/>
                          <a:ea typeface="+mn-ea"/>
                          <a:cs typeface="+mn-cs"/>
                        </a:rPr>
                        <a:t>等</a:t>
                      </a:r>
                      <a:endParaRPr lang="zh-CN" altLang="zh-CN" sz="1800" kern="1200" dirty="0" smtClean="0">
                        <a:solidFill>
                          <a:schemeClr val="dk1"/>
                        </a:solidFill>
                        <a:effectLst/>
                        <a:latin typeface="+mn-lt"/>
                        <a:ea typeface="+mn-ea"/>
                        <a:cs typeface="+mn-cs"/>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0805" y="-18415"/>
            <a:ext cx="388747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b="0" dirty="0" smtClean="0">
                  <a:solidFill>
                    <a:schemeClr val="bg2"/>
                  </a:solidFill>
                  <a:latin typeface="+mn-ea"/>
                </a:rPr>
                <a:t>2.3.2中国信息安全发展</a:t>
              </a:r>
              <a:endParaRPr sz="2400" b="0" dirty="0" smtClean="0">
                <a:solidFill>
                  <a:schemeClr val="bg2"/>
                </a:solidFill>
                <a:latin typeface="+mn-ea"/>
              </a:endParaRPr>
            </a:p>
          </p:txBody>
        </p:sp>
      </p:grpSp>
      <p:sp>
        <p:nvSpPr>
          <p:cNvPr id="17" name="TextBox 16"/>
          <p:cNvSpPr txBox="1"/>
          <p:nvPr/>
        </p:nvSpPr>
        <p:spPr>
          <a:xfrm>
            <a:off x="2482235" y="6412686"/>
            <a:ext cx="48310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2</a:t>
            </a:r>
            <a:r>
              <a:rPr lang="zh-CN" altLang="zh-CN" dirty="0" smtClean="0">
                <a:solidFill>
                  <a:schemeClr val="bg2"/>
                </a:solidFill>
              </a:rPr>
              <a:t>章</a:t>
            </a:r>
            <a:r>
              <a:rPr lang="en-US" altLang="zh-CN" dirty="0" smtClean="0">
                <a:solidFill>
                  <a:schemeClr val="bg2"/>
                </a:solidFill>
              </a:rPr>
              <a:t>  </a:t>
            </a:r>
            <a:r>
              <a:rPr lang="zh-CN" altLang="zh-CN" dirty="0" smtClean="0">
                <a:solidFill>
                  <a:schemeClr val="bg2"/>
                </a:solidFill>
              </a:rPr>
              <a:t>信息安全概述</a:t>
            </a:r>
            <a:r>
              <a:rPr lang="en-US" altLang="zh-CN" dirty="0" smtClean="0">
                <a:solidFill>
                  <a:schemeClr val="bg2"/>
                </a:solidFill>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a:t>
            </a:r>
            <a:r>
              <a:rPr lang="zh-CN" dirty="0" smtClean="0">
                <a:solidFill>
                  <a:schemeClr val="bg2"/>
                </a:solidFill>
                <a:sym typeface="+mn-ea"/>
              </a:rPr>
              <a:t>信息安全发展史</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五边形 9"/>
          <p:cNvSpPr/>
          <p:nvPr/>
        </p:nvSpPr>
        <p:spPr>
          <a:xfrm>
            <a:off x="-36195" y="608330"/>
            <a:ext cx="131953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初期</a:t>
            </a:r>
            <a:endParaRPr lang="zh-CN" altLang="en-US" dirty="0">
              <a:solidFill>
                <a:schemeClr val="bg2"/>
              </a:solidFill>
            </a:endParaRPr>
          </a:p>
        </p:txBody>
      </p:sp>
      <p:sp>
        <p:nvSpPr>
          <p:cNvPr id="11" name="五边形 10"/>
          <p:cNvSpPr/>
          <p:nvPr/>
        </p:nvSpPr>
        <p:spPr>
          <a:xfrm>
            <a:off x="-36195" y="2513965"/>
            <a:ext cx="280035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dirty="0" smtClean="0">
                <a:solidFill>
                  <a:schemeClr val="bg2"/>
                </a:solidFill>
              </a:rPr>
              <a:t>21世纪的信息安全现状</a:t>
            </a:r>
            <a:endParaRPr dirty="0" smtClean="0">
              <a:solidFill>
                <a:schemeClr val="bg2"/>
              </a:solidFill>
            </a:endParaRPr>
          </a:p>
        </p:txBody>
      </p:sp>
      <p:sp>
        <p:nvSpPr>
          <p:cNvPr id="2" name="矩形 1"/>
          <p:cNvSpPr/>
          <p:nvPr/>
        </p:nvSpPr>
        <p:spPr>
          <a:xfrm>
            <a:off x="1283335" y="676275"/>
            <a:ext cx="7475220" cy="368300"/>
          </a:xfrm>
          <a:prstGeom prst="rect">
            <a:avLst/>
          </a:prstGeom>
          <a:ln>
            <a:solidFill>
              <a:schemeClr val="accent4">
                <a:lumMod val="75000"/>
              </a:schemeClr>
            </a:solidFill>
          </a:ln>
        </p:spPr>
        <p:txBody>
          <a:bodyPr wrap="square">
            <a:spAutoFit/>
          </a:bodyPr>
          <a:lstStyle/>
          <a:p>
            <a:r>
              <a:rPr lang="zh-CN" altLang="zh-CN" sz="1600" dirty="0"/>
              <a:t>较国外存在很大差距，理论基础和自主的技术手段也需要发展和强化</a:t>
            </a:r>
            <a:r>
              <a:rPr lang="zh-CN" altLang="zh-CN" dirty="0"/>
              <a:t>。</a:t>
            </a:r>
            <a:endParaRPr lang="zh-CN" altLang="en-US" dirty="0"/>
          </a:p>
        </p:txBody>
      </p:sp>
      <p:sp>
        <p:nvSpPr>
          <p:cNvPr id="4" name="矩形 3"/>
          <p:cNvSpPr/>
          <p:nvPr/>
        </p:nvSpPr>
        <p:spPr>
          <a:xfrm>
            <a:off x="329493" y="3099445"/>
            <a:ext cx="8485014" cy="3046095"/>
          </a:xfrm>
          <a:prstGeom prst="rect">
            <a:avLst/>
          </a:prstGeom>
          <a:ln>
            <a:solidFill>
              <a:schemeClr val="accent4">
                <a:lumMod val="75000"/>
              </a:schemeClr>
            </a:solidFill>
          </a:ln>
        </p:spPr>
        <p:txBody>
          <a:bodyPr wrap="square">
            <a:spAutoFit/>
          </a:bodyPr>
          <a:lstStyle/>
          <a:p>
            <a:r>
              <a:rPr lang="zh-CN" altLang="zh-CN" sz="1600" dirty="0"/>
              <a:t>（</a:t>
            </a:r>
            <a:r>
              <a:rPr lang="en-US" altLang="zh-CN" sz="1600" dirty="0"/>
              <a:t>1</a:t>
            </a:r>
            <a:r>
              <a:rPr lang="zh-CN" altLang="zh-CN" sz="1600" dirty="0"/>
              <a:t>）在密码理论与技术研究</a:t>
            </a:r>
            <a:r>
              <a:rPr lang="zh-CN" altLang="zh-CN" sz="1600" dirty="0" smtClean="0"/>
              <a:t>方面</a:t>
            </a:r>
            <a:endParaRPr lang="en-US" altLang="zh-CN" sz="1600" dirty="0" smtClean="0"/>
          </a:p>
          <a:p>
            <a:r>
              <a:rPr lang="en-US" altLang="zh-CN" sz="1600" dirty="0" smtClean="0"/>
              <a:t>RSA</a:t>
            </a:r>
            <a:r>
              <a:rPr lang="zh-CN" altLang="zh-CN" sz="1600" dirty="0"/>
              <a:t>的快速实现和椭圆曲线公钥密码的快速实现方面都有所</a:t>
            </a:r>
            <a:r>
              <a:rPr lang="zh-CN" altLang="zh-CN" sz="1600" dirty="0" smtClean="0"/>
              <a:t>突破</a:t>
            </a:r>
            <a:r>
              <a:rPr lang="zh-CN" altLang="en-US" sz="1600" dirty="0" smtClean="0"/>
              <a:t>。</a:t>
            </a:r>
            <a:endParaRPr lang="zh-CN" altLang="zh-CN" sz="1600" dirty="0"/>
          </a:p>
          <a:p>
            <a:r>
              <a:rPr lang="zh-CN" altLang="zh-CN" sz="1600" dirty="0"/>
              <a:t>（</a:t>
            </a:r>
            <a:r>
              <a:rPr lang="en-US" altLang="zh-CN" sz="1600" dirty="0"/>
              <a:t>2</a:t>
            </a:r>
            <a:r>
              <a:rPr lang="zh-CN" altLang="zh-CN" sz="1600" dirty="0"/>
              <a:t>）在安全协议理论与技术研究</a:t>
            </a:r>
            <a:r>
              <a:rPr lang="zh-CN" altLang="zh-CN" sz="1600" dirty="0" smtClean="0"/>
              <a:t>方面</a:t>
            </a:r>
            <a:endParaRPr lang="en-US" altLang="zh-CN" sz="1600" dirty="0" smtClean="0"/>
          </a:p>
          <a:p>
            <a:r>
              <a:rPr lang="zh-CN" altLang="zh-CN" sz="1600" dirty="0" smtClean="0"/>
              <a:t>在</a:t>
            </a:r>
            <a:r>
              <a:rPr lang="zh-CN" altLang="zh-CN" sz="1600" dirty="0"/>
              <a:t>理论研究方面和国际上已有协议的分析方面做了一些</a:t>
            </a:r>
            <a:r>
              <a:rPr lang="zh-CN" altLang="zh-CN" sz="1600" dirty="0" smtClean="0"/>
              <a:t>工作。</a:t>
            </a:r>
            <a:endParaRPr lang="zh-CN" altLang="zh-CN" sz="1600" dirty="0"/>
          </a:p>
          <a:p>
            <a:r>
              <a:rPr lang="zh-CN" altLang="zh-CN" sz="1600" dirty="0"/>
              <a:t>（</a:t>
            </a:r>
            <a:r>
              <a:rPr lang="en-US" altLang="zh-CN" sz="1600" dirty="0"/>
              <a:t>3</a:t>
            </a:r>
            <a:r>
              <a:rPr lang="zh-CN" altLang="zh-CN" sz="1600" dirty="0"/>
              <a:t>）在安全体系结构理论与技术研究</a:t>
            </a:r>
            <a:r>
              <a:rPr lang="zh-CN" altLang="zh-CN" sz="1600" dirty="0" smtClean="0"/>
              <a:t>方面</a:t>
            </a:r>
            <a:endParaRPr lang="en-US" altLang="zh-CN" sz="1600" dirty="0" smtClean="0"/>
          </a:p>
          <a:p>
            <a:r>
              <a:rPr lang="en-US" altLang="zh-CN" sz="1600" dirty="0" smtClean="0"/>
              <a:t>1999</a:t>
            </a:r>
            <a:r>
              <a:rPr lang="zh-CN" altLang="zh-CN" sz="1600" dirty="0"/>
              <a:t>年</a:t>
            </a:r>
            <a:r>
              <a:rPr lang="en-US" altLang="zh-CN" sz="1600" dirty="0"/>
              <a:t>10</a:t>
            </a:r>
            <a:r>
              <a:rPr lang="zh-CN" altLang="zh-CN" sz="1600" dirty="0"/>
              <a:t>月发布</a:t>
            </a:r>
            <a:r>
              <a:rPr lang="zh-CN" altLang="zh-CN" sz="1600" dirty="0" smtClean="0"/>
              <a:t>了</a:t>
            </a:r>
            <a:r>
              <a:rPr lang="en-US" altLang="zh-CN" sz="1600" dirty="0" smtClean="0"/>
              <a:t>“</a:t>
            </a:r>
            <a:r>
              <a:rPr lang="zh-CN" altLang="zh-CN" sz="1600" dirty="0" smtClean="0"/>
              <a:t>计算机</a:t>
            </a:r>
            <a:r>
              <a:rPr lang="zh-CN" altLang="zh-CN" sz="1600" dirty="0"/>
              <a:t>信息系统安全保护等级划分</a:t>
            </a:r>
            <a:r>
              <a:rPr lang="zh-CN" altLang="zh-CN" sz="1600" dirty="0" smtClean="0"/>
              <a:t>准则</a:t>
            </a:r>
            <a:r>
              <a:rPr lang="en-US" altLang="zh-CN" sz="1600" dirty="0" smtClean="0"/>
              <a:t>”</a:t>
            </a:r>
            <a:r>
              <a:rPr lang="zh-CN" altLang="zh-CN" sz="1600" dirty="0" smtClean="0"/>
              <a:t>。</a:t>
            </a:r>
            <a:endParaRPr lang="zh-CN" altLang="zh-CN" sz="1600" dirty="0"/>
          </a:p>
          <a:p>
            <a:r>
              <a:rPr lang="zh-CN" altLang="zh-CN" sz="1600" dirty="0"/>
              <a:t>（</a:t>
            </a:r>
            <a:r>
              <a:rPr lang="en-US" altLang="zh-CN" sz="1600" dirty="0"/>
              <a:t>4</a:t>
            </a:r>
            <a:r>
              <a:rPr lang="zh-CN" altLang="zh-CN" sz="1600" dirty="0"/>
              <a:t>）在信息对抗理论与技术研究</a:t>
            </a:r>
            <a:r>
              <a:rPr lang="zh-CN" altLang="zh-CN" sz="1600" dirty="0" smtClean="0"/>
              <a:t>方面</a:t>
            </a:r>
            <a:endParaRPr lang="en-US" altLang="zh-CN" sz="1600" dirty="0" smtClean="0"/>
          </a:p>
          <a:p>
            <a:r>
              <a:rPr lang="zh-CN" altLang="zh-CN" sz="1600" dirty="0" smtClean="0"/>
              <a:t>网络</a:t>
            </a:r>
            <a:r>
              <a:rPr lang="zh-CN" altLang="zh-CN" sz="1600" dirty="0"/>
              <a:t>攻击研究刚刚</a:t>
            </a:r>
            <a:r>
              <a:rPr lang="zh-CN" altLang="zh-CN" sz="1600" dirty="0" smtClean="0"/>
              <a:t>起步。</a:t>
            </a:r>
            <a:endParaRPr lang="zh-CN" altLang="zh-CN" sz="1600" dirty="0"/>
          </a:p>
          <a:p>
            <a:r>
              <a:rPr lang="zh-CN" altLang="zh-CN" sz="1600" dirty="0"/>
              <a:t>（</a:t>
            </a:r>
            <a:r>
              <a:rPr lang="en-US" altLang="zh-CN" sz="1600" dirty="0"/>
              <a:t>5</a:t>
            </a:r>
            <a:r>
              <a:rPr lang="zh-CN" altLang="zh-CN" sz="1600" dirty="0"/>
              <a:t>）在网络安全与安全产品研究</a:t>
            </a:r>
            <a:r>
              <a:rPr lang="zh-CN" altLang="zh-CN" sz="1600" dirty="0" smtClean="0"/>
              <a:t>方面</a:t>
            </a:r>
            <a:endParaRPr lang="en-US" altLang="zh-CN" sz="1600" dirty="0" smtClean="0"/>
          </a:p>
          <a:p>
            <a:r>
              <a:rPr lang="zh-CN" altLang="zh-CN" sz="1600" dirty="0" smtClean="0"/>
              <a:t>目前</a:t>
            </a:r>
            <a:r>
              <a:rPr lang="zh-CN" altLang="zh-CN" sz="1600" dirty="0"/>
              <a:t>国内已有一些网络安全解决方案和</a:t>
            </a:r>
            <a:r>
              <a:rPr lang="zh-CN" altLang="zh-CN" sz="1600" dirty="0" smtClean="0"/>
              <a:t>产品</a:t>
            </a:r>
            <a:r>
              <a:rPr lang="zh-CN" altLang="en-US" sz="1600" dirty="0" smtClean="0"/>
              <a:t>。</a:t>
            </a:r>
            <a:endParaRPr lang="en-US" altLang="zh-CN" sz="1600" dirty="0"/>
          </a:p>
          <a:p>
            <a:r>
              <a:rPr lang="en-US" altLang="zh-CN" sz="1600" dirty="0" smtClean="0"/>
              <a:t>·········</a:t>
            </a:r>
            <a:r>
              <a:rPr lang="zh-CN" altLang="zh-CN" sz="1600" dirty="0" smtClean="0"/>
              <a:t>我国</a:t>
            </a:r>
            <a:r>
              <a:rPr lang="zh-CN" altLang="zh-CN" sz="1600" dirty="0"/>
              <a:t>信息安全的研究发展很快，但是很不平衡。有些方面达到了世界先进水，有些方面依然存在很大的距离。</a:t>
            </a:r>
            <a:endParaRPr lang="zh-CN" altLang="zh-CN" sz="1600" dirty="0"/>
          </a:p>
        </p:txBody>
      </p:sp>
      <p:sp>
        <p:nvSpPr>
          <p:cNvPr id="5" name="五边形 4"/>
          <p:cNvSpPr/>
          <p:nvPr/>
        </p:nvSpPr>
        <p:spPr>
          <a:xfrm>
            <a:off x="-36195" y="1560830"/>
            <a:ext cx="207391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90年代信息安全</a:t>
            </a:r>
            <a:endParaRPr lang="zh-CN" altLang="en-US" dirty="0" smtClean="0">
              <a:solidFill>
                <a:schemeClr val="bg2"/>
              </a:solidFill>
            </a:endParaRPr>
          </a:p>
        </p:txBody>
      </p:sp>
      <p:sp>
        <p:nvSpPr>
          <p:cNvPr id="6" name="矩形 5"/>
          <p:cNvSpPr/>
          <p:nvPr/>
        </p:nvSpPr>
        <p:spPr>
          <a:xfrm>
            <a:off x="2037715" y="1151890"/>
            <a:ext cx="6908800" cy="1322070"/>
          </a:xfrm>
          <a:prstGeom prst="rect">
            <a:avLst/>
          </a:prstGeom>
          <a:ln>
            <a:solidFill>
              <a:schemeClr val="accent4">
                <a:lumMod val="75000"/>
              </a:schemeClr>
            </a:solidFill>
          </a:ln>
        </p:spPr>
        <p:txBody>
          <a:bodyPr wrap="square">
            <a:spAutoFit/>
          </a:bodyPr>
          <a:p>
            <a:r>
              <a:rPr lang="zh-CN" altLang="zh-CN" sz="1600" dirty="0"/>
              <a:t>在这个阶段，一个典型的标志就是关于计算机安全的法律法规开始出现——1994年公安部颁布了“中华人民共和国计算机信息系统安全保护条例”。另一个中国安全产业起步的重要标志是，在这个时期中，许多企事业单位开始把信息安全作为系统建设中的重要内容之一来对待，加大了投入，开始建立专门的安全部门来开展信息安全工作。</a:t>
            </a:r>
            <a:endParaRPr lang="zh-CN" altLang="zh-CN" sz="1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配色方案 来自PPT识色盒">
      <a:dk1>
        <a:srgbClr val="111111"/>
      </a:dk1>
      <a:lt1>
        <a:srgbClr val="FFFFFF"/>
      </a:lt1>
      <a:dk2>
        <a:srgbClr val="777777"/>
      </a:dk2>
      <a:lt2>
        <a:srgbClr val="B2B2B2"/>
      </a:lt2>
      <a:accent1>
        <a:srgbClr val="E7712F"/>
      </a:accent1>
      <a:accent2>
        <a:srgbClr val="EF993C"/>
      </a:accent2>
      <a:accent3>
        <a:srgbClr val="2B70B3"/>
      </a:accent3>
      <a:accent4>
        <a:srgbClr val="1D3752"/>
      </a:accent4>
      <a:accent5>
        <a:srgbClr val="2B5D6F"/>
      </a:accent5>
      <a:accent6>
        <a:srgbClr val="E5BD5C"/>
      </a:accent6>
      <a:hlink>
        <a:srgbClr val="373737"/>
      </a:hlink>
      <a:folHlink>
        <a:srgbClr val="6E6E6E"/>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4028</Words>
  <Application>WPS 演示</Application>
  <PresentationFormat>全屏显示(4:3)</PresentationFormat>
  <Paragraphs>402</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宋体</vt:lpstr>
      <vt:lpstr>Wingdings</vt:lpstr>
      <vt:lpstr>Times New Roman</vt:lpstr>
      <vt:lpstr>微软雅黑</vt:lpstr>
      <vt:lpstr>Arial Unicode MS</vt:lpstr>
      <vt:lpstr>Calibri</vt:lpstr>
      <vt:lpstr>Office 主题​​</vt:lpstr>
      <vt:lpstr>第2章  信息安全概述</vt:lpstr>
      <vt:lpstr>PowerPoint 演示文稿</vt:lpstr>
      <vt:lpstr>2.1 信息安全的基本概念</vt:lpstr>
      <vt:lpstr>PowerPoint 演示文稿</vt:lpstr>
      <vt:lpstr>PowerPoint 演示文稿</vt:lpstr>
      <vt:lpstr>PowerPoint 演示文稿</vt:lpstr>
      <vt:lpstr>PowerPoint 演示文稿</vt:lpstr>
      <vt:lpstr>2.2 信息安全体系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2.3信息安全发展史</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cp:lastModifiedBy>
  <cp:revision>39</cp:revision>
  <dcterms:created xsi:type="dcterms:W3CDTF">2014-04-02T09:55:00Z</dcterms:created>
  <dcterms:modified xsi:type="dcterms:W3CDTF">2019-08-23T07:37:39Z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2052-11.1.0.8813</vt:lpwstr>
  </property>
</Properties>
</file>