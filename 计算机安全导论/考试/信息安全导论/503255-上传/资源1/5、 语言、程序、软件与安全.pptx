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3" r:id="rId6"/>
    <p:sldId id="335" r:id="rId7"/>
    <p:sldId id="336" r:id="rId8"/>
    <p:sldId id="339" r:id="rId9"/>
    <p:sldId id="340" r:id="rId10"/>
    <p:sldId id="341" r:id="rId11"/>
    <p:sldId id="342" r:id="rId12"/>
    <p:sldId id="343" r:id="rId13"/>
    <p:sldId id="344" r:id="rId14"/>
    <p:sldId id="345" r:id="rId15"/>
    <p:sldId id="346" r:id="rId16"/>
    <p:sldId id="348" r:id="rId17"/>
    <p:sldId id="349" r:id="rId18"/>
    <p:sldId id="350" r:id="rId19"/>
    <p:sldId id="351" r:id="rId20"/>
    <p:sldId id="352" r:id="rId21"/>
    <p:sldId id="353" r:id="rId2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96"/>
      </p:cViewPr>
      <p:guideLst>
        <p:guide orient="horz" pos="2160"/>
        <p:guide pos="292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564904"/>
            <a:ext cx="7772400" cy="1470025"/>
          </a:xfrm>
        </p:spPr>
        <p:txBody>
          <a:bodyPr/>
          <a:lstStyle/>
          <a:p>
            <a:r>
              <a:rPr lang="zh-CN" altLang="en-US" smtClean="0"/>
              <a:t>单击此处编辑母版标题样式</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8" name="矩形 7"/>
          <p:cNvSpPr/>
          <p:nvPr userDrawn="1"/>
        </p:nvSpPr>
        <p:spPr>
          <a:xfrm>
            <a:off x="0" y="0"/>
            <a:ext cx="9144000" cy="1916832"/>
          </a:xfrm>
          <a:prstGeom prst="rect">
            <a:avLst/>
          </a:prstGeom>
          <a:solidFill>
            <a:schemeClr val="accent4">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9" name="矩形 8"/>
          <p:cNvSpPr/>
          <p:nvPr userDrawn="1"/>
        </p:nvSpPr>
        <p:spPr>
          <a:xfrm>
            <a:off x="-35416" y="4941168"/>
            <a:ext cx="9179416" cy="1916832"/>
          </a:xfrm>
          <a:prstGeom prst="rect">
            <a:avLst/>
          </a:prstGeom>
          <a:solidFill>
            <a:schemeClr val="accent4">
              <a:lumMod val="5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2"/>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grpSp>
        <p:nvGrpSpPr>
          <p:cNvPr id="34" name="组合 33"/>
          <p:cNvGrpSpPr/>
          <p:nvPr userDrawn="1"/>
        </p:nvGrpSpPr>
        <p:grpSpPr>
          <a:xfrm>
            <a:off x="1835696" y="-24556"/>
            <a:ext cx="5328592" cy="6882556"/>
            <a:chOff x="2195736" y="0"/>
            <a:chExt cx="5328592" cy="6882556"/>
          </a:xfrm>
        </p:grpSpPr>
        <p:sp>
          <p:nvSpPr>
            <p:cNvPr id="35" name="平行四边形 34"/>
            <p:cNvSpPr/>
            <p:nvPr/>
          </p:nvSpPr>
          <p:spPr>
            <a:xfrm>
              <a:off x="2195736" y="0"/>
              <a:ext cx="5328592" cy="6882556"/>
            </a:xfrm>
            <a:prstGeom prst="parallelogram">
              <a:avLst>
                <a:gd name="adj" fmla="val 32508"/>
              </a:avLst>
            </a:prstGeom>
            <a:solidFill>
              <a:schemeClr val="accent4">
                <a:lumMod val="75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6" name="组合 35"/>
            <p:cNvGrpSpPr/>
            <p:nvPr/>
          </p:nvGrpSpPr>
          <p:grpSpPr>
            <a:xfrm>
              <a:off x="2729508" y="1268760"/>
              <a:ext cx="3168352" cy="461665"/>
              <a:chOff x="2729508" y="1268760"/>
              <a:chExt cx="3168352" cy="461665"/>
            </a:xfrm>
          </p:grpSpPr>
          <p:cxnSp>
            <p:nvCxnSpPr>
              <p:cNvPr id="58" name="直接连接符 57"/>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059832" y="1268760"/>
                <a:ext cx="2031325" cy="461665"/>
              </a:xfrm>
              <a:prstGeom prst="rect">
                <a:avLst/>
              </a:prstGeom>
              <a:noFill/>
            </p:spPr>
            <p:txBody>
              <a:bodyPr wrap="none" rtlCol="0">
                <a:spAutoFit/>
              </a:bodyPr>
              <a:lstStyle/>
              <a:p>
                <a:r>
                  <a:rPr lang="zh-CN" altLang="en-US" sz="2400" dirty="0" smtClean="0">
                    <a:solidFill>
                      <a:schemeClr val="bg2"/>
                    </a:solidFill>
                  </a:rPr>
                  <a:t>模型基本元素</a:t>
                </a:r>
                <a:endParaRPr lang="zh-CN" altLang="en-US" sz="2400" dirty="0">
                  <a:solidFill>
                    <a:schemeClr val="bg2"/>
                  </a:solidFill>
                </a:endParaRPr>
              </a:p>
            </p:txBody>
          </p:sp>
        </p:grpSp>
        <p:grpSp>
          <p:nvGrpSpPr>
            <p:cNvPr id="37" name="组合 36"/>
            <p:cNvGrpSpPr/>
            <p:nvPr/>
          </p:nvGrpSpPr>
          <p:grpSpPr>
            <a:xfrm>
              <a:off x="2881908" y="1861167"/>
              <a:ext cx="3168352" cy="461665"/>
              <a:chOff x="2729508" y="1268760"/>
              <a:chExt cx="3168352" cy="461665"/>
            </a:xfrm>
          </p:grpSpPr>
          <p:cxnSp>
            <p:nvCxnSpPr>
              <p:cNvPr id="56" name="直接连接符 55"/>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3059832" y="1268760"/>
                <a:ext cx="1415772" cy="461665"/>
              </a:xfrm>
              <a:prstGeom prst="rect">
                <a:avLst/>
              </a:prstGeom>
              <a:noFill/>
            </p:spPr>
            <p:txBody>
              <a:bodyPr wrap="none" rtlCol="0">
                <a:spAutoFit/>
              </a:bodyPr>
              <a:lstStyle/>
              <a:p>
                <a:r>
                  <a:rPr lang="zh-CN" altLang="en-US" sz="2400" dirty="0">
                    <a:solidFill>
                      <a:schemeClr val="bg2"/>
                    </a:solidFill>
                  </a:rPr>
                  <a:t>系统状态</a:t>
                </a:r>
                <a:endParaRPr lang="zh-CN" altLang="en-US" sz="2400" dirty="0">
                  <a:solidFill>
                    <a:schemeClr val="bg2"/>
                  </a:solidFill>
                </a:endParaRPr>
              </a:p>
            </p:txBody>
          </p:sp>
        </p:grpSp>
        <p:grpSp>
          <p:nvGrpSpPr>
            <p:cNvPr id="38" name="组合 37"/>
            <p:cNvGrpSpPr/>
            <p:nvPr/>
          </p:nvGrpSpPr>
          <p:grpSpPr>
            <a:xfrm>
              <a:off x="3034308" y="2453574"/>
              <a:ext cx="3168352" cy="461665"/>
              <a:chOff x="2729508" y="1268760"/>
              <a:chExt cx="3168352" cy="461665"/>
            </a:xfrm>
          </p:grpSpPr>
          <p:cxnSp>
            <p:nvCxnSpPr>
              <p:cNvPr id="54" name="直接连接符 53"/>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059832" y="1268760"/>
                <a:ext cx="1415772" cy="461665"/>
              </a:xfrm>
              <a:prstGeom prst="rect">
                <a:avLst/>
              </a:prstGeom>
              <a:noFill/>
            </p:spPr>
            <p:txBody>
              <a:bodyPr wrap="none" rtlCol="0">
                <a:spAutoFit/>
              </a:bodyPr>
              <a:lstStyle/>
              <a:p>
                <a:r>
                  <a:rPr lang="zh-CN" altLang="en-US" sz="2400" dirty="0">
                    <a:solidFill>
                      <a:schemeClr val="bg2"/>
                    </a:solidFill>
                  </a:rPr>
                  <a:t>安全特性</a:t>
                </a:r>
                <a:endParaRPr lang="zh-CN" altLang="en-US" sz="2400" dirty="0">
                  <a:solidFill>
                    <a:schemeClr val="bg2"/>
                  </a:solidFill>
                </a:endParaRPr>
              </a:p>
            </p:txBody>
          </p:sp>
        </p:grpSp>
        <p:grpSp>
          <p:nvGrpSpPr>
            <p:cNvPr id="39" name="组合 38"/>
            <p:cNvGrpSpPr/>
            <p:nvPr/>
          </p:nvGrpSpPr>
          <p:grpSpPr>
            <a:xfrm>
              <a:off x="3186708" y="3045981"/>
              <a:ext cx="3168352" cy="461665"/>
              <a:chOff x="2729508" y="1268760"/>
              <a:chExt cx="3168352" cy="461665"/>
            </a:xfrm>
          </p:grpSpPr>
          <p:cxnSp>
            <p:nvCxnSpPr>
              <p:cNvPr id="52" name="直接连接符 51"/>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3059832" y="1268760"/>
                <a:ext cx="800219" cy="461665"/>
              </a:xfrm>
              <a:prstGeom prst="rect">
                <a:avLst/>
              </a:prstGeom>
              <a:noFill/>
            </p:spPr>
            <p:txBody>
              <a:bodyPr wrap="none" rtlCol="0">
                <a:spAutoFit/>
              </a:bodyPr>
              <a:lstStyle/>
              <a:p>
                <a:r>
                  <a:rPr lang="zh-CN" altLang="en-US" sz="2400" dirty="0">
                    <a:solidFill>
                      <a:schemeClr val="bg2"/>
                    </a:solidFill>
                  </a:rPr>
                  <a:t>请求</a:t>
                </a:r>
                <a:endParaRPr lang="zh-CN" altLang="en-US" sz="2400" dirty="0">
                  <a:solidFill>
                    <a:schemeClr val="bg2"/>
                  </a:solidFill>
                </a:endParaRPr>
              </a:p>
            </p:txBody>
          </p:sp>
        </p:grpSp>
        <p:grpSp>
          <p:nvGrpSpPr>
            <p:cNvPr id="40" name="组合 39"/>
            <p:cNvGrpSpPr/>
            <p:nvPr/>
          </p:nvGrpSpPr>
          <p:grpSpPr>
            <a:xfrm>
              <a:off x="3339108" y="3638388"/>
              <a:ext cx="3168352" cy="461665"/>
              <a:chOff x="2729508" y="1268760"/>
              <a:chExt cx="3168352" cy="461665"/>
            </a:xfrm>
          </p:grpSpPr>
          <p:cxnSp>
            <p:nvCxnSpPr>
              <p:cNvPr id="50" name="直接连接符 49"/>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059832" y="1268760"/>
                <a:ext cx="2031325" cy="461665"/>
              </a:xfrm>
              <a:prstGeom prst="rect">
                <a:avLst/>
              </a:prstGeom>
              <a:noFill/>
            </p:spPr>
            <p:txBody>
              <a:bodyPr wrap="none" rtlCol="0">
                <a:spAutoFit/>
              </a:bodyPr>
              <a:lstStyle/>
              <a:p>
                <a:r>
                  <a:rPr lang="zh-CN" altLang="en-US" sz="2400" dirty="0">
                    <a:solidFill>
                      <a:schemeClr val="bg2"/>
                    </a:solidFill>
                  </a:rPr>
                  <a:t>状态</a:t>
                </a:r>
                <a:r>
                  <a:rPr lang="zh-CN" altLang="en-US" sz="2400" dirty="0" smtClean="0">
                    <a:solidFill>
                      <a:schemeClr val="bg2"/>
                    </a:solidFill>
                  </a:rPr>
                  <a:t>转换规则</a:t>
                </a:r>
                <a:endParaRPr lang="zh-CN" altLang="en-US" sz="2400" dirty="0">
                  <a:solidFill>
                    <a:schemeClr val="bg2"/>
                  </a:solidFill>
                </a:endParaRPr>
              </a:p>
            </p:txBody>
          </p:sp>
        </p:grpSp>
        <p:grpSp>
          <p:nvGrpSpPr>
            <p:cNvPr id="41" name="组合 40"/>
            <p:cNvGrpSpPr/>
            <p:nvPr/>
          </p:nvGrpSpPr>
          <p:grpSpPr>
            <a:xfrm>
              <a:off x="3491508" y="4230795"/>
              <a:ext cx="3168352" cy="461665"/>
              <a:chOff x="2729508" y="1268760"/>
              <a:chExt cx="3168352" cy="461665"/>
            </a:xfrm>
          </p:grpSpPr>
          <p:cxnSp>
            <p:nvCxnSpPr>
              <p:cNvPr id="48" name="直接连接符 47"/>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059832" y="1268760"/>
                <a:ext cx="2031325" cy="461665"/>
              </a:xfrm>
              <a:prstGeom prst="rect">
                <a:avLst/>
              </a:prstGeom>
              <a:noFill/>
            </p:spPr>
            <p:txBody>
              <a:bodyPr wrap="none" rtlCol="0">
                <a:spAutoFit/>
              </a:bodyPr>
              <a:lstStyle/>
              <a:p>
                <a:r>
                  <a:rPr lang="zh-CN" altLang="en-US" sz="2400" dirty="0" smtClean="0">
                    <a:solidFill>
                      <a:schemeClr val="bg2"/>
                    </a:solidFill>
                  </a:rPr>
                  <a:t>模型基本元素</a:t>
                </a:r>
                <a:endParaRPr lang="zh-CN" altLang="en-US" sz="2400" dirty="0">
                  <a:solidFill>
                    <a:schemeClr val="bg2"/>
                  </a:solidFill>
                </a:endParaRPr>
              </a:p>
            </p:txBody>
          </p:sp>
        </p:grpSp>
        <p:grpSp>
          <p:nvGrpSpPr>
            <p:cNvPr id="42" name="组合 41"/>
            <p:cNvGrpSpPr/>
            <p:nvPr/>
          </p:nvGrpSpPr>
          <p:grpSpPr>
            <a:xfrm>
              <a:off x="3643908" y="4823202"/>
              <a:ext cx="3168352" cy="461665"/>
              <a:chOff x="2729508" y="1268760"/>
              <a:chExt cx="3168352" cy="461665"/>
            </a:xfrm>
          </p:grpSpPr>
          <p:cxnSp>
            <p:nvCxnSpPr>
              <p:cNvPr id="46" name="直接连接符 45"/>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059832" y="1268760"/>
                <a:ext cx="1723549" cy="461665"/>
              </a:xfrm>
              <a:prstGeom prst="rect">
                <a:avLst/>
              </a:prstGeom>
              <a:noFill/>
            </p:spPr>
            <p:txBody>
              <a:bodyPr wrap="none" rtlCol="0">
                <a:spAutoFit/>
              </a:bodyPr>
              <a:lstStyle/>
              <a:p>
                <a:r>
                  <a:rPr lang="zh-CN" altLang="en-US" sz="2400" dirty="0" smtClean="0">
                    <a:solidFill>
                      <a:schemeClr val="bg2"/>
                    </a:solidFill>
                  </a:rPr>
                  <a:t>系统的定义</a:t>
                </a:r>
                <a:endParaRPr lang="zh-CN" altLang="en-US" sz="2400" dirty="0">
                  <a:solidFill>
                    <a:schemeClr val="bg2"/>
                  </a:solidFill>
                </a:endParaRPr>
              </a:p>
            </p:txBody>
          </p:sp>
        </p:grpSp>
        <p:grpSp>
          <p:nvGrpSpPr>
            <p:cNvPr id="43" name="组合 42"/>
            <p:cNvGrpSpPr/>
            <p:nvPr/>
          </p:nvGrpSpPr>
          <p:grpSpPr>
            <a:xfrm>
              <a:off x="3796308" y="5415607"/>
              <a:ext cx="3168352" cy="461665"/>
              <a:chOff x="2729508" y="1268760"/>
              <a:chExt cx="3168352" cy="461665"/>
            </a:xfrm>
          </p:grpSpPr>
          <p:cxnSp>
            <p:nvCxnSpPr>
              <p:cNvPr id="44" name="直接连接符 43"/>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059832" y="1268760"/>
                <a:ext cx="2339102" cy="461665"/>
              </a:xfrm>
              <a:prstGeom prst="rect">
                <a:avLst/>
              </a:prstGeom>
              <a:noFill/>
            </p:spPr>
            <p:txBody>
              <a:bodyPr wrap="none" rtlCol="0">
                <a:spAutoFit/>
              </a:bodyPr>
              <a:lstStyle/>
              <a:p>
                <a:r>
                  <a:rPr lang="zh-CN" altLang="en-US" sz="2400" dirty="0" smtClean="0">
                    <a:solidFill>
                      <a:schemeClr val="bg2"/>
                    </a:solidFill>
                  </a:rPr>
                  <a:t>安全系统的定义</a:t>
                </a:r>
                <a:endParaRPr lang="zh-CN" altLang="en-US" sz="2400" dirty="0">
                  <a:solidFill>
                    <a:schemeClr val="bg2"/>
                  </a:solidFill>
                </a:endParaRPr>
              </a:p>
            </p:txBody>
          </p:sp>
        </p:grpSp>
      </p:grpSp>
      <p:grpSp>
        <p:nvGrpSpPr>
          <p:cNvPr id="60" name="组合 59"/>
          <p:cNvGrpSpPr/>
          <p:nvPr userDrawn="1"/>
        </p:nvGrpSpPr>
        <p:grpSpPr>
          <a:xfrm>
            <a:off x="2372455" y="6311526"/>
            <a:ext cx="6602742" cy="216024"/>
            <a:chOff x="1613680" y="6332710"/>
            <a:chExt cx="6602742" cy="216024"/>
          </a:xfrm>
        </p:grpSpPr>
        <p:sp>
          <p:nvSpPr>
            <p:cNvPr id="61" name="圆角矩形 60"/>
            <p:cNvSpPr/>
            <p:nvPr/>
          </p:nvSpPr>
          <p:spPr>
            <a:xfrm>
              <a:off x="3492125"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圆角矩形 61"/>
            <p:cNvSpPr/>
            <p:nvPr/>
          </p:nvSpPr>
          <p:spPr>
            <a:xfrm>
              <a:off x="3867814"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圆角矩形 62"/>
            <p:cNvSpPr/>
            <p:nvPr/>
          </p:nvSpPr>
          <p:spPr>
            <a:xfrm>
              <a:off x="4243503"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圆角矩形 63"/>
            <p:cNvSpPr/>
            <p:nvPr/>
          </p:nvSpPr>
          <p:spPr>
            <a:xfrm>
              <a:off x="4619192"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64"/>
            <p:cNvSpPr/>
            <p:nvPr/>
          </p:nvSpPr>
          <p:spPr>
            <a:xfrm>
              <a:off x="4994881"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5370570"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5746259"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圆角矩形 67"/>
            <p:cNvSpPr/>
            <p:nvPr/>
          </p:nvSpPr>
          <p:spPr>
            <a:xfrm>
              <a:off x="612194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圆角矩形 68"/>
            <p:cNvSpPr/>
            <p:nvPr/>
          </p:nvSpPr>
          <p:spPr>
            <a:xfrm>
              <a:off x="6497637"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圆角矩形 69"/>
            <p:cNvSpPr/>
            <p:nvPr/>
          </p:nvSpPr>
          <p:spPr>
            <a:xfrm>
              <a:off x="7624704"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a:off x="6873326"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a:off x="800039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a:off x="7249015"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圆角矩形 73"/>
            <p:cNvSpPr/>
            <p:nvPr/>
          </p:nvSpPr>
          <p:spPr>
            <a:xfrm>
              <a:off x="1613680"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圆角矩形 74"/>
            <p:cNvSpPr/>
            <p:nvPr/>
          </p:nvSpPr>
          <p:spPr>
            <a:xfrm>
              <a:off x="1989369"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圆角矩形 75"/>
            <p:cNvSpPr/>
            <p:nvPr/>
          </p:nvSpPr>
          <p:spPr>
            <a:xfrm>
              <a:off x="236505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圆角矩形 76"/>
            <p:cNvSpPr/>
            <p:nvPr/>
          </p:nvSpPr>
          <p:spPr>
            <a:xfrm>
              <a:off x="2740747"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圆角矩形 77"/>
            <p:cNvSpPr/>
            <p:nvPr/>
          </p:nvSpPr>
          <p:spPr>
            <a:xfrm>
              <a:off x="3116436"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9" name="组合 78"/>
          <p:cNvGrpSpPr/>
          <p:nvPr userDrawn="1"/>
        </p:nvGrpSpPr>
        <p:grpSpPr>
          <a:xfrm>
            <a:off x="7096747" y="2474254"/>
            <a:ext cx="1286732" cy="1370410"/>
            <a:chOff x="7096747" y="2474254"/>
            <a:chExt cx="1286732" cy="1370410"/>
          </a:xfrm>
          <a:effectLst>
            <a:reflection blurRad="6350" stA="52000" endA="300" endPos="35000" dir="5400000" sy="-100000" algn="bl" rotWithShape="0"/>
          </a:effectLst>
        </p:grpSpPr>
        <p:sp>
          <p:nvSpPr>
            <p:cNvPr id="80" name="圆角矩形 79"/>
            <p:cNvSpPr/>
            <p:nvPr/>
          </p:nvSpPr>
          <p:spPr>
            <a:xfrm>
              <a:off x="7096747" y="2890683"/>
              <a:ext cx="1286732" cy="953981"/>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流程图: 联系 80"/>
            <p:cNvSpPr/>
            <p:nvPr/>
          </p:nvSpPr>
          <p:spPr>
            <a:xfrm>
              <a:off x="7318362" y="2474254"/>
              <a:ext cx="843502" cy="823240"/>
            </a:xfrm>
            <a:prstGeom prst="flowChartConnector">
              <a:avLst/>
            </a:prstGeom>
            <a:noFill/>
            <a:ln w="762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流程图: 联系 81"/>
            <p:cNvSpPr/>
            <p:nvPr/>
          </p:nvSpPr>
          <p:spPr>
            <a:xfrm>
              <a:off x="7632101" y="3252257"/>
              <a:ext cx="216024" cy="230833"/>
            </a:xfrm>
            <a:prstGeom prst="flowChartConnector">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圆角矩形 82"/>
            <p:cNvSpPr/>
            <p:nvPr/>
          </p:nvSpPr>
          <p:spPr>
            <a:xfrm>
              <a:off x="7690061" y="3429000"/>
              <a:ext cx="108012" cy="233942"/>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a:xfrm>
            <a:off x="0" y="260648"/>
            <a:ext cx="3779912" cy="1143000"/>
          </a:xfrm>
        </p:spPr>
        <p:txBody>
          <a:body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1_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2843808" y="2540502"/>
            <a:ext cx="6120680" cy="746956"/>
          </a:xfrm>
        </p:spPr>
        <p:txBody>
          <a:bodyPr/>
          <a:lstStyle/>
          <a:p>
            <a:r>
              <a:rPr lang="zh-CN" altLang="en-US" dirty="0" smtClean="0"/>
              <a:t>单击此处编辑母版标题</a:t>
            </a:r>
            <a:endParaRPr lang="zh-CN" altLang="en-US" dirty="0"/>
          </a:p>
        </p:txBody>
      </p:sp>
      <p:sp>
        <p:nvSpPr>
          <p:cNvPr id="3" name="日期占位符 2"/>
          <p:cNvSpPr>
            <a:spLocks noGrp="1"/>
          </p:cNvSpPr>
          <p:nvPr>
            <p:ph type="dt" sz="half" idx="10"/>
          </p:nvPr>
        </p:nvSpPr>
        <p:spPr/>
        <p:txBody>
          <a:bodyPr/>
          <a:lstStyle/>
          <a:p>
            <a:fld id="{D41979AF-1B79-48DE-B66B-AF721FF346D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8C9942C-5AE4-40E7-B4D2-6AAA9ED4AF95}" type="slidenum">
              <a:rPr lang="zh-CN" altLang="en-US" smtClean="0"/>
            </a:fld>
            <a:endParaRPr lang="zh-CN" altLang="en-US"/>
          </a:p>
        </p:txBody>
      </p:sp>
      <p:grpSp>
        <p:nvGrpSpPr>
          <p:cNvPr id="15" name="组合 14"/>
          <p:cNvGrpSpPr/>
          <p:nvPr userDrawn="1"/>
        </p:nvGrpSpPr>
        <p:grpSpPr>
          <a:xfrm>
            <a:off x="2843808" y="1988840"/>
            <a:ext cx="6300192" cy="1224136"/>
            <a:chOff x="2843808" y="1988840"/>
            <a:chExt cx="6300192" cy="1224136"/>
          </a:xfrm>
        </p:grpSpPr>
        <p:sp>
          <p:nvSpPr>
            <p:cNvPr id="6" name="矩形 5"/>
            <p:cNvSpPr/>
            <p:nvPr userDrawn="1"/>
          </p:nvSpPr>
          <p:spPr>
            <a:xfrm>
              <a:off x="2843808" y="1988840"/>
              <a:ext cx="6300192" cy="57606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五边形 6"/>
            <p:cNvSpPr/>
            <p:nvPr userDrawn="1"/>
          </p:nvSpPr>
          <p:spPr>
            <a:xfrm rot="16200000">
              <a:off x="8424428" y="2024844"/>
              <a:ext cx="432048" cy="648072"/>
            </a:xfrm>
            <a:prstGeom prst="homePlate">
              <a:avLst>
                <a:gd name="adj" fmla="val 2782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2843808" y="3212976"/>
              <a:ext cx="6120680" cy="0"/>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8964488" y="2276872"/>
              <a:ext cx="0" cy="936104"/>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2"/>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7" name="矩形 6"/>
          <p:cNvSpPr/>
          <p:nvPr userDrawn="1"/>
        </p:nvSpPr>
        <p:spPr>
          <a:xfrm>
            <a:off x="-26126" y="548680"/>
            <a:ext cx="9196252" cy="93610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4400" dirty="0" smtClean="0"/>
              <a:t>     目录</a:t>
            </a:r>
            <a:endParaRPr lang="zh-CN" altLang="en-US" sz="4400"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6" name="矩形 5"/>
          <p:cNvSpPr/>
          <p:nvPr userDrawn="1"/>
        </p:nvSpPr>
        <p:spPr>
          <a:xfrm>
            <a:off x="0" y="0"/>
            <a:ext cx="2627784"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标题 1"/>
          <p:cNvSpPr txBox="1"/>
          <p:nvPr userDrawn="1"/>
        </p:nvSpPr>
        <p:spPr>
          <a:xfrm>
            <a:off x="827584" y="58011"/>
            <a:ext cx="6120680" cy="746956"/>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smtClean="0">
                <a:solidFill>
                  <a:schemeClr val="bg2"/>
                </a:solidFill>
              </a:rPr>
              <a:t>1.1</a:t>
            </a:r>
            <a:r>
              <a:rPr lang="en-US" altLang="zh-CN" sz="3200" dirty="0" smtClean="0"/>
              <a:t> </a:t>
            </a:r>
            <a:r>
              <a:rPr lang="zh-CN" altLang="zh-CN" sz="3200" b="1" dirty="0" smtClean="0">
                <a:solidFill>
                  <a:schemeClr val="accent4">
                    <a:lumMod val="75000"/>
                  </a:schemeClr>
                </a:solidFill>
              </a:rPr>
              <a:t>信息安全基本概念</a:t>
            </a:r>
            <a:endParaRPr lang="zh-CN" altLang="en-US" sz="3200" b="1" dirty="0">
              <a:solidFill>
                <a:schemeClr val="accent4">
                  <a:lumMod val="75000"/>
                </a:schemeClr>
              </a:solidFill>
            </a:endParaRP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7" name="内容占位符 6"/>
          <p:cNvSpPr>
            <a:spLocks noGrp="1"/>
          </p:cNvSpPr>
          <p:nvPr>
            <p:ph sz="quarter" idx="13"/>
          </p:nvPr>
        </p:nvSpPr>
        <p:spPr>
          <a:xfrm>
            <a:off x="1547812" y="2349500"/>
            <a:ext cx="6552579" cy="352777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矩形 7"/>
          <p:cNvSpPr/>
          <p:nvPr userDrawn="1"/>
        </p:nvSpPr>
        <p:spPr>
          <a:xfrm>
            <a:off x="-52251" y="6165304"/>
            <a:ext cx="9252520" cy="69269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190CF0-DF98-4D2E-96D5-87D8DCAB4F5F}"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1222CD-E3C2-480D-8A0A-AB0483A3D48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8.xml"/><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dirty="0"/>
              <a:t>第5章  语言、程序、软件与安全</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68009" y="2204864"/>
            <a:ext cx="2227580" cy="460375"/>
          </a:xfrm>
          <a:prstGeom prst="rect">
            <a:avLst/>
          </a:prstGeom>
          <a:noFill/>
        </p:spPr>
        <p:txBody>
          <a:bodyPr wrap="none" rtlCol="0">
            <a:spAutoFit/>
          </a:bodyPr>
          <a:lstStyle/>
          <a:p>
            <a:pPr algn="l"/>
            <a:r>
              <a:rPr lang="en-US" altLang="zh-CN" sz="2400" dirty="0">
                <a:latin typeface="+mn-ea"/>
              </a:rPr>
              <a:t>5</a:t>
            </a:r>
            <a:r>
              <a:rPr lang="en-US" altLang="zh-CN" sz="2400" dirty="0" smtClean="0">
                <a:latin typeface="+mn-ea"/>
              </a:rPr>
              <a:t>.1 </a:t>
            </a:r>
            <a:r>
              <a:rPr lang="zh-CN" altLang="en-US" sz="2400" dirty="0" smtClean="0">
                <a:latin typeface="+mn-ea"/>
              </a:rPr>
              <a:t>语言与程序</a:t>
            </a:r>
            <a:endParaRPr lang="zh-CN" altLang="en-US" sz="2400" dirty="0" smtClean="0">
              <a:latin typeface="+mn-ea"/>
            </a:endParaRPr>
          </a:p>
        </p:txBody>
      </p:sp>
      <p:sp>
        <p:nvSpPr>
          <p:cNvPr id="4" name="矩形 3"/>
          <p:cNvSpPr/>
          <p:nvPr/>
        </p:nvSpPr>
        <p:spPr>
          <a:xfrm>
            <a:off x="2368009" y="3140968"/>
            <a:ext cx="2824480" cy="460375"/>
          </a:xfrm>
          <a:prstGeom prst="rect">
            <a:avLst/>
          </a:prstGeom>
        </p:spPr>
        <p:txBody>
          <a:bodyPr wrap="none">
            <a:spAutoFit/>
          </a:bodyPr>
          <a:lstStyle/>
          <a:p>
            <a:pPr algn="l"/>
            <a:r>
              <a:rPr lang="en-US" altLang="zh-CN" sz="2400" dirty="0" smtClean="0"/>
              <a:t>5.2 </a:t>
            </a:r>
            <a:r>
              <a:rPr lang="zh-CN" altLang="en-US" sz="2400" dirty="0" smtClean="0"/>
              <a:t>软件与软件工程</a:t>
            </a:r>
            <a:endParaRPr lang="zh-CN" altLang="en-US" sz="2400" dirty="0" smtClean="0"/>
          </a:p>
        </p:txBody>
      </p:sp>
      <p:sp>
        <p:nvSpPr>
          <p:cNvPr id="5" name="矩形 4"/>
          <p:cNvSpPr/>
          <p:nvPr/>
        </p:nvSpPr>
        <p:spPr>
          <a:xfrm>
            <a:off x="2368009" y="4005064"/>
            <a:ext cx="2519680" cy="460375"/>
          </a:xfrm>
          <a:prstGeom prst="rect">
            <a:avLst/>
          </a:prstGeom>
        </p:spPr>
        <p:txBody>
          <a:bodyPr wrap="none">
            <a:spAutoFit/>
          </a:bodyPr>
          <a:lstStyle/>
          <a:p>
            <a:pPr algn="l"/>
            <a:r>
              <a:rPr lang="en-US" altLang="zh-CN" sz="2400" dirty="0"/>
              <a:t>5</a:t>
            </a:r>
            <a:r>
              <a:rPr lang="en-US" altLang="zh-CN" sz="2400" dirty="0" smtClean="0"/>
              <a:t>.3 </a:t>
            </a:r>
            <a:r>
              <a:rPr lang="zh-CN" altLang="en-US" sz="2400" dirty="0" smtClean="0"/>
              <a:t>软件系统安全</a:t>
            </a:r>
            <a:endParaRPr lang="zh-CN" altLang="en-US" sz="2400" dirty="0" smtClean="0"/>
          </a:p>
        </p:txBody>
      </p:sp>
      <p:grpSp>
        <p:nvGrpSpPr>
          <p:cNvPr id="7" name="组合 6"/>
          <p:cNvGrpSpPr/>
          <p:nvPr/>
        </p:nvGrpSpPr>
        <p:grpSpPr>
          <a:xfrm>
            <a:off x="2391172" y="3038375"/>
            <a:ext cx="4536504" cy="45719"/>
            <a:chOff x="1187624" y="2375169"/>
            <a:chExt cx="4536504" cy="45719"/>
          </a:xfrm>
        </p:grpSpPr>
        <p:cxnSp>
          <p:nvCxnSpPr>
            <p:cNvPr id="8" name="直接连接符 7"/>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p:cNvGrpSpPr/>
          <p:nvPr/>
        </p:nvGrpSpPr>
        <p:grpSpPr>
          <a:xfrm>
            <a:off x="2391172" y="3943894"/>
            <a:ext cx="4536504" cy="45719"/>
            <a:chOff x="1187624" y="2375169"/>
            <a:chExt cx="4536504" cy="45719"/>
          </a:xfrm>
        </p:grpSpPr>
        <p:cxnSp>
          <p:nvCxnSpPr>
            <p:cNvPr id="11" name="直接连接符 10"/>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2391172" y="2132856"/>
            <a:ext cx="4536504" cy="45719"/>
            <a:chOff x="1187624" y="2375169"/>
            <a:chExt cx="4536504" cy="45719"/>
          </a:xfrm>
        </p:grpSpPr>
        <p:cxnSp>
          <p:nvCxnSpPr>
            <p:cNvPr id="17" name="直接连接符 16"/>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a:t>
            </a:r>
            <a:r>
              <a:rPr lang="en-US" altLang="zh-CN" dirty="0" smtClean="0"/>
              <a:t>.1 </a:t>
            </a:r>
            <a:r>
              <a:rPr lang="zh-CN" altLang="en-US" dirty="0" smtClean="0"/>
              <a:t>语言与程序</a:t>
            </a:r>
            <a:endParaRPr lang="zh-CN" altLang="en-US" dirty="0" smtClean="0"/>
          </a:p>
        </p:txBody>
      </p:sp>
      <p:sp>
        <p:nvSpPr>
          <p:cNvPr id="13" name="TextBox 12"/>
          <p:cNvSpPr txBox="1"/>
          <p:nvPr/>
        </p:nvSpPr>
        <p:spPr>
          <a:xfrm>
            <a:off x="3502174" y="3804700"/>
            <a:ext cx="2479675" cy="460375"/>
          </a:xfrm>
          <a:prstGeom prst="rect">
            <a:avLst/>
          </a:prstGeom>
          <a:noFill/>
        </p:spPr>
        <p:txBody>
          <a:bodyPr wrap="none" rtlCol="0">
            <a:spAutoFit/>
          </a:bodyPr>
          <a:lstStyle/>
          <a:p>
            <a:pPr algn="l"/>
            <a:r>
              <a:rPr lang="en-US" altLang="zh-CN" sz="2400" dirty="0">
                <a:latin typeface="+mn-ea"/>
              </a:rPr>
              <a:t>5</a:t>
            </a:r>
            <a:r>
              <a:rPr lang="en-US" altLang="zh-CN" sz="2400" b="0" kern="1200" dirty="0" smtClean="0">
                <a:effectLst/>
                <a:latin typeface="+mn-ea"/>
                <a:ea typeface="+mn-ea"/>
              </a:rPr>
              <a:t>.1.1 </a:t>
            </a:r>
            <a:r>
              <a:rPr lang="zh-CN" altLang="en-US" sz="2400" b="0" kern="1200" dirty="0" smtClean="0">
                <a:effectLst/>
                <a:latin typeface="+mn-ea"/>
                <a:ea typeface="+mn-ea"/>
              </a:rPr>
              <a:t>计算机语言</a:t>
            </a:r>
            <a:endParaRPr lang="zh-CN" altLang="en-US" sz="2400" b="0" kern="1200" dirty="0" smtClean="0">
              <a:effectLst/>
              <a:latin typeface="+mn-ea"/>
              <a:ea typeface="+mn-ea"/>
            </a:endParaRPr>
          </a:p>
        </p:txBody>
      </p:sp>
      <p:sp>
        <p:nvSpPr>
          <p:cNvPr id="17" name="TextBox 16"/>
          <p:cNvSpPr txBox="1"/>
          <p:nvPr/>
        </p:nvSpPr>
        <p:spPr>
          <a:xfrm>
            <a:off x="3491880" y="4451920"/>
            <a:ext cx="3698875" cy="460375"/>
          </a:xfrm>
          <a:prstGeom prst="rect">
            <a:avLst/>
          </a:prstGeom>
          <a:noFill/>
        </p:spPr>
        <p:txBody>
          <a:bodyPr wrap="none" rtlCol="0">
            <a:spAutoFit/>
          </a:bodyPr>
          <a:lstStyle/>
          <a:p>
            <a:pPr algn="l"/>
            <a:r>
              <a:rPr lang="en-US" altLang="zh-CN" sz="2400" dirty="0">
                <a:latin typeface="+mn-ea"/>
              </a:rPr>
              <a:t>5</a:t>
            </a:r>
            <a:r>
              <a:rPr lang="en-US" altLang="zh-CN" sz="2400" b="0" kern="1200" dirty="0" smtClean="0">
                <a:effectLst/>
                <a:latin typeface="+mn-ea"/>
                <a:ea typeface="+mn-ea"/>
              </a:rPr>
              <a:t>.1.2 </a:t>
            </a:r>
            <a:r>
              <a:rPr lang="zh-CN" altLang="en-US" sz="2400" b="0" kern="1200" dirty="0" smtClean="0">
                <a:effectLst/>
                <a:latin typeface="+mn-ea"/>
                <a:ea typeface="+mn-ea"/>
              </a:rPr>
              <a:t>程序结构与执行方式</a:t>
            </a:r>
            <a:endParaRPr lang="zh-CN" altLang="en-US" sz="2400" b="0" kern="1200" dirty="0" smtClean="0">
              <a:effectLst/>
              <a:latin typeface="+mn-ea"/>
              <a:ea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664"/>
            <a:ext cx="3131840" cy="548655"/>
            <a:chOff x="0" y="1080145"/>
            <a:chExt cx="3131840"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0" y="1098550"/>
              <a:ext cx="2479675" cy="460375"/>
            </a:xfrm>
            <a:prstGeom prst="rect">
              <a:avLst/>
            </a:prstGeom>
            <a:noFill/>
          </p:spPr>
          <p:txBody>
            <a:bodyPr wrap="none" rtlCol="0">
              <a:spAutoFit/>
            </a:bodyPr>
            <a:lstStyle/>
            <a:p>
              <a:pPr algn="l"/>
              <a:r>
                <a:rPr lang="en-US" altLang="zh-CN" sz="2400" dirty="0" smtClean="0">
                  <a:solidFill>
                    <a:schemeClr val="bg2"/>
                  </a:solidFill>
                  <a:latin typeface="+mn-ea"/>
                </a:rPr>
                <a:t>5</a:t>
              </a:r>
              <a:r>
                <a:rPr lang="en-US" altLang="zh-CN" sz="2400" b="0" kern="1200" dirty="0" smtClean="0">
                  <a:solidFill>
                    <a:schemeClr val="bg2"/>
                  </a:solidFill>
                  <a:effectLst/>
                  <a:latin typeface="+mn-ea"/>
                  <a:ea typeface="+mn-ea"/>
                </a:rPr>
                <a:t>.1.1 </a:t>
              </a:r>
              <a:r>
                <a:rPr lang="zh-CN" altLang="en-US" sz="2400" dirty="0" smtClean="0">
                  <a:solidFill>
                    <a:schemeClr val="bg2"/>
                  </a:solidFill>
                  <a:latin typeface="+mn-ea"/>
                </a:rPr>
                <a:t>计算机语言</a:t>
              </a:r>
              <a:endParaRPr lang="zh-CN" altLang="en-US" sz="2400" dirty="0" smtClean="0">
                <a:solidFill>
                  <a:schemeClr val="bg2"/>
                </a:solidFill>
                <a:latin typeface="+mn-ea"/>
              </a:endParaRPr>
            </a:p>
          </p:txBody>
        </p:sp>
      </p:grpSp>
      <p:sp>
        <p:nvSpPr>
          <p:cNvPr id="17" name="TextBox 16"/>
          <p:cNvSpPr txBox="1"/>
          <p:nvPr/>
        </p:nvSpPr>
        <p:spPr>
          <a:xfrm>
            <a:off x="2139331" y="6412686"/>
            <a:ext cx="55168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a:solidFill>
                  <a:schemeClr val="bg2"/>
                </a:solidFill>
              </a:rPr>
              <a:t>5</a:t>
            </a:r>
            <a:r>
              <a:rPr lang="zh-CN" altLang="zh-CN" dirty="0" smtClean="0">
                <a:solidFill>
                  <a:schemeClr val="bg2"/>
                </a:solidFill>
              </a:rPr>
              <a:t>章</a:t>
            </a:r>
            <a:r>
              <a:rPr lang="en-US" altLang="zh-CN" dirty="0" smtClean="0">
                <a:solidFill>
                  <a:schemeClr val="bg2"/>
                </a:solidFill>
              </a:rPr>
              <a:t>  </a:t>
            </a:r>
            <a:r>
              <a:rPr lang="zh-CN" dirty="0" smtClean="0">
                <a:solidFill>
                  <a:schemeClr val="bg2"/>
                </a:solidFill>
              </a:rPr>
              <a:t>语言、程序、软件与安全</a:t>
            </a:r>
            <a:r>
              <a:rPr lang="en-US" altLang="zh-CN" dirty="0" smtClean="0">
                <a:solidFill>
                  <a:schemeClr val="bg2"/>
                </a:solidFill>
              </a:rPr>
              <a:t>     </a:t>
            </a:r>
            <a:r>
              <a:rPr lang="zh-CN" altLang="en-US" dirty="0" smtClean="0">
                <a:solidFill>
                  <a:schemeClr val="bg2"/>
                </a:solidFill>
              </a:rPr>
              <a:t>第</a:t>
            </a:r>
            <a:r>
              <a:rPr lang="en-US" altLang="zh-CN" dirty="0" smtClean="0">
                <a:solidFill>
                  <a:schemeClr val="bg2"/>
                </a:solidFill>
              </a:rPr>
              <a:t>1</a:t>
            </a:r>
            <a:r>
              <a:rPr lang="zh-CN" altLang="en-US" dirty="0" smtClean="0">
                <a:solidFill>
                  <a:schemeClr val="bg2"/>
                </a:solidFill>
              </a:rPr>
              <a:t>节 语言与程序 </a:t>
            </a:r>
            <a:endParaRPr lang="zh-CN" altLang="en-US" dirty="0">
              <a:solidFill>
                <a:schemeClr val="bg2"/>
              </a:solidFill>
            </a:endParaRPr>
          </a:p>
        </p:txBody>
      </p:sp>
      <p:sp>
        <p:nvSpPr>
          <p:cNvPr id="15" name="内容占位符 5"/>
          <p:cNvSpPr txBox="1"/>
          <p:nvPr/>
        </p:nvSpPr>
        <p:spPr>
          <a:xfrm>
            <a:off x="250825" y="1334770"/>
            <a:ext cx="8642350" cy="395478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altLang="zh-CN" sz="1800" dirty="0"/>
              <a:t>机器语言 </a:t>
            </a:r>
            <a:r>
              <a:rPr lang="zh-CN" sz="1800" dirty="0"/>
              <a:t>：电子计算机所使用的是由“0”和“1”组成的二进制数，二进制是计算机的语言的基础。机器语言，是第一代计算机语言。</a:t>
            </a:r>
            <a:endParaRPr lang="zh-CN" sz="1800" dirty="0"/>
          </a:p>
          <a:p>
            <a:r>
              <a:rPr lang="zh-CN" sz="1800" dirty="0"/>
              <a:t>汇编语言：用一些简洁的英文字母、符号串来替代一个特定的指令的二进制串，比如，用“ADD”代表加法，“MOV”代表数据传递等等，这样一来，人们很容易读懂并理解程序在干什么，纠错及维护都变得方便了，这种程序设计语言就称为汇编语言，即第二代计算机语言。</a:t>
            </a:r>
            <a:endParaRPr lang="zh-CN" sz="1800" dirty="0"/>
          </a:p>
          <a:p>
            <a:r>
              <a:rPr lang="zh-CN" sz="1800" dirty="0"/>
              <a:t>高级语言 ：1954年，第一个完全脱离机器硬件的高级语言—FORTRAN问世了，40多年来，共有几百种高级语言出现，有重要意义的有几十种，影响较大、使用较普遍的有FORTRAN、ALGOL、COBOL、BASIC、LISP、SNOBOL、PL/ 1、Pascal、C、PROLOG、Ada、C++、VC、VB、Delphi、JAVA 等。 </a:t>
            </a:r>
            <a:endParaRPr lang="zh-CN" sz="1800" dirty="0"/>
          </a:p>
          <a:p>
            <a:r>
              <a:rPr lang="zh-CN" sz="1800" dirty="0"/>
              <a:t>第四代语言：4GL即第四代语言(Fourth－Generation Language)。4GL是按计算机科学理论指导设计出来的结构化语言，如ADA，MODULA－ 2，SMALLTALK－80等。</a:t>
            </a:r>
            <a:endParaRPr lang="zh-CN" sz="1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0330" y="1124585"/>
            <a:ext cx="210248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latin typeface="+mn-ea"/>
              </a:rPr>
              <a:t>  </a:t>
            </a:r>
            <a:r>
              <a:rPr lang="zh-CN" altLang="en-US" dirty="0" smtClean="0">
                <a:solidFill>
                  <a:schemeClr val="bg2"/>
                </a:solidFill>
                <a:latin typeface="+mn-ea"/>
              </a:rPr>
              <a:t>程序的基本结构</a:t>
            </a:r>
            <a:endParaRPr lang="zh-CN" altLang="en-US" dirty="0" smtClean="0">
              <a:solidFill>
                <a:schemeClr val="bg2"/>
              </a:solidFill>
              <a:latin typeface="+mn-ea"/>
            </a:endParaRPr>
          </a:p>
        </p:txBody>
      </p:sp>
      <p:grpSp>
        <p:nvGrpSpPr>
          <p:cNvPr id="14" name="组合 13"/>
          <p:cNvGrpSpPr/>
          <p:nvPr/>
        </p:nvGrpSpPr>
        <p:grpSpPr>
          <a:xfrm>
            <a:off x="0" y="404495"/>
            <a:ext cx="5144135" cy="548640"/>
            <a:chOff x="0" y="1080145"/>
            <a:chExt cx="3903685"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0" y="1098550"/>
              <a:ext cx="3698875" cy="460388"/>
            </a:xfrm>
            <a:prstGeom prst="rect">
              <a:avLst/>
            </a:prstGeom>
            <a:noFill/>
          </p:spPr>
          <p:txBody>
            <a:bodyPr wrap="square" rtlCol="0">
              <a:spAutoFit/>
            </a:bodyPr>
            <a:lstStyle/>
            <a:p>
              <a:pPr algn="l"/>
              <a:r>
                <a:rPr lang="en-US" altLang="zh-CN" sz="2400" dirty="0" smtClean="0">
                  <a:solidFill>
                    <a:schemeClr val="bg2"/>
                  </a:solidFill>
                  <a:latin typeface="+mn-ea"/>
                </a:rPr>
                <a:t>5</a:t>
              </a:r>
              <a:r>
                <a:rPr lang="en-US" altLang="zh-CN" sz="2400" b="0" kern="1200" dirty="0" smtClean="0">
                  <a:solidFill>
                    <a:schemeClr val="bg2"/>
                  </a:solidFill>
                  <a:effectLst/>
                  <a:latin typeface="+mn-ea"/>
                  <a:ea typeface="+mn-ea"/>
                </a:rPr>
                <a:t>.1.2 </a:t>
              </a:r>
              <a:r>
                <a:rPr lang="zh-CN" altLang="en-US" sz="2400" dirty="0" smtClean="0">
                  <a:solidFill>
                    <a:schemeClr val="bg2"/>
                  </a:solidFill>
                  <a:latin typeface="+mn-ea"/>
                </a:rPr>
                <a:t>程序结构与执行方式</a:t>
              </a:r>
              <a:endParaRPr lang="zh-CN" altLang="en-US" sz="2400" dirty="0" smtClean="0">
                <a:solidFill>
                  <a:schemeClr val="bg2"/>
                </a:solidFill>
                <a:latin typeface="+mn-ea"/>
              </a:endParaRPr>
            </a:p>
          </p:txBody>
        </p:sp>
      </p:grpSp>
      <p:sp>
        <p:nvSpPr>
          <p:cNvPr id="17" name="TextBox 16"/>
          <p:cNvSpPr txBox="1"/>
          <p:nvPr/>
        </p:nvSpPr>
        <p:spPr>
          <a:xfrm>
            <a:off x="2139331" y="6412686"/>
            <a:ext cx="55168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a:solidFill>
                  <a:schemeClr val="bg2"/>
                </a:solidFill>
                <a:sym typeface="+mn-ea"/>
              </a:rPr>
              <a:t>5</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语言、程序、软件与安全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语言与程序</a:t>
            </a:r>
            <a:r>
              <a:rPr lang="zh-CN" altLang="en-US" dirty="0" smtClean="0">
                <a:solidFill>
                  <a:schemeClr val="bg2"/>
                </a:solidFill>
              </a:rPr>
              <a:t> </a:t>
            </a:r>
            <a:endParaRPr lang="zh-CN" altLang="en-US" dirty="0">
              <a:solidFill>
                <a:schemeClr val="bg2"/>
              </a:solidFill>
            </a:endParaRPr>
          </a:p>
        </p:txBody>
      </p:sp>
      <p:sp>
        <p:nvSpPr>
          <p:cNvPr id="2" name="内容占位符 5"/>
          <p:cNvSpPr txBox="1"/>
          <p:nvPr/>
        </p:nvSpPr>
        <p:spPr>
          <a:xfrm>
            <a:off x="269875" y="1749425"/>
            <a:ext cx="8642350" cy="301815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sz="1800" dirty="0"/>
              <a:t>计算机程序或者软件程序（简称程序）是指一组指示计算机执行动作或做出判断的指令，通常用某种程序设计语言编写，运行于某种目标的计算机或智能仪器上。</a:t>
            </a:r>
            <a:endParaRPr sz="1800" dirty="0"/>
          </a:p>
          <a:p>
            <a:r>
              <a:rPr lang="zh-CN" sz="1800" dirty="0"/>
              <a:t>顺序结构：顺序结构表示程序中的各操作是按照它们出现的先后顺序执行的。先执行A模块，再执行B模块。</a:t>
            </a:r>
            <a:endParaRPr lang="zh-CN" sz="1800" dirty="0"/>
          </a:p>
          <a:p>
            <a:r>
              <a:rPr lang="zh-CN" sz="1800" dirty="0"/>
              <a:t>选择结构 ：选择结构表示程序的处理步骤出现了分支，它需要根据某一特定的条件选择其中的一个分支执行。选择结构有单选择、双选择和多选择三种形式。当条件P的值为真时执行A模块，否则执行B模块。 </a:t>
            </a:r>
            <a:endParaRPr lang="zh-CN" sz="1800" dirty="0"/>
          </a:p>
          <a:p>
            <a:r>
              <a:rPr lang="zh-CN" sz="1800" dirty="0"/>
              <a:t>循环结构：循环结构表示程序反复执行某个或某些操作，直到某条件为假（或为真）时才可终止循环。在循环结构中最主要的是：什么情况下执行循环？哪些操作需要循环执行？ </a:t>
            </a:r>
            <a:endParaRPr lang="zh-CN" sz="1800" dirty="0"/>
          </a:p>
        </p:txBody>
      </p:sp>
      <p:pic>
        <p:nvPicPr>
          <p:cNvPr id="5" name="图片 4"/>
          <p:cNvPicPr>
            <a:picLocks noChangeAspect="1"/>
          </p:cNvPicPr>
          <p:nvPr/>
        </p:nvPicPr>
        <p:blipFill>
          <a:blip r:embed="rId1"/>
          <a:stretch>
            <a:fillRect/>
          </a:stretch>
        </p:blipFill>
        <p:spPr>
          <a:xfrm>
            <a:off x="744855" y="4827270"/>
            <a:ext cx="3583940" cy="1275080"/>
          </a:xfrm>
          <a:prstGeom prst="rect">
            <a:avLst/>
          </a:prstGeom>
        </p:spPr>
      </p:pic>
      <p:sp>
        <p:nvSpPr>
          <p:cNvPr id="6" name="矩形 5"/>
          <p:cNvSpPr/>
          <p:nvPr/>
        </p:nvSpPr>
        <p:spPr>
          <a:xfrm>
            <a:off x="4765040" y="5367655"/>
            <a:ext cx="2991485" cy="368300"/>
          </a:xfrm>
          <a:prstGeom prst="rect">
            <a:avLst/>
          </a:prstGeom>
        </p:spPr>
        <p:txBody>
          <a:bodyPr wrap="square">
            <a:spAutoFit/>
          </a:bodyPr>
          <a:p>
            <a:r>
              <a:rPr lang="zh-CN" altLang="zh-CN" dirty="0"/>
              <a:t>图</a:t>
            </a:r>
            <a:r>
              <a:rPr lang="en-US" altLang="zh-CN" dirty="0"/>
              <a:t> 5-1 </a:t>
            </a:r>
            <a:r>
              <a:rPr lang="zh-CN" altLang="zh-CN" dirty="0"/>
              <a:t>程序的三种基本结构</a:t>
            </a:r>
            <a:endParaRPr lang="zh-CN" altLang="zh-CN"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217233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latin typeface="+mn-ea"/>
              </a:rPr>
              <a:t>  </a:t>
            </a:r>
            <a:r>
              <a:rPr lang="zh-CN" altLang="en-US" dirty="0" smtClean="0">
                <a:solidFill>
                  <a:schemeClr val="bg2"/>
                </a:solidFill>
                <a:latin typeface="+mn-ea"/>
              </a:rPr>
              <a:t>程序的执行方式</a:t>
            </a:r>
            <a:endParaRPr lang="zh-CN" altLang="en-US" dirty="0" smtClean="0">
              <a:solidFill>
                <a:schemeClr val="bg2"/>
              </a:solidFill>
              <a:latin typeface="+mn-ea"/>
            </a:endParaRPr>
          </a:p>
        </p:txBody>
      </p:sp>
      <p:grpSp>
        <p:nvGrpSpPr>
          <p:cNvPr id="14" name="组合 13"/>
          <p:cNvGrpSpPr/>
          <p:nvPr/>
        </p:nvGrpSpPr>
        <p:grpSpPr>
          <a:xfrm>
            <a:off x="0" y="404495"/>
            <a:ext cx="5727700" cy="548640"/>
            <a:chOff x="0" y="1080145"/>
            <a:chExt cx="4164330"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5105" y="1098560"/>
              <a:ext cx="3959225" cy="460388"/>
            </a:xfrm>
            <a:prstGeom prst="rect">
              <a:avLst/>
            </a:prstGeom>
            <a:noFill/>
          </p:spPr>
          <p:txBody>
            <a:bodyPr wrap="square" rtlCol="0">
              <a:spAutoFit/>
            </a:bodyPr>
            <a:lstStyle/>
            <a:p>
              <a:pPr algn="l"/>
              <a:r>
                <a:rPr sz="2400" dirty="0" smtClean="0">
                  <a:solidFill>
                    <a:schemeClr val="bg2"/>
                  </a:solidFill>
                  <a:latin typeface="+mn-ea"/>
                </a:rPr>
                <a:t>5.1.2 程序结构与执行方式</a:t>
              </a:r>
              <a:endParaRPr sz="2400" dirty="0" smtClean="0">
                <a:solidFill>
                  <a:schemeClr val="bg2"/>
                </a:solidFill>
                <a:latin typeface="+mn-ea"/>
              </a:endParaRPr>
            </a:p>
          </p:txBody>
        </p:sp>
      </p:grpSp>
      <p:sp>
        <p:nvSpPr>
          <p:cNvPr id="17" name="TextBox 16"/>
          <p:cNvSpPr txBox="1"/>
          <p:nvPr/>
        </p:nvSpPr>
        <p:spPr>
          <a:xfrm>
            <a:off x="2139331" y="6412686"/>
            <a:ext cx="55168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a:solidFill>
                  <a:schemeClr val="bg2"/>
                </a:solidFill>
                <a:sym typeface="+mn-ea"/>
              </a:rPr>
              <a:t>5</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语言、程序、软件与安全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语言与程序</a:t>
            </a:r>
            <a:r>
              <a:rPr lang="zh-CN" altLang="en-US" dirty="0" smtClean="0">
                <a:solidFill>
                  <a:schemeClr val="bg2"/>
                </a:solidFill>
              </a:rPr>
              <a:t> </a:t>
            </a:r>
            <a:endParaRPr lang="zh-CN" altLang="en-US" dirty="0">
              <a:solidFill>
                <a:schemeClr val="bg2"/>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内容占位符 5"/>
          <p:cNvSpPr txBox="1"/>
          <p:nvPr/>
        </p:nvSpPr>
        <p:spPr>
          <a:xfrm>
            <a:off x="281940" y="2174240"/>
            <a:ext cx="8642350" cy="285750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sz="1800" dirty="0"/>
              <a:t>一</a:t>
            </a:r>
            <a:r>
              <a:rPr lang="zh-CN" sz="1800" dirty="0"/>
              <a:t>般编写的程序是用高级语言编写的，如c/c++以及面向对象的visual系列，而编写的程序在计算机上是不能直接执行的，因为计算机只能执行二进制程序。因此，要将编写的程序翻译成二进制程序。在计算机上执行的程序，通常有两种方式：一是编译执行方式，二是解释执行方式。</a:t>
            </a:r>
            <a:endParaRPr lang="zh-CN" sz="1800" dirty="0"/>
          </a:p>
          <a:p>
            <a:r>
              <a:rPr lang="zh-CN" sz="1800" dirty="0"/>
              <a:t>解释方式 ：解释方式是每执行一句，就翻译一句即边执行边解释。这种方式每次运行程序时都要重新翻译整个程序，效率较低，执行速度慢，如BASIC语言。</a:t>
            </a:r>
            <a:endParaRPr lang="zh-CN" sz="1800" dirty="0"/>
          </a:p>
          <a:p>
            <a:r>
              <a:rPr lang="zh-CN" sz="1800" dirty="0"/>
              <a:t>编译方式 ：编译方式是在程序第一次执行前，先将编写的程序翻译成二进制程序，然后每次执行的时就可以直接执行这个翻译好的二进制程序了。程序的翻译过程叫编译。</a:t>
            </a:r>
            <a:endParaRPr lang="zh-CN" sz="1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5.2 </a:t>
            </a:r>
            <a:r>
              <a:rPr lang="zh-CN" altLang="en-US" dirty="0" smtClean="0"/>
              <a:t>软件与软件工程</a:t>
            </a:r>
            <a:endParaRPr lang="zh-CN" altLang="en-US" dirty="0" smtClean="0"/>
          </a:p>
        </p:txBody>
      </p:sp>
      <p:sp>
        <p:nvSpPr>
          <p:cNvPr id="13" name="TextBox 12"/>
          <p:cNvSpPr txBox="1"/>
          <p:nvPr/>
        </p:nvSpPr>
        <p:spPr>
          <a:xfrm>
            <a:off x="3502174" y="3804700"/>
            <a:ext cx="2479675" cy="460375"/>
          </a:xfrm>
          <a:prstGeom prst="rect">
            <a:avLst/>
          </a:prstGeom>
          <a:noFill/>
        </p:spPr>
        <p:txBody>
          <a:bodyPr wrap="none" rtlCol="0">
            <a:spAutoFit/>
          </a:bodyPr>
          <a:lstStyle/>
          <a:p>
            <a:pPr algn="l"/>
            <a:r>
              <a:rPr lang="en-US" altLang="zh-CN" sz="2400" dirty="0" smtClean="0">
                <a:latin typeface="+mn-ea"/>
              </a:rPr>
              <a:t>5</a:t>
            </a:r>
            <a:r>
              <a:rPr lang="en-US" altLang="zh-CN" sz="2400" b="0" kern="1200" dirty="0" smtClean="0">
                <a:effectLst/>
                <a:latin typeface="+mn-ea"/>
                <a:ea typeface="+mn-ea"/>
              </a:rPr>
              <a:t>.2.1 </a:t>
            </a:r>
            <a:r>
              <a:rPr altLang="zh-CN" sz="2400" dirty="0"/>
              <a:t>软件与分类</a:t>
            </a:r>
            <a:endParaRPr altLang="zh-CN" sz="2400" dirty="0"/>
          </a:p>
        </p:txBody>
      </p:sp>
      <p:sp>
        <p:nvSpPr>
          <p:cNvPr id="17" name="TextBox 16"/>
          <p:cNvSpPr txBox="1"/>
          <p:nvPr/>
        </p:nvSpPr>
        <p:spPr>
          <a:xfrm>
            <a:off x="3491880" y="4451920"/>
            <a:ext cx="2784475" cy="1198880"/>
          </a:xfrm>
          <a:prstGeom prst="rect">
            <a:avLst/>
          </a:prstGeom>
          <a:noFill/>
        </p:spPr>
        <p:txBody>
          <a:bodyPr wrap="none" rtlCol="0">
            <a:spAutoFit/>
          </a:bodyPr>
          <a:lstStyle/>
          <a:p>
            <a:pPr algn="l"/>
            <a:r>
              <a:rPr lang="en-US" altLang="zh-CN" sz="2400" dirty="0" smtClean="0">
                <a:latin typeface="+mn-ea"/>
              </a:rPr>
              <a:t>5</a:t>
            </a:r>
            <a:r>
              <a:rPr lang="en-US" altLang="zh-CN" sz="2400" b="0" kern="1200" dirty="0" smtClean="0">
                <a:effectLst/>
                <a:latin typeface="+mn-ea"/>
                <a:ea typeface="+mn-ea"/>
              </a:rPr>
              <a:t>.2.2 </a:t>
            </a:r>
            <a:r>
              <a:rPr altLang="zh-CN" sz="2400" dirty="0"/>
              <a:t>软件工程概述</a:t>
            </a:r>
            <a:endParaRPr altLang="zh-CN" sz="2400" dirty="0"/>
          </a:p>
          <a:p>
            <a:pPr algn="l"/>
            <a:endParaRPr altLang="zh-CN" sz="2400" dirty="0"/>
          </a:p>
          <a:p>
            <a:pPr algn="l"/>
            <a:r>
              <a:rPr lang="en-US" sz="2400" dirty="0"/>
              <a:t>5.2.3 </a:t>
            </a:r>
            <a:r>
              <a:rPr lang="zh-CN" altLang="en-US" sz="2400" dirty="0"/>
              <a:t>软件开发方法</a:t>
            </a:r>
            <a:endParaRPr lang="zh-CN" alt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18237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dirty="0" smtClean="0">
                <a:solidFill>
                  <a:schemeClr val="bg2"/>
                </a:solidFill>
              </a:rPr>
              <a:t>软件</a:t>
            </a:r>
            <a:endParaRPr dirty="0" smtClean="0">
              <a:solidFill>
                <a:schemeClr val="bg2"/>
              </a:solidFill>
            </a:endParaRPr>
          </a:p>
        </p:txBody>
      </p:sp>
      <p:grpSp>
        <p:nvGrpSpPr>
          <p:cNvPr id="14" name="组合 13"/>
          <p:cNvGrpSpPr/>
          <p:nvPr/>
        </p:nvGrpSpPr>
        <p:grpSpPr>
          <a:xfrm>
            <a:off x="0" y="404495"/>
            <a:ext cx="2910840" cy="548640"/>
            <a:chOff x="0" y="1080145"/>
            <a:chExt cx="3131840"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963" y="1098561"/>
              <a:ext cx="2707566" cy="460388"/>
            </a:xfrm>
            <a:prstGeom prst="rect">
              <a:avLst/>
            </a:prstGeom>
            <a:noFill/>
          </p:spPr>
          <p:txBody>
            <a:bodyPr wrap="square" rtlCol="0">
              <a:spAutoFit/>
            </a:bodyPr>
            <a:lstStyle/>
            <a:p>
              <a:pPr algn="l"/>
              <a:r>
                <a:rPr lang="en-US" altLang="zh-CN" sz="2400" dirty="0" smtClean="0">
                  <a:solidFill>
                    <a:schemeClr val="bg2"/>
                  </a:solidFill>
                  <a:latin typeface="+mn-ea"/>
                </a:rPr>
                <a:t>5</a:t>
              </a:r>
              <a:r>
                <a:rPr lang="en-US" altLang="zh-CN" sz="2400" b="0" kern="1200" dirty="0" smtClean="0">
                  <a:solidFill>
                    <a:schemeClr val="bg2"/>
                  </a:solidFill>
                  <a:effectLst/>
                  <a:latin typeface="+mn-ea"/>
                  <a:ea typeface="+mn-ea"/>
                </a:rPr>
                <a:t>.2.1 </a:t>
              </a:r>
              <a:r>
                <a:rPr altLang="zh-CN" sz="2400" dirty="0">
                  <a:solidFill>
                    <a:schemeClr val="bg2"/>
                  </a:solidFill>
                </a:rPr>
                <a:t>软件与分类</a:t>
              </a:r>
              <a:endParaRPr altLang="zh-CN" sz="2400" dirty="0">
                <a:solidFill>
                  <a:schemeClr val="bg2"/>
                </a:solidFill>
              </a:endParaRPr>
            </a:p>
          </p:txBody>
        </p:sp>
      </p:grpSp>
      <p:sp>
        <p:nvSpPr>
          <p:cNvPr id="17" name="TextBox 16"/>
          <p:cNvSpPr txBox="1"/>
          <p:nvPr/>
        </p:nvSpPr>
        <p:spPr>
          <a:xfrm>
            <a:off x="1910731" y="6412686"/>
            <a:ext cx="59740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a:solidFill>
                  <a:schemeClr val="bg2"/>
                </a:solidFill>
              </a:rPr>
              <a:t>5</a:t>
            </a:r>
            <a:r>
              <a:rPr lang="zh-CN" altLang="zh-CN" dirty="0" smtClean="0">
                <a:solidFill>
                  <a:schemeClr val="bg2"/>
                </a:solidFill>
              </a:rPr>
              <a:t>章</a:t>
            </a:r>
            <a:r>
              <a:rPr lang="en-US" altLang="zh-CN" dirty="0" smtClean="0">
                <a:solidFill>
                  <a:schemeClr val="bg2"/>
                </a:solidFill>
              </a:rPr>
              <a:t>  </a:t>
            </a:r>
            <a:r>
              <a:rPr lang="zh-CN" dirty="0" smtClean="0">
                <a:solidFill>
                  <a:schemeClr val="bg2"/>
                </a:solidFill>
                <a:sym typeface="+mn-ea"/>
              </a:rPr>
              <a:t>语言、程序、软件与安全</a:t>
            </a:r>
            <a:r>
              <a:rPr lang="en-US" altLang="zh-CN" dirty="0" smtClean="0">
                <a:solidFill>
                  <a:schemeClr val="bg2"/>
                </a:solidFill>
              </a:rPr>
              <a:t>     </a:t>
            </a:r>
            <a:r>
              <a:rPr lang="zh-CN" altLang="en-US" dirty="0" smtClean="0">
                <a:solidFill>
                  <a:schemeClr val="bg2"/>
                </a:solidFill>
              </a:rPr>
              <a:t>第</a:t>
            </a:r>
            <a:r>
              <a:rPr lang="en-US" altLang="zh-CN" dirty="0">
                <a:solidFill>
                  <a:schemeClr val="bg2"/>
                </a:solidFill>
              </a:rPr>
              <a:t>2</a:t>
            </a:r>
            <a:r>
              <a:rPr lang="zh-CN" altLang="en-US" dirty="0" smtClean="0">
                <a:solidFill>
                  <a:schemeClr val="bg2"/>
                </a:solidFill>
              </a:rPr>
              <a:t>节 软件与软件工程</a:t>
            </a:r>
            <a:endParaRPr lang="zh-CN" altLang="en-US" dirty="0" smtClean="0">
              <a:solidFill>
                <a:schemeClr val="bg2"/>
              </a:solidFill>
            </a:endParaRPr>
          </a:p>
        </p:txBody>
      </p:sp>
      <p:sp>
        <p:nvSpPr>
          <p:cNvPr id="15" name="内容占位符 5"/>
          <p:cNvSpPr txBox="1"/>
          <p:nvPr/>
        </p:nvSpPr>
        <p:spPr>
          <a:xfrm>
            <a:off x="341630" y="1887220"/>
            <a:ext cx="8642350" cy="120332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软件（Software）是一系列按照特定顺序组织的计算机数据和指令的集合。一般来讲软件被划分为编程语言、系统软件、应用软件和介于这两者之间的中间件。软件是用户与硬件之间的接口界面。用户主要是通过软件与计算机进行交流。软件是计算机系统设计的重要依据。</a:t>
            </a:r>
            <a:endParaRPr altLang="zh-CN" sz="2000" dirty="0"/>
          </a:p>
          <a:p>
            <a:pPr marL="0" indent="0">
              <a:buNone/>
            </a:pPr>
            <a:endParaRPr altLang="zh-CN" sz="2000" dirty="0"/>
          </a:p>
        </p:txBody>
      </p:sp>
      <p:sp>
        <p:nvSpPr>
          <p:cNvPr id="8" name="五边形 7"/>
          <p:cNvSpPr/>
          <p:nvPr/>
        </p:nvSpPr>
        <p:spPr>
          <a:xfrm>
            <a:off x="-108585" y="3329940"/>
            <a:ext cx="139446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bg2"/>
                </a:solidFill>
              </a:rPr>
              <a:t>  </a:t>
            </a:r>
            <a:r>
              <a:rPr altLang="zh-CN" dirty="0">
                <a:solidFill>
                  <a:schemeClr val="bg2"/>
                </a:solidFill>
              </a:rPr>
              <a:t>软件分类</a:t>
            </a:r>
            <a:endParaRPr altLang="zh-CN" dirty="0">
              <a:solidFill>
                <a:schemeClr val="bg2"/>
              </a:solidFill>
            </a:endParaRPr>
          </a:p>
        </p:txBody>
      </p:sp>
      <p:sp>
        <p:nvSpPr>
          <p:cNvPr id="9" name="内容占位符 5"/>
          <p:cNvSpPr txBox="1"/>
          <p:nvPr/>
        </p:nvSpPr>
        <p:spPr>
          <a:xfrm>
            <a:off x="341630" y="3916680"/>
            <a:ext cx="8642350" cy="44450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一般来讲软件被划分为系统软件、应用软件，其中系统软件包括操作系统和支撑软件</a:t>
            </a:r>
            <a:endParaRPr altLang="zh-CN" sz="1800" dirty="0"/>
          </a:p>
        </p:txBody>
      </p:sp>
      <p:pic>
        <p:nvPicPr>
          <p:cNvPr id="2" name="图片 1" descr="image001"/>
          <p:cNvPicPr>
            <a:picLocks noChangeAspect="1"/>
          </p:cNvPicPr>
          <p:nvPr/>
        </p:nvPicPr>
        <p:blipFill>
          <a:blip r:embed="rId1"/>
          <a:stretch>
            <a:fillRect/>
          </a:stretch>
        </p:blipFill>
        <p:spPr>
          <a:xfrm>
            <a:off x="416560" y="4542155"/>
            <a:ext cx="4435475" cy="1416685"/>
          </a:xfrm>
          <a:prstGeom prst="rect">
            <a:avLst/>
          </a:prstGeom>
          <a:noFill/>
          <a:ln w="9525">
            <a:noFill/>
          </a:ln>
        </p:spPr>
      </p:pic>
      <p:sp>
        <p:nvSpPr>
          <p:cNvPr id="6" name="矩形 5"/>
          <p:cNvSpPr/>
          <p:nvPr/>
        </p:nvSpPr>
        <p:spPr>
          <a:xfrm>
            <a:off x="5031740" y="5066665"/>
            <a:ext cx="2343150" cy="368300"/>
          </a:xfrm>
          <a:prstGeom prst="rect">
            <a:avLst/>
          </a:prstGeom>
        </p:spPr>
        <p:txBody>
          <a:bodyPr wrap="square">
            <a:spAutoFit/>
          </a:bodyPr>
          <a:p>
            <a:r>
              <a:rPr lang="zh-CN" altLang="zh-CN" dirty="0"/>
              <a:t>图</a:t>
            </a:r>
            <a:r>
              <a:rPr lang="en-US" altLang="zh-CN" dirty="0"/>
              <a:t> 5-2 </a:t>
            </a:r>
            <a:r>
              <a:rPr lang="zh-CN" altLang="en-US" dirty="0"/>
              <a:t>软件分类框图</a:t>
            </a:r>
            <a:endParaRPr lang="zh-CN"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196975"/>
            <a:ext cx="92329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 </a:t>
            </a:r>
            <a:r>
              <a:rPr altLang="zh-CN" dirty="0">
                <a:solidFill>
                  <a:schemeClr val="bg2"/>
                </a:solidFill>
              </a:rPr>
              <a:t>定义</a:t>
            </a:r>
            <a:endParaRPr altLang="zh-CN" dirty="0">
              <a:solidFill>
                <a:schemeClr val="bg2"/>
              </a:solidFill>
            </a:endParaRPr>
          </a:p>
        </p:txBody>
      </p:sp>
      <p:sp>
        <p:nvSpPr>
          <p:cNvPr id="13" name="五边形 12"/>
          <p:cNvSpPr/>
          <p:nvPr/>
        </p:nvSpPr>
        <p:spPr>
          <a:xfrm>
            <a:off x="0" y="404495"/>
            <a:ext cx="3279775" cy="54864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16"/>
          <p:cNvSpPr txBox="1"/>
          <p:nvPr/>
        </p:nvSpPr>
        <p:spPr>
          <a:xfrm>
            <a:off x="1910731" y="6412686"/>
            <a:ext cx="59740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a:solidFill>
                  <a:schemeClr val="bg2"/>
                </a:solidFill>
                <a:sym typeface="+mn-ea"/>
              </a:rPr>
              <a:t>5</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语言、程序、软件与安全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软件与软件工程</a:t>
            </a:r>
            <a:endParaRPr lang="zh-CN" altLang="en-US" dirty="0">
              <a:solidFill>
                <a:schemeClr val="bg2"/>
              </a:solidFill>
            </a:endParaRPr>
          </a:p>
        </p:txBody>
      </p:sp>
      <p:sp>
        <p:nvSpPr>
          <p:cNvPr id="15" name="内容占位符 5"/>
          <p:cNvSpPr txBox="1"/>
          <p:nvPr/>
        </p:nvSpPr>
        <p:spPr>
          <a:xfrm>
            <a:off x="430530" y="1772920"/>
            <a:ext cx="8413750" cy="432054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000" dirty="0" smtClean="0"/>
              <a:t>       </a:t>
            </a:r>
            <a:r>
              <a:rPr sz="2000" dirty="0"/>
              <a:t>软件工程(Software Engineering)是一门研究用工程化方法构建和维护有效的、实用的和高质量的软件的学科。就软件工程的概念，很多学者、组织机构都分别给出了自己的定义：</a:t>
            </a:r>
            <a:endParaRPr sz="2000" dirty="0"/>
          </a:p>
          <a:p>
            <a:r>
              <a:rPr sz="2000" dirty="0"/>
              <a:t>BarryBoehm：运用现代科学技术知识来设计并构造计算机程序及为开发、运行和维护这些程序所必需的相关文件资料。</a:t>
            </a:r>
            <a:endParaRPr sz="2000" dirty="0"/>
          </a:p>
          <a:p>
            <a:r>
              <a:rPr altLang="zh-CN" sz="2000" dirty="0" smtClean="0"/>
              <a:t>IEEE在软件工程术语汇编中的定义：软件工程是将系统化的、严格约束的、可量化的方法应用于软件的开发、运行和维护，即将工程化应用于软件。</a:t>
            </a:r>
            <a:endParaRPr altLang="zh-CN" sz="2000" dirty="0" smtClean="0"/>
          </a:p>
          <a:p>
            <a:r>
              <a:rPr altLang="zh-CN" sz="2000" dirty="0" smtClean="0"/>
              <a:t>FritzBauer在NATO会议上给出的定义：建立并使用完善的工程化原则，以较经济的手段获得能在实际机器上有效运行的可靠软件的一系列方法。</a:t>
            </a:r>
            <a:endParaRPr altLang="zh-CN" sz="2000" dirty="0" smtClean="0"/>
          </a:p>
          <a:p>
            <a:r>
              <a:rPr altLang="zh-CN" sz="2000" dirty="0"/>
              <a:t>《计算机科学技术百科全书》中的定义：软件工程是应用计算机科学、数学及管理科学等原理，开发软件的工程。</a:t>
            </a:r>
            <a:endParaRPr altLang="zh-CN" sz="2000" dirty="0"/>
          </a:p>
          <a:p>
            <a:pPr marL="0" indent="0">
              <a:buNone/>
            </a:pPr>
            <a:endParaRPr lang="zh-CN" altLang="zh-CN" sz="2000" dirty="0"/>
          </a:p>
        </p:txBody>
      </p:sp>
      <p:grpSp>
        <p:nvGrpSpPr>
          <p:cNvPr id="10" name="组合 9"/>
          <p:cNvGrpSpPr/>
          <p:nvPr/>
        </p:nvGrpSpPr>
        <p:grpSpPr>
          <a:xfrm>
            <a:off x="0" y="404495"/>
            <a:ext cx="3098165" cy="548640"/>
            <a:chOff x="0" y="1080145"/>
            <a:chExt cx="3208080" cy="548655"/>
          </a:xfrm>
        </p:grpSpPr>
        <p:sp>
          <p:nvSpPr>
            <p:cNvPr id="11" name="五边形 10"/>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204707" y="1098561"/>
              <a:ext cx="3003373" cy="460388"/>
            </a:xfrm>
            <a:prstGeom prst="rect">
              <a:avLst/>
            </a:prstGeom>
            <a:noFill/>
          </p:spPr>
          <p:txBody>
            <a:bodyPr wrap="square" rtlCol="0">
              <a:spAutoFit/>
            </a:bodyPr>
            <a:lstStyle/>
            <a:p>
              <a:pPr algn="l"/>
              <a:r>
                <a:rPr altLang="zh-CN" sz="2400" dirty="0">
                  <a:solidFill>
                    <a:schemeClr val="bg2"/>
                  </a:solidFill>
                </a:rPr>
                <a:t>5.2.2 软件工程概述</a:t>
              </a:r>
              <a:endParaRPr altLang="zh-CN" sz="2400" dirty="0">
                <a:solidFill>
                  <a:schemeClr val="bg2"/>
                </a:solidFill>
              </a:endParaRPr>
            </a:p>
          </p:txBody>
        </p:sp>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196975"/>
            <a:ext cx="201993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  </a:t>
            </a:r>
            <a:r>
              <a:rPr altLang="zh-CN" dirty="0">
                <a:solidFill>
                  <a:schemeClr val="bg2"/>
                </a:solidFill>
              </a:rPr>
              <a:t>软件工程过程</a:t>
            </a:r>
            <a:endParaRPr altLang="zh-CN" dirty="0">
              <a:solidFill>
                <a:schemeClr val="bg2"/>
              </a:solidFill>
            </a:endParaRPr>
          </a:p>
        </p:txBody>
      </p:sp>
      <p:sp>
        <p:nvSpPr>
          <p:cNvPr id="17" name="TextBox 16"/>
          <p:cNvSpPr txBox="1"/>
          <p:nvPr/>
        </p:nvSpPr>
        <p:spPr>
          <a:xfrm>
            <a:off x="1910731" y="6412686"/>
            <a:ext cx="59740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a:solidFill>
                  <a:schemeClr val="bg2"/>
                </a:solidFill>
                <a:sym typeface="+mn-ea"/>
              </a:rPr>
              <a:t>5</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语言、程序、软件与安全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软件与软件工程</a:t>
            </a:r>
            <a:endParaRPr lang="zh-CN" altLang="en-US" dirty="0">
              <a:solidFill>
                <a:schemeClr val="bg2"/>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10" name="组合 9"/>
          <p:cNvGrpSpPr/>
          <p:nvPr/>
        </p:nvGrpSpPr>
        <p:grpSpPr>
          <a:xfrm>
            <a:off x="-36195" y="404495"/>
            <a:ext cx="3234690" cy="848360"/>
            <a:chOff x="50401" y="1080145"/>
            <a:chExt cx="3131840" cy="848350"/>
          </a:xfrm>
        </p:grpSpPr>
        <p:sp>
          <p:nvSpPr>
            <p:cNvPr id="11" name="五边形 10"/>
            <p:cNvSpPr/>
            <p:nvPr/>
          </p:nvSpPr>
          <p:spPr>
            <a:xfrm>
              <a:off x="50401"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204741" y="1098560"/>
              <a:ext cx="2866679" cy="829935"/>
            </a:xfrm>
            <a:prstGeom prst="rect">
              <a:avLst/>
            </a:prstGeom>
            <a:noFill/>
          </p:spPr>
          <p:txBody>
            <a:bodyPr wrap="square" rtlCol="0">
              <a:spAutoFit/>
            </a:bodyPr>
            <a:lstStyle/>
            <a:p>
              <a:pPr algn="l"/>
              <a:r>
                <a:rPr altLang="zh-CN" sz="2400" dirty="0">
                  <a:solidFill>
                    <a:schemeClr val="bg2"/>
                  </a:solidFill>
                  <a:sym typeface="+mn-ea"/>
                </a:rPr>
                <a:t>5.2.2 软件工程概述</a:t>
              </a:r>
              <a:endParaRPr altLang="zh-CN" sz="2400" dirty="0">
                <a:solidFill>
                  <a:schemeClr val="bg2"/>
                </a:solidFill>
              </a:endParaRPr>
            </a:p>
            <a:p>
              <a:endParaRPr lang="zh-CN" altLang="en-US" sz="2400" b="0" dirty="0">
                <a:solidFill>
                  <a:schemeClr val="bg2"/>
                </a:solidFill>
                <a:latin typeface="+mn-ea"/>
              </a:endParaRPr>
            </a:p>
          </p:txBody>
        </p:sp>
      </p:grpSp>
      <p:sp>
        <p:nvSpPr>
          <p:cNvPr id="3" name="内容占位符 5"/>
          <p:cNvSpPr txBox="1"/>
          <p:nvPr/>
        </p:nvSpPr>
        <p:spPr>
          <a:xfrm>
            <a:off x="430530" y="1772920"/>
            <a:ext cx="8413750" cy="219710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000" dirty="0" smtClean="0"/>
              <a:t>     </a:t>
            </a:r>
            <a:r>
              <a:rPr sz="2000" dirty="0"/>
              <a:t>软件过程可概括为三类：基本过程类、支持过程类和组织过程类</a:t>
            </a:r>
            <a:r>
              <a:rPr sz="2000" dirty="0"/>
              <a:t>：</a:t>
            </a:r>
            <a:endParaRPr sz="2000" dirty="0"/>
          </a:p>
          <a:p>
            <a:r>
              <a:rPr sz="2000" dirty="0"/>
              <a:t>基本过程类包括获取过程、供应过程、开发过程、运作过程、维护过程和管理过程。</a:t>
            </a:r>
            <a:endParaRPr sz="2000" dirty="0"/>
          </a:p>
          <a:p>
            <a:r>
              <a:rPr altLang="zh-CN" sz="2000" dirty="0" smtClean="0"/>
              <a:t>支持过程类包括文档过程、配置管理过程、质量保证过程、验证过程、确认过程、联合评审过程、审计过程以及问题解决过程。</a:t>
            </a:r>
            <a:endParaRPr altLang="zh-CN" sz="2000" dirty="0" smtClean="0"/>
          </a:p>
          <a:p>
            <a:r>
              <a:rPr altLang="zh-CN" sz="2000" dirty="0"/>
              <a:t>组织过程类包括基础设施过程、改进过程以及培训过程。</a:t>
            </a:r>
            <a:endParaRPr altLang="zh-CN" sz="2000" dirty="0"/>
          </a:p>
          <a:p>
            <a:pPr marL="0" indent="0">
              <a:buNone/>
            </a:pPr>
            <a:endParaRPr lang="zh-CN" altLang="zh-CN" sz="2000" dirty="0"/>
          </a:p>
        </p:txBody>
      </p:sp>
      <p:sp>
        <p:nvSpPr>
          <p:cNvPr id="6" name="内容占位符 5"/>
          <p:cNvSpPr txBox="1"/>
          <p:nvPr/>
        </p:nvSpPr>
        <p:spPr>
          <a:xfrm>
            <a:off x="430530" y="4092575"/>
            <a:ext cx="8413750" cy="126365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sz="2000" dirty="0"/>
              <a:t>软件工程过程是指生产一个最终能满足需求且达到工程目标的软件产品所需要的步骤。软件工程过程主要包括开发过程、运作过程、维护过程。它覆盖了需求、设计、实现、确认以及维护等活动。</a:t>
            </a:r>
            <a:endParaRPr sz="2000" dirty="0"/>
          </a:p>
          <a:p>
            <a:pPr marL="0" indent="0">
              <a:buNone/>
            </a:pPr>
            <a:endParaRPr altLang="zh-CN" sz="2000" dirty="0"/>
          </a:p>
          <a:p>
            <a:pPr marL="0" indent="0">
              <a:buNone/>
            </a:pPr>
            <a:endParaRPr lang="zh-CN" altLang="zh-CN" sz="2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196975"/>
            <a:ext cx="201993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  </a:t>
            </a:r>
            <a:r>
              <a:rPr dirty="0">
                <a:solidFill>
                  <a:schemeClr val="bg2"/>
                </a:solidFill>
              </a:rPr>
              <a:t>软件生命周期</a:t>
            </a:r>
            <a:endParaRPr dirty="0">
              <a:solidFill>
                <a:schemeClr val="bg2"/>
              </a:solidFill>
            </a:endParaRPr>
          </a:p>
        </p:txBody>
      </p:sp>
      <p:sp>
        <p:nvSpPr>
          <p:cNvPr id="17" name="TextBox 16"/>
          <p:cNvSpPr txBox="1"/>
          <p:nvPr/>
        </p:nvSpPr>
        <p:spPr>
          <a:xfrm>
            <a:off x="1910731" y="6412686"/>
            <a:ext cx="59740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a:solidFill>
                  <a:schemeClr val="bg2"/>
                </a:solidFill>
                <a:sym typeface="+mn-ea"/>
              </a:rPr>
              <a:t>5</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语言、程序、软件与安全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软件与软件工程</a:t>
            </a:r>
            <a:endParaRPr lang="zh-CN" altLang="en-US" dirty="0">
              <a:solidFill>
                <a:schemeClr val="bg2"/>
              </a:solidFill>
            </a:endParaRPr>
          </a:p>
        </p:txBody>
      </p:sp>
      <p:sp>
        <p:nvSpPr>
          <p:cNvPr id="15" name="内容占位符 5"/>
          <p:cNvSpPr txBox="1"/>
          <p:nvPr/>
        </p:nvSpPr>
        <p:spPr>
          <a:xfrm>
            <a:off x="611560" y="2033439"/>
            <a:ext cx="7560840" cy="305174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2000" dirty="0"/>
              <a:t>软件生命周期(SDLC，Systems Development Life Cycle)是软件的产生直到报废的生命周期，周期内有问题定义、可行性分析、总体描述、系统设计、编码、调试和测试、验收与运行、维护升级到废弃等阶段，这种按时间分层的思想方法是软件工程中的一种思想原则，即按部就班、逐步推进，每个阶段都要有定义、工作、审查、形成文档以供交流或备查，以提高软件的质量。</a:t>
            </a:r>
            <a:endParaRPr altLang="zh-CN" sz="2000" dirty="0"/>
          </a:p>
          <a:p>
            <a:pPr marL="0" indent="0">
              <a:buNone/>
            </a:pPr>
            <a:r>
              <a:rPr altLang="zh-CN" sz="2000" dirty="0"/>
              <a:t>通常，软件生存周期包括可行性分析与开发项计划、需求分析、设计（概要设计和详细设计）、编码、测试、维护等活动，可以将这些活动以适当的方式分配到不同的阶段去完成。</a:t>
            </a:r>
            <a:endParaRPr altLang="zh-CN" sz="20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10" name="组合 9"/>
          <p:cNvGrpSpPr/>
          <p:nvPr/>
        </p:nvGrpSpPr>
        <p:grpSpPr>
          <a:xfrm>
            <a:off x="0" y="404495"/>
            <a:ext cx="3436620" cy="548640"/>
            <a:chOff x="0" y="1080145"/>
            <a:chExt cx="3131840" cy="548655"/>
          </a:xfrm>
        </p:grpSpPr>
        <p:sp>
          <p:nvSpPr>
            <p:cNvPr id="11" name="五边形 10"/>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204854" y="1098561"/>
              <a:ext cx="2696669" cy="460388"/>
            </a:xfrm>
            <a:prstGeom prst="rect">
              <a:avLst/>
            </a:prstGeom>
            <a:noFill/>
          </p:spPr>
          <p:txBody>
            <a:bodyPr wrap="square" rtlCol="0">
              <a:spAutoFit/>
            </a:bodyPr>
            <a:lstStyle/>
            <a:p>
              <a:pPr algn="l"/>
              <a:r>
                <a:rPr altLang="zh-CN" sz="2400" dirty="0">
                  <a:solidFill>
                    <a:schemeClr val="bg2"/>
                  </a:solidFill>
                  <a:sym typeface="+mn-ea"/>
                </a:rPr>
                <a:t>5.2.2 软件工程概述</a:t>
              </a:r>
              <a:endParaRPr lang="zh-CN" altLang="en-US" sz="2400" b="0" dirty="0">
                <a:solidFill>
                  <a:schemeClr val="bg2"/>
                </a:solidFill>
                <a:latin typeface="+mn-ea"/>
              </a:endParaRP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16660"/>
            <a:ext cx="158940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solidFill>
              </a:rPr>
              <a:t> </a:t>
            </a:r>
            <a:r>
              <a:rPr lang="zh-CN" altLang="zh-CN" dirty="0">
                <a:solidFill>
                  <a:schemeClr val="bg2"/>
                </a:solidFill>
              </a:rPr>
              <a:t>结构化方法</a:t>
            </a:r>
            <a:endParaRPr lang="zh-CN" altLang="zh-CN" dirty="0">
              <a:solidFill>
                <a:schemeClr val="bg2"/>
              </a:solidFill>
            </a:endParaRPr>
          </a:p>
        </p:txBody>
      </p:sp>
      <p:sp>
        <p:nvSpPr>
          <p:cNvPr id="17" name="TextBox 16"/>
          <p:cNvSpPr txBox="1"/>
          <p:nvPr/>
        </p:nvSpPr>
        <p:spPr>
          <a:xfrm>
            <a:off x="1910731" y="6412686"/>
            <a:ext cx="59740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a:solidFill>
                  <a:schemeClr val="bg2"/>
                </a:solidFill>
                <a:sym typeface="+mn-ea"/>
              </a:rPr>
              <a:t>5</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语言、程序、软件与安全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软件与软件工程</a:t>
            </a:r>
            <a:endParaRPr lang="zh-CN" altLang="en-US" dirty="0">
              <a:solidFill>
                <a:schemeClr val="bg2"/>
              </a:solidFill>
            </a:endParaRPr>
          </a:p>
        </p:txBody>
      </p:sp>
      <p:sp>
        <p:nvSpPr>
          <p:cNvPr id="15" name="内容占位符 5"/>
          <p:cNvSpPr txBox="1"/>
          <p:nvPr/>
        </p:nvSpPr>
        <p:spPr>
          <a:xfrm>
            <a:off x="611560" y="2033439"/>
            <a:ext cx="7560840" cy="305174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2000" dirty="0"/>
              <a:t>结构化方法是一种传统的软件开发方法，它是由结构化分析、结构化设计和结构化程序设计三部分有机组合而成的。它的基本思想：把一个复杂问题的求解过程分阶段进行，而且这种分解是自顶向下，逐层分解，使得每个阶段处理的问题都控制在人们容易理解和处理的范围内。</a:t>
            </a:r>
            <a:endParaRPr altLang="zh-CN" sz="2000" dirty="0"/>
          </a:p>
          <a:p>
            <a:pPr marL="0" indent="0">
              <a:buNone/>
            </a:pPr>
            <a:r>
              <a:rPr lang="zh-CN" altLang="zh-CN" sz="2000" dirty="0"/>
              <a:t>结构化方法的基本要点是：自顶向下、逐步求精、模块化设计。</a:t>
            </a:r>
            <a:endParaRPr lang="zh-CN" altLang="zh-CN" sz="2000" dirty="0"/>
          </a:p>
          <a:p>
            <a:pPr marL="0" indent="0">
              <a:buNone/>
            </a:pPr>
            <a:r>
              <a:rPr lang="zh-CN" altLang="zh-CN" sz="2000" dirty="0"/>
              <a:t>结构化方法按软件生命周期划分，有结构化分析（SA）,结构化设计（SD），结构化实现（SP）。</a:t>
            </a:r>
            <a:endParaRPr lang="zh-CN" altLang="zh-CN" sz="20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9" name="组合 8"/>
          <p:cNvGrpSpPr/>
          <p:nvPr/>
        </p:nvGrpSpPr>
        <p:grpSpPr>
          <a:xfrm>
            <a:off x="0" y="404495"/>
            <a:ext cx="3348355" cy="548640"/>
            <a:chOff x="0" y="1080145"/>
            <a:chExt cx="3227950" cy="548655"/>
          </a:xfrm>
        </p:grpSpPr>
        <p:sp>
          <p:nvSpPr>
            <p:cNvPr id="10" name="五边形 9"/>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11" name="TextBox 10"/>
            <p:cNvSpPr txBox="1"/>
            <p:nvPr/>
          </p:nvSpPr>
          <p:spPr>
            <a:xfrm>
              <a:off x="205076" y="1098561"/>
              <a:ext cx="3022874" cy="460388"/>
            </a:xfrm>
            <a:prstGeom prst="rect">
              <a:avLst/>
            </a:prstGeom>
            <a:noFill/>
          </p:spPr>
          <p:txBody>
            <a:bodyPr wrap="square" rtlCol="0">
              <a:spAutoFit/>
            </a:bodyPr>
            <a:lstStyle/>
            <a:p>
              <a:pPr algn="l"/>
              <a:r>
                <a:rPr altLang="zh-CN" sz="2400" dirty="0">
                  <a:solidFill>
                    <a:schemeClr val="bg2"/>
                  </a:solidFill>
                </a:rPr>
                <a:t>5.2.3 软件开发方法</a:t>
              </a:r>
              <a:endParaRPr altLang="zh-CN" sz="2400" dirty="0">
                <a:solidFill>
                  <a:schemeClr val="bg2"/>
                </a:solidFill>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20" y="1216782"/>
            <a:ext cx="3456384"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altLang="zh-CN" dirty="0">
                <a:solidFill>
                  <a:schemeClr val="bg2"/>
                </a:solidFill>
              </a:rPr>
              <a:t>面向对象方法概述</a:t>
            </a:r>
            <a:endParaRPr altLang="zh-CN" dirty="0">
              <a:solidFill>
                <a:schemeClr val="bg2"/>
              </a:solidFill>
            </a:endParaRPr>
          </a:p>
        </p:txBody>
      </p:sp>
      <p:sp>
        <p:nvSpPr>
          <p:cNvPr id="17" name="TextBox 16"/>
          <p:cNvSpPr txBox="1"/>
          <p:nvPr/>
        </p:nvSpPr>
        <p:spPr>
          <a:xfrm>
            <a:off x="1910731" y="6412686"/>
            <a:ext cx="59740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a:solidFill>
                  <a:schemeClr val="bg2"/>
                </a:solidFill>
                <a:sym typeface="+mn-ea"/>
              </a:rPr>
              <a:t>5</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语言、程序、软件与安全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软件与软件工程</a:t>
            </a:r>
            <a:endParaRPr lang="zh-CN" altLang="en-US" dirty="0">
              <a:solidFill>
                <a:schemeClr val="bg2"/>
              </a:solidFill>
            </a:endParaRPr>
          </a:p>
        </p:txBody>
      </p:sp>
      <p:sp>
        <p:nvSpPr>
          <p:cNvPr id="15" name="内容占位符 5"/>
          <p:cNvSpPr txBox="1"/>
          <p:nvPr/>
        </p:nvSpPr>
        <p:spPr>
          <a:xfrm>
            <a:off x="611505" y="2033270"/>
            <a:ext cx="7560945" cy="262572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000" dirty="0" smtClean="0"/>
              <a:t>         </a:t>
            </a:r>
            <a:r>
              <a:rPr altLang="zh-CN" sz="2000" dirty="0"/>
              <a:t>面向对象方法(Object-Oriented Method)是一种把面向对象的思想应用于软件开发过程中，指导开发活动的系统方法，简称OO (Object-Oriented)方法，是建立在“对象”概念基础上的方法学。对象是由数据和容许的操作组成的封装体，与客观实体有直接对应关系，一个对象类定义了具有相似性质的一组对象。而继承性是对具有层次关系的类的属性和操作进行共享的一种方式。所谓面向对象就是基于对象概念，以对象为中心，以类和继承为构造机制，来认识、理解、刻画客观世界和设计、构建相应的软件系统。</a:t>
            </a:r>
            <a:endParaRPr altLang="zh-CN" sz="20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9" name="组合 8"/>
          <p:cNvGrpSpPr/>
          <p:nvPr/>
        </p:nvGrpSpPr>
        <p:grpSpPr>
          <a:xfrm>
            <a:off x="0" y="404495"/>
            <a:ext cx="3347720" cy="548640"/>
            <a:chOff x="0" y="1080145"/>
            <a:chExt cx="3131840" cy="548655"/>
          </a:xfrm>
        </p:grpSpPr>
        <p:sp>
          <p:nvSpPr>
            <p:cNvPr id="10" name="五边形 9"/>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11" name="TextBox 10"/>
            <p:cNvSpPr txBox="1"/>
            <p:nvPr/>
          </p:nvSpPr>
          <p:spPr>
            <a:xfrm>
              <a:off x="205014" y="1098561"/>
              <a:ext cx="2697473" cy="460388"/>
            </a:xfrm>
            <a:prstGeom prst="rect">
              <a:avLst/>
            </a:prstGeom>
            <a:noFill/>
          </p:spPr>
          <p:txBody>
            <a:bodyPr wrap="square" rtlCol="0">
              <a:spAutoFit/>
            </a:bodyPr>
            <a:lstStyle/>
            <a:p>
              <a:pPr algn="l"/>
              <a:r>
                <a:rPr altLang="zh-CN" sz="2400" dirty="0">
                  <a:solidFill>
                    <a:schemeClr val="bg2"/>
                  </a:solidFill>
                  <a:sym typeface="+mn-ea"/>
                </a:rPr>
                <a:t>5.2.3 软件开发方法</a:t>
              </a:r>
              <a:endParaRPr lang="zh-CN" altLang="en-US" sz="2400" dirty="0">
                <a:solidFill>
                  <a:schemeClr val="bg2"/>
                </a:solidFill>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16660"/>
            <a:ext cx="259651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2"/>
                </a:solidFill>
              </a:rPr>
              <a:t>  </a:t>
            </a:r>
            <a:r>
              <a:rPr dirty="0" smtClean="0">
                <a:solidFill>
                  <a:schemeClr val="bg2"/>
                </a:solidFill>
              </a:rPr>
              <a:t>软件复用和构件方法</a:t>
            </a:r>
            <a:endParaRPr dirty="0" smtClean="0">
              <a:solidFill>
                <a:schemeClr val="bg2"/>
              </a:solidFill>
            </a:endParaRPr>
          </a:p>
        </p:txBody>
      </p:sp>
      <p:sp>
        <p:nvSpPr>
          <p:cNvPr id="17" name="TextBox 16"/>
          <p:cNvSpPr txBox="1"/>
          <p:nvPr/>
        </p:nvSpPr>
        <p:spPr>
          <a:xfrm>
            <a:off x="1910731" y="6412686"/>
            <a:ext cx="59740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a:solidFill>
                  <a:schemeClr val="bg2"/>
                </a:solidFill>
                <a:sym typeface="+mn-ea"/>
              </a:rPr>
              <a:t>5</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语言、程序、软件与安全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a:solidFill>
                  <a:schemeClr val="bg2"/>
                </a:solidFill>
                <a:sym typeface="+mn-ea"/>
              </a:rPr>
              <a:t>2</a:t>
            </a:r>
            <a:r>
              <a:rPr lang="zh-CN" altLang="en-US" dirty="0" smtClean="0">
                <a:solidFill>
                  <a:schemeClr val="bg2"/>
                </a:solidFill>
                <a:sym typeface="+mn-ea"/>
              </a:rPr>
              <a:t>节 软件与软件工程</a:t>
            </a:r>
            <a:endParaRPr lang="zh-CN" altLang="en-US" dirty="0">
              <a:solidFill>
                <a:schemeClr val="bg2"/>
              </a:solidFill>
            </a:endParaRPr>
          </a:p>
        </p:txBody>
      </p:sp>
      <p:sp>
        <p:nvSpPr>
          <p:cNvPr id="15" name="内容占位符 5"/>
          <p:cNvSpPr txBox="1"/>
          <p:nvPr/>
        </p:nvSpPr>
        <p:spPr>
          <a:xfrm>
            <a:off x="208915" y="1880870"/>
            <a:ext cx="8478520" cy="68707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复用定义</a:t>
            </a:r>
            <a:r>
              <a:rPr lang="zh-CN" sz="1800" dirty="0"/>
              <a:t>：软件复用(Software Reuse) 就是将已有的软件成分用于构造新的软件系统，以缩减软件开发和维护的花费。</a:t>
            </a:r>
            <a:endParaRPr lang="zh-CN" sz="2000" dirty="0"/>
          </a:p>
          <a:p>
            <a:pPr marL="0" indent="0">
              <a:buNone/>
            </a:pPr>
            <a:r>
              <a:rPr lang="zh-CN" sz="1800" dirty="0"/>
              <a:t>基于构件的软件开发方法</a:t>
            </a:r>
            <a:r>
              <a:rPr lang="zh-CN" sz="2000" dirty="0"/>
              <a:t>：</a:t>
            </a:r>
            <a:endParaRPr lang="zh-CN" sz="20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9" name="组合 8"/>
          <p:cNvGrpSpPr/>
          <p:nvPr/>
        </p:nvGrpSpPr>
        <p:grpSpPr>
          <a:xfrm>
            <a:off x="0" y="404495"/>
            <a:ext cx="3190875" cy="548640"/>
            <a:chOff x="0" y="1080145"/>
            <a:chExt cx="3131840" cy="548655"/>
          </a:xfrm>
        </p:grpSpPr>
        <p:sp>
          <p:nvSpPr>
            <p:cNvPr id="10" name="五边形 9"/>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11" name="TextBox 10"/>
            <p:cNvSpPr txBox="1"/>
            <p:nvPr/>
          </p:nvSpPr>
          <p:spPr>
            <a:xfrm>
              <a:off x="204748" y="1098561"/>
              <a:ext cx="2736712" cy="460388"/>
            </a:xfrm>
            <a:prstGeom prst="rect">
              <a:avLst/>
            </a:prstGeom>
            <a:noFill/>
          </p:spPr>
          <p:txBody>
            <a:bodyPr wrap="square" rtlCol="0">
              <a:spAutoFit/>
            </a:bodyPr>
            <a:lstStyle/>
            <a:p>
              <a:pPr algn="l"/>
              <a:r>
                <a:rPr altLang="zh-CN" sz="2400" dirty="0">
                  <a:solidFill>
                    <a:schemeClr val="bg2"/>
                  </a:solidFill>
                  <a:sym typeface="+mn-ea"/>
                </a:rPr>
                <a:t>5.2.3 软件开发方法</a:t>
              </a:r>
              <a:endParaRPr lang="zh-CN" altLang="en-US" sz="2400" dirty="0">
                <a:solidFill>
                  <a:schemeClr val="bg2"/>
                </a:solidFill>
              </a:endParaRPr>
            </a:p>
          </p:txBody>
        </p:sp>
      </p:grpSp>
      <p:graphicFrame>
        <p:nvGraphicFramePr>
          <p:cNvPr id="3" name="对象 6"/>
          <p:cNvGraphicFramePr>
            <a:graphicFrameLocks noChangeAspect="1"/>
          </p:cNvGraphicFramePr>
          <p:nvPr/>
        </p:nvGraphicFramePr>
        <p:xfrm>
          <a:off x="612775" y="3129598"/>
          <a:ext cx="4051300" cy="2084705"/>
        </p:xfrm>
        <a:graphic>
          <a:graphicData uri="http://schemas.openxmlformats.org/presentationml/2006/ole">
            <mc:AlternateContent xmlns:mc="http://schemas.openxmlformats.org/markup-compatibility/2006">
              <mc:Choice xmlns:v="urn:schemas-microsoft-com:vml" Requires="v">
                <p:oleObj spid="_x0000_s3076" name="" r:id="rId1" imgW="5182870" imgH="2675890" progId="Word.Picture.8">
                  <p:embed/>
                </p:oleObj>
              </mc:Choice>
              <mc:Fallback>
                <p:oleObj name="" r:id="rId1" imgW="5182870" imgH="2675890" progId="Word.Picture.8">
                  <p:embed/>
                  <p:pic>
                    <p:nvPicPr>
                      <p:cNvPr id="0" name="图片 3075"/>
                      <p:cNvPicPr/>
                      <p:nvPr/>
                    </p:nvPicPr>
                    <p:blipFill>
                      <a:blip r:embed="rId2"/>
                      <a:stretch>
                        <a:fillRect/>
                      </a:stretch>
                    </p:blipFill>
                    <p:spPr>
                      <a:xfrm>
                        <a:off x="612775" y="3129598"/>
                        <a:ext cx="4051300" cy="2084705"/>
                      </a:xfrm>
                      <a:prstGeom prst="rect">
                        <a:avLst/>
                      </a:prstGeom>
                      <a:noFill/>
                      <a:ln w="38100">
                        <a:noFill/>
                        <a:miter/>
                      </a:ln>
                    </p:spPr>
                  </p:pic>
                </p:oleObj>
              </mc:Fallback>
            </mc:AlternateContent>
          </a:graphicData>
        </a:graphic>
      </p:graphicFrame>
      <p:pic>
        <p:nvPicPr>
          <p:cNvPr id="5" name="图片 7"/>
          <p:cNvPicPr>
            <a:picLocks noChangeAspect="1"/>
          </p:cNvPicPr>
          <p:nvPr/>
        </p:nvPicPr>
        <p:blipFill>
          <a:blip r:embed="rId3"/>
          <a:stretch>
            <a:fillRect/>
          </a:stretch>
        </p:blipFill>
        <p:spPr>
          <a:xfrm>
            <a:off x="5089843" y="2946718"/>
            <a:ext cx="3345815" cy="2450465"/>
          </a:xfrm>
          <a:prstGeom prst="rect">
            <a:avLst/>
          </a:prstGeom>
          <a:noFill/>
          <a:ln w="9525">
            <a:noFill/>
          </a:ln>
        </p:spPr>
      </p:pic>
      <p:sp>
        <p:nvSpPr>
          <p:cNvPr id="6" name="矩形 5"/>
          <p:cNvSpPr/>
          <p:nvPr/>
        </p:nvSpPr>
        <p:spPr>
          <a:xfrm>
            <a:off x="1078865" y="5540375"/>
            <a:ext cx="2933065" cy="368300"/>
          </a:xfrm>
          <a:prstGeom prst="rect">
            <a:avLst/>
          </a:prstGeom>
        </p:spPr>
        <p:txBody>
          <a:bodyPr wrap="square">
            <a:spAutoFit/>
          </a:bodyPr>
          <a:p>
            <a:r>
              <a:rPr lang="zh-CN" altLang="zh-CN" dirty="0"/>
              <a:t>图</a:t>
            </a:r>
            <a:r>
              <a:rPr lang="en-US" altLang="zh-CN" dirty="0"/>
              <a:t> 5-3 </a:t>
            </a:r>
            <a:r>
              <a:rPr lang="zh-CN" altLang="en-US" dirty="0"/>
              <a:t>基于构件的软件开发</a:t>
            </a:r>
            <a:endParaRPr lang="zh-CN" altLang="en-US" dirty="0"/>
          </a:p>
        </p:txBody>
      </p:sp>
      <p:sp>
        <p:nvSpPr>
          <p:cNvPr id="7" name="矩形 6"/>
          <p:cNvSpPr/>
          <p:nvPr/>
        </p:nvSpPr>
        <p:spPr>
          <a:xfrm>
            <a:off x="4740910" y="5540375"/>
            <a:ext cx="3695065" cy="368300"/>
          </a:xfrm>
          <a:prstGeom prst="rect">
            <a:avLst/>
          </a:prstGeom>
        </p:spPr>
        <p:txBody>
          <a:bodyPr wrap="square">
            <a:spAutoFit/>
          </a:bodyPr>
          <a:p>
            <a:r>
              <a:rPr lang="zh-CN" altLang="zh-CN" dirty="0"/>
              <a:t>图</a:t>
            </a:r>
            <a:r>
              <a:rPr lang="en-US" altLang="zh-CN" dirty="0"/>
              <a:t> 5-4 </a:t>
            </a:r>
            <a:r>
              <a:rPr lang="zh-CN" altLang="en-US" dirty="0"/>
              <a:t>传统软件过程与CBSD过程</a:t>
            </a: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5.3 </a:t>
            </a:r>
            <a:r>
              <a:rPr lang="zh-CN" altLang="en-US" dirty="0" smtClean="0"/>
              <a:t>软件系统安全</a:t>
            </a:r>
            <a:endParaRPr lang="zh-CN" altLang="en-US" dirty="0" smtClean="0"/>
          </a:p>
        </p:txBody>
      </p:sp>
      <p:sp>
        <p:nvSpPr>
          <p:cNvPr id="13" name="TextBox 12"/>
          <p:cNvSpPr txBox="1"/>
          <p:nvPr/>
        </p:nvSpPr>
        <p:spPr>
          <a:xfrm>
            <a:off x="3502174" y="3804700"/>
            <a:ext cx="2174875" cy="460375"/>
          </a:xfrm>
          <a:prstGeom prst="rect">
            <a:avLst/>
          </a:prstGeom>
          <a:noFill/>
        </p:spPr>
        <p:txBody>
          <a:bodyPr wrap="none" rtlCol="0">
            <a:spAutoFit/>
          </a:bodyPr>
          <a:lstStyle/>
          <a:p>
            <a:pPr algn="l"/>
            <a:r>
              <a:rPr lang="en-US" altLang="zh-CN" sz="2400" dirty="0" smtClean="0">
                <a:latin typeface="+mn-ea"/>
              </a:rPr>
              <a:t>5</a:t>
            </a:r>
            <a:r>
              <a:rPr lang="en-US" altLang="zh-CN" sz="2400" b="0" kern="1200" dirty="0" smtClean="0">
                <a:effectLst/>
                <a:latin typeface="+mn-ea"/>
                <a:ea typeface="+mn-ea"/>
              </a:rPr>
              <a:t>.3.1 </a:t>
            </a:r>
            <a:r>
              <a:rPr lang="zh-CN" altLang="en-US" sz="2400" b="0" kern="1200" dirty="0" smtClean="0">
                <a:effectLst/>
                <a:latin typeface="+mn-ea"/>
                <a:ea typeface="+mn-ea"/>
              </a:rPr>
              <a:t>恶意代码</a:t>
            </a:r>
            <a:endParaRPr lang="zh-CN" altLang="en-US" sz="2400" b="0" kern="1200" dirty="0" smtClean="0">
              <a:effectLst/>
              <a:latin typeface="+mn-ea"/>
              <a:ea typeface="+mn-ea"/>
            </a:endParaRPr>
          </a:p>
        </p:txBody>
      </p:sp>
      <p:sp>
        <p:nvSpPr>
          <p:cNvPr id="17" name="TextBox 16"/>
          <p:cNvSpPr txBox="1"/>
          <p:nvPr/>
        </p:nvSpPr>
        <p:spPr>
          <a:xfrm>
            <a:off x="3491880" y="4451920"/>
            <a:ext cx="5222875" cy="1568450"/>
          </a:xfrm>
          <a:prstGeom prst="rect">
            <a:avLst/>
          </a:prstGeom>
          <a:noFill/>
        </p:spPr>
        <p:txBody>
          <a:bodyPr wrap="none" rtlCol="0">
            <a:spAutoFit/>
          </a:bodyPr>
          <a:lstStyle/>
          <a:p>
            <a:pPr algn="l"/>
            <a:r>
              <a:rPr lang="en-US" altLang="zh-CN" sz="2400" dirty="0" smtClean="0">
                <a:latin typeface="+mn-ea"/>
              </a:rPr>
              <a:t>5</a:t>
            </a:r>
            <a:r>
              <a:rPr lang="en-US" altLang="zh-CN" sz="2400" b="0" kern="1200" dirty="0" smtClean="0">
                <a:effectLst/>
                <a:latin typeface="+mn-ea"/>
                <a:ea typeface="+mn-ea"/>
              </a:rPr>
              <a:t>.3.2 </a:t>
            </a:r>
            <a:r>
              <a:rPr lang="zh-CN" altLang="en-US" sz="2400" b="0" kern="1200" dirty="0" smtClean="0">
                <a:effectLst/>
                <a:latin typeface="+mn-ea"/>
                <a:ea typeface="+mn-ea"/>
              </a:rPr>
              <a:t>系统漏洞与后门</a:t>
            </a:r>
            <a:endParaRPr lang="zh-CN" altLang="en-US" sz="2400" b="0" kern="1200" dirty="0" smtClean="0">
              <a:effectLst/>
              <a:latin typeface="+mn-ea"/>
              <a:ea typeface="+mn-ea"/>
            </a:endParaRPr>
          </a:p>
          <a:p>
            <a:pPr algn="l"/>
            <a:endParaRPr lang="zh-CN" altLang="en-US" sz="2400" b="0" kern="1200" dirty="0" smtClean="0">
              <a:effectLst/>
              <a:latin typeface="+mn-ea"/>
              <a:ea typeface="+mn-ea"/>
            </a:endParaRPr>
          </a:p>
          <a:p>
            <a:pPr algn="l"/>
            <a:r>
              <a:rPr lang="en-US" altLang="zh-CN" sz="2400" b="0" kern="1200" dirty="0" smtClean="0">
                <a:effectLst/>
                <a:latin typeface="+mn-ea"/>
                <a:ea typeface="+mn-ea"/>
              </a:rPr>
              <a:t>5.3.3 软件质量、可靠性、测试与容错</a:t>
            </a:r>
            <a:endParaRPr lang="en-US" altLang="zh-CN" sz="2400" b="0" kern="1200" dirty="0" smtClean="0">
              <a:effectLst/>
              <a:latin typeface="+mn-ea"/>
              <a:ea typeface="+mn-ea"/>
            </a:endParaRPr>
          </a:p>
          <a:p>
            <a:pPr algn="l"/>
            <a:endParaRPr lang="en-US" altLang="zh-CN" sz="2400" b="0" kern="1200" dirty="0" smtClean="0">
              <a:effectLst/>
              <a:latin typeface="+mn-ea"/>
              <a:ea typeface="+mn-ea"/>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16660"/>
            <a:ext cx="196278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latin typeface="+mn-ea"/>
              </a:rPr>
              <a:t>  </a:t>
            </a:r>
            <a:r>
              <a:rPr lang="zh-CN" altLang="en-US" dirty="0" smtClean="0">
                <a:solidFill>
                  <a:schemeClr val="bg2"/>
                </a:solidFill>
                <a:latin typeface="+mn-ea"/>
              </a:rPr>
              <a:t>恶意代码概述</a:t>
            </a:r>
            <a:endParaRPr lang="zh-CN" altLang="en-US" dirty="0" smtClean="0">
              <a:solidFill>
                <a:schemeClr val="bg2"/>
              </a:solidFill>
              <a:latin typeface="+mn-ea"/>
            </a:endParaRPr>
          </a:p>
        </p:txBody>
      </p:sp>
      <p:sp>
        <p:nvSpPr>
          <p:cNvPr id="17" name="TextBox 16"/>
          <p:cNvSpPr txBox="1"/>
          <p:nvPr/>
        </p:nvSpPr>
        <p:spPr>
          <a:xfrm>
            <a:off x="2025030" y="6412686"/>
            <a:ext cx="57454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a:solidFill>
                  <a:schemeClr val="bg2"/>
                </a:solidFill>
              </a:rPr>
              <a:t>5</a:t>
            </a:r>
            <a:r>
              <a:rPr lang="zh-CN" altLang="zh-CN" dirty="0" smtClean="0">
                <a:solidFill>
                  <a:schemeClr val="bg2"/>
                </a:solidFill>
              </a:rPr>
              <a:t>章</a:t>
            </a:r>
            <a:r>
              <a:rPr lang="en-US" altLang="zh-CN" dirty="0" smtClean="0">
                <a:solidFill>
                  <a:schemeClr val="bg2"/>
                </a:solidFill>
              </a:rPr>
              <a:t>  </a:t>
            </a:r>
            <a:r>
              <a:rPr lang="zh-CN" dirty="0" smtClean="0">
                <a:solidFill>
                  <a:schemeClr val="bg2"/>
                </a:solidFill>
                <a:sym typeface="+mn-ea"/>
              </a:rPr>
              <a:t>语言、程序、软件与安全</a:t>
            </a:r>
            <a:r>
              <a:rPr lang="en-US" altLang="zh-CN" dirty="0" smtClean="0">
                <a:solidFill>
                  <a:schemeClr val="bg2"/>
                </a:solidFill>
              </a:rPr>
              <a:t>     </a:t>
            </a:r>
            <a:r>
              <a:rPr lang="zh-CN" altLang="en-US" dirty="0" smtClean="0">
                <a:solidFill>
                  <a:schemeClr val="bg2"/>
                </a:solidFill>
              </a:rPr>
              <a:t>第</a:t>
            </a:r>
            <a:r>
              <a:rPr lang="en-US" altLang="zh-CN" dirty="0" smtClean="0">
                <a:solidFill>
                  <a:schemeClr val="bg2"/>
                </a:solidFill>
              </a:rPr>
              <a:t>3</a:t>
            </a:r>
            <a:r>
              <a:rPr lang="zh-CN" altLang="en-US" dirty="0" smtClean="0">
                <a:solidFill>
                  <a:schemeClr val="bg2"/>
                </a:solidFill>
              </a:rPr>
              <a:t>节 软件系统安全</a:t>
            </a:r>
            <a:endParaRPr lang="zh-CN" altLang="en-US" dirty="0" smtClean="0">
              <a:solidFill>
                <a:schemeClr val="bg2"/>
              </a:solidFill>
            </a:endParaRPr>
          </a:p>
        </p:txBody>
      </p:sp>
      <p:sp>
        <p:nvSpPr>
          <p:cNvPr id="15" name="内容占位符 5"/>
          <p:cNvSpPr txBox="1"/>
          <p:nvPr/>
        </p:nvSpPr>
        <p:spPr>
          <a:xfrm>
            <a:off x="544885" y="2050584"/>
            <a:ext cx="7560840" cy="3195761"/>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000" dirty="0" smtClean="0"/>
              <a:t>        </a:t>
            </a:r>
            <a:r>
              <a:rPr lang="zh-CN" altLang="zh-CN" sz="1800" dirty="0"/>
              <a:t>恶意代码(Unwanted Code)指没有作用却会带来危险的代码。恶意代码又称恶意软件。比较安全的定义是把所有不必要的代码都看作是恶意的，而不必要代码比恶意代码具有更宽泛的安全含义，包括所有可能与某个组织安全策略相冲突的软件。</a:t>
            </a:r>
            <a:endParaRPr lang="zh-CN" altLang="zh-CN" sz="1800" dirty="0"/>
          </a:p>
          <a:p>
            <a:pPr marL="0" indent="0">
              <a:buNone/>
            </a:pPr>
            <a:r>
              <a:rPr lang="zh-CN" altLang="zh-CN" sz="1800" dirty="0"/>
              <a:t>       从危险程度上看，可以将其划分为两类，一是轻微危险程度的，一是严重危险程度的。</a:t>
            </a:r>
            <a:endParaRPr lang="zh-CN" altLang="zh-CN" sz="1800" dirty="0"/>
          </a:p>
          <a:p>
            <a:pPr marL="0" indent="0">
              <a:buNone/>
            </a:pPr>
            <a:r>
              <a:rPr lang="zh-CN" altLang="zh-CN" sz="1800" dirty="0"/>
              <a:t>       轻微危险程度的定义：是指在未明确提示用户或未经用户许可的情况下，在用户计算机或其他终端上安装运行，侵犯用户合法权益的软件。</a:t>
            </a:r>
            <a:endParaRPr lang="zh-CN" altLang="zh-CN" sz="1800" dirty="0"/>
          </a:p>
          <a:p>
            <a:pPr marL="0" indent="0">
              <a:buNone/>
            </a:pPr>
            <a:r>
              <a:rPr lang="zh-CN" altLang="zh-CN" sz="1800" dirty="0"/>
              <a:t>       严重危险程度的定义：恶意代码是指故意编制或设置的、对网络或系统会产生威胁或潜在威胁的计算机代码。</a:t>
            </a:r>
            <a:endParaRPr lang="zh-CN" altLang="zh-CN" sz="18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9" name="组合 8"/>
          <p:cNvGrpSpPr/>
          <p:nvPr/>
        </p:nvGrpSpPr>
        <p:grpSpPr>
          <a:xfrm>
            <a:off x="0" y="404495"/>
            <a:ext cx="2620645" cy="548640"/>
            <a:chOff x="0" y="1080145"/>
            <a:chExt cx="3131840" cy="548655"/>
          </a:xfrm>
        </p:grpSpPr>
        <p:sp>
          <p:nvSpPr>
            <p:cNvPr id="10" name="五边形 9"/>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11" name="TextBox 10"/>
            <p:cNvSpPr txBox="1"/>
            <p:nvPr/>
          </p:nvSpPr>
          <p:spPr>
            <a:xfrm>
              <a:off x="204926" y="1098561"/>
              <a:ext cx="2843639" cy="460388"/>
            </a:xfrm>
            <a:prstGeom prst="rect">
              <a:avLst/>
            </a:prstGeom>
            <a:noFill/>
          </p:spPr>
          <p:txBody>
            <a:bodyPr wrap="square" rtlCol="0">
              <a:spAutoFit/>
            </a:bodyPr>
            <a:lstStyle/>
            <a:p>
              <a:pPr algn="l"/>
              <a:r>
                <a:rPr lang="en-US" altLang="zh-CN" sz="2400" dirty="0" smtClean="0">
                  <a:solidFill>
                    <a:schemeClr val="bg2"/>
                  </a:solidFill>
                </a:rPr>
                <a:t>5.3.1 </a:t>
              </a:r>
              <a:r>
                <a:rPr lang="zh-CN" altLang="en-US" sz="2400" dirty="0" smtClean="0">
                  <a:solidFill>
                    <a:schemeClr val="bg2"/>
                  </a:solidFill>
                </a:rPr>
                <a:t>恶意代码</a:t>
              </a:r>
              <a:endParaRPr lang="zh-CN" altLang="en-US" sz="2400" dirty="0" smtClean="0">
                <a:solidFill>
                  <a:schemeClr val="bg2"/>
                </a:solidFill>
              </a:endParaRPr>
            </a:p>
          </p:txBody>
        </p: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16660"/>
            <a:ext cx="192913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latin typeface="+mn-ea"/>
              </a:rPr>
              <a:t>  </a:t>
            </a:r>
            <a:r>
              <a:rPr lang="zh-CN" altLang="en-US" dirty="0" smtClean="0">
                <a:solidFill>
                  <a:schemeClr val="bg2"/>
                </a:solidFill>
                <a:latin typeface="+mn-ea"/>
              </a:rPr>
              <a:t>恶意代码类型</a:t>
            </a:r>
            <a:endParaRPr lang="zh-CN" altLang="en-US" dirty="0" smtClean="0">
              <a:solidFill>
                <a:schemeClr val="bg2"/>
              </a:solidFill>
              <a:latin typeface="+mn-ea"/>
            </a:endParaRPr>
          </a:p>
        </p:txBody>
      </p:sp>
      <p:sp>
        <p:nvSpPr>
          <p:cNvPr id="17" name="TextBox 16"/>
          <p:cNvSpPr txBox="1"/>
          <p:nvPr/>
        </p:nvSpPr>
        <p:spPr>
          <a:xfrm>
            <a:off x="2025030" y="6412686"/>
            <a:ext cx="57454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a:solidFill>
                  <a:schemeClr val="bg2"/>
                </a:solidFill>
                <a:sym typeface="+mn-ea"/>
              </a:rPr>
              <a:t>5</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语言、程序、软件与安全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软件系统安全</a:t>
            </a:r>
            <a:endParaRPr lang="zh-CN" altLang="en-US" dirty="0">
              <a:solidFill>
                <a:schemeClr val="bg2"/>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9" name="组合 8"/>
          <p:cNvGrpSpPr/>
          <p:nvPr/>
        </p:nvGrpSpPr>
        <p:grpSpPr>
          <a:xfrm>
            <a:off x="0" y="404495"/>
            <a:ext cx="2592070" cy="548640"/>
            <a:chOff x="0" y="1080145"/>
            <a:chExt cx="3131840" cy="548655"/>
          </a:xfrm>
        </p:grpSpPr>
        <p:sp>
          <p:nvSpPr>
            <p:cNvPr id="10" name="五边形 9"/>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11" name="TextBox 10"/>
            <p:cNvSpPr txBox="1"/>
            <p:nvPr/>
          </p:nvSpPr>
          <p:spPr>
            <a:xfrm>
              <a:off x="204622" y="1098561"/>
              <a:ext cx="2716109" cy="460388"/>
            </a:xfrm>
            <a:prstGeom prst="rect">
              <a:avLst/>
            </a:prstGeom>
            <a:noFill/>
          </p:spPr>
          <p:txBody>
            <a:bodyPr wrap="square" rtlCol="0">
              <a:spAutoFit/>
            </a:bodyPr>
            <a:lstStyle/>
            <a:p>
              <a:pPr algn="l"/>
              <a:r>
                <a:rPr lang="en-US" altLang="zh-CN" sz="2400" dirty="0" smtClean="0">
                  <a:solidFill>
                    <a:schemeClr val="bg2"/>
                  </a:solidFill>
                  <a:sym typeface="+mn-ea"/>
                </a:rPr>
                <a:t>5.3.1 </a:t>
              </a:r>
              <a:r>
                <a:rPr lang="zh-CN" altLang="en-US" sz="2400" dirty="0" smtClean="0">
                  <a:solidFill>
                    <a:schemeClr val="bg2"/>
                  </a:solidFill>
                  <a:sym typeface="+mn-ea"/>
                </a:rPr>
                <a:t>恶意代码</a:t>
              </a:r>
              <a:endParaRPr lang="zh-CN" altLang="en-US" sz="2400" dirty="0">
                <a:solidFill>
                  <a:schemeClr val="bg2"/>
                </a:solidFill>
              </a:endParaRPr>
            </a:p>
          </p:txBody>
        </p:sp>
      </p:grpSp>
      <p:sp>
        <p:nvSpPr>
          <p:cNvPr id="3" name="内容占位符 5"/>
          <p:cNvSpPr txBox="1"/>
          <p:nvPr/>
        </p:nvSpPr>
        <p:spPr>
          <a:xfrm>
            <a:off x="250825" y="1944370"/>
            <a:ext cx="8642350" cy="395478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sz="1800" dirty="0"/>
              <a:t>非过滤性病毒包括口令破解软件、嗅探器软件、键盘输入记录软件，远程特洛伊和谍件等，组织内部或外部的攻击者使用这些软件来获取口令、侦察网络通信、记录私人通信，暗地接收和传递远程主机的非授权命令，而有些私自安装的P2P软件实际上等于在企业的防火墙上开了一个口子。非滤过性病毒有增长的趋势，对它的防御不是一个简单的任务。</a:t>
            </a:r>
            <a:endParaRPr sz="1800" dirty="0"/>
          </a:p>
          <a:p>
            <a:r>
              <a:rPr sz="1800" dirty="0"/>
              <a:t>内外恶意攻击</a:t>
            </a:r>
            <a:r>
              <a:rPr lang="zh-CN" sz="1800" dirty="0"/>
              <a:t>：（1）逻辑炸弹和时间炸弹。逻辑炸弹和时间炸弹是以破坏数据和应用程序为目的的程序。（2）Zombies(僵尸)。zombies程序可以利用网络上计算机系统的安全漏洞将自动攻击脚本安装到多台主机上，这些主机成为受害者而听从攻击者指挥，在某个时刻，汇集到一起去再去攻击其他的受害者。（3）其他。</a:t>
            </a:r>
            <a:endParaRPr lang="zh-CN" sz="1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20" y="1216782"/>
            <a:ext cx="1872208"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dirty="0">
                <a:solidFill>
                  <a:schemeClr val="bg2"/>
                </a:solidFill>
              </a:rPr>
              <a:t>系统漏洞概述</a:t>
            </a:r>
            <a:endParaRPr lang="zh-CN" altLang="zh-CN" dirty="0">
              <a:solidFill>
                <a:schemeClr val="bg2"/>
              </a:solidFill>
            </a:endParaRPr>
          </a:p>
        </p:txBody>
      </p:sp>
      <p:sp>
        <p:nvSpPr>
          <p:cNvPr id="17" name="TextBox 16"/>
          <p:cNvSpPr txBox="1"/>
          <p:nvPr/>
        </p:nvSpPr>
        <p:spPr>
          <a:xfrm>
            <a:off x="2025030" y="6412686"/>
            <a:ext cx="57454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a:solidFill>
                  <a:schemeClr val="bg2"/>
                </a:solidFill>
                <a:sym typeface="+mn-ea"/>
              </a:rPr>
              <a:t>5</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语言、程序、软件与安全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软件系统安全</a:t>
            </a:r>
            <a:endParaRPr lang="zh-CN" altLang="en-US" dirty="0">
              <a:solidFill>
                <a:schemeClr val="bg2"/>
              </a:solidFill>
            </a:endParaRPr>
          </a:p>
        </p:txBody>
      </p:sp>
      <p:sp>
        <p:nvSpPr>
          <p:cNvPr id="15" name="内容占位符 5"/>
          <p:cNvSpPr txBox="1"/>
          <p:nvPr/>
        </p:nvSpPr>
        <p:spPr>
          <a:xfrm>
            <a:off x="401320" y="2033270"/>
            <a:ext cx="8277860" cy="97917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zh-CN" sz="1800" dirty="0"/>
              <a:t>系统漏洞（System vulnerabilities）是指应用软件或操作系统软件在逻辑设计上的缺陷或错误，被不法者利用，通过网络植入木马、病毒等方式来攻击或控制电脑，窃取其中的重要资料和信息，甚至破坏系统。</a:t>
            </a:r>
            <a:endParaRPr lang="zh-CN" altLang="zh-CN" sz="18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9" name="组合 8"/>
          <p:cNvGrpSpPr/>
          <p:nvPr/>
        </p:nvGrpSpPr>
        <p:grpSpPr>
          <a:xfrm>
            <a:off x="0" y="404495"/>
            <a:ext cx="3559175" cy="548640"/>
            <a:chOff x="0" y="1080145"/>
            <a:chExt cx="3188731" cy="548655"/>
          </a:xfrm>
        </p:grpSpPr>
        <p:sp>
          <p:nvSpPr>
            <p:cNvPr id="10" name="五边形 9"/>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11" name="TextBox 10"/>
            <p:cNvSpPr txBox="1"/>
            <p:nvPr/>
          </p:nvSpPr>
          <p:spPr>
            <a:xfrm>
              <a:off x="204807" y="1098561"/>
              <a:ext cx="2983924" cy="460388"/>
            </a:xfrm>
            <a:prstGeom prst="rect">
              <a:avLst/>
            </a:prstGeom>
            <a:noFill/>
          </p:spPr>
          <p:txBody>
            <a:bodyPr wrap="square" rtlCol="0">
              <a:spAutoFit/>
            </a:bodyPr>
            <a:lstStyle/>
            <a:p>
              <a:pPr algn="l"/>
              <a:r>
                <a:rPr lang="en-US" altLang="zh-CN" sz="2400" dirty="0">
                  <a:solidFill>
                    <a:schemeClr val="bg2"/>
                  </a:solidFill>
                </a:rPr>
                <a:t>5.3.2 </a:t>
              </a:r>
              <a:r>
                <a:rPr lang="zh-CN" altLang="zh-CN" sz="2400" dirty="0">
                  <a:solidFill>
                    <a:schemeClr val="bg2"/>
                  </a:solidFill>
                </a:rPr>
                <a:t>系统漏洞与后门</a:t>
              </a:r>
              <a:endParaRPr lang="zh-CN" altLang="zh-CN" sz="2400" dirty="0">
                <a:solidFill>
                  <a:schemeClr val="bg2"/>
                </a:solidFill>
              </a:endParaRPr>
            </a:p>
          </p:txBody>
        </p:sp>
      </p:grpSp>
      <p:sp>
        <p:nvSpPr>
          <p:cNvPr id="3" name="五边形 2"/>
          <p:cNvSpPr/>
          <p:nvPr/>
        </p:nvSpPr>
        <p:spPr>
          <a:xfrm>
            <a:off x="-108520" y="3315457"/>
            <a:ext cx="1872208"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solidFill>
                  <a:schemeClr val="bg2"/>
                </a:solidFill>
              </a:rPr>
              <a:t> </a:t>
            </a:r>
            <a:r>
              <a:rPr lang="zh-CN" altLang="zh-CN" dirty="0">
                <a:solidFill>
                  <a:schemeClr val="bg2"/>
                </a:solidFill>
              </a:rPr>
              <a:t>系统后门</a:t>
            </a:r>
            <a:r>
              <a:rPr lang="zh-CN" altLang="zh-CN" dirty="0">
                <a:solidFill>
                  <a:schemeClr val="bg2"/>
                </a:solidFill>
              </a:rPr>
              <a:t>概述</a:t>
            </a:r>
            <a:endParaRPr lang="zh-CN" altLang="zh-CN" dirty="0">
              <a:solidFill>
                <a:schemeClr val="bg2"/>
              </a:solidFill>
            </a:endParaRPr>
          </a:p>
        </p:txBody>
      </p:sp>
      <p:sp>
        <p:nvSpPr>
          <p:cNvPr id="5" name="内容占位符 5"/>
          <p:cNvSpPr txBox="1"/>
          <p:nvPr/>
        </p:nvSpPr>
        <p:spPr>
          <a:xfrm>
            <a:off x="401320" y="4141470"/>
            <a:ext cx="8277860" cy="130238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zh-CN" sz="1800" dirty="0"/>
              <a:t>系统后门指绕过安全性控制而获取对程序或系统访问权的方法。在软件的开发阶段，程序员常常会在软件内创建后门程序以便可以修改程序设计中的缺陷。但是，如果这些后门被其他人知道，或是在发布软件之前没有删除后门程序，那么它就成了安全风险，容易被黑客当成漏洞进行攻击。</a:t>
            </a:r>
            <a:endParaRPr lang="zh-CN" altLang="zh-CN" sz="1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16660"/>
            <a:ext cx="153035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  </a:t>
            </a:r>
            <a:r>
              <a:rPr lang="zh-CN" altLang="en-US" dirty="0" smtClean="0">
                <a:solidFill>
                  <a:schemeClr val="bg2"/>
                </a:solidFill>
              </a:rPr>
              <a:t>软件质量</a:t>
            </a:r>
            <a:endParaRPr lang="zh-CN" altLang="en-US" dirty="0" smtClean="0">
              <a:solidFill>
                <a:schemeClr val="bg2"/>
              </a:solidFill>
            </a:endParaRPr>
          </a:p>
        </p:txBody>
      </p:sp>
      <p:sp>
        <p:nvSpPr>
          <p:cNvPr id="17" name="TextBox 16"/>
          <p:cNvSpPr txBox="1"/>
          <p:nvPr/>
        </p:nvSpPr>
        <p:spPr>
          <a:xfrm>
            <a:off x="2025030" y="6412686"/>
            <a:ext cx="57454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a:solidFill>
                  <a:schemeClr val="bg2"/>
                </a:solidFill>
                <a:sym typeface="+mn-ea"/>
              </a:rPr>
              <a:t>5</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语言、程序、软件与安全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软件系统安全</a:t>
            </a:r>
            <a:endParaRPr lang="zh-CN" altLang="en-US" dirty="0">
              <a:solidFill>
                <a:schemeClr val="bg2"/>
              </a:solidFill>
            </a:endParaRPr>
          </a:p>
        </p:txBody>
      </p:sp>
      <p:sp>
        <p:nvSpPr>
          <p:cNvPr id="15" name="内容占位符 5"/>
          <p:cNvSpPr txBox="1"/>
          <p:nvPr/>
        </p:nvSpPr>
        <p:spPr>
          <a:xfrm>
            <a:off x="675639" y="1919140"/>
            <a:ext cx="7793048" cy="1165832"/>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中华人民共和国国家标准GB/T 11457-1995中，软件质量的定义是：软件产品中能满足给定需求的性质和特性的总和</a:t>
            </a:r>
            <a:r>
              <a:rPr lang="zh-CN" altLang="zh-CN" sz="1800" dirty="0"/>
              <a:t>。包括符合规格说明；具有所期望的各种属性组合程度；用户觉得软件满足其综合期望程度；确定软件在使用中将满足顾客预期要求的程度。</a:t>
            </a:r>
            <a:endParaRPr lang="zh-CN" altLang="zh-CN" sz="18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9" name="组合 8"/>
          <p:cNvGrpSpPr/>
          <p:nvPr/>
        </p:nvGrpSpPr>
        <p:grpSpPr>
          <a:xfrm>
            <a:off x="-1" y="404664"/>
            <a:ext cx="5800847" cy="548655"/>
            <a:chOff x="0" y="1080145"/>
            <a:chExt cx="3131840" cy="548655"/>
          </a:xfrm>
        </p:grpSpPr>
        <p:sp>
          <p:nvSpPr>
            <p:cNvPr id="10" name="五边形 9"/>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11" name="TextBox 10"/>
            <p:cNvSpPr txBox="1"/>
            <p:nvPr/>
          </p:nvSpPr>
          <p:spPr>
            <a:xfrm>
              <a:off x="204810" y="1098550"/>
              <a:ext cx="2813968" cy="460375"/>
            </a:xfrm>
            <a:prstGeom prst="rect">
              <a:avLst/>
            </a:prstGeom>
            <a:noFill/>
          </p:spPr>
          <p:txBody>
            <a:bodyPr wrap="none" rtlCol="0">
              <a:spAutoFit/>
            </a:bodyPr>
            <a:lstStyle/>
            <a:p>
              <a:pPr algn="l"/>
              <a:r>
                <a:rPr lang="en-US" altLang="zh-CN" sz="2400" dirty="0">
                  <a:solidFill>
                    <a:schemeClr val="bg2"/>
                  </a:solidFill>
                </a:rPr>
                <a:t>5.3.3 </a:t>
              </a:r>
              <a:r>
                <a:rPr lang="zh-CN" altLang="zh-CN" sz="2400" dirty="0">
                  <a:solidFill>
                    <a:schemeClr val="bg2"/>
                  </a:solidFill>
                </a:rPr>
                <a:t>软件质量、可靠性、测试与容错</a:t>
              </a:r>
              <a:endParaRPr lang="zh-CN" altLang="zh-CN" sz="2400" dirty="0">
                <a:solidFill>
                  <a:schemeClr val="bg2"/>
                </a:solidFill>
              </a:endParaRPr>
            </a:p>
          </p:txBody>
        </p:sp>
      </p:grpSp>
      <p:sp>
        <p:nvSpPr>
          <p:cNvPr id="3" name="五边形 2"/>
          <p:cNvSpPr/>
          <p:nvPr/>
        </p:nvSpPr>
        <p:spPr>
          <a:xfrm>
            <a:off x="-108585" y="3343910"/>
            <a:ext cx="172212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bg2"/>
                </a:solidFill>
              </a:rPr>
              <a:t>  </a:t>
            </a:r>
            <a:r>
              <a:rPr lang="zh-CN" altLang="en-US" dirty="0" smtClean="0">
                <a:solidFill>
                  <a:schemeClr val="bg2"/>
                </a:solidFill>
              </a:rPr>
              <a:t>软件可靠性</a:t>
            </a:r>
            <a:endParaRPr lang="zh-CN" altLang="en-US" dirty="0" smtClean="0">
              <a:solidFill>
                <a:schemeClr val="bg2"/>
              </a:solidFill>
            </a:endParaRPr>
          </a:p>
        </p:txBody>
      </p:sp>
      <p:sp>
        <p:nvSpPr>
          <p:cNvPr id="5" name="内容占位符 5"/>
          <p:cNvSpPr txBox="1"/>
          <p:nvPr/>
        </p:nvSpPr>
        <p:spPr>
          <a:xfrm>
            <a:off x="675005" y="4055745"/>
            <a:ext cx="7793355" cy="155575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在GB/T 11457-1995标准中软件可靠性(Software Reliability)的定义是：软件可靠性是软件系统在规定的时间内及规定的环境条件下，完成规定功能的能力。</a:t>
            </a:r>
            <a:endParaRPr altLang="zh-CN" sz="1800" dirty="0"/>
          </a:p>
          <a:p>
            <a:pPr marL="0" indent="0">
              <a:buNone/>
            </a:pPr>
            <a:r>
              <a:rPr altLang="zh-CN" sz="1800" dirty="0"/>
              <a:t>软件可靠性是软件系统固有的特性之一，它表明了一个软件系统按照用户的要求和设计的目标，执行其功能的正确程度。</a:t>
            </a:r>
            <a:endParaRPr altLang="zh-CN" sz="1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16660"/>
            <a:ext cx="177419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测试的概念</a:t>
            </a:r>
            <a:endParaRPr lang="zh-CN" altLang="en-US" dirty="0" smtClean="0">
              <a:solidFill>
                <a:schemeClr val="bg2"/>
              </a:solidFill>
            </a:endParaRPr>
          </a:p>
        </p:txBody>
      </p:sp>
      <p:sp>
        <p:nvSpPr>
          <p:cNvPr id="17" name="TextBox 16"/>
          <p:cNvSpPr txBox="1"/>
          <p:nvPr/>
        </p:nvSpPr>
        <p:spPr>
          <a:xfrm>
            <a:off x="2025030" y="6412686"/>
            <a:ext cx="57454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a:solidFill>
                  <a:schemeClr val="bg2"/>
                </a:solidFill>
                <a:sym typeface="+mn-ea"/>
              </a:rPr>
              <a:t>5</a:t>
            </a:r>
            <a:r>
              <a:rPr lang="zh-CN" altLang="zh-CN" dirty="0" smtClean="0">
                <a:solidFill>
                  <a:schemeClr val="bg2"/>
                </a:solidFill>
                <a:sym typeface="+mn-ea"/>
              </a:rPr>
              <a:t>章</a:t>
            </a:r>
            <a:r>
              <a:rPr lang="en-US" altLang="zh-CN" dirty="0" smtClean="0">
                <a:solidFill>
                  <a:schemeClr val="bg2"/>
                </a:solidFill>
                <a:sym typeface="+mn-ea"/>
              </a:rPr>
              <a:t>  </a:t>
            </a:r>
            <a:r>
              <a:rPr lang="zh-CN" dirty="0" smtClean="0">
                <a:solidFill>
                  <a:schemeClr val="bg2"/>
                </a:solidFill>
                <a:sym typeface="+mn-ea"/>
              </a:rPr>
              <a:t>语言、程序、软件与安全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软件系统安全</a:t>
            </a:r>
            <a:endParaRPr lang="zh-CN" altLang="en-US" dirty="0">
              <a:solidFill>
                <a:schemeClr val="bg2"/>
              </a:solidFill>
            </a:endParaRP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9" name="组合 8"/>
          <p:cNvGrpSpPr/>
          <p:nvPr/>
        </p:nvGrpSpPr>
        <p:grpSpPr>
          <a:xfrm>
            <a:off x="-1" y="404664"/>
            <a:ext cx="5800847" cy="548655"/>
            <a:chOff x="0" y="1080145"/>
            <a:chExt cx="3131840" cy="548655"/>
          </a:xfrm>
        </p:grpSpPr>
        <p:sp>
          <p:nvSpPr>
            <p:cNvPr id="10" name="五边形 9"/>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solidFill>
              </a:endParaRPr>
            </a:p>
          </p:txBody>
        </p:sp>
        <p:sp>
          <p:nvSpPr>
            <p:cNvPr id="11" name="TextBox 10"/>
            <p:cNvSpPr txBox="1"/>
            <p:nvPr/>
          </p:nvSpPr>
          <p:spPr>
            <a:xfrm>
              <a:off x="204810" y="1098550"/>
              <a:ext cx="2813968" cy="460375"/>
            </a:xfrm>
            <a:prstGeom prst="rect">
              <a:avLst/>
            </a:prstGeom>
            <a:noFill/>
          </p:spPr>
          <p:txBody>
            <a:bodyPr wrap="none" rtlCol="0">
              <a:spAutoFit/>
            </a:bodyPr>
            <a:lstStyle/>
            <a:p>
              <a:pPr algn="l"/>
              <a:r>
                <a:rPr lang="en-US" altLang="zh-CN" sz="2400" dirty="0">
                  <a:solidFill>
                    <a:schemeClr val="bg2"/>
                  </a:solidFill>
                  <a:sym typeface="+mn-ea"/>
                </a:rPr>
                <a:t>5.3.3 </a:t>
              </a:r>
              <a:r>
                <a:rPr lang="zh-CN" altLang="zh-CN" sz="2400" dirty="0">
                  <a:solidFill>
                    <a:schemeClr val="bg2"/>
                  </a:solidFill>
                  <a:sym typeface="+mn-ea"/>
                </a:rPr>
                <a:t>软件质量、可靠性、测试与容错</a:t>
              </a:r>
              <a:endParaRPr lang="zh-CN" altLang="zh-CN" sz="2400" dirty="0">
                <a:solidFill>
                  <a:schemeClr val="bg2"/>
                </a:solidFill>
              </a:endParaRPr>
            </a:p>
          </p:txBody>
        </p:sp>
      </p:grpSp>
      <p:sp>
        <p:nvSpPr>
          <p:cNvPr id="3" name="矩形 2"/>
          <p:cNvSpPr/>
          <p:nvPr/>
        </p:nvSpPr>
        <p:spPr>
          <a:xfrm>
            <a:off x="275451" y="1844824"/>
            <a:ext cx="8593098" cy="1322070"/>
          </a:xfrm>
          <a:prstGeom prst="rect">
            <a:avLst/>
          </a:prstGeom>
          <a:ln>
            <a:solidFill>
              <a:schemeClr val="accent4">
                <a:lumMod val="75000"/>
              </a:schemeClr>
            </a:solidFill>
          </a:ln>
        </p:spPr>
        <p:txBody>
          <a:bodyPr wrap="square">
            <a:spAutoFit/>
          </a:bodyPr>
          <a:lstStyle/>
          <a:p>
            <a:r>
              <a:rPr altLang="zh-CN" sz="2000" dirty="0"/>
              <a:t>软件测试就是利用测试工具按照测试方案和流程对产品进行功能和性能测试，甚至根据需要编写不同的测试工具，设计和维护测试系统，对测试方案可能出现的问题进行分析和评估。执行测试用例后，需要跟踪故障，以确保开发的产品适合需求。</a:t>
            </a:r>
            <a:endParaRPr altLang="zh-CN" sz="2000" dirty="0"/>
          </a:p>
        </p:txBody>
      </p:sp>
      <p:sp>
        <p:nvSpPr>
          <p:cNvPr id="5" name="五边形 4"/>
          <p:cNvSpPr/>
          <p:nvPr/>
        </p:nvSpPr>
        <p:spPr>
          <a:xfrm>
            <a:off x="-108585" y="3324860"/>
            <a:ext cx="177419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smtClean="0">
                <a:solidFill>
                  <a:schemeClr val="bg2"/>
                </a:solidFill>
              </a:rPr>
              <a:t>容错性概述</a:t>
            </a:r>
            <a:endParaRPr lang="zh-CN" altLang="en-US" dirty="0" smtClean="0">
              <a:solidFill>
                <a:schemeClr val="bg2"/>
              </a:solidFill>
            </a:endParaRPr>
          </a:p>
        </p:txBody>
      </p:sp>
      <p:sp>
        <p:nvSpPr>
          <p:cNvPr id="6" name="矩形 5"/>
          <p:cNvSpPr/>
          <p:nvPr/>
        </p:nvSpPr>
        <p:spPr>
          <a:xfrm>
            <a:off x="275451" y="4076849"/>
            <a:ext cx="8593098" cy="706755"/>
          </a:xfrm>
          <a:prstGeom prst="rect">
            <a:avLst/>
          </a:prstGeom>
          <a:ln>
            <a:solidFill>
              <a:schemeClr val="accent4">
                <a:lumMod val="75000"/>
              </a:schemeClr>
            </a:solidFill>
          </a:ln>
        </p:spPr>
        <p:txBody>
          <a:bodyPr wrap="square">
            <a:spAutoFit/>
          </a:bodyPr>
          <a:p>
            <a:r>
              <a:rPr altLang="zh-CN" sz="2000" dirty="0"/>
              <a:t>容错性是指软件检测应用程序所运行的软件或硬件中发生的错误并从错误中恢复的能力，通常可以从系统的可靠性、可用性、可测性等几个方面来衡量。</a:t>
            </a:r>
            <a:endParaRPr altLang="zh-CN" sz="2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配色方案 来自PPT识色盒">
      <a:dk1>
        <a:srgbClr val="111111"/>
      </a:dk1>
      <a:lt1>
        <a:srgbClr val="FFFFFF"/>
      </a:lt1>
      <a:dk2>
        <a:srgbClr val="777777"/>
      </a:dk2>
      <a:lt2>
        <a:srgbClr val="B2B2B2"/>
      </a:lt2>
      <a:accent1>
        <a:srgbClr val="E7712F"/>
      </a:accent1>
      <a:accent2>
        <a:srgbClr val="EF993C"/>
      </a:accent2>
      <a:accent3>
        <a:srgbClr val="2B70B3"/>
      </a:accent3>
      <a:accent4>
        <a:srgbClr val="1D3752"/>
      </a:accent4>
      <a:accent5>
        <a:srgbClr val="2B5D6F"/>
      </a:accent5>
      <a:accent6>
        <a:srgbClr val="E5BD5C"/>
      </a:accent6>
      <a:hlink>
        <a:srgbClr val="373737"/>
      </a:hlink>
      <a:folHlink>
        <a:srgbClr val="6E6E6E"/>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4848</Words>
  <Application>WPS 演示</Application>
  <PresentationFormat>全屏显示(4:3)</PresentationFormat>
  <Paragraphs>205</Paragraphs>
  <Slides>20</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20</vt:i4>
      </vt:variant>
    </vt:vector>
  </HeadingPairs>
  <TitlesOfParts>
    <vt:vector size="28" baseType="lpstr">
      <vt:lpstr>Arial</vt:lpstr>
      <vt:lpstr>宋体</vt:lpstr>
      <vt:lpstr>Wingdings</vt:lpstr>
      <vt:lpstr>微软雅黑</vt:lpstr>
      <vt:lpstr>Arial Unicode MS</vt:lpstr>
      <vt:lpstr>Calibri</vt:lpstr>
      <vt:lpstr>Office 主题​​</vt:lpstr>
      <vt:lpstr>Word.Picture.8</vt:lpstr>
      <vt:lpstr>第5章  语言、程序、软件与安全</vt:lpstr>
      <vt:lpstr>PowerPoint 演示文稿</vt:lpstr>
      <vt:lpstr>5.1 语言与程序</vt:lpstr>
      <vt:lpstr>PowerPoint 演示文稿</vt:lpstr>
      <vt:lpstr>PowerPoint 演示文稿</vt:lpstr>
      <vt:lpstr>PowerPoint 演示文稿</vt:lpstr>
      <vt:lpstr>5.2 软件与软件工程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5.3 软件系统安全</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cp:lastModifiedBy>
  <cp:revision>72</cp:revision>
  <dcterms:created xsi:type="dcterms:W3CDTF">2014-04-02T09:55:00Z</dcterms:created>
  <dcterms:modified xsi:type="dcterms:W3CDTF">2019-08-23T07:33:57Z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2052-11.1.0.8813</vt:lpwstr>
  </property>
</Properties>
</file>