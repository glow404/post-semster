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svg" ContentType="image/svg+xml"/>
  <Override PartName="/ppt/media/image10.svg" ContentType="image/svg+xml"/>
  <Override PartName="/ppt/media/image11.svg" ContentType="image/svg+xml"/>
  <Override PartName="/ppt/media/image12.svg" ContentType="image/svg+xml"/>
  <Override PartName="/ppt/media/image2.svg" ContentType="image/svg+xml"/>
  <Override PartName="/ppt/media/image3.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75" r:id="rId6"/>
    <p:sldId id="303" r:id="rId7"/>
    <p:sldId id="305" r:id="rId8"/>
    <p:sldId id="306" r:id="rId9"/>
    <p:sldId id="307" r:id="rId10"/>
    <p:sldId id="304" r:id="rId11"/>
    <p:sldId id="310" r:id="rId12"/>
    <p:sldId id="313" r:id="rId13"/>
    <p:sldId id="314" r:id="rId14"/>
    <p:sldId id="309" r:id="rId15"/>
    <p:sldId id="315" r:id="rId16"/>
    <p:sldId id="316" r:id="rId17"/>
    <p:sldId id="317" r:id="rId18"/>
    <p:sldId id="311" r:id="rId19"/>
    <p:sldId id="318" r:id="rId20"/>
    <p:sldId id="319" r:id="rId21"/>
    <p:sldId id="320" r:id="rId22"/>
    <p:sldId id="321" r:id="rId23"/>
    <p:sldId id="326" r:id="rId24"/>
    <p:sldId id="328" r:id="rId25"/>
    <p:sldId id="327" r:id="rId26"/>
    <p:sldId id="324" r:id="rId27"/>
    <p:sldId id="322" r:id="rId28"/>
    <p:sldId id="323" r:id="rId2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EEBF7"/>
    <a:srgbClr val="1F4E7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6" d="100"/>
          <a:sy n="76" d="100"/>
        </p:scale>
        <p:origin x="72"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77512" y="-51883"/>
            <a:ext cx="1614488" cy="1461584"/>
          </a:xfrm>
          <a:prstGeom prst="rect">
            <a:avLst/>
          </a:prstGeom>
        </p:spPr>
      </p:pic>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139235" y="36955"/>
            <a:ext cx="1630361" cy="1283909"/>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77512" y="-51883"/>
            <a:ext cx="1614488" cy="1461584"/>
          </a:xfrm>
          <a:prstGeom prst="rect">
            <a:avLst/>
          </a:prstGeom>
        </p:spPr>
      </p:pic>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139235" y="36955"/>
            <a:ext cx="1630361" cy="1283909"/>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77512" y="-51883"/>
            <a:ext cx="1614488" cy="1461584"/>
          </a:xfrm>
          <a:prstGeom prst="rect">
            <a:avLst/>
          </a:prstGeom>
        </p:spPr>
      </p:pic>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139235" y="36955"/>
            <a:ext cx="1630361" cy="1283909"/>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77512" y="-51883"/>
            <a:ext cx="1614488" cy="1461584"/>
          </a:xfrm>
          <a:prstGeom prst="rect">
            <a:avLst/>
          </a:prstGeom>
        </p:spPr>
      </p:pic>
      <p:pic>
        <p:nvPicPr>
          <p:cNvPr id="9" name="图片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139235" y="36955"/>
            <a:ext cx="1630361" cy="1283909"/>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pic>
        <p:nvPicPr>
          <p:cNvPr id="10" name="图片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77512" y="-51883"/>
            <a:ext cx="1614488" cy="1461584"/>
          </a:xfrm>
          <a:prstGeom prst="rect">
            <a:avLst/>
          </a:prstGeom>
        </p:spPr>
      </p:pic>
      <p:pic>
        <p:nvPicPr>
          <p:cNvPr id="11" name="图片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139235" y="36955"/>
            <a:ext cx="1630361" cy="1283909"/>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pic>
        <p:nvPicPr>
          <p:cNvPr id="6" name="图片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77512" y="-51883"/>
            <a:ext cx="1614488" cy="1461584"/>
          </a:xfrm>
          <a:prstGeom prst="rect">
            <a:avLst/>
          </a:prstGeom>
        </p:spPr>
      </p:pic>
      <p:pic>
        <p:nvPicPr>
          <p:cNvPr id="7" name="图片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139235" y="36955"/>
            <a:ext cx="1630361" cy="1283909"/>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3012"/>
            <a:ext cx="12271675" cy="6901012"/>
          </a:xfrm>
          <a:prstGeom prst="rect">
            <a:avLst/>
          </a:prstGeom>
        </p:spPr>
      </p:pic>
      <p:sp>
        <p:nvSpPr>
          <p:cNvPr id="8" name="矩形 7"/>
          <p:cNvSpPr/>
          <p:nvPr userDrawn="1"/>
        </p:nvSpPr>
        <p:spPr>
          <a:xfrm>
            <a:off x="-182797" y="-67935"/>
            <a:ext cx="12557594" cy="7042417"/>
          </a:xfrm>
          <a:prstGeom prst="rect">
            <a:avLst/>
          </a:prstGeom>
          <a:solidFill>
            <a:schemeClr val="bg1">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pic>
        <p:nvPicPr>
          <p:cNvPr id="5" name="图片 4"/>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a:xfrm>
            <a:off x="11008257" y="-67934"/>
            <a:ext cx="1314979" cy="1190440"/>
          </a:xfrm>
          <a:prstGeom prst="rect">
            <a:avLst/>
          </a:prstGeom>
        </p:spPr>
      </p:pic>
      <p:pic>
        <p:nvPicPr>
          <p:cNvPr id="6" name="图片 5"/>
          <p:cNvPicPr>
            <a:picLocks noChangeAspect="1"/>
          </p:cNvPicPr>
          <p:nvPr userDrawn="1"/>
        </p:nvPicPr>
        <p:blipFill>
          <a:blip r:embed="rId4" cstate="print">
            <a:extLst>
              <a:ext uri="{28A0092B-C50C-407E-A947-70E740481C1C}">
                <a14:useLocalDpi xmlns:a14="http://schemas.microsoft.com/office/drawing/2010/main" val="0"/>
              </a:ext>
            </a:extLst>
          </a:blip>
          <a:srcRect/>
          <a:stretch>
            <a:fillRect/>
          </a:stretch>
        </p:blipFill>
        <p:spPr>
          <a:xfrm>
            <a:off x="9688712" y="-67935"/>
            <a:ext cx="1511671" cy="1190441"/>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77512" y="-51883"/>
            <a:ext cx="1614488" cy="1461584"/>
          </a:xfrm>
          <a:prstGeom prst="rect">
            <a:avLst/>
          </a:prstGeom>
        </p:spPr>
      </p:pic>
      <p:pic>
        <p:nvPicPr>
          <p:cNvPr id="9" name="图片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139235" y="36955"/>
            <a:ext cx="1630361" cy="1283909"/>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9" Type="http://schemas.openxmlformats.org/officeDocument/2006/relationships/tags" Target="../tags/tag1.xml"/><Relationship Id="rId8" Type="http://schemas.openxmlformats.org/officeDocument/2006/relationships/image" Target="../media/image4.svg"/><Relationship Id="rId7" Type="http://schemas.openxmlformats.org/officeDocument/2006/relationships/image" Target="../media/image10.png"/><Relationship Id="rId6" Type="http://schemas.openxmlformats.org/officeDocument/2006/relationships/image" Target="../media/image3.svg"/><Relationship Id="rId5" Type="http://schemas.openxmlformats.org/officeDocument/2006/relationships/image" Target="../media/image9.png"/><Relationship Id="rId4" Type="http://schemas.openxmlformats.org/officeDocument/2006/relationships/image" Target="../media/image2.svg"/><Relationship Id="rId3" Type="http://schemas.openxmlformats.org/officeDocument/2006/relationships/image" Target="../media/image8.png"/><Relationship Id="rId27" Type="http://schemas.openxmlformats.org/officeDocument/2006/relationships/slideLayout" Target="../slideLayouts/slideLayout7.xml"/><Relationship Id="rId26" Type="http://schemas.openxmlformats.org/officeDocument/2006/relationships/image" Target="../media/image12.svg"/><Relationship Id="rId25" Type="http://schemas.openxmlformats.org/officeDocument/2006/relationships/image" Target="../media/image18.png"/><Relationship Id="rId24" Type="http://schemas.openxmlformats.org/officeDocument/2006/relationships/image" Target="../media/image11.svg"/><Relationship Id="rId23" Type="http://schemas.openxmlformats.org/officeDocument/2006/relationships/image" Target="../media/image17.png"/><Relationship Id="rId22" Type="http://schemas.openxmlformats.org/officeDocument/2006/relationships/image" Target="../media/image10.svg"/><Relationship Id="rId21" Type="http://schemas.openxmlformats.org/officeDocument/2006/relationships/image" Target="../media/image16.png"/><Relationship Id="rId20" Type="http://schemas.openxmlformats.org/officeDocument/2006/relationships/image" Target="../media/image9.svg"/><Relationship Id="rId2" Type="http://schemas.openxmlformats.org/officeDocument/2006/relationships/image" Target="../media/image1.svg"/><Relationship Id="rId19" Type="http://schemas.openxmlformats.org/officeDocument/2006/relationships/image" Target="../media/image15.png"/><Relationship Id="rId18" Type="http://schemas.openxmlformats.org/officeDocument/2006/relationships/image" Target="../media/image8.svg"/><Relationship Id="rId17" Type="http://schemas.openxmlformats.org/officeDocument/2006/relationships/image" Target="../media/image14.png"/><Relationship Id="rId16" Type="http://schemas.openxmlformats.org/officeDocument/2006/relationships/image" Target="../media/image7.svg"/><Relationship Id="rId15" Type="http://schemas.openxmlformats.org/officeDocument/2006/relationships/image" Target="../media/image13.png"/><Relationship Id="rId14" Type="http://schemas.openxmlformats.org/officeDocument/2006/relationships/image" Target="../media/image6.svg"/><Relationship Id="rId13" Type="http://schemas.openxmlformats.org/officeDocument/2006/relationships/image" Target="../media/image12.png"/><Relationship Id="rId12" Type="http://schemas.openxmlformats.org/officeDocument/2006/relationships/tags" Target="../tags/tag2.xml"/><Relationship Id="rId11" Type="http://schemas.openxmlformats.org/officeDocument/2006/relationships/image" Target="../media/image5.svg"/><Relationship Id="rId10" Type="http://schemas.openxmlformats.org/officeDocument/2006/relationships/image" Target="../media/image11.png"/><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9.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0.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1.pn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image" Target="../media/image22.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5.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7.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8.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9.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1.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2.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7145" y="1409701"/>
            <a:ext cx="12209145" cy="2873058"/>
          </a:xfrm>
          <a:prstGeom prst="rect">
            <a:avLst/>
          </a:pr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3083082" y="2192020"/>
            <a:ext cx="6006783" cy="1014730"/>
          </a:xfrm>
          <a:prstGeom prst="rect">
            <a:avLst/>
          </a:prstGeom>
          <a:noFill/>
        </p:spPr>
        <p:txBody>
          <a:bodyPr wrap="square" rtlCol="0">
            <a:spAutoFit/>
          </a:bodyPr>
          <a:lstStyle/>
          <a:p>
            <a:pPr algn="dist"/>
            <a:r>
              <a:rPr lang="zh-CN" altLang="en-US" sz="6000" b="1" dirty="0">
                <a:solidFill>
                  <a:schemeClr val="bg1"/>
                </a:solidFill>
              </a:rPr>
              <a:t>软件测试演示</a:t>
            </a:r>
            <a:endParaRPr lang="zh-CN" altLang="en-US" sz="6000" b="1" dirty="0">
              <a:solidFill>
                <a:schemeClr val="bg1"/>
              </a:solidFill>
            </a:endParaRPr>
          </a:p>
        </p:txBody>
      </p:sp>
      <p:grpSp>
        <p:nvGrpSpPr>
          <p:cNvPr id="11" name="组合 10"/>
          <p:cNvGrpSpPr/>
          <p:nvPr/>
        </p:nvGrpSpPr>
        <p:grpSpPr>
          <a:xfrm>
            <a:off x="2809556" y="4799964"/>
            <a:ext cx="6501765" cy="426085"/>
            <a:chOff x="5266" y="8231"/>
            <a:chExt cx="10239" cy="671"/>
          </a:xfrm>
        </p:grpSpPr>
        <p:sp>
          <p:nvSpPr>
            <p:cNvPr id="7" name="圆角矩形 6"/>
            <p:cNvSpPr/>
            <p:nvPr/>
          </p:nvSpPr>
          <p:spPr>
            <a:xfrm>
              <a:off x="5266" y="8237"/>
              <a:ext cx="1834" cy="665"/>
            </a:xfrm>
            <a:prstGeom prst="round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小组成员</a:t>
              </a:r>
              <a:endParaRPr lang="zh-CN" altLang="en-US" dirty="0"/>
            </a:p>
          </p:txBody>
        </p:sp>
        <p:sp>
          <p:nvSpPr>
            <p:cNvPr id="9" name="文本框 8"/>
            <p:cNvSpPr txBox="1"/>
            <p:nvPr/>
          </p:nvSpPr>
          <p:spPr>
            <a:xfrm>
              <a:off x="7217" y="8231"/>
              <a:ext cx="8288" cy="582"/>
            </a:xfrm>
            <a:prstGeom prst="rect">
              <a:avLst/>
            </a:prstGeom>
            <a:noFill/>
          </p:spPr>
          <p:txBody>
            <a:bodyPr wrap="none" rtlCol="0">
              <a:spAutoFit/>
            </a:bodyPr>
            <a:lstStyle/>
            <a:p>
              <a:r>
                <a:rPr lang="zh-CN" altLang="en-US" dirty="0"/>
                <a:t>黄世龙、杨冠楠、徐梓镱、周宇航、熊丁、马宇杰</a:t>
              </a:r>
              <a:endParaRPr lang="en-US" altLang="zh-CN" dirty="0"/>
            </a:p>
          </p:txBody>
        </p:sp>
      </p:grpSp>
      <p:grpSp>
        <p:nvGrpSpPr>
          <p:cNvPr id="12" name="组合 11"/>
          <p:cNvGrpSpPr/>
          <p:nvPr/>
        </p:nvGrpSpPr>
        <p:grpSpPr>
          <a:xfrm>
            <a:off x="2809556" y="5615940"/>
            <a:ext cx="2437765" cy="422275"/>
            <a:chOff x="3859" y="9811"/>
            <a:chExt cx="3839" cy="665"/>
          </a:xfrm>
        </p:grpSpPr>
        <p:sp>
          <p:nvSpPr>
            <p:cNvPr id="13" name="圆角矩形 12"/>
            <p:cNvSpPr/>
            <p:nvPr/>
          </p:nvSpPr>
          <p:spPr>
            <a:xfrm>
              <a:off x="3859" y="9811"/>
              <a:ext cx="1834" cy="665"/>
            </a:xfrm>
            <a:prstGeom prst="round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指导老师</a:t>
              </a:r>
              <a:endParaRPr lang="zh-CN" altLang="en-US" dirty="0"/>
            </a:p>
          </p:txBody>
        </p:sp>
        <p:cxnSp>
          <p:nvCxnSpPr>
            <p:cNvPr id="15" name="直接连接符 14"/>
            <p:cNvCxnSpPr>
              <a:stCxn id="13" idx="2"/>
            </p:cNvCxnSpPr>
            <p:nvPr/>
          </p:nvCxnSpPr>
          <p:spPr>
            <a:xfrm>
              <a:off x="4776" y="10476"/>
              <a:ext cx="2922" cy="0"/>
            </a:xfrm>
            <a:prstGeom prst="line">
              <a:avLst/>
            </a:prstGeom>
            <a:ln>
              <a:solidFill>
                <a:srgbClr val="1F4E79"/>
              </a:solidFill>
            </a:ln>
          </p:spPr>
          <p:style>
            <a:lnRef idx="1">
              <a:schemeClr val="accent1"/>
            </a:lnRef>
            <a:fillRef idx="0">
              <a:schemeClr val="accent1"/>
            </a:fillRef>
            <a:effectRef idx="0">
              <a:schemeClr val="accent1"/>
            </a:effectRef>
            <a:fontRef idx="minor">
              <a:schemeClr val="tx1"/>
            </a:fontRef>
          </p:style>
        </p:cxnSp>
      </p:grpSp>
      <p:sp>
        <p:nvSpPr>
          <p:cNvPr id="4" name="文本框 3"/>
          <p:cNvSpPr txBox="1"/>
          <p:nvPr/>
        </p:nvSpPr>
        <p:spPr>
          <a:xfrm>
            <a:off x="3033711" y="3429000"/>
            <a:ext cx="6105524" cy="523220"/>
          </a:xfrm>
          <a:prstGeom prst="rect">
            <a:avLst/>
          </a:prstGeom>
          <a:noFill/>
        </p:spPr>
        <p:txBody>
          <a:bodyPr wrap="square">
            <a:spAutoFit/>
          </a:bodyPr>
          <a:lstStyle/>
          <a:p>
            <a:pPr algn="ctr" eaLnBrk="1" fontAlgn="base" hangingPunct="1">
              <a:spcBef>
                <a:spcPct val="0"/>
              </a:spcBef>
              <a:spcAft>
                <a:spcPct val="0"/>
              </a:spcAft>
              <a:buFont typeface="Arial" panose="020B0604020202020204" pitchFamily="34" charset="0"/>
              <a:buNone/>
            </a:pPr>
            <a:r>
              <a:rPr lang="zh-CN" altLang="en-US" sz="2800" dirty="0">
                <a:solidFill>
                  <a:srgbClr val="FFFFFF"/>
                </a:solidFill>
                <a:latin typeface="微软雅黑" panose="020B0503020204020204" charset="-122"/>
                <a:ea typeface="微软雅黑" panose="020B0503020204020204" charset="-122"/>
              </a:rPr>
              <a:t>天天生鲜购物平台</a:t>
            </a:r>
            <a:endParaRPr lang="zh-CN" altLang="zh-CN" sz="2800" dirty="0">
              <a:solidFill>
                <a:srgbClr val="FFFFFF"/>
              </a:solidFill>
              <a:latin typeface="微软雅黑" panose="020B0503020204020204" charset="-122"/>
              <a:ea typeface="微软雅黑" panose="020B0503020204020204" charset="-122"/>
            </a:endParaRPr>
          </a:p>
        </p:txBody>
      </p:sp>
      <p:cxnSp>
        <p:nvCxnSpPr>
          <p:cNvPr id="2" name="直接连接符 1"/>
          <p:cNvCxnSpPr/>
          <p:nvPr/>
        </p:nvCxnSpPr>
        <p:spPr>
          <a:xfrm>
            <a:off x="3458864" y="5230275"/>
            <a:ext cx="1855470" cy="0"/>
          </a:xfrm>
          <a:prstGeom prst="line">
            <a:avLst/>
          </a:prstGeom>
          <a:ln>
            <a:solidFill>
              <a:srgbClr val="1F4E79"/>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4262852" y="5642292"/>
            <a:ext cx="869315" cy="369570"/>
          </a:xfrm>
          <a:prstGeom prst="rect">
            <a:avLst/>
          </a:prstGeom>
          <a:noFill/>
        </p:spPr>
        <p:txBody>
          <a:bodyPr wrap="none" rtlCol="0">
            <a:spAutoFit/>
          </a:bodyPr>
          <a:lstStyle/>
          <a:p>
            <a:r>
              <a:rPr lang="zh-CN" altLang="en-US" dirty="0"/>
              <a:t>武剑洁</a:t>
            </a:r>
            <a:endParaRPr lang="en-US" altLang="zh-C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89218" y="-76200"/>
            <a:ext cx="3815715" cy="715645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p:cNvGrpSpPr/>
          <p:nvPr/>
        </p:nvGrpSpPr>
        <p:grpSpPr>
          <a:xfrm>
            <a:off x="4841875" y="1070446"/>
            <a:ext cx="5022215" cy="645239"/>
            <a:chOff x="3567" y="2757"/>
            <a:chExt cx="7909" cy="1456"/>
          </a:xfrm>
        </p:grpSpPr>
        <p:grpSp>
          <p:nvGrpSpPr>
            <p:cNvPr id="7" name="组合 6"/>
            <p:cNvGrpSpPr/>
            <p:nvPr/>
          </p:nvGrpSpPr>
          <p:grpSpPr>
            <a:xfrm>
              <a:off x="3567" y="2757"/>
              <a:ext cx="7677" cy="1456"/>
              <a:chOff x="3567" y="2647"/>
              <a:chExt cx="7677" cy="1456"/>
            </a:xfrm>
          </p:grpSpPr>
          <p:grpSp>
            <p:nvGrpSpPr>
              <p:cNvPr id="4" name="组合 3"/>
              <p:cNvGrpSpPr/>
              <p:nvPr/>
            </p:nvGrpSpPr>
            <p:grpSpPr>
              <a:xfrm>
                <a:off x="3567" y="2647"/>
                <a:ext cx="1522" cy="1456"/>
                <a:chOff x="3567" y="2647"/>
                <a:chExt cx="1522" cy="1456"/>
              </a:xfrm>
            </p:grpSpPr>
            <p:sp>
              <p:nvSpPr>
                <p:cNvPr id="2" name="剪去对角的矩形 1"/>
                <p:cNvSpPr/>
                <p:nvPr/>
              </p:nvSpPr>
              <p:spPr>
                <a:xfrm>
                  <a:off x="3567" y="2670"/>
                  <a:ext cx="1522" cy="1343"/>
                </a:xfrm>
                <a:prstGeom prst="snip2DiagRect">
                  <a:avLst>
                    <a:gd name="adj1" fmla="val 0"/>
                    <a:gd name="adj2" fmla="val 50000"/>
                  </a:avLst>
                </a:prstGeom>
                <a:solidFill>
                  <a:schemeClr val="accent1">
                    <a:lumMod val="50000"/>
                  </a:schemeClr>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3600"/>
                </a:p>
              </p:txBody>
            </p:sp>
            <p:sp>
              <p:nvSpPr>
                <p:cNvPr id="3" name="文本框 2"/>
                <p:cNvSpPr txBox="1"/>
                <p:nvPr/>
              </p:nvSpPr>
              <p:spPr>
                <a:xfrm>
                  <a:off x="3772" y="2647"/>
                  <a:ext cx="1112" cy="1456"/>
                </a:xfrm>
                <a:prstGeom prst="rect">
                  <a:avLst/>
                </a:prstGeom>
                <a:noFill/>
              </p:spPr>
              <p:txBody>
                <a:bodyPr wrap="square" rtlCol="0">
                  <a:spAutoFit/>
                </a:bodyPr>
                <a:lstStyle/>
                <a:p>
                  <a:pPr algn="ctr"/>
                  <a:r>
                    <a:rPr lang="en-US" altLang="zh-CN" sz="3600" dirty="0">
                      <a:solidFill>
                        <a:schemeClr val="bg1"/>
                      </a:solidFill>
                      <a:latin typeface="Times New Roman" panose="02020603050405020304" pitchFamily="18" charset="0"/>
                      <a:ea typeface="Adobe Gothic Std B" panose="020B0800000000000000" charset="-128"/>
                      <a:cs typeface="Times New Roman" panose="02020603050405020304" pitchFamily="18" charset="0"/>
                      <a:sym typeface="+mn-ea"/>
                    </a:rPr>
                    <a:t>1</a:t>
                  </a:r>
                  <a:endParaRPr lang="en-US" altLang="zh-CN" sz="3600" dirty="0">
                    <a:solidFill>
                      <a:schemeClr val="bg1"/>
                    </a:solidFill>
                    <a:latin typeface="Times New Roman" panose="02020603050405020304" pitchFamily="18" charset="0"/>
                    <a:ea typeface="Adobe Gothic Std B" panose="020B0800000000000000" charset="-128"/>
                    <a:cs typeface="Times New Roman" panose="02020603050405020304" pitchFamily="18" charset="0"/>
                    <a:sym typeface="+mn-ea"/>
                  </a:endParaRPr>
                </a:p>
              </p:txBody>
            </p:sp>
          </p:grpSp>
          <p:cxnSp>
            <p:nvCxnSpPr>
              <p:cNvPr id="6" name="直接连接符 5"/>
              <p:cNvCxnSpPr/>
              <p:nvPr/>
            </p:nvCxnSpPr>
            <p:spPr>
              <a:xfrm>
                <a:off x="5116" y="4026"/>
                <a:ext cx="6128" cy="0"/>
              </a:xfrm>
              <a:prstGeom prst="line">
                <a:avLst/>
              </a:prstGeom>
              <a:ln w="15875" cmpd="thickThin">
                <a:solidFill>
                  <a:schemeClr val="accent1">
                    <a:lumMod val="50000"/>
                  </a:schemeClr>
                </a:solidFill>
                <a:prstDash val="dashDot"/>
              </a:ln>
            </p:spPr>
            <p:style>
              <a:lnRef idx="1">
                <a:schemeClr val="accent1"/>
              </a:lnRef>
              <a:fillRef idx="0">
                <a:schemeClr val="accent1"/>
              </a:fillRef>
              <a:effectRef idx="0">
                <a:schemeClr val="accent1"/>
              </a:effectRef>
              <a:fontRef idx="minor">
                <a:schemeClr val="tx1"/>
              </a:fontRef>
            </p:style>
          </p:cxnSp>
        </p:grpSp>
        <p:sp>
          <p:nvSpPr>
            <p:cNvPr id="8" name="文本框 7"/>
            <p:cNvSpPr txBox="1"/>
            <p:nvPr/>
          </p:nvSpPr>
          <p:spPr>
            <a:xfrm>
              <a:off x="5571" y="2822"/>
              <a:ext cx="5905" cy="1325"/>
            </a:xfrm>
            <a:prstGeom prst="rect">
              <a:avLst/>
            </a:prstGeom>
            <a:noFill/>
          </p:spPr>
          <p:txBody>
            <a:bodyPr wrap="square" rtlCol="0">
              <a:spAutoFit/>
            </a:bodyPr>
            <a:lstStyle/>
            <a:p>
              <a:pPr algn="l">
                <a:lnSpc>
                  <a:spcPct val="150000"/>
                </a:lnSpc>
              </a:pPr>
              <a:r>
                <a:rPr lang="zh-CN" altLang="en-US" sz="2400" b="1" dirty="0"/>
                <a:t>软件代码结构设计</a:t>
              </a:r>
              <a:endParaRPr lang="zh-CN" altLang="en-US" sz="2400" b="1" dirty="0"/>
            </a:p>
          </p:txBody>
        </p:sp>
      </p:grpSp>
      <p:grpSp>
        <p:nvGrpSpPr>
          <p:cNvPr id="10" name="组合 9"/>
          <p:cNvGrpSpPr/>
          <p:nvPr/>
        </p:nvGrpSpPr>
        <p:grpSpPr>
          <a:xfrm>
            <a:off x="4841875" y="2207803"/>
            <a:ext cx="4874895" cy="645336"/>
            <a:chOff x="3567" y="2696"/>
            <a:chExt cx="7677" cy="1523"/>
          </a:xfrm>
        </p:grpSpPr>
        <p:grpSp>
          <p:nvGrpSpPr>
            <p:cNvPr id="11" name="组合 10"/>
            <p:cNvGrpSpPr/>
            <p:nvPr/>
          </p:nvGrpSpPr>
          <p:grpSpPr>
            <a:xfrm>
              <a:off x="3567" y="2696"/>
              <a:ext cx="7677" cy="1523"/>
              <a:chOff x="3567" y="2586"/>
              <a:chExt cx="7677" cy="1523"/>
            </a:xfrm>
          </p:grpSpPr>
          <p:grpSp>
            <p:nvGrpSpPr>
              <p:cNvPr id="12" name="组合 11"/>
              <p:cNvGrpSpPr/>
              <p:nvPr/>
            </p:nvGrpSpPr>
            <p:grpSpPr>
              <a:xfrm>
                <a:off x="3567" y="2586"/>
                <a:ext cx="1522" cy="1523"/>
                <a:chOff x="3567" y="2586"/>
                <a:chExt cx="1522" cy="1523"/>
              </a:xfrm>
            </p:grpSpPr>
            <p:sp>
              <p:nvSpPr>
                <p:cNvPr id="13" name="剪去对角的矩形 12"/>
                <p:cNvSpPr/>
                <p:nvPr/>
              </p:nvSpPr>
              <p:spPr>
                <a:xfrm>
                  <a:off x="3567" y="2670"/>
                  <a:ext cx="1522" cy="1343"/>
                </a:xfrm>
                <a:prstGeom prst="snip2DiagRect">
                  <a:avLst>
                    <a:gd name="adj1" fmla="val 0"/>
                    <a:gd name="adj2" fmla="val 50000"/>
                  </a:avLst>
                </a:prstGeom>
                <a:solidFill>
                  <a:schemeClr val="accent1">
                    <a:lumMod val="50000"/>
                  </a:schemeClr>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3600"/>
                </a:p>
              </p:txBody>
            </p:sp>
            <p:sp>
              <p:nvSpPr>
                <p:cNvPr id="14" name="文本框 13"/>
                <p:cNvSpPr txBox="1"/>
                <p:nvPr/>
              </p:nvSpPr>
              <p:spPr>
                <a:xfrm>
                  <a:off x="3772" y="2586"/>
                  <a:ext cx="1112" cy="1523"/>
                </a:xfrm>
                <a:prstGeom prst="rect">
                  <a:avLst/>
                </a:prstGeom>
                <a:noFill/>
              </p:spPr>
              <p:txBody>
                <a:bodyPr wrap="square" rtlCol="0">
                  <a:spAutoFit/>
                </a:bodyPr>
                <a:lstStyle/>
                <a:p>
                  <a:pPr algn="ctr"/>
                  <a:r>
                    <a:rPr lang="en-US" altLang="zh-CN" sz="3600" dirty="0">
                      <a:solidFill>
                        <a:schemeClr val="bg1"/>
                      </a:solidFill>
                      <a:latin typeface="Times New Roman" panose="02020603050405020304" pitchFamily="18" charset="0"/>
                      <a:ea typeface="Adobe Gothic Std B" panose="020B0800000000000000" charset="-128"/>
                      <a:cs typeface="Times New Roman" panose="02020603050405020304" pitchFamily="18" charset="0"/>
                      <a:sym typeface="+mn-ea"/>
                    </a:rPr>
                    <a:t>2</a:t>
                  </a:r>
                  <a:endParaRPr lang="en-US" altLang="zh-CN" sz="3600" dirty="0">
                    <a:solidFill>
                      <a:schemeClr val="bg1"/>
                    </a:solidFill>
                    <a:latin typeface="Times New Roman" panose="02020603050405020304" pitchFamily="18" charset="0"/>
                    <a:ea typeface="Adobe Gothic Std B" panose="020B0800000000000000" charset="-128"/>
                    <a:cs typeface="Times New Roman" panose="02020603050405020304" pitchFamily="18" charset="0"/>
                    <a:sym typeface="+mn-ea"/>
                  </a:endParaRPr>
                </a:p>
              </p:txBody>
            </p:sp>
          </p:grpSp>
          <p:cxnSp>
            <p:nvCxnSpPr>
              <p:cNvPr id="15" name="直接连接符 14"/>
              <p:cNvCxnSpPr/>
              <p:nvPr/>
            </p:nvCxnSpPr>
            <p:spPr>
              <a:xfrm>
                <a:off x="5116" y="4026"/>
                <a:ext cx="6128" cy="0"/>
              </a:xfrm>
              <a:prstGeom prst="line">
                <a:avLst/>
              </a:prstGeom>
              <a:ln w="15875" cmpd="thickThin">
                <a:solidFill>
                  <a:schemeClr val="accent1">
                    <a:lumMod val="50000"/>
                  </a:schemeClr>
                </a:solidFill>
                <a:prstDash val="dashDot"/>
              </a:ln>
            </p:spPr>
            <p:style>
              <a:lnRef idx="1">
                <a:schemeClr val="accent1"/>
              </a:lnRef>
              <a:fillRef idx="0">
                <a:schemeClr val="accent1"/>
              </a:fillRef>
              <a:effectRef idx="0">
                <a:schemeClr val="accent1"/>
              </a:effectRef>
              <a:fontRef idx="minor">
                <a:schemeClr val="tx1"/>
              </a:fontRef>
            </p:style>
          </p:cxnSp>
        </p:grpSp>
        <p:sp>
          <p:nvSpPr>
            <p:cNvPr id="16" name="文本框 15"/>
            <p:cNvSpPr txBox="1"/>
            <p:nvPr/>
          </p:nvSpPr>
          <p:spPr>
            <a:xfrm>
              <a:off x="5576" y="2780"/>
              <a:ext cx="5064" cy="1386"/>
            </a:xfrm>
            <a:prstGeom prst="rect">
              <a:avLst/>
            </a:prstGeom>
            <a:noFill/>
          </p:spPr>
          <p:txBody>
            <a:bodyPr wrap="square" rtlCol="0">
              <a:spAutoFit/>
            </a:bodyPr>
            <a:lstStyle/>
            <a:p>
              <a:pPr algn="l">
                <a:lnSpc>
                  <a:spcPct val="150000"/>
                </a:lnSpc>
              </a:pPr>
              <a:r>
                <a:rPr lang="zh-CN" altLang="en-US" sz="2400" b="1" dirty="0"/>
                <a:t>测试用例设计</a:t>
              </a:r>
              <a:endParaRPr lang="zh-CN" altLang="en-US" sz="2400" b="1" dirty="0"/>
            </a:p>
          </p:txBody>
        </p:sp>
      </p:grpSp>
      <p:grpSp>
        <p:nvGrpSpPr>
          <p:cNvPr id="17" name="组合 16"/>
          <p:cNvGrpSpPr/>
          <p:nvPr/>
        </p:nvGrpSpPr>
        <p:grpSpPr>
          <a:xfrm>
            <a:off x="4841875" y="3345257"/>
            <a:ext cx="4874895" cy="645228"/>
            <a:chOff x="3567" y="2702"/>
            <a:chExt cx="7677" cy="1521"/>
          </a:xfrm>
        </p:grpSpPr>
        <p:grpSp>
          <p:nvGrpSpPr>
            <p:cNvPr id="18" name="组合 17"/>
            <p:cNvGrpSpPr/>
            <p:nvPr/>
          </p:nvGrpSpPr>
          <p:grpSpPr>
            <a:xfrm>
              <a:off x="3567" y="2702"/>
              <a:ext cx="7677" cy="1521"/>
              <a:chOff x="3567" y="2592"/>
              <a:chExt cx="7677" cy="1521"/>
            </a:xfrm>
          </p:grpSpPr>
          <p:grpSp>
            <p:nvGrpSpPr>
              <p:cNvPr id="19" name="组合 18"/>
              <p:cNvGrpSpPr/>
              <p:nvPr/>
            </p:nvGrpSpPr>
            <p:grpSpPr>
              <a:xfrm>
                <a:off x="3567" y="2592"/>
                <a:ext cx="1522" cy="1521"/>
                <a:chOff x="3567" y="2592"/>
                <a:chExt cx="1522" cy="1521"/>
              </a:xfrm>
            </p:grpSpPr>
            <p:sp>
              <p:nvSpPr>
                <p:cNvPr id="20" name="剪去对角的矩形 19"/>
                <p:cNvSpPr/>
                <p:nvPr/>
              </p:nvSpPr>
              <p:spPr>
                <a:xfrm>
                  <a:off x="3567" y="2670"/>
                  <a:ext cx="1522" cy="1343"/>
                </a:xfrm>
                <a:prstGeom prst="snip2DiagRect">
                  <a:avLst>
                    <a:gd name="adj1" fmla="val 0"/>
                    <a:gd name="adj2" fmla="val 50000"/>
                  </a:avLst>
                </a:prstGeom>
                <a:solidFill>
                  <a:schemeClr val="accent1">
                    <a:lumMod val="50000"/>
                  </a:schemeClr>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3600"/>
                </a:p>
              </p:txBody>
            </p:sp>
            <p:sp>
              <p:nvSpPr>
                <p:cNvPr id="21" name="文本框 20"/>
                <p:cNvSpPr txBox="1"/>
                <p:nvPr/>
              </p:nvSpPr>
              <p:spPr>
                <a:xfrm>
                  <a:off x="3772" y="2592"/>
                  <a:ext cx="1112" cy="1521"/>
                </a:xfrm>
                <a:prstGeom prst="rect">
                  <a:avLst/>
                </a:prstGeom>
                <a:noFill/>
              </p:spPr>
              <p:txBody>
                <a:bodyPr wrap="square" rtlCol="0">
                  <a:spAutoFit/>
                </a:bodyPr>
                <a:lstStyle/>
                <a:p>
                  <a:pPr algn="ctr"/>
                  <a:r>
                    <a:rPr lang="en-US" altLang="zh-CN" sz="3600" dirty="0">
                      <a:solidFill>
                        <a:schemeClr val="bg1"/>
                      </a:solidFill>
                      <a:latin typeface="Times New Roman" panose="02020603050405020304" pitchFamily="18" charset="0"/>
                      <a:ea typeface="Adobe Gothic Std B" panose="020B0800000000000000" charset="-128"/>
                      <a:cs typeface="Times New Roman" panose="02020603050405020304" pitchFamily="18" charset="0"/>
                      <a:sym typeface="+mn-ea"/>
                    </a:rPr>
                    <a:t>3</a:t>
                  </a:r>
                  <a:endParaRPr lang="en-US" altLang="zh-CN" sz="3600" dirty="0">
                    <a:solidFill>
                      <a:schemeClr val="bg1"/>
                    </a:solidFill>
                    <a:latin typeface="Times New Roman" panose="02020603050405020304" pitchFamily="18" charset="0"/>
                    <a:ea typeface="Adobe Gothic Std B" panose="020B0800000000000000" charset="-128"/>
                    <a:cs typeface="Times New Roman" panose="02020603050405020304" pitchFamily="18" charset="0"/>
                    <a:sym typeface="+mn-ea"/>
                  </a:endParaRPr>
                </a:p>
              </p:txBody>
            </p:sp>
          </p:grpSp>
          <p:cxnSp>
            <p:nvCxnSpPr>
              <p:cNvPr id="22" name="直接连接符 21"/>
              <p:cNvCxnSpPr/>
              <p:nvPr/>
            </p:nvCxnSpPr>
            <p:spPr>
              <a:xfrm>
                <a:off x="5116" y="4026"/>
                <a:ext cx="6128" cy="0"/>
              </a:xfrm>
              <a:prstGeom prst="line">
                <a:avLst/>
              </a:prstGeom>
              <a:ln w="15875" cmpd="thickThin">
                <a:solidFill>
                  <a:schemeClr val="accent1">
                    <a:lumMod val="50000"/>
                  </a:schemeClr>
                </a:solidFill>
                <a:prstDash val="dashDot"/>
              </a:ln>
            </p:spPr>
            <p:style>
              <a:lnRef idx="1">
                <a:schemeClr val="accent1"/>
              </a:lnRef>
              <a:fillRef idx="0">
                <a:schemeClr val="accent1"/>
              </a:fillRef>
              <a:effectRef idx="0">
                <a:schemeClr val="accent1"/>
              </a:effectRef>
              <a:fontRef idx="minor">
                <a:schemeClr val="tx1"/>
              </a:fontRef>
            </p:style>
          </p:cxnSp>
        </p:grpSp>
        <p:sp>
          <p:nvSpPr>
            <p:cNvPr id="23" name="文本框 22"/>
            <p:cNvSpPr txBox="1"/>
            <p:nvPr/>
          </p:nvSpPr>
          <p:spPr>
            <a:xfrm>
              <a:off x="5571" y="2713"/>
              <a:ext cx="5538" cy="1385"/>
            </a:xfrm>
            <a:prstGeom prst="rect">
              <a:avLst/>
            </a:prstGeom>
            <a:noFill/>
          </p:spPr>
          <p:txBody>
            <a:bodyPr wrap="square" rtlCol="0">
              <a:spAutoFit/>
            </a:bodyPr>
            <a:lstStyle/>
            <a:p>
              <a:pPr algn="l">
                <a:lnSpc>
                  <a:spcPct val="150000"/>
                </a:lnSpc>
              </a:pPr>
              <a:r>
                <a:rPr lang="zh-CN" altLang="en-US" sz="2400" b="1" dirty="0"/>
                <a:t>测试结果展示</a:t>
              </a:r>
              <a:endParaRPr lang="zh-CN" altLang="en-US" sz="2400" b="1" dirty="0"/>
            </a:p>
          </p:txBody>
        </p:sp>
      </p:grpSp>
      <p:sp>
        <p:nvSpPr>
          <p:cNvPr id="32" name="文本框 31"/>
          <p:cNvSpPr txBox="1"/>
          <p:nvPr/>
        </p:nvSpPr>
        <p:spPr>
          <a:xfrm>
            <a:off x="387667" y="3514725"/>
            <a:ext cx="2862580" cy="829945"/>
          </a:xfrm>
          <a:prstGeom prst="rect">
            <a:avLst/>
          </a:prstGeom>
          <a:noFill/>
        </p:spPr>
        <p:txBody>
          <a:bodyPr wrap="none" rtlCol="0">
            <a:spAutoFit/>
          </a:bodyPr>
          <a:lstStyle/>
          <a:p>
            <a:r>
              <a:rPr lang="en-US" altLang="zh-CN" sz="4800" dirty="0">
                <a:solidFill>
                  <a:schemeClr val="bg1"/>
                </a:solidFill>
              </a:rPr>
              <a:t>CONTENTS</a:t>
            </a:r>
            <a:endParaRPr lang="en-US" altLang="zh-CN" sz="4800" dirty="0">
              <a:solidFill>
                <a:schemeClr val="bg1"/>
              </a:solidFill>
            </a:endParaRPr>
          </a:p>
        </p:txBody>
      </p:sp>
      <p:sp>
        <p:nvSpPr>
          <p:cNvPr id="33" name="文本框 32"/>
          <p:cNvSpPr txBox="1"/>
          <p:nvPr/>
        </p:nvSpPr>
        <p:spPr>
          <a:xfrm>
            <a:off x="1117917" y="2684780"/>
            <a:ext cx="1402080" cy="829945"/>
          </a:xfrm>
          <a:prstGeom prst="rect">
            <a:avLst/>
          </a:prstGeom>
          <a:noFill/>
        </p:spPr>
        <p:txBody>
          <a:bodyPr wrap="none" rtlCol="0">
            <a:spAutoFit/>
          </a:bodyPr>
          <a:lstStyle/>
          <a:p>
            <a:r>
              <a:rPr lang="zh-CN" altLang="en-US" sz="4800" dirty="0">
                <a:solidFill>
                  <a:schemeClr val="bg1"/>
                </a:solidFill>
              </a:rPr>
              <a:t>目录</a:t>
            </a:r>
            <a:endParaRPr lang="zh-CN" altLang="en-US" sz="4800" dirty="0">
              <a:solidFill>
                <a:schemeClr val="bg1"/>
              </a:solidFill>
            </a:endParaRPr>
          </a:p>
        </p:txBody>
      </p:sp>
      <p:cxnSp>
        <p:nvCxnSpPr>
          <p:cNvPr id="34" name="直接连接符 33"/>
          <p:cNvCxnSpPr/>
          <p:nvPr/>
        </p:nvCxnSpPr>
        <p:spPr>
          <a:xfrm>
            <a:off x="1503045" y="3579495"/>
            <a:ext cx="631825" cy="0"/>
          </a:xfrm>
          <a:prstGeom prst="line">
            <a:avLst/>
          </a:prstGeom>
          <a:ln w="3492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35" name="组合 34"/>
          <p:cNvGrpSpPr/>
          <p:nvPr/>
        </p:nvGrpSpPr>
        <p:grpSpPr>
          <a:xfrm>
            <a:off x="4841875" y="4482603"/>
            <a:ext cx="4874895" cy="645291"/>
            <a:chOff x="3567" y="2680"/>
            <a:chExt cx="7677" cy="1489"/>
          </a:xfrm>
        </p:grpSpPr>
        <p:grpSp>
          <p:nvGrpSpPr>
            <p:cNvPr id="36" name="组合 35"/>
            <p:cNvGrpSpPr/>
            <p:nvPr/>
          </p:nvGrpSpPr>
          <p:grpSpPr>
            <a:xfrm>
              <a:off x="3567" y="2680"/>
              <a:ext cx="7677" cy="1489"/>
              <a:chOff x="3567" y="2570"/>
              <a:chExt cx="7677" cy="1489"/>
            </a:xfrm>
          </p:grpSpPr>
          <p:grpSp>
            <p:nvGrpSpPr>
              <p:cNvPr id="37" name="组合 36"/>
              <p:cNvGrpSpPr/>
              <p:nvPr/>
            </p:nvGrpSpPr>
            <p:grpSpPr>
              <a:xfrm>
                <a:off x="3567" y="2570"/>
                <a:ext cx="1522" cy="1489"/>
                <a:chOff x="3567" y="2570"/>
                <a:chExt cx="1522" cy="1489"/>
              </a:xfrm>
            </p:grpSpPr>
            <p:sp>
              <p:nvSpPr>
                <p:cNvPr id="38" name="剪去对角的矩形 37"/>
                <p:cNvSpPr/>
                <p:nvPr/>
              </p:nvSpPr>
              <p:spPr>
                <a:xfrm>
                  <a:off x="3567" y="2670"/>
                  <a:ext cx="1522" cy="1343"/>
                </a:xfrm>
                <a:prstGeom prst="snip2DiagRect">
                  <a:avLst>
                    <a:gd name="adj1" fmla="val 0"/>
                    <a:gd name="adj2" fmla="val 50000"/>
                  </a:avLst>
                </a:prstGeom>
                <a:solidFill>
                  <a:schemeClr val="accent1">
                    <a:lumMod val="50000"/>
                  </a:schemeClr>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3600"/>
                </a:p>
              </p:txBody>
            </p:sp>
            <p:sp>
              <p:nvSpPr>
                <p:cNvPr id="39" name="文本框 38"/>
                <p:cNvSpPr txBox="1"/>
                <p:nvPr/>
              </p:nvSpPr>
              <p:spPr>
                <a:xfrm>
                  <a:off x="3772" y="2570"/>
                  <a:ext cx="1112" cy="1489"/>
                </a:xfrm>
                <a:prstGeom prst="rect">
                  <a:avLst/>
                </a:prstGeom>
                <a:noFill/>
              </p:spPr>
              <p:txBody>
                <a:bodyPr wrap="square" rtlCol="0">
                  <a:spAutoFit/>
                </a:bodyPr>
                <a:lstStyle/>
                <a:p>
                  <a:pPr algn="ctr"/>
                  <a:r>
                    <a:rPr lang="en-US" altLang="zh-CN" sz="3600" dirty="0">
                      <a:solidFill>
                        <a:schemeClr val="bg1"/>
                      </a:solidFill>
                      <a:latin typeface="Times New Roman" panose="02020603050405020304" pitchFamily="18" charset="0"/>
                      <a:ea typeface="Adobe Gothic Std B" panose="020B0800000000000000" charset="-128"/>
                      <a:cs typeface="Times New Roman" panose="02020603050405020304" pitchFamily="18" charset="0"/>
                      <a:sym typeface="+mn-ea"/>
                    </a:rPr>
                    <a:t>4</a:t>
                  </a:r>
                  <a:endParaRPr lang="en-US" altLang="zh-CN" sz="3600" dirty="0">
                    <a:solidFill>
                      <a:schemeClr val="bg1"/>
                    </a:solidFill>
                    <a:latin typeface="Times New Roman" panose="02020603050405020304" pitchFamily="18" charset="0"/>
                    <a:ea typeface="Adobe Gothic Std B" panose="020B0800000000000000" charset="-128"/>
                    <a:cs typeface="Times New Roman" panose="02020603050405020304" pitchFamily="18" charset="0"/>
                    <a:sym typeface="+mn-ea"/>
                  </a:endParaRPr>
                </a:p>
              </p:txBody>
            </p:sp>
          </p:grpSp>
          <p:cxnSp>
            <p:nvCxnSpPr>
              <p:cNvPr id="40" name="直接连接符 39"/>
              <p:cNvCxnSpPr/>
              <p:nvPr/>
            </p:nvCxnSpPr>
            <p:spPr>
              <a:xfrm>
                <a:off x="5116" y="4026"/>
                <a:ext cx="6128" cy="0"/>
              </a:xfrm>
              <a:prstGeom prst="line">
                <a:avLst/>
              </a:prstGeom>
              <a:ln w="15875" cmpd="thickThin">
                <a:solidFill>
                  <a:schemeClr val="accent1">
                    <a:lumMod val="50000"/>
                  </a:schemeClr>
                </a:solidFill>
                <a:prstDash val="dashDot"/>
              </a:ln>
            </p:spPr>
            <p:style>
              <a:lnRef idx="1">
                <a:schemeClr val="accent1"/>
              </a:lnRef>
              <a:fillRef idx="0">
                <a:schemeClr val="accent1"/>
              </a:fillRef>
              <a:effectRef idx="0">
                <a:schemeClr val="accent1"/>
              </a:effectRef>
              <a:fontRef idx="minor">
                <a:schemeClr val="tx1"/>
              </a:fontRef>
            </p:style>
          </p:cxnSp>
        </p:grpSp>
        <p:sp>
          <p:nvSpPr>
            <p:cNvPr id="41" name="文本框 40"/>
            <p:cNvSpPr txBox="1"/>
            <p:nvPr/>
          </p:nvSpPr>
          <p:spPr>
            <a:xfrm>
              <a:off x="5706" y="2704"/>
              <a:ext cx="5064" cy="1355"/>
            </a:xfrm>
            <a:prstGeom prst="rect">
              <a:avLst/>
            </a:prstGeom>
            <a:noFill/>
          </p:spPr>
          <p:txBody>
            <a:bodyPr wrap="square" rtlCol="0">
              <a:spAutoFit/>
            </a:bodyPr>
            <a:lstStyle/>
            <a:p>
              <a:pPr algn="l">
                <a:lnSpc>
                  <a:spcPct val="150000"/>
                </a:lnSpc>
              </a:pPr>
              <a:r>
                <a:rPr lang="en-US" altLang="zh-CN" sz="2400" b="1" dirty="0"/>
                <a:t>AI</a:t>
              </a:r>
              <a:r>
                <a:rPr lang="zh-CN" altLang="en-US" sz="2400" b="1" dirty="0"/>
                <a:t>辅助测试</a:t>
              </a:r>
              <a:endParaRPr lang="zh-CN" altLang="en-US" sz="2400" b="1" dirty="0"/>
            </a:p>
          </p:txBody>
        </p:sp>
      </p:grpSp>
      <p:grpSp>
        <p:nvGrpSpPr>
          <p:cNvPr id="24" name="组合 23"/>
          <p:cNvGrpSpPr/>
          <p:nvPr/>
        </p:nvGrpSpPr>
        <p:grpSpPr>
          <a:xfrm>
            <a:off x="4841875" y="5620013"/>
            <a:ext cx="4874895" cy="645291"/>
            <a:chOff x="3567" y="2680"/>
            <a:chExt cx="7677" cy="1489"/>
          </a:xfrm>
        </p:grpSpPr>
        <p:grpSp>
          <p:nvGrpSpPr>
            <p:cNvPr id="25" name="组合 24"/>
            <p:cNvGrpSpPr/>
            <p:nvPr/>
          </p:nvGrpSpPr>
          <p:grpSpPr>
            <a:xfrm>
              <a:off x="3567" y="2680"/>
              <a:ext cx="7677" cy="1489"/>
              <a:chOff x="3567" y="2570"/>
              <a:chExt cx="7677" cy="1489"/>
            </a:xfrm>
          </p:grpSpPr>
          <p:grpSp>
            <p:nvGrpSpPr>
              <p:cNvPr id="27" name="组合 26"/>
              <p:cNvGrpSpPr/>
              <p:nvPr/>
            </p:nvGrpSpPr>
            <p:grpSpPr>
              <a:xfrm>
                <a:off x="3567" y="2570"/>
                <a:ext cx="1522" cy="1489"/>
                <a:chOff x="3567" y="2570"/>
                <a:chExt cx="1522" cy="1489"/>
              </a:xfrm>
            </p:grpSpPr>
            <p:sp>
              <p:nvSpPr>
                <p:cNvPr id="29" name="剪去对角的矩形 37"/>
                <p:cNvSpPr/>
                <p:nvPr/>
              </p:nvSpPr>
              <p:spPr>
                <a:xfrm>
                  <a:off x="3567" y="2670"/>
                  <a:ext cx="1522" cy="1343"/>
                </a:xfrm>
                <a:prstGeom prst="snip2DiagRect">
                  <a:avLst>
                    <a:gd name="adj1" fmla="val 0"/>
                    <a:gd name="adj2" fmla="val 50000"/>
                  </a:avLst>
                </a:prstGeom>
                <a:solidFill>
                  <a:schemeClr val="accent1">
                    <a:lumMod val="50000"/>
                  </a:schemeClr>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3600"/>
                </a:p>
              </p:txBody>
            </p:sp>
            <p:sp>
              <p:nvSpPr>
                <p:cNvPr id="30" name="文本框 29"/>
                <p:cNvSpPr txBox="1"/>
                <p:nvPr/>
              </p:nvSpPr>
              <p:spPr>
                <a:xfrm>
                  <a:off x="3772" y="2570"/>
                  <a:ext cx="1112" cy="1489"/>
                </a:xfrm>
                <a:prstGeom prst="rect">
                  <a:avLst/>
                </a:prstGeom>
                <a:noFill/>
              </p:spPr>
              <p:txBody>
                <a:bodyPr wrap="square" rtlCol="0">
                  <a:spAutoFit/>
                </a:bodyPr>
                <a:lstStyle/>
                <a:p>
                  <a:pPr algn="ctr"/>
                  <a:r>
                    <a:rPr lang="en-US" altLang="zh-CN" sz="3600" dirty="0">
                      <a:solidFill>
                        <a:schemeClr val="bg1"/>
                      </a:solidFill>
                      <a:latin typeface="Times New Roman" panose="02020603050405020304" pitchFamily="18" charset="0"/>
                      <a:ea typeface="Adobe Gothic Std B" panose="020B0800000000000000" charset="-128"/>
                      <a:cs typeface="Times New Roman" panose="02020603050405020304" pitchFamily="18" charset="0"/>
                      <a:sym typeface="+mn-ea"/>
                    </a:rPr>
                    <a:t>5</a:t>
                  </a:r>
                  <a:endParaRPr lang="en-US" altLang="zh-CN" sz="3600" dirty="0">
                    <a:solidFill>
                      <a:schemeClr val="bg1"/>
                    </a:solidFill>
                    <a:latin typeface="Times New Roman" panose="02020603050405020304" pitchFamily="18" charset="0"/>
                    <a:ea typeface="Adobe Gothic Std B" panose="020B0800000000000000" charset="-128"/>
                    <a:cs typeface="Times New Roman" panose="02020603050405020304" pitchFamily="18" charset="0"/>
                    <a:sym typeface="+mn-ea"/>
                  </a:endParaRPr>
                </a:p>
              </p:txBody>
            </p:sp>
          </p:grpSp>
          <p:cxnSp>
            <p:nvCxnSpPr>
              <p:cNvPr id="28" name="直接连接符 27"/>
              <p:cNvCxnSpPr/>
              <p:nvPr/>
            </p:nvCxnSpPr>
            <p:spPr>
              <a:xfrm>
                <a:off x="5116" y="4026"/>
                <a:ext cx="6128" cy="0"/>
              </a:xfrm>
              <a:prstGeom prst="line">
                <a:avLst/>
              </a:prstGeom>
              <a:ln w="15875" cmpd="thickThin">
                <a:solidFill>
                  <a:schemeClr val="accent1">
                    <a:lumMod val="50000"/>
                  </a:schemeClr>
                </a:solidFill>
                <a:prstDash val="dashDot"/>
              </a:ln>
            </p:spPr>
            <p:style>
              <a:lnRef idx="1">
                <a:schemeClr val="accent1"/>
              </a:lnRef>
              <a:fillRef idx="0">
                <a:schemeClr val="accent1"/>
              </a:fillRef>
              <a:effectRef idx="0">
                <a:schemeClr val="accent1"/>
              </a:effectRef>
              <a:fontRef idx="minor">
                <a:schemeClr val="tx1"/>
              </a:fontRef>
            </p:style>
          </p:cxnSp>
        </p:grpSp>
        <p:sp>
          <p:nvSpPr>
            <p:cNvPr id="26" name="文本框 25"/>
            <p:cNvSpPr txBox="1"/>
            <p:nvPr/>
          </p:nvSpPr>
          <p:spPr>
            <a:xfrm>
              <a:off x="5706" y="2704"/>
              <a:ext cx="5064" cy="1355"/>
            </a:xfrm>
            <a:prstGeom prst="rect">
              <a:avLst/>
            </a:prstGeom>
            <a:noFill/>
          </p:spPr>
          <p:txBody>
            <a:bodyPr wrap="square" rtlCol="0">
              <a:spAutoFit/>
            </a:bodyPr>
            <a:lstStyle/>
            <a:p>
              <a:pPr algn="l">
                <a:lnSpc>
                  <a:spcPct val="150000"/>
                </a:lnSpc>
              </a:pPr>
              <a:r>
                <a:rPr lang="zh-CN" altLang="en-US" sz="2400" b="1" dirty="0"/>
                <a:t>测试总结</a:t>
              </a:r>
              <a:endParaRPr lang="zh-CN" altLang="en-US" sz="2400" b="1" dirty="0"/>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9685" y="1826895"/>
            <a:ext cx="12221210" cy="2751455"/>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 name="组合 14"/>
          <p:cNvGrpSpPr/>
          <p:nvPr/>
        </p:nvGrpSpPr>
        <p:grpSpPr>
          <a:xfrm rot="840000">
            <a:off x="2011296" y="2186835"/>
            <a:ext cx="1192471" cy="2079625"/>
            <a:chOff x="6293" y="1109"/>
            <a:chExt cx="1712" cy="3058"/>
          </a:xfrm>
        </p:grpSpPr>
        <p:sp>
          <p:nvSpPr>
            <p:cNvPr id="8" name="圆角矩形 7"/>
            <p:cNvSpPr/>
            <p:nvPr/>
          </p:nvSpPr>
          <p:spPr>
            <a:xfrm>
              <a:off x="6293" y="1109"/>
              <a:ext cx="1549" cy="3058"/>
            </a:xfrm>
            <a:prstGeom prst="roundRect">
              <a:avLst>
                <a:gd name="adj" fmla="val 9795"/>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圆角矩形 8"/>
            <p:cNvSpPr/>
            <p:nvPr/>
          </p:nvSpPr>
          <p:spPr>
            <a:xfrm>
              <a:off x="6342" y="1158"/>
              <a:ext cx="1450" cy="2959"/>
            </a:xfrm>
            <a:prstGeom prst="roundRect">
              <a:avLst>
                <a:gd name="adj" fmla="val 9795"/>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6323" y="1608"/>
              <a:ext cx="1682" cy="1492"/>
            </a:xfrm>
            <a:prstGeom prst="rect">
              <a:avLst/>
            </a:prstGeom>
            <a:noFill/>
          </p:spPr>
          <p:txBody>
            <a:bodyPr wrap="square" rtlCol="0">
              <a:spAutoFit/>
            </a:bodyPr>
            <a:lstStyle/>
            <a:p>
              <a:r>
                <a:rPr lang="en-US" altLang="zh-CN" sz="6000" dirty="0">
                  <a:solidFill>
                    <a:schemeClr val="bg1"/>
                  </a:solidFill>
                  <a:latin typeface="Times New Roman" panose="02020603050405020304" pitchFamily="18" charset="0"/>
                  <a:ea typeface="Kozuka Gothic Pr6N H" panose="020B0800000000000000" charset="-128"/>
                  <a:cs typeface="Times New Roman" panose="02020603050405020304" pitchFamily="18" charset="0"/>
                </a:rPr>
                <a:t>01</a:t>
              </a:r>
              <a:endParaRPr lang="en-US" altLang="zh-CN" sz="6000" dirty="0">
                <a:solidFill>
                  <a:schemeClr val="bg1"/>
                </a:solidFill>
                <a:latin typeface="Times New Roman" panose="02020603050405020304" pitchFamily="18" charset="0"/>
                <a:ea typeface="Kozuka Gothic Pr6N H" panose="020B0800000000000000" charset="-128"/>
                <a:cs typeface="Times New Roman" panose="02020603050405020304" pitchFamily="18" charset="0"/>
              </a:endParaRPr>
            </a:p>
          </p:txBody>
        </p:sp>
        <p:sp>
          <p:nvSpPr>
            <p:cNvPr id="11" name="椭圆 10"/>
            <p:cNvSpPr/>
            <p:nvPr/>
          </p:nvSpPr>
          <p:spPr>
            <a:xfrm>
              <a:off x="6870" y="3721"/>
              <a:ext cx="300" cy="300"/>
            </a:xfrm>
            <a:prstGeom prst="ellipse">
              <a:avLst/>
            </a:prstGeom>
            <a:solidFill>
              <a:schemeClr val="bg1">
                <a:lumMod val="95000"/>
              </a:schemeClr>
            </a:solidFill>
            <a:ln>
              <a:noFill/>
            </a:ln>
            <a:effectLst>
              <a:innerShdw>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6751" y="1199"/>
              <a:ext cx="120" cy="120"/>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6897" y="1199"/>
              <a:ext cx="120" cy="120"/>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文本框 15"/>
          <p:cNvSpPr txBox="1"/>
          <p:nvPr/>
        </p:nvSpPr>
        <p:spPr>
          <a:xfrm>
            <a:off x="3536374" y="2797000"/>
            <a:ext cx="5109091" cy="830997"/>
          </a:xfrm>
          <a:prstGeom prst="rect">
            <a:avLst/>
          </a:prstGeom>
          <a:noFill/>
        </p:spPr>
        <p:txBody>
          <a:bodyPr wrap="none" rtlCol="0">
            <a:spAutoFit/>
          </a:bodyPr>
          <a:lstStyle/>
          <a:p>
            <a:r>
              <a:rPr lang="zh-CN" altLang="en-US" sz="4800" dirty="0">
                <a:solidFill>
                  <a:schemeClr val="bg1"/>
                </a:solidFill>
              </a:rPr>
              <a:t>软件代码结构设计</a:t>
            </a:r>
            <a:endParaRPr lang="zh-CN" altLang="en-US" sz="4800" dirty="0">
              <a:solidFill>
                <a:schemeClr val="bg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33655" y="306269"/>
            <a:ext cx="3891091" cy="730685"/>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a:p>
        </p:txBody>
      </p:sp>
      <p:sp>
        <p:nvSpPr>
          <p:cNvPr id="5" name="文本框 4"/>
          <p:cNvSpPr txBox="1"/>
          <p:nvPr/>
        </p:nvSpPr>
        <p:spPr>
          <a:xfrm>
            <a:off x="932815" y="410210"/>
            <a:ext cx="3521075" cy="521970"/>
          </a:xfrm>
          <a:prstGeom prst="rect">
            <a:avLst/>
          </a:prstGeom>
          <a:noFill/>
        </p:spPr>
        <p:txBody>
          <a:bodyPr wrap="square" rtlCol="0">
            <a:spAutoFit/>
          </a:bodyPr>
          <a:lstStyle/>
          <a:p>
            <a:pPr algn="l"/>
            <a:r>
              <a:rPr lang="zh-CN" altLang="en-US" sz="2800" b="1" dirty="0">
                <a:solidFill>
                  <a:schemeClr val="bg1"/>
                </a:solidFill>
                <a:sym typeface="+mn-ea"/>
              </a:rPr>
              <a:t>依赖包及模式</a:t>
            </a:r>
            <a:endParaRPr lang="zh-CN" altLang="en-US" sz="2800" b="1" dirty="0">
              <a:solidFill>
                <a:schemeClr val="bg1"/>
              </a:solidFill>
              <a:sym typeface="+mn-ea"/>
            </a:endParaRPr>
          </a:p>
        </p:txBody>
      </p:sp>
      <p:sp>
        <p:nvSpPr>
          <p:cNvPr id="6" name="等腰三角形 5"/>
          <p:cNvSpPr/>
          <p:nvPr/>
        </p:nvSpPr>
        <p:spPr>
          <a:xfrm rot="5400000">
            <a:off x="309245" y="503555"/>
            <a:ext cx="445770" cy="334645"/>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圆角 8"/>
          <p:cNvSpPr/>
          <p:nvPr/>
        </p:nvSpPr>
        <p:spPr>
          <a:xfrm>
            <a:off x="460477" y="1398850"/>
            <a:ext cx="3993413" cy="4995894"/>
          </a:xfrm>
          <a:prstGeom prst="roundRect">
            <a:avLst>
              <a:gd name="adj" fmla="val 7355"/>
            </a:avLst>
          </a:prstGeom>
          <a:noFill/>
          <a:ln w="19050">
            <a:solidFill>
              <a:schemeClr val="tx1"/>
            </a:solidFill>
            <a:prstDash val="lg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839336" y="1755412"/>
            <a:ext cx="3263984" cy="605563"/>
          </a:xfrm>
          <a:prstGeom prst="rect">
            <a:avLst/>
          </a:prstGeom>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400" b="1" kern="0" dirty="0">
                <a:solidFill>
                  <a:schemeClr val="tx1"/>
                </a:solidFill>
                <a:latin typeface="+mj-ea"/>
                <a:ea typeface="+mj-ea"/>
                <a:cs typeface="Times New Roman" panose="02020603050405020304" pitchFamily="18" charset="0"/>
              </a:rPr>
              <a:t>Python(3.x)</a:t>
            </a:r>
            <a:r>
              <a:rPr lang="zh-CN" altLang="en-US" sz="2400" b="1" kern="0" dirty="0">
                <a:solidFill>
                  <a:schemeClr val="tx1"/>
                </a:solidFill>
                <a:latin typeface="+mj-ea"/>
                <a:ea typeface="+mj-ea"/>
                <a:cs typeface="Times New Roman" panose="02020603050405020304" pitchFamily="18" charset="0"/>
              </a:rPr>
              <a:t>依赖包 </a:t>
            </a:r>
            <a:endParaRPr lang="zh-CN" altLang="en-US" sz="2400" b="1" kern="0" dirty="0">
              <a:solidFill>
                <a:schemeClr val="tx1"/>
              </a:solidFill>
              <a:latin typeface="+mj-ea"/>
              <a:ea typeface="+mj-ea"/>
              <a:cs typeface="Times New Roman" panose="02020603050405020304" pitchFamily="18" charset="0"/>
            </a:endParaRPr>
          </a:p>
        </p:txBody>
      </p:sp>
      <p:grpSp>
        <p:nvGrpSpPr>
          <p:cNvPr id="30" name="组合 29"/>
          <p:cNvGrpSpPr/>
          <p:nvPr/>
        </p:nvGrpSpPr>
        <p:grpSpPr>
          <a:xfrm>
            <a:off x="839336" y="2693313"/>
            <a:ext cx="3223992" cy="672369"/>
            <a:chOff x="1475176" y="2656979"/>
            <a:chExt cx="3223992" cy="672369"/>
          </a:xfrm>
          <a:effectLst>
            <a:outerShdw blurRad="63500" sx="102000" sy="102000" algn="ctr" rotWithShape="0">
              <a:prstClr val="black">
                <a:alpha val="40000"/>
              </a:prstClr>
            </a:outerShdw>
          </a:effectLst>
        </p:grpSpPr>
        <p:sp>
          <p:nvSpPr>
            <p:cNvPr id="2" name="矩形 1"/>
            <p:cNvSpPr/>
            <p:nvPr/>
          </p:nvSpPr>
          <p:spPr>
            <a:xfrm>
              <a:off x="1475176" y="2656979"/>
              <a:ext cx="1794864" cy="672369"/>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latin typeface="+mj-ea"/>
                  <a:ea typeface="+mj-ea"/>
                </a:rPr>
                <a:t>Diango</a:t>
              </a:r>
              <a:endParaRPr lang="zh-CN" altLang="en-US" sz="2000" dirty="0">
                <a:solidFill>
                  <a:schemeClr val="tx1"/>
                </a:solidFill>
                <a:latin typeface="+mj-ea"/>
                <a:ea typeface="+mj-ea"/>
              </a:endParaRPr>
            </a:p>
          </p:txBody>
        </p:sp>
        <p:sp>
          <p:nvSpPr>
            <p:cNvPr id="13" name="矩形 12"/>
            <p:cNvSpPr/>
            <p:nvPr/>
          </p:nvSpPr>
          <p:spPr>
            <a:xfrm>
              <a:off x="3231308" y="2656979"/>
              <a:ext cx="1467860" cy="67236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r>
                <a:rPr lang="en-US" altLang="zh-CN" sz="2000" kern="0" dirty="0">
                  <a:solidFill>
                    <a:sysClr val="windowText" lastClr="000000"/>
                  </a:solidFill>
                  <a:uFill>
                    <a:solidFill/>
                  </a:uFill>
                  <a:latin typeface="微软雅黑" panose="020B0503020204020204" charset="-122"/>
                  <a:ea typeface="微软雅黑" panose="020B0503020204020204" charset="-122"/>
                  <a:sym typeface="Calibri" panose="020F0502020204030204"/>
                </a:rPr>
                <a:t>2.2.28</a:t>
              </a:r>
              <a:endParaRPr lang="en-US" altLang="zh-CN" sz="2000" kern="0" dirty="0">
                <a:solidFill>
                  <a:sysClr val="windowText" lastClr="000000"/>
                </a:solidFill>
                <a:uFill>
                  <a:solidFill/>
                </a:uFill>
                <a:latin typeface="微软雅黑" panose="020B0503020204020204" charset="-122"/>
                <a:ea typeface="微软雅黑" panose="020B0503020204020204" charset="-122"/>
                <a:sym typeface="Calibri" panose="020F0502020204030204"/>
              </a:endParaRPr>
            </a:p>
          </p:txBody>
        </p:sp>
      </p:grpSp>
      <p:grpSp>
        <p:nvGrpSpPr>
          <p:cNvPr id="31" name="组合 30"/>
          <p:cNvGrpSpPr/>
          <p:nvPr/>
        </p:nvGrpSpPr>
        <p:grpSpPr>
          <a:xfrm>
            <a:off x="839336" y="3580654"/>
            <a:ext cx="3223992" cy="672370"/>
            <a:chOff x="1475176" y="3544320"/>
            <a:chExt cx="3223992" cy="672370"/>
          </a:xfrm>
          <a:effectLst>
            <a:outerShdw blurRad="63500" sx="102000" sy="102000" algn="ctr" rotWithShape="0">
              <a:prstClr val="black">
                <a:alpha val="40000"/>
              </a:prstClr>
            </a:outerShdw>
          </a:effectLst>
        </p:grpSpPr>
        <p:sp>
          <p:nvSpPr>
            <p:cNvPr id="3" name="矩形 2"/>
            <p:cNvSpPr/>
            <p:nvPr/>
          </p:nvSpPr>
          <p:spPr>
            <a:xfrm>
              <a:off x="1475176" y="3544321"/>
              <a:ext cx="1794864" cy="672369"/>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latin typeface="+mj-ea"/>
                  <a:ea typeface="+mj-ea"/>
                </a:rPr>
                <a:t>Pillow</a:t>
              </a:r>
              <a:endParaRPr lang="zh-CN" altLang="en-US" sz="2000" dirty="0">
                <a:solidFill>
                  <a:schemeClr val="tx1"/>
                </a:solidFill>
                <a:latin typeface="+mj-ea"/>
                <a:ea typeface="+mj-ea"/>
              </a:endParaRPr>
            </a:p>
          </p:txBody>
        </p:sp>
        <p:sp>
          <p:nvSpPr>
            <p:cNvPr id="14" name="矩形 13"/>
            <p:cNvSpPr/>
            <p:nvPr/>
          </p:nvSpPr>
          <p:spPr>
            <a:xfrm>
              <a:off x="3231308" y="3544320"/>
              <a:ext cx="1467860" cy="67236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r>
                <a:rPr lang="en-US" altLang="zh-CN" sz="2000" kern="0" dirty="0">
                  <a:solidFill>
                    <a:sysClr val="windowText" lastClr="000000"/>
                  </a:solidFill>
                  <a:uFill>
                    <a:solidFill/>
                  </a:uFill>
                  <a:latin typeface="微软雅黑" panose="020B0503020204020204" charset="-122"/>
                  <a:ea typeface="微软雅黑" panose="020B0503020204020204" charset="-122"/>
                  <a:sym typeface="Calibri" panose="020F0502020204030204"/>
                </a:rPr>
                <a:t>2.2.28</a:t>
              </a:r>
              <a:endParaRPr lang="en-US" altLang="zh-CN" sz="2000" kern="0" dirty="0">
                <a:solidFill>
                  <a:sysClr val="windowText" lastClr="000000"/>
                </a:solidFill>
                <a:uFill>
                  <a:solidFill/>
                </a:uFill>
                <a:latin typeface="微软雅黑" panose="020B0503020204020204" charset="-122"/>
                <a:ea typeface="微软雅黑" panose="020B0503020204020204" charset="-122"/>
                <a:sym typeface="Calibri" panose="020F0502020204030204"/>
              </a:endParaRPr>
            </a:p>
          </p:txBody>
        </p:sp>
      </p:grpSp>
      <p:grpSp>
        <p:nvGrpSpPr>
          <p:cNvPr id="32" name="组合 31"/>
          <p:cNvGrpSpPr/>
          <p:nvPr/>
        </p:nvGrpSpPr>
        <p:grpSpPr>
          <a:xfrm>
            <a:off x="839336" y="4467995"/>
            <a:ext cx="3223992" cy="672371"/>
            <a:chOff x="1475176" y="4431661"/>
            <a:chExt cx="3223992" cy="672371"/>
          </a:xfrm>
          <a:effectLst>
            <a:outerShdw blurRad="63500" sx="102000" sy="102000" algn="ctr" rotWithShape="0">
              <a:prstClr val="black">
                <a:alpha val="40000"/>
              </a:prstClr>
            </a:outerShdw>
          </a:effectLst>
        </p:grpSpPr>
        <p:sp>
          <p:nvSpPr>
            <p:cNvPr id="7" name="矩形 6"/>
            <p:cNvSpPr/>
            <p:nvPr/>
          </p:nvSpPr>
          <p:spPr>
            <a:xfrm>
              <a:off x="1475176" y="4431663"/>
              <a:ext cx="1794864" cy="672369"/>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err="1">
                  <a:solidFill>
                    <a:schemeClr val="tx1"/>
                  </a:solidFill>
                  <a:latin typeface="+mj-ea"/>
                  <a:ea typeface="+mj-ea"/>
                </a:rPr>
                <a:t>pytz</a:t>
              </a:r>
              <a:endParaRPr lang="zh-CN" altLang="en-US" sz="2000" dirty="0">
                <a:solidFill>
                  <a:schemeClr val="tx1"/>
                </a:solidFill>
                <a:latin typeface="+mj-ea"/>
                <a:ea typeface="+mj-ea"/>
              </a:endParaRPr>
            </a:p>
          </p:txBody>
        </p:sp>
        <p:sp>
          <p:nvSpPr>
            <p:cNvPr id="28" name="矩形 27"/>
            <p:cNvSpPr/>
            <p:nvPr/>
          </p:nvSpPr>
          <p:spPr>
            <a:xfrm>
              <a:off x="3231308" y="4431661"/>
              <a:ext cx="1467860" cy="67236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r>
                <a:rPr lang="en-US" altLang="zh-CN" sz="2000" kern="0" dirty="0">
                  <a:solidFill>
                    <a:sysClr val="windowText" lastClr="000000"/>
                  </a:solidFill>
                  <a:uFill>
                    <a:solidFill/>
                  </a:uFill>
                  <a:latin typeface="微软雅黑" panose="020B0503020204020204" charset="-122"/>
                  <a:ea typeface="微软雅黑" panose="020B0503020204020204" charset="-122"/>
                  <a:sym typeface="Calibri" panose="020F0502020204030204"/>
                </a:rPr>
                <a:t>2.2.28</a:t>
              </a:r>
              <a:endParaRPr lang="en-US" altLang="zh-CN" sz="2000" kern="0" dirty="0">
                <a:solidFill>
                  <a:sysClr val="windowText" lastClr="000000"/>
                </a:solidFill>
                <a:uFill>
                  <a:solidFill/>
                </a:uFill>
                <a:latin typeface="微软雅黑" panose="020B0503020204020204" charset="-122"/>
                <a:ea typeface="微软雅黑" panose="020B0503020204020204" charset="-122"/>
                <a:sym typeface="Calibri" panose="020F0502020204030204"/>
              </a:endParaRPr>
            </a:p>
          </p:txBody>
        </p:sp>
      </p:grpSp>
      <p:grpSp>
        <p:nvGrpSpPr>
          <p:cNvPr id="33" name="组合 32"/>
          <p:cNvGrpSpPr/>
          <p:nvPr/>
        </p:nvGrpSpPr>
        <p:grpSpPr>
          <a:xfrm>
            <a:off x="839336" y="5368579"/>
            <a:ext cx="3223992" cy="672369"/>
            <a:chOff x="1475176" y="5332245"/>
            <a:chExt cx="3223992" cy="672369"/>
          </a:xfrm>
          <a:effectLst>
            <a:outerShdw blurRad="63500" sx="102000" sy="102000" algn="ctr" rotWithShape="0">
              <a:prstClr val="black">
                <a:alpha val="40000"/>
              </a:prstClr>
            </a:outerShdw>
          </a:effectLst>
        </p:grpSpPr>
        <p:sp>
          <p:nvSpPr>
            <p:cNvPr id="8" name="矩形 7"/>
            <p:cNvSpPr/>
            <p:nvPr/>
          </p:nvSpPr>
          <p:spPr>
            <a:xfrm>
              <a:off x="1475176" y="5332245"/>
              <a:ext cx="1794864" cy="672369"/>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err="1">
                  <a:solidFill>
                    <a:schemeClr val="tx1"/>
                  </a:solidFill>
                  <a:latin typeface="+mj-ea"/>
                  <a:ea typeface="+mj-ea"/>
                </a:rPr>
                <a:t>django-tinymce</a:t>
              </a:r>
              <a:endParaRPr lang="en-US" altLang="zh-CN" sz="2000" dirty="0">
                <a:solidFill>
                  <a:schemeClr val="tx1"/>
                </a:solidFill>
                <a:latin typeface="+mj-ea"/>
                <a:ea typeface="+mj-ea"/>
              </a:endParaRPr>
            </a:p>
          </p:txBody>
        </p:sp>
        <p:sp>
          <p:nvSpPr>
            <p:cNvPr id="29" name="矩形 28"/>
            <p:cNvSpPr/>
            <p:nvPr/>
          </p:nvSpPr>
          <p:spPr>
            <a:xfrm>
              <a:off x="3231308" y="5332245"/>
              <a:ext cx="1467860" cy="67236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r>
                <a:rPr lang="en-US" altLang="zh-CN" sz="2000" kern="0" dirty="0">
                  <a:solidFill>
                    <a:sysClr val="windowText" lastClr="000000"/>
                  </a:solidFill>
                  <a:uFill>
                    <a:solidFill/>
                  </a:uFill>
                  <a:latin typeface="微软雅黑" panose="020B0503020204020204" charset="-122"/>
                  <a:ea typeface="微软雅黑" panose="020B0503020204020204" charset="-122"/>
                  <a:sym typeface="Calibri" panose="020F0502020204030204"/>
                </a:rPr>
                <a:t>2.2.28</a:t>
              </a:r>
              <a:endParaRPr lang="en-US" altLang="zh-CN" sz="2000" kern="0" dirty="0">
                <a:solidFill>
                  <a:sysClr val="windowText" lastClr="000000"/>
                </a:solidFill>
                <a:uFill>
                  <a:solidFill/>
                </a:uFill>
                <a:latin typeface="微软雅黑" panose="020B0503020204020204" charset="-122"/>
                <a:ea typeface="微软雅黑" panose="020B0503020204020204" charset="-122"/>
                <a:sym typeface="Calibri" panose="020F0502020204030204"/>
              </a:endParaRPr>
            </a:p>
          </p:txBody>
        </p:sp>
      </p:grpSp>
      <p:sp>
        <p:nvSpPr>
          <p:cNvPr id="34" name="矩形: 圆角 33"/>
          <p:cNvSpPr/>
          <p:nvPr/>
        </p:nvSpPr>
        <p:spPr>
          <a:xfrm>
            <a:off x="4965617" y="1398849"/>
            <a:ext cx="6838574" cy="4995895"/>
          </a:xfrm>
          <a:prstGeom prst="roundRect">
            <a:avLst>
              <a:gd name="adj" fmla="val 7355"/>
            </a:avLst>
          </a:prstGeom>
          <a:noFill/>
          <a:ln w="19050">
            <a:solidFill>
              <a:schemeClr val="tx1"/>
            </a:solidFill>
            <a:prstDash val="lg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p:cNvSpPr/>
          <p:nvPr/>
        </p:nvSpPr>
        <p:spPr>
          <a:xfrm>
            <a:off x="5985234" y="1755411"/>
            <a:ext cx="4993120" cy="605563"/>
          </a:xfrm>
          <a:prstGeom prst="rect">
            <a:avLst/>
          </a:prstGeom>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400" b="1" kern="0" dirty="0">
                <a:solidFill>
                  <a:schemeClr val="tx1"/>
                </a:solidFill>
                <a:latin typeface="+mj-ea"/>
                <a:ea typeface="+mj-ea"/>
                <a:cs typeface="Times New Roman" panose="02020603050405020304" pitchFamily="18" charset="0"/>
              </a:rPr>
              <a:t>MVT</a:t>
            </a:r>
            <a:r>
              <a:rPr lang="zh-CN" altLang="en-US" sz="2400" b="1" kern="0" dirty="0">
                <a:solidFill>
                  <a:schemeClr val="tx1"/>
                </a:solidFill>
                <a:latin typeface="+mj-ea"/>
                <a:ea typeface="+mj-ea"/>
                <a:cs typeface="Times New Roman" panose="02020603050405020304" pitchFamily="18" charset="0"/>
              </a:rPr>
              <a:t>模式 </a:t>
            </a:r>
            <a:endParaRPr lang="zh-CN" altLang="en-US" sz="2400" b="1" kern="0" dirty="0">
              <a:solidFill>
                <a:schemeClr val="tx1"/>
              </a:solidFill>
              <a:latin typeface="+mj-ea"/>
              <a:ea typeface="+mj-ea"/>
              <a:cs typeface="Times New Roman" panose="02020603050405020304" pitchFamily="18" charset="0"/>
            </a:endParaRPr>
          </a:p>
        </p:txBody>
      </p:sp>
      <p:sp>
        <p:nvSpPr>
          <p:cNvPr id="49" name="矩形 48"/>
          <p:cNvSpPr/>
          <p:nvPr/>
        </p:nvSpPr>
        <p:spPr>
          <a:xfrm>
            <a:off x="5327453" y="5022410"/>
            <a:ext cx="1876210" cy="107194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r>
              <a:rPr lang="zh-CN" altLang="en-US" sz="2000" kern="0" dirty="0">
                <a:solidFill>
                  <a:schemeClr val="tx1"/>
                </a:solidFill>
                <a:latin typeface="微软雅黑" panose="020B0503020204020204" charset="-122"/>
                <a:ea typeface="微软雅黑" panose="020B0503020204020204" charset="-122"/>
              </a:rPr>
              <a:t>定义数据结构与数据库交互</a:t>
            </a:r>
            <a:endParaRPr lang="zh-CN" altLang="en-US" sz="2000" kern="0" dirty="0">
              <a:solidFill>
                <a:schemeClr val="tx1"/>
              </a:solidFill>
              <a:latin typeface="微软雅黑" panose="020B0503020204020204" charset="-122"/>
              <a:ea typeface="微软雅黑" panose="020B0503020204020204" charset="-122"/>
            </a:endParaRPr>
          </a:p>
        </p:txBody>
      </p:sp>
      <p:sp>
        <p:nvSpPr>
          <p:cNvPr id="48" name="矩形 47"/>
          <p:cNvSpPr/>
          <p:nvPr/>
        </p:nvSpPr>
        <p:spPr>
          <a:xfrm>
            <a:off x="5386482" y="2830765"/>
            <a:ext cx="1758152" cy="672369"/>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latin typeface="+mj-ea"/>
                <a:ea typeface="+mj-ea"/>
              </a:rPr>
              <a:t>Model</a:t>
            </a:r>
            <a:endParaRPr lang="en-US" altLang="zh-CN" sz="2000" kern="0" dirty="0">
              <a:solidFill>
                <a:sysClr val="windowText" lastClr="000000"/>
              </a:solidFill>
              <a:uFill>
                <a:solidFill/>
              </a:uFill>
              <a:latin typeface="微软雅黑" panose="020B0503020204020204" charset="-122"/>
              <a:ea typeface="微软雅黑" panose="020B0503020204020204" charset="-122"/>
              <a:sym typeface="Calibri" panose="020F0502020204030204"/>
            </a:endParaRPr>
          </a:p>
        </p:txBody>
      </p:sp>
      <p:sp>
        <p:nvSpPr>
          <p:cNvPr id="52" name="矩形 51"/>
          <p:cNvSpPr/>
          <p:nvPr/>
        </p:nvSpPr>
        <p:spPr>
          <a:xfrm>
            <a:off x="5386482" y="3965044"/>
            <a:ext cx="1758152" cy="672369"/>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kern="0" dirty="0">
                <a:solidFill>
                  <a:sysClr val="windowText" lastClr="000000"/>
                </a:solidFill>
                <a:uFill>
                  <a:solidFill/>
                </a:uFill>
                <a:latin typeface="微软雅黑" panose="020B0503020204020204" charset="-122"/>
                <a:ea typeface="微软雅黑" panose="020B0503020204020204" charset="-122"/>
                <a:sym typeface="Calibri" panose="020F0502020204030204"/>
              </a:rPr>
              <a:t>数据层</a:t>
            </a:r>
            <a:endParaRPr lang="en-US" altLang="zh-CN" sz="2000" kern="0" dirty="0">
              <a:solidFill>
                <a:sysClr val="windowText" lastClr="000000"/>
              </a:solidFill>
              <a:uFill>
                <a:solidFill/>
              </a:uFill>
              <a:latin typeface="微软雅黑" panose="020B0503020204020204" charset="-122"/>
              <a:ea typeface="微软雅黑" panose="020B0503020204020204" charset="-122"/>
              <a:sym typeface="Calibri" panose="020F0502020204030204"/>
            </a:endParaRPr>
          </a:p>
        </p:txBody>
      </p:sp>
      <p:sp>
        <p:nvSpPr>
          <p:cNvPr id="53" name="矩形 52"/>
          <p:cNvSpPr/>
          <p:nvPr/>
        </p:nvSpPr>
        <p:spPr>
          <a:xfrm>
            <a:off x="7602718" y="2820336"/>
            <a:ext cx="1758152" cy="672369"/>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latin typeface="+mj-ea"/>
                <a:ea typeface="+mj-ea"/>
              </a:rPr>
              <a:t>View</a:t>
            </a:r>
            <a:endParaRPr lang="en-US" altLang="zh-CN" sz="2000" dirty="0">
              <a:solidFill>
                <a:schemeClr val="tx1"/>
              </a:solidFill>
              <a:latin typeface="+mj-ea"/>
              <a:ea typeface="+mj-ea"/>
            </a:endParaRPr>
          </a:p>
        </p:txBody>
      </p:sp>
      <p:sp>
        <p:nvSpPr>
          <p:cNvPr id="54" name="矩形 53"/>
          <p:cNvSpPr/>
          <p:nvPr/>
        </p:nvSpPr>
        <p:spPr>
          <a:xfrm>
            <a:off x="9724962" y="2822884"/>
            <a:ext cx="1758152" cy="672369"/>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latin typeface="+mj-ea"/>
                <a:ea typeface="+mj-ea"/>
              </a:rPr>
              <a:t>Template</a:t>
            </a:r>
            <a:endParaRPr lang="en-US" altLang="zh-CN" sz="2000" dirty="0">
              <a:solidFill>
                <a:schemeClr val="tx1"/>
              </a:solidFill>
              <a:latin typeface="+mj-ea"/>
              <a:ea typeface="+mj-ea"/>
            </a:endParaRPr>
          </a:p>
        </p:txBody>
      </p:sp>
      <p:sp>
        <p:nvSpPr>
          <p:cNvPr id="55" name="矩形 54"/>
          <p:cNvSpPr/>
          <p:nvPr/>
        </p:nvSpPr>
        <p:spPr>
          <a:xfrm>
            <a:off x="7602718" y="3965044"/>
            <a:ext cx="1758152" cy="672369"/>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kern="0" dirty="0">
                <a:solidFill>
                  <a:sysClr val="windowText" lastClr="000000"/>
                </a:solidFill>
                <a:uFill>
                  <a:solidFill/>
                </a:uFill>
                <a:latin typeface="微软雅黑" panose="020B0503020204020204" charset="-122"/>
                <a:ea typeface="微软雅黑" panose="020B0503020204020204" charset="-122"/>
                <a:sym typeface="Calibri" panose="020F0502020204030204"/>
              </a:rPr>
              <a:t>业务逻辑</a:t>
            </a:r>
            <a:endParaRPr lang="zh-CN" altLang="en-US" sz="2000" kern="0" dirty="0">
              <a:solidFill>
                <a:sysClr val="windowText" lastClr="000000"/>
              </a:solidFill>
              <a:uFill>
                <a:solidFill/>
              </a:uFill>
              <a:latin typeface="微软雅黑" panose="020B0503020204020204" charset="-122"/>
              <a:ea typeface="微软雅黑" panose="020B0503020204020204" charset="-122"/>
              <a:sym typeface="Calibri" panose="020F0502020204030204"/>
            </a:endParaRPr>
          </a:p>
        </p:txBody>
      </p:sp>
      <p:sp>
        <p:nvSpPr>
          <p:cNvPr id="56" name="矩形 55"/>
          <p:cNvSpPr/>
          <p:nvPr/>
        </p:nvSpPr>
        <p:spPr>
          <a:xfrm>
            <a:off x="9724962" y="3965044"/>
            <a:ext cx="1758152" cy="672369"/>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kern="0" dirty="0">
                <a:solidFill>
                  <a:sysClr val="windowText" lastClr="000000"/>
                </a:solidFill>
                <a:uFill>
                  <a:solidFill/>
                </a:uFill>
                <a:latin typeface="微软雅黑" panose="020B0503020204020204" charset="-122"/>
                <a:ea typeface="微软雅黑" panose="020B0503020204020204" charset="-122"/>
                <a:sym typeface="Calibri" panose="020F0502020204030204"/>
              </a:rPr>
              <a:t>表现层</a:t>
            </a:r>
            <a:endParaRPr lang="zh-CN" altLang="en-US" sz="2000" kern="0" dirty="0">
              <a:solidFill>
                <a:sysClr val="windowText" lastClr="000000"/>
              </a:solidFill>
              <a:uFill>
                <a:solidFill/>
              </a:uFill>
              <a:latin typeface="微软雅黑" panose="020B0503020204020204" charset="-122"/>
              <a:ea typeface="微软雅黑" panose="020B0503020204020204" charset="-122"/>
              <a:sym typeface="Calibri" panose="020F0502020204030204"/>
            </a:endParaRPr>
          </a:p>
        </p:txBody>
      </p:sp>
      <p:sp>
        <p:nvSpPr>
          <p:cNvPr id="61" name="矩形 60"/>
          <p:cNvSpPr/>
          <p:nvPr/>
        </p:nvSpPr>
        <p:spPr>
          <a:xfrm>
            <a:off x="7543689" y="5022410"/>
            <a:ext cx="1876210" cy="107194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r>
              <a:rPr lang="zh-CN" altLang="en-US" sz="2000" kern="0" dirty="0">
                <a:solidFill>
                  <a:schemeClr val="tx1"/>
                </a:solidFill>
                <a:latin typeface="微软雅黑" panose="020B0503020204020204" charset="-122"/>
                <a:ea typeface="微软雅黑" panose="020B0503020204020204" charset="-122"/>
              </a:rPr>
              <a:t>处理用户请求返回响应</a:t>
            </a:r>
            <a:endParaRPr lang="zh-CN" altLang="en-US" sz="2000" kern="0" dirty="0">
              <a:solidFill>
                <a:schemeClr val="tx1"/>
              </a:solidFill>
              <a:latin typeface="微软雅黑" panose="020B0503020204020204" charset="-122"/>
              <a:ea typeface="微软雅黑" panose="020B0503020204020204" charset="-122"/>
            </a:endParaRPr>
          </a:p>
        </p:txBody>
      </p:sp>
      <p:sp>
        <p:nvSpPr>
          <p:cNvPr id="62" name="矩形 61"/>
          <p:cNvSpPr/>
          <p:nvPr/>
        </p:nvSpPr>
        <p:spPr>
          <a:xfrm>
            <a:off x="9665933" y="5022410"/>
            <a:ext cx="1876210" cy="107194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r>
              <a:rPr lang="zh-CN" altLang="en-US" kern="0" dirty="0">
                <a:solidFill>
                  <a:schemeClr val="tx1"/>
                </a:solidFill>
                <a:latin typeface="微软雅黑" panose="020B0503020204020204" charset="-122"/>
                <a:ea typeface="微软雅黑" panose="020B0503020204020204" charset="-122"/>
              </a:rPr>
              <a:t>呈现数据的用户界面接受表单</a:t>
            </a:r>
            <a:endParaRPr lang="en-US" altLang="zh-CN" kern="0" dirty="0">
              <a:solidFill>
                <a:schemeClr val="tx1"/>
              </a:solidFill>
              <a:latin typeface="微软雅黑" panose="020B0503020204020204" charset="-122"/>
              <a:ea typeface="微软雅黑" panose="020B0503020204020204" charset="-122"/>
            </a:endParaRPr>
          </a:p>
          <a:p>
            <a:pPr algn="ctr" defTabSz="457200"/>
            <a:r>
              <a:rPr lang="zh-CN" altLang="en-US" kern="0" dirty="0">
                <a:solidFill>
                  <a:schemeClr val="tx1"/>
                </a:solidFill>
                <a:latin typeface="微软雅黑" panose="020B0503020204020204" charset="-122"/>
                <a:ea typeface="微软雅黑" panose="020B0503020204020204" charset="-122"/>
              </a:rPr>
              <a:t>生成</a:t>
            </a:r>
            <a:r>
              <a:rPr lang="en-US" altLang="zh-CN" kern="0" dirty="0">
                <a:solidFill>
                  <a:schemeClr val="tx1"/>
                </a:solidFill>
                <a:latin typeface="微软雅黑" panose="020B0503020204020204" charset="-122"/>
                <a:ea typeface="微软雅黑" panose="020B0503020204020204" charset="-122"/>
              </a:rPr>
              <a:t>HTML</a:t>
            </a:r>
            <a:r>
              <a:rPr lang="zh-CN" altLang="en-US" kern="0" dirty="0">
                <a:solidFill>
                  <a:schemeClr val="tx1"/>
                </a:solidFill>
                <a:latin typeface="微软雅黑" panose="020B0503020204020204" charset="-122"/>
                <a:ea typeface="微软雅黑" panose="020B0503020204020204" charset="-122"/>
              </a:rPr>
              <a:t>界面</a:t>
            </a:r>
            <a:endParaRPr lang="zh-CN" altLang="en-US" kern="0" dirty="0">
              <a:solidFill>
                <a:schemeClr val="tx1"/>
              </a:solidFill>
              <a:latin typeface="微软雅黑" panose="020B0503020204020204" charset="-122"/>
              <a:ea typeface="微软雅黑" panose="020B0503020204020204" charset="-122"/>
            </a:endParaRPr>
          </a:p>
        </p:txBody>
      </p:sp>
      <p:cxnSp>
        <p:nvCxnSpPr>
          <p:cNvPr id="64" name="直接连接符 63"/>
          <p:cNvCxnSpPr>
            <a:stCxn id="47" idx="2"/>
            <a:endCxn id="53" idx="0"/>
          </p:cNvCxnSpPr>
          <p:nvPr/>
        </p:nvCxnSpPr>
        <p:spPr>
          <a:xfrm>
            <a:off x="8481794" y="2360974"/>
            <a:ext cx="0" cy="459362"/>
          </a:xfrm>
          <a:prstGeom prst="line">
            <a:avLst/>
          </a:prstGeom>
          <a:ln w="19050">
            <a:solidFill>
              <a:srgbClr val="C00000"/>
            </a:solidFill>
          </a:ln>
        </p:spPr>
        <p:style>
          <a:lnRef idx="1">
            <a:schemeClr val="dk1"/>
          </a:lnRef>
          <a:fillRef idx="0">
            <a:schemeClr val="dk1"/>
          </a:fillRef>
          <a:effectRef idx="0">
            <a:schemeClr val="dk1"/>
          </a:effectRef>
          <a:fontRef idx="minor">
            <a:schemeClr val="tx1"/>
          </a:fontRef>
        </p:style>
      </p:cxnSp>
      <p:cxnSp>
        <p:nvCxnSpPr>
          <p:cNvPr id="67" name="连接符: 肘形 66"/>
          <p:cNvCxnSpPr>
            <a:stCxn id="47" idx="2"/>
            <a:endCxn id="48" idx="0"/>
          </p:cNvCxnSpPr>
          <p:nvPr/>
        </p:nvCxnSpPr>
        <p:spPr>
          <a:xfrm rot="5400000">
            <a:off x="7138781" y="1487751"/>
            <a:ext cx="469791" cy="2216236"/>
          </a:xfrm>
          <a:prstGeom prst="bentConnector3">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9" name="连接符: 肘形 68"/>
          <p:cNvCxnSpPr>
            <a:stCxn id="47" idx="2"/>
            <a:endCxn id="54" idx="0"/>
          </p:cNvCxnSpPr>
          <p:nvPr/>
        </p:nvCxnSpPr>
        <p:spPr>
          <a:xfrm rot="16200000" flipH="1">
            <a:off x="9311961" y="1530807"/>
            <a:ext cx="461910" cy="2122244"/>
          </a:xfrm>
          <a:prstGeom prst="bentConnector3">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a:stCxn id="48" idx="2"/>
            <a:endCxn id="52" idx="0"/>
          </p:cNvCxnSpPr>
          <p:nvPr/>
        </p:nvCxnSpPr>
        <p:spPr>
          <a:xfrm>
            <a:off x="6265558" y="3503134"/>
            <a:ext cx="0" cy="46191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a:stCxn id="53" idx="2"/>
            <a:endCxn id="55" idx="0"/>
          </p:cNvCxnSpPr>
          <p:nvPr/>
        </p:nvCxnSpPr>
        <p:spPr>
          <a:xfrm>
            <a:off x="8481794" y="3492705"/>
            <a:ext cx="0" cy="472339"/>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a:stCxn id="54" idx="2"/>
            <a:endCxn id="56" idx="0"/>
          </p:cNvCxnSpPr>
          <p:nvPr/>
        </p:nvCxnSpPr>
        <p:spPr>
          <a:xfrm>
            <a:off x="10604038" y="3495253"/>
            <a:ext cx="0" cy="469791"/>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a:stCxn id="49" idx="0"/>
            <a:endCxn id="52" idx="2"/>
          </p:cNvCxnSpPr>
          <p:nvPr/>
        </p:nvCxnSpPr>
        <p:spPr>
          <a:xfrm flipV="1">
            <a:off x="6265558" y="4637413"/>
            <a:ext cx="0" cy="384997"/>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a:stCxn id="55" idx="2"/>
            <a:endCxn id="61" idx="0"/>
          </p:cNvCxnSpPr>
          <p:nvPr/>
        </p:nvCxnSpPr>
        <p:spPr>
          <a:xfrm>
            <a:off x="8481794" y="4637413"/>
            <a:ext cx="0" cy="384997"/>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a:stCxn id="56" idx="2"/>
            <a:endCxn id="62" idx="0"/>
          </p:cNvCxnSpPr>
          <p:nvPr/>
        </p:nvCxnSpPr>
        <p:spPr>
          <a:xfrm>
            <a:off x="10604038" y="4637413"/>
            <a:ext cx="0" cy="384997"/>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2" name="矩形 11"/>
          <p:cNvSpPr/>
          <p:nvPr/>
        </p:nvSpPr>
        <p:spPr>
          <a:xfrm>
            <a:off x="-33655" y="-63062"/>
            <a:ext cx="212574" cy="369331"/>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190995" y="-37583"/>
            <a:ext cx="2350406" cy="369332"/>
          </a:xfrm>
          <a:prstGeom prst="rect">
            <a:avLst/>
          </a:prstGeom>
          <a:noFill/>
        </p:spPr>
        <p:txBody>
          <a:bodyPr wrap="square" rtlCol="0">
            <a:spAutoFit/>
          </a:bodyPr>
          <a:lstStyle/>
          <a:p>
            <a:r>
              <a:rPr lang="zh-CN" altLang="en-US" b="1" dirty="0"/>
              <a:t>软件代码结构设计</a:t>
            </a:r>
            <a:endParaRPr lang="zh-CN" altLang="en-US" b="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33655" y="306269"/>
            <a:ext cx="3891091" cy="730685"/>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a:p>
        </p:txBody>
      </p:sp>
      <p:sp>
        <p:nvSpPr>
          <p:cNvPr id="5" name="文本框 4"/>
          <p:cNvSpPr txBox="1"/>
          <p:nvPr/>
        </p:nvSpPr>
        <p:spPr>
          <a:xfrm>
            <a:off x="932815" y="410210"/>
            <a:ext cx="3521075" cy="523220"/>
          </a:xfrm>
          <a:prstGeom prst="rect">
            <a:avLst/>
          </a:prstGeom>
          <a:noFill/>
        </p:spPr>
        <p:txBody>
          <a:bodyPr wrap="square" rtlCol="0">
            <a:spAutoFit/>
          </a:bodyPr>
          <a:lstStyle/>
          <a:p>
            <a:pPr algn="l"/>
            <a:r>
              <a:rPr lang="zh-CN" altLang="en-US" sz="2800" b="1" dirty="0">
                <a:solidFill>
                  <a:schemeClr val="bg1"/>
                </a:solidFill>
                <a:sym typeface="+mn-ea"/>
              </a:rPr>
              <a:t>项目组成结构</a:t>
            </a:r>
            <a:endParaRPr lang="zh-CN" altLang="en-US" sz="2800" b="1" dirty="0">
              <a:solidFill>
                <a:schemeClr val="bg1"/>
              </a:solidFill>
              <a:sym typeface="+mn-ea"/>
            </a:endParaRPr>
          </a:p>
        </p:txBody>
      </p:sp>
      <p:sp>
        <p:nvSpPr>
          <p:cNvPr id="6" name="等腰三角形 5"/>
          <p:cNvSpPr/>
          <p:nvPr/>
        </p:nvSpPr>
        <p:spPr>
          <a:xfrm rot="5400000">
            <a:off x="309245" y="503555"/>
            <a:ext cx="445770" cy="334645"/>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圆角 33"/>
          <p:cNvSpPr/>
          <p:nvPr/>
        </p:nvSpPr>
        <p:spPr>
          <a:xfrm>
            <a:off x="484450" y="1398849"/>
            <a:ext cx="11319741" cy="4995895"/>
          </a:xfrm>
          <a:prstGeom prst="roundRect">
            <a:avLst>
              <a:gd name="adj" fmla="val 9736"/>
            </a:avLst>
          </a:prstGeom>
          <a:noFill/>
          <a:ln w="19050">
            <a:solidFill>
              <a:schemeClr val="tx1"/>
            </a:solidFill>
            <a:prstDash val="lg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p:cNvSpPr/>
          <p:nvPr/>
        </p:nvSpPr>
        <p:spPr>
          <a:xfrm>
            <a:off x="3647760" y="1658900"/>
            <a:ext cx="4993120" cy="605563"/>
          </a:xfrm>
          <a:prstGeom prst="rect">
            <a:avLst/>
          </a:prstGeom>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400" b="1" kern="0" dirty="0">
                <a:solidFill>
                  <a:schemeClr val="tx1"/>
                </a:solidFill>
                <a:latin typeface="+mj-ea"/>
                <a:ea typeface="+mj-ea"/>
                <a:cs typeface="Times New Roman" panose="02020603050405020304" pitchFamily="18" charset="0"/>
              </a:rPr>
              <a:t>daily-fresh</a:t>
            </a:r>
            <a:endParaRPr lang="en-US" altLang="zh-CN" sz="2400" b="1" kern="0" dirty="0">
              <a:solidFill>
                <a:schemeClr val="tx1"/>
              </a:solidFill>
              <a:latin typeface="+mj-ea"/>
              <a:ea typeface="+mj-ea"/>
              <a:cs typeface="Times New Roman" panose="02020603050405020304" pitchFamily="18" charset="0"/>
            </a:endParaRPr>
          </a:p>
        </p:txBody>
      </p:sp>
      <p:sp>
        <p:nvSpPr>
          <p:cNvPr id="48" name="矩形 47"/>
          <p:cNvSpPr/>
          <p:nvPr/>
        </p:nvSpPr>
        <p:spPr>
          <a:xfrm>
            <a:off x="932815" y="2965129"/>
            <a:ext cx="1508230" cy="672369"/>
          </a:xfrm>
          <a:prstGeom prst="rect">
            <a:avLst/>
          </a:prstGeom>
          <a:solidFill>
            <a:schemeClr val="accent1">
              <a:lumMod val="60000"/>
              <a:lumOff val="40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latin typeface="+mj-ea"/>
                <a:ea typeface="+mj-ea"/>
              </a:rPr>
              <a:t>templates</a:t>
            </a:r>
            <a:endParaRPr lang="en-US" altLang="zh-CN" sz="2000" dirty="0">
              <a:solidFill>
                <a:schemeClr val="tx1"/>
              </a:solidFill>
              <a:latin typeface="+mj-ea"/>
              <a:ea typeface="+mj-ea"/>
            </a:endParaRPr>
          </a:p>
        </p:txBody>
      </p:sp>
      <p:sp>
        <p:nvSpPr>
          <p:cNvPr id="52" name="矩形 51"/>
          <p:cNvSpPr/>
          <p:nvPr/>
        </p:nvSpPr>
        <p:spPr>
          <a:xfrm>
            <a:off x="932815" y="4109837"/>
            <a:ext cx="1508230" cy="672369"/>
          </a:xfrm>
          <a:prstGeom prst="rect">
            <a:avLst/>
          </a:prstGeom>
          <a:solidFill>
            <a:schemeClr val="accent1">
              <a:lumMod val="60000"/>
              <a:lumOff val="40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kern="0" dirty="0">
                <a:solidFill>
                  <a:sysClr val="windowText" lastClr="000000"/>
                </a:solidFill>
                <a:uFill>
                  <a:solidFill/>
                </a:uFill>
                <a:latin typeface="微软雅黑" panose="020B0503020204020204" charset="-122"/>
                <a:ea typeface="微软雅黑" panose="020B0503020204020204" charset="-122"/>
                <a:sym typeface="Calibri" panose="020F0502020204030204"/>
              </a:rPr>
              <a:t>网站所有</a:t>
            </a:r>
            <a:endParaRPr lang="zh-CN" altLang="en-US" sz="2000" kern="0" dirty="0">
              <a:solidFill>
                <a:sysClr val="windowText" lastClr="000000"/>
              </a:solidFill>
              <a:uFill>
                <a:solidFill/>
              </a:uFill>
              <a:latin typeface="微软雅黑" panose="020B0503020204020204" charset="-122"/>
              <a:ea typeface="微软雅黑" panose="020B0503020204020204" charset="-122"/>
              <a:sym typeface="Calibri" panose="020F0502020204030204"/>
            </a:endParaRPr>
          </a:p>
          <a:p>
            <a:pPr algn="ctr"/>
            <a:r>
              <a:rPr lang="zh-CN" altLang="en-US" sz="2000" kern="0" dirty="0">
                <a:solidFill>
                  <a:sysClr val="windowText" lastClr="000000"/>
                </a:solidFill>
                <a:uFill>
                  <a:solidFill/>
                </a:uFill>
                <a:latin typeface="微软雅黑" panose="020B0503020204020204" charset="-122"/>
                <a:ea typeface="微软雅黑" panose="020B0503020204020204" charset="-122"/>
                <a:sym typeface="Calibri" panose="020F0502020204030204"/>
              </a:rPr>
              <a:t>页面</a:t>
            </a:r>
            <a:endParaRPr lang="en-US" altLang="zh-CN" sz="2000" kern="0" dirty="0">
              <a:solidFill>
                <a:sysClr val="windowText" lastClr="000000"/>
              </a:solidFill>
              <a:uFill>
                <a:solidFill/>
              </a:uFill>
              <a:latin typeface="微软雅黑" panose="020B0503020204020204" charset="-122"/>
              <a:ea typeface="微软雅黑" panose="020B0503020204020204" charset="-122"/>
              <a:sym typeface="Calibri" panose="020F0502020204030204"/>
            </a:endParaRPr>
          </a:p>
        </p:txBody>
      </p:sp>
      <p:sp>
        <p:nvSpPr>
          <p:cNvPr id="53" name="矩形 52"/>
          <p:cNvSpPr/>
          <p:nvPr/>
        </p:nvSpPr>
        <p:spPr>
          <a:xfrm>
            <a:off x="2718013" y="2965129"/>
            <a:ext cx="1508230" cy="672369"/>
          </a:xfrm>
          <a:prstGeom prst="rect">
            <a:avLst/>
          </a:prstGeom>
          <a:solidFill>
            <a:schemeClr val="accent1">
              <a:lumMod val="60000"/>
              <a:lumOff val="40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latin typeface="+mj-ea"/>
                <a:ea typeface="+mj-ea"/>
              </a:rPr>
              <a:t>media</a:t>
            </a:r>
            <a:endParaRPr lang="en-US" altLang="zh-CN" sz="2000" dirty="0">
              <a:solidFill>
                <a:schemeClr val="tx1"/>
              </a:solidFill>
              <a:latin typeface="+mj-ea"/>
              <a:ea typeface="+mj-ea"/>
            </a:endParaRPr>
          </a:p>
        </p:txBody>
      </p:sp>
      <p:sp>
        <p:nvSpPr>
          <p:cNvPr id="55" name="矩形 54"/>
          <p:cNvSpPr/>
          <p:nvPr/>
        </p:nvSpPr>
        <p:spPr>
          <a:xfrm>
            <a:off x="2718013" y="4109837"/>
            <a:ext cx="1508230" cy="672369"/>
          </a:xfrm>
          <a:prstGeom prst="rect">
            <a:avLst/>
          </a:prstGeom>
          <a:solidFill>
            <a:schemeClr val="accent1">
              <a:lumMod val="60000"/>
              <a:lumOff val="40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kern="0" dirty="0">
                <a:solidFill>
                  <a:sysClr val="windowText" lastClr="000000"/>
                </a:solidFill>
                <a:uFill>
                  <a:solidFill/>
                </a:uFill>
                <a:latin typeface="微软雅黑" panose="020B0503020204020204" charset="-122"/>
                <a:ea typeface="微软雅黑" panose="020B0503020204020204" charset="-122"/>
                <a:sym typeface="Calibri" panose="020F0502020204030204"/>
              </a:rPr>
              <a:t>用户媒体</a:t>
            </a:r>
            <a:endParaRPr lang="zh-CN" altLang="en-US" sz="2000" kern="0" dirty="0">
              <a:solidFill>
                <a:sysClr val="windowText" lastClr="000000"/>
              </a:solidFill>
              <a:uFill>
                <a:solidFill/>
              </a:uFill>
              <a:latin typeface="微软雅黑" panose="020B0503020204020204" charset="-122"/>
              <a:ea typeface="微软雅黑" panose="020B0503020204020204" charset="-122"/>
              <a:sym typeface="Calibri" panose="020F0502020204030204"/>
            </a:endParaRPr>
          </a:p>
          <a:p>
            <a:pPr algn="ctr"/>
            <a:r>
              <a:rPr lang="zh-CN" altLang="en-US" sz="2000" kern="0" dirty="0">
                <a:solidFill>
                  <a:sysClr val="windowText" lastClr="000000"/>
                </a:solidFill>
                <a:uFill>
                  <a:solidFill/>
                </a:uFill>
                <a:latin typeface="微软雅黑" panose="020B0503020204020204" charset="-122"/>
                <a:ea typeface="微软雅黑" panose="020B0503020204020204" charset="-122"/>
                <a:sym typeface="Calibri" panose="020F0502020204030204"/>
              </a:rPr>
              <a:t>文件</a:t>
            </a:r>
            <a:endParaRPr lang="zh-CN" altLang="en-US" sz="2000" kern="0" dirty="0">
              <a:solidFill>
                <a:sysClr val="windowText" lastClr="000000"/>
              </a:solidFill>
              <a:uFill>
                <a:solidFill/>
              </a:uFill>
              <a:latin typeface="微软雅黑" panose="020B0503020204020204" charset="-122"/>
              <a:ea typeface="微软雅黑" panose="020B0503020204020204" charset="-122"/>
              <a:sym typeface="Calibri" panose="020F0502020204030204"/>
            </a:endParaRPr>
          </a:p>
        </p:txBody>
      </p:sp>
      <p:sp>
        <p:nvSpPr>
          <p:cNvPr id="22" name="矩形 21"/>
          <p:cNvSpPr/>
          <p:nvPr/>
        </p:nvSpPr>
        <p:spPr>
          <a:xfrm>
            <a:off x="4552662" y="2958945"/>
            <a:ext cx="1508230" cy="672369"/>
          </a:xfrm>
          <a:prstGeom prst="rect">
            <a:avLst/>
          </a:prstGeom>
          <a:solidFill>
            <a:schemeClr val="accent1">
              <a:lumMod val="60000"/>
              <a:lumOff val="40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latin typeface="+mj-ea"/>
                <a:ea typeface="+mj-ea"/>
              </a:rPr>
              <a:t>apps</a:t>
            </a:r>
            <a:endParaRPr lang="en-US" altLang="zh-CN" sz="2000" dirty="0">
              <a:solidFill>
                <a:schemeClr val="tx1"/>
              </a:solidFill>
              <a:latin typeface="+mj-ea"/>
              <a:ea typeface="+mj-ea"/>
            </a:endParaRPr>
          </a:p>
        </p:txBody>
      </p:sp>
      <p:sp>
        <p:nvSpPr>
          <p:cNvPr id="23" name="矩形 22"/>
          <p:cNvSpPr/>
          <p:nvPr/>
        </p:nvSpPr>
        <p:spPr>
          <a:xfrm>
            <a:off x="4552662" y="4137244"/>
            <a:ext cx="1508230" cy="672369"/>
          </a:xfrm>
          <a:prstGeom prst="rect">
            <a:avLst/>
          </a:prstGeom>
          <a:solidFill>
            <a:schemeClr val="accent1">
              <a:lumMod val="60000"/>
              <a:lumOff val="40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kern="0" dirty="0">
                <a:solidFill>
                  <a:sysClr val="windowText" lastClr="000000"/>
                </a:solidFill>
                <a:uFill>
                  <a:solidFill/>
                </a:uFill>
                <a:latin typeface="微软雅黑" panose="020B0503020204020204" charset="-122"/>
                <a:ea typeface="微软雅黑" panose="020B0503020204020204" charset="-122"/>
                <a:sym typeface="Calibri" panose="020F0502020204030204"/>
              </a:rPr>
              <a:t>实体模块</a:t>
            </a:r>
            <a:endParaRPr lang="zh-CN" altLang="en-US" sz="2000" kern="0" dirty="0">
              <a:solidFill>
                <a:sysClr val="windowText" lastClr="000000"/>
              </a:solidFill>
              <a:uFill>
                <a:solidFill/>
              </a:uFill>
              <a:latin typeface="微软雅黑" panose="020B0503020204020204" charset="-122"/>
              <a:ea typeface="微软雅黑" panose="020B0503020204020204" charset="-122"/>
              <a:sym typeface="Calibri" panose="020F0502020204030204"/>
            </a:endParaRPr>
          </a:p>
        </p:txBody>
      </p:sp>
      <p:sp>
        <p:nvSpPr>
          <p:cNvPr id="2" name="矩形 1"/>
          <p:cNvSpPr/>
          <p:nvPr/>
        </p:nvSpPr>
        <p:spPr>
          <a:xfrm>
            <a:off x="2856745" y="5315543"/>
            <a:ext cx="1043592" cy="610192"/>
          </a:xfrm>
          <a:prstGeom prst="rect">
            <a:avLst/>
          </a:prstGeom>
          <a:solidFill>
            <a:schemeClr val="accent2">
              <a:lumMod val="40000"/>
              <a:lumOff val="60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r>
              <a:rPr lang="en-US" altLang="zh-CN" sz="2000" kern="0" dirty="0">
                <a:solidFill>
                  <a:schemeClr val="tx1"/>
                </a:solidFill>
                <a:latin typeface="微软雅黑" panose="020B0503020204020204" charset="-122"/>
                <a:ea typeface="微软雅黑" panose="020B0503020204020204" charset="-122"/>
              </a:rPr>
              <a:t>user</a:t>
            </a:r>
            <a:endParaRPr lang="zh-CN" altLang="en-US" sz="2000" kern="0" dirty="0">
              <a:solidFill>
                <a:schemeClr val="tx1"/>
              </a:solidFill>
              <a:latin typeface="微软雅黑" panose="020B0503020204020204" charset="-122"/>
              <a:ea typeface="微软雅黑" panose="020B0503020204020204" charset="-122"/>
            </a:endParaRPr>
          </a:p>
        </p:txBody>
      </p:sp>
      <p:sp>
        <p:nvSpPr>
          <p:cNvPr id="3" name="矩形 2"/>
          <p:cNvSpPr/>
          <p:nvPr/>
        </p:nvSpPr>
        <p:spPr>
          <a:xfrm>
            <a:off x="6388498" y="2962037"/>
            <a:ext cx="1508230" cy="672369"/>
          </a:xfrm>
          <a:prstGeom prst="rect">
            <a:avLst/>
          </a:prstGeom>
          <a:solidFill>
            <a:schemeClr val="accent1">
              <a:lumMod val="60000"/>
              <a:lumOff val="40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latin typeface="+mj-ea"/>
                <a:ea typeface="+mj-ea"/>
              </a:rPr>
              <a:t>static</a:t>
            </a:r>
            <a:endParaRPr lang="en-US" altLang="zh-CN" sz="2000" dirty="0">
              <a:solidFill>
                <a:schemeClr val="tx1"/>
              </a:solidFill>
              <a:latin typeface="+mj-ea"/>
              <a:ea typeface="+mj-ea"/>
            </a:endParaRPr>
          </a:p>
        </p:txBody>
      </p:sp>
      <p:sp>
        <p:nvSpPr>
          <p:cNvPr id="7" name="矩形 6"/>
          <p:cNvSpPr/>
          <p:nvPr/>
        </p:nvSpPr>
        <p:spPr>
          <a:xfrm>
            <a:off x="6388498" y="4106745"/>
            <a:ext cx="1508230" cy="672369"/>
          </a:xfrm>
          <a:prstGeom prst="rect">
            <a:avLst/>
          </a:prstGeom>
          <a:solidFill>
            <a:schemeClr val="accent1">
              <a:lumMod val="60000"/>
              <a:lumOff val="40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kern="0" dirty="0">
                <a:solidFill>
                  <a:sysClr val="windowText" lastClr="000000"/>
                </a:solidFill>
                <a:uFill>
                  <a:solidFill/>
                </a:uFill>
                <a:latin typeface="微软雅黑" panose="020B0503020204020204" charset="-122"/>
                <a:ea typeface="微软雅黑" panose="020B0503020204020204" charset="-122"/>
                <a:sym typeface="Calibri" panose="020F0502020204030204"/>
              </a:rPr>
              <a:t>网站静态</a:t>
            </a:r>
            <a:endParaRPr lang="zh-CN" altLang="en-US" sz="2000" kern="0" dirty="0">
              <a:solidFill>
                <a:sysClr val="windowText" lastClr="000000"/>
              </a:solidFill>
              <a:uFill>
                <a:solidFill/>
              </a:uFill>
              <a:latin typeface="微软雅黑" panose="020B0503020204020204" charset="-122"/>
              <a:ea typeface="微软雅黑" panose="020B0503020204020204" charset="-122"/>
              <a:sym typeface="Calibri" panose="020F0502020204030204"/>
            </a:endParaRPr>
          </a:p>
          <a:p>
            <a:pPr algn="ctr"/>
            <a:r>
              <a:rPr lang="zh-CN" altLang="en-US" sz="2000" kern="0" dirty="0">
                <a:solidFill>
                  <a:sysClr val="windowText" lastClr="000000"/>
                </a:solidFill>
                <a:uFill>
                  <a:solidFill/>
                </a:uFill>
                <a:latin typeface="微软雅黑" panose="020B0503020204020204" charset="-122"/>
                <a:ea typeface="微软雅黑" panose="020B0503020204020204" charset="-122"/>
                <a:sym typeface="Calibri" panose="020F0502020204030204"/>
              </a:rPr>
              <a:t>资源</a:t>
            </a:r>
            <a:endParaRPr lang="en-US" altLang="zh-CN" sz="2000" kern="0" dirty="0">
              <a:solidFill>
                <a:sysClr val="windowText" lastClr="000000"/>
              </a:solidFill>
              <a:uFill>
                <a:solidFill/>
              </a:uFill>
              <a:latin typeface="微软雅黑" panose="020B0503020204020204" charset="-122"/>
              <a:ea typeface="微软雅黑" panose="020B0503020204020204" charset="-122"/>
              <a:sym typeface="Calibri" panose="020F0502020204030204"/>
            </a:endParaRPr>
          </a:p>
        </p:txBody>
      </p:sp>
      <p:sp>
        <p:nvSpPr>
          <p:cNvPr id="8" name="矩形 7"/>
          <p:cNvSpPr/>
          <p:nvPr/>
        </p:nvSpPr>
        <p:spPr>
          <a:xfrm>
            <a:off x="8173696" y="2962037"/>
            <a:ext cx="1508230" cy="672369"/>
          </a:xfrm>
          <a:prstGeom prst="rect">
            <a:avLst/>
          </a:prstGeom>
          <a:solidFill>
            <a:schemeClr val="accent1">
              <a:lumMod val="60000"/>
              <a:lumOff val="40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err="1">
                <a:solidFill>
                  <a:schemeClr val="tx1"/>
                </a:solidFill>
                <a:latin typeface="+mj-ea"/>
              </a:rPr>
              <a:t>daily_fresh_demo</a:t>
            </a:r>
            <a:endParaRPr lang="en-US" altLang="zh-CN" sz="2000" dirty="0">
              <a:solidFill>
                <a:schemeClr val="tx1"/>
              </a:solidFill>
              <a:latin typeface="+mj-ea"/>
            </a:endParaRPr>
          </a:p>
        </p:txBody>
      </p:sp>
      <p:sp>
        <p:nvSpPr>
          <p:cNvPr id="9" name="矩形 8"/>
          <p:cNvSpPr/>
          <p:nvPr/>
        </p:nvSpPr>
        <p:spPr>
          <a:xfrm>
            <a:off x="8173696" y="4106745"/>
            <a:ext cx="1508230" cy="672369"/>
          </a:xfrm>
          <a:prstGeom prst="rect">
            <a:avLst/>
          </a:prstGeom>
          <a:solidFill>
            <a:schemeClr val="accent1">
              <a:lumMod val="60000"/>
              <a:lumOff val="40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kern="0" dirty="0">
                <a:solidFill>
                  <a:sysClr val="windowText" lastClr="000000"/>
                </a:solidFill>
                <a:uFill>
                  <a:solidFill/>
                </a:uFill>
                <a:latin typeface="微软雅黑" panose="020B0503020204020204" charset="-122"/>
                <a:ea typeface="微软雅黑" panose="020B0503020204020204" charset="-122"/>
                <a:sym typeface="Calibri" panose="020F0502020204030204"/>
              </a:rPr>
              <a:t>配置模块</a:t>
            </a:r>
            <a:endParaRPr lang="zh-CN" altLang="en-US" sz="2000" kern="0" dirty="0">
              <a:solidFill>
                <a:sysClr val="windowText" lastClr="000000"/>
              </a:solidFill>
              <a:uFill>
                <a:solidFill/>
              </a:uFill>
              <a:latin typeface="微软雅黑" panose="020B0503020204020204" charset="-122"/>
              <a:ea typeface="微软雅黑" panose="020B0503020204020204" charset="-122"/>
              <a:sym typeface="Calibri" panose="020F0502020204030204"/>
            </a:endParaRPr>
          </a:p>
        </p:txBody>
      </p:sp>
      <p:sp>
        <p:nvSpPr>
          <p:cNvPr id="15" name="矩形 14"/>
          <p:cNvSpPr/>
          <p:nvPr/>
        </p:nvSpPr>
        <p:spPr>
          <a:xfrm>
            <a:off x="10008345" y="2955853"/>
            <a:ext cx="1508230" cy="672369"/>
          </a:xfrm>
          <a:prstGeom prst="rect">
            <a:avLst/>
          </a:prstGeom>
          <a:solidFill>
            <a:schemeClr val="accent1">
              <a:lumMod val="60000"/>
              <a:lumOff val="40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err="1">
                <a:solidFill>
                  <a:schemeClr val="tx1"/>
                </a:solidFill>
                <a:latin typeface="+mj-ea"/>
                <a:ea typeface="+mj-ea"/>
              </a:rPr>
              <a:t>sql</a:t>
            </a:r>
            <a:endParaRPr lang="en-US" altLang="zh-CN" sz="2000" dirty="0">
              <a:solidFill>
                <a:schemeClr val="tx1"/>
              </a:solidFill>
              <a:latin typeface="+mj-ea"/>
              <a:ea typeface="+mj-ea"/>
            </a:endParaRPr>
          </a:p>
        </p:txBody>
      </p:sp>
      <p:sp>
        <p:nvSpPr>
          <p:cNvPr id="16" name="矩形 15"/>
          <p:cNvSpPr/>
          <p:nvPr/>
        </p:nvSpPr>
        <p:spPr>
          <a:xfrm>
            <a:off x="10008345" y="4134152"/>
            <a:ext cx="1508230" cy="672369"/>
          </a:xfrm>
          <a:prstGeom prst="rect">
            <a:avLst/>
          </a:prstGeom>
          <a:solidFill>
            <a:schemeClr val="accent1">
              <a:lumMod val="60000"/>
              <a:lumOff val="40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kern="0" dirty="0">
                <a:solidFill>
                  <a:sysClr val="windowText" lastClr="000000"/>
                </a:solidFill>
                <a:uFill>
                  <a:solidFill/>
                </a:uFill>
                <a:latin typeface="微软雅黑" panose="020B0503020204020204" charset="-122"/>
                <a:ea typeface="微软雅黑" panose="020B0503020204020204" charset="-122"/>
                <a:sym typeface="Calibri" panose="020F0502020204030204"/>
              </a:rPr>
              <a:t>数据库初始化文件</a:t>
            </a:r>
            <a:endParaRPr lang="zh-CN" altLang="en-US" sz="2000" kern="0" dirty="0">
              <a:solidFill>
                <a:sysClr val="windowText" lastClr="000000"/>
              </a:solidFill>
              <a:uFill>
                <a:solidFill/>
              </a:uFill>
              <a:latin typeface="微软雅黑" panose="020B0503020204020204" charset="-122"/>
              <a:ea typeface="微软雅黑" panose="020B0503020204020204" charset="-122"/>
              <a:sym typeface="Calibri" panose="020F0502020204030204"/>
            </a:endParaRPr>
          </a:p>
        </p:txBody>
      </p:sp>
      <p:sp>
        <p:nvSpPr>
          <p:cNvPr id="20" name="矩形 19"/>
          <p:cNvSpPr/>
          <p:nvPr/>
        </p:nvSpPr>
        <p:spPr>
          <a:xfrm>
            <a:off x="4165287" y="5315543"/>
            <a:ext cx="1043592" cy="610192"/>
          </a:xfrm>
          <a:prstGeom prst="rect">
            <a:avLst/>
          </a:prstGeom>
          <a:solidFill>
            <a:schemeClr val="accent2">
              <a:lumMod val="40000"/>
              <a:lumOff val="60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r>
              <a:rPr lang="en-US" altLang="zh-CN" sz="2000" kern="0" dirty="0">
                <a:solidFill>
                  <a:schemeClr val="tx1"/>
                </a:solidFill>
                <a:latin typeface="微软雅黑" panose="020B0503020204020204" charset="-122"/>
                <a:ea typeface="微软雅黑" panose="020B0503020204020204" charset="-122"/>
              </a:rPr>
              <a:t>goods</a:t>
            </a:r>
            <a:endParaRPr lang="zh-CN" altLang="en-US" sz="2000" kern="0" dirty="0">
              <a:solidFill>
                <a:schemeClr val="tx1"/>
              </a:solidFill>
              <a:latin typeface="微软雅黑" panose="020B0503020204020204" charset="-122"/>
              <a:ea typeface="微软雅黑" panose="020B0503020204020204" charset="-122"/>
            </a:endParaRPr>
          </a:p>
        </p:txBody>
      </p:sp>
      <p:sp>
        <p:nvSpPr>
          <p:cNvPr id="21" name="矩形 20"/>
          <p:cNvSpPr/>
          <p:nvPr/>
        </p:nvSpPr>
        <p:spPr>
          <a:xfrm>
            <a:off x="5473829" y="5322463"/>
            <a:ext cx="1043592" cy="610192"/>
          </a:xfrm>
          <a:prstGeom prst="rect">
            <a:avLst/>
          </a:prstGeom>
          <a:solidFill>
            <a:schemeClr val="accent2">
              <a:lumMod val="40000"/>
              <a:lumOff val="60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r>
              <a:rPr lang="en-US" altLang="zh-CN" sz="2000" kern="0" dirty="0">
                <a:solidFill>
                  <a:schemeClr val="tx1"/>
                </a:solidFill>
                <a:latin typeface="微软雅黑" panose="020B0503020204020204" charset="-122"/>
                <a:ea typeface="微软雅黑" panose="020B0503020204020204" charset="-122"/>
              </a:rPr>
              <a:t>cart</a:t>
            </a:r>
            <a:endParaRPr lang="zh-CN" altLang="en-US" sz="2000" kern="0" dirty="0">
              <a:solidFill>
                <a:schemeClr val="tx1"/>
              </a:solidFill>
              <a:latin typeface="微软雅黑" panose="020B0503020204020204" charset="-122"/>
              <a:ea typeface="微软雅黑" panose="020B0503020204020204" charset="-122"/>
            </a:endParaRPr>
          </a:p>
        </p:txBody>
      </p:sp>
      <p:sp>
        <p:nvSpPr>
          <p:cNvPr id="27" name="矩形 26"/>
          <p:cNvSpPr/>
          <p:nvPr/>
        </p:nvSpPr>
        <p:spPr>
          <a:xfrm>
            <a:off x="6782370" y="5322463"/>
            <a:ext cx="1043592" cy="610192"/>
          </a:xfrm>
          <a:prstGeom prst="rect">
            <a:avLst/>
          </a:prstGeom>
          <a:solidFill>
            <a:schemeClr val="accent2">
              <a:lumMod val="40000"/>
              <a:lumOff val="60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r>
              <a:rPr lang="en-US" altLang="zh-CN" sz="2000" kern="0" dirty="0">
                <a:solidFill>
                  <a:schemeClr val="tx1"/>
                </a:solidFill>
                <a:latin typeface="微软雅黑" panose="020B0503020204020204" charset="-122"/>
                <a:ea typeface="微软雅黑" panose="020B0503020204020204" charset="-122"/>
              </a:rPr>
              <a:t>order</a:t>
            </a:r>
            <a:endParaRPr lang="zh-CN" altLang="en-US" sz="2000" kern="0" dirty="0">
              <a:solidFill>
                <a:schemeClr val="tx1"/>
              </a:solidFill>
              <a:latin typeface="微软雅黑" panose="020B0503020204020204" charset="-122"/>
              <a:ea typeface="微软雅黑" panose="020B0503020204020204" charset="-122"/>
            </a:endParaRPr>
          </a:p>
        </p:txBody>
      </p:sp>
      <p:cxnSp>
        <p:nvCxnSpPr>
          <p:cNvPr id="31" name="连接符: 肘形 30"/>
          <p:cNvCxnSpPr>
            <a:stCxn id="47" idx="2"/>
            <a:endCxn id="22" idx="0"/>
          </p:cNvCxnSpPr>
          <p:nvPr/>
        </p:nvCxnSpPr>
        <p:spPr>
          <a:xfrm rot="5400000">
            <a:off x="5378308" y="2192933"/>
            <a:ext cx="694482" cy="837543"/>
          </a:xfrm>
          <a:prstGeom prst="bentConnector3">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连接符: 肘形 32"/>
          <p:cNvCxnSpPr>
            <a:stCxn id="47" idx="2"/>
            <a:endCxn id="3" idx="0"/>
          </p:cNvCxnSpPr>
          <p:nvPr/>
        </p:nvCxnSpPr>
        <p:spPr>
          <a:xfrm rot="16200000" flipH="1">
            <a:off x="6294679" y="2114103"/>
            <a:ext cx="697574" cy="998293"/>
          </a:xfrm>
          <a:prstGeom prst="bentConnector3">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连接符: 肘形 35"/>
          <p:cNvCxnSpPr>
            <a:stCxn id="47" idx="2"/>
            <a:endCxn id="53" idx="0"/>
          </p:cNvCxnSpPr>
          <p:nvPr/>
        </p:nvCxnSpPr>
        <p:spPr>
          <a:xfrm rot="5400000">
            <a:off x="4457891" y="1278700"/>
            <a:ext cx="700666" cy="2672192"/>
          </a:xfrm>
          <a:prstGeom prst="bentConnector3">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8" name="连接符: 肘形 37"/>
          <p:cNvCxnSpPr>
            <a:stCxn id="47" idx="2"/>
            <a:endCxn id="8" idx="0"/>
          </p:cNvCxnSpPr>
          <p:nvPr/>
        </p:nvCxnSpPr>
        <p:spPr>
          <a:xfrm rot="16200000" flipH="1">
            <a:off x="7187278" y="1221504"/>
            <a:ext cx="697574" cy="2783491"/>
          </a:xfrm>
          <a:prstGeom prst="bentConnector3">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0" name="连接符: 肘形 39"/>
          <p:cNvCxnSpPr>
            <a:stCxn id="47" idx="2"/>
            <a:endCxn id="15" idx="0"/>
          </p:cNvCxnSpPr>
          <p:nvPr/>
        </p:nvCxnSpPr>
        <p:spPr>
          <a:xfrm rot="16200000" flipH="1">
            <a:off x="8107695" y="301088"/>
            <a:ext cx="691390" cy="4618140"/>
          </a:xfrm>
          <a:prstGeom prst="bentConnector3">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2" name="连接符: 肘形 41"/>
          <p:cNvCxnSpPr>
            <a:stCxn id="47" idx="2"/>
            <a:endCxn id="48" idx="0"/>
          </p:cNvCxnSpPr>
          <p:nvPr/>
        </p:nvCxnSpPr>
        <p:spPr>
          <a:xfrm rot="5400000">
            <a:off x="3565292" y="386101"/>
            <a:ext cx="700666" cy="4457390"/>
          </a:xfrm>
          <a:prstGeom prst="bentConnector3">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接箭头连接符 43"/>
          <p:cNvCxnSpPr>
            <a:stCxn id="48" idx="2"/>
            <a:endCxn id="52" idx="0"/>
          </p:cNvCxnSpPr>
          <p:nvPr/>
        </p:nvCxnSpPr>
        <p:spPr>
          <a:xfrm>
            <a:off x="1686930" y="3637498"/>
            <a:ext cx="0" cy="472339"/>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接箭头连接符 45"/>
          <p:cNvCxnSpPr>
            <a:stCxn id="53" idx="2"/>
            <a:endCxn id="55" idx="0"/>
          </p:cNvCxnSpPr>
          <p:nvPr/>
        </p:nvCxnSpPr>
        <p:spPr>
          <a:xfrm>
            <a:off x="3472128" y="3637498"/>
            <a:ext cx="0" cy="472339"/>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接箭头连接符 50"/>
          <p:cNvCxnSpPr>
            <a:stCxn id="22" idx="2"/>
            <a:endCxn id="23" idx="0"/>
          </p:cNvCxnSpPr>
          <p:nvPr/>
        </p:nvCxnSpPr>
        <p:spPr>
          <a:xfrm>
            <a:off x="5306777" y="3631314"/>
            <a:ext cx="0" cy="505930"/>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6" name="直接箭头连接符 55"/>
          <p:cNvCxnSpPr>
            <a:stCxn id="3" idx="2"/>
            <a:endCxn id="7" idx="0"/>
          </p:cNvCxnSpPr>
          <p:nvPr/>
        </p:nvCxnSpPr>
        <p:spPr>
          <a:xfrm>
            <a:off x="7142613" y="3634406"/>
            <a:ext cx="0" cy="472339"/>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8" name="直接箭头连接符 57"/>
          <p:cNvCxnSpPr>
            <a:stCxn id="8" idx="2"/>
            <a:endCxn id="9" idx="0"/>
          </p:cNvCxnSpPr>
          <p:nvPr/>
        </p:nvCxnSpPr>
        <p:spPr>
          <a:xfrm>
            <a:off x="8927811" y="3634406"/>
            <a:ext cx="0" cy="472339"/>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60" name="直接箭头连接符 59"/>
          <p:cNvCxnSpPr>
            <a:stCxn id="15" idx="2"/>
            <a:endCxn id="16" idx="0"/>
          </p:cNvCxnSpPr>
          <p:nvPr/>
        </p:nvCxnSpPr>
        <p:spPr>
          <a:xfrm>
            <a:off x="10762460" y="3628222"/>
            <a:ext cx="0" cy="505930"/>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63" name="连接符: 肘形 62"/>
          <p:cNvCxnSpPr>
            <a:stCxn id="23" idx="2"/>
            <a:endCxn id="2" idx="0"/>
          </p:cNvCxnSpPr>
          <p:nvPr/>
        </p:nvCxnSpPr>
        <p:spPr>
          <a:xfrm rot="5400000">
            <a:off x="4089694" y="4098460"/>
            <a:ext cx="505930" cy="1928236"/>
          </a:xfrm>
          <a:prstGeom prst="bentConnector3">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65" name="连接符: 肘形 64"/>
          <p:cNvCxnSpPr>
            <a:stCxn id="23" idx="2"/>
            <a:endCxn id="20" idx="0"/>
          </p:cNvCxnSpPr>
          <p:nvPr/>
        </p:nvCxnSpPr>
        <p:spPr>
          <a:xfrm rot="5400000">
            <a:off x="4743965" y="4752731"/>
            <a:ext cx="505930" cy="619694"/>
          </a:xfrm>
          <a:prstGeom prst="bentConnector3">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67" name="连接符: 肘形 66"/>
          <p:cNvCxnSpPr>
            <a:stCxn id="23" idx="2"/>
            <a:endCxn id="21" idx="0"/>
          </p:cNvCxnSpPr>
          <p:nvPr/>
        </p:nvCxnSpPr>
        <p:spPr>
          <a:xfrm rot="16200000" flipH="1">
            <a:off x="5394776" y="4721614"/>
            <a:ext cx="512850" cy="688848"/>
          </a:xfrm>
          <a:prstGeom prst="bentConnector3">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69" name="连接符: 肘形 68"/>
          <p:cNvCxnSpPr>
            <a:stCxn id="23" idx="2"/>
            <a:endCxn id="27" idx="0"/>
          </p:cNvCxnSpPr>
          <p:nvPr/>
        </p:nvCxnSpPr>
        <p:spPr>
          <a:xfrm rot="16200000" flipH="1">
            <a:off x="6049046" y="4067343"/>
            <a:ext cx="512850" cy="1997389"/>
          </a:xfrm>
          <a:prstGeom prst="bentConnector3">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33655" y="-63062"/>
            <a:ext cx="212574" cy="369331"/>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190995" y="-37583"/>
            <a:ext cx="2350406" cy="369332"/>
          </a:xfrm>
          <a:prstGeom prst="rect">
            <a:avLst/>
          </a:prstGeom>
          <a:noFill/>
        </p:spPr>
        <p:txBody>
          <a:bodyPr wrap="square" rtlCol="0">
            <a:spAutoFit/>
          </a:bodyPr>
          <a:lstStyle/>
          <a:p>
            <a:r>
              <a:rPr lang="zh-CN" altLang="en-US" b="1" dirty="0"/>
              <a:t>软件代码结构设计</a:t>
            </a:r>
            <a:endParaRPr lang="zh-CN" altLang="en-US" b="1"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33655" y="306269"/>
            <a:ext cx="3891091" cy="730685"/>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a:p>
        </p:txBody>
      </p:sp>
      <p:sp>
        <p:nvSpPr>
          <p:cNvPr id="12" name="矩形: 圆角 11"/>
          <p:cNvSpPr/>
          <p:nvPr/>
        </p:nvSpPr>
        <p:spPr>
          <a:xfrm>
            <a:off x="801567" y="1682477"/>
            <a:ext cx="4095175" cy="3108062"/>
          </a:xfrm>
          <a:prstGeom prst="roundRect">
            <a:avLst>
              <a:gd name="adj" fmla="val 6577"/>
            </a:avLst>
          </a:prstGeom>
          <a:noFill/>
          <a:ln w="1905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932815" y="410210"/>
            <a:ext cx="3521075" cy="523220"/>
          </a:xfrm>
          <a:prstGeom prst="rect">
            <a:avLst/>
          </a:prstGeom>
          <a:noFill/>
        </p:spPr>
        <p:txBody>
          <a:bodyPr wrap="square" rtlCol="0">
            <a:spAutoFit/>
          </a:bodyPr>
          <a:lstStyle/>
          <a:p>
            <a:pPr algn="l"/>
            <a:r>
              <a:rPr lang="zh-CN" altLang="en-US" sz="2800" b="1" dirty="0">
                <a:solidFill>
                  <a:schemeClr val="bg1"/>
                </a:solidFill>
                <a:sym typeface="+mn-ea"/>
              </a:rPr>
              <a:t>主要功能模块</a:t>
            </a:r>
            <a:endParaRPr lang="zh-CN" altLang="en-US" sz="2800" b="1" dirty="0">
              <a:solidFill>
                <a:schemeClr val="bg1"/>
              </a:solidFill>
              <a:sym typeface="+mn-ea"/>
            </a:endParaRPr>
          </a:p>
        </p:txBody>
      </p:sp>
      <p:sp>
        <p:nvSpPr>
          <p:cNvPr id="6" name="等腰三角形 5"/>
          <p:cNvSpPr/>
          <p:nvPr/>
        </p:nvSpPr>
        <p:spPr>
          <a:xfrm rot="5400000">
            <a:off x="309245" y="503555"/>
            <a:ext cx="445770" cy="334645"/>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3" name="组合 12"/>
          <p:cNvGrpSpPr/>
          <p:nvPr/>
        </p:nvGrpSpPr>
        <p:grpSpPr>
          <a:xfrm>
            <a:off x="1245268" y="1983892"/>
            <a:ext cx="3300582" cy="2505232"/>
            <a:chOff x="1577783" y="3224427"/>
            <a:chExt cx="3300582" cy="2505232"/>
          </a:xfrm>
        </p:grpSpPr>
        <p:sp>
          <p:nvSpPr>
            <p:cNvPr id="52" name="矩形 51"/>
            <p:cNvSpPr/>
            <p:nvPr/>
          </p:nvSpPr>
          <p:spPr>
            <a:xfrm>
              <a:off x="1584937" y="3224427"/>
              <a:ext cx="1508230" cy="672369"/>
            </a:xfrm>
            <a:prstGeom prst="rect">
              <a:avLst/>
            </a:prstGeom>
            <a:solidFill>
              <a:schemeClr val="accent1">
                <a:lumMod val="40000"/>
                <a:lumOff val="60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kern="0" dirty="0">
                  <a:solidFill>
                    <a:sysClr val="windowText" lastClr="000000"/>
                  </a:solidFill>
                  <a:uFill>
                    <a:solidFill/>
                  </a:uFill>
                  <a:latin typeface="微软雅黑" panose="020B0503020204020204" charset="-122"/>
                  <a:ea typeface="微软雅黑" panose="020B0503020204020204" charset="-122"/>
                  <a:sym typeface="Calibri" panose="020F0502020204030204"/>
                </a:rPr>
                <a:t>base.html</a:t>
              </a:r>
              <a:endParaRPr lang="en-US" altLang="zh-CN" sz="2000" kern="0" dirty="0">
                <a:solidFill>
                  <a:sysClr val="windowText" lastClr="000000"/>
                </a:solidFill>
                <a:uFill>
                  <a:solidFill/>
                </a:uFill>
                <a:latin typeface="微软雅黑" panose="020B0503020204020204" charset="-122"/>
                <a:ea typeface="微软雅黑" panose="020B0503020204020204" charset="-122"/>
                <a:sym typeface="Calibri" panose="020F0502020204030204"/>
              </a:endParaRPr>
            </a:p>
          </p:txBody>
        </p:sp>
        <p:sp>
          <p:nvSpPr>
            <p:cNvPr id="53" name="矩形 52"/>
            <p:cNvSpPr/>
            <p:nvPr/>
          </p:nvSpPr>
          <p:spPr>
            <a:xfrm>
              <a:off x="3370135" y="3224427"/>
              <a:ext cx="1508230" cy="672369"/>
            </a:xfrm>
            <a:prstGeom prst="rect">
              <a:avLst/>
            </a:prstGeom>
            <a:solidFill>
              <a:schemeClr val="accent2">
                <a:lumMod val="60000"/>
                <a:lumOff val="40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err="1">
                  <a:solidFill>
                    <a:schemeClr val="tx1"/>
                  </a:solidFill>
                  <a:latin typeface="+mj-ea"/>
                  <a:ea typeface="+mj-ea"/>
                </a:rPr>
                <a:t>df_user</a:t>
              </a:r>
              <a:endParaRPr lang="en-US" altLang="zh-CN" sz="2000" dirty="0">
                <a:solidFill>
                  <a:schemeClr val="tx1"/>
                </a:solidFill>
                <a:latin typeface="+mj-ea"/>
                <a:ea typeface="+mj-ea"/>
              </a:endParaRPr>
            </a:p>
          </p:txBody>
        </p:sp>
        <p:sp>
          <p:nvSpPr>
            <p:cNvPr id="55" name="矩形 54"/>
            <p:cNvSpPr/>
            <p:nvPr/>
          </p:nvSpPr>
          <p:spPr>
            <a:xfrm>
              <a:off x="1577783" y="5057290"/>
              <a:ext cx="3293428" cy="672369"/>
            </a:xfrm>
            <a:prstGeom prst="rect">
              <a:avLst/>
            </a:prstGeom>
            <a:solidFill>
              <a:schemeClr val="accent1">
                <a:lumMod val="40000"/>
                <a:lumOff val="60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kern="0" dirty="0">
                  <a:solidFill>
                    <a:sysClr val="windowText" lastClr="000000"/>
                  </a:solidFill>
                  <a:uFill>
                    <a:solidFill/>
                  </a:uFill>
                  <a:latin typeface="微软雅黑" panose="020B0503020204020204" charset="-122"/>
                  <a:ea typeface="微软雅黑" panose="020B0503020204020204" charset="-122"/>
                  <a:sym typeface="Calibri" panose="020F0502020204030204"/>
                </a:rPr>
                <a:t>base_foot.html</a:t>
              </a:r>
              <a:endParaRPr lang="en-US" altLang="zh-CN" sz="2000" kern="0" dirty="0">
                <a:solidFill>
                  <a:sysClr val="windowText" lastClr="000000"/>
                </a:solidFill>
                <a:uFill>
                  <a:solidFill/>
                </a:uFill>
                <a:latin typeface="微软雅黑" panose="020B0503020204020204" charset="-122"/>
                <a:ea typeface="微软雅黑" panose="020B0503020204020204" charset="-122"/>
                <a:sym typeface="Calibri" panose="020F0502020204030204"/>
              </a:endParaRPr>
            </a:p>
          </p:txBody>
        </p:sp>
        <p:sp>
          <p:nvSpPr>
            <p:cNvPr id="22" name="矩形 21"/>
            <p:cNvSpPr/>
            <p:nvPr/>
          </p:nvSpPr>
          <p:spPr>
            <a:xfrm>
              <a:off x="3364217" y="4156094"/>
              <a:ext cx="1508230" cy="672369"/>
            </a:xfrm>
            <a:prstGeom prst="rect">
              <a:avLst/>
            </a:prstGeom>
            <a:solidFill>
              <a:schemeClr val="accent2">
                <a:lumMod val="60000"/>
                <a:lumOff val="40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err="1">
                  <a:solidFill>
                    <a:schemeClr val="tx1"/>
                  </a:solidFill>
                  <a:latin typeface="+mj-ea"/>
                  <a:ea typeface="+mj-ea"/>
                </a:rPr>
                <a:t>df_goods</a:t>
              </a:r>
              <a:endParaRPr lang="en-US" altLang="zh-CN" sz="2000" dirty="0">
                <a:solidFill>
                  <a:schemeClr val="tx1"/>
                </a:solidFill>
                <a:latin typeface="+mj-ea"/>
                <a:ea typeface="+mj-ea"/>
              </a:endParaRPr>
            </a:p>
          </p:txBody>
        </p:sp>
        <p:sp>
          <p:nvSpPr>
            <p:cNvPr id="23" name="矩形 22"/>
            <p:cNvSpPr/>
            <p:nvPr/>
          </p:nvSpPr>
          <p:spPr>
            <a:xfrm>
              <a:off x="1579019" y="4166247"/>
              <a:ext cx="1508230" cy="672369"/>
            </a:xfrm>
            <a:prstGeom prst="rect">
              <a:avLst/>
            </a:prstGeom>
            <a:solidFill>
              <a:schemeClr val="accent2">
                <a:lumMod val="60000"/>
                <a:lumOff val="40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kern="0" dirty="0" err="1">
                  <a:solidFill>
                    <a:sysClr val="windowText" lastClr="000000"/>
                  </a:solidFill>
                  <a:uFill>
                    <a:solidFill/>
                  </a:uFill>
                  <a:latin typeface="微软雅黑" panose="020B0503020204020204" charset="-122"/>
                  <a:ea typeface="微软雅黑" panose="020B0503020204020204" charset="-122"/>
                  <a:sym typeface="Calibri" panose="020F0502020204030204"/>
                </a:rPr>
                <a:t>df_cart</a:t>
              </a:r>
              <a:endParaRPr lang="en-US" altLang="zh-CN" sz="2000" kern="0" dirty="0">
                <a:solidFill>
                  <a:sysClr val="windowText" lastClr="000000"/>
                </a:solidFill>
                <a:uFill>
                  <a:solidFill/>
                </a:uFill>
                <a:latin typeface="微软雅黑" panose="020B0503020204020204" charset="-122"/>
                <a:ea typeface="微软雅黑" panose="020B0503020204020204" charset="-122"/>
                <a:sym typeface="Calibri" panose="020F0502020204030204"/>
              </a:endParaRPr>
            </a:p>
          </p:txBody>
        </p:sp>
      </p:grpSp>
      <p:sp>
        <p:nvSpPr>
          <p:cNvPr id="14" name="矩形: 圆角 13"/>
          <p:cNvSpPr/>
          <p:nvPr/>
        </p:nvSpPr>
        <p:spPr>
          <a:xfrm>
            <a:off x="1893626" y="1296253"/>
            <a:ext cx="1864467" cy="532424"/>
          </a:xfrm>
          <a:prstGeom prst="roundRect">
            <a:avLst/>
          </a:prstGeom>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kern="0" dirty="0">
                <a:solidFill>
                  <a:schemeClr val="tx1"/>
                </a:solidFill>
                <a:latin typeface="+mj-ea"/>
                <a:cs typeface="Times New Roman" panose="02020603050405020304" pitchFamily="18" charset="0"/>
              </a:rPr>
              <a:t>templates</a:t>
            </a:r>
            <a:endParaRPr lang="zh-CN" altLang="en-US" sz="2000" dirty="0"/>
          </a:p>
        </p:txBody>
      </p:sp>
      <p:grpSp>
        <p:nvGrpSpPr>
          <p:cNvPr id="7" name="组合 6"/>
          <p:cNvGrpSpPr/>
          <p:nvPr/>
        </p:nvGrpSpPr>
        <p:grpSpPr>
          <a:xfrm>
            <a:off x="5771212" y="1291745"/>
            <a:ext cx="5619221" cy="1533674"/>
            <a:chOff x="7678260" y="1504858"/>
            <a:chExt cx="5619221" cy="1533674"/>
          </a:xfrm>
        </p:grpSpPr>
        <p:sp>
          <p:nvSpPr>
            <p:cNvPr id="19" name="矩形: 圆角 18"/>
            <p:cNvSpPr/>
            <p:nvPr/>
          </p:nvSpPr>
          <p:spPr>
            <a:xfrm>
              <a:off x="7678260" y="1895590"/>
              <a:ext cx="5619221" cy="1142942"/>
            </a:xfrm>
            <a:prstGeom prst="roundRect">
              <a:avLst>
                <a:gd name="adj" fmla="val 8672"/>
              </a:avLst>
            </a:prstGeom>
            <a:noFill/>
            <a:ln w="1905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7988106" y="2279661"/>
              <a:ext cx="762505" cy="536932"/>
            </a:xfrm>
            <a:prstGeom prst="rect">
              <a:avLst/>
            </a:prstGeom>
            <a:solidFill>
              <a:schemeClr val="accent1">
                <a:lumMod val="40000"/>
                <a:lumOff val="60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latin typeface="+mj-ea"/>
                </a:rPr>
                <a:t>utils</a:t>
              </a:r>
              <a:endParaRPr lang="en-US" altLang="zh-CN" sz="2000" dirty="0">
                <a:solidFill>
                  <a:schemeClr val="tx1"/>
                </a:solidFill>
                <a:latin typeface="+mj-ea"/>
              </a:endParaRPr>
            </a:p>
          </p:txBody>
        </p:sp>
        <p:sp>
          <p:nvSpPr>
            <p:cNvPr id="15" name="矩形 14"/>
            <p:cNvSpPr/>
            <p:nvPr/>
          </p:nvSpPr>
          <p:spPr>
            <a:xfrm>
              <a:off x="8965011" y="2283749"/>
              <a:ext cx="1131372" cy="536932"/>
            </a:xfrm>
            <a:prstGeom prst="rect">
              <a:avLst/>
            </a:prstGeom>
            <a:solidFill>
              <a:schemeClr val="accent2">
                <a:lumMod val="60000"/>
                <a:lumOff val="40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err="1">
                  <a:solidFill>
                    <a:schemeClr val="tx1"/>
                  </a:solidFill>
                  <a:latin typeface="+mj-ea"/>
                  <a:ea typeface="+mj-ea"/>
                </a:rPr>
                <a:t>df_user</a:t>
              </a:r>
              <a:endParaRPr lang="en-US" altLang="zh-CN" sz="2000" dirty="0">
                <a:solidFill>
                  <a:schemeClr val="tx1"/>
                </a:solidFill>
                <a:latin typeface="+mj-ea"/>
                <a:ea typeface="+mj-ea"/>
              </a:endParaRPr>
            </a:p>
          </p:txBody>
        </p:sp>
        <p:sp>
          <p:nvSpPr>
            <p:cNvPr id="10" name="矩形 9"/>
            <p:cNvSpPr/>
            <p:nvPr/>
          </p:nvSpPr>
          <p:spPr>
            <a:xfrm>
              <a:off x="11656555" y="2279661"/>
              <a:ext cx="1408501" cy="536932"/>
            </a:xfrm>
            <a:prstGeom prst="rect">
              <a:avLst/>
            </a:prstGeom>
            <a:solidFill>
              <a:schemeClr val="accent2">
                <a:lumMod val="60000"/>
                <a:lumOff val="40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err="1">
                  <a:solidFill>
                    <a:schemeClr val="tx1"/>
                  </a:solidFill>
                  <a:latin typeface="+mj-ea"/>
                  <a:ea typeface="+mj-ea"/>
                </a:rPr>
                <a:t>df_goods</a:t>
              </a:r>
              <a:endParaRPr lang="en-US" altLang="zh-CN" sz="2000" dirty="0">
                <a:solidFill>
                  <a:schemeClr val="tx1"/>
                </a:solidFill>
                <a:latin typeface="+mj-ea"/>
                <a:ea typeface="+mj-ea"/>
              </a:endParaRPr>
            </a:p>
          </p:txBody>
        </p:sp>
        <p:sp>
          <p:nvSpPr>
            <p:cNvPr id="11" name="矩形 10"/>
            <p:cNvSpPr/>
            <p:nvPr/>
          </p:nvSpPr>
          <p:spPr>
            <a:xfrm>
              <a:off x="10310783" y="2279661"/>
              <a:ext cx="1131372" cy="536932"/>
            </a:xfrm>
            <a:prstGeom prst="rect">
              <a:avLst/>
            </a:prstGeom>
            <a:solidFill>
              <a:schemeClr val="accent2">
                <a:lumMod val="60000"/>
                <a:lumOff val="40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kern="0" dirty="0" err="1">
                  <a:solidFill>
                    <a:sysClr val="windowText" lastClr="000000"/>
                  </a:solidFill>
                  <a:uFill>
                    <a:solidFill/>
                  </a:uFill>
                  <a:latin typeface="微软雅黑" panose="020B0503020204020204" charset="-122"/>
                  <a:ea typeface="微软雅黑" panose="020B0503020204020204" charset="-122"/>
                  <a:sym typeface="Calibri" panose="020F0502020204030204"/>
                </a:rPr>
                <a:t>df_cart</a:t>
              </a:r>
              <a:endParaRPr lang="en-US" altLang="zh-CN" sz="2000" kern="0" dirty="0">
                <a:solidFill>
                  <a:sysClr val="windowText" lastClr="000000"/>
                </a:solidFill>
                <a:uFill>
                  <a:solidFill/>
                </a:uFill>
                <a:latin typeface="微软雅黑" panose="020B0503020204020204" charset="-122"/>
                <a:ea typeface="微软雅黑" panose="020B0503020204020204" charset="-122"/>
                <a:sym typeface="Calibri" panose="020F0502020204030204"/>
              </a:endParaRPr>
            </a:p>
          </p:txBody>
        </p:sp>
        <p:sp>
          <p:nvSpPr>
            <p:cNvPr id="24" name="矩形: 圆角 23"/>
            <p:cNvSpPr/>
            <p:nvPr/>
          </p:nvSpPr>
          <p:spPr>
            <a:xfrm>
              <a:off x="9507298" y="1504858"/>
              <a:ext cx="1952491" cy="536932"/>
            </a:xfrm>
            <a:prstGeom prst="roundRect">
              <a:avLst/>
            </a:prstGeom>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400" b="1" kern="0" dirty="0">
                  <a:solidFill>
                    <a:schemeClr val="tx1"/>
                  </a:solidFill>
                  <a:latin typeface="+mj-ea"/>
                  <a:cs typeface="Times New Roman" panose="02020603050405020304" pitchFamily="18" charset="0"/>
                </a:rPr>
                <a:t>apps</a:t>
              </a:r>
              <a:endParaRPr lang="zh-CN" altLang="en-US" sz="2400" dirty="0"/>
            </a:p>
          </p:txBody>
        </p:sp>
      </p:grpSp>
      <p:grpSp>
        <p:nvGrpSpPr>
          <p:cNvPr id="3" name="组合 2"/>
          <p:cNvGrpSpPr/>
          <p:nvPr/>
        </p:nvGrpSpPr>
        <p:grpSpPr>
          <a:xfrm>
            <a:off x="810213" y="5059990"/>
            <a:ext cx="4163538" cy="1410416"/>
            <a:chOff x="1048144" y="5466458"/>
            <a:chExt cx="4218853" cy="1137439"/>
          </a:xfrm>
        </p:grpSpPr>
        <p:sp>
          <p:nvSpPr>
            <p:cNvPr id="25" name="文本框 24"/>
            <p:cNvSpPr txBox="1"/>
            <p:nvPr/>
          </p:nvSpPr>
          <p:spPr>
            <a:xfrm>
              <a:off x="1505794" y="5506753"/>
              <a:ext cx="3159410" cy="1015662"/>
            </a:xfrm>
            <a:prstGeom prst="rect">
              <a:avLst/>
            </a:prstGeom>
            <a:noFill/>
          </p:spPr>
          <p:txBody>
            <a:bodyPr wrap="square" rtlCol="0">
              <a:spAutoFit/>
            </a:bodyPr>
            <a:lstStyle/>
            <a:p>
              <a:pPr>
                <a:lnSpc>
                  <a:spcPct val="130000"/>
                </a:lnSpc>
              </a:pPr>
              <a:r>
                <a:rPr lang="en-US" altLang="zh-CN" sz="2000" dirty="0">
                  <a:latin typeface="Times New Roman" panose="02020603050405020304" pitchFamily="18" charset="0"/>
                  <a:cs typeface="Times New Roman" panose="02020603050405020304" pitchFamily="18" charset="0"/>
                </a:rPr>
                <a:t>user</a:t>
              </a:r>
              <a:r>
                <a:rPr lang="zh-CN" altLang="en-US" dirty="0">
                  <a:latin typeface="Times New Roman" panose="02020603050405020304" pitchFamily="18" charset="0"/>
                  <a:cs typeface="Times New Roman" panose="02020603050405020304" pitchFamily="18" charset="0"/>
                </a:rPr>
                <a:t>：用户注册、登陆管理</a:t>
              </a:r>
              <a:endParaRPr lang="en-US" altLang="zh-CN" dirty="0">
                <a:latin typeface="Times New Roman" panose="02020603050405020304" pitchFamily="18" charset="0"/>
                <a:cs typeface="Times New Roman" panose="02020603050405020304" pitchFamily="18" charset="0"/>
              </a:endParaRPr>
            </a:p>
            <a:p>
              <a:pPr>
                <a:lnSpc>
                  <a:spcPct val="130000"/>
                </a:lnSpc>
              </a:pPr>
              <a:r>
                <a:rPr lang="en-US" altLang="zh-CN" sz="2000" dirty="0">
                  <a:latin typeface="Times New Roman" panose="02020603050405020304" pitchFamily="18" charset="0"/>
                  <a:cs typeface="Times New Roman" panose="02020603050405020304" pitchFamily="18" charset="0"/>
                </a:rPr>
                <a:t>cart</a:t>
              </a:r>
              <a:r>
                <a:rPr lang="zh-CN" altLang="en-US" dirty="0">
                  <a:latin typeface="Times New Roman" panose="02020603050405020304" pitchFamily="18" charset="0"/>
                  <a:cs typeface="Times New Roman" panose="02020603050405020304" pitchFamily="18" charset="0"/>
                </a:rPr>
                <a:t>：购物车相关</a:t>
              </a:r>
              <a:endParaRPr lang="en-US" altLang="zh-CN" dirty="0">
                <a:latin typeface="Times New Roman" panose="02020603050405020304" pitchFamily="18" charset="0"/>
                <a:cs typeface="Times New Roman" panose="02020603050405020304" pitchFamily="18" charset="0"/>
              </a:endParaRPr>
            </a:p>
            <a:p>
              <a:pPr>
                <a:lnSpc>
                  <a:spcPct val="130000"/>
                </a:lnSpc>
              </a:pPr>
              <a:r>
                <a:rPr lang="en-US" altLang="zh-CN" sz="2000" dirty="0">
                  <a:latin typeface="Times New Roman" panose="02020603050405020304" pitchFamily="18" charset="0"/>
                  <a:cs typeface="Times New Roman" panose="02020603050405020304" pitchFamily="18" charset="0"/>
                </a:rPr>
                <a:t>goods</a:t>
              </a:r>
              <a:r>
                <a:rPr lang="zh-CN" altLang="en-US" dirty="0">
                  <a:latin typeface="Times New Roman" panose="02020603050405020304" pitchFamily="18" charset="0"/>
                  <a:cs typeface="Times New Roman" panose="02020603050405020304" pitchFamily="18" charset="0"/>
                </a:rPr>
                <a:t>：商品相关</a:t>
              </a:r>
              <a:endParaRPr lang="zh-CN" altLang="en-US" dirty="0">
                <a:latin typeface="Times New Roman" panose="02020603050405020304" pitchFamily="18" charset="0"/>
                <a:cs typeface="Times New Roman" panose="02020603050405020304" pitchFamily="18" charset="0"/>
              </a:endParaRPr>
            </a:p>
          </p:txBody>
        </p:sp>
        <p:sp>
          <p:nvSpPr>
            <p:cNvPr id="26" name="矩形 25"/>
            <p:cNvSpPr/>
            <p:nvPr/>
          </p:nvSpPr>
          <p:spPr>
            <a:xfrm>
              <a:off x="1048144" y="5466458"/>
              <a:ext cx="4218853" cy="1137439"/>
            </a:xfrm>
            <a:prstGeom prst="rect">
              <a:avLst/>
            </a:prstGeom>
            <a:noFill/>
            <a:ln w="28575">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pic>
        <p:nvPicPr>
          <p:cNvPr id="2" name="图片 1"/>
          <p:cNvPicPr>
            <a:picLocks noChangeAspect="1"/>
          </p:cNvPicPr>
          <p:nvPr/>
        </p:nvPicPr>
        <p:blipFill>
          <a:blip r:embed="rId1"/>
          <a:stretch>
            <a:fillRect/>
          </a:stretch>
        </p:blipFill>
        <p:spPr>
          <a:xfrm>
            <a:off x="6117721" y="3660777"/>
            <a:ext cx="4917547" cy="2736236"/>
          </a:xfrm>
          <a:prstGeom prst="rect">
            <a:avLst/>
          </a:prstGeom>
          <a:effectLst>
            <a:outerShdw blurRad="63500" sx="102000" sy="102000" algn="ctr" rotWithShape="0">
              <a:prstClr val="black">
                <a:alpha val="40000"/>
              </a:prstClr>
            </a:outerShdw>
          </a:effectLst>
        </p:spPr>
      </p:pic>
      <p:sp>
        <p:nvSpPr>
          <p:cNvPr id="9" name="矩形 8"/>
          <p:cNvSpPr/>
          <p:nvPr/>
        </p:nvSpPr>
        <p:spPr>
          <a:xfrm>
            <a:off x="5771211" y="3398437"/>
            <a:ext cx="5610575" cy="3178937"/>
          </a:xfrm>
          <a:prstGeom prst="rect">
            <a:avLst/>
          </a:prstGeom>
          <a:noFill/>
          <a:ln w="28575">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 name="矩形: 圆角 16"/>
          <p:cNvSpPr/>
          <p:nvPr/>
        </p:nvSpPr>
        <p:spPr>
          <a:xfrm>
            <a:off x="7582616" y="2970296"/>
            <a:ext cx="1952491" cy="532424"/>
          </a:xfrm>
          <a:prstGeom prst="roundRect">
            <a:avLst/>
          </a:prstGeom>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kern="0" dirty="0">
                <a:solidFill>
                  <a:schemeClr val="tx1"/>
                </a:solidFill>
                <a:latin typeface="+mj-ea"/>
                <a:cs typeface="Times New Roman" panose="02020603050405020304" pitchFamily="18" charset="0"/>
              </a:rPr>
              <a:t>网站运行效果</a:t>
            </a:r>
            <a:endParaRPr lang="zh-CN" altLang="en-US" sz="2000" dirty="0"/>
          </a:p>
        </p:txBody>
      </p:sp>
      <p:sp>
        <p:nvSpPr>
          <p:cNvPr id="21" name="矩形 20"/>
          <p:cNvSpPr/>
          <p:nvPr/>
        </p:nvSpPr>
        <p:spPr>
          <a:xfrm>
            <a:off x="-33655" y="-63062"/>
            <a:ext cx="212574" cy="369331"/>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p:nvSpPr>
        <p:spPr>
          <a:xfrm>
            <a:off x="190995" y="-37583"/>
            <a:ext cx="2350406" cy="369332"/>
          </a:xfrm>
          <a:prstGeom prst="rect">
            <a:avLst/>
          </a:prstGeom>
          <a:noFill/>
        </p:spPr>
        <p:txBody>
          <a:bodyPr wrap="square" rtlCol="0">
            <a:spAutoFit/>
          </a:bodyPr>
          <a:lstStyle/>
          <a:p>
            <a:r>
              <a:rPr lang="zh-CN" altLang="en-US" b="1" dirty="0"/>
              <a:t>软件代码结构设计</a:t>
            </a:r>
            <a:endParaRPr lang="zh-CN" altLang="en-US" b="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0" y="0"/>
            <a:ext cx="12325157" cy="6858000"/>
          </a:xfrm>
          <a:prstGeom prst="rect">
            <a:avLst/>
          </a:prstGeom>
          <a:effectLst>
            <a:outerShdw blurRad="63500" sx="102000" sy="102000" algn="ctr" rotWithShape="0">
              <a:prstClr val="black">
                <a:alpha val="40000"/>
              </a:prstClr>
            </a:outerShdw>
          </a:effec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59:morph option="byObject"/>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9685" y="1826895"/>
            <a:ext cx="12221210" cy="2751455"/>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 name="组合 14"/>
          <p:cNvGrpSpPr/>
          <p:nvPr/>
        </p:nvGrpSpPr>
        <p:grpSpPr>
          <a:xfrm rot="840000">
            <a:off x="2648222" y="2162808"/>
            <a:ext cx="1192471" cy="2079625"/>
            <a:chOff x="6293" y="1109"/>
            <a:chExt cx="1712" cy="3058"/>
          </a:xfrm>
        </p:grpSpPr>
        <p:sp>
          <p:nvSpPr>
            <p:cNvPr id="8" name="圆角矩形 7"/>
            <p:cNvSpPr/>
            <p:nvPr/>
          </p:nvSpPr>
          <p:spPr>
            <a:xfrm>
              <a:off x="6293" y="1109"/>
              <a:ext cx="1549" cy="3058"/>
            </a:xfrm>
            <a:prstGeom prst="roundRect">
              <a:avLst>
                <a:gd name="adj" fmla="val 9795"/>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圆角矩形 8"/>
            <p:cNvSpPr/>
            <p:nvPr/>
          </p:nvSpPr>
          <p:spPr>
            <a:xfrm>
              <a:off x="6342" y="1158"/>
              <a:ext cx="1450" cy="2959"/>
            </a:xfrm>
            <a:prstGeom prst="roundRect">
              <a:avLst>
                <a:gd name="adj" fmla="val 9795"/>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6323" y="1608"/>
              <a:ext cx="1682" cy="1492"/>
            </a:xfrm>
            <a:prstGeom prst="rect">
              <a:avLst/>
            </a:prstGeom>
            <a:noFill/>
          </p:spPr>
          <p:txBody>
            <a:bodyPr wrap="square" rtlCol="0">
              <a:spAutoFit/>
            </a:bodyPr>
            <a:lstStyle/>
            <a:p>
              <a:r>
                <a:rPr lang="en-US" altLang="zh-CN" sz="6000" dirty="0">
                  <a:solidFill>
                    <a:schemeClr val="bg1"/>
                  </a:solidFill>
                  <a:latin typeface="Times New Roman" panose="02020603050405020304" pitchFamily="18" charset="0"/>
                  <a:ea typeface="Kozuka Gothic Pr6N H" panose="020B0800000000000000" charset="-128"/>
                  <a:cs typeface="Times New Roman" panose="02020603050405020304" pitchFamily="18" charset="0"/>
                </a:rPr>
                <a:t>02</a:t>
              </a:r>
              <a:endParaRPr lang="en-US" altLang="zh-CN" sz="6000" dirty="0">
                <a:solidFill>
                  <a:schemeClr val="bg1"/>
                </a:solidFill>
                <a:latin typeface="Times New Roman" panose="02020603050405020304" pitchFamily="18" charset="0"/>
                <a:ea typeface="Kozuka Gothic Pr6N H" panose="020B0800000000000000" charset="-128"/>
                <a:cs typeface="Times New Roman" panose="02020603050405020304" pitchFamily="18" charset="0"/>
              </a:endParaRPr>
            </a:p>
          </p:txBody>
        </p:sp>
        <p:sp>
          <p:nvSpPr>
            <p:cNvPr id="11" name="椭圆 10"/>
            <p:cNvSpPr/>
            <p:nvPr/>
          </p:nvSpPr>
          <p:spPr>
            <a:xfrm>
              <a:off x="6870" y="3721"/>
              <a:ext cx="300" cy="300"/>
            </a:xfrm>
            <a:prstGeom prst="ellipse">
              <a:avLst/>
            </a:prstGeom>
            <a:solidFill>
              <a:schemeClr val="bg1">
                <a:lumMod val="95000"/>
              </a:schemeClr>
            </a:solidFill>
            <a:ln>
              <a:noFill/>
            </a:ln>
            <a:effectLst>
              <a:innerShdw>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6751" y="1199"/>
              <a:ext cx="120" cy="120"/>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6897" y="1199"/>
              <a:ext cx="120" cy="120"/>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文本框 15"/>
          <p:cNvSpPr txBox="1"/>
          <p:nvPr/>
        </p:nvSpPr>
        <p:spPr>
          <a:xfrm>
            <a:off x="4154877" y="2820722"/>
            <a:ext cx="4276522" cy="830997"/>
          </a:xfrm>
          <a:prstGeom prst="rect">
            <a:avLst/>
          </a:prstGeom>
          <a:noFill/>
        </p:spPr>
        <p:txBody>
          <a:bodyPr wrap="square" rtlCol="0">
            <a:spAutoFit/>
          </a:bodyPr>
          <a:lstStyle/>
          <a:p>
            <a:pPr algn="dist"/>
            <a:r>
              <a:rPr lang="zh-CN" altLang="en-US" sz="4800" dirty="0">
                <a:solidFill>
                  <a:schemeClr val="bg1"/>
                </a:solidFill>
              </a:rPr>
              <a:t>测试用例设计</a:t>
            </a:r>
            <a:endParaRPr lang="zh-CN" altLang="en-US" sz="4800" dirty="0">
              <a:solidFill>
                <a:schemeClr val="bg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矩形 58"/>
          <p:cNvSpPr/>
          <p:nvPr/>
        </p:nvSpPr>
        <p:spPr>
          <a:xfrm>
            <a:off x="-33655" y="306269"/>
            <a:ext cx="3891091" cy="730685"/>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a:p>
        </p:txBody>
      </p:sp>
      <p:sp>
        <p:nvSpPr>
          <p:cNvPr id="5" name="文本框 4"/>
          <p:cNvSpPr txBox="1"/>
          <p:nvPr/>
        </p:nvSpPr>
        <p:spPr>
          <a:xfrm>
            <a:off x="932815" y="410210"/>
            <a:ext cx="3521075" cy="523220"/>
          </a:xfrm>
          <a:prstGeom prst="rect">
            <a:avLst/>
          </a:prstGeom>
          <a:noFill/>
        </p:spPr>
        <p:txBody>
          <a:bodyPr wrap="square" rtlCol="0">
            <a:spAutoFit/>
          </a:bodyPr>
          <a:lstStyle/>
          <a:p>
            <a:pPr algn="l"/>
            <a:r>
              <a:rPr lang="zh-CN" altLang="en-US" sz="2800" b="1" dirty="0">
                <a:solidFill>
                  <a:schemeClr val="bg1"/>
                </a:solidFill>
                <a:sym typeface="+mn-ea"/>
              </a:rPr>
              <a:t>测试用例设计</a:t>
            </a:r>
            <a:endParaRPr lang="zh-CN" altLang="en-US" sz="2800" b="1" dirty="0">
              <a:solidFill>
                <a:schemeClr val="bg1"/>
              </a:solidFill>
              <a:sym typeface="+mn-ea"/>
            </a:endParaRPr>
          </a:p>
        </p:txBody>
      </p:sp>
      <p:sp>
        <p:nvSpPr>
          <p:cNvPr id="6" name="等腰三角形 5"/>
          <p:cNvSpPr/>
          <p:nvPr/>
        </p:nvSpPr>
        <p:spPr>
          <a:xfrm rot="5400000">
            <a:off x="309245" y="503555"/>
            <a:ext cx="445770" cy="334645"/>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642087" y="1953445"/>
            <a:ext cx="5028704" cy="1589098"/>
          </a:xfrm>
          <a:prstGeom prst="rect">
            <a:avLst/>
          </a:prstGeom>
          <a:noFill/>
          <a:ln w="38100">
            <a:solidFill>
              <a:srgbClr val="2D4C5E"/>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形 6"/>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217210" y="2168825"/>
            <a:ext cx="663534" cy="588990"/>
          </a:xfrm>
          <a:prstGeom prst="rect">
            <a:avLst/>
          </a:prstGeom>
        </p:spPr>
      </p:pic>
      <p:pic>
        <p:nvPicPr>
          <p:cNvPr id="8" name="图形 7"/>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779949" y="2113706"/>
            <a:ext cx="663534" cy="663534"/>
          </a:xfrm>
          <a:prstGeom prst="rect">
            <a:avLst/>
          </a:prstGeom>
        </p:spPr>
      </p:pic>
      <p:pic>
        <p:nvPicPr>
          <p:cNvPr id="9" name="图形 8"/>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342688" y="2113706"/>
            <a:ext cx="663534" cy="663534"/>
          </a:xfrm>
          <a:prstGeom prst="rect">
            <a:avLst/>
          </a:prstGeom>
        </p:spPr>
      </p:pic>
      <p:sp>
        <p:nvSpPr>
          <p:cNvPr id="26" name="矩形 25"/>
          <p:cNvSpPr/>
          <p:nvPr/>
        </p:nvSpPr>
        <p:spPr>
          <a:xfrm>
            <a:off x="6521213" y="4695293"/>
            <a:ext cx="5089663" cy="1589098"/>
          </a:xfrm>
          <a:prstGeom prst="rect">
            <a:avLst/>
          </a:prstGeom>
          <a:noFill/>
          <a:ln w="38100">
            <a:solidFill>
              <a:srgbClr val="2D4C5E"/>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6986082" y="5638806"/>
            <a:ext cx="1074769" cy="47839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lumMod val="50000"/>
                  </a:schemeClr>
                </a:solidFill>
                <a:latin typeface="微软雅黑" panose="020B0503020204020204" charset="-122"/>
                <a:ea typeface="微软雅黑" panose="020B0503020204020204" charset="-122"/>
              </a:rPr>
              <a:t>创建</a:t>
            </a:r>
            <a:endParaRPr lang="zh-CN" altLang="en-US" b="1" dirty="0">
              <a:solidFill>
                <a:schemeClr val="tx1">
                  <a:lumMod val="50000"/>
                </a:schemeClr>
              </a:solidFill>
              <a:latin typeface="微软雅黑" panose="020B0503020204020204" charset="-122"/>
              <a:ea typeface="微软雅黑" panose="020B0503020204020204" charset="-122"/>
            </a:endParaRPr>
          </a:p>
        </p:txBody>
      </p:sp>
      <p:sp>
        <p:nvSpPr>
          <p:cNvPr id="30" name="矩形 29"/>
          <p:cNvSpPr/>
          <p:nvPr/>
        </p:nvSpPr>
        <p:spPr>
          <a:xfrm>
            <a:off x="8556960" y="5623662"/>
            <a:ext cx="1074769" cy="47839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lumMod val="50000"/>
                  </a:schemeClr>
                </a:solidFill>
                <a:latin typeface="微软雅黑" panose="020B0503020204020204" charset="-122"/>
                <a:ea typeface="微软雅黑" panose="020B0503020204020204" charset="-122"/>
              </a:rPr>
              <a:t>查看</a:t>
            </a:r>
            <a:endParaRPr lang="zh-CN" altLang="en-US" b="1" dirty="0">
              <a:solidFill>
                <a:schemeClr val="tx1">
                  <a:lumMod val="50000"/>
                </a:schemeClr>
              </a:solidFill>
              <a:latin typeface="微软雅黑" panose="020B0503020204020204" charset="-122"/>
              <a:ea typeface="微软雅黑" panose="020B0503020204020204" charset="-122"/>
            </a:endParaRPr>
          </a:p>
        </p:txBody>
      </p:sp>
      <p:sp>
        <p:nvSpPr>
          <p:cNvPr id="34" name="矩形: 圆角 33"/>
          <p:cNvSpPr/>
          <p:nvPr/>
        </p:nvSpPr>
        <p:spPr>
          <a:xfrm>
            <a:off x="1437759" y="1196372"/>
            <a:ext cx="3270039" cy="523220"/>
          </a:xfrm>
          <a:prstGeom prst="roundRect">
            <a:avLst/>
          </a:prstGeom>
          <a:solidFill>
            <a:srgbClr val="E7E6E6"/>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2F5597"/>
                </a:solidFill>
                <a:latin typeface="微软雅黑" panose="020B0503020204020204" charset="-122"/>
                <a:ea typeface="微软雅黑" panose="020B0503020204020204" charset="-122"/>
              </a:rPr>
              <a:t>用户功能测试</a:t>
            </a:r>
            <a:endParaRPr lang="zh-CN" altLang="en-US" sz="2400" b="1" dirty="0">
              <a:solidFill>
                <a:srgbClr val="2F5597"/>
              </a:solidFill>
              <a:latin typeface="微软雅黑" panose="020B0503020204020204" charset="-122"/>
              <a:ea typeface="微软雅黑" panose="020B0503020204020204" charset="-122"/>
            </a:endParaRPr>
          </a:p>
        </p:txBody>
      </p:sp>
      <p:sp>
        <p:nvSpPr>
          <p:cNvPr id="37" name="矩形: 圆角 36"/>
          <p:cNvSpPr/>
          <p:nvPr/>
        </p:nvSpPr>
        <p:spPr>
          <a:xfrm>
            <a:off x="7439671" y="3936657"/>
            <a:ext cx="3270039" cy="523220"/>
          </a:xfrm>
          <a:prstGeom prst="roundRect">
            <a:avLst/>
          </a:prstGeom>
          <a:solidFill>
            <a:srgbClr val="E7E6E6"/>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2F5597"/>
                </a:solidFill>
                <a:latin typeface="微软雅黑" panose="020B0503020204020204" charset="-122"/>
                <a:ea typeface="微软雅黑" panose="020B0503020204020204" charset="-122"/>
              </a:rPr>
              <a:t>订单功能测试</a:t>
            </a:r>
            <a:endParaRPr lang="zh-CN" altLang="en-US" sz="2400" b="1" dirty="0">
              <a:solidFill>
                <a:srgbClr val="2F5597"/>
              </a:solidFill>
              <a:latin typeface="微软雅黑" panose="020B0503020204020204" charset="-122"/>
              <a:ea typeface="微软雅黑" panose="020B0503020204020204" charset="-122"/>
            </a:endParaRPr>
          </a:p>
        </p:txBody>
      </p:sp>
      <p:sp>
        <p:nvSpPr>
          <p:cNvPr id="16" name="矩形 15"/>
          <p:cNvSpPr/>
          <p:nvPr/>
        </p:nvSpPr>
        <p:spPr>
          <a:xfrm>
            <a:off x="642087" y="4695293"/>
            <a:ext cx="5028701" cy="1589098"/>
          </a:xfrm>
          <a:prstGeom prst="rect">
            <a:avLst/>
          </a:prstGeom>
          <a:noFill/>
          <a:ln w="38100">
            <a:solidFill>
              <a:srgbClr val="2D4C5E"/>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2" name="图形 31"/>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457533" y="4897211"/>
            <a:ext cx="692936" cy="692936"/>
          </a:xfrm>
          <a:prstGeom prst="rect">
            <a:avLst/>
          </a:prstGeom>
        </p:spPr>
      </p:pic>
      <p:sp>
        <p:nvSpPr>
          <p:cNvPr id="35" name="矩形: 圆角 34"/>
          <p:cNvSpPr/>
          <p:nvPr/>
        </p:nvSpPr>
        <p:spPr>
          <a:xfrm>
            <a:off x="1383703" y="3936657"/>
            <a:ext cx="3270039" cy="523220"/>
          </a:xfrm>
          <a:prstGeom prst="roundRect">
            <a:avLst/>
          </a:prstGeom>
          <a:solidFill>
            <a:srgbClr val="E7E6E6"/>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2F5597"/>
                </a:solidFill>
                <a:latin typeface="微软雅黑" panose="020B0503020204020204" charset="-122"/>
                <a:ea typeface="微软雅黑" panose="020B0503020204020204" charset="-122"/>
              </a:rPr>
              <a:t>购物车功能测试</a:t>
            </a:r>
            <a:endParaRPr lang="zh-CN" altLang="en-US" sz="2400" b="1" dirty="0">
              <a:solidFill>
                <a:srgbClr val="2F5597"/>
              </a:solidFill>
              <a:latin typeface="微软雅黑" panose="020B0503020204020204" charset="-122"/>
              <a:ea typeface="微软雅黑" panose="020B0503020204020204" charset="-122"/>
            </a:endParaRPr>
          </a:p>
        </p:txBody>
      </p:sp>
      <p:pic>
        <p:nvPicPr>
          <p:cNvPr id="44" name="图形 43"/>
          <p:cNvPicPr>
            <a:picLocks noChangeAspect="1"/>
          </p:cNvPicPr>
          <p:nvPr>
            <p:custDataLst>
              <p:tags r:id="rId9"/>
            </p:custDataLst>
          </p:nvPr>
        </p:nvPicPr>
        <p:blipFill>
          <a:blip r:embed="rId10">
            <a:extLst>
              <a:ext uri="{96DAC541-7B7A-43D3-8B79-37D633B846F1}">
                <asvg:svgBlip xmlns:asvg="http://schemas.microsoft.com/office/drawing/2016/SVG/main" r:embed="rId11"/>
              </a:ext>
            </a:extLst>
          </a:blip>
          <a:stretch>
            <a:fillRect/>
          </a:stretch>
        </p:blipFill>
        <p:spPr>
          <a:xfrm>
            <a:off x="2227601" y="4906622"/>
            <a:ext cx="658902" cy="658902"/>
          </a:xfrm>
          <a:prstGeom prst="rect">
            <a:avLst/>
          </a:prstGeom>
        </p:spPr>
      </p:pic>
      <p:pic>
        <p:nvPicPr>
          <p:cNvPr id="46" name="图形 45"/>
          <p:cNvPicPr>
            <a:picLocks noChangeAspect="1"/>
          </p:cNvPicPr>
          <p:nvPr>
            <p:custDataLst>
              <p:tags r:id="rId12"/>
            </p:custDataLst>
          </p:nvPr>
        </p:nvPicPr>
        <p:blipFill>
          <a:blip r:embed="rId13">
            <a:extLst>
              <a:ext uri="{96DAC541-7B7A-43D3-8B79-37D633B846F1}">
                <asvg:svgBlip xmlns:asvg="http://schemas.microsoft.com/office/drawing/2016/SVG/main" r:embed="rId14"/>
              </a:ext>
            </a:extLst>
          </a:blip>
          <a:stretch>
            <a:fillRect/>
          </a:stretch>
        </p:blipFill>
        <p:spPr>
          <a:xfrm>
            <a:off x="975323" y="4939134"/>
            <a:ext cx="593878" cy="593878"/>
          </a:xfrm>
          <a:prstGeom prst="rect">
            <a:avLst/>
          </a:prstGeom>
        </p:spPr>
      </p:pic>
      <p:pic>
        <p:nvPicPr>
          <p:cNvPr id="50" name="图形 49" descr="放大镜"/>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679266" y="4865449"/>
            <a:ext cx="741248" cy="741248"/>
          </a:xfrm>
          <a:prstGeom prst="rect">
            <a:avLst/>
          </a:prstGeom>
        </p:spPr>
      </p:pic>
      <p:grpSp>
        <p:nvGrpSpPr>
          <p:cNvPr id="62" name="组合 61"/>
          <p:cNvGrpSpPr/>
          <p:nvPr/>
        </p:nvGrpSpPr>
        <p:grpSpPr>
          <a:xfrm>
            <a:off x="6521210" y="1158007"/>
            <a:ext cx="5089663" cy="2384536"/>
            <a:chOff x="554946" y="3899855"/>
            <a:chExt cx="5089663" cy="2384536"/>
          </a:xfrm>
        </p:grpSpPr>
        <p:pic>
          <p:nvPicPr>
            <p:cNvPr id="3" name="图形 2"/>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844061" y="5061881"/>
              <a:ext cx="1006661" cy="1006661"/>
            </a:xfrm>
            <a:prstGeom prst="rect">
              <a:avLst/>
            </a:prstGeom>
          </p:spPr>
        </p:pic>
        <p:sp>
          <p:nvSpPr>
            <p:cNvPr id="25" name="矩形 24"/>
            <p:cNvSpPr/>
            <p:nvPr/>
          </p:nvSpPr>
          <p:spPr>
            <a:xfrm>
              <a:off x="554946" y="4695293"/>
              <a:ext cx="5089663" cy="1589098"/>
            </a:xfrm>
            <a:prstGeom prst="rect">
              <a:avLst/>
            </a:prstGeom>
            <a:noFill/>
            <a:ln w="38100">
              <a:solidFill>
                <a:srgbClr val="2D4C5E"/>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p:nvSpPr>
          <p:spPr>
            <a:xfrm>
              <a:off x="2128099" y="4821524"/>
              <a:ext cx="590237" cy="133663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lumMod val="50000"/>
                    </a:schemeClr>
                  </a:solidFill>
                  <a:latin typeface="微软雅黑" panose="020B0503020204020204" charset="-122"/>
                  <a:ea typeface="微软雅黑" panose="020B0503020204020204" charset="-122"/>
                </a:rPr>
                <a:t>首页展示</a:t>
              </a:r>
              <a:endParaRPr lang="zh-CN" altLang="en-US" b="1" dirty="0">
                <a:solidFill>
                  <a:schemeClr val="tx1">
                    <a:lumMod val="50000"/>
                  </a:schemeClr>
                </a:solidFill>
                <a:latin typeface="微软雅黑" panose="020B0503020204020204" charset="-122"/>
                <a:ea typeface="微软雅黑" panose="020B0503020204020204" charset="-122"/>
              </a:endParaRPr>
            </a:p>
          </p:txBody>
        </p:sp>
        <p:sp>
          <p:nvSpPr>
            <p:cNvPr id="28" name="矩形 27"/>
            <p:cNvSpPr/>
            <p:nvPr/>
          </p:nvSpPr>
          <p:spPr>
            <a:xfrm>
              <a:off x="2917055" y="4821524"/>
              <a:ext cx="590237" cy="1336634"/>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lumMod val="50000"/>
                    </a:schemeClr>
                  </a:solidFill>
                  <a:latin typeface="微软雅黑" panose="020B0503020204020204" charset="-122"/>
                  <a:ea typeface="微软雅黑" panose="020B0503020204020204" charset="-122"/>
                </a:rPr>
                <a:t>商品详情</a:t>
              </a:r>
              <a:endParaRPr lang="zh-CN" altLang="en-US" b="1" dirty="0">
                <a:solidFill>
                  <a:schemeClr val="tx1">
                    <a:lumMod val="50000"/>
                  </a:schemeClr>
                </a:solidFill>
                <a:latin typeface="微软雅黑" panose="020B0503020204020204" charset="-122"/>
                <a:ea typeface="微软雅黑" panose="020B0503020204020204" charset="-122"/>
              </a:endParaRPr>
            </a:p>
          </p:txBody>
        </p:sp>
        <p:pic>
          <p:nvPicPr>
            <p:cNvPr id="31" name="图形 30"/>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4620658" y="5093739"/>
              <a:ext cx="792203" cy="792203"/>
            </a:xfrm>
            <a:prstGeom prst="rect">
              <a:avLst/>
            </a:prstGeom>
          </p:spPr>
        </p:pic>
        <p:sp>
          <p:nvSpPr>
            <p:cNvPr id="36" name="矩形: 圆角 35"/>
            <p:cNvSpPr/>
            <p:nvPr/>
          </p:nvSpPr>
          <p:spPr>
            <a:xfrm>
              <a:off x="1464760" y="3899855"/>
              <a:ext cx="3270039" cy="523220"/>
            </a:xfrm>
            <a:prstGeom prst="roundRect">
              <a:avLst/>
            </a:prstGeom>
            <a:solidFill>
              <a:srgbClr val="E7E6E6"/>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2F5597"/>
                  </a:solidFill>
                  <a:latin typeface="微软雅黑" panose="020B0503020204020204" charset="-122"/>
                  <a:ea typeface="微软雅黑" panose="020B0503020204020204" charset="-122"/>
                </a:rPr>
                <a:t>商品功能测试</a:t>
              </a:r>
              <a:endParaRPr lang="zh-CN" altLang="en-US" sz="2400" b="1" dirty="0">
                <a:solidFill>
                  <a:srgbClr val="2F5597"/>
                </a:solidFill>
                <a:latin typeface="微软雅黑" panose="020B0503020204020204" charset="-122"/>
                <a:ea typeface="微软雅黑" panose="020B0503020204020204" charset="-122"/>
              </a:endParaRPr>
            </a:p>
          </p:txBody>
        </p:sp>
        <p:sp>
          <p:nvSpPr>
            <p:cNvPr id="51" name="矩形 50"/>
            <p:cNvSpPr/>
            <p:nvPr/>
          </p:nvSpPr>
          <p:spPr>
            <a:xfrm>
              <a:off x="3784669" y="4821524"/>
              <a:ext cx="590237" cy="133663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lumMod val="50000"/>
                    </a:schemeClr>
                  </a:solidFill>
                  <a:latin typeface="微软雅黑" panose="020B0503020204020204" charset="-122"/>
                  <a:ea typeface="微软雅黑" panose="020B0503020204020204" charset="-122"/>
                </a:rPr>
                <a:t>搜索功能</a:t>
              </a:r>
              <a:endParaRPr lang="zh-CN" altLang="en-US" b="1" dirty="0">
                <a:solidFill>
                  <a:schemeClr val="tx1">
                    <a:lumMod val="50000"/>
                  </a:schemeClr>
                </a:solidFill>
                <a:latin typeface="微软雅黑" panose="020B0503020204020204" charset="-122"/>
                <a:ea typeface="微软雅黑" panose="020B0503020204020204" charset="-122"/>
              </a:endParaRPr>
            </a:p>
          </p:txBody>
        </p:sp>
      </p:grpSp>
      <p:sp>
        <p:nvSpPr>
          <p:cNvPr id="52" name="矩形 51"/>
          <p:cNvSpPr/>
          <p:nvPr/>
        </p:nvSpPr>
        <p:spPr>
          <a:xfrm>
            <a:off x="10214333" y="5623662"/>
            <a:ext cx="1074769" cy="47839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lumMod val="50000"/>
                  </a:schemeClr>
                </a:solidFill>
                <a:latin typeface="微软雅黑" panose="020B0503020204020204" charset="-122"/>
                <a:ea typeface="微软雅黑" panose="020B0503020204020204" charset="-122"/>
              </a:rPr>
              <a:t>下单</a:t>
            </a:r>
            <a:endParaRPr lang="zh-CN" altLang="en-US" b="1" dirty="0">
              <a:solidFill>
                <a:schemeClr val="tx1">
                  <a:lumMod val="50000"/>
                </a:schemeClr>
              </a:solidFill>
              <a:latin typeface="微软雅黑" panose="020B0503020204020204" charset="-122"/>
              <a:ea typeface="微软雅黑" panose="020B0503020204020204" charset="-122"/>
            </a:endParaRPr>
          </a:p>
        </p:txBody>
      </p:sp>
      <p:pic>
        <p:nvPicPr>
          <p:cNvPr id="54" name="图形 53" descr="工具"/>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7201487" y="4919045"/>
            <a:ext cx="613966" cy="613966"/>
          </a:xfrm>
          <a:prstGeom prst="rect">
            <a:avLst/>
          </a:prstGeom>
        </p:spPr>
      </p:pic>
      <p:pic>
        <p:nvPicPr>
          <p:cNvPr id="56" name="图形 55" descr="放大镜下的虫子"/>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8722612" y="4860492"/>
            <a:ext cx="704719" cy="704719"/>
          </a:xfrm>
          <a:prstGeom prst="rect">
            <a:avLst/>
          </a:prstGeom>
        </p:spPr>
      </p:pic>
      <p:pic>
        <p:nvPicPr>
          <p:cNvPr id="58" name="图形 57" descr="光标"/>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10335379" y="4860492"/>
            <a:ext cx="629348" cy="629348"/>
          </a:xfrm>
          <a:prstGeom prst="rect">
            <a:avLst/>
          </a:prstGeom>
        </p:spPr>
      </p:pic>
      <p:sp>
        <p:nvSpPr>
          <p:cNvPr id="60" name="矩形 59"/>
          <p:cNvSpPr/>
          <p:nvPr/>
        </p:nvSpPr>
        <p:spPr>
          <a:xfrm>
            <a:off x="-33655" y="-63062"/>
            <a:ext cx="212574" cy="369331"/>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文本框 60"/>
          <p:cNvSpPr txBox="1"/>
          <p:nvPr/>
        </p:nvSpPr>
        <p:spPr>
          <a:xfrm>
            <a:off x="190995" y="-37583"/>
            <a:ext cx="1839604" cy="369332"/>
          </a:xfrm>
          <a:prstGeom prst="rect">
            <a:avLst/>
          </a:prstGeom>
          <a:noFill/>
        </p:spPr>
        <p:txBody>
          <a:bodyPr wrap="square" rtlCol="0">
            <a:spAutoFit/>
          </a:bodyPr>
          <a:lstStyle/>
          <a:p>
            <a:r>
              <a:rPr lang="zh-CN" altLang="en-US" b="1" dirty="0"/>
              <a:t>测试用例设计</a:t>
            </a:r>
            <a:endParaRPr lang="zh-CN" altLang="en-US" b="1" dirty="0"/>
          </a:p>
        </p:txBody>
      </p:sp>
      <p:sp>
        <p:nvSpPr>
          <p:cNvPr id="64" name="矩形 63"/>
          <p:cNvSpPr/>
          <p:nvPr/>
        </p:nvSpPr>
        <p:spPr>
          <a:xfrm>
            <a:off x="871894" y="5623662"/>
            <a:ext cx="849084" cy="47839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lumMod val="50000"/>
                  </a:schemeClr>
                </a:solidFill>
                <a:latin typeface="微软雅黑" panose="020B0503020204020204" charset="-122"/>
                <a:ea typeface="微软雅黑" panose="020B0503020204020204" charset="-122"/>
              </a:rPr>
              <a:t>增加</a:t>
            </a:r>
            <a:endParaRPr lang="zh-CN" altLang="en-US" b="1" dirty="0">
              <a:solidFill>
                <a:schemeClr val="tx1">
                  <a:lumMod val="50000"/>
                </a:schemeClr>
              </a:solidFill>
              <a:latin typeface="微软雅黑" panose="020B0503020204020204" charset="-122"/>
              <a:ea typeface="微软雅黑" panose="020B0503020204020204" charset="-122"/>
            </a:endParaRPr>
          </a:p>
        </p:txBody>
      </p:sp>
      <p:sp>
        <p:nvSpPr>
          <p:cNvPr id="65" name="矩形 64"/>
          <p:cNvSpPr/>
          <p:nvPr/>
        </p:nvSpPr>
        <p:spPr>
          <a:xfrm>
            <a:off x="2132510" y="5623662"/>
            <a:ext cx="849084" cy="47839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lumMod val="50000"/>
                  </a:schemeClr>
                </a:solidFill>
                <a:latin typeface="微软雅黑" panose="020B0503020204020204" charset="-122"/>
                <a:ea typeface="微软雅黑" panose="020B0503020204020204" charset="-122"/>
              </a:rPr>
              <a:t>删除</a:t>
            </a:r>
            <a:endParaRPr lang="zh-CN" altLang="en-US" b="1" dirty="0">
              <a:solidFill>
                <a:schemeClr val="tx1">
                  <a:lumMod val="50000"/>
                </a:schemeClr>
              </a:solidFill>
              <a:latin typeface="微软雅黑" panose="020B0503020204020204" charset="-122"/>
              <a:ea typeface="微软雅黑" panose="020B0503020204020204" charset="-122"/>
            </a:endParaRPr>
          </a:p>
        </p:txBody>
      </p:sp>
      <p:sp>
        <p:nvSpPr>
          <p:cNvPr id="66" name="矩形 65"/>
          <p:cNvSpPr/>
          <p:nvPr/>
        </p:nvSpPr>
        <p:spPr>
          <a:xfrm>
            <a:off x="3393126" y="5623662"/>
            <a:ext cx="849084" cy="47839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lumMod val="50000"/>
                  </a:schemeClr>
                </a:solidFill>
                <a:latin typeface="微软雅黑" panose="020B0503020204020204" charset="-122"/>
                <a:ea typeface="微软雅黑" panose="020B0503020204020204" charset="-122"/>
              </a:rPr>
              <a:t>修改</a:t>
            </a:r>
            <a:endParaRPr lang="zh-CN" altLang="en-US" b="1" dirty="0">
              <a:solidFill>
                <a:schemeClr val="tx1">
                  <a:lumMod val="50000"/>
                </a:schemeClr>
              </a:solidFill>
              <a:latin typeface="微软雅黑" panose="020B0503020204020204" charset="-122"/>
              <a:ea typeface="微软雅黑" panose="020B0503020204020204" charset="-122"/>
            </a:endParaRPr>
          </a:p>
        </p:txBody>
      </p:sp>
      <p:sp>
        <p:nvSpPr>
          <p:cNvPr id="67" name="矩形 66"/>
          <p:cNvSpPr/>
          <p:nvPr/>
        </p:nvSpPr>
        <p:spPr>
          <a:xfrm>
            <a:off x="4653742" y="5623662"/>
            <a:ext cx="849084" cy="47839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lumMod val="50000"/>
                  </a:schemeClr>
                </a:solidFill>
                <a:latin typeface="微软雅黑" panose="020B0503020204020204" charset="-122"/>
                <a:ea typeface="微软雅黑" panose="020B0503020204020204" charset="-122"/>
              </a:rPr>
              <a:t>查找</a:t>
            </a:r>
            <a:endParaRPr lang="zh-CN" altLang="en-US" b="1" dirty="0">
              <a:solidFill>
                <a:schemeClr val="tx1">
                  <a:lumMod val="50000"/>
                </a:schemeClr>
              </a:solidFill>
              <a:latin typeface="微软雅黑" panose="020B0503020204020204" charset="-122"/>
              <a:ea typeface="微软雅黑" panose="020B0503020204020204" charset="-122"/>
            </a:endParaRPr>
          </a:p>
        </p:txBody>
      </p:sp>
      <p:sp>
        <p:nvSpPr>
          <p:cNvPr id="69" name="矩形 68"/>
          <p:cNvSpPr/>
          <p:nvPr/>
        </p:nvSpPr>
        <p:spPr>
          <a:xfrm>
            <a:off x="932815" y="2868630"/>
            <a:ext cx="1191374" cy="47839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lumMod val="50000"/>
                  </a:schemeClr>
                </a:solidFill>
                <a:latin typeface="微软雅黑" panose="020B0503020204020204" charset="-122"/>
                <a:ea typeface="微软雅黑" panose="020B0503020204020204" charset="-122"/>
              </a:rPr>
              <a:t>注册</a:t>
            </a:r>
            <a:endParaRPr lang="zh-CN" altLang="en-US" b="1" dirty="0">
              <a:solidFill>
                <a:schemeClr val="tx1">
                  <a:lumMod val="50000"/>
                </a:schemeClr>
              </a:solidFill>
              <a:latin typeface="微软雅黑" panose="020B0503020204020204" charset="-122"/>
              <a:ea typeface="微软雅黑" panose="020B0503020204020204" charset="-122"/>
            </a:endParaRPr>
          </a:p>
        </p:txBody>
      </p:sp>
      <p:sp>
        <p:nvSpPr>
          <p:cNvPr id="70" name="矩形 69"/>
          <p:cNvSpPr/>
          <p:nvPr/>
        </p:nvSpPr>
        <p:spPr>
          <a:xfrm>
            <a:off x="2503693" y="2853486"/>
            <a:ext cx="1191374" cy="47839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lumMod val="50000"/>
                  </a:schemeClr>
                </a:solidFill>
                <a:latin typeface="微软雅黑" panose="020B0503020204020204" charset="-122"/>
                <a:ea typeface="微软雅黑" panose="020B0503020204020204" charset="-122"/>
              </a:rPr>
              <a:t>登录</a:t>
            </a:r>
            <a:endParaRPr lang="zh-CN" altLang="en-US" b="1" dirty="0">
              <a:solidFill>
                <a:schemeClr val="tx1">
                  <a:lumMod val="50000"/>
                </a:schemeClr>
              </a:solidFill>
              <a:latin typeface="微软雅黑" panose="020B0503020204020204" charset="-122"/>
              <a:ea typeface="微软雅黑" panose="020B0503020204020204" charset="-122"/>
            </a:endParaRPr>
          </a:p>
        </p:txBody>
      </p:sp>
      <p:sp>
        <p:nvSpPr>
          <p:cNvPr id="71" name="矩形 70"/>
          <p:cNvSpPr/>
          <p:nvPr/>
        </p:nvSpPr>
        <p:spPr>
          <a:xfrm>
            <a:off x="4161066" y="2853486"/>
            <a:ext cx="1191374" cy="47839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lumMod val="50000"/>
                  </a:schemeClr>
                </a:solidFill>
                <a:latin typeface="微软雅黑" panose="020B0503020204020204" charset="-122"/>
                <a:ea typeface="微软雅黑" panose="020B0503020204020204" charset="-122"/>
              </a:rPr>
              <a:t>个人信息</a:t>
            </a:r>
            <a:endParaRPr lang="zh-CN" altLang="en-US" b="1" dirty="0">
              <a:solidFill>
                <a:schemeClr val="tx1">
                  <a:lumMod val="50000"/>
                </a:schemeClr>
              </a:solidFill>
              <a:latin typeface="微软雅黑" panose="020B0503020204020204" charset="-122"/>
              <a:ea typeface="微软雅黑" panose="020B050302020402020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矩形: 圆角 65"/>
          <p:cNvSpPr/>
          <p:nvPr/>
        </p:nvSpPr>
        <p:spPr>
          <a:xfrm>
            <a:off x="3135650" y="1415908"/>
            <a:ext cx="6227097" cy="4833543"/>
          </a:xfrm>
          <a:prstGeom prst="roundRect">
            <a:avLst>
              <a:gd name="adj" fmla="val 4401"/>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33655" y="306269"/>
            <a:ext cx="3891091" cy="730685"/>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a:p>
        </p:txBody>
      </p:sp>
      <p:sp>
        <p:nvSpPr>
          <p:cNvPr id="5" name="文本框 4"/>
          <p:cNvSpPr txBox="1"/>
          <p:nvPr/>
        </p:nvSpPr>
        <p:spPr>
          <a:xfrm>
            <a:off x="932816" y="410210"/>
            <a:ext cx="2705866" cy="523220"/>
          </a:xfrm>
          <a:prstGeom prst="rect">
            <a:avLst/>
          </a:prstGeom>
          <a:noFill/>
        </p:spPr>
        <p:txBody>
          <a:bodyPr wrap="square" rtlCol="0">
            <a:spAutoFit/>
          </a:bodyPr>
          <a:lstStyle/>
          <a:p>
            <a:pPr algn="l"/>
            <a:r>
              <a:rPr lang="zh-CN" altLang="en-US" sz="2800" b="1" dirty="0">
                <a:solidFill>
                  <a:schemeClr val="bg1"/>
                </a:solidFill>
                <a:sym typeface="+mn-ea"/>
              </a:rPr>
              <a:t>用户功能测试</a:t>
            </a:r>
            <a:endParaRPr lang="zh-CN" altLang="en-US" sz="2800" b="1" dirty="0">
              <a:solidFill>
                <a:schemeClr val="bg1"/>
              </a:solidFill>
              <a:sym typeface="+mn-ea"/>
            </a:endParaRPr>
          </a:p>
        </p:txBody>
      </p:sp>
      <p:sp>
        <p:nvSpPr>
          <p:cNvPr id="6" name="等腰三角形 5"/>
          <p:cNvSpPr/>
          <p:nvPr/>
        </p:nvSpPr>
        <p:spPr>
          <a:xfrm rot="5400000">
            <a:off x="309245" y="503555"/>
            <a:ext cx="445770" cy="334645"/>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3" name="组合 32"/>
          <p:cNvGrpSpPr/>
          <p:nvPr/>
        </p:nvGrpSpPr>
        <p:grpSpPr>
          <a:xfrm>
            <a:off x="290705" y="2550772"/>
            <a:ext cx="2538548" cy="3147527"/>
            <a:chOff x="1088572" y="2593909"/>
            <a:chExt cx="2724538" cy="3147527"/>
          </a:xfrm>
        </p:grpSpPr>
        <p:sp>
          <p:nvSpPr>
            <p:cNvPr id="38" name="矩形 37"/>
            <p:cNvSpPr/>
            <p:nvPr/>
          </p:nvSpPr>
          <p:spPr>
            <a:xfrm>
              <a:off x="1088572" y="2593909"/>
              <a:ext cx="2724538" cy="3147527"/>
            </a:xfrm>
            <a:prstGeom prst="rect">
              <a:avLst/>
            </a:prstGeom>
            <a:noFill/>
            <a:ln w="3810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p:cNvSpPr/>
            <p:nvPr/>
          </p:nvSpPr>
          <p:spPr>
            <a:xfrm>
              <a:off x="1330231" y="2854821"/>
              <a:ext cx="2204914" cy="487785"/>
            </a:xfrm>
            <a:prstGeom prst="rect">
              <a:avLst/>
            </a:prstGeom>
            <a:solidFill>
              <a:srgbClr val="DEEBF7"/>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C00000"/>
                  </a:solidFill>
                  <a:latin typeface="微软雅黑" panose="020B0503020204020204" charset="-122"/>
                  <a:ea typeface="微软雅黑" panose="020B0503020204020204" charset="-122"/>
                </a:rPr>
                <a:t>注册页访问</a:t>
              </a:r>
              <a:endParaRPr lang="zh-CN" altLang="en-US" b="1" dirty="0">
                <a:solidFill>
                  <a:srgbClr val="C00000"/>
                </a:solidFill>
                <a:latin typeface="微软雅黑" panose="020B0503020204020204" charset="-122"/>
                <a:ea typeface="微软雅黑" panose="020B0503020204020204" charset="-122"/>
              </a:endParaRPr>
            </a:p>
          </p:txBody>
        </p:sp>
        <p:sp>
          <p:nvSpPr>
            <p:cNvPr id="40" name="矩形 39"/>
            <p:cNvSpPr/>
            <p:nvPr/>
          </p:nvSpPr>
          <p:spPr>
            <a:xfrm>
              <a:off x="1330231" y="3560926"/>
              <a:ext cx="2204914" cy="487786"/>
            </a:xfrm>
            <a:prstGeom prst="rect">
              <a:avLst/>
            </a:prstGeom>
            <a:solidFill>
              <a:srgbClr val="DEEBF7"/>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微软雅黑" panose="020B0503020204020204" charset="-122"/>
                  <a:ea typeface="微软雅黑" panose="020B0503020204020204" charset="-122"/>
                </a:rPr>
                <a:t>登录页访问</a:t>
              </a:r>
              <a:endParaRPr lang="zh-CN" altLang="en-US" b="1" dirty="0">
                <a:solidFill>
                  <a:schemeClr val="tx1"/>
                </a:solidFill>
                <a:latin typeface="微软雅黑" panose="020B0503020204020204" charset="-122"/>
                <a:ea typeface="微软雅黑" panose="020B0503020204020204" charset="-122"/>
              </a:endParaRPr>
            </a:p>
          </p:txBody>
        </p:sp>
        <p:sp>
          <p:nvSpPr>
            <p:cNvPr id="41" name="矩形 40"/>
            <p:cNvSpPr/>
            <p:nvPr/>
          </p:nvSpPr>
          <p:spPr>
            <a:xfrm>
              <a:off x="1330231" y="4267032"/>
              <a:ext cx="2204914" cy="487786"/>
            </a:xfrm>
            <a:prstGeom prst="rect">
              <a:avLst/>
            </a:prstGeom>
            <a:solidFill>
              <a:srgbClr val="DEEBF7"/>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微软雅黑" panose="020B0503020204020204" charset="-122"/>
                  <a:ea typeface="微软雅黑" panose="020B0503020204020204" charset="-122"/>
                </a:rPr>
                <a:t>记住用户</a:t>
              </a:r>
              <a:endParaRPr lang="zh-CN" altLang="en-US" b="1" dirty="0">
                <a:solidFill>
                  <a:schemeClr val="tx1"/>
                </a:solidFill>
                <a:latin typeface="微软雅黑" panose="020B0503020204020204" charset="-122"/>
                <a:ea typeface="微软雅黑" panose="020B0503020204020204" charset="-122"/>
              </a:endParaRPr>
            </a:p>
          </p:txBody>
        </p:sp>
        <p:sp>
          <p:nvSpPr>
            <p:cNvPr id="42" name="矩形 41"/>
            <p:cNvSpPr/>
            <p:nvPr/>
          </p:nvSpPr>
          <p:spPr>
            <a:xfrm>
              <a:off x="1330231" y="4973138"/>
              <a:ext cx="2204914" cy="487786"/>
            </a:xfrm>
            <a:prstGeom prst="rect">
              <a:avLst/>
            </a:prstGeom>
            <a:solidFill>
              <a:srgbClr val="DEEBF7"/>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微软雅黑" panose="020B0503020204020204" charset="-122"/>
                  <a:ea typeface="微软雅黑" panose="020B0503020204020204" charset="-122"/>
                </a:rPr>
                <a:t>用户信息显示</a:t>
              </a:r>
              <a:endParaRPr lang="zh-CN" altLang="en-US" b="1" dirty="0">
                <a:solidFill>
                  <a:schemeClr val="tx1"/>
                </a:solidFill>
                <a:latin typeface="微软雅黑" panose="020B0503020204020204" charset="-122"/>
                <a:ea typeface="微软雅黑" panose="020B0503020204020204" charset="-122"/>
              </a:endParaRPr>
            </a:p>
          </p:txBody>
        </p:sp>
      </p:grpSp>
      <p:sp>
        <p:nvSpPr>
          <p:cNvPr id="43" name="矩形: 圆角 42"/>
          <p:cNvSpPr/>
          <p:nvPr/>
        </p:nvSpPr>
        <p:spPr>
          <a:xfrm>
            <a:off x="572902" y="1747040"/>
            <a:ext cx="1940326" cy="523220"/>
          </a:xfrm>
          <a:prstGeom prst="roundRect">
            <a:avLst/>
          </a:prstGeom>
          <a:solidFill>
            <a:srgbClr val="E7E6E6"/>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2F5597"/>
                </a:solidFill>
                <a:latin typeface="微软雅黑" panose="020B0503020204020204" charset="-122"/>
                <a:ea typeface="微软雅黑" panose="020B0503020204020204" charset="-122"/>
              </a:rPr>
              <a:t>测试内容</a:t>
            </a:r>
            <a:endParaRPr lang="zh-CN" altLang="en-US" sz="2400" b="1" dirty="0">
              <a:solidFill>
                <a:srgbClr val="2F5597"/>
              </a:solidFill>
              <a:latin typeface="微软雅黑" panose="020B0503020204020204" charset="-122"/>
              <a:ea typeface="微软雅黑" panose="020B0503020204020204" charset="-122"/>
            </a:endParaRPr>
          </a:p>
        </p:txBody>
      </p:sp>
      <p:sp>
        <p:nvSpPr>
          <p:cNvPr id="48" name="圆角矩形 51"/>
          <p:cNvSpPr/>
          <p:nvPr/>
        </p:nvSpPr>
        <p:spPr>
          <a:xfrm>
            <a:off x="5077303" y="1128782"/>
            <a:ext cx="2343789" cy="390407"/>
          </a:xfrm>
          <a:prstGeom prst="roundRect">
            <a:avLst/>
          </a:prstGeom>
          <a:solidFill>
            <a:schemeClr val="accent1">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微软雅黑" panose="020B0503020204020204" charset="-122"/>
                <a:ea typeface="微软雅黑" panose="020B0503020204020204" charset="-122"/>
              </a:rPr>
              <a:t>注册界面</a:t>
            </a:r>
            <a:endParaRPr lang="zh-CN" altLang="en-US" b="1" dirty="0">
              <a:solidFill>
                <a:schemeClr val="tx1"/>
              </a:solidFill>
              <a:latin typeface="微软雅黑" panose="020B0503020204020204" charset="-122"/>
              <a:ea typeface="微软雅黑" panose="020B0503020204020204" charset="-122"/>
            </a:endParaRPr>
          </a:p>
        </p:txBody>
      </p:sp>
      <p:pic>
        <p:nvPicPr>
          <p:cNvPr id="45" name="图片 44"/>
          <p:cNvPicPr>
            <a:picLocks noChangeAspect="1"/>
          </p:cNvPicPr>
          <p:nvPr/>
        </p:nvPicPr>
        <p:blipFill>
          <a:blip r:embed="rId1" cstate="print">
            <a:extLst>
              <a:ext uri="{28A0092B-C50C-407E-A947-70E740481C1C}">
                <a14:useLocalDpi xmlns:a14="http://schemas.microsoft.com/office/drawing/2010/main" val="0"/>
              </a:ext>
            </a:extLst>
          </a:blip>
          <a:srcRect l="19618" t="3814" r="15687" b="10256"/>
          <a:stretch>
            <a:fillRect/>
          </a:stretch>
        </p:blipFill>
        <p:spPr>
          <a:xfrm>
            <a:off x="3638682" y="1898142"/>
            <a:ext cx="5332654" cy="3991829"/>
          </a:xfrm>
          <a:prstGeom prst="rect">
            <a:avLst/>
          </a:prstGeom>
          <a:effectLst>
            <a:outerShdw blurRad="63500" sx="102000" sy="102000" algn="ctr" rotWithShape="0">
              <a:prstClr val="black">
                <a:alpha val="40000"/>
              </a:prstClr>
            </a:outerShdw>
          </a:effectLst>
        </p:spPr>
      </p:pic>
      <p:sp>
        <p:nvSpPr>
          <p:cNvPr id="10" name="矩形 9"/>
          <p:cNvSpPr/>
          <p:nvPr/>
        </p:nvSpPr>
        <p:spPr>
          <a:xfrm>
            <a:off x="9680011" y="1423211"/>
            <a:ext cx="590237" cy="4826240"/>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lumMod val="50000"/>
                  </a:schemeClr>
                </a:solidFill>
                <a:latin typeface="微软雅黑" panose="020B0503020204020204" charset="-122"/>
                <a:ea typeface="微软雅黑" panose="020B0503020204020204" charset="-122"/>
              </a:rPr>
              <a:t>测试注册页是否可正常访问</a:t>
            </a:r>
            <a:endParaRPr lang="zh-CN" altLang="en-US" b="1" dirty="0">
              <a:solidFill>
                <a:schemeClr val="tx1">
                  <a:lumMod val="50000"/>
                </a:schemeClr>
              </a:solidFill>
              <a:latin typeface="微软雅黑" panose="020B0503020204020204" charset="-122"/>
              <a:ea typeface="微软雅黑" panose="020B0503020204020204" charset="-122"/>
            </a:endParaRPr>
          </a:p>
        </p:txBody>
      </p:sp>
      <p:sp>
        <p:nvSpPr>
          <p:cNvPr id="11" name="矩形 10"/>
          <p:cNvSpPr/>
          <p:nvPr/>
        </p:nvSpPr>
        <p:spPr>
          <a:xfrm>
            <a:off x="10528785" y="1423211"/>
            <a:ext cx="590237" cy="4826240"/>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lumMod val="50000"/>
                  </a:schemeClr>
                </a:solidFill>
                <a:latin typeface="微软雅黑" panose="020B0503020204020204" charset="-122"/>
                <a:ea typeface="微软雅黑" panose="020B0503020204020204" charset="-122"/>
              </a:rPr>
              <a:t>输入两次密码不一致是否会注册失败</a:t>
            </a:r>
            <a:endParaRPr lang="zh-CN" altLang="en-US" b="1" dirty="0">
              <a:solidFill>
                <a:schemeClr val="tx1">
                  <a:lumMod val="50000"/>
                </a:schemeClr>
              </a:solidFill>
              <a:latin typeface="微软雅黑" panose="020B0503020204020204" charset="-122"/>
              <a:ea typeface="微软雅黑" panose="020B0503020204020204" charset="-122"/>
            </a:endParaRPr>
          </a:p>
        </p:txBody>
      </p:sp>
      <p:sp>
        <p:nvSpPr>
          <p:cNvPr id="12" name="矩形 11"/>
          <p:cNvSpPr/>
          <p:nvPr/>
        </p:nvSpPr>
        <p:spPr>
          <a:xfrm>
            <a:off x="11342979" y="1423211"/>
            <a:ext cx="590237" cy="4826240"/>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lumMod val="50000"/>
                  </a:schemeClr>
                </a:solidFill>
                <a:latin typeface="微软雅黑" panose="020B0503020204020204" charset="-122"/>
                <a:ea typeface="微软雅黑" panose="020B0503020204020204" charset="-122"/>
              </a:rPr>
              <a:t>对于合法数据注册能够成功</a:t>
            </a:r>
            <a:endParaRPr lang="zh-CN" altLang="en-US" b="1" dirty="0">
              <a:solidFill>
                <a:schemeClr val="tx1">
                  <a:lumMod val="50000"/>
                </a:schemeClr>
              </a:solidFill>
              <a:latin typeface="微软雅黑" panose="020B0503020204020204" charset="-122"/>
              <a:ea typeface="微软雅黑" panose="020B0503020204020204" charset="-122"/>
            </a:endParaRPr>
          </a:p>
        </p:txBody>
      </p:sp>
      <p:sp>
        <p:nvSpPr>
          <p:cNvPr id="13" name="矩形 12"/>
          <p:cNvSpPr/>
          <p:nvPr/>
        </p:nvSpPr>
        <p:spPr>
          <a:xfrm>
            <a:off x="-33655" y="-63062"/>
            <a:ext cx="212574" cy="369331"/>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190994" y="-37583"/>
            <a:ext cx="1757623" cy="369332"/>
          </a:xfrm>
          <a:prstGeom prst="rect">
            <a:avLst/>
          </a:prstGeom>
          <a:noFill/>
        </p:spPr>
        <p:txBody>
          <a:bodyPr wrap="square" rtlCol="0">
            <a:spAutoFit/>
          </a:bodyPr>
          <a:lstStyle/>
          <a:p>
            <a:r>
              <a:rPr lang="zh-CN" altLang="en-US" b="1" dirty="0"/>
              <a:t>测试用例设计</a:t>
            </a:r>
            <a:endParaRPr lang="zh-CN" altLang="en-US" b="1"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p:cNvSpPr/>
          <p:nvPr/>
        </p:nvSpPr>
        <p:spPr>
          <a:xfrm>
            <a:off x="-33655" y="306269"/>
            <a:ext cx="3891091" cy="730685"/>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a:p>
        </p:txBody>
      </p:sp>
      <p:sp>
        <p:nvSpPr>
          <p:cNvPr id="66" name="矩形: 圆角 65"/>
          <p:cNvSpPr/>
          <p:nvPr/>
        </p:nvSpPr>
        <p:spPr>
          <a:xfrm>
            <a:off x="3135650" y="1415908"/>
            <a:ext cx="6227097" cy="4833543"/>
          </a:xfrm>
          <a:prstGeom prst="roundRect">
            <a:avLst>
              <a:gd name="adj" fmla="val 4401"/>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932816" y="410210"/>
            <a:ext cx="2705866" cy="523220"/>
          </a:xfrm>
          <a:prstGeom prst="rect">
            <a:avLst/>
          </a:prstGeom>
          <a:noFill/>
        </p:spPr>
        <p:txBody>
          <a:bodyPr wrap="square" rtlCol="0">
            <a:spAutoFit/>
          </a:bodyPr>
          <a:lstStyle/>
          <a:p>
            <a:pPr algn="l"/>
            <a:r>
              <a:rPr lang="zh-CN" altLang="en-US" sz="2800" b="1" dirty="0">
                <a:solidFill>
                  <a:schemeClr val="bg1"/>
                </a:solidFill>
                <a:sym typeface="+mn-ea"/>
              </a:rPr>
              <a:t>用户功能测试</a:t>
            </a:r>
            <a:endParaRPr lang="zh-CN" altLang="en-US" sz="2800" b="1" dirty="0">
              <a:solidFill>
                <a:schemeClr val="bg1"/>
              </a:solidFill>
              <a:sym typeface="+mn-ea"/>
            </a:endParaRPr>
          </a:p>
        </p:txBody>
      </p:sp>
      <p:sp>
        <p:nvSpPr>
          <p:cNvPr id="6" name="等腰三角形 5"/>
          <p:cNvSpPr/>
          <p:nvPr/>
        </p:nvSpPr>
        <p:spPr>
          <a:xfrm rot="5400000">
            <a:off x="309245" y="503555"/>
            <a:ext cx="445770" cy="334645"/>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3" name="组合 32"/>
          <p:cNvGrpSpPr/>
          <p:nvPr/>
        </p:nvGrpSpPr>
        <p:grpSpPr>
          <a:xfrm>
            <a:off x="290705" y="2550772"/>
            <a:ext cx="2538548" cy="3147527"/>
            <a:chOff x="1088572" y="2593909"/>
            <a:chExt cx="2724538" cy="3147527"/>
          </a:xfrm>
        </p:grpSpPr>
        <p:sp>
          <p:nvSpPr>
            <p:cNvPr id="38" name="矩形 37"/>
            <p:cNvSpPr/>
            <p:nvPr/>
          </p:nvSpPr>
          <p:spPr>
            <a:xfrm>
              <a:off x="1088572" y="2593909"/>
              <a:ext cx="2724538" cy="3147527"/>
            </a:xfrm>
            <a:prstGeom prst="rect">
              <a:avLst/>
            </a:prstGeom>
            <a:noFill/>
            <a:ln w="3810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p:cNvSpPr/>
            <p:nvPr/>
          </p:nvSpPr>
          <p:spPr>
            <a:xfrm>
              <a:off x="1330231" y="2854821"/>
              <a:ext cx="2204914" cy="487785"/>
            </a:xfrm>
            <a:prstGeom prst="rect">
              <a:avLst/>
            </a:prstGeom>
            <a:solidFill>
              <a:srgbClr val="DEEBF7"/>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微软雅黑" panose="020B0503020204020204" charset="-122"/>
                  <a:ea typeface="微软雅黑" panose="020B0503020204020204" charset="-122"/>
                </a:rPr>
                <a:t>注册页访问</a:t>
              </a:r>
              <a:endParaRPr lang="zh-CN" altLang="en-US" b="1" dirty="0">
                <a:solidFill>
                  <a:schemeClr val="tx1"/>
                </a:solidFill>
                <a:latin typeface="微软雅黑" panose="020B0503020204020204" charset="-122"/>
                <a:ea typeface="微软雅黑" panose="020B0503020204020204" charset="-122"/>
              </a:endParaRPr>
            </a:p>
          </p:txBody>
        </p:sp>
        <p:sp>
          <p:nvSpPr>
            <p:cNvPr id="40" name="矩形 39"/>
            <p:cNvSpPr/>
            <p:nvPr/>
          </p:nvSpPr>
          <p:spPr>
            <a:xfrm>
              <a:off x="1330231" y="3560926"/>
              <a:ext cx="2204914" cy="487786"/>
            </a:xfrm>
            <a:prstGeom prst="rect">
              <a:avLst/>
            </a:prstGeom>
            <a:solidFill>
              <a:srgbClr val="DEEBF7"/>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C00000"/>
                  </a:solidFill>
                  <a:latin typeface="微软雅黑" panose="020B0503020204020204" charset="-122"/>
                  <a:ea typeface="微软雅黑" panose="020B0503020204020204" charset="-122"/>
                </a:rPr>
                <a:t>登录页访问</a:t>
              </a:r>
              <a:endParaRPr lang="zh-CN" altLang="en-US" b="1" dirty="0">
                <a:solidFill>
                  <a:srgbClr val="C00000"/>
                </a:solidFill>
                <a:latin typeface="微软雅黑" panose="020B0503020204020204" charset="-122"/>
                <a:ea typeface="微软雅黑" panose="020B0503020204020204" charset="-122"/>
              </a:endParaRPr>
            </a:p>
          </p:txBody>
        </p:sp>
        <p:sp>
          <p:nvSpPr>
            <p:cNvPr id="41" name="矩形 40"/>
            <p:cNvSpPr/>
            <p:nvPr/>
          </p:nvSpPr>
          <p:spPr>
            <a:xfrm>
              <a:off x="1330231" y="4267032"/>
              <a:ext cx="2204914" cy="487786"/>
            </a:xfrm>
            <a:prstGeom prst="rect">
              <a:avLst/>
            </a:prstGeom>
            <a:solidFill>
              <a:srgbClr val="DEEBF7"/>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C00000"/>
                  </a:solidFill>
                  <a:latin typeface="微软雅黑" panose="020B0503020204020204" charset="-122"/>
                  <a:ea typeface="微软雅黑" panose="020B0503020204020204" charset="-122"/>
                </a:rPr>
                <a:t>记住用户</a:t>
              </a:r>
              <a:endParaRPr lang="zh-CN" altLang="en-US" b="1" dirty="0">
                <a:solidFill>
                  <a:srgbClr val="C00000"/>
                </a:solidFill>
                <a:latin typeface="微软雅黑" panose="020B0503020204020204" charset="-122"/>
                <a:ea typeface="微软雅黑" panose="020B0503020204020204" charset="-122"/>
              </a:endParaRPr>
            </a:p>
          </p:txBody>
        </p:sp>
        <p:sp>
          <p:nvSpPr>
            <p:cNvPr id="42" name="矩形 41"/>
            <p:cNvSpPr/>
            <p:nvPr/>
          </p:nvSpPr>
          <p:spPr>
            <a:xfrm>
              <a:off x="1330231" y="4973138"/>
              <a:ext cx="2204914" cy="487786"/>
            </a:xfrm>
            <a:prstGeom prst="rect">
              <a:avLst/>
            </a:prstGeom>
            <a:solidFill>
              <a:srgbClr val="DEEBF7"/>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微软雅黑" panose="020B0503020204020204" charset="-122"/>
                  <a:ea typeface="微软雅黑" panose="020B0503020204020204" charset="-122"/>
                </a:rPr>
                <a:t>用户信息显示</a:t>
              </a:r>
              <a:endParaRPr lang="zh-CN" altLang="en-US" b="1" dirty="0">
                <a:solidFill>
                  <a:schemeClr val="tx1"/>
                </a:solidFill>
                <a:latin typeface="微软雅黑" panose="020B0503020204020204" charset="-122"/>
                <a:ea typeface="微软雅黑" panose="020B0503020204020204" charset="-122"/>
              </a:endParaRPr>
            </a:p>
          </p:txBody>
        </p:sp>
      </p:grpSp>
      <p:sp>
        <p:nvSpPr>
          <p:cNvPr id="43" name="矩形: 圆角 42"/>
          <p:cNvSpPr/>
          <p:nvPr/>
        </p:nvSpPr>
        <p:spPr>
          <a:xfrm>
            <a:off x="572902" y="1747040"/>
            <a:ext cx="1940326" cy="523220"/>
          </a:xfrm>
          <a:prstGeom prst="roundRect">
            <a:avLst/>
          </a:prstGeom>
          <a:solidFill>
            <a:srgbClr val="E7E6E6"/>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2F5597"/>
                </a:solidFill>
                <a:latin typeface="微软雅黑" panose="020B0503020204020204" charset="-122"/>
                <a:ea typeface="微软雅黑" panose="020B0503020204020204" charset="-122"/>
              </a:rPr>
              <a:t>测试内容</a:t>
            </a:r>
            <a:endParaRPr lang="zh-CN" altLang="en-US" sz="2400" b="1" dirty="0">
              <a:solidFill>
                <a:srgbClr val="2F5597"/>
              </a:solidFill>
              <a:latin typeface="微软雅黑" panose="020B0503020204020204" charset="-122"/>
              <a:ea typeface="微软雅黑" panose="020B0503020204020204" charset="-122"/>
            </a:endParaRPr>
          </a:p>
        </p:txBody>
      </p:sp>
      <p:sp>
        <p:nvSpPr>
          <p:cNvPr id="48" name="圆角矩形 51"/>
          <p:cNvSpPr/>
          <p:nvPr/>
        </p:nvSpPr>
        <p:spPr>
          <a:xfrm>
            <a:off x="5077303" y="1128782"/>
            <a:ext cx="2343789" cy="390407"/>
          </a:xfrm>
          <a:prstGeom prst="roundRect">
            <a:avLst/>
          </a:prstGeom>
          <a:solidFill>
            <a:schemeClr val="accent1">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微软雅黑" panose="020B0503020204020204" charset="-122"/>
                <a:ea typeface="微软雅黑" panose="020B0503020204020204" charset="-122"/>
              </a:rPr>
              <a:t>登录界面</a:t>
            </a:r>
            <a:endParaRPr lang="zh-CN" altLang="en-US" b="1" dirty="0">
              <a:solidFill>
                <a:schemeClr val="tx1"/>
              </a:solidFill>
              <a:latin typeface="微软雅黑" panose="020B0503020204020204" charset="-122"/>
              <a:ea typeface="微软雅黑" panose="020B0503020204020204" charset="-122"/>
            </a:endParaRPr>
          </a:p>
        </p:txBody>
      </p:sp>
      <p:pic>
        <p:nvPicPr>
          <p:cNvPr id="2" name="图片 1"/>
          <p:cNvPicPr>
            <a:picLocks noChangeAspect="1"/>
          </p:cNvPicPr>
          <p:nvPr/>
        </p:nvPicPr>
        <p:blipFill>
          <a:blip r:embed="rId1" cstate="print">
            <a:extLst>
              <a:ext uri="{28A0092B-C50C-407E-A947-70E740481C1C}">
                <a14:useLocalDpi xmlns:a14="http://schemas.microsoft.com/office/drawing/2010/main" val="0"/>
              </a:ext>
            </a:extLst>
          </a:blip>
          <a:srcRect l="12193" r="11357" b="5912"/>
          <a:stretch>
            <a:fillRect/>
          </a:stretch>
        </p:blipFill>
        <p:spPr>
          <a:xfrm>
            <a:off x="3493384" y="1965788"/>
            <a:ext cx="5511626" cy="3837063"/>
          </a:xfrm>
          <a:prstGeom prst="rect">
            <a:avLst/>
          </a:prstGeom>
          <a:effectLst>
            <a:outerShdw blurRad="63500" sx="102000" sy="102000" algn="ctr" rotWithShape="0">
              <a:prstClr val="black">
                <a:alpha val="40000"/>
              </a:prstClr>
            </a:outerShdw>
          </a:effectLst>
        </p:spPr>
      </p:pic>
      <p:sp>
        <p:nvSpPr>
          <p:cNvPr id="9" name="矩形 8"/>
          <p:cNvSpPr/>
          <p:nvPr/>
        </p:nvSpPr>
        <p:spPr>
          <a:xfrm>
            <a:off x="9985169" y="1415907"/>
            <a:ext cx="590237" cy="4833544"/>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lumMod val="50000"/>
                  </a:schemeClr>
                </a:solidFill>
                <a:latin typeface="微软雅黑" panose="020B0503020204020204" charset="-122"/>
                <a:ea typeface="微软雅黑" panose="020B0503020204020204" charset="-122"/>
              </a:rPr>
              <a:t>测试登录页是否可以正常访问</a:t>
            </a:r>
            <a:endParaRPr lang="zh-CN" altLang="en-US" b="1" dirty="0">
              <a:solidFill>
                <a:schemeClr val="tx1">
                  <a:lumMod val="50000"/>
                </a:schemeClr>
              </a:solidFill>
              <a:latin typeface="微软雅黑" panose="020B0503020204020204" charset="-122"/>
              <a:ea typeface="微软雅黑" panose="020B0503020204020204" charset="-122"/>
            </a:endParaRPr>
          </a:p>
        </p:txBody>
      </p:sp>
      <p:sp>
        <p:nvSpPr>
          <p:cNvPr id="3" name="矩形 2"/>
          <p:cNvSpPr/>
          <p:nvPr/>
        </p:nvSpPr>
        <p:spPr>
          <a:xfrm>
            <a:off x="11048354" y="1415907"/>
            <a:ext cx="590237" cy="4833544"/>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lumMod val="50000"/>
                  </a:schemeClr>
                </a:solidFill>
                <a:latin typeface="微软雅黑" panose="020B0503020204020204" charset="-122"/>
                <a:ea typeface="微软雅黑" panose="020B0503020204020204" charset="-122"/>
              </a:rPr>
              <a:t>根据数据记住用户并登录功能</a:t>
            </a:r>
            <a:endParaRPr lang="zh-CN" altLang="en-US" b="1" dirty="0">
              <a:solidFill>
                <a:schemeClr val="tx1">
                  <a:lumMod val="50000"/>
                </a:schemeClr>
              </a:solidFill>
              <a:latin typeface="微软雅黑" panose="020B0503020204020204" charset="-122"/>
              <a:ea typeface="微软雅黑" panose="020B0503020204020204" charset="-122"/>
            </a:endParaRPr>
          </a:p>
        </p:txBody>
      </p:sp>
      <p:sp>
        <p:nvSpPr>
          <p:cNvPr id="15" name="矩形 14"/>
          <p:cNvSpPr/>
          <p:nvPr/>
        </p:nvSpPr>
        <p:spPr>
          <a:xfrm>
            <a:off x="-33655" y="-63062"/>
            <a:ext cx="212574" cy="369331"/>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190994" y="-37583"/>
            <a:ext cx="1757623" cy="369332"/>
          </a:xfrm>
          <a:prstGeom prst="rect">
            <a:avLst/>
          </a:prstGeom>
          <a:noFill/>
        </p:spPr>
        <p:txBody>
          <a:bodyPr wrap="square" rtlCol="0">
            <a:spAutoFit/>
          </a:bodyPr>
          <a:lstStyle/>
          <a:p>
            <a:r>
              <a:rPr lang="zh-CN" altLang="en-US" b="1" dirty="0"/>
              <a:t>测试用例设计</a:t>
            </a:r>
            <a:endParaRPr lang="zh-CN" altLang="en-US" b="1"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33655" y="306269"/>
            <a:ext cx="3891091" cy="730685"/>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a:p>
        </p:txBody>
      </p:sp>
      <p:sp>
        <p:nvSpPr>
          <p:cNvPr id="66" name="矩形: 圆角 65"/>
          <p:cNvSpPr/>
          <p:nvPr/>
        </p:nvSpPr>
        <p:spPr>
          <a:xfrm>
            <a:off x="3135650" y="1415908"/>
            <a:ext cx="6708339" cy="4833543"/>
          </a:xfrm>
          <a:prstGeom prst="roundRect">
            <a:avLst>
              <a:gd name="adj" fmla="val 4401"/>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932816" y="410210"/>
            <a:ext cx="2705866" cy="523220"/>
          </a:xfrm>
          <a:prstGeom prst="rect">
            <a:avLst/>
          </a:prstGeom>
          <a:noFill/>
        </p:spPr>
        <p:txBody>
          <a:bodyPr wrap="square" rtlCol="0">
            <a:spAutoFit/>
          </a:bodyPr>
          <a:lstStyle/>
          <a:p>
            <a:pPr algn="l"/>
            <a:r>
              <a:rPr lang="zh-CN" altLang="en-US" sz="2800" b="1" dirty="0">
                <a:solidFill>
                  <a:schemeClr val="bg1"/>
                </a:solidFill>
                <a:sym typeface="+mn-ea"/>
              </a:rPr>
              <a:t>用户功能测试</a:t>
            </a:r>
            <a:endParaRPr lang="zh-CN" altLang="en-US" sz="2800" b="1" dirty="0">
              <a:solidFill>
                <a:schemeClr val="bg1"/>
              </a:solidFill>
              <a:sym typeface="+mn-ea"/>
            </a:endParaRPr>
          </a:p>
        </p:txBody>
      </p:sp>
      <p:sp>
        <p:nvSpPr>
          <p:cNvPr id="6" name="等腰三角形 5"/>
          <p:cNvSpPr/>
          <p:nvPr/>
        </p:nvSpPr>
        <p:spPr>
          <a:xfrm rot="5400000">
            <a:off x="309245" y="503555"/>
            <a:ext cx="445770" cy="334645"/>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3" name="组合 32"/>
          <p:cNvGrpSpPr/>
          <p:nvPr/>
        </p:nvGrpSpPr>
        <p:grpSpPr>
          <a:xfrm>
            <a:off x="290705" y="2550772"/>
            <a:ext cx="2538548" cy="3147527"/>
            <a:chOff x="1088572" y="2593909"/>
            <a:chExt cx="2724538" cy="3147527"/>
          </a:xfrm>
        </p:grpSpPr>
        <p:sp>
          <p:nvSpPr>
            <p:cNvPr id="38" name="矩形 37"/>
            <p:cNvSpPr/>
            <p:nvPr/>
          </p:nvSpPr>
          <p:spPr>
            <a:xfrm>
              <a:off x="1088572" y="2593909"/>
              <a:ext cx="2724538" cy="3147527"/>
            </a:xfrm>
            <a:prstGeom prst="rect">
              <a:avLst/>
            </a:prstGeom>
            <a:noFill/>
            <a:ln w="3810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p:cNvSpPr/>
            <p:nvPr/>
          </p:nvSpPr>
          <p:spPr>
            <a:xfrm>
              <a:off x="1330231" y="2854821"/>
              <a:ext cx="2204914" cy="487785"/>
            </a:xfrm>
            <a:prstGeom prst="rect">
              <a:avLst/>
            </a:prstGeom>
            <a:solidFill>
              <a:srgbClr val="DEEBF7"/>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微软雅黑" panose="020B0503020204020204" charset="-122"/>
                  <a:ea typeface="微软雅黑" panose="020B0503020204020204" charset="-122"/>
                </a:rPr>
                <a:t>注册页访问</a:t>
              </a:r>
              <a:endParaRPr lang="zh-CN" altLang="en-US" b="1" dirty="0">
                <a:solidFill>
                  <a:schemeClr val="tx1"/>
                </a:solidFill>
                <a:latin typeface="微软雅黑" panose="020B0503020204020204" charset="-122"/>
                <a:ea typeface="微软雅黑" panose="020B0503020204020204" charset="-122"/>
              </a:endParaRPr>
            </a:p>
          </p:txBody>
        </p:sp>
        <p:sp>
          <p:nvSpPr>
            <p:cNvPr id="40" name="矩形 39"/>
            <p:cNvSpPr/>
            <p:nvPr/>
          </p:nvSpPr>
          <p:spPr>
            <a:xfrm>
              <a:off x="1330231" y="3560926"/>
              <a:ext cx="2204914" cy="487786"/>
            </a:xfrm>
            <a:prstGeom prst="rect">
              <a:avLst/>
            </a:prstGeom>
            <a:solidFill>
              <a:srgbClr val="DEEBF7"/>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微软雅黑" panose="020B0503020204020204" charset="-122"/>
                  <a:ea typeface="微软雅黑" panose="020B0503020204020204" charset="-122"/>
                </a:rPr>
                <a:t>登录页访问</a:t>
              </a:r>
              <a:endParaRPr lang="zh-CN" altLang="en-US" b="1" dirty="0">
                <a:solidFill>
                  <a:schemeClr val="tx1"/>
                </a:solidFill>
                <a:latin typeface="微软雅黑" panose="020B0503020204020204" charset="-122"/>
                <a:ea typeface="微软雅黑" panose="020B0503020204020204" charset="-122"/>
              </a:endParaRPr>
            </a:p>
          </p:txBody>
        </p:sp>
        <p:sp>
          <p:nvSpPr>
            <p:cNvPr id="41" name="矩形 40"/>
            <p:cNvSpPr/>
            <p:nvPr/>
          </p:nvSpPr>
          <p:spPr>
            <a:xfrm>
              <a:off x="1330231" y="4267032"/>
              <a:ext cx="2204914" cy="487786"/>
            </a:xfrm>
            <a:prstGeom prst="rect">
              <a:avLst/>
            </a:prstGeom>
            <a:solidFill>
              <a:srgbClr val="DEEBF7"/>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微软雅黑" panose="020B0503020204020204" charset="-122"/>
                  <a:ea typeface="微软雅黑" panose="020B0503020204020204" charset="-122"/>
                </a:rPr>
                <a:t>记住用户</a:t>
              </a:r>
              <a:endParaRPr lang="zh-CN" altLang="en-US" b="1" dirty="0">
                <a:solidFill>
                  <a:schemeClr val="tx1"/>
                </a:solidFill>
                <a:latin typeface="微软雅黑" panose="020B0503020204020204" charset="-122"/>
                <a:ea typeface="微软雅黑" panose="020B0503020204020204" charset="-122"/>
              </a:endParaRPr>
            </a:p>
          </p:txBody>
        </p:sp>
        <p:sp>
          <p:nvSpPr>
            <p:cNvPr id="42" name="矩形 41"/>
            <p:cNvSpPr/>
            <p:nvPr/>
          </p:nvSpPr>
          <p:spPr>
            <a:xfrm>
              <a:off x="1330231" y="4973138"/>
              <a:ext cx="2204914" cy="487786"/>
            </a:xfrm>
            <a:prstGeom prst="rect">
              <a:avLst/>
            </a:prstGeom>
            <a:solidFill>
              <a:srgbClr val="DEEBF7"/>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C00000"/>
                  </a:solidFill>
                  <a:latin typeface="微软雅黑" panose="020B0503020204020204" charset="-122"/>
                  <a:ea typeface="微软雅黑" panose="020B0503020204020204" charset="-122"/>
                </a:rPr>
                <a:t>用户信息显示</a:t>
              </a:r>
              <a:endParaRPr lang="zh-CN" altLang="en-US" b="1" dirty="0">
                <a:solidFill>
                  <a:srgbClr val="C00000"/>
                </a:solidFill>
                <a:latin typeface="微软雅黑" panose="020B0503020204020204" charset="-122"/>
                <a:ea typeface="微软雅黑" panose="020B0503020204020204" charset="-122"/>
              </a:endParaRPr>
            </a:p>
          </p:txBody>
        </p:sp>
      </p:grpSp>
      <p:sp>
        <p:nvSpPr>
          <p:cNvPr id="43" name="矩形: 圆角 42"/>
          <p:cNvSpPr/>
          <p:nvPr/>
        </p:nvSpPr>
        <p:spPr>
          <a:xfrm>
            <a:off x="572902" y="1747040"/>
            <a:ext cx="1940326" cy="523220"/>
          </a:xfrm>
          <a:prstGeom prst="roundRect">
            <a:avLst/>
          </a:prstGeom>
          <a:solidFill>
            <a:srgbClr val="E7E6E6"/>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2F5597"/>
                </a:solidFill>
                <a:latin typeface="微软雅黑" panose="020B0503020204020204" charset="-122"/>
                <a:ea typeface="微软雅黑" panose="020B0503020204020204" charset="-122"/>
              </a:rPr>
              <a:t>测试内容</a:t>
            </a:r>
            <a:endParaRPr lang="zh-CN" altLang="en-US" sz="2400" b="1" dirty="0">
              <a:solidFill>
                <a:srgbClr val="2F5597"/>
              </a:solidFill>
              <a:latin typeface="微软雅黑" panose="020B0503020204020204" charset="-122"/>
              <a:ea typeface="微软雅黑" panose="020B0503020204020204" charset="-122"/>
            </a:endParaRPr>
          </a:p>
        </p:txBody>
      </p:sp>
      <p:sp>
        <p:nvSpPr>
          <p:cNvPr id="48" name="圆角矩形 51"/>
          <p:cNvSpPr/>
          <p:nvPr/>
        </p:nvSpPr>
        <p:spPr>
          <a:xfrm>
            <a:off x="5317924" y="1137775"/>
            <a:ext cx="2343789" cy="390407"/>
          </a:xfrm>
          <a:prstGeom prst="roundRect">
            <a:avLst/>
          </a:prstGeom>
          <a:solidFill>
            <a:schemeClr val="accent1">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微软雅黑" panose="020B0503020204020204" charset="-122"/>
                <a:ea typeface="微软雅黑" panose="020B0503020204020204" charset="-122"/>
              </a:rPr>
              <a:t>用户界面</a:t>
            </a:r>
            <a:endParaRPr lang="zh-CN" altLang="en-US" b="1" dirty="0">
              <a:solidFill>
                <a:schemeClr val="tx1"/>
              </a:solidFill>
              <a:latin typeface="微软雅黑" panose="020B0503020204020204" charset="-122"/>
              <a:ea typeface="微软雅黑" panose="020B0503020204020204" charset="-122"/>
            </a:endParaRPr>
          </a:p>
        </p:txBody>
      </p:sp>
      <p:sp>
        <p:nvSpPr>
          <p:cNvPr id="10" name="矩形 9"/>
          <p:cNvSpPr/>
          <p:nvPr/>
        </p:nvSpPr>
        <p:spPr>
          <a:xfrm>
            <a:off x="10466411" y="1415908"/>
            <a:ext cx="590237" cy="4826240"/>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lumMod val="50000"/>
                  </a:schemeClr>
                </a:solidFill>
                <a:latin typeface="微软雅黑" panose="020B0503020204020204" charset="-122"/>
              </a:rPr>
              <a:t>测试用户个人信息是否匹配</a:t>
            </a:r>
            <a:endParaRPr lang="zh-CN" altLang="en-US" b="1" dirty="0">
              <a:solidFill>
                <a:schemeClr val="tx1">
                  <a:lumMod val="50000"/>
                </a:schemeClr>
              </a:solidFill>
              <a:latin typeface="微软雅黑" panose="020B0503020204020204" charset="-122"/>
            </a:endParaRPr>
          </a:p>
        </p:txBody>
      </p:sp>
      <p:pic>
        <p:nvPicPr>
          <p:cNvPr id="2" name="图片 1"/>
          <p:cNvPicPr>
            <a:picLocks noChangeAspect="1"/>
          </p:cNvPicPr>
          <p:nvPr/>
        </p:nvPicPr>
        <p:blipFill>
          <a:blip r:embed="rId1" cstate="print">
            <a:extLst>
              <a:ext uri="{28A0092B-C50C-407E-A947-70E740481C1C}">
                <a14:useLocalDpi xmlns:a14="http://schemas.microsoft.com/office/drawing/2010/main" val="0"/>
              </a:ext>
            </a:extLst>
          </a:blip>
          <a:srcRect l="6316" t="-361" r="6193"/>
          <a:stretch>
            <a:fillRect/>
          </a:stretch>
        </p:blipFill>
        <p:spPr>
          <a:xfrm>
            <a:off x="3420120" y="1925792"/>
            <a:ext cx="6139398" cy="3964206"/>
          </a:xfrm>
          <a:prstGeom prst="rect">
            <a:avLst/>
          </a:prstGeom>
          <a:effectLst>
            <a:outerShdw blurRad="63500" sx="102000" sy="102000" algn="ctr" rotWithShape="0">
              <a:prstClr val="black">
                <a:alpha val="40000"/>
              </a:prstClr>
            </a:outerShdw>
          </a:effectLst>
        </p:spPr>
      </p:pic>
      <p:sp>
        <p:nvSpPr>
          <p:cNvPr id="3" name="矩形 2"/>
          <p:cNvSpPr/>
          <p:nvPr/>
        </p:nvSpPr>
        <p:spPr>
          <a:xfrm>
            <a:off x="-33655" y="-63062"/>
            <a:ext cx="212574" cy="369331"/>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190994" y="-37583"/>
            <a:ext cx="1757623" cy="369332"/>
          </a:xfrm>
          <a:prstGeom prst="rect">
            <a:avLst/>
          </a:prstGeom>
          <a:noFill/>
        </p:spPr>
        <p:txBody>
          <a:bodyPr wrap="square" rtlCol="0">
            <a:spAutoFit/>
          </a:bodyPr>
          <a:lstStyle/>
          <a:p>
            <a:r>
              <a:rPr lang="zh-CN" altLang="en-US" b="1" dirty="0"/>
              <a:t>测试用例设计</a:t>
            </a:r>
            <a:endParaRPr lang="zh-CN" altLang="en-US" b="1"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矩形 84"/>
          <p:cNvSpPr/>
          <p:nvPr/>
        </p:nvSpPr>
        <p:spPr>
          <a:xfrm>
            <a:off x="-33655" y="306269"/>
            <a:ext cx="3891091" cy="730685"/>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a:p>
        </p:txBody>
      </p:sp>
      <p:sp>
        <p:nvSpPr>
          <p:cNvPr id="5" name="文本框 4"/>
          <p:cNvSpPr txBox="1"/>
          <p:nvPr/>
        </p:nvSpPr>
        <p:spPr>
          <a:xfrm>
            <a:off x="932815" y="410210"/>
            <a:ext cx="3521075" cy="523220"/>
          </a:xfrm>
          <a:prstGeom prst="rect">
            <a:avLst/>
          </a:prstGeom>
          <a:noFill/>
        </p:spPr>
        <p:txBody>
          <a:bodyPr wrap="square" rtlCol="0">
            <a:spAutoFit/>
          </a:bodyPr>
          <a:lstStyle/>
          <a:p>
            <a:pPr algn="l"/>
            <a:r>
              <a:rPr lang="zh-CN" altLang="en-US" sz="2800" b="1" dirty="0">
                <a:solidFill>
                  <a:schemeClr val="bg1"/>
                </a:solidFill>
                <a:sym typeface="+mn-ea"/>
              </a:rPr>
              <a:t>商品功能测试</a:t>
            </a:r>
            <a:endParaRPr lang="zh-CN" altLang="en-US" sz="2800" b="1" dirty="0">
              <a:solidFill>
                <a:schemeClr val="bg1"/>
              </a:solidFill>
              <a:sym typeface="+mn-ea"/>
            </a:endParaRPr>
          </a:p>
        </p:txBody>
      </p:sp>
      <p:sp>
        <p:nvSpPr>
          <p:cNvPr id="6" name="等腰三角形 5"/>
          <p:cNvSpPr/>
          <p:nvPr/>
        </p:nvSpPr>
        <p:spPr>
          <a:xfrm rot="5400000">
            <a:off x="309245" y="503555"/>
            <a:ext cx="445770" cy="334645"/>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矩形 82"/>
          <p:cNvSpPr/>
          <p:nvPr/>
        </p:nvSpPr>
        <p:spPr>
          <a:xfrm>
            <a:off x="-33655" y="-63062"/>
            <a:ext cx="212574" cy="369331"/>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文本框 83"/>
          <p:cNvSpPr txBox="1"/>
          <p:nvPr/>
        </p:nvSpPr>
        <p:spPr>
          <a:xfrm>
            <a:off x="190994" y="-37583"/>
            <a:ext cx="1757623" cy="369332"/>
          </a:xfrm>
          <a:prstGeom prst="rect">
            <a:avLst/>
          </a:prstGeom>
          <a:noFill/>
        </p:spPr>
        <p:txBody>
          <a:bodyPr wrap="square" rtlCol="0">
            <a:spAutoFit/>
          </a:bodyPr>
          <a:lstStyle/>
          <a:p>
            <a:r>
              <a:rPr lang="zh-CN" altLang="en-US" b="1" dirty="0"/>
              <a:t>测试用例设计</a:t>
            </a:r>
            <a:endParaRPr lang="zh-CN" altLang="en-US" b="1" dirty="0"/>
          </a:p>
        </p:txBody>
      </p:sp>
      <p:grpSp>
        <p:nvGrpSpPr>
          <p:cNvPr id="99" name="组合 98"/>
          <p:cNvGrpSpPr/>
          <p:nvPr/>
        </p:nvGrpSpPr>
        <p:grpSpPr>
          <a:xfrm>
            <a:off x="1422278" y="1204544"/>
            <a:ext cx="4341596" cy="2629190"/>
            <a:chOff x="6355194" y="1147662"/>
            <a:chExt cx="4341596" cy="2629190"/>
          </a:xfrm>
        </p:grpSpPr>
        <p:grpSp>
          <p:nvGrpSpPr>
            <p:cNvPr id="89" name="组合 88"/>
            <p:cNvGrpSpPr/>
            <p:nvPr/>
          </p:nvGrpSpPr>
          <p:grpSpPr>
            <a:xfrm>
              <a:off x="6355194" y="1147662"/>
              <a:ext cx="4341596" cy="2629190"/>
              <a:chOff x="3188015" y="1173602"/>
              <a:chExt cx="4341596" cy="2629190"/>
            </a:xfrm>
          </p:grpSpPr>
          <p:sp>
            <p:nvSpPr>
              <p:cNvPr id="66" name="矩形: 圆角 65"/>
              <p:cNvSpPr/>
              <p:nvPr/>
            </p:nvSpPr>
            <p:spPr>
              <a:xfrm>
                <a:off x="3520671" y="1173602"/>
                <a:ext cx="4008940" cy="2629190"/>
              </a:xfrm>
              <a:prstGeom prst="roundRect">
                <a:avLst>
                  <a:gd name="adj" fmla="val 4401"/>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圆角矩形 51"/>
              <p:cNvSpPr/>
              <p:nvPr/>
            </p:nvSpPr>
            <p:spPr>
              <a:xfrm>
                <a:off x="3188015" y="1621230"/>
                <a:ext cx="537636" cy="1489286"/>
              </a:xfrm>
              <a:prstGeom prst="roundRect">
                <a:avLst/>
              </a:prstGeom>
              <a:solidFill>
                <a:schemeClr val="accent1">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微软雅黑" panose="020B0503020204020204" charset="-122"/>
                    <a:ea typeface="微软雅黑" panose="020B0503020204020204" charset="-122"/>
                  </a:rPr>
                  <a:t>首页展示</a:t>
                </a:r>
                <a:endParaRPr lang="zh-CN" altLang="en-US" b="1" dirty="0">
                  <a:solidFill>
                    <a:schemeClr val="tx1"/>
                  </a:solidFill>
                  <a:latin typeface="微软雅黑" panose="020B0503020204020204" charset="-122"/>
                  <a:ea typeface="微软雅黑" panose="020B0503020204020204" charset="-122"/>
                </a:endParaRPr>
              </a:p>
            </p:txBody>
          </p:sp>
          <p:pic>
            <p:nvPicPr>
              <p:cNvPr id="86" name="图片 85"/>
              <p:cNvPicPr>
                <a:picLocks noChangeAspect="1"/>
              </p:cNvPicPr>
              <p:nvPr/>
            </p:nvPicPr>
            <p:blipFill>
              <a:blip r:embed="rId1"/>
              <a:stretch>
                <a:fillRect/>
              </a:stretch>
            </p:blipFill>
            <p:spPr>
              <a:xfrm>
                <a:off x="4110746" y="1431908"/>
                <a:ext cx="2880956" cy="2084690"/>
              </a:xfrm>
              <a:prstGeom prst="rect">
                <a:avLst/>
              </a:prstGeom>
              <a:effectLst>
                <a:outerShdw blurRad="63500" sx="102000" sy="102000" algn="ctr" rotWithShape="0">
                  <a:prstClr val="black">
                    <a:alpha val="40000"/>
                  </a:prstClr>
                </a:outerShdw>
              </a:effectLst>
            </p:spPr>
          </p:pic>
        </p:grpSp>
        <p:sp>
          <p:nvSpPr>
            <p:cNvPr id="74" name="矩形 73"/>
            <p:cNvSpPr/>
            <p:nvPr/>
          </p:nvSpPr>
          <p:spPr>
            <a:xfrm>
              <a:off x="7018808" y="3358629"/>
              <a:ext cx="3354968" cy="416646"/>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lumMod val="50000"/>
                    </a:schemeClr>
                  </a:solidFill>
                  <a:latin typeface="微软雅黑" panose="020B0503020204020204" charset="-122"/>
                  <a:ea typeface="微软雅黑" panose="020B0503020204020204" charset="-122"/>
                </a:rPr>
                <a:t>首页商品界面显示是否正常</a:t>
              </a:r>
              <a:endParaRPr lang="zh-CN" altLang="en-US" b="1" dirty="0">
                <a:solidFill>
                  <a:schemeClr val="tx1">
                    <a:lumMod val="50000"/>
                  </a:schemeClr>
                </a:solidFill>
                <a:latin typeface="微软雅黑" panose="020B0503020204020204" charset="-122"/>
                <a:ea typeface="微软雅黑" panose="020B0503020204020204" charset="-122"/>
              </a:endParaRPr>
            </a:p>
          </p:txBody>
        </p:sp>
      </p:grpSp>
      <p:grpSp>
        <p:nvGrpSpPr>
          <p:cNvPr id="98" name="组合 97"/>
          <p:cNvGrpSpPr/>
          <p:nvPr/>
        </p:nvGrpSpPr>
        <p:grpSpPr>
          <a:xfrm>
            <a:off x="6428128" y="1204544"/>
            <a:ext cx="4359159" cy="2629190"/>
            <a:chOff x="1404715" y="3999545"/>
            <a:chExt cx="4359159" cy="2629190"/>
          </a:xfrm>
        </p:grpSpPr>
        <p:grpSp>
          <p:nvGrpSpPr>
            <p:cNvPr id="90" name="组合 89"/>
            <p:cNvGrpSpPr/>
            <p:nvPr/>
          </p:nvGrpSpPr>
          <p:grpSpPr>
            <a:xfrm>
              <a:off x="1404715" y="3999545"/>
              <a:ext cx="4359159" cy="2629190"/>
              <a:chOff x="3170453" y="3927471"/>
              <a:chExt cx="4359159" cy="2629190"/>
            </a:xfrm>
          </p:grpSpPr>
          <p:sp>
            <p:nvSpPr>
              <p:cNvPr id="71" name="矩形: 圆角 70"/>
              <p:cNvSpPr/>
              <p:nvPr/>
            </p:nvSpPr>
            <p:spPr>
              <a:xfrm>
                <a:off x="3520672" y="3927471"/>
                <a:ext cx="4008940" cy="2629190"/>
              </a:xfrm>
              <a:prstGeom prst="roundRect">
                <a:avLst>
                  <a:gd name="adj" fmla="val 4401"/>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圆角矩形 51"/>
              <p:cNvSpPr/>
              <p:nvPr/>
            </p:nvSpPr>
            <p:spPr>
              <a:xfrm>
                <a:off x="3170453" y="4375098"/>
                <a:ext cx="537637" cy="1489286"/>
              </a:xfrm>
              <a:prstGeom prst="roundRect">
                <a:avLst/>
              </a:prstGeom>
              <a:solidFill>
                <a:schemeClr val="accent1">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微软雅黑" panose="020B0503020204020204" charset="-122"/>
                    <a:ea typeface="微软雅黑" panose="020B0503020204020204" charset="-122"/>
                  </a:rPr>
                  <a:t>商品信息</a:t>
                </a:r>
                <a:endParaRPr lang="zh-CN" altLang="en-US" b="1" dirty="0">
                  <a:solidFill>
                    <a:schemeClr val="tx1"/>
                  </a:solidFill>
                  <a:latin typeface="微软雅黑" panose="020B0503020204020204" charset="-122"/>
                  <a:ea typeface="微软雅黑" panose="020B0503020204020204" charset="-122"/>
                </a:endParaRPr>
              </a:p>
            </p:txBody>
          </p:sp>
          <p:pic>
            <p:nvPicPr>
              <p:cNvPr id="87" name="图片 86"/>
              <p:cNvPicPr>
                <a:picLocks noChangeAspect="1"/>
              </p:cNvPicPr>
              <p:nvPr/>
            </p:nvPicPr>
            <p:blipFill>
              <a:blip r:embed="rId2"/>
              <a:stretch>
                <a:fillRect/>
              </a:stretch>
            </p:blipFill>
            <p:spPr>
              <a:xfrm>
                <a:off x="3963228" y="4102191"/>
                <a:ext cx="3123827" cy="2269002"/>
              </a:xfrm>
              <a:prstGeom prst="rect">
                <a:avLst/>
              </a:prstGeom>
              <a:effectLst>
                <a:outerShdw blurRad="63500" sx="102000" sy="102000" algn="ctr" rotWithShape="0">
                  <a:prstClr val="black">
                    <a:alpha val="40000"/>
                  </a:prstClr>
                </a:outerShdw>
              </a:effectLst>
            </p:spPr>
          </p:pic>
        </p:grpSp>
        <p:sp>
          <p:nvSpPr>
            <p:cNvPr id="73" name="矩形 72"/>
            <p:cNvSpPr/>
            <p:nvPr/>
          </p:nvSpPr>
          <p:spPr>
            <a:xfrm>
              <a:off x="1959913" y="6224226"/>
              <a:ext cx="3602161" cy="387706"/>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lumMod val="50000"/>
                    </a:schemeClr>
                  </a:solidFill>
                  <a:latin typeface="微软雅黑" panose="020B0503020204020204" charset="-122"/>
                  <a:ea typeface="微软雅黑" panose="020B0503020204020204" charset="-122"/>
                </a:rPr>
                <a:t>单击商品，显示商品详情</a:t>
              </a:r>
              <a:endParaRPr lang="zh-CN" altLang="en-US" b="1" dirty="0">
                <a:solidFill>
                  <a:schemeClr val="tx1">
                    <a:lumMod val="50000"/>
                  </a:schemeClr>
                </a:solidFill>
                <a:latin typeface="微软雅黑" panose="020B0503020204020204" charset="-122"/>
                <a:ea typeface="微软雅黑" panose="020B0503020204020204" charset="-122"/>
              </a:endParaRPr>
            </a:p>
          </p:txBody>
        </p:sp>
      </p:grpSp>
      <p:grpSp>
        <p:nvGrpSpPr>
          <p:cNvPr id="97" name="组合 96"/>
          <p:cNvGrpSpPr/>
          <p:nvPr/>
        </p:nvGrpSpPr>
        <p:grpSpPr>
          <a:xfrm>
            <a:off x="1368777" y="3995168"/>
            <a:ext cx="4395097" cy="2629190"/>
            <a:chOff x="6412293" y="3999544"/>
            <a:chExt cx="4286285" cy="2629190"/>
          </a:xfrm>
        </p:grpSpPr>
        <p:grpSp>
          <p:nvGrpSpPr>
            <p:cNvPr id="93" name="组合 92"/>
            <p:cNvGrpSpPr/>
            <p:nvPr/>
          </p:nvGrpSpPr>
          <p:grpSpPr>
            <a:xfrm>
              <a:off x="6412293" y="3999544"/>
              <a:ext cx="4286285" cy="2629190"/>
              <a:chOff x="7747009" y="3922541"/>
              <a:chExt cx="4286285" cy="2629190"/>
            </a:xfrm>
          </p:grpSpPr>
          <p:sp>
            <p:nvSpPr>
              <p:cNvPr id="91" name="矩形: 圆角 90"/>
              <p:cNvSpPr/>
              <p:nvPr/>
            </p:nvSpPr>
            <p:spPr>
              <a:xfrm>
                <a:off x="8123605" y="3922541"/>
                <a:ext cx="3909689" cy="2629190"/>
              </a:xfrm>
              <a:prstGeom prst="roundRect">
                <a:avLst>
                  <a:gd name="adj" fmla="val 4401"/>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圆角矩形 51"/>
              <p:cNvSpPr/>
              <p:nvPr/>
            </p:nvSpPr>
            <p:spPr>
              <a:xfrm>
                <a:off x="7747009" y="4345568"/>
                <a:ext cx="537636" cy="1489287"/>
              </a:xfrm>
              <a:prstGeom prst="roundRect">
                <a:avLst/>
              </a:prstGeom>
              <a:solidFill>
                <a:schemeClr val="accent1">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微软雅黑" panose="020B0503020204020204" charset="-122"/>
                    <a:ea typeface="微软雅黑" panose="020B0503020204020204" charset="-122"/>
                  </a:rPr>
                  <a:t>搜索功能</a:t>
                </a:r>
                <a:endParaRPr lang="zh-CN" altLang="en-US" b="1" dirty="0">
                  <a:solidFill>
                    <a:schemeClr val="tx1"/>
                  </a:solidFill>
                  <a:latin typeface="微软雅黑" panose="020B0503020204020204" charset="-122"/>
                  <a:ea typeface="微软雅黑" panose="020B0503020204020204" charset="-122"/>
                </a:endParaRPr>
              </a:p>
            </p:txBody>
          </p:sp>
          <p:pic>
            <p:nvPicPr>
              <p:cNvPr id="88" name="图片 87"/>
              <p:cNvPicPr>
                <a:picLocks noChangeAspect="1"/>
              </p:cNvPicPr>
              <p:nvPr/>
            </p:nvPicPr>
            <p:blipFill>
              <a:blip r:embed="rId3"/>
              <a:stretch>
                <a:fillRect/>
              </a:stretch>
            </p:blipFill>
            <p:spPr>
              <a:xfrm>
                <a:off x="8559786" y="4104476"/>
                <a:ext cx="3088204" cy="2211695"/>
              </a:xfrm>
              <a:prstGeom prst="rect">
                <a:avLst/>
              </a:prstGeom>
            </p:spPr>
          </p:pic>
        </p:grpSp>
        <p:sp>
          <p:nvSpPr>
            <p:cNvPr id="94" name="矩形 93"/>
            <p:cNvSpPr/>
            <p:nvPr/>
          </p:nvSpPr>
          <p:spPr>
            <a:xfrm>
              <a:off x="6968093" y="6224226"/>
              <a:ext cx="3602161" cy="387706"/>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lumMod val="50000"/>
                    </a:schemeClr>
                  </a:solidFill>
                  <a:latin typeface="微软雅黑" panose="020B0503020204020204" charset="-122"/>
                  <a:ea typeface="微软雅黑" panose="020B0503020204020204" charset="-122"/>
                </a:rPr>
                <a:t>根据输入关键字，搜索商品</a:t>
              </a:r>
              <a:endParaRPr lang="zh-CN" altLang="en-US" b="1" dirty="0">
                <a:solidFill>
                  <a:schemeClr val="tx1">
                    <a:lumMod val="50000"/>
                  </a:schemeClr>
                </a:solidFill>
                <a:latin typeface="微软雅黑" panose="020B0503020204020204" charset="-122"/>
                <a:ea typeface="微软雅黑" panose="020B0503020204020204" charset="-122"/>
              </a:endParaRPr>
            </a:p>
          </p:txBody>
        </p:sp>
      </p:grpSp>
      <p:grpSp>
        <p:nvGrpSpPr>
          <p:cNvPr id="96" name="组合 95"/>
          <p:cNvGrpSpPr/>
          <p:nvPr/>
        </p:nvGrpSpPr>
        <p:grpSpPr>
          <a:xfrm>
            <a:off x="6809722" y="4442633"/>
            <a:ext cx="3543669" cy="1953620"/>
            <a:chOff x="1416236" y="1560621"/>
            <a:chExt cx="3543669" cy="1953620"/>
          </a:xfrm>
        </p:grpSpPr>
        <p:grpSp>
          <p:nvGrpSpPr>
            <p:cNvPr id="76" name="组合 75"/>
            <p:cNvGrpSpPr/>
            <p:nvPr/>
          </p:nvGrpSpPr>
          <p:grpSpPr>
            <a:xfrm>
              <a:off x="2905509" y="1560621"/>
              <a:ext cx="2054396" cy="1899997"/>
              <a:chOff x="1330231" y="2854821"/>
              <a:chExt cx="2204914" cy="1899997"/>
            </a:xfrm>
          </p:grpSpPr>
          <p:sp>
            <p:nvSpPr>
              <p:cNvPr id="78" name="矩形 77"/>
              <p:cNvSpPr/>
              <p:nvPr/>
            </p:nvSpPr>
            <p:spPr>
              <a:xfrm>
                <a:off x="1330231" y="2854821"/>
                <a:ext cx="2204914" cy="487785"/>
              </a:xfrm>
              <a:prstGeom prst="rect">
                <a:avLst/>
              </a:prstGeom>
              <a:solidFill>
                <a:srgbClr val="DEEBF7"/>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微软雅黑" panose="020B0503020204020204" charset="-122"/>
                    <a:ea typeface="微软雅黑" panose="020B0503020204020204" charset="-122"/>
                  </a:rPr>
                  <a:t>首页展示</a:t>
                </a:r>
                <a:endParaRPr lang="zh-CN" altLang="en-US" b="1" dirty="0">
                  <a:solidFill>
                    <a:schemeClr val="tx1"/>
                  </a:solidFill>
                  <a:latin typeface="微软雅黑" panose="020B0503020204020204" charset="-122"/>
                  <a:ea typeface="微软雅黑" panose="020B0503020204020204" charset="-122"/>
                </a:endParaRPr>
              </a:p>
            </p:txBody>
          </p:sp>
          <p:sp>
            <p:nvSpPr>
              <p:cNvPr id="79" name="矩形 78"/>
              <p:cNvSpPr/>
              <p:nvPr/>
            </p:nvSpPr>
            <p:spPr>
              <a:xfrm>
                <a:off x="1330231" y="3560926"/>
                <a:ext cx="2204914" cy="487786"/>
              </a:xfrm>
              <a:prstGeom prst="rect">
                <a:avLst/>
              </a:prstGeom>
              <a:solidFill>
                <a:srgbClr val="DEEBF7"/>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微软雅黑" panose="020B0503020204020204" charset="-122"/>
                    <a:ea typeface="微软雅黑" panose="020B0503020204020204" charset="-122"/>
                  </a:rPr>
                  <a:t>商品信息</a:t>
                </a:r>
                <a:endParaRPr lang="zh-CN" altLang="en-US" b="1" dirty="0">
                  <a:solidFill>
                    <a:schemeClr val="tx1"/>
                  </a:solidFill>
                  <a:latin typeface="微软雅黑" panose="020B0503020204020204" charset="-122"/>
                  <a:ea typeface="微软雅黑" panose="020B0503020204020204" charset="-122"/>
                </a:endParaRPr>
              </a:p>
            </p:txBody>
          </p:sp>
          <p:sp>
            <p:nvSpPr>
              <p:cNvPr id="80" name="矩形 79"/>
              <p:cNvSpPr/>
              <p:nvPr/>
            </p:nvSpPr>
            <p:spPr>
              <a:xfrm>
                <a:off x="1330231" y="4267032"/>
                <a:ext cx="2204914" cy="487786"/>
              </a:xfrm>
              <a:prstGeom prst="rect">
                <a:avLst/>
              </a:prstGeom>
              <a:solidFill>
                <a:srgbClr val="DEEBF7"/>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微软雅黑" panose="020B0503020204020204" charset="-122"/>
                    <a:ea typeface="微软雅黑" panose="020B0503020204020204" charset="-122"/>
                  </a:rPr>
                  <a:t>搜索功能</a:t>
                </a:r>
                <a:endParaRPr lang="zh-CN" altLang="en-US" b="1" dirty="0">
                  <a:solidFill>
                    <a:schemeClr val="tx1"/>
                  </a:solidFill>
                  <a:latin typeface="微软雅黑" panose="020B0503020204020204" charset="-122"/>
                  <a:ea typeface="微软雅黑" panose="020B0503020204020204" charset="-122"/>
                </a:endParaRPr>
              </a:p>
            </p:txBody>
          </p:sp>
        </p:grpSp>
        <p:sp>
          <p:nvSpPr>
            <p:cNvPr id="82" name="矩形: 圆角 81"/>
            <p:cNvSpPr/>
            <p:nvPr/>
          </p:nvSpPr>
          <p:spPr>
            <a:xfrm>
              <a:off x="1416236" y="1645863"/>
              <a:ext cx="662712" cy="1783137"/>
            </a:xfrm>
            <a:prstGeom prst="roundRect">
              <a:avLst/>
            </a:prstGeom>
            <a:solidFill>
              <a:srgbClr val="E7E6E6"/>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2F5597"/>
                  </a:solidFill>
                  <a:latin typeface="微软雅黑" panose="020B0503020204020204" charset="-122"/>
                  <a:ea typeface="微软雅黑" panose="020B0503020204020204" charset="-122"/>
                </a:rPr>
                <a:t>测试内容</a:t>
              </a:r>
              <a:endParaRPr lang="zh-CN" altLang="en-US" sz="2400" b="1" dirty="0">
                <a:solidFill>
                  <a:srgbClr val="2F5597"/>
                </a:solidFill>
                <a:latin typeface="微软雅黑" panose="020B0503020204020204" charset="-122"/>
                <a:ea typeface="微软雅黑" panose="020B0503020204020204" charset="-122"/>
              </a:endParaRPr>
            </a:p>
          </p:txBody>
        </p:sp>
        <p:sp>
          <p:nvSpPr>
            <p:cNvPr id="95" name="左大括号 94"/>
            <p:cNvSpPr/>
            <p:nvPr/>
          </p:nvSpPr>
          <p:spPr>
            <a:xfrm>
              <a:off x="2361075" y="1560621"/>
              <a:ext cx="311650" cy="1953620"/>
            </a:xfrm>
            <a:prstGeom prst="leftBrace">
              <a:avLst>
                <a:gd name="adj1" fmla="val 52850"/>
                <a:gd name="adj2" fmla="val 50000"/>
              </a:avLst>
            </a:prstGeom>
            <a:ln w="127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33655" y="306269"/>
            <a:ext cx="3891091" cy="730685"/>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a:p>
        </p:txBody>
      </p:sp>
      <p:sp>
        <p:nvSpPr>
          <p:cNvPr id="5" name="文本框 4"/>
          <p:cNvSpPr txBox="1"/>
          <p:nvPr/>
        </p:nvSpPr>
        <p:spPr>
          <a:xfrm>
            <a:off x="932816" y="410210"/>
            <a:ext cx="2705866" cy="523220"/>
          </a:xfrm>
          <a:prstGeom prst="rect">
            <a:avLst/>
          </a:prstGeom>
          <a:noFill/>
        </p:spPr>
        <p:txBody>
          <a:bodyPr wrap="square" rtlCol="0">
            <a:spAutoFit/>
          </a:bodyPr>
          <a:lstStyle/>
          <a:p>
            <a:pPr algn="l"/>
            <a:r>
              <a:rPr lang="zh-CN" altLang="en-US" sz="2800" b="1" dirty="0">
                <a:solidFill>
                  <a:schemeClr val="bg1"/>
                </a:solidFill>
                <a:sym typeface="+mn-ea"/>
              </a:rPr>
              <a:t>购物车功能测试</a:t>
            </a:r>
            <a:endParaRPr lang="zh-CN" altLang="en-US" sz="2800" b="1" dirty="0">
              <a:solidFill>
                <a:schemeClr val="bg1"/>
              </a:solidFill>
              <a:sym typeface="+mn-ea"/>
            </a:endParaRPr>
          </a:p>
        </p:txBody>
      </p:sp>
      <p:sp>
        <p:nvSpPr>
          <p:cNvPr id="6" name="等腰三角形 5"/>
          <p:cNvSpPr/>
          <p:nvPr/>
        </p:nvSpPr>
        <p:spPr>
          <a:xfrm rot="5400000">
            <a:off x="309245" y="503555"/>
            <a:ext cx="445770" cy="334645"/>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p:cNvGrpSpPr/>
          <p:nvPr/>
        </p:nvGrpSpPr>
        <p:grpSpPr>
          <a:xfrm>
            <a:off x="696612" y="1380806"/>
            <a:ext cx="3404732" cy="4965700"/>
            <a:chOff x="360288" y="1351820"/>
            <a:chExt cx="3404732" cy="4965700"/>
          </a:xfrm>
        </p:grpSpPr>
        <p:grpSp>
          <p:nvGrpSpPr>
            <p:cNvPr id="33" name="组合 32"/>
            <p:cNvGrpSpPr/>
            <p:nvPr/>
          </p:nvGrpSpPr>
          <p:grpSpPr>
            <a:xfrm>
              <a:off x="360288" y="1798351"/>
              <a:ext cx="3404732" cy="4519169"/>
              <a:chOff x="1088572" y="2593909"/>
              <a:chExt cx="2724538" cy="4519169"/>
            </a:xfrm>
          </p:grpSpPr>
          <p:sp>
            <p:nvSpPr>
              <p:cNvPr id="38" name="矩形 37"/>
              <p:cNvSpPr/>
              <p:nvPr/>
            </p:nvSpPr>
            <p:spPr>
              <a:xfrm>
                <a:off x="1088572" y="2593909"/>
                <a:ext cx="2724538" cy="4519169"/>
              </a:xfrm>
              <a:prstGeom prst="rect">
                <a:avLst/>
              </a:prstGeom>
              <a:noFill/>
              <a:ln w="3810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p:cNvSpPr/>
              <p:nvPr/>
            </p:nvSpPr>
            <p:spPr>
              <a:xfrm>
                <a:off x="1330231" y="2854821"/>
                <a:ext cx="2204914" cy="487785"/>
              </a:xfrm>
              <a:prstGeom prst="rect">
                <a:avLst/>
              </a:prstGeom>
              <a:solidFill>
                <a:srgbClr val="DEEBF7"/>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微软雅黑" panose="020B0503020204020204" charset="-122"/>
                    <a:ea typeface="微软雅黑" panose="020B0503020204020204" charset="-122"/>
                  </a:rPr>
                  <a:t>创建购物车</a:t>
                </a:r>
                <a:endParaRPr lang="zh-CN" altLang="en-US" b="1" dirty="0">
                  <a:solidFill>
                    <a:schemeClr val="tx1"/>
                  </a:solidFill>
                  <a:latin typeface="微软雅黑" panose="020B0503020204020204" charset="-122"/>
                  <a:ea typeface="微软雅黑" panose="020B0503020204020204" charset="-122"/>
                </a:endParaRPr>
              </a:p>
            </p:txBody>
          </p:sp>
          <p:sp>
            <p:nvSpPr>
              <p:cNvPr id="40" name="矩形 39"/>
              <p:cNvSpPr/>
              <p:nvPr/>
            </p:nvSpPr>
            <p:spPr>
              <a:xfrm>
                <a:off x="1330231" y="3560926"/>
                <a:ext cx="2204914" cy="487786"/>
              </a:xfrm>
              <a:prstGeom prst="rect">
                <a:avLst/>
              </a:prstGeom>
              <a:solidFill>
                <a:srgbClr val="DEEBF7"/>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微软雅黑" panose="020B0503020204020204" charset="-122"/>
                    <a:ea typeface="微软雅黑" panose="020B0503020204020204" charset="-122"/>
                  </a:rPr>
                  <a:t>未</a:t>
                </a:r>
                <a:r>
                  <a:rPr lang="zh-CN" altLang="en-US" b="1" dirty="0">
                    <a:solidFill>
                      <a:schemeClr val="tx1"/>
                    </a:solidFill>
                    <a:latin typeface="微软雅黑" panose="020B0503020204020204" charset="-122"/>
                    <a:ea typeface="微软雅黑" panose="020B0503020204020204" charset="-122"/>
                  </a:rPr>
                  <a:t>登录进入购物车</a:t>
                </a:r>
                <a:endParaRPr lang="zh-CN" altLang="en-US" b="1" dirty="0">
                  <a:solidFill>
                    <a:schemeClr val="tx1"/>
                  </a:solidFill>
                  <a:latin typeface="微软雅黑" panose="020B0503020204020204" charset="-122"/>
                  <a:ea typeface="微软雅黑" panose="020B0503020204020204" charset="-122"/>
                </a:endParaRPr>
              </a:p>
            </p:txBody>
          </p:sp>
          <p:sp>
            <p:nvSpPr>
              <p:cNvPr id="41" name="矩形 40"/>
              <p:cNvSpPr/>
              <p:nvPr/>
            </p:nvSpPr>
            <p:spPr>
              <a:xfrm>
                <a:off x="1330231" y="4267032"/>
                <a:ext cx="2204914" cy="487786"/>
              </a:xfrm>
              <a:prstGeom prst="rect">
                <a:avLst/>
              </a:prstGeom>
              <a:solidFill>
                <a:srgbClr val="DEEBF7"/>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微软雅黑" panose="020B0503020204020204" charset="-122"/>
                    <a:ea typeface="微软雅黑" panose="020B0503020204020204" charset="-122"/>
                  </a:rPr>
                  <a:t>登录状态进入购物车</a:t>
                </a:r>
                <a:endParaRPr lang="zh-CN" altLang="en-US" b="1" dirty="0">
                  <a:solidFill>
                    <a:schemeClr val="tx1"/>
                  </a:solidFill>
                  <a:latin typeface="微软雅黑" panose="020B0503020204020204" charset="-122"/>
                  <a:ea typeface="微软雅黑" panose="020B0503020204020204" charset="-122"/>
                </a:endParaRPr>
              </a:p>
            </p:txBody>
          </p:sp>
          <p:sp>
            <p:nvSpPr>
              <p:cNvPr id="42" name="矩形 41"/>
              <p:cNvSpPr/>
              <p:nvPr/>
            </p:nvSpPr>
            <p:spPr>
              <a:xfrm>
                <a:off x="1330231" y="4973138"/>
                <a:ext cx="2204914" cy="487786"/>
              </a:xfrm>
              <a:prstGeom prst="rect">
                <a:avLst/>
              </a:prstGeom>
              <a:solidFill>
                <a:srgbClr val="DEEBF7"/>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微软雅黑" panose="020B0503020204020204" charset="-122"/>
                    <a:ea typeface="微软雅黑" panose="020B0503020204020204" charset="-122"/>
                  </a:rPr>
                  <a:t>购物车新增商品</a:t>
                </a:r>
                <a:endParaRPr lang="zh-CN" altLang="en-US" b="1" dirty="0">
                  <a:solidFill>
                    <a:schemeClr val="tx1"/>
                  </a:solidFill>
                  <a:latin typeface="微软雅黑" panose="020B0503020204020204" charset="-122"/>
                  <a:ea typeface="微软雅黑" panose="020B0503020204020204" charset="-122"/>
                </a:endParaRPr>
              </a:p>
            </p:txBody>
          </p:sp>
          <p:sp>
            <p:nvSpPr>
              <p:cNvPr id="12" name="矩形 11"/>
              <p:cNvSpPr/>
              <p:nvPr/>
            </p:nvSpPr>
            <p:spPr>
              <a:xfrm>
                <a:off x="1330231" y="5679244"/>
                <a:ext cx="2204914" cy="487786"/>
              </a:xfrm>
              <a:prstGeom prst="rect">
                <a:avLst/>
              </a:prstGeom>
              <a:solidFill>
                <a:srgbClr val="DEEBF7"/>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微软雅黑" panose="020B0503020204020204" charset="-122"/>
                    <a:ea typeface="微软雅黑" panose="020B0503020204020204" charset="-122"/>
                  </a:rPr>
                  <a:t>编辑购物车</a:t>
                </a:r>
                <a:endParaRPr lang="zh-CN" altLang="en-US" b="1" dirty="0">
                  <a:solidFill>
                    <a:schemeClr val="tx1"/>
                  </a:solidFill>
                  <a:latin typeface="微软雅黑" panose="020B0503020204020204" charset="-122"/>
                  <a:ea typeface="微软雅黑" panose="020B0503020204020204" charset="-122"/>
                </a:endParaRPr>
              </a:p>
            </p:txBody>
          </p:sp>
          <p:sp>
            <p:nvSpPr>
              <p:cNvPr id="13" name="矩形 12"/>
              <p:cNvSpPr/>
              <p:nvPr/>
            </p:nvSpPr>
            <p:spPr>
              <a:xfrm>
                <a:off x="1330231" y="6385350"/>
                <a:ext cx="2204914" cy="487786"/>
              </a:xfrm>
              <a:prstGeom prst="rect">
                <a:avLst/>
              </a:prstGeom>
              <a:solidFill>
                <a:srgbClr val="DEEBF7"/>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微软雅黑" panose="020B0503020204020204" charset="-122"/>
                    <a:ea typeface="微软雅黑" panose="020B0503020204020204" charset="-122"/>
                  </a:rPr>
                  <a:t>删除购物车商品</a:t>
                </a:r>
                <a:endParaRPr lang="zh-CN" altLang="en-US" b="1" dirty="0">
                  <a:solidFill>
                    <a:schemeClr val="tx1"/>
                  </a:solidFill>
                  <a:latin typeface="微软雅黑" panose="020B0503020204020204" charset="-122"/>
                  <a:ea typeface="微软雅黑" panose="020B0503020204020204" charset="-122"/>
                </a:endParaRPr>
              </a:p>
            </p:txBody>
          </p:sp>
        </p:grpSp>
        <p:sp>
          <p:nvSpPr>
            <p:cNvPr id="43" name="矩形: 圆角 42"/>
            <p:cNvSpPr/>
            <p:nvPr/>
          </p:nvSpPr>
          <p:spPr>
            <a:xfrm>
              <a:off x="1069805" y="1351820"/>
              <a:ext cx="1940326" cy="523220"/>
            </a:xfrm>
            <a:prstGeom prst="roundRect">
              <a:avLst/>
            </a:prstGeom>
            <a:solidFill>
              <a:schemeClr val="accent1">
                <a:lumMod val="60000"/>
                <a:lumOff val="4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charset="-122"/>
                  <a:ea typeface="微软雅黑" panose="020B0503020204020204" charset="-122"/>
                </a:rPr>
                <a:t>测试内容</a:t>
              </a:r>
              <a:endParaRPr lang="zh-CN" altLang="en-US" sz="2400" b="1" dirty="0">
                <a:solidFill>
                  <a:schemeClr val="tx1"/>
                </a:solidFill>
                <a:latin typeface="微软雅黑" panose="020B0503020204020204" charset="-122"/>
                <a:ea typeface="微软雅黑" panose="020B0503020204020204" charset="-122"/>
              </a:endParaRPr>
            </a:p>
          </p:txBody>
        </p:sp>
      </p:grpSp>
      <p:sp>
        <p:nvSpPr>
          <p:cNvPr id="3" name="矩形 2"/>
          <p:cNvSpPr/>
          <p:nvPr/>
        </p:nvSpPr>
        <p:spPr>
          <a:xfrm>
            <a:off x="-33655" y="-63062"/>
            <a:ext cx="212574" cy="369331"/>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190994" y="-37583"/>
            <a:ext cx="1757623" cy="369332"/>
          </a:xfrm>
          <a:prstGeom prst="rect">
            <a:avLst/>
          </a:prstGeom>
          <a:noFill/>
        </p:spPr>
        <p:txBody>
          <a:bodyPr wrap="square" rtlCol="0">
            <a:spAutoFit/>
          </a:bodyPr>
          <a:lstStyle/>
          <a:p>
            <a:r>
              <a:rPr lang="zh-CN" altLang="en-US" b="1" dirty="0"/>
              <a:t>测试用例设计</a:t>
            </a:r>
            <a:endParaRPr lang="zh-CN" altLang="en-US" b="1" dirty="0"/>
          </a:p>
        </p:txBody>
      </p:sp>
      <p:grpSp>
        <p:nvGrpSpPr>
          <p:cNvPr id="11" name="组合 10"/>
          <p:cNvGrpSpPr/>
          <p:nvPr/>
        </p:nvGrpSpPr>
        <p:grpSpPr>
          <a:xfrm>
            <a:off x="4791253" y="1380806"/>
            <a:ext cx="6708339" cy="5111676"/>
            <a:chOff x="3135650" y="1137775"/>
            <a:chExt cx="6708339" cy="5111676"/>
          </a:xfrm>
        </p:grpSpPr>
        <p:sp>
          <p:nvSpPr>
            <p:cNvPr id="66" name="矩形: 圆角 65"/>
            <p:cNvSpPr/>
            <p:nvPr/>
          </p:nvSpPr>
          <p:spPr>
            <a:xfrm>
              <a:off x="3135650" y="1415908"/>
              <a:ext cx="6708339" cy="4833543"/>
            </a:xfrm>
            <a:prstGeom prst="roundRect">
              <a:avLst>
                <a:gd name="adj" fmla="val 4401"/>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圆角矩形 51"/>
            <p:cNvSpPr/>
            <p:nvPr/>
          </p:nvSpPr>
          <p:spPr>
            <a:xfrm>
              <a:off x="5317924" y="1137775"/>
              <a:ext cx="2343789" cy="523220"/>
            </a:xfrm>
            <a:prstGeom prst="roundRect">
              <a:avLst/>
            </a:prstGeom>
            <a:solidFill>
              <a:schemeClr val="accent1">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charset="-122"/>
                  <a:ea typeface="微软雅黑" panose="020B0503020204020204" charset="-122"/>
                </a:rPr>
                <a:t>购物车界面</a:t>
              </a:r>
              <a:endParaRPr lang="zh-CN" altLang="en-US" sz="2400" b="1" dirty="0">
                <a:solidFill>
                  <a:schemeClr val="tx1"/>
                </a:solidFill>
                <a:latin typeface="微软雅黑" panose="020B0503020204020204" charset="-122"/>
                <a:ea typeface="微软雅黑" panose="020B0503020204020204" charset="-122"/>
              </a:endParaRPr>
            </a:p>
          </p:txBody>
        </p:sp>
        <p:pic>
          <p:nvPicPr>
            <p:cNvPr id="9" name="图片 8"/>
            <p:cNvPicPr>
              <a:picLocks noChangeAspect="1"/>
            </p:cNvPicPr>
            <p:nvPr/>
          </p:nvPicPr>
          <p:blipFill>
            <a:blip r:embed="rId1"/>
            <a:stretch>
              <a:fillRect/>
            </a:stretch>
          </p:blipFill>
          <p:spPr>
            <a:xfrm>
              <a:off x="3638682" y="1860552"/>
              <a:ext cx="5715511" cy="4031325"/>
            </a:xfrm>
            <a:prstGeom prst="rect">
              <a:avLst/>
            </a:prstGeom>
            <a:effectLst>
              <a:outerShdw blurRad="63500" sx="102000" sy="102000" algn="ctr" rotWithShape="0">
                <a:prstClr val="black">
                  <a:alpha val="40000"/>
                </a:prstClr>
              </a:outerShdw>
            </a:effectLst>
          </p:spPr>
        </p:pic>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33655" y="306269"/>
            <a:ext cx="3891091" cy="730685"/>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a:p>
        </p:txBody>
      </p:sp>
      <p:sp>
        <p:nvSpPr>
          <p:cNvPr id="5" name="文本框 4"/>
          <p:cNvSpPr txBox="1"/>
          <p:nvPr/>
        </p:nvSpPr>
        <p:spPr>
          <a:xfrm>
            <a:off x="932816" y="410210"/>
            <a:ext cx="2705866" cy="523220"/>
          </a:xfrm>
          <a:prstGeom prst="rect">
            <a:avLst/>
          </a:prstGeom>
          <a:noFill/>
        </p:spPr>
        <p:txBody>
          <a:bodyPr wrap="square" rtlCol="0">
            <a:spAutoFit/>
          </a:bodyPr>
          <a:lstStyle/>
          <a:p>
            <a:pPr algn="l"/>
            <a:r>
              <a:rPr lang="zh-CN" altLang="en-US" sz="2800" b="1" dirty="0">
                <a:solidFill>
                  <a:schemeClr val="bg1"/>
                </a:solidFill>
                <a:sym typeface="+mn-ea"/>
              </a:rPr>
              <a:t>订单功能测试</a:t>
            </a:r>
            <a:endParaRPr lang="zh-CN" altLang="en-US" sz="2800" b="1" dirty="0">
              <a:solidFill>
                <a:schemeClr val="bg1"/>
              </a:solidFill>
              <a:sym typeface="+mn-ea"/>
            </a:endParaRPr>
          </a:p>
        </p:txBody>
      </p:sp>
      <p:sp>
        <p:nvSpPr>
          <p:cNvPr id="6" name="等腰三角形 5"/>
          <p:cNvSpPr/>
          <p:nvPr/>
        </p:nvSpPr>
        <p:spPr>
          <a:xfrm rot="5400000">
            <a:off x="309245" y="503555"/>
            <a:ext cx="445770" cy="334645"/>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p:cNvGrpSpPr/>
          <p:nvPr/>
        </p:nvGrpSpPr>
        <p:grpSpPr>
          <a:xfrm>
            <a:off x="696612" y="1380806"/>
            <a:ext cx="3404732" cy="4965700"/>
            <a:chOff x="360288" y="1351820"/>
            <a:chExt cx="3404732" cy="4965700"/>
          </a:xfrm>
        </p:grpSpPr>
        <p:grpSp>
          <p:nvGrpSpPr>
            <p:cNvPr id="33" name="组合 32"/>
            <p:cNvGrpSpPr/>
            <p:nvPr/>
          </p:nvGrpSpPr>
          <p:grpSpPr>
            <a:xfrm>
              <a:off x="360288" y="1798351"/>
              <a:ext cx="3404732" cy="4519169"/>
              <a:chOff x="1088572" y="2593909"/>
              <a:chExt cx="2724538" cy="4519169"/>
            </a:xfrm>
          </p:grpSpPr>
          <p:sp>
            <p:nvSpPr>
              <p:cNvPr id="38" name="矩形 37"/>
              <p:cNvSpPr/>
              <p:nvPr/>
            </p:nvSpPr>
            <p:spPr>
              <a:xfrm>
                <a:off x="1088572" y="2593909"/>
                <a:ext cx="2724538" cy="4519169"/>
              </a:xfrm>
              <a:prstGeom prst="rect">
                <a:avLst/>
              </a:prstGeom>
              <a:noFill/>
              <a:ln w="3810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p:cNvSpPr/>
              <p:nvPr/>
            </p:nvSpPr>
            <p:spPr>
              <a:xfrm>
                <a:off x="1330231" y="2854821"/>
                <a:ext cx="2204914" cy="487785"/>
              </a:xfrm>
              <a:prstGeom prst="rect">
                <a:avLst/>
              </a:prstGeom>
              <a:solidFill>
                <a:srgbClr val="DEEBF7"/>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微软雅黑" panose="020B0503020204020204" charset="-122"/>
                    <a:ea typeface="微软雅黑" panose="020B0503020204020204" charset="-122"/>
                  </a:rPr>
                  <a:t>创建订单</a:t>
                </a:r>
                <a:endParaRPr lang="zh-CN" altLang="en-US" b="1" dirty="0">
                  <a:solidFill>
                    <a:schemeClr val="tx1"/>
                  </a:solidFill>
                  <a:latin typeface="微软雅黑" panose="020B0503020204020204" charset="-122"/>
                  <a:ea typeface="微软雅黑" panose="020B0503020204020204" charset="-122"/>
                </a:endParaRPr>
              </a:p>
            </p:txBody>
          </p:sp>
          <p:sp>
            <p:nvSpPr>
              <p:cNvPr id="40" name="矩形 39"/>
              <p:cNvSpPr/>
              <p:nvPr/>
            </p:nvSpPr>
            <p:spPr>
              <a:xfrm>
                <a:off x="1330231" y="3560926"/>
                <a:ext cx="2204914" cy="487786"/>
              </a:xfrm>
              <a:prstGeom prst="rect">
                <a:avLst/>
              </a:prstGeom>
              <a:solidFill>
                <a:srgbClr val="DEEBF7"/>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微软雅黑" panose="020B0503020204020204" charset="-122"/>
                    <a:ea typeface="微软雅黑" panose="020B0503020204020204" charset="-122"/>
                  </a:rPr>
                  <a:t>订单详情页</a:t>
                </a:r>
                <a:endParaRPr lang="zh-CN" altLang="en-US" b="1" dirty="0">
                  <a:solidFill>
                    <a:schemeClr val="tx1"/>
                  </a:solidFill>
                  <a:latin typeface="微软雅黑" panose="020B0503020204020204" charset="-122"/>
                  <a:ea typeface="微软雅黑" panose="020B0503020204020204" charset="-122"/>
                </a:endParaRPr>
              </a:p>
            </p:txBody>
          </p:sp>
          <p:sp>
            <p:nvSpPr>
              <p:cNvPr id="41" name="矩形 40"/>
              <p:cNvSpPr/>
              <p:nvPr/>
            </p:nvSpPr>
            <p:spPr>
              <a:xfrm>
                <a:off x="1330231" y="4267032"/>
                <a:ext cx="2204914" cy="487786"/>
              </a:xfrm>
              <a:prstGeom prst="rect">
                <a:avLst/>
              </a:prstGeom>
              <a:solidFill>
                <a:srgbClr val="DEEBF7"/>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微软雅黑" panose="020B0503020204020204" charset="-122"/>
                    <a:ea typeface="微软雅黑" panose="020B0503020204020204" charset="-122"/>
                  </a:rPr>
                  <a:t>正常访问下单页</a:t>
                </a:r>
                <a:endParaRPr lang="zh-CN" altLang="en-US" b="1" dirty="0">
                  <a:solidFill>
                    <a:schemeClr val="tx1"/>
                  </a:solidFill>
                  <a:latin typeface="微软雅黑" panose="020B0503020204020204" charset="-122"/>
                  <a:ea typeface="微软雅黑" panose="020B0503020204020204" charset="-122"/>
                </a:endParaRPr>
              </a:p>
            </p:txBody>
          </p:sp>
          <p:sp>
            <p:nvSpPr>
              <p:cNvPr id="42" name="矩形 41"/>
              <p:cNvSpPr/>
              <p:nvPr/>
            </p:nvSpPr>
            <p:spPr>
              <a:xfrm>
                <a:off x="1330231" y="4973138"/>
                <a:ext cx="2204914" cy="487786"/>
              </a:xfrm>
              <a:prstGeom prst="rect">
                <a:avLst/>
              </a:prstGeom>
              <a:solidFill>
                <a:srgbClr val="DEEBF7"/>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微软雅黑" panose="020B0503020204020204" charset="-122"/>
                    <a:ea typeface="微软雅黑" panose="020B0503020204020204" charset="-122"/>
                  </a:rPr>
                  <a:t>非法访问下单页</a:t>
                </a:r>
                <a:endParaRPr lang="zh-CN" altLang="en-US" b="1" dirty="0">
                  <a:solidFill>
                    <a:schemeClr val="tx1"/>
                  </a:solidFill>
                  <a:latin typeface="微软雅黑" panose="020B0503020204020204" charset="-122"/>
                  <a:ea typeface="微软雅黑" panose="020B0503020204020204" charset="-122"/>
                </a:endParaRPr>
              </a:p>
            </p:txBody>
          </p:sp>
          <p:sp>
            <p:nvSpPr>
              <p:cNvPr id="12" name="矩形 11"/>
              <p:cNvSpPr/>
              <p:nvPr/>
            </p:nvSpPr>
            <p:spPr>
              <a:xfrm>
                <a:off x="1330231" y="5679244"/>
                <a:ext cx="2204914" cy="487786"/>
              </a:xfrm>
              <a:prstGeom prst="rect">
                <a:avLst/>
              </a:prstGeom>
              <a:solidFill>
                <a:srgbClr val="DEEBF7"/>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微软雅黑" panose="020B0503020204020204" charset="-122"/>
                    <a:ea typeface="微软雅黑" panose="020B0503020204020204" charset="-122"/>
                  </a:rPr>
                  <a:t>提交订单成功</a:t>
                </a:r>
                <a:endParaRPr lang="zh-CN" altLang="en-US" b="1" dirty="0">
                  <a:solidFill>
                    <a:schemeClr val="tx1"/>
                  </a:solidFill>
                  <a:latin typeface="微软雅黑" panose="020B0503020204020204" charset="-122"/>
                  <a:ea typeface="微软雅黑" panose="020B0503020204020204" charset="-122"/>
                </a:endParaRPr>
              </a:p>
            </p:txBody>
          </p:sp>
          <p:sp>
            <p:nvSpPr>
              <p:cNvPr id="13" name="矩形 12"/>
              <p:cNvSpPr/>
              <p:nvPr/>
            </p:nvSpPr>
            <p:spPr>
              <a:xfrm>
                <a:off x="1330231" y="6385350"/>
                <a:ext cx="2204914" cy="487786"/>
              </a:xfrm>
              <a:prstGeom prst="rect">
                <a:avLst/>
              </a:prstGeom>
              <a:solidFill>
                <a:srgbClr val="DEEBF7"/>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微软雅黑" panose="020B0503020204020204" charset="-122"/>
                    <a:ea typeface="微软雅黑" panose="020B0503020204020204" charset="-122"/>
                  </a:rPr>
                  <a:t>提交订单失败</a:t>
                </a:r>
                <a:endParaRPr lang="zh-CN" altLang="en-US" b="1" dirty="0">
                  <a:solidFill>
                    <a:schemeClr val="tx1"/>
                  </a:solidFill>
                  <a:latin typeface="微软雅黑" panose="020B0503020204020204" charset="-122"/>
                  <a:ea typeface="微软雅黑" panose="020B0503020204020204" charset="-122"/>
                </a:endParaRPr>
              </a:p>
            </p:txBody>
          </p:sp>
        </p:grpSp>
        <p:sp>
          <p:nvSpPr>
            <p:cNvPr id="43" name="矩形: 圆角 42"/>
            <p:cNvSpPr/>
            <p:nvPr/>
          </p:nvSpPr>
          <p:spPr>
            <a:xfrm>
              <a:off x="1069805" y="1351820"/>
              <a:ext cx="1940326" cy="523220"/>
            </a:xfrm>
            <a:prstGeom prst="roundRect">
              <a:avLst/>
            </a:prstGeom>
            <a:solidFill>
              <a:schemeClr val="accent1">
                <a:lumMod val="60000"/>
                <a:lumOff val="4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charset="-122"/>
                  <a:ea typeface="微软雅黑" panose="020B0503020204020204" charset="-122"/>
                </a:rPr>
                <a:t>测试内容</a:t>
              </a:r>
              <a:endParaRPr lang="zh-CN" altLang="en-US" sz="2400" b="1" dirty="0">
                <a:solidFill>
                  <a:schemeClr val="tx1"/>
                </a:solidFill>
                <a:latin typeface="微软雅黑" panose="020B0503020204020204" charset="-122"/>
                <a:ea typeface="微软雅黑" panose="020B0503020204020204" charset="-122"/>
              </a:endParaRPr>
            </a:p>
          </p:txBody>
        </p:sp>
      </p:grpSp>
      <p:sp>
        <p:nvSpPr>
          <p:cNvPr id="3" name="矩形 2"/>
          <p:cNvSpPr/>
          <p:nvPr/>
        </p:nvSpPr>
        <p:spPr>
          <a:xfrm>
            <a:off x="-33655" y="-63062"/>
            <a:ext cx="212574" cy="369331"/>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190994" y="-37583"/>
            <a:ext cx="1757623" cy="369332"/>
          </a:xfrm>
          <a:prstGeom prst="rect">
            <a:avLst/>
          </a:prstGeom>
          <a:noFill/>
        </p:spPr>
        <p:txBody>
          <a:bodyPr wrap="square" rtlCol="0">
            <a:spAutoFit/>
          </a:bodyPr>
          <a:lstStyle/>
          <a:p>
            <a:r>
              <a:rPr lang="zh-CN" altLang="en-US" b="1" dirty="0"/>
              <a:t>测试用例设计</a:t>
            </a:r>
            <a:endParaRPr lang="zh-CN" altLang="en-US" b="1" dirty="0"/>
          </a:p>
        </p:txBody>
      </p:sp>
      <p:grpSp>
        <p:nvGrpSpPr>
          <p:cNvPr id="11" name="组合 10"/>
          <p:cNvGrpSpPr/>
          <p:nvPr/>
        </p:nvGrpSpPr>
        <p:grpSpPr>
          <a:xfrm>
            <a:off x="4787049" y="1380806"/>
            <a:ext cx="6708339" cy="5114587"/>
            <a:chOff x="3135650" y="1137775"/>
            <a:chExt cx="6708339" cy="5111676"/>
          </a:xfrm>
        </p:grpSpPr>
        <p:sp>
          <p:nvSpPr>
            <p:cNvPr id="66" name="矩形: 圆角 65"/>
            <p:cNvSpPr/>
            <p:nvPr/>
          </p:nvSpPr>
          <p:spPr>
            <a:xfrm>
              <a:off x="3135650" y="1415908"/>
              <a:ext cx="6708339" cy="4833543"/>
            </a:xfrm>
            <a:prstGeom prst="roundRect">
              <a:avLst>
                <a:gd name="adj" fmla="val 4401"/>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圆角矩形 51"/>
            <p:cNvSpPr/>
            <p:nvPr/>
          </p:nvSpPr>
          <p:spPr>
            <a:xfrm>
              <a:off x="5317924" y="1137775"/>
              <a:ext cx="2343789" cy="523220"/>
            </a:xfrm>
            <a:prstGeom prst="roundRect">
              <a:avLst/>
            </a:prstGeom>
            <a:solidFill>
              <a:schemeClr val="accent1">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charset="-122"/>
                  <a:ea typeface="微软雅黑" panose="020B0503020204020204" charset="-122"/>
                </a:rPr>
                <a:t>订单界面</a:t>
              </a:r>
              <a:endParaRPr lang="zh-CN" altLang="en-US" sz="2400" b="1" dirty="0">
                <a:solidFill>
                  <a:schemeClr val="tx1"/>
                </a:solidFill>
                <a:latin typeface="微软雅黑" panose="020B0503020204020204" charset="-122"/>
                <a:ea typeface="微软雅黑" panose="020B0503020204020204" charset="-122"/>
              </a:endParaRPr>
            </a:p>
          </p:txBody>
        </p:sp>
      </p:grpSp>
      <p:pic>
        <p:nvPicPr>
          <p:cNvPr id="15" name="图片 14"/>
          <p:cNvPicPr>
            <a:picLocks noChangeAspect="1"/>
          </p:cNvPicPr>
          <p:nvPr/>
        </p:nvPicPr>
        <p:blipFill>
          <a:blip r:embed="rId1"/>
          <a:srcRect l="5281" r="6185"/>
          <a:stretch>
            <a:fillRect/>
          </a:stretch>
        </p:blipFill>
        <p:spPr>
          <a:xfrm>
            <a:off x="5198781" y="2088249"/>
            <a:ext cx="5833724" cy="4108471"/>
          </a:xfrm>
          <a:prstGeom prst="rect">
            <a:avLst/>
          </a:prstGeom>
          <a:effectLst>
            <a:outerShdw blurRad="63500" sx="102000" sy="102000" algn="ctr" rotWithShape="0">
              <a:prstClr val="black">
                <a:alpha val="40000"/>
              </a:prst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9685" y="1826895"/>
            <a:ext cx="12221210" cy="2751455"/>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 name="组合 14"/>
          <p:cNvGrpSpPr/>
          <p:nvPr/>
        </p:nvGrpSpPr>
        <p:grpSpPr>
          <a:xfrm rot="840000">
            <a:off x="2648222" y="2162808"/>
            <a:ext cx="1192471" cy="2079625"/>
            <a:chOff x="6293" y="1109"/>
            <a:chExt cx="1712" cy="3058"/>
          </a:xfrm>
        </p:grpSpPr>
        <p:sp>
          <p:nvSpPr>
            <p:cNvPr id="8" name="圆角矩形 7"/>
            <p:cNvSpPr/>
            <p:nvPr/>
          </p:nvSpPr>
          <p:spPr>
            <a:xfrm>
              <a:off x="6293" y="1109"/>
              <a:ext cx="1549" cy="3058"/>
            </a:xfrm>
            <a:prstGeom prst="roundRect">
              <a:avLst>
                <a:gd name="adj" fmla="val 9795"/>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圆角矩形 8"/>
            <p:cNvSpPr/>
            <p:nvPr/>
          </p:nvSpPr>
          <p:spPr>
            <a:xfrm>
              <a:off x="6342" y="1158"/>
              <a:ext cx="1450" cy="2959"/>
            </a:xfrm>
            <a:prstGeom prst="roundRect">
              <a:avLst>
                <a:gd name="adj" fmla="val 9795"/>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6323" y="1608"/>
              <a:ext cx="1682" cy="1492"/>
            </a:xfrm>
            <a:prstGeom prst="rect">
              <a:avLst/>
            </a:prstGeom>
            <a:noFill/>
          </p:spPr>
          <p:txBody>
            <a:bodyPr wrap="square" rtlCol="0">
              <a:spAutoFit/>
            </a:bodyPr>
            <a:lstStyle/>
            <a:p>
              <a:r>
                <a:rPr lang="en-US" altLang="zh-CN" sz="6000" dirty="0">
                  <a:solidFill>
                    <a:schemeClr val="bg1"/>
                  </a:solidFill>
                  <a:latin typeface="Times New Roman" panose="02020603050405020304" pitchFamily="18" charset="0"/>
                  <a:ea typeface="Kozuka Gothic Pr6N H" panose="020B0800000000000000" charset="-128"/>
                  <a:cs typeface="Times New Roman" panose="02020603050405020304" pitchFamily="18" charset="0"/>
                </a:rPr>
                <a:t>03</a:t>
              </a:r>
              <a:endParaRPr lang="en-US" altLang="zh-CN" sz="6000" dirty="0">
                <a:solidFill>
                  <a:schemeClr val="bg1"/>
                </a:solidFill>
                <a:latin typeface="Times New Roman" panose="02020603050405020304" pitchFamily="18" charset="0"/>
                <a:ea typeface="Kozuka Gothic Pr6N H" panose="020B0800000000000000" charset="-128"/>
                <a:cs typeface="Times New Roman" panose="02020603050405020304" pitchFamily="18" charset="0"/>
              </a:endParaRPr>
            </a:p>
          </p:txBody>
        </p:sp>
        <p:sp>
          <p:nvSpPr>
            <p:cNvPr id="11" name="椭圆 10"/>
            <p:cNvSpPr/>
            <p:nvPr/>
          </p:nvSpPr>
          <p:spPr>
            <a:xfrm>
              <a:off x="6870" y="3721"/>
              <a:ext cx="300" cy="300"/>
            </a:xfrm>
            <a:prstGeom prst="ellipse">
              <a:avLst/>
            </a:prstGeom>
            <a:solidFill>
              <a:schemeClr val="bg1">
                <a:lumMod val="95000"/>
              </a:schemeClr>
            </a:solidFill>
            <a:ln>
              <a:noFill/>
            </a:ln>
            <a:effectLst>
              <a:innerShdw>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6751" y="1199"/>
              <a:ext cx="120" cy="120"/>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6897" y="1199"/>
              <a:ext cx="120" cy="120"/>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文本框 15"/>
          <p:cNvSpPr txBox="1"/>
          <p:nvPr/>
        </p:nvSpPr>
        <p:spPr>
          <a:xfrm>
            <a:off x="4076997" y="2820722"/>
            <a:ext cx="4274392" cy="830997"/>
          </a:xfrm>
          <a:prstGeom prst="rect">
            <a:avLst/>
          </a:prstGeom>
          <a:noFill/>
        </p:spPr>
        <p:txBody>
          <a:bodyPr wrap="square" rtlCol="0">
            <a:spAutoFit/>
          </a:bodyPr>
          <a:lstStyle/>
          <a:p>
            <a:pPr algn="dist"/>
            <a:r>
              <a:rPr lang="zh-CN" altLang="en-US" sz="4800" dirty="0">
                <a:solidFill>
                  <a:schemeClr val="bg1"/>
                </a:solidFill>
              </a:rPr>
              <a:t>测试结果展示</a:t>
            </a:r>
            <a:endParaRPr lang="zh-CN" altLang="en-US" sz="4800" dirty="0">
              <a:solidFill>
                <a:schemeClr val="bg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圆角 16"/>
          <p:cNvSpPr/>
          <p:nvPr/>
        </p:nvSpPr>
        <p:spPr>
          <a:xfrm>
            <a:off x="838189" y="1431488"/>
            <a:ext cx="5360086" cy="4836296"/>
          </a:xfrm>
          <a:prstGeom prst="roundRect">
            <a:avLst>
              <a:gd name="adj" fmla="val 4401"/>
            </a:avLst>
          </a:prstGeom>
          <a:solidFill>
            <a:schemeClr val="bg2"/>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33655" y="306269"/>
            <a:ext cx="3891091" cy="730685"/>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a:p>
        </p:txBody>
      </p:sp>
      <p:sp>
        <p:nvSpPr>
          <p:cNvPr id="11" name="矩形 10"/>
          <p:cNvSpPr/>
          <p:nvPr/>
        </p:nvSpPr>
        <p:spPr>
          <a:xfrm>
            <a:off x="-33655" y="-63062"/>
            <a:ext cx="212574" cy="369331"/>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190994" y="-37583"/>
            <a:ext cx="1757623" cy="369332"/>
          </a:xfrm>
          <a:prstGeom prst="rect">
            <a:avLst/>
          </a:prstGeom>
          <a:noFill/>
        </p:spPr>
        <p:txBody>
          <a:bodyPr wrap="square" rtlCol="0">
            <a:spAutoFit/>
          </a:bodyPr>
          <a:lstStyle/>
          <a:p>
            <a:r>
              <a:rPr lang="zh-CN" altLang="en-US" b="1" dirty="0"/>
              <a:t>测试结果展示</a:t>
            </a:r>
            <a:endParaRPr lang="zh-CN" altLang="en-US" b="1" dirty="0"/>
          </a:p>
        </p:txBody>
      </p:sp>
      <p:sp>
        <p:nvSpPr>
          <p:cNvPr id="13" name="文本框 12"/>
          <p:cNvSpPr txBox="1"/>
          <p:nvPr/>
        </p:nvSpPr>
        <p:spPr>
          <a:xfrm>
            <a:off x="932816" y="410210"/>
            <a:ext cx="2705866" cy="523220"/>
          </a:xfrm>
          <a:prstGeom prst="rect">
            <a:avLst/>
          </a:prstGeom>
          <a:noFill/>
        </p:spPr>
        <p:txBody>
          <a:bodyPr wrap="square" rtlCol="0">
            <a:spAutoFit/>
          </a:bodyPr>
          <a:lstStyle/>
          <a:p>
            <a:pPr algn="l"/>
            <a:r>
              <a:rPr lang="zh-CN" altLang="en-US" sz="2800" b="1" dirty="0">
                <a:solidFill>
                  <a:schemeClr val="bg1"/>
                </a:solidFill>
                <a:sym typeface="+mn-ea"/>
              </a:rPr>
              <a:t>用户功能测试</a:t>
            </a:r>
            <a:endParaRPr lang="zh-CN" altLang="en-US" sz="2800" b="1" dirty="0">
              <a:solidFill>
                <a:schemeClr val="bg1"/>
              </a:solidFill>
              <a:sym typeface="+mn-ea"/>
            </a:endParaRPr>
          </a:p>
        </p:txBody>
      </p:sp>
      <p:sp>
        <p:nvSpPr>
          <p:cNvPr id="14" name="等腰三角形 13"/>
          <p:cNvSpPr/>
          <p:nvPr/>
        </p:nvSpPr>
        <p:spPr>
          <a:xfrm rot="5400000">
            <a:off x="309245" y="503555"/>
            <a:ext cx="445770" cy="334645"/>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descr="f940f90e4e8951eedd12f4e9469e49fe"/>
          <p:cNvPicPr>
            <a:picLocks noChangeAspect="1"/>
          </p:cNvPicPr>
          <p:nvPr/>
        </p:nvPicPr>
        <p:blipFill>
          <a:blip r:embed="rId1"/>
          <a:stretch>
            <a:fillRect/>
          </a:stretch>
        </p:blipFill>
        <p:spPr>
          <a:xfrm>
            <a:off x="1442734" y="1930348"/>
            <a:ext cx="4150995" cy="3838575"/>
          </a:xfrm>
          <a:prstGeom prst="rect">
            <a:avLst/>
          </a:prstGeom>
          <a:effectLst>
            <a:outerShdw blurRad="63500" sx="102000" sy="102000" algn="ctr" rotWithShape="0">
              <a:prstClr val="black">
                <a:alpha val="40000"/>
              </a:prstClr>
            </a:outerShdw>
          </a:effectLst>
        </p:spPr>
      </p:pic>
      <p:sp>
        <p:nvSpPr>
          <p:cNvPr id="16" name="Shape 8725"/>
          <p:cNvSpPr/>
          <p:nvPr/>
        </p:nvSpPr>
        <p:spPr>
          <a:xfrm>
            <a:off x="7252352" y="2544329"/>
            <a:ext cx="4000631" cy="3310760"/>
          </a:xfrm>
          <a:prstGeom prst="rect">
            <a:avLst/>
          </a:prstGeom>
          <a:noFill/>
          <a:ln w="12700" cap="flat">
            <a:noFill/>
            <a:miter lim="400000"/>
          </a:ln>
          <a:effectLst/>
        </p:spPr>
        <p:txBody>
          <a:bodyPr wrap="square" lIns="0" tIns="0" rIns="0" bIns="0" numCol="1" anchor="t">
            <a:noAutofit/>
          </a:bodyPr>
          <a:lstStyle>
            <a:lvl1pPr algn="ctr">
              <a:lnSpc>
                <a:spcPct val="140000"/>
              </a:lnSpc>
              <a:defRPr sz="800">
                <a:solidFill>
                  <a:srgbClr val="FFFFFF">
                    <a:alpha val="70000"/>
                  </a:srgbClr>
                </a:solidFill>
                <a:uFill>
                  <a:solidFill>
                    <a:srgbClr val="FFFFFF">
                      <a:alpha val="70000"/>
                    </a:srgbClr>
                  </a:solidFill>
                </a:uFill>
                <a:latin typeface="Roboto condensed"/>
                <a:ea typeface="Roboto condensed"/>
                <a:cs typeface="Roboto condensed"/>
                <a:sym typeface="Roboto condensed"/>
              </a:defRPr>
            </a:lvl1pPr>
          </a:lstStyle>
          <a:p>
            <a:pPr algn="l" defTabSz="457200">
              <a:lnSpc>
                <a:spcPct val="100000"/>
              </a:lnSpc>
              <a:defRPr sz="1800">
                <a:solidFill>
                  <a:srgbClr val="000000"/>
                </a:solidFill>
                <a:uFillTx/>
              </a:defRPr>
            </a:pPr>
            <a:endParaRPr lang="zh-CN" altLang="en-US" sz="1600" kern="0" dirty="0">
              <a:solidFill>
                <a:srgbClr val="000000"/>
              </a:solidFill>
              <a:uFillTx/>
              <a:latin typeface="微软雅黑" panose="020B0503020204020204" charset="-122"/>
              <a:ea typeface="微软雅黑" panose="020B0503020204020204" charset="-122"/>
            </a:endParaRPr>
          </a:p>
          <a:p>
            <a:pPr marL="342900" indent="-342900" algn="l" defTabSz="457200">
              <a:lnSpc>
                <a:spcPct val="150000"/>
              </a:lnSpc>
              <a:buFont typeface="Wingdings" panose="05000000000000000000" pitchFamily="2" charset="2"/>
              <a:buChar char="p"/>
              <a:defRPr sz="1800">
                <a:solidFill>
                  <a:srgbClr val="000000"/>
                </a:solidFill>
                <a:uFillTx/>
              </a:defRPr>
            </a:pPr>
            <a:r>
              <a:rPr lang="zh-CN" altLang="en-US" sz="2000" kern="0" dirty="0">
                <a:solidFill>
                  <a:srgbClr val="C00000"/>
                </a:solidFill>
                <a:uFillTx/>
                <a:latin typeface="微软雅黑" panose="020B0503020204020204" charset="-122"/>
                <a:ea typeface="微软雅黑" panose="020B0503020204020204" charset="-122"/>
                <a:sym typeface="+mn-ea"/>
              </a:rPr>
              <a:t>测试分析</a:t>
            </a:r>
            <a:r>
              <a:rPr lang="zh-CN" altLang="en-US" sz="2000" kern="0" dirty="0">
                <a:solidFill>
                  <a:srgbClr val="000000"/>
                </a:solidFill>
                <a:uFillTx/>
                <a:latin typeface="微软雅黑" panose="020B0503020204020204" charset="-122"/>
                <a:ea typeface="微软雅黑" panose="020B0503020204020204" charset="-122"/>
                <a:sym typeface="+mn-ea"/>
              </a:rPr>
              <a:t>：</a:t>
            </a:r>
            <a:r>
              <a:rPr lang="zh-CN" altLang="zh-CN" sz="2000" kern="0" dirty="0">
                <a:solidFill>
                  <a:srgbClr val="000000"/>
                </a:solidFill>
                <a:uFillTx/>
                <a:latin typeface="微软雅黑" panose="020B0503020204020204" charset="-122"/>
                <a:ea typeface="微软雅黑" panose="020B0503020204020204" charset="-122"/>
                <a:sym typeface="+mn-ea"/>
              </a:rPr>
              <a:t>在</a:t>
            </a:r>
            <a:r>
              <a:rPr lang="zh-CN" altLang="en-US" sz="2000" kern="0" dirty="0">
                <a:solidFill>
                  <a:srgbClr val="000000"/>
                </a:solidFill>
                <a:uFillTx/>
                <a:latin typeface="微软雅黑" panose="020B0503020204020204" charset="-122"/>
                <a:ea typeface="微软雅黑" panose="020B0503020204020204" charset="-122"/>
                <a:sym typeface="+mn-ea"/>
              </a:rPr>
              <a:t>用户</a:t>
            </a:r>
            <a:r>
              <a:rPr lang="zh-CN" altLang="zh-CN" sz="2000" kern="0" dirty="0">
                <a:solidFill>
                  <a:srgbClr val="000000"/>
                </a:solidFill>
                <a:uFillTx/>
                <a:latin typeface="微软雅黑" panose="020B0503020204020204" charset="-122"/>
                <a:ea typeface="微软雅黑" panose="020B0503020204020204" charset="-122"/>
                <a:sym typeface="+mn-ea"/>
              </a:rPr>
              <a:t>功能测试中，</a:t>
            </a:r>
            <a:r>
              <a:rPr lang="zh-CN" altLang="en-US" sz="2000" kern="0" dirty="0">
                <a:solidFill>
                  <a:srgbClr val="000000"/>
                </a:solidFill>
                <a:uFillTx/>
                <a:latin typeface="微软雅黑" panose="020B0503020204020204" charset="-122"/>
                <a:ea typeface="微软雅黑" panose="020B0503020204020204" charset="-122"/>
                <a:sym typeface="+mn-ea"/>
              </a:rPr>
              <a:t>“登录”子模块功能测试中</a:t>
            </a:r>
            <a:r>
              <a:rPr lang="zh-CN" altLang="zh-CN" sz="2000" kern="0" dirty="0">
                <a:solidFill>
                  <a:srgbClr val="000000"/>
                </a:solidFill>
                <a:uFillTx/>
                <a:latin typeface="微软雅黑" panose="020B0503020204020204" charset="-122"/>
                <a:ea typeface="微软雅黑" panose="020B0503020204020204" charset="-122"/>
                <a:sym typeface="+mn-ea"/>
              </a:rPr>
              <a:t>，</a:t>
            </a:r>
            <a:r>
              <a:rPr lang="zh-CN" altLang="en-US" sz="2000" kern="0" dirty="0">
                <a:solidFill>
                  <a:srgbClr val="000000"/>
                </a:solidFill>
                <a:uFillTx/>
                <a:latin typeface="微软雅黑" panose="020B0503020204020204" charset="-122"/>
                <a:ea typeface="微软雅黑" panose="020B0503020204020204" charset="-122"/>
                <a:sym typeface="+mn-ea"/>
              </a:rPr>
              <a:t>点击“忘记密码”无响应</a:t>
            </a:r>
            <a:r>
              <a:rPr lang="zh-CN" altLang="zh-CN" sz="2000" kern="0" dirty="0">
                <a:solidFill>
                  <a:srgbClr val="000000"/>
                </a:solidFill>
                <a:uFillTx/>
                <a:latin typeface="微软雅黑" panose="020B0503020204020204" charset="-122"/>
                <a:ea typeface="微软雅黑" panose="020B0503020204020204" charset="-122"/>
                <a:sym typeface="+mn-ea"/>
              </a:rPr>
              <a:t>，</a:t>
            </a:r>
            <a:r>
              <a:rPr lang="zh-CN" altLang="en-US" sz="2000" kern="0" dirty="0">
                <a:solidFill>
                  <a:srgbClr val="000000"/>
                </a:solidFill>
                <a:uFillTx/>
                <a:latin typeface="微软雅黑" panose="020B0503020204020204" charset="-122"/>
                <a:ea typeface="微软雅黑" panose="020B0503020204020204" charset="-122"/>
                <a:sym typeface="+mn-ea"/>
              </a:rPr>
              <a:t>应报告为错误测试用例。</a:t>
            </a:r>
            <a:endParaRPr lang="en-US" altLang="zh-CN" sz="2000" kern="0" dirty="0">
              <a:solidFill>
                <a:srgbClr val="000000"/>
              </a:solidFill>
              <a:uFillTx/>
              <a:latin typeface="微软雅黑" panose="020B0503020204020204" charset="-122"/>
              <a:ea typeface="微软雅黑" panose="020B0503020204020204" charset="-122"/>
              <a:sym typeface="+mn-ea"/>
            </a:endParaRPr>
          </a:p>
          <a:p>
            <a:pPr marL="342900" indent="-342900" algn="l" defTabSz="457200">
              <a:lnSpc>
                <a:spcPct val="150000"/>
              </a:lnSpc>
              <a:buFont typeface="Wingdings" panose="05000000000000000000" pitchFamily="2" charset="2"/>
              <a:buChar char="p"/>
              <a:defRPr sz="1800">
                <a:solidFill>
                  <a:srgbClr val="000000"/>
                </a:solidFill>
                <a:uFillTx/>
              </a:defRPr>
            </a:pPr>
            <a:r>
              <a:rPr lang="zh-CN" altLang="en-US" sz="2000" kern="0" dirty="0">
                <a:solidFill>
                  <a:srgbClr val="C00000"/>
                </a:solidFill>
                <a:uFillTx/>
                <a:latin typeface="微软雅黑" panose="020B0503020204020204" charset="-122"/>
                <a:ea typeface="微软雅黑" panose="020B0503020204020204" charset="-122"/>
                <a:sym typeface="+mn-ea"/>
              </a:rPr>
              <a:t>记录为</a:t>
            </a:r>
            <a:r>
              <a:rPr lang="zh-CN" altLang="en-US" sz="2000" kern="0" dirty="0">
                <a:solidFill>
                  <a:srgbClr val="000000"/>
                </a:solidFill>
                <a:uFillTx/>
                <a:latin typeface="微软雅黑" panose="020B0503020204020204" charset="-122"/>
                <a:ea typeface="微软雅黑" panose="020B0503020204020204" charset="-122"/>
                <a:sym typeface="+mn-ea"/>
              </a:rPr>
              <a:t>：软件缺陷</a:t>
            </a:r>
            <a:endParaRPr lang="en-US" altLang="zh-CN" sz="2000" kern="0" dirty="0">
              <a:solidFill>
                <a:srgbClr val="000000"/>
              </a:solidFill>
              <a:uFillTx/>
              <a:latin typeface="微软雅黑" panose="020B0503020204020204" charset="-122"/>
              <a:ea typeface="微软雅黑" panose="020B0503020204020204" charset="-122"/>
              <a:sym typeface="+mn-ea"/>
            </a:endParaRPr>
          </a:p>
          <a:p>
            <a:pPr marL="342900" indent="-342900" algn="l" defTabSz="457200">
              <a:lnSpc>
                <a:spcPct val="150000"/>
              </a:lnSpc>
              <a:buFont typeface="Wingdings" panose="05000000000000000000" pitchFamily="2" charset="2"/>
              <a:buChar char="p"/>
              <a:defRPr sz="1800">
                <a:solidFill>
                  <a:srgbClr val="000000"/>
                </a:solidFill>
                <a:uFillTx/>
              </a:defRPr>
            </a:pPr>
            <a:r>
              <a:rPr lang="zh-CN" altLang="en-US" sz="2000" kern="0" dirty="0">
                <a:solidFill>
                  <a:srgbClr val="C00000"/>
                </a:solidFill>
                <a:uFillTx/>
                <a:latin typeface="微软雅黑" panose="020B0503020204020204" charset="-122"/>
                <a:ea typeface="微软雅黑" panose="020B0503020204020204" charset="-122"/>
                <a:sym typeface="+mn-ea"/>
              </a:rPr>
              <a:t>严重级别</a:t>
            </a:r>
            <a:r>
              <a:rPr lang="zh-CN" altLang="en-US" sz="2000" kern="0" dirty="0">
                <a:solidFill>
                  <a:srgbClr val="000000"/>
                </a:solidFill>
                <a:uFillTx/>
                <a:latin typeface="微软雅黑" panose="020B0503020204020204" charset="-122"/>
                <a:ea typeface="微软雅黑" panose="020B0503020204020204" charset="-122"/>
                <a:sym typeface="+mn-ea"/>
              </a:rPr>
              <a:t>：高</a:t>
            </a:r>
            <a:endParaRPr lang="zh-CN" altLang="zh-CN" sz="2000" kern="0" dirty="0">
              <a:solidFill>
                <a:srgbClr val="000000"/>
              </a:solidFill>
              <a:uFillTx/>
              <a:latin typeface="微软雅黑" panose="020B0503020204020204" charset="-122"/>
              <a:ea typeface="微软雅黑" panose="020B0503020204020204" charset="-122"/>
            </a:endParaRPr>
          </a:p>
        </p:txBody>
      </p:sp>
      <p:sp>
        <p:nvSpPr>
          <p:cNvPr id="19" name="圆角矩形 51"/>
          <p:cNvSpPr/>
          <p:nvPr/>
        </p:nvSpPr>
        <p:spPr>
          <a:xfrm>
            <a:off x="8247190" y="1771288"/>
            <a:ext cx="2343789" cy="523518"/>
          </a:xfrm>
          <a:prstGeom prst="roundRect">
            <a:avLst/>
          </a:prstGeom>
          <a:solidFill>
            <a:schemeClr val="accent1">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charset="-122"/>
                <a:ea typeface="微软雅黑" panose="020B0503020204020204" charset="-122"/>
              </a:rPr>
              <a:t>测试分析</a:t>
            </a:r>
            <a:endParaRPr lang="zh-CN" altLang="en-US" sz="2400" b="1" dirty="0">
              <a:solidFill>
                <a:schemeClr val="tx1"/>
              </a:solidFill>
              <a:latin typeface="微软雅黑" panose="020B0503020204020204" charset="-122"/>
              <a:ea typeface="微软雅黑" panose="020B0503020204020204" charset="-122"/>
            </a:endParaRPr>
          </a:p>
        </p:txBody>
      </p:sp>
      <p:sp>
        <p:nvSpPr>
          <p:cNvPr id="20" name="矩形 19"/>
          <p:cNvSpPr/>
          <p:nvPr/>
        </p:nvSpPr>
        <p:spPr>
          <a:xfrm>
            <a:off x="6971286" y="1431488"/>
            <a:ext cx="4562765" cy="4836297"/>
          </a:xfrm>
          <a:prstGeom prst="rect">
            <a:avLst/>
          </a:prstGeom>
          <a:noFill/>
          <a:ln w="3810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圆角矩形 51"/>
          <p:cNvSpPr/>
          <p:nvPr/>
        </p:nvSpPr>
        <p:spPr>
          <a:xfrm>
            <a:off x="497863" y="2617076"/>
            <a:ext cx="611274" cy="2095208"/>
          </a:xfrm>
          <a:prstGeom prst="roundRect">
            <a:avLst/>
          </a:prstGeom>
          <a:solidFill>
            <a:schemeClr val="accent1">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charset="-122"/>
                <a:ea typeface="微软雅黑" panose="020B0503020204020204" charset="-122"/>
              </a:rPr>
              <a:t>用户测试</a:t>
            </a:r>
            <a:endParaRPr lang="zh-CN" altLang="en-US" sz="2400" b="1" dirty="0">
              <a:solidFill>
                <a:schemeClr val="tx1"/>
              </a:solidFill>
              <a:latin typeface="微软雅黑" panose="020B0503020204020204" charset="-122"/>
              <a:ea typeface="微软雅黑" panose="020B0503020204020204"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圆角 16"/>
          <p:cNvSpPr/>
          <p:nvPr/>
        </p:nvSpPr>
        <p:spPr>
          <a:xfrm>
            <a:off x="838189" y="2144110"/>
            <a:ext cx="5360086" cy="3096348"/>
          </a:xfrm>
          <a:prstGeom prst="roundRect">
            <a:avLst>
              <a:gd name="adj" fmla="val 4401"/>
            </a:avLst>
          </a:prstGeom>
          <a:solidFill>
            <a:schemeClr val="bg2"/>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33655" y="306269"/>
            <a:ext cx="3891091" cy="730685"/>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a:p>
        </p:txBody>
      </p:sp>
      <p:sp>
        <p:nvSpPr>
          <p:cNvPr id="11" name="矩形 10"/>
          <p:cNvSpPr/>
          <p:nvPr/>
        </p:nvSpPr>
        <p:spPr>
          <a:xfrm>
            <a:off x="-33655" y="-63062"/>
            <a:ext cx="212574" cy="369331"/>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932816" y="410210"/>
            <a:ext cx="2705866" cy="523220"/>
          </a:xfrm>
          <a:prstGeom prst="rect">
            <a:avLst/>
          </a:prstGeom>
          <a:noFill/>
        </p:spPr>
        <p:txBody>
          <a:bodyPr wrap="square" rtlCol="0">
            <a:spAutoFit/>
          </a:bodyPr>
          <a:lstStyle/>
          <a:p>
            <a:pPr algn="l"/>
            <a:r>
              <a:rPr lang="zh-CN" altLang="en-US" sz="2800" b="1" dirty="0">
                <a:solidFill>
                  <a:schemeClr val="bg1"/>
                </a:solidFill>
                <a:sym typeface="+mn-ea"/>
              </a:rPr>
              <a:t>商品功能测试</a:t>
            </a:r>
            <a:endParaRPr lang="zh-CN" altLang="en-US" sz="2800" b="1" dirty="0">
              <a:solidFill>
                <a:schemeClr val="bg1"/>
              </a:solidFill>
              <a:sym typeface="+mn-ea"/>
            </a:endParaRPr>
          </a:p>
        </p:txBody>
      </p:sp>
      <p:sp>
        <p:nvSpPr>
          <p:cNvPr id="14" name="等腰三角形 13"/>
          <p:cNvSpPr/>
          <p:nvPr/>
        </p:nvSpPr>
        <p:spPr>
          <a:xfrm rot="5400000">
            <a:off x="309245" y="503555"/>
            <a:ext cx="445770" cy="334645"/>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Shape 8725"/>
          <p:cNvSpPr/>
          <p:nvPr/>
        </p:nvSpPr>
        <p:spPr>
          <a:xfrm>
            <a:off x="7252352" y="2377418"/>
            <a:ext cx="4000631" cy="3474742"/>
          </a:xfrm>
          <a:prstGeom prst="rect">
            <a:avLst/>
          </a:prstGeom>
          <a:noFill/>
          <a:ln w="12700" cap="flat">
            <a:noFill/>
            <a:miter lim="400000"/>
          </a:ln>
          <a:effectLst/>
        </p:spPr>
        <p:txBody>
          <a:bodyPr wrap="square" lIns="0" tIns="0" rIns="0" bIns="0" numCol="1" anchor="t">
            <a:noAutofit/>
          </a:bodyPr>
          <a:lstStyle>
            <a:lvl1pPr algn="ctr">
              <a:lnSpc>
                <a:spcPct val="140000"/>
              </a:lnSpc>
              <a:defRPr sz="800">
                <a:solidFill>
                  <a:srgbClr val="FFFFFF">
                    <a:alpha val="70000"/>
                  </a:srgbClr>
                </a:solidFill>
                <a:uFill>
                  <a:solidFill>
                    <a:srgbClr val="FFFFFF">
                      <a:alpha val="70000"/>
                    </a:srgbClr>
                  </a:solidFill>
                </a:uFill>
                <a:latin typeface="Roboto condensed"/>
                <a:ea typeface="Roboto condensed"/>
                <a:cs typeface="Roboto condensed"/>
                <a:sym typeface="Roboto condensed"/>
              </a:defRPr>
            </a:lvl1pPr>
          </a:lstStyle>
          <a:p>
            <a:pPr algn="l" defTabSz="457200">
              <a:lnSpc>
                <a:spcPct val="100000"/>
              </a:lnSpc>
              <a:defRPr sz="1800">
                <a:solidFill>
                  <a:srgbClr val="000000"/>
                </a:solidFill>
                <a:uFillTx/>
              </a:defRPr>
            </a:pPr>
            <a:endParaRPr lang="zh-CN" altLang="en-US" sz="1600" kern="0" dirty="0">
              <a:solidFill>
                <a:srgbClr val="000000"/>
              </a:solidFill>
              <a:uFillTx/>
              <a:latin typeface="微软雅黑" panose="020B0503020204020204" charset="-122"/>
              <a:ea typeface="微软雅黑" panose="020B0503020204020204" charset="-122"/>
            </a:endParaRPr>
          </a:p>
          <a:p>
            <a:pPr marL="342900" indent="-342900" algn="l" defTabSz="457200">
              <a:lnSpc>
                <a:spcPct val="150000"/>
              </a:lnSpc>
              <a:buFont typeface="Wingdings" panose="05000000000000000000" pitchFamily="2" charset="2"/>
              <a:buChar char="p"/>
              <a:defRPr sz="1800">
                <a:solidFill>
                  <a:srgbClr val="000000"/>
                </a:solidFill>
                <a:uFillTx/>
              </a:defRPr>
            </a:pPr>
            <a:r>
              <a:rPr lang="zh-CN" altLang="en-US" sz="2000" kern="0" dirty="0">
                <a:solidFill>
                  <a:srgbClr val="C00000"/>
                </a:solidFill>
                <a:uFillTx/>
                <a:latin typeface="微软雅黑" panose="020B0503020204020204" charset="-122"/>
                <a:ea typeface="微软雅黑" panose="020B0503020204020204" charset="-122"/>
                <a:sym typeface="+mn-ea"/>
              </a:rPr>
              <a:t>测试分析</a:t>
            </a:r>
            <a:r>
              <a:rPr lang="zh-CN" altLang="en-US" sz="2000" kern="0" dirty="0">
                <a:solidFill>
                  <a:schemeClr val="tx1"/>
                </a:solidFill>
                <a:uFillTx/>
                <a:latin typeface="微软雅黑" panose="020B0503020204020204" charset="-122"/>
                <a:ea typeface="微软雅黑" panose="020B0503020204020204" charset="-122"/>
                <a:sym typeface="+mn-ea"/>
              </a:rPr>
              <a:t>：在商品功能模块测试中，针对“显示首页商品”子功能测试中，测试用例通过，但点击商品图片不能跳转对应商品详细信息，应报告为错误测试用例。</a:t>
            </a:r>
            <a:endParaRPr lang="en-US" altLang="zh-CN" sz="2000" kern="0" dirty="0">
              <a:solidFill>
                <a:schemeClr val="tx1"/>
              </a:solidFill>
              <a:uFillTx/>
              <a:latin typeface="微软雅黑" panose="020B0503020204020204" charset="-122"/>
              <a:ea typeface="微软雅黑" panose="020B0503020204020204" charset="-122"/>
              <a:sym typeface="+mn-ea"/>
            </a:endParaRPr>
          </a:p>
          <a:p>
            <a:pPr marL="342900" indent="-342900" algn="l" defTabSz="457200">
              <a:lnSpc>
                <a:spcPct val="150000"/>
              </a:lnSpc>
              <a:buFont typeface="Wingdings" panose="05000000000000000000" pitchFamily="2" charset="2"/>
              <a:buChar char="p"/>
              <a:defRPr sz="1800">
                <a:solidFill>
                  <a:srgbClr val="000000"/>
                </a:solidFill>
                <a:uFillTx/>
              </a:defRPr>
            </a:pPr>
            <a:r>
              <a:rPr lang="zh-CN" altLang="en-US" sz="2000" kern="0" dirty="0">
                <a:solidFill>
                  <a:srgbClr val="C00000"/>
                </a:solidFill>
                <a:uFillTx/>
                <a:latin typeface="微软雅黑" panose="020B0503020204020204" charset="-122"/>
                <a:ea typeface="微软雅黑" panose="020B0503020204020204" charset="-122"/>
                <a:sym typeface="+mn-ea"/>
              </a:rPr>
              <a:t>记录为</a:t>
            </a:r>
            <a:r>
              <a:rPr lang="zh-CN" altLang="en-US" sz="2000" kern="0" dirty="0">
                <a:solidFill>
                  <a:schemeClr val="tx1"/>
                </a:solidFill>
                <a:uFillTx/>
                <a:latin typeface="微软雅黑" panose="020B0503020204020204" charset="-122"/>
                <a:ea typeface="微软雅黑" panose="020B0503020204020204" charset="-122"/>
                <a:sym typeface="+mn-ea"/>
              </a:rPr>
              <a:t>：软件缺陷</a:t>
            </a:r>
            <a:r>
              <a:rPr lang="en-US" altLang="zh-CN" sz="2000" kern="0" dirty="0">
                <a:solidFill>
                  <a:schemeClr val="tx1"/>
                </a:solidFill>
                <a:uFillTx/>
                <a:latin typeface="微软雅黑" panose="020B0503020204020204" charset="-122"/>
                <a:ea typeface="微软雅黑" panose="020B0503020204020204" charset="-122"/>
                <a:sym typeface="+mn-ea"/>
              </a:rPr>
              <a:t>002</a:t>
            </a:r>
            <a:endParaRPr lang="en-US" altLang="zh-CN" sz="2000" kern="0" dirty="0">
              <a:solidFill>
                <a:schemeClr val="tx1"/>
              </a:solidFill>
              <a:uFillTx/>
              <a:latin typeface="微软雅黑" panose="020B0503020204020204" charset="-122"/>
              <a:ea typeface="微软雅黑" panose="020B0503020204020204" charset="-122"/>
              <a:sym typeface="+mn-ea"/>
            </a:endParaRPr>
          </a:p>
          <a:p>
            <a:pPr marL="342900" indent="-342900" algn="l" defTabSz="457200">
              <a:lnSpc>
                <a:spcPct val="150000"/>
              </a:lnSpc>
              <a:buFont typeface="Wingdings" panose="05000000000000000000" pitchFamily="2" charset="2"/>
              <a:buChar char="p"/>
              <a:defRPr sz="1800">
                <a:solidFill>
                  <a:srgbClr val="000000"/>
                </a:solidFill>
                <a:uFillTx/>
              </a:defRPr>
            </a:pPr>
            <a:r>
              <a:rPr lang="zh-CN" altLang="en-US" sz="2000" kern="0" dirty="0">
                <a:solidFill>
                  <a:srgbClr val="C00000"/>
                </a:solidFill>
                <a:uFillTx/>
                <a:latin typeface="微软雅黑" panose="020B0503020204020204" charset="-122"/>
                <a:ea typeface="微软雅黑" panose="020B0503020204020204" charset="-122"/>
                <a:sym typeface="+mn-ea"/>
              </a:rPr>
              <a:t>严重级别</a:t>
            </a:r>
            <a:r>
              <a:rPr lang="zh-CN" altLang="en-US" sz="2000" kern="0" dirty="0">
                <a:solidFill>
                  <a:schemeClr val="tx1"/>
                </a:solidFill>
                <a:uFillTx/>
                <a:latin typeface="微软雅黑" panose="020B0503020204020204" charset="-122"/>
                <a:ea typeface="微软雅黑" panose="020B0503020204020204" charset="-122"/>
                <a:sym typeface="+mn-ea"/>
              </a:rPr>
              <a:t>：中</a:t>
            </a:r>
            <a:endParaRPr lang="zh-CN" altLang="en-US" sz="2000" kern="0" dirty="0">
              <a:solidFill>
                <a:schemeClr val="tx1"/>
              </a:solidFill>
              <a:uFillTx/>
              <a:latin typeface="微软雅黑" panose="020B0503020204020204" charset="-122"/>
              <a:ea typeface="微软雅黑" panose="020B0503020204020204" charset="-122"/>
              <a:sym typeface="+mn-ea"/>
            </a:endParaRPr>
          </a:p>
        </p:txBody>
      </p:sp>
      <p:sp>
        <p:nvSpPr>
          <p:cNvPr id="19" name="圆角矩形 51"/>
          <p:cNvSpPr/>
          <p:nvPr/>
        </p:nvSpPr>
        <p:spPr>
          <a:xfrm>
            <a:off x="8247190" y="1771288"/>
            <a:ext cx="2343789" cy="523518"/>
          </a:xfrm>
          <a:prstGeom prst="roundRect">
            <a:avLst/>
          </a:prstGeom>
          <a:solidFill>
            <a:schemeClr val="accent1">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charset="-122"/>
                <a:ea typeface="微软雅黑" panose="020B0503020204020204" charset="-122"/>
              </a:rPr>
              <a:t>测试分析</a:t>
            </a:r>
            <a:endParaRPr lang="zh-CN" altLang="en-US" sz="2400" b="1" dirty="0">
              <a:solidFill>
                <a:schemeClr val="tx1"/>
              </a:solidFill>
              <a:latin typeface="微软雅黑" panose="020B0503020204020204" charset="-122"/>
              <a:ea typeface="微软雅黑" panose="020B0503020204020204" charset="-122"/>
            </a:endParaRPr>
          </a:p>
        </p:txBody>
      </p:sp>
      <p:pic>
        <p:nvPicPr>
          <p:cNvPr id="2" name="图片 1" descr="b94565f39212f2fc50117fb8cc7d3a42"/>
          <p:cNvPicPr>
            <a:picLocks noChangeAspect="1"/>
          </p:cNvPicPr>
          <p:nvPr/>
        </p:nvPicPr>
        <p:blipFill>
          <a:blip r:embed="rId1"/>
          <a:stretch>
            <a:fillRect/>
          </a:stretch>
        </p:blipFill>
        <p:spPr>
          <a:xfrm>
            <a:off x="1390203" y="2617076"/>
            <a:ext cx="4491065" cy="2156530"/>
          </a:xfrm>
          <a:prstGeom prst="rect">
            <a:avLst/>
          </a:prstGeom>
          <a:effectLst>
            <a:outerShdw blurRad="63500" sx="102000" sy="102000" algn="ctr" rotWithShape="0">
              <a:prstClr val="black">
                <a:alpha val="40000"/>
              </a:prstClr>
            </a:outerShdw>
          </a:effectLst>
        </p:spPr>
      </p:pic>
      <p:sp>
        <p:nvSpPr>
          <p:cNvPr id="3" name="矩形 2"/>
          <p:cNvSpPr/>
          <p:nvPr/>
        </p:nvSpPr>
        <p:spPr>
          <a:xfrm>
            <a:off x="6971286" y="1431488"/>
            <a:ext cx="4562765" cy="4836297"/>
          </a:xfrm>
          <a:prstGeom prst="rect">
            <a:avLst/>
          </a:prstGeom>
          <a:noFill/>
          <a:ln w="3810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圆角矩形 51"/>
          <p:cNvSpPr/>
          <p:nvPr/>
        </p:nvSpPr>
        <p:spPr>
          <a:xfrm>
            <a:off x="497863" y="2617076"/>
            <a:ext cx="611274" cy="2095208"/>
          </a:xfrm>
          <a:prstGeom prst="roundRect">
            <a:avLst/>
          </a:prstGeom>
          <a:solidFill>
            <a:schemeClr val="accent1">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charset="-122"/>
                <a:ea typeface="微软雅黑" panose="020B0503020204020204" charset="-122"/>
              </a:rPr>
              <a:t>商品测试</a:t>
            </a:r>
            <a:endParaRPr lang="zh-CN" altLang="en-US" sz="2400" b="1" dirty="0">
              <a:solidFill>
                <a:schemeClr val="tx1"/>
              </a:solidFill>
              <a:latin typeface="微软雅黑" panose="020B0503020204020204" charset="-122"/>
              <a:ea typeface="微软雅黑" panose="020B0503020204020204" charset="-122"/>
            </a:endParaRPr>
          </a:p>
        </p:txBody>
      </p:sp>
      <p:sp>
        <p:nvSpPr>
          <p:cNvPr id="5" name="文本框 4"/>
          <p:cNvSpPr txBox="1"/>
          <p:nvPr/>
        </p:nvSpPr>
        <p:spPr>
          <a:xfrm>
            <a:off x="190994" y="-37583"/>
            <a:ext cx="1757623" cy="369332"/>
          </a:xfrm>
          <a:prstGeom prst="rect">
            <a:avLst/>
          </a:prstGeom>
          <a:noFill/>
        </p:spPr>
        <p:txBody>
          <a:bodyPr wrap="square" rtlCol="0">
            <a:spAutoFit/>
          </a:bodyPr>
          <a:lstStyle/>
          <a:p>
            <a:r>
              <a:rPr lang="zh-CN" altLang="en-US" b="1" dirty="0"/>
              <a:t>测试结果展示</a:t>
            </a:r>
            <a:endParaRPr lang="zh-CN" altLang="en-US" b="1"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圆角 16"/>
          <p:cNvSpPr/>
          <p:nvPr/>
        </p:nvSpPr>
        <p:spPr>
          <a:xfrm>
            <a:off x="806657" y="1379688"/>
            <a:ext cx="5360086" cy="3877710"/>
          </a:xfrm>
          <a:prstGeom prst="roundRect">
            <a:avLst>
              <a:gd name="adj" fmla="val 4401"/>
            </a:avLst>
          </a:prstGeom>
          <a:solidFill>
            <a:schemeClr val="bg2"/>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圆角矩形 51"/>
          <p:cNvSpPr/>
          <p:nvPr/>
        </p:nvSpPr>
        <p:spPr>
          <a:xfrm>
            <a:off x="466331" y="2085983"/>
            <a:ext cx="611274" cy="2095208"/>
          </a:xfrm>
          <a:prstGeom prst="roundRect">
            <a:avLst/>
          </a:prstGeom>
          <a:solidFill>
            <a:schemeClr val="accent1">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charset="-122"/>
                <a:ea typeface="微软雅黑" panose="020B0503020204020204" charset="-122"/>
              </a:rPr>
              <a:t>购物车测试</a:t>
            </a:r>
            <a:endParaRPr lang="zh-CN" altLang="en-US" sz="2400" b="1" dirty="0">
              <a:solidFill>
                <a:schemeClr val="tx1"/>
              </a:solidFill>
              <a:latin typeface="微软雅黑" panose="020B0503020204020204" charset="-122"/>
              <a:ea typeface="微软雅黑" panose="020B0503020204020204" charset="-122"/>
            </a:endParaRPr>
          </a:p>
        </p:txBody>
      </p:sp>
      <p:sp>
        <p:nvSpPr>
          <p:cNvPr id="10" name="矩形 9"/>
          <p:cNvSpPr/>
          <p:nvPr/>
        </p:nvSpPr>
        <p:spPr>
          <a:xfrm>
            <a:off x="-33655" y="306269"/>
            <a:ext cx="3891091" cy="730685"/>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a:p>
        </p:txBody>
      </p:sp>
      <p:sp>
        <p:nvSpPr>
          <p:cNvPr id="11" name="矩形 10"/>
          <p:cNvSpPr/>
          <p:nvPr/>
        </p:nvSpPr>
        <p:spPr>
          <a:xfrm>
            <a:off x="-33655" y="-63062"/>
            <a:ext cx="212574" cy="369331"/>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932816" y="410210"/>
            <a:ext cx="2705866" cy="523220"/>
          </a:xfrm>
          <a:prstGeom prst="rect">
            <a:avLst/>
          </a:prstGeom>
          <a:noFill/>
        </p:spPr>
        <p:txBody>
          <a:bodyPr wrap="square" rtlCol="0">
            <a:spAutoFit/>
          </a:bodyPr>
          <a:lstStyle/>
          <a:p>
            <a:pPr algn="l"/>
            <a:r>
              <a:rPr lang="zh-CN" altLang="en-US" sz="2800" b="1" dirty="0">
                <a:solidFill>
                  <a:schemeClr val="bg1"/>
                </a:solidFill>
                <a:sym typeface="+mn-ea"/>
              </a:rPr>
              <a:t>购物车功能测试</a:t>
            </a:r>
            <a:endParaRPr lang="zh-CN" altLang="en-US" sz="2800" b="1" dirty="0">
              <a:solidFill>
                <a:schemeClr val="bg1"/>
              </a:solidFill>
              <a:sym typeface="+mn-ea"/>
            </a:endParaRPr>
          </a:p>
        </p:txBody>
      </p:sp>
      <p:sp>
        <p:nvSpPr>
          <p:cNvPr id="14" name="等腰三角形 13"/>
          <p:cNvSpPr/>
          <p:nvPr/>
        </p:nvSpPr>
        <p:spPr>
          <a:xfrm rot="5400000">
            <a:off x="309245" y="503555"/>
            <a:ext cx="445770" cy="334645"/>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Shape 8725"/>
          <p:cNvSpPr/>
          <p:nvPr/>
        </p:nvSpPr>
        <p:spPr>
          <a:xfrm>
            <a:off x="7252352" y="2342776"/>
            <a:ext cx="4000631" cy="3310760"/>
          </a:xfrm>
          <a:prstGeom prst="rect">
            <a:avLst/>
          </a:prstGeom>
          <a:noFill/>
          <a:ln w="12700" cap="flat">
            <a:noFill/>
            <a:miter lim="400000"/>
          </a:ln>
          <a:effectLst/>
        </p:spPr>
        <p:txBody>
          <a:bodyPr wrap="square" lIns="0" tIns="0" rIns="0" bIns="0" numCol="1" anchor="t">
            <a:noAutofit/>
          </a:bodyPr>
          <a:lstStyle>
            <a:lvl1pPr algn="ctr">
              <a:lnSpc>
                <a:spcPct val="140000"/>
              </a:lnSpc>
              <a:defRPr sz="800">
                <a:solidFill>
                  <a:srgbClr val="FFFFFF">
                    <a:alpha val="70000"/>
                  </a:srgbClr>
                </a:solidFill>
                <a:uFill>
                  <a:solidFill>
                    <a:srgbClr val="FFFFFF">
                      <a:alpha val="70000"/>
                    </a:srgbClr>
                  </a:solidFill>
                </a:uFill>
                <a:latin typeface="Roboto condensed"/>
                <a:ea typeface="Roboto condensed"/>
                <a:cs typeface="Roboto condensed"/>
                <a:sym typeface="Roboto condensed"/>
              </a:defRPr>
            </a:lvl1pPr>
          </a:lstStyle>
          <a:p>
            <a:pPr algn="l" defTabSz="457200">
              <a:lnSpc>
                <a:spcPct val="100000"/>
              </a:lnSpc>
              <a:defRPr sz="1800">
                <a:solidFill>
                  <a:srgbClr val="000000"/>
                </a:solidFill>
                <a:uFillTx/>
              </a:defRPr>
            </a:pPr>
            <a:endParaRPr lang="zh-CN" altLang="en-US" sz="1600" kern="0" dirty="0">
              <a:solidFill>
                <a:srgbClr val="000000"/>
              </a:solidFill>
              <a:uFillTx/>
              <a:latin typeface="微软雅黑" panose="020B0503020204020204" charset="-122"/>
              <a:ea typeface="微软雅黑" panose="020B0503020204020204" charset="-122"/>
            </a:endParaRPr>
          </a:p>
          <a:p>
            <a:pPr marL="342900" indent="-342900" algn="l" defTabSz="457200">
              <a:lnSpc>
                <a:spcPct val="150000"/>
              </a:lnSpc>
              <a:buFont typeface="Wingdings" panose="05000000000000000000" pitchFamily="2" charset="2"/>
              <a:buChar char="p"/>
              <a:defRPr sz="1800">
                <a:solidFill>
                  <a:srgbClr val="000000"/>
                </a:solidFill>
                <a:uFillTx/>
              </a:defRPr>
            </a:pPr>
            <a:r>
              <a:rPr lang="zh-CN" altLang="en-US" sz="2000" kern="0" dirty="0">
                <a:solidFill>
                  <a:srgbClr val="C00000"/>
                </a:solidFill>
                <a:uFillTx/>
                <a:latin typeface="微软雅黑" panose="020B0503020204020204" charset="-122"/>
                <a:ea typeface="微软雅黑" panose="020B0503020204020204" charset="-122"/>
                <a:sym typeface="+mn-ea"/>
              </a:rPr>
              <a:t>测试分析</a:t>
            </a:r>
            <a:r>
              <a:rPr lang="zh-CN" altLang="en-US" sz="2000" kern="0" dirty="0">
                <a:solidFill>
                  <a:schemeClr val="tx1"/>
                </a:solidFill>
                <a:uFillTx/>
                <a:latin typeface="微软雅黑" panose="020B0503020204020204" charset="-122"/>
                <a:ea typeface="微软雅黑" panose="020B0503020204020204" charset="-122"/>
                <a:sym typeface="+mn-ea"/>
              </a:rPr>
              <a:t>：在购物车功能模块测试中，针对“添加商品到购物车中”子功能测试中，测试用例通过，但购物车商品数量超过库存，应报告为错误测试用例。</a:t>
            </a:r>
            <a:endParaRPr lang="en-US" altLang="zh-CN" sz="2000" kern="0" dirty="0">
              <a:solidFill>
                <a:schemeClr val="tx1"/>
              </a:solidFill>
              <a:uFillTx/>
              <a:latin typeface="微软雅黑" panose="020B0503020204020204" charset="-122"/>
              <a:ea typeface="微软雅黑" panose="020B0503020204020204" charset="-122"/>
              <a:sym typeface="+mn-ea"/>
            </a:endParaRPr>
          </a:p>
          <a:p>
            <a:pPr marL="342900" indent="-342900" algn="l" defTabSz="457200">
              <a:lnSpc>
                <a:spcPct val="150000"/>
              </a:lnSpc>
              <a:buFont typeface="Wingdings" panose="05000000000000000000" pitchFamily="2" charset="2"/>
              <a:buChar char="p"/>
              <a:defRPr sz="1800">
                <a:solidFill>
                  <a:srgbClr val="000000"/>
                </a:solidFill>
                <a:uFillTx/>
              </a:defRPr>
            </a:pPr>
            <a:r>
              <a:rPr lang="zh-CN" altLang="en-US" sz="2000" kern="0" dirty="0">
                <a:solidFill>
                  <a:srgbClr val="C00000"/>
                </a:solidFill>
                <a:uFillTx/>
                <a:latin typeface="微软雅黑" panose="020B0503020204020204" charset="-122"/>
                <a:ea typeface="微软雅黑" panose="020B0503020204020204" charset="-122"/>
                <a:sym typeface="+mn-ea"/>
              </a:rPr>
              <a:t>记录为</a:t>
            </a:r>
            <a:r>
              <a:rPr lang="zh-CN" altLang="en-US" sz="2000" kern="0" dirty="0">
                <a:solidFill>
                  <a:schemeClr val="tx1"/>
                </a:solidFill>
                <a:uFillTx/>
                <a:latin typeface="微软雅黑" panose="020B0503020204020204" charset="-122"/>
                <a:ea typeface="微软雅黑" panose="020B0503020204020204" charset="-122"/>
                <a:sym typeface="+mn-ea"/>
              </a:rPr>
              <a:t>：软件缺陷</a:t>
            </a:r>
            <a:r>
              <a:rPr lang="en-US" altLang="zh-CN" sz="2000" kern="0" dirty="0">
                <a:solidFill>
                  <a:schemeClr val="tx1"/>
                </a:solidFill>
                <a:uFillTx/>
                <a:latin typeface="微软雅黑" panose="020B0503020204020204" charset="-122"/>
                <a:ea typeface="微软雅黑" panose="020B0503020204020204" charset="-122"/>
                <a:sym typeface="+mn-ea"/>
              </a:rPr>
              <a:t>001</a:t>
            </a:r>
            <a:endParaRPr lang="en-US" altLang="zh-CN" sz="2000" kern="0" dirty="0">
              <a:solidFill>
                <a:schemeClr val="tx1"/>
              </a:solidFill>
              <a:uFillTx/>
              <a:latin typeface="微软雅黑" panose="020B0503020204020204" charset="-122"/>
              <a:ea typeface="微软雅黑" panose="020B0503020204020204" charset="-122"/>
              <a:sym typeface="+mn-ea"/>
            </a:endParaRPr>
          </a:p>
          <a:p>
            <a:pPr marL="342900" indent="-342900" algn="l" defTabSz="457200">
              <a:lnSpc>
                <a:spcPct val="150000"/>
              </a:lnSpc>
              <a:buFont typeface="Wingdings" panose="05000000000000000000" pitchFamily="2" charset="2"/>
              <a:buChar char="p"/>
              <a:defRPr sz="1800">
                <a:solidFill>
                  <a:srgbClr val="000000"/>
                </a:solidFill>
                <a:uFillTx/>
              </a:defRPr>
            </a:pPr>
            <a:r>
              <a:rPr lang="zh-CN" altLang="en-US" sz="2000" kern="0" dirty="0">
                <a:solidFill>
                  <a:srgbClr val="C00000"/>
                </a:solidFill>
                <a:uFillTx/>
                <a:latin typeface="微软雅黑" panose="020B0503020204020204" charset="-122"/>
                <a:ea typeface="微软雅黑" panose="020B0503020204020204" charset="-122"/>
                <a:sym typeface="+mn-ea"/>
              </a:rPr>
              <a:t>严重级别</a:t>
            </a:r>
            <a:r>
              <a:rPr lang="zh-CN" altLang="en-US" sz="2000" kern="0" dirty="0">
                <a:solidFill>
                  <a:schemeClr val="tx1"/>
                </a:solidFill>
                <a:uFillTx/>
                <a:latin typeface="微软雅黑" panose="020B0503020204020204" charset="-122"/>
                <a:ea typeface="微软雅黑" panose="020B0503020204020204" charset="-122"/>
                <a:sym typeface="+mn-ea"/>
              </a:rPr>
              <a:t>：高</a:t>
            </a:r>
            <a:endParaRPr lang="zh-CN" altLang="en-US" sz="2000" kern="0" dirty="0">
              <a:solidFill>
                <a:srgbClr val="C00000"/>
              </a:solidFill>
              <a:uFillTx/>
              <a:latin typeface="微软雅黑" panose="020B0503020204020204" charset="-122"/>
              <a:ea typeface="微软雅黑" panose="020B0503020204020204" charset="-122"/>
              <a:sym typeface="+mn-ea"/>
            </a:endParaRPr>
          </a:p>
        </p:txBody>
      </p:sp>
      <p:sp>
        <p:nvSpPr>
          <p:cNvPr id="19" name="圆角矩形 51"/>
          <p:cNvSpPr/>
          <p:nvPr/>
        </p:nvSpPr>
        <p:spPr>
          <a:xfrm>
            <a:off x="8247190" y="1771288"/>
            <a:ext cx="2343789" cy="523518"/>
          </a:xfrm>
          <a:prstGeom prst="roundRect">
            <a:avLst/>
          </a:prstGeom>
          <a:solidFill>
            <a:schemeClr val="accent1">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charset="-122"/>
                <a:ea typeface="微软雅黑" panose="020B0503020204020204" charset="-122"/>
              </a:rPr>
              <a:t>测试分析</a:t>
            </a:r>
            <a:endParaRPr lang="zh-CN" altLang="en-US" sz="2400" b="1" dirty="0">
              <a:solidFill>
                <a:schemeClr val="tx1"/>
              </a:solidFill>
              <a:latin typeface="微软雅黑" panose="020B0503020204020204" charset="-122"/>
              <a:ea typeface="微软雅黑" panose="020B0503020204020204" charset="-122"/>
            </a:endParaRPr>
          </a:p>
        </p:txBody>
      </p:sp>
      <p:sp>
        <p:nvSpPr>
          <p:cNvPr id="20" name="矩形 19"/>
          <p:cNvSpPr/>
          <p:nvPr/>
        </p:nvSpPr>
        <p:spPr>
          <a:xfrm>
            <a:off x="6971286" y="1431488"/>
            <a:ext cx="4562765" cy="4836297"/>
          </a:xfrm>
          <a:prstGeom prst="rect">
            <a:avLst/>
          </a:prstGeom>
          <a:noFill/>
          <a:ln w="3810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descr="995a7fdeb37036fd5299353501c1cc9d"/>
          <p:cNvPicPr>
            <a:picLocks noChangeAspect="1"/>
          </p:cNvPicPr>
          <p:nvPr/>
        </p:nvPicPr>
        <p:blipFill>
          <a:blip r:embed="rId1"/>
          <a:stretch>
            <a:fillRect/>
          </a:stretch>
        </p:blipFill>
        <p:spPr>
          <a:xfrm>
            <a:off x="1218511" y="1771288"/>
            <a:ext cx="4675114" cy="3124131"/>
          </a:xfrm>
          <a:prstGeom prst="rect">
            <a:avLst/>
          </a:prstGeom>
        </p:spPr>
      </p:pic>
      <p:sp>
        <p:nvSpPr>
          <p:cNvPr id="4" name="文本框 3"/>
          <p:cNvSpPr txBox="1"/>
          <p:nvPr/>
        </p:nvSpPr>
        <p:spPr>
          <a:xfrm>
            <a:off x="417154" y="5507244"/>
            <a:ext cx="6277828" cy="874407"/>
          </a:xfrm>
          <a:prstGeom prst="rect">
            <a:avLst/>
          </a:prstGeom>
          <a:noFill/>
        </p:spPr>
        <p:txBody>
          <a:bodyPr wrap="square">
            <a:spAutoFit/>
          </a:bodyPr>
          <a:lstStyle/>
          <a:p>
            <a:pPr marL="342900" indent="-342900" algn="l" defTabSz="457200">
              <a:lnSpc>
                <a:spcPct val="150000"/>
              </a:lnSpc>
              <a:buFont typeface="Wingdings" panose="05000000000000000000" pitchFamily="2" charset="2"/>
              <a:buChar char="p"/>
              <a:defRPr sz="1800">
                <a:solidFill>
                  <a:srgbClr val="000000"/>
                </a:solidFill>
                <a:uFillTx/>
              </a:defRPr>
            </a:pPr>
            <a:r>
              <a:rPr lang="zh-CN" altLang="en-US" sz="1800" kern="0" dirty="0">
                <a:solidFill>
                  <a:schemeClr val="tx1"/>
                </a:solidFill>
                <a:uFillTx/>
                <a:latin typeface="微软雅黑" panose="020B0503020204020204" charset="-122"/>
                <a:ea typeface="微软雅黑" panose="020B0503020204020204" charset="-122"/>
                <a:sym typeface="+mn-ea"/>
              </a:rPr>
              <a:t>在代码测试中通过了此限制功能的测试，但是实际网站运行中购物车中的物品数量可以超过库存中商品的数量。</a:t>
            </a:r>
            <a:endParaRPr lang="zh-CN" altLang="en-US" sz="1800" kern="0" dirty="0">
              <a:solidFill>
                <a:schemeClr val="tx1"/>
              </a:solidFill>
              <a:uFillTx/>
              <a:latin typeface="微软雅黑" panose="020B0503020204020204" charset="-122"/>
              <a:ea typeface="微软雅黑" panose="020B0503020204020204" charset="-122"/>
              <a:sym typeface="+mn-ea"/>
            </a:endParaRPr>
          </a:p>
        </p:txBody>
      </p:sp>
      <p:sp>
        <p:nvSpPr>
          <p:cNvPr id="3" name="文本框 2"/>
          <p:cNvSpPr txBox="1"/>
          <p:nvPr/>
        </p:nvSpPr>
        <p:spPr>
          <a:xfrm>
            <a:off x="190994" y="-37583"/>
            <a:ext cx="1757623" cy="369332"/>
          </a:xfrm>
          <a:prstGeom prst="rect">
            <a:avLst/>
          </a:prstGeom>
          <a:noFill/>
        </p:spPr>
        <p:txBody>
          <a:bodyPr wrap="square" rtlCol="0">
            <a:spAutoFit/>
          </a:bodyPr>
          <a:lstStyle/>
          <a:p>
            <a:r>
              <a:rPr lang="zh-CN" altLang="en-US" b="1" dirty="0"/>
              <a:t>测试结果展示</a:t>
            </a:r>
            <a:endParaRPr lang="zh-CN" altLang="en-US" b="1"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圆角 16"/>
          <p:cNvSpPr/>
          <p:nvPr/>
        </p:nvSpPr>
        <p:spPr>
          <a:xfrm>
            <a:off x="838189" y="1702676"/>
            <a:ext cx="5518468" cy="4293920"/>
          </a:xfrm>
          <a:prstGeom prst="roundRect">
            <a:avLst>
              <a:gd name="adj" fmla="val 4401"/>
            </a:avLst>
          </a:prstGeom>
          <a:solidFill>
            <a:schemeClr val="bg2"/>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33655" y="306269"/>
            <a:ext cx="3891091" cy="730685"/>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a:p>
        </p:txBody>
      </p:sp>
      <p:sp>
        <p:nvSpPr>
          <p:cNvPr id="11" name="矩形 10"/>
          <p:cNvSpPr/>
          <p:nvPr/>
        </p:nvSpPr>
        <p:spPr>
          <a:xfrm>
            <a:off x="-33655" y="-63062"/>
            <a:ext cx="212574" cy="369331"/>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932816" y="410210"/>
            <a:ext cx="2705866" cy="523220"/>
          </a:xfrm>
          <a:prstGeom prst="rect">
            <a:avLst/>
          </a:prstGeom>
          <a:noFill/>
        </p:spPr>
        <p:txBody>
          <a:bodyPr wrap="square" rtlCol="0">
            <a:spAutoFit/>
          </a:bodyPr>
          <a:lstStyle/>
          <a:p>
            <a:pPr algn="l"/>
            <a:r>
              <a:rPr lang="zh-CN" altLang="en-US" sz="2800" b="1" dirty="0">
                <a:solidFill>
                  <a:schemeClr val="bg1"/>
                </a:solidFill>
                <a:sym typeface="+mn-ea"/>
              </a:rPr>
              <a:t>订单功能测试</a:t>
            </a:r>
            <a:endParaRPr lang="zh-CN" altLang="en-US" sz="2800" b="1" dirty="0">
              <a:solidFill>
                <a:schemeClr val="bg1"/>
              </a:solidFill>
              <a:sym typeface="+mn-ea"/>
            </a:endParaRPr>
          </a:p>
        </p:txBody>
      </p:sp>
      <p:sp>
        <p:nvSpPr>
          <p:cNvPr id="14" name="等腰三角形 13"/>
          <p:cNvSpPr/>
          <p:nvPr/>
        </p:nvSpPr>
        <p:spPr>
          <a:xfrm rot="5400000">
            <a:off x="309245" y="503555"/>
            <a:ext cx="445770" cy="334645"/>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Shape 8725"/>
          <p:cNvSpPr/>
          <p:nvPr/>
        </p:nvSpPr>
        <p:spPr>
          <a:xfrm>
            <a:off x="7252352" y="2371111"/>
            <a:ext cx="4000631" cy="3462129"/>
          </a:xfrm>
          <a:prstGeom prst="rect">
            <a:avLst/>
          </a:prstGeom>
          <a:noFill/>
          <a:ln w="12700" cap="flat">
            <a:noFill/>
            <a:miter lim="400000"/>
          </a:ln>
          <a:effectLst/>
        </p:spPr>
        <p:txBody>
          <a:bodyPr wrap="square" lIns="0" tIns="0" rIns="0" bIns="0" numCol="1" anchor="t">
            <a:noAutofit/>
          </a:bodyPr>
          <a:lstStyle>
            <a:lvl1pPr algn="ctr">
              <a:lnSpc>
                <a:spcPct val="140000"/>
              </a:lnSpc>
              <a:defRPr sz="800">
                <a:solidFill>
                  <a:srgbClr val="FFFFFF">
                    <a:alpha val="70000"/>
                  </a:srgbClr>
                </a:solidFill>
                <a:uFill>
                  <a:solidFill>
                    <a:srgbClr val="FFFFFF">
                      <a:alpha val="70000"/>
                    </a:srgbClr>
                  </a:solidFill>
                </a:uFill>
                <a:latin typeface="Roboto condensed"/>
                <a:ea typeface="Roboto condensed"/>
                <a:cs typeface="Roboto condensed"/>
                <a:sym typeface="Roboto condensed"/>
              </a:defRPr>
            </a:lvl1pPr>
          </a:lstStyle>
          <a:p>
            <a:pPr algn="l" defTabSz="457200">
              <a:lnSpc>
                <a:spcPct val="100000"/>
              </a:lnSpc>
              <a:defRPr sz="1800">
                <a:solidFill>
                  <a:srgbClr val="000000"/>
                </a:solidFill>
                <a:uFillTx/>
              </a:defRPr>
            </a:pPr>
            <a:endParaRPr lang="zh-CN" altLang="en-US" sz="1600" kern="0" dirty="0">
              <a:solidFill>
                <a:srgbClr val="000000"/>
              </a:solidFill>
              <a:uFillTx/>
              <a:latin typeface="微软雅黑" panose="020B0503020204020204" charset="-122"/>
              <a:ea typeface="微软雅黑" panose="020B0503020204020204" charset="-122"/>
            </a:endParaRPr>
          </a:p>
          <a:p>
            <a:pPr marL="342900" indent="-342900" algn="l" defTabSz="457200">
              <a:lnSpc>
                <a:spcPct val="150000"/>
              </a:lnSpc>
              <a:buFont typeface="Wingdings" panose="05000000000000000000" pitchFamily="2" charset="2"/>
              <a:buChar char="p"/>
              <a:defRPr sz="1800">
                <a:solidFill>
                  <a:srgbClr val="000000"/>
                </a:solidFill>
                <a:uFillTx/>
              </a:defRPr>
            </a:pPr>
            <a:r>
              <a:rPr lang="zh-CN" altLang="en-US" sz="2000" kern="0" dirty="0">
                <a:solidFill>
                  <a:srgbClr val="C00000"/>
                </a:solidFill>
                <a:uFillTx/>
                <a:latin typeface="微软雅黑" panose="020B0503020204020204" charset="-122"/>
                <a:ea typeface="微软雅黑" panose="020B0503020204020204" charset="-122"/>
                <a:sym typeface="+mn-ea"/>
              </a:rPr>
              <a:t>测试分析</a:t>
            </a:r>
            <a:r>
              <a:rPr lang="zh-CN" altLang="en-US" sz="2000" kern="0" dirty="0">
                <a:solidFill>
                  <a:schemeClr val="tx1"/>
                </a:solidFill>
                <a:uFillTx/>
                <a:latin typeface="微软雅黑" panose="020B0503020204020204" charset="-122"/>
                <a:ea typeface="微软雅黑" panose="020B0503020204020204" charset="-122"/>
                <a:sym typeface="+mn-ea"/>
              </a:rPr>
              <a:t>：在订单功能测试中，收货地址功能测试，存在诸如“邮编与电话长度未限制、在其中可以输入并保存字母”的情况，应报告为错误测试用例。</a:t>
            </a:r>
            <a:endParaRPr lang="en-US" altLang="zh-CN" sz="2000" kern="0" dirty="0">
              <a:solidFill>
                <a:schemeClr val="tx1"/>
              </a:solidFill>
              <a:uFillTx/>
              <a:latin typeface="微软雅黑" panose="020B0503020204020204" charset="-122"/>
              <a:ea typeface="微软雅黑" panose="020B0503020204020204" charset="-122"/>
              <a:sym typeface="+mn-ea"/>
            </a:endParaRPr>
          </a:p>
          <a:p>
            <a:pPr marL="342900" indent="-342900" algn="l" defTabSz="457200">
              <a:lnSpc>
                <a:spcPct val="150000"/>
              </a:lnSpc>
              <a:buFont typeface="Wingdings" panose="05000000000000000000" pitchFamily="2" charset="2"/>
              <a:buChar char="p"/>
              <a:defRPr sz="1800">
                <a:solidFill>
                  <a:srgbClr val="000000"/>
                </a:solidFill>
                <a:uFillTx/>
              </a:defRPr>
            </a:pPr>
            <a:r>
              <a:rPr lang="zh-CN" altLang="en-US" sz="2000" kern="0" dirty="0">
                <a:solidFill>
                  <a:srgbClr val="C00000"/>
                </a:solidFill>
                <a:uFillTx/>
                <a:latin typeface="微软雅黑" panose="020B0503020204020204" charset="-122"/>
                <a:ea typeface="微软雅黑" panose="020B0503020204020204" charset="-122"/>
                <a:sym typeface="+mn-ea"/>
              </a:rPr>
              <a:t>记录为：</a:t>
            </a:r>
            <a:r>
              <a:rPr lang="zh-CN" altLang="en-US" sz="2000" kern="0" dirty="0">
                <a:solidFill>
                  <a:schemeClr val="tx1"/>
                </a:solidFill>
                <a:uFillTx/>
                <a:latin typeface="微软雅黑" panose="020B0503020204020204" charset="-122"/>
                <a:ea typeface="微软雅黑" panose="020B0503020204020204" charset="-122"/>
                <a:sym typeface="+mn-ea"/>
              </a:rPr>
              <a:t>软件缺陷</a:t>
            </a:r>
            <a:endParaRPr lang="en-US" altLang="zh-CN" sz="2000" kern="0" dirty="0">
              <a:solidFill>
                <a:schemeClr val="tx1"/>
              </a:solidFill>
              <a:uFillTx/>
              <a:latin typeface="微软雅黑" panose="020B0503020204020204" charset="-122"/>
              <a:ea typeface="微软雅黑" panose="020B0503020204020204" charset="-122"/>
              <a:sym typeface="+mn-ea"/>
            </a:endParaRPr>
          </a:p>
          <a:p>
            <a:pPr marL="342900" indent="-342900" algn="l" defTabSz="457200">
              <a:lnSpc>
                <a:spcPct val="150000"/>
              </a:lnSpc>
              <a:buFont typeface="Wingdings" panose="05000000000000000000" pitchFamily="2" charset="2"/>
              <a:buChar char="p"/>
              <a:defRPr sz="1800">
                <a:solidFill>
                  <a:srgbClr val="000000"/>
                </a:solidFill>
                <a:uFillTx/>
              </a:defRPr>
            </a:pPr>
            <a:r>
              <a:rPr lang="zh-CN" altLang="en-US" sz="2000" kern="0" dirty="0">
                <a:solidFill>
                  <a:srgbClr val="C00000"/>
                </a:solidFill>
                <a:uFillTx/>
                <a:latin typeface="微软雅黑" panose="020B0503020204020204" charset="-122"/>
                <a:ea typeface="微软雅黑" panose="020B0503020204020204" charset="-122"/>
                <a:sym typeface="+mn-ea"/>
              </a:rPr>
              <a:t>严重级别：</a:t>
            </a:r>
            <a:r>
              <a:rPr lang="zh-CN" altLang="en-US" sz="2000" kern="0" dirty="0">
                <a:solidFill>
                  <a:schemeClr val="tx1"/>
                </a:solidFill>
                <a:uFillTx/>
                <a:latin typeface="微软雅黑" panose="020B0503020204020204" charset="-122"/>
                <a:ea typeface="微软雅黑" panose="020B0503020204020204" charset="-122"/>
                <a:sym typeface="+mn-ea"/>
              </a:rPr>
              <a:t>高</a:t>
            </a:r>
            <a:endParaRPr lang="zh-CN" altLang="en-US" sz="2000" kern="0" dirty="0">
              <a:solidFill>
                <a:srgbClr val="C00000"/>
              </a:solidFill>
              <a:uFillTx/>
              <a:latin typeface="微软雅黑" panose="020B0503020204020204" charset="-122"/>
              <a:ea typeface="微软雅黑" panose="020B0503020204020204" charset="-122"/>
              <a:sym typeface="+mn-ea"/>
            </a:endParaRPr>
          </a:p>
        </p:txBody>
      </p:sp>
      <p:sp>
        <p:nvSpPr>
          <p:cNvPr id="19" name="圆角矩形 51"/>
          <p:cNvSpPr/>
          <p:nvPr/>
        </p:nvSpPr>
        <p:spPr>
          <a:xfrm>
            <a:off x="8247190" y="1771288"/>
            <a:ext cx="2343789" cy="523518"/>
          </a:xfrm>
          <a:prstGeom prst="roundRect">
            <a:avLst/>
          </a:prstGeom>
          <a:solidFill>
            <a:schemeClr val="accent1">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charset="-122"/>
                <a:ea typeface="微软雅黑" panose="020B0503020204020204" charset="-122"/>
              </a:rPr>
              <a:t>测试分析</a:t>
            </a:r>
            <a:endParaRPr lang="zh-CN" altLang="en-US" sz="2400" b="1" dirty="0">
              <a:solidFill>
                <a:schemeClr val="tx1"/>
              </a:solidFill>
              <a:latin typeface="微软雅黑" panose="020B0503020204020204" charset="-122"/>
              <a:ea typeface="微软雅黑" panose="020B0503020204020204" charset="-122"/>
            </a:endParaRPr>
          </a:p>
        </p:txBody>
      </p:sp>
      <p:sp>
        <p:nvSpPr>
          <p:cNvPr id="20" name="矩形 19"/>
          <p:cNvSpPr/>
          <p:nvPr/>
        </p:nvSpPr>
        <p:spPr>
          <a:xfrm>
            <a:off x="6971286" y="1431488"/>
            <a:ext cx="4562765" cy="4836297"/>
          </a:xfrm>
          <a:prstGeom prst="rect">
            <a:avLst/>
          </a:prstGeom>
          <a:noFill/>
          <a:ln w="3810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圆角矩形 51"/>
          <p:cNvSpPr/>
          <p:nvPr/>
        </p:nvSpPr>
        <p:spPr>
          <a:xfrm>
            <a:off x="497863" y="2617076"/>
            <a:ext cx="611274" cy="2095208"/>
          </a:xfrm>
          <a:prstGeom prst="roundRect">
            <a:avLst/>
          </a:prstGeom>
          <a:solidFill>
            <a:schemeClr val="accent1">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charset="-122"/>
                <a:ea typeface="微软雅黑" panose="020B0503020204020204" charset="-122"/>
              </a:rPr>
              <a:t>订单测试</a:t>
            </a:r>
            <a:endParaRPr lang="zh-CN" altLang="en-US" sz="2400" b="1" dirty="0">
              <a:solidFill>
                <a:schemeClr val="tx1"/>
              </a:solidFill>
              <a:latin typeface="微软雅黑" panose="020B0503020204020204" charset="-122"/>
              <a:ea typeface="微软雅黑" panose="020B0503020204020204" charset="-122"/>
            </a:endParaRPr>
          </a:p>
        </p:txBody>
      </p:sp>
      <p:pic>
        <p:nvPicPr>
          <p:cNvPr id="2" name="图片 1" descr="3381fa336b0c0c98d4bb9cb8c26a8012"/>
          <p:cNvPicPr>
            <a:picLocks noChangeAspect="1"/>
          </p:cNvPicPr>
          <p:nvPr/>
        </p:nvPicPr>
        <p:blipFill>
          <a:blip r:embed="rId1"/>
          <a:stretch>
            <a:fillRect/>
          </a:stretch>
        </p:blipFill>
        <p:spPr>
          <a:xfrm>
            <a:off x="1302517" y="2105608"/>
            <a:ext cx="4672330" cy="3488055"/>
          </a:xfrm>
          <a:prstGeom prst="rect">
            <a:avLst/>
          </a:prstGeom>
          <a:effectLst>
            <a:outerShdw blurRad="63500" sx="102000" sy="102000" algn="ctr" rotWithShape="0">
              <a:prstClr val="black">
                <a:alpha val="40000"/>
              </a:prstClr>
            </a:outerShdw>
          </a:effectLst>
        </p:spPr>
      </p:pic>
      <p:sp>
        <p:nvSpPr>
          <p:cNvPr id="3" name="文本框 2"/>
          <p:cNvSpPr txBox="1"/>
          <p:nvPr/>
        </p:nvSpPr>
        <p:spPr>
          <a:xfrm>
            <a:off x="190994" y="-37583"/>
            <a:ext cx="1757623" cy="369332"/>
          </a:xfrm>
          <a:prstGeom prst="rect">
            <a:avLst/>
          </a:prstGeom>
          <a:noFill/>
        </p:spPr>
        <p:txBody>
          <a:bodyPr wrap="square" rtlCol="0">
            <a:spAutoFit/>
          </a:bodyPr>
          <a:lstStyle/>
          <a:p>
            <a:r>
              <a:rPr lang="zh-CN" altLang="en-US" b="1" dirty="0"/>
              <a:t>测试结果展示</a:t>
            </a:r>
            <a:endParaRPr lang="zh-CN" altLang="en-US" b="1"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9685" y="1826895"/>
            <a:ext cx="12221210" cy="2751455"/>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 name="组合 14"/>
          <p:cNvGrpSpPr/>
          <p:nvPr/>
        </p:nvGrpSpPr>
        <p:grpSpPr>
          <a:xfrm rot="840000">
            <a:off x="2648222" y="2162808"/>
            <a:ext cx="1192471" cy="2079625"/>
            <a:chOff x="6293" y="1109"/>
            <a:chExt cx="1712" cy="3058"/>
          </a:xfrm>
        </p:grpSpPr>
        <p:sp>
          <p:nvSpPr>
            <p:cNvPr id="8" name="圆角矩形 7"/>
            <p:cNvSpPr/>
            <p:nvPr/>
          </p:nvSpPr>
          <p:spPr>
            <a:xfrm>
              <a:off x="6293" y="1109"/>
              <a:ext cx="1549" cy="3058"/>
            </a:xfrm>
            <a:prstGeom prst="roundRect">
              <a:avLst>
                <a:gd name="adj" fmla="val 9795"/>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圆角矩形 8"/>
            <p:cNvSpPr/>
            <p:nvPr/>
          </p:nvSpPr>
          <p:spPr>
            <a:xfrm>
              <a:off x="6342" y="1158"/>
              <a:ext cx="1450" cy="2959"/>
            </a:xfrm>
            <a:prstGeom prst="roundRect">
              <a:avLst>
                <a:gd name="adj" fmla="val 9795"/>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6323" y="1608"/>
              <a:ext cx="1682" cy="1492"/>
            </a:xfrm>
            <a:prstGeom prst="rect">
              <a:avLst/>
            </a:prstGeom>
            <a:noFill/>
          </p:spPr>
          <p:txBody>
            <a:bodyPr wrap="square" rtlCol="0">
              <a:spAutoFit/>
            </a:bodyPr>
            <a:lstStyle/>
            <a:p>
              <a:r>
                <a:rPr lang="en-US" altLang="zh-CN" sz="6000" dirty="0">
                  <a:solidFill>
                    <a:schemeClr val="bg1"/>
                  </a:solidFill>
                  <a:latin typeface="Times New Roman" panose="02020603050405020304" pitchFamily="18" charset="0"/>
                  <a:ea typeface="Kozuka Gothic Pr6N H" panose="020B0800000000000000" charset="-128"/>
                  <a:cs typeface="Times New Roman" panose="02020603050405020304" pitchFamily="18" charset="0"/>
                </a:rPr>
                <a:t>04</a:t>
              </a:r>
              <a:endParaRPr lang="en-US" altLang="zh-CN" sz="6000" dirty="0">
                <a:solidFill>
                  <a:schemeClr val="bg1"/>
                </a:solidFill>
                <a:latin typeface="Times New Roman" panose="02020603050405020304" pitchFamily="18" charset="0"/>
                <a:ea typeface="Kozuka Gothic Pr6N H" panose="020B0800000000000000" charset="-128"/>
                <a:cs typeface="Times New Roman" panose="02020603050405020304" pitchFamily="18" charset="0"/>
              </a:endParaRPr>
            </a:p>
          </p:txBody>
        </p:sp>
        <p:sp>
          <p:nvSpPr>
            <p:cNvPr id="11" name="椭圆 10"/>
            <p:cNvSpPr/>
            <p:nvPr/>
          </p:nvSpPr>
          <p:spPr>
            <a:xfrm>
              <a:off x="6870" y="3721"/>
              <a:ext cx="300" cy="300"/>
            </a:xfrm>
            <a:prstGeom prst="ellipse">
              <a:avLst/>
            </a:prstGeom>
            <a:solidFill>
              <a:schemeClr val="bg1">
                <a:lumMod val="95000"/>
              </a:schemeClr>
            </a:solidFill>
            <a:ln>
              <a:noFill/>
            </a:ln>
            <a:effectLst>
              <a:innerShdw>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6751" y="1199"/>
              <a:ext cx="120" cy="120"/>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6897" y="1199"/>
              <a:ext cx="120" cy="120"/>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文本框 15"/>
          <p:cNvSpPr txBox="1"/>
          <p:nvPr/>
        </p:nvSpPr>
        <p:spPr>
          <a:xfrm>
            <a:off x="4076997" y="2820722"/>
            <a:ext cx="3780537" cy="830997"/>
          </a:xfrm>
          <a:prstGeom prst="rect">
            <a:avLst/>
          </a:prstGeom>
          <a:noFill/>
        </p:spPr>
        <p:txBody>
          <a:bodyPr wrap="square" rtlCol="0">
            <a:spAutoFit/>
          </a:bodyPr>
          <a:lstStyle/>
          <a:p>
            <a:pPr algn="dist"/>
            <a:r>
              <a:rPr lang="en-US" altLang="zh-CN" sz="4800" dirty="0">
                <a:solidFill>
                  <a:schemeClr val="bg1"/>
                </a:solidFill>
              </a:rPr>
              <a:t>AI</a:t>
            </a:r>
            <a:r>
              <a:rPr lang="zh-CN" altLang="en-US" sz="4800" dirty="0">
                <a:solidFill>
                  <a:schemeClr val="bg1"/>
                </a:solidFill>
              </a:rPr>
              <a:t>辅助测试</a:t>
            </a:r>
            <a:endParaRPr lang="zh-CN" altLang="en-US" sz="4800" dirty="0">
              <a:solidFill>
                <a:schemeClr val="bg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33655" y="306269"/>
            <a:ext cx="3891091" cy="730685"/>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a:p>
        </p:txBody>
      </p:sp>
      <p:sp>
        <p:nvSpPr>
          <p:cNvPr id="11" name="矩形 10"/>
          <p:cNvSpPr/>
          <p:nvPr/>
        </p:nvSpPr>
        <p:spPr>
          <a:xfrm>
            <a:off x="-33655" y="-63062"/>
            <a:ext cx="212574" cy="369331"/>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932816" y="410210"/>
            <a:ext cx="2705866" cy="523220"/>
          </a:xfrm>
          <a:prstGeom prst="rect">
            <a:avLst/>
          </a:prstGeom>
          <a:noFill/>
        </p:spPr>
        <p:txBody>
          <a:bodyPr wrap="square" rtlCol="0">
            <a:spAutoFit/>
          </a:bodyPr>
          <a:lstStyle/>
          <a:p>
            <a:pPr algn="l"/>
            <a:r>
              <a:rPr lang="zh-CN" altLang="en-US" sz="2800" b="1" dirty="0">
                <a:solidFill>
                  <a:schemeClr val="bg1"/>
                </a:solidFill>
                <a:sym typeface="+mn-ea"/>
              </a:rPr>
              <a:t>订单模型测试</a:t>
            </a:r>
            <a:endParaRPr lang="zh-CN" altLang="en-US" sz="2800" b="1" dirty="0">
              <a:solidFill>
                <a:schemeClr val="bg1"/>
              </a:solidFill>
              <a:sym typeface="+mn-ea"/>
            </a:endParaRPr>
          </a:p>
        </p:txBody>
      </p:sp>
      <p:sp>
        <p:nvSpPr>
          <p:cNvPr id="14" name="等腰三角形 13"/>
          <p:cNvSpPr/>
          <p:nvPr/>
        </p:nvSpPr>
        <p:spPr>
          <a:xfrm rot="5400000">
            <a:off x="309245" y="503555"/>
            <a:ext cx="445770" cy="334645"/>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7" name="组合 26"/>
          <p:cNvGrpSpPr/>
          <p:nvPr/>
        </p:nvGrpSpPr>
        <p:grpSpPr>
          <a:xfrm>
            <a:off x="7220606" y="1520226"/>
            <a:ext cx="4239714" cy="4256260"/>
            <a:chOff x="7349534" y="1416513"/>
            <a:chExt cx="3109445" cy="4667723"/>
          </a:xfrm>
        </p:grpSpPr>
        <p:sp>
          <p:nvSpPr>
            <p:cNvPr id="16" name="Shape 8725"/>
            <p:cNvSpPr/>
            <p:nvPr/>
          </p:nvSpPr>
          <p:spPr>
            <a:xfrm>
              <a:off x="7575018" y="2997109"/>
              <a:ext cx="2724321" cy="2611797"/>
            </a:xfrm>
            <a:prstGeom prst="rect">
              <a:avLst/>
            </a:prstGeom>
            <a:noFill/>
            <a:ln w="12700" cap="flat">
              <a:noFill/>
              <a:miter lim="400000"/>
            </a:ln>
            <a:effectLst/>
          </p:spPr>
          <p:txBody>
            <a:bodyPr wrap="square" lIns="0" tIns="0" rIns="0" bIns="0" numCol="1" anchor="t">
              <a:noAutofit/>
            </a:bodyPr>
            <a:lstStyle>
              <a:lvl1pPr algn="ctr">
                <a:lnSpc>
                  <a:spcPct val="140000"/>
                </a:lnSpc>
                <a:defRPr sz="800">
                  <a:solidFill>
                    <a:srgbClr val="FFFFFF">
                      <a:alpha val="70000"/>
                    </a:srgbClr>
                  </a:solidFill>
                  <a:uFill>
                    <a:solidFill>
                      <a:srgbClr val="FFFFFF">
                        <a:alpha val="70000"/>
                      </a:srgbClr>
                    </a:solidFill>
                  </a:uFill>
                  <a:latin typeface="Roboto condensed"/>
                  <a:ea typeface="Roboto condensed"/>
                  <a:cs typeface="Roboto condensed"/>
                  <a:sym typeface="Roboto condensed"/>
                </a:defRPr>
              </a:lvl1pPr>
            </a:lstStyle>
            <a:p>
              <a:pPr algn="l" defTabSz="457200">
                <a:lnSpc>
                  <a:spcPct val="100000"/>
                </a:lnSpc>
                <a:defRPr sz="1800">
                  <a:solidFill>
                    <a:srgbClr val="000000"/>
                  </a:solidFill>
                  <a:uFillTx/>
                </a:defRPr>
              </a:pPr>
              <a:endParaRPr lang="zh-CN" altLang="en-US" sz="1600" kern="0" dirty="0">
                <a:solidFill>
                  <a:srgbClr val="000000"/>
                </a:solidFill>
                <a:uFillTx/>
                <a:latin typeface="微软雅黑" panose="020B0503020204020204" charset="-122"/>
                <a:ea typeface="微软雅黑" panose="020B0503020204020204" charset="-122"/>
              </a:endParaRPr>
            </a:p>
            <a:p>
              <a:pPr marL="342900" indent="-342900" algn="l" defTabSz="457200">
                <a:lnSpc>
                  <a:spcPct val="150000"/>
                </a:lnSpc>
                <a:buFont typeface="Wingdings" panose="05000000000000000000" pitchFamily="2" charset="2"/>
                <a:buChar char="p"/>
                <a:defRPr sz="1800">
                  <a:solidFill>
                    <a:srgbClr val="000000"/>
                  </a:solidFill>
                  <a:uFillTx/>
                </a:defRPr>
              </a:pPr>
              <a:r>
                <a:rPr lang="zh-CN" altLang="en-US" sz="2000" kern="0" dirty="0">
                  <a:solidFill>
                    <a:srgbClr val="C00000"/>
                  </a:solidFill>
                  <a:uFillTx/>
                  <a:latin typeface="微软雅黑" panose="020B0503020204020204" charset="-122"/>
                  <a:ea typeface="微软雅黑" panose="020B0503020204020204" charset="-122"/>
                  <a:sym typeface="+mn-ea"/>
                </a:rPr>
                <a:t>测试分析</a:t>
              </a:r>
              <a:r>
                <a:rPr lang="zh-CN" altLang="en-US" sz="2000" kern="0" dirty="0">
                  <a:solidFill>
                    <a:schemeClr val="tx1"/>
                  </a:solidFill>
                  <a:uFillTx/>
                  <a:latin typeface="微软雅黑" panose="020B0503020204020204" charset="-122"/>
                  <a:ea typeface="微软雅黑" panose="020B0503020204020204" charset="-122"/>
                  <a:sym typeface="+mn-ea"/>
                </a:rPr>
                <a:t>：订单号重复创建未产生数据库层报错。</a:t>
              </a:r>
              <a:endParaRPr lang="en-US" altLang="zh-CN" sz="2000" kern="0" dirty="0">
                <a:solidFill>
                  <a:schemeClr val="tx1"/>
                </a:solidFill>
                <a:uFillTx/>
                <a:latin typeface="微软雅黑" panose="020B0503020204020204" charset="-122"/>
                <a:ea typeface="微软雅黑" panose="020B0503020204020204" charset="-122"/>
                <a:sym typeface="+mn-ea"/>
              </a:endParaRPr>
            </a:p>
            <a:p>
              <a:pPr marL="342900" indent="-342900" algn="l" defTabSz="457200">
                <a:lnSpc>
                  <a:spcPct val="150000"/>
                </a:lnSpc>
                <a:buFont typeface="Wingdings" panose="05000000000000000000" pitchFamily="2" charset="2"/>
                <a:buChar char="p"/>
                <a:defRPr sz="1800">
                  <a:solidFill>
                    <a:srgbClr val="000000"/>
                  </a:solidFill>
                  <a:uFillTx/>
                </a:defRPr>
              </a:pPr>
              <a:r>
                <a:rPr lang="zh-CN" altLang="en-US" sz="2000" kern="0" dirty="0">
                  <a:solidFill>
                    <a:srgbClr val="C00000"/>
                  </a:solidFill>
                  <a:uFillTx/>
                  <a:latin typeface="微软雅黑" panose="020B0503020204020204" charset="-122"/>
                  <a:ea typeface="微软雅黑" panose="020B0503020204020204" charset="-122"/>
                  <a:sym typeface="+mn-ea"/>
                </a:rPr>
                <a:t>记录为：</a:t>
              </a:r>
              <a:r>
                <a:rPr lang="zh-CN" altLang="en-US" sz="2000" kern="0" dirty="0">
                  <a:solidFill>
                    <a:schemeClr val="tx1"/>
                  </a:solidFill>
                  <a:uFillTx/>
                  <a:latin typeface="微软雅黑" panose="020B0503020204020204" charset="-122"/>
                  <a:ea typeface="微软雅黑" panose="020B0503020204020204" charset="-122"/>
                  <a:sym typeface="+mn-ea"/>
                </a:rPr>
                <a:t>软件缺陷</a:t>
              </a:r>
              <a:endParaRPr lang="en-US" altLang="zh-CN" sz="2000" kern="0" dirty="0">
                <a:solidFill>
                  <a:schemeClr val="tx1"/>
                </a:solidFill>
                <a:uFillTx/>
                <a:latin typeface="微软雅黑" panose="020B0503020204020204" charset="-122"/>
                <a:ea typeface="微软雅黑" panose="020B0503020204020204" charset="-122"/>
                <a:sym typeface="+mn-ea"/>
              </a:endParaRPr>
            </a:p>
            <a:p>
              <a:pPr marL="342900" indent="-342900" algn="l" defTabSz="457200">
                <a:lnSpc>
                  <a:spcPct val="150000"/>
                </a:lnSpc>
                <a:buFont typeface="Wingdings" panose="05000000000000000000" pitchFamily="2" charset="2"/>
                <a:buChar char="p"/>
                <a:defRPr sz="1800">
                  <a:solidFill>
                    <a:srgbClr val="000000"/>
                  </a:solidFill>
                  <a:uFillTx/>
                </a:defRPr>
              </a:pPr>
              <a:r>
                <a:rPr lang="zh-CN" altLang="en-US" sz="2000" kern="0" dirty="0">
                  <a:solidFill>
                    <a:srgbClr val="C00000"/>
                  </a:solidFill>
                  <a:uFillTx/>
                  <a:latin typeface="微软雅黑" panose="020B0503020204020204" charset="-122"/>
                  <a:ea typeface="微软雅黑" panose="020B0503020204020204" charset="-122"/>
                  <a:sym typeface="+mn-ea"/>
                </a:rPr>
                <a:t>严重级别：</a:t>
              </a:r>
              <a:r>
                <a:rPr lang="zh-CN" altLang="en-US" sz="2000" kern="0" dirty="0">
                  <a:solidFill>
                    <a:schemeClr val="tx1"/>
                  </a:solidFill>
                  <a:uFillTx/>
                  <a:latin typeface="微软雅黑" panose="020B0503020204020204" charset="-122"/>
                  <a:ea typeface="微软雅黑" panose="020B0503020204020204" charset="-122"/>
                  <a:sym typeface="+mn-ea"/>
                </a:rPr>
                <a:t>高</a:t>
              </a:r>
              <a:endParaRPr lang="zh-CN" altLang="en-US" sz="2000" kern="0" dirty="0">
                <a:solidFill>
                  <a:srgbClr val="C00000"/>
                </a:solidFill>
                <a:uFillTx/>
                <a:latin typeface="微软雅黑" panose="020B0503020204020204" charset="-122"/>
                <a:ea typeface="微软雅黑" panose="020B0503020204020204" charset="-122"/>
                <a:sym typeface="+mn-ea"/>
              </a:endParaRPr>
            </a:p>
          </p:txBody>
        </p:sp>
        <p:sp>
          <p:nvSpPr>
            <p:cNvPr id="20" name="矩形 19"/>
            <p:cNvSpPr/>
            <p:nvPr/>
          </p:nvSpPr>
          <p:spPr>
            <a:xfrm>
              <a:off x="7349534" y="1416513"/>
              <a:ext cx="3109445" cy="4667723"/>
            </a:xfrm>
            <a:prstGeom prst="rect">
              <a:avLst/>
            </a:prstGeom>
            <a:noFill/>
            <a:ln w="3810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3" name="文本框 2"/>
          <p:cNvSpPr txBox="1"/>
          <p:nvPr/>
        </p:nvSpPr>
        <p:spPr>
          <a:xfrm>
            <a:off x="190994" y="-37583"/>
            <a:ext cx="1757623" cy="369332"/>
          </a:xfrm>
          <a:prstGeom prst="rect">
            <a:avLst/>
          </a:prstGeom>
          <a:noFill/>
        </p:spPr>
        <p:txBody>
          <a:bodyPr wrap="square" rtlCol="0">
            <a:spAutoFit/>
          </a:bodyPr>
          <a:lstStyle/>
          <a:p>
            <a:r>
              <a:rPr lang="en-US" altLang="zh-CN" b="1" dirty="0"/>
              <a:t>AI</a:t>
            </a:r>
            <a:r>
              <a:rPr lang="zh-CN" altLang="en-US" b="1" dirty="0"/>
              <a:t>辅助测试</a:t>
            </a:r>
            <a:endParaRPr lang="zh-CN" altLang="en-US" b="1" dirty="0"/>
          </a:p>
        </p:txBody>
      </p:sp>
      <p:grpSp>
        <p:nvGrpSpPr>
          <p:cNvPr id="26" name="组合 25"/>
          <p:cNvGrpSpPr/>
          <p:nvPr/>
        </p:nvGrpSpPr>
        <p:grpSpPr>
          <a:xfrm>
            <a:off x="364807" y="3599350"/>
            <a:ext cx="6333867" cy="2623713"/>
            <a:chOff x="243773" y="1462999"/>
            <a:chExt cx="6081219" cy="2623713"/>
          </a:xfrm>
        </p:grpSpPr>
        <p:sp>
          <p:nvSpPr>
            <p:cNvPr id="17" name="矩形: 圆角 16"/>
            <p:cNvSpPr/>
            <p:nvPr/>
          </p:nvSpPr>
          <p:spPr>
            <a:xfrm>
              <a:off x="671210" y="1462999"/>
              <a:ext cx="5653782" cy="2623713"/>
            </a:xfrm>
            <a:prstGeom prst="roundRect">
              <a:avLst>
                <a:gd name="adj" fmla="val 4401"/>
              </a:avLst>
            </a:prstGeom>
            <a:solidFill>
              <a:schemeClr val="bg2"/>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圆角矩形 51"/>
            <p:cNvSpPr/>
            <p:nvPr/>
          </p:nvSpPr>
          <p:spPr>
            <a:xfrm>
              <a:off x="243773" y="1835717"/>
              <a:ext cx="557349" cy="1878276"/>
            </a:xfrm>
            <a:prstGeom prst="roundRect">
              <a:avLst/>
            </a:prstGeom>
            <a:solidFill>
              <a:schemeClr val="accent1">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charset="-122"/>
                  <a:ea typeface="微软雅黑" panose="020B0503020204020204" charset="-122"/>
                </a:rPr>
                <a:t>订单测试</a:t>
              </a:r>
              <a:endParaRPr lang="zh-CN" altLang="en-US" sz="2400" b="1" dirty="0">
                <a:solidFill>
                  <a:schemeClr val="tx1"/>
                </a:solidFill>
                <a:latin typeface="微软雅黑" panose="020B0503020204020204" charset="-122"/>
                <a:ea typeface="微软雅黑" panose="020B0503020204020204" charset="-122"/>
              </a:endParaRPr>
            </a:p>
          </p:txBody>
        </p:sp>
        <p:pic>
          <p:nvPicPr>
            <p:cNvPr id="18" name="图片 1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90834" y="1726194"/>
              <a:ext cx="5105444" cy="2117465"/>
            </a:xfrm>
            <a:prstGeom prst="rect">
              <a:avLst/>
            </a:prstGeom>
          </p:spPr>
        </p:pic>
      </p:grpSp>
      <p:sp>
        <p:nvSpPr>
          <p:cNvPr id="35" name="圆角矩形 51"/>
          <p:cNvSpPr/>
          <p:nvPr/>
        </p:nvSpPr>
        <p:spPr>
          <a:xfrm>
            <a:off x="8213456" y="2134424"/>
            <a:ext cx="2343789" cy="523518"/>
          </a:xfrm>
          <a:prstGeom prst="roundRect">
            <a:avLst/>
          </a:prstGeom>
          <a:solidFill>
            <a:schemeClr val="accent1">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charset="-122"/>
                <a:ea typeface="微软雅黑" panose="020B0503020204020204" charset="-122"/>
              </a:rPr>
              <a:t>测试分析</a:t>
            </a:r>
            <a:endParaRPr lang="zh-CN" altLang="en-US" sz="2400" b="1" dirty="0">
              <a:solidFill>
                <a:schemeClr val="tx1"/>
              </a:solidFill>
              <a:latin typeface="微软雅黑" panose="020B0503020204020204" charset="-122"/>
              <a:ea typeface="微软雅黑" panose="020B0503020204020204" charset="-122"/>
            </a:endParaRPr>
          </a:p>
        </p:txBody>
      </p:sp>
      <p:grpSp>
        <p:nvGrpSpPr>
          <p:cNvPr id="36" name="组合 35"/>
          <p:cNvGrpSpPr/>
          <p:nvPr/>
        </p:nvGrpSpPr>
        <p:grpSpPr>
          <a:xfrm>
            <a:off x="932816" y="1419000"/>
            <a:ext cx="4643986" cy="1770203"/>
            <a:chOff x="315919" y="1560621"/>
            <a:chExt cx="4643986" cy="1805502"/>
          </a:xfrm>
        </p:grpSpPr>
        <p:grpSp>
          <p:nvGrpSpPr>
            <p:cNvPr id="37" name="组合 36"/>
            <p:cNvGrpSpPr/>
            <p:nvPr/>
          </p:nvGrpSpPr>
          <p:grpSpPr>
            <a:xfrm>
              <a:off x="2905509" y="1560621"/>
              <a:ext cx="2054396" cy="1805501"/>
              <a:chOff x="1330231" y="2854821"/>
              <a:chExt cx="2204914" cy="1805501"/>
            </a:xfrm>
          </p:grpSpPr>
          <p:sp>
            <p:nvSpPr>
              <p:cNvPr id="40" name="矩形 39"/>
              <p:cNvSpPr/>
              <p:nvPr/>
            </p:nvSpPr>
            <p:spPr>
              <a:xfrm>
                <a:off x="1330231" y="2854821"/>
                <a:ext cx="2204914" cy="487785"/>
              </a:xfrm>
              <a:prstGeom prst="rect">
                <a:avLst/>
              </a:prstGeom>
              <a:solidFill>
                <a:srgbClr val="DEEBF7"/>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C00000"/>
                    </a:solidFill>
                    <a:latin typeface="微软雅黑" panose="020B0503020204020204" charset="-122"/>
                    <a:ea typeface="微软雅黑" panose="020B0503020204020204" charset="-122"/>
                  </a:rPr>
                  <a:t>订单模型测试</a:t>
                </a:r>
                <a:endParaRPr lang="zh-CN" altLang="en-US" b="1" dirty="0">
                  <a:solidFill>
                    <a:srgbClr val="C00000"/>
                  </a:solidFill>
                  <a:latin typeface="微软雅黑" panose="020B0503020204020204" charset="-122"/>
                  <a:ea typeface="微软雅黑" panose="020B0503020204020204" charset="-122"/>
                </a:endParaRPr>
              </a:p>
            </p:txBody>
          </p:sp>
          <p:sp>
            <p:nvSpPr>
              <p:cNvPr id="41" name="矩形 40"/>
              <p:cNvSpPr/>
              <p:nvPr/>
            </p:nvSpPr>
            <p:spPr>
              <a:xfrm>
                <a:off x="1330231" y="3513678"/>
                <a:ext cx="2204914" cy="487786"/>
              </a:xfrm>
              <a:prstGeom prst="rect">
                <a:avLst/>
              </a:prstGeom>
              <a:solidFill>
                <a:srgbClr val="DEEBF7"/>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微软雅黑" panose="020B0503020204020204" charset="-122"/>
                    <a:ea typeface="微软雅黑" panose="020B0503020204020204" charset="-122"/>
                  </a:rPr>
                  <a:t>订单视图测试</a:t>
                </a:r>
                <a:endParaRPr lang="zh-CN" altLang="en-US" b="1" dirty="0">
                  <a:solidFill>
                    <a:schemeClr val="tx1"/>
                  </a:solidFill>
                  <a:latin typeface="微软雅黑" panose="020B0503020204020204" charset="-122"/>
                  <a:ea typeface="微软雅黑" panose="020B0503020204020204" charset="-122"/>
                </a:endParaRPr>
              </a:p>
            </p:txBody>
          </p:sp>
          <p:sp>
            <p:nvSpPr>
              <p:cNvPr id="42" name="矩形 41"/>
              <p:cNvSpPr/>
              <p:nvPr/>
            </p:nvSpPr>
            <p:spPr>
              <a:xfrm>
                <a:off x="1330231" y="4172536"/>
                <a:ext cx="2204914" cy="487786"/>
              </a:xfrm>
              <a:prstGeom prst="rect">
                <a:avLst/>
              </a:prstGeom>
              <a:solidFill>
                <a:srgbClr val="DEEBF7"/>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微软雅黑" panose="020B0503020204020204" charset="-122"/>
                    <a:ea typeface="微软雅黑" panose="020B0503020204020204" charset="-122"/>
                  </a:rPr>
                  <a:t>用户功能测试</a:t>
                </a:r>
                <a:endParaRPr lang="zh-CN" altLang="en-US" b="1" dirty="0">
                  <a:solidFill>
                    <a:schemeClr val="tx1"/>
                  </a:solidFill>
                  <a:latin typeface="微软雅黑" panose="020B0503020204020204" charset="-122"/>
                  <a:ea typeface="微软雅黑" panose="020B0503020204020204" charset="-122"/>
                </a:endParaRPr>
              </a:p>
            </p:txBody>
          </p:sp>
        </p:grpSp>
        <p:sp>
          <p:nvSpPr>
            <p:cNvPr id="38" name="矩形: 圆角 37"/>
            <p:cNvSpPr/>
            <p:nvPr/>
          </p:nvSpPr>
          <p:spPr>
            <a:xfrm>
              <a:off x="315919" y="2185501"/>
              <a:ext cx="1737244" cy="549369"/>
            </a:xfrm>
            <a:prstGeom prst="roundRect">
              <a:avLst/>
            </a:prstGeom>
            <a:solidFill>
              <a:srgbClr val="E7E6E6"/>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2F5597"/>
                  </a:solidFill>
                  <a:latin typeface="微软雅黑" panose="020B0503020204020204" charset="-122"/>
                  <a:ea typeface="微软雅黑" panose="020B0503020204020204" charset="-122"/>
                </a:rPr>
                <a:t>测试内容</a:t>
              </a:r>
              <a:endParaRPr lang="zh-CN" altLang="en-US" sz="2400" b="1" dirty="0">
                <a:solidFill>
                  <a:srgbClr val="2F5597"/>
                </a:solidFill>
                <a:latin typeface="微软雅黑" panose="020B0503020204020204" charset="-122"/>
                <a:ea typeface="微软雅黑" panose="020B0503020204020204" charset="-122"/>
              </a:endParaRPr>
            </a:p>
          </p:txBody>
        </p:sp>
        <p:sp>
          <p:nvSpPr>
            <p:cNvPr id="39" name="左大括号 38"/>
            <p:cNvSpPr/>
            <p:nvPr/>
          </p:nvSpPr>
          <p:spPr>
            <a:xfrm>
              <a:off x="2361075" y="1560622"/>
              <a:ext cx="311650" cy="1805501"/>
            </a:xfrm>
            <a:prstGeom prst="leftBrace">
              <a:avLst>
                <a:gd name="adj1" fmla="val 52850"/>
                <a:gd name="adj2" fmla="val 50000"/>
              </a:avLst>
            </a:prstGeom>
            <a:ln w="127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33655" y="306269"/>
            <a:ext cx="3891091" cy="730685"/>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a:p>
        </p:txBody>
      </p:sp>
      <p:sp>
        <p:nvSpPr>
          <p:cNvPr id="11" name="矩形 10"/>
          <p:cNvSpPr/>
          <p:nvPr/>
        </p:nvSpPr>
        <p:spPr>
          <a:xfrm>
            <a:off x="-33655" y="-63062"/>
            <a:ext cx="212574" cy="369331"/>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932816" y="410210"/>
            <a:ext cx="2705866" cy="523220"/>
          </a:xfrm>
          <a:prstGeom prst="rect">
            <a:avLst/>
          </a:prstGeom>
          <a:noFill/>
        </p:spPr>
        <p:txBody>
          <a:bodyPr wrap="square" rtlCol="0">
            <a:spAutoFit/>
          </a:bodyPr>
          <a:lstStyle/>
          <a:p>
            <a:pPr algn="l"/>
            <a:r>
              <a:rPr lang="zh-CN" altLang="en-US" sz="2800" b="1" dirty="0">
                <a:solidFill>
                  <a:schemeClr val="bg1"/>
                </a:solidFill>
                <a:sym typeface="+mn-ea"/>
              </a:rPr>
              <a:t>订单视图测试</a:t>
            </a:r>
            <a:endParaRPr lang="zh-CN" altLang="en-US" sz="2800" b="1" dirty="0">
              <a:solidFill>
                <a:schemeClr val="bg1"/>
              </a:solidFill>
              <a:sym typeface="+mn-ea"/>
            </a:endParaRPr>
          </a:p>
        </p:txBody>
      </p:sp>
      <p:sp>
        <p:nvSpPr>
          <p:cNvPr id="14" name="等腰三角形 13"/>
          <p:cNvSpPr/>
          <p:nvPr/>
        </p:nvSpPr>
        <p:spPr>
          <a:xfrm rot="5400000">
            <a:off x="309245" y="503555"/>
            <a:ext cx="445770" cy="334645"/>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圆角矩形 51"/>
          <p:cNvSpPr/>
          <p:nvPr/>
        </p:nvSpPr>
        <p:spPr>
          <a:xfrm>
            <a:off x="2350510" y="3978413"/>
            <a:ext cx="2343789" cy="523518"/>
          </a:xfrm>
          <a:prstGeom prst="roundRect">
            <a:avLst/>
          </a:prstGeom>
          <a:solidFill>
            <a:schemeClr val="accent1">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charset="-122"/>
                <a:ea typeface="微软雅黑" panose="020B0503020204020204" charset="-122"/>
              </a:rPr>
              <a:t>测试分析</a:t>
            </a:r>
            <a:endParaRPr lang="zh-CN" altLang="en-US" sz="2400" b="1" dirty="0">
              <a:solidFill>
                <a:schemeClr val="tx1"/>
              </a:solidFill>
              <a:latin typeface="微软雅黑" panose="020B0503020204020204" charset="-122"/>
              <a:ea typeface="微软雅黑" panose="020B0503020204020204" charset="-122"/>
            </a:endParaRPr>
          </a:p>
        </p:txBody>
      </p:sp>
      <p:sp>
        <p:nvSpPr>
          <p:cNvPr id="20" name="矩形 19"/>
          <p:cNvSpPr/>
          <p:nvPr/>
        </p:nvSpPr>
        <p:spPr>
          <a:xfrm>
            <a:off x="900872" y="3657386"/>
            <a:ext cx="5243066" cy="2687688"/>
          </a:xfrm>
          <a:prstGeom prst="rect">
            <a:avLst/>
          </a:prstGeom>
          <a:noFill/>
          <a:ln w="3810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190994" y="-37583"/>
            <a:ext cx="1757623" cy="369332"/>
          </a:xfrm>
          <a:prstGeom prst="rect">
            <a:avLst/>
          </a:prstGeom>
          <a:noFill/>
        </p:spPr>
        <p:txBody>
          <a:bodyPr wrap="square" rtlCol="0">
            <a:spAutoFit/>
          </a:bodyPr>
          <a:lstStyle/>
          <a:p>
            <a:r>
              <a:rPr lang="en-US" altLang="zh-CN" b="1" dirty="0"/>
              <a:t>AI</a:t>
            </a:r>
            <a:r>
              <a:rPr lang="zh-CN" altLang="en-US" b="1" dirty="0"/>
              <a:t>辅助测试</a:t>
            </a:r>
            <a:endParaRPr lang="zh-CN" altLang="en-US" b="1" dirty="0"/>
          </a:p>
        </p:txBody>
      </p:sp>
      <p:grpSp>
        <p:nvGrpSpPr>
          <p:cNvPr id="34" name="组合 33"/>
          <p:cNvGrpSpPr/>
          <p:nvPr/>
        </p:nvGrpSpPr>
        <p:grpSpPr>
          <a:xfrm>
            <a:off x="6775613" y="1302083"/>
            <a:ext cx="4771297" cy="5167750"/>
            <a:chOff x="1156537" y="1100035"/>
            <a:chExt cx="4771297" cy="5167750"/>
          </a:xfrm>
        </p:grpSpPr>
        <p:sp>
          <p:nvSpPr>
            <p:cNvPr id="17" name="矩形: 圆角 16"/>
            <p:cNvSpPr/>
            <p:nvPr/>
          </p:nvSpPr>
          <p:spPr>
            <a:xfrm>
              <a:off x="1156537" y="1431488"/>
              <a:ext cx="4771297" cy="4836297"/>
            </a:xfrm>
            <a:prstGeom prst="roundRect">
              <a:avLst>
                <a:gd name="adj" fmla="val 4401"/>
              </a:avLst>
            </a:prstGeom>
            <a:solidFill>
              <a:schemeClr val="bg2"/>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 name="圆角矩形 51"/>
            <p:cNvSpPr/>
            <p:nvPr/>
          </p:nvSpPr>
          <p:spPr>
            <a:xfrm>
              <a:off x="2514986" y="1100035"/>
              <a:ext cx="2054396" cy="487785"/>
            </a:xfrm>
            <a:prstGeom prst="roundRect">
              <a:avLst/>
            </a:prstGeom>
            <a:solidFill>
              <a:schemeClr val="accent1">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charset="-122"/>
                  <a:ea typeface="微软雅黑" panose="020B0503020204020204" charset="-122"/>
                </a:rPr>
                <a:t>订单测试</a:t>
              </a:r>
              <a:endParaRPr lang="zh-CN" altLang="en-US" sz="2400" b="1" dirty="0">
                <a:solidFill>
                  <a:schemeClr val="tx1"/>
                </a:solidFill>
                <a:latin typeface="微软雅黑" panose="020B0503020204020204" charset="-122"/>
                <a:ea typeface="微软雅黑" panose="020B0503020204020204" charset="-122"/>
              </a:endParaRPr>
            </a:p>
          </p:txBody>
        </p:sp>
      </p:grpSp>
      <p:sp>
        <p:nvSpPr>
          <p:cNvPr id="26" name="Shape 8725"/>
          <p:cNvSpPr/>
          <p:nvPr/>
        </p:nvSpPr>
        <p:spPr>
          <a:xfrm>
            <a:off x="1259384" y="4432720"/>
            <a:ext cx="4836616" cy="1784563"/>
          </a:xfrm>
          <a:prstGeom prst="rect">
            <a:avLst/>
          </a:prstGeom>
          <a:noFill/>
          <a:ln w="12700" cap="flat">
            <a:noFill/>
            <a:miter lim="400000"/>
          </a:ln>
          <a:effectLst/>
        </p:spPr>
        <p:txBody>
          <a:bodyPr wrap="square" lIns="0" tIns="0" rIns="0" bIns="0" numCol="1" anchor="t">
            <a:noAutofit/>
          </a:bodyPr>
          <a:lstStyle>
            <a:lvl1pPr algn="ctr">
              <a:lnSpc>
                <a:spcPct val="140000"/>
              </a:lnSpc>
              <a:defRPr sz="800">
                <a:solidFill>
                  <a:srgbClr val="FFFFFF">
                    <a:alpha val="70000"/>
                  </a:srgbClr>
                </a:solidFill>
                <a:uFill>
                  <a:solidFill>
                    <a:srgbClr val="FFFFFF">
                      <a:alpha val="70000"/>
                    </a:srgbClr>
                  </a:solidFill>
                </a:uFill>
                <a:latin typeface="Roboto condensed"/>
                <a:ea typeface="Roboto condensed"/>
                <a:cs typeface="Roboto condensed"/>
                <a:sym typeface="Roboto condensed"/>
              </a:defRPr>
            </a:lvl1pPr>
          </a:lstStyle>
          <a:p>
            <a:pPr algn="l" defTabSz="457200">
              <a:lnSpc>
                <a:spcPct val="100000"/>
              </a:lnSpc>
              <a:defRPr sz="1800">
                <a:solidFill>
                  <a:srgbClr val="000000"/>
                </a:solidFill>
                <a:uFillTx/>
              </a:defRPr>
            </a:pPr>
            <a:endParaRPr lang="zh-CN" altLang="en-US" sz="1600" kern="0" dirty="0">
              <a:solidFill>
                <a:srgbClr val="000000"/>
              </a:solidFill>
              <a:uFillTx/>
              <a:latin typeface="微软雅黑" panose="020B0503020204020204" charset="-122"/>
              <a:ea typeface="微软雅黑" panose="020B0503020204020204" charset="-122"/>
            </a:endParaRPr>
          </a:p>
          <a:p>
            <a:pPr marL="342900" indent="-342900" algn="l" defTabSz="457200">
              <a:lnSpc>
                <a:spcPct val="150000"/>
              </a:lnSpc>
              <a:buFont typeface="Wingdings" panose="05000000000000000000" pitchFamily="2" charset="2"/>
              <a:buChar char="p"/>
              <a:defRPr sz="1800">
                <a:solidFill>
                  <a:srgbClr val="000000"/>
                </a:solidFill>
                <a:uFillTx/>
              </a:defRPr>
            </a:pPr>
            <a:r>
              <a:rPr lang="zh-CN" altLang="en-US" sz="2000" kern="0" dirty="0">
                <a:solidFill>
                  <a:srgbClr val="C00000"/>
                </a:solidFill>
                <a:uFillTx/>
                <a:latin typeface="微软雅黑" panose="020B0503020204020204" charset="-122"/>
                <a:ea typeface="微软雅黑" panose="020B0503020204020204" charset="-122"/>
                <a:sym typeface="+mn-ea"/>
              </a:rPr>
              <a:t>测试分析</a:t>
            </a:r>
            <a:r>
              <a:rPr lang="zh-CN" altLang="en-US" sz="2000" kern="0" dirty="0">
                <a:solidFill>
                  <a:srgbClr val="000000"/>
                </a:solidFill>
                <a:uFillTx/>
                <a:latin typeface="微软雅黑" panose="020B0503020204020204" charset="-122"/>
                <a:ea typeface="微软雅黑" panose="020B0503020204020204" charset="-122"/>
                <a:sym typeface="+mn-ea"/>
              </a:rPr>
              <a:t>：不合法购物车</a:t>
            </a:r>
            <a:r>
              <a:rPr lang="en-US" altLang="zh-CN" sz="2000" kern="0" dirty="0">
                <a:solidFill>
                  <a:srgbClr val="000000"/>
                </a:solidFill>
                <a:uFillTx/>
                <a:latin typeface="微软雅黑" panose="020B0503020204020204" charset="-122"/>
                <a:ea typeface="微软雅黑" panose="020B0503020204020204" charset="-122"/>
                <a:sym typeface="+mn-ea"/>
              </a:rPr>
              <a:t>id</a:t>
            </a:r>
            <a:r>
              <a:rPr lang="zh-CN" altLang="en-US" sz="2000" kern="0" dirty="0">
                <a:solidFill>
                  <a:srgbClr val="000000"/>
                </a:solidFill>
                <a:uFillTx/>
                <a:latin typeface="微软雅黑" panose="020B0503020204020204" charset="-122"/>
                <a:ea typeface="微软雅黑" panose="020B0503020204020204" charset="-122"/>
                <a:sym typeface="+mn-ea"/>
              </a:rPr>
              <a:t>提交未报错。</a:t>
            </a:r>
            <a:endParaRPr lang="en-US" altLang="zh-CN" sz="2000" kern="0" dirty="0">
              <a:solidFill>
                <a:srgbClr val="000000"/>
              </a:solidFill>
              <a:uFillTx/>
              <a:latin typeface="微软雅黑" panose="020B0503020204020204" charset="-122"/>
              <a:ea typeface="微软雅黑" panose="020B0503020204020204" charset="-122"/>
              <a:sym typeface="+mn-ea"/>
            </a:endParaRPr>
          </a:p>
          <a:p>
            <a:pPr marL="342900" indent="-342900" algn="l" defTabSz="457200">
              <a:lnSpc>
                <a:spcPct val="150000"/>
              </a:lnSpc>
              <a:buFont typeface="Wingdings" panose="05000000000000000000" pitchFamily="2" charset="2"/>
              <a:buChar char="p"/>
              <a:defRPr sz="1800">
                <a:solidFill>
                  <a:srgbClr val="000000"/>
                </a:solidFill>
                <a:uFillTx/>
              </a:defRPr>
            </a:pPr>
            <a:r>
              <a:rPr lang="zh-CN" altLang="en-US" sz="2000" kern="0" dirty="0">
                <a:solidFill>
                  <a:srgbClr val="C00000"/>
                </a:solidFill>
                <a:uFillTx/>
                <a:latin typeface="微软雅黑" panose="020B0503020204020204" charset="-122"/>
                <a:ea typeface="微软雅黑" panose="020B0503020204020204" charset="-122"/>
                <a:sym typeface="+mn-ea"/>
              </a:rPr>
              <a:t>记录为</a:t>
            </a:r>
            <a:r>
              <a:rPr lang="zh-CN" altLang="en-US" sz="2000" kern="0" dirty="0">
                <a:solidFill>
                  <a:srgbClr val="000000"/>
                </a:solidFill>
                <a:uFillTx/>
                <a:latin typeface="微软雅黑" panose="020B0503020204020204" charset="-122"/>
                <a:ea typeface="微软雅黑" panose="020B0503020204020204" charset="-122"/>
                <a:sym typeface="+mn-ea"/>
              </a:rPr>
              <a:t>：软件缺陷</a:t>
            </a:r>
            <a:endParaRPr lang="en-US" altLang="zh-CN" sz="2000" kern="0" dirty="0">
              <a:solidFill>
                <a:srgbClr val="000000"/>
              </a:solidFill>
              <a:uFillTx/>
              <a:latin typeface="微软雅黑" panose="020B0503020204020204" charset="-122"/>
              <a:ea typeface="微软雅黑" panose="020B0503020204020204" charset="-122"/>
              <a:sym typeface="+mn-ea"/>
            </a:endParaRPr>
          </a:p>
          <a:p>
            <a:pPr marL="342900" indent="-342900" algn="l" defTabSz="457200">
              <a:lnSpc>
                <a:spcPct val="150000"/>
              </a:lnSpc>
              <a:buFont typeface="Wingdings" panose="05000000000000000000" pitchFamily="2" charset="2"/>
              <a:buChar char="p"/>
              <a:defRPr sz="1800">
                <a:solidFill>
                  <a:srgbClr val="000000"/>
                </a:solidFill>
                <a:uFillTx/>
              </a:defRPr>
            </a:pPr>
            <a:r>
              <a:rPr lang="zh-CN" altLang="en-US" sz="2000" kern="0" dirty="0">
                <a:solidFill>
                  <a:srgbClr val="C00000"/>
                </a:solidFill>
                <a:uFillTx/>
                <a:latin typeface="微软雅黑" panose="020B0503020204020204" charset="-122"/>
                <a:ea typeface="微软雅黑" panose="020B0503020204020204" charset="-122"/>
                <a:sym typeface="+mn-ea"/>
              </a:rPr>
              <a:t>严重级别</a:t>
            </a:r>
            <a:r>
              <a:rPr lang="zh-CN" altLang="en-US" sz="2000" kern="0" dirty="0">
                <a:solidFill>
                  <a:srgbClr val="000000"/>
                </a:solidFill>
                <a:uFillTx/>
                <a:latin typeface="微软雅黑" panose="020B0503020204020204" charset="-122"/>
                <a:ea typeface="微软雅黑" panose="020B0503020204020204" charset="-122"/>
                <a:sym typeface="+mn-ea"/>
              </a:rPr>
              <a:t>：高</a:t>
            </a:r>
            <a:endParaRPr lang="zh-CN" altLang="zh-CN" sz="2000" kern="0" dirty="0">
              <a:solidFill>
                <a:srgbClr val="000000"/>
              </a:solidFill>
              <a:uFillTx/>
              <a:latin typeface="微软雅黑" panose="020B0503020204020204" charset="-122"/>
              <a:ea typeface="微软雅黑" panose="020B0503020204020204" charset="-122"/>
            </a:endParaRPr>
          </a:p>
        </p:txBody>
      </p:sp>
      <p:grpSp>
        <p:nvGrpSpPr>
          <p:cNvPr id="27" name="组合 26"/>
          <p:cNvGrpSpPr/>
          <p:nvPr/>
        </p:nvGrpSpPr>
        <p:grpSpPr>
          <a:xfrm>
            <a:off x="932816" y="1419000"/>
            <a:ext cx="4643986" cy="1770203"/>
            <a:chOff x="315919" y="1560621"/>
            <a:chExt cx="4643986" cy="1805502"/>
          </a:xfrm>
        </p:grpSpPr>
        <p:grpSp>
          <p:nvGrpSpPr>
            <p:cNvPr id="28" name="组合 27"/>
            <p:cNvGrpSpPr/>
            <p:nvPr/>
          </p:nvGrpSpPr>
          <p:grpSpPr>
            <a:xfrm>
              <a:off x="2905509" y="1560621"/>
              <a:ext cx="2054396" cy="1805501"/>
              <a:chOff x="1330231" y="2854821"/>
              <a:chExt cx="2204914" cy="1805501"/>
            </a:xfrm>
          </p:grpSpPr>
          <p:sp>
            <p:nvSpPr>
              <p:cNvPr id="31" name="矩形 30"/>
              <p:cNvSpPr/>
              <p:nvPr/>
            </p:nvSpPr>
            <p:spPr>
              <a:xfrm>
                <a:off x="1330231" y="2854821"/>
                <a:ext cx="2204914" cy="487785"/>
              </a:xfrm>
              <a:prstGeom prst="rect">
                <a:avLst/>
              </a:prstGeom>
              <a:solidFill>
                <a:srgbClr val="DEEBF7"/>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微软雅黑" panose="020B0503020204020204" charset="-122"/>
                    <a:ea typeface="微软雅黑" panose="020B0503020204020204" charset="-122"/>
                  </a:rPr>
                  <a:t>订单模型测试</a:t>
                </a:r>
                <a:endParaRPr lang="zh-CN" altLang="en-US" b="1" dirty="0">
                  <a:solidFill>
                    <a:schemeClr val="tx1"/>
                  </a:solidFill>
                  <a:latin typeface="微软雅黑" panose="020B0503020204020204" charset="-122"/>
                  <a:ea typeface="微软雅黑" panose="020B0503020204020204" charset="-122"/>
                </a:endParaRPr>
              </a:p>
            </p:txBody>
          </p:sp>
          <p:sp>
            <p:nvSpPr>
              <p:cNvPr id="32" name="矩形 31"/>
              <p:cNvSpPr/>
              <p:nvPr/>
            </p:nvSpPr>
            <p:spPr>
              <a:xfrm>
                <a:off x="1330231" y="3513678"/>
                <a:ext cx="2204914" cy="487786"/>
              </a:xfrm>
              <a:prstGeom prst="rect">
                <a:avLst/>
              </a:prstGeom>
              <a:solidFill>
                <a:srgbClr val="DEEBF7"/>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C00000"/>
                    </a:solidFill>
                    <a:latin typeface="微软雅黑" panose="020B0503020204020204" charset="-122"/>
                    <a:ea typeface="微软雅黑" panose="020B0503020204020204" charset="-122"/>
                  </a:rPr>
                  <a:t>订单视图测试</a:t>
                </a:r>
                <a:endParaRPr lang="zh-CN" altLang="en-US" b="1" dirty="0">
                  <a:solidFill>
                    <a:srgbClr val="C00000"/>
                  </a:solidFill>
                  <a:latin typeface="微软雅黑" panose="020B0503020204020204" charset="-122"/>
                  <a:ea typeface="微软雅黑" panose="020B0503020204020204" charset="-122"/>
                </a:endParaRPr>
              </a:p>
            </p:txBody>
          </p:sp>
          <p:sp>
            <p:nvSpPr>
              <p:cNvPr id="33" name="矩形 32"/>
              <p:cNvSpPr/>
              <p:nvPr/>
            </p:nvSpPr>
            <p:spPr>
              <a:xfrm>
                <a:off x="1330231" y="4172536"/>
                <a:ext cx="2204914" cy="487786"/>
              </a:xfrm>
              <a:prstGeom prst="rect">
                <a:avLst/>
              </a:prstGeom>
              <a:solidFill>
                <a:srgbClr val="DEEBF7"/>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微软雅黑" panose="020B0503020204020204" charset="-122"/>
                    <a:ea typeface="微软雅黑" panose="020B0503020204020204" charset="-122"/>
                  </a:rPr>
                  <a:t>用户功能测试</a:t>
                </a:r>
                <a:endParaRPr lang="zh-CN" altLang="en-US" b="1" dirty="0">
                  <a:solidFill>
                    <a:schemeClr val="tx1"/>
                  </a:solidFill>
                  <a:latin typeface="微软雅黑" panose="020B0503020204020204" charset="-122"/>
                  <a:ea typeface="微软雅黑" panose="020B0503020204020204" charset="-122"/>
                </a:endParaRPr>
              </a:p>
            </p:txBody>
          </p:sp>
        </p:grpSp>
        <p:sp>
          <p:nvSpPr>
            <p:cNvPr id="29" name="矩形: 圆角 28"/>
            <p:cNvSpPr/>
            <p:nvPr/>
          </p:nvSpPr>
          <p:spPr>
            <a:xfrm>
              <a:off x="315919" y="2185501"/>
              <a:ext cx="1737244" cy="549369"/>
            </a:xfrm>
            <a:prstGeom prst="roundRect">
              <a:avLst/>
            </a:prstGeom>
            <a:solidFill>
              <a:srgbClr val="E7E6E6"/>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2F5597"/>
                  </a:solidFill>
                  <a:latin typeface="微软雅黑" panose="020B0503020204020204" charset="-122"/>
                  <a:ea typeface="微软雅黑" panose="020B0503020204020204" charset="-122"/>
                </a:rPr>
                <a:t>测试内容</a:t>
              </a:r>
              <a:endParaRPr lang="zh-CN" altLang="en-US" sz="2400" b="1" dirty="0">
                <a:solidFill>
                  <a:srgbClr val="2F5597"/>
                </a:solidFill>
                <a:latin typeface="微软雅黑" panose="020B0503020204020204" charset="-122"/>
                <a:ea typeface="微软雅黑" panose="020B0503020204020204" charset="-122"/>
              </a:endParaRPr>
            </a:p>
          </p:txBody>
        </p:sp>
        <p:sp>
          <p:nvSpPr>
            <p:cNvPr id="30" name="左大括号 29"/>
            <p:cNvSpPr/>
            <p:nvPr/>
          </p:nvSpPr>
          <p:spPr>
            <a:xfrm>
              <a:off x="2361075" y="1560622"/>
              <a:ext cx="311650" cy="1805501"/>
            </a:xfrm>
            <a:prstGeom prst="leftBrace">
              <a:avLst>
                <a:gd name="adj1" fmla="val 52850"/>
                <a:gd name="adj2" fmla="val 50000"/>
              </a:avLst>
            </a:prstGeom>
            <a:ln w="127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grpSp>
      <p:pic>
        <p:nvPicPr>
          <p:cNvPr id="4" name="图片 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101371" y="1944315"/>
            <a:ext cx="4119778" cy="4214738"/>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33655" y="306269"/>
            <a:ext cx="3891091" cy="730685"/>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a:p>
        </p:txBody>
      </p:sp>
      <p:sp>
        <p:nvSpPr>
          <p:cNvPr id="11" name="矩形 10"/>
          <p:cNvSpPr/>
          <p:nvPr/>
        </p:nvSpPr>
        <p:spPr>
          <a:xfrm>
            <a:off x="-33655" y="-63062"/>
            <a:ext cx="212574" cy="369331"/>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932816" y="410210"/>
            <a:ext cx="2705866" cy="523220"/>
          </a:xfrm>
          <a:prstGeom prst="rect">
            <a:avLst/>
          </a:prstGeom>
          <a:noFill/>
        </p:spPr>
        <p:txBody>
          <a:bodyPr wrap="square" rtlCol="0">
            <a:spAutoFit/>
          </a:bodyPr>
          <a:lstStyle/>
          <a:p>
            <a:pPr algn="l"/>
            <a:r>
              <a:rPr lang="zh-CN" altLang="en-US" sz="2800" b="1" dirty="0">
                <a:solidFill>
                  <a:schemeClr val="bg1"/>
                </a:solidFill>
                <a:sym typeface="+mn-ea"/>
              </a:rPr>
              <a:t>用户功能测试</a:t>
            </a:r>
            <a:endParaRPr lang="zh-CN" altLang="en-US" sz="2800" b="1" dirty="0">
              <a:solidFill>
                <a:schemeClr val="bg1"/>
              </a:solidFill>
              <a:sym typeface="+mn-ea"/>
            </a:endParaRPr>
          </a:p>
        </p:txBody>
      </p:sp>
      <p:sp>
        <p:nvSpPr>
          <p:cNvPr id="14" name="等腰三角形 13"/>
          <p:cNvSpPr/>
          <p:nvPr/>
        </p:nvSpPr>
        <p:spPr>
          <a:xfrm rot="5400000">
            <a:off x="309245" y="503555"/>
            <a:ext cx="445770" cy="334645"/>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圆角矩形 51"/>
          <p:cNvSpPr/>
          <p:nvPr/>
        </p:nvSpPr>
        <p:spPr>
          <a:xfrm>
            <a:off x="2350511" y="3578525"/>
            <a:ext cx="2343789" cy="523518"/>
          </a:xfrm>
          <a:prstGeom prst="roundRect">
            <a:avLst/>
          </a:prstGeom>
          <a:solidFill>
            <a:schemeClr val="accent1">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charset="-122"/>
                <a:ea typeface="微软雅黑" panose="020B0503020204020204" charset="-122"/>
              </a:rPr>
              <a:t>测试分析</a:t>
            </a:r>
            <a:endParaRPr lang="zh-CN" altLang="en-US" sz="2400" b="1" dirty="0">
              <a:solidFill>
                <a:schemeClr val="tx1"/>
              </a:solidFill>
              <a:latin typeface="微软雅黑" panose="020B0503020204020204" charset="-122"/>
              <a:ea typeface="微软雅黑" panose="020B0503020204020204" charset="-122"/>
            </a:endParaRPr>
          </a:p>
        </p:txBody>
      </p:sp>
      <p:sp>
        <p:nvSpPr>
          <p:cNvPr id="20" name="矩形 19"/>
          <p:cNvSpPr/>
          <p:nvPr/>
        </p:nvSpPr>
        <p:spPr>
          <a:xfrm>
            <a:off x="932816" y="3429000"/>
            <a:ext cx="5243066" cy="3106278"/>
          </a:xfrm>
          <a:prstGeom prst="rect">
            <a:avLst/>
          </a:prstGeom>
          <a:noFill/>
          <a:ln w="3810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190994" y="-37583"/>
            <a:ext cx="1757623" cy="369332"/>
          </a:xfrm>
          <a:prstGeom prst="rect">
            <a:avLst/>
          </a:prstGeom>
          <a:noFill/>
        </p:spPr>
        <p:txBody>
          <a:bodyPr wrap="square" rtlCol="0">
            <a:spAutoFit/>
          </a:bodyPr>
          <a:lstStyle/>
          <a:p>
            <a:r>
              <a:rPr lang="en-US" altLang="zh-CN" b="1" dirty="0"/>
              <a:t>AI</a:t>
            </a:r>
            <a:r>
              <a:rPr lang="zh-CN" altLang="en-US" b="1" dirty="0"/>
              <a:t>辅助测试</a:t>
            </a:r>
            <a:endParaRPr lang="zh-CN" altLang="en-US" b="1" dirty="0"/>
          </a:p>
        </p:txBody>
      </p:sp>
      <p:grpSp>
        <p:nvGrpSpPr>
          <p:cNvPr id="34" name="组合 33"/>
          <p:cNvGrpSpPr/>
          <p:nvPr/>
        </p:nvGrpSpPr>
        <p:grpSpPr>
          <a:xfrm>
            <a:off x="6775615" y="1368948"/>
            <a:ext cx="4771297" cy="5179608"/>
            <a:chOff x="1156537" y="1088177"/>
            <a:chExt cx="4771297" cy="5179608"/>
          </a:xfrm>
        </p:grpSpPr>
        <p:sp>
          <p:nvSpPr>
            <p:cNvPr id="17" name="矩形: 圆角 16"/>
            <p:cNvSpPr/>
            <p:nvPr/>
          </p:nvSpPr>
          <p:spPr>
            <a:xfrm>
              <a:off x="1156537" y="1431488"/>
              <a:ext cx="4771297" cy="4836297"/>
            </a:xfrm>
            <a:prstGeom prst="roundRect">
              <a:avLst>
                <a:gd name="adj" fmla="val 4401"/>
              </a:avLst>
            </a:prstGeom>
            <a:solidFill>
              <a:schemeClr val="bg2"/>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2" name="图片 2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488681" y="1720437"/>
              <a:ext cx="4107006" cy="4201670"/>
            </a:xfrm>
            <a:prstGeom prst="rect">
              <a:avLst/>
            </a:prstGeom>
          </p:spPr>
        </p:pic>
        <p:sp>
          <p:nvSpPr>
            <p:cNvPr id="23" name="圆角矩形 51"/>
            <p:cNvSpPr/>
            <p:nvPr/>
          </p:nvSpPr>
          <p:spPr>
            <a:xfrm>
              <a:off x="2514986" y="1088177"/>
              <a:ext cx="2054396" cy="487785"/>
            </a:xfrm>
            <a:prstGeom prst="roundRect">
              <a:avLst/>
            </a:prstGeom>
            <a:solidFill>
              <a:schemeClr val="accent1">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charset="-122"/>
                  <a:ea typeface="微软雅黑" panose="020B0503020204020204" charset="-122"/>
                </a:rPr>
                <a:t>用户测试</a:t>
              </a:r>
              <a:endParaRPr lang="zh-CN" altLang="en-US" sz="2400" b="1" dirty="0">
                <a:solidFill>
                  <a:schemeClr val="tx1"/>
                </a:solidFill>
                <a:latin typeface="微软雅黑" panose="020B0503020204020204" charset="-122"/>
                <a:ea typeface="微软雅黑" panose="020B0503020204020204" charset="-122"/>
              </a:endParaRPr>
            </a:p>
          </p:txBody>
        </p:sp>
      </p:grpSp>
      <p:sp>
        <p:nvSpPr>
          <p:cNvPr id="26" name="Shape 8725"/>
          <p:cNvSpPr/>
          <p:nvPr/>
        </p:nvSpPr>
        <p:spPr>
          <a:xfrm>
            <a:off x="1179505" y="3916155"/>
            <a:ext cx="4836616" cy="2773468"/>
          </a:xfrm>
          <a:prstGeom prst="rect">
            <a:avLst/>
          </a:prstGeom>
          <a:noFill/>
          <a:ln w="12700" cap="flat">
            <a:noFill/>
            <a:miter lim="400000"/>
          </a:ln>
          <a:effectLst/>
        </p:spPr>
        <p:txBody>
          <a:bodyPr wrap="square" lIns="0" tIns="0" rIns="0" bIns="0" numCol="1" anchor="t">
            <a:noAutofit/>
          </a:bodyPr>
          <a:lstStyle>
            <a:lvl1pPr algn="ctr">
              <a:lnSpc>
                <a:spcPct val="140000"/>
              </a:lnSpc>
              <a:defRPr sz="800">
                <a:solidFill>
                  <a:srgbClr val="FFFFFF">
                    <a:alpha val="70000"/>
                  </a:srgbClr>
                </a:solidFill>
                <a:uFill>
                  <a:solidFill>
                    <a:srgbClr val="FFFFFF">
                      <a:alpha val="70000"/>
                    </a:srgbClr>
                  </a:solidFill>
                </a:uFill>
                <a:latin typeface="Roboto condensed"/>
                <a:ea typeface="Roboto condensed"/>
                <a:cs typeface="Roboto condensed"/>
                <a:sym typeface="Roboto condensed"/>
              </a:defRPr>
            </a:lvl1pPr>
          </a:lstStyle>
          <a:p>
            <a:pPr algn="l" defTabSz="457200">
              <a:lnSpc>
                <a:spcPct val="100000"/>
              </a:lnSpc>
              <a:defRPr sz="1800">
                <a:solidFill>
                  <a:srgbClr val="000000"/>
                </a:solidFill>
                <a:uFillTx/>
              </a:defRPr>
            </a:pPr>
            <a:endParaRPr lang="zh-CN" altLang="en-US" sz="1600" kern="0" dirty="0">
              <a:solidFill>
                <a:srgbClr val="000000"/>
              </a:solidFill>
              <a:uFillTx/>
              <a:latin typeface="微软雅黑" panose="020B0503020204020204" charset="-122"/>
              <a:ea typeface="微软雅黑" panose="020B0503020204020204" charset="-122"/>
            </a:endParaRPr>
          </a:p>
          <a:p>
            <a:pPr marL="342900" indent="-342900" algn="l" defTabSz="457200">
              <a:lnSpc>
                <a:spcPct val="150000"/>
              </a:lnSpc>
              <a:buFont typeface="Wingdings" panose="05000000000000000000" pitchFamily="2" charset="2"/>
              <a:buChar char="p"/>
              <a:defRPr sz="1800">
                <a:solidFill>
                  <a:srgbClr val="000000"/>
                </a:solidFill>
                <a:uFillTx/>
              </a:defRPr>
            </a:pPr>
            <a:r>
              <a:rPr lang="zh-CN" altLang="en-US" sz="2000" kern="0" dirty="0">
                <a:solidFill>
                  <a:srgbClr val="C00000"/>
                </a:solidFill>
                <a:uFillTx/>
                <a:latin typeface="微软雅黑" panose="020B0503020204020204" charset="-122"/>
                <a:ea typeface="微软雅黑" panose="020B0503020204020204" charset="-122"/>
                <a:sym typeface="+mn-ea"/>
              </a:rPr>
              <a:t>测试分析</a:t>
            </a:r>
            <a:r>
              <a:rPr lang="zh-CN" altLang="en-US" sz="2000" kern="0" dirty="0">
                <a:solidFill>
                  <a:srgbClr val="000000"/>
                </a:solidFill>
                <a:uFillTx/>
                <a:latin typeface="微软雅黑" panose="020B0503020204020204" charset="-122"/>
                <a:ea typeface="微软雅黑" panose="020B0503020204020204" charset="-122"/>
                <a:sym typeface="+mn-ea"/>
              </a:rPr>
              <a:t>：</a:t>
            </a:r>
            <a:r>
              <a:rPr lang="zh-CN" altLang="zh-CN" sz="2000" kern="0" dirty="0">
                <a:solidFill>
                  <a:srgbClr val="000000"/>
                </a:solidFill>
                <a:uFillTx/>
                <a:latin typeface="微软雅黑" panose="020B0503020204020204" charset="-122"/>
                <a:ea typeface="微软雅黑" panose="020B0503020204020204" charset="-122"/>
                <a:sym typeface="+mn-ea"/>
              </a:rPr>
              <a:t>在</a:t>
            </a:r>
            <a:r>
              <a:rPr lang="zh-CN" altLang="en-US" sz="2000" kern="0" dirty="0">
                <a:solidFill>
                  <a:srgbClr val="000000"/>
                </a:solidFill>
                <a:uFillTx/>
                <a:latin typeface="微软雅黑" panose="020B0503020204020204" charset="-122"/>
                <a:ea typeface="微软雅黑" panose="020B0503020204020204" charset="-122"/>
                <a:sym typeface="+mn-ea"/>
              </a:rPr>
              <a:t>用户</a:t>
            </a:r>
            <a:r>
              <a:rPr lang="zh-CN" altLang="zh-CN" sz="2000" kern="0" dirty="0">
                <a:solidFill>
                  <a:srgbClr val="000000"/>
                </a:solidFill>
                <a:uFillTx/>
                <a:latin typeface="微软雅黑" panose="020B0503020204020204" charset="-122"/>
                <a:ea typeface="微软雅黑" panose="020B0503020204020204" charset="-122"/>
                <a:sym typeface="+mn-ea"/>
              </a:rPr>
              <a:t>功能测试中，</a:t>
            </a:r>
            <a:r>
              <a:rPr lang="zh-CN" altLang="en-US" sz="2000" kern="0" dirty="0">
                <a:solidFill>
                  <a:srgbClr val="000000"/>
                </a:solidFill>
                <a:uFillTx/>
                <a:latin typeface="微软雅黑" panose="020B0503020204020204" charset="-122"/>
                <a:ea typeface="微软雅黑" panose="020B0503020204020204" charset="-122"/>
                <a:sym typeface="+mn-ea"/>
              </a:rPr>
              <a:t>“登录”子模块功能测试中</a:t>
            </a:r>
            <a:r>
              <a:rPr lang="zh-CN" altLang="zh-CN" sz="2000" kern="0" dirty="0">
                <a:solidFill>
                  <a:srgbClr val="000000"/>
                </a:solidFill>
                <a:uFillTx/>
                <a:latin typeface="微软雅黑" panose="020B0503020204020204" charset="-122"/>
                <a:ea typeface="微软雅黑" panose="020B0503020204020204" charset="-122"/>
                <a:sym typeface="+mn-ea"/>
              </a:rPr>
              <a:t>，</a:t>
            </a:r>
            <a:r>
              <a:rPr lang="zh-CN" altLang="en-US" sz="2000" kern="0" dirty="0">
                <a:solidFill>
                  <a:srgbClr val="000000"/>
                </a:solidFill>
                <a:uFillTx/>
                <a:latin typeface="微软雅黑" panose="020B0503020204020204" charset="-122"/>
                <a:ea typeface="微软雅黑" panose="020B0503020204020204" charset="-122"/>
                <a:sym typeface="+mn-ea"/>
              </a:rPr>
              <a:t>点击“忘记密码”无响应</a:t>
            </a:r>
            <a:r>
              <a:rPr lang="zh-CN" altLang="zh-CN" sz="2000" kern="0" dirty="0">
                <a:solidFill>
                  <a:srgbClr val="000000"/>
                </a:solidFill>
                <a:uFillTx/>
                <a:latin typeface="微软雅黑" panose="020B0503020204020204" charset="-122"/>
                <a:ea typeface="微软雅黑" panose="020B0503020204020204" charset="-122"/>
                <a:sym typeface="+mn-ea"/>
              </a:rPr>
              <a:t>，</a:t>
            </a:r>
            <a:r>
              <a:rPr lang="zh-CN" altLang="en-US" sz="2000" kern="0" dirty="0">
                <a:solidFill>
                  <a:srgbClr val="000000"/>
                </a:solidFill>
                <a:uFillTx/>
                <a:latin typeface="微软雅黑" panose="020B0503020204020204" charset="-122"/>
                <a:ea typeface="微软雅黑" panose="020B0503020204020204" charset="-122"/>
                <a:sym typeface="+mn-ea"/>
              </a:rPr>
              <a:t>应报告为错误测试用例。</a:t>
            </a:r>
            <a:endParaRPr lang="en-US" altLang="zh-CN" sz="2000" kern="0" dirty="0">
              <a:solidFill>
                <a:srgbClr val="000000"/>
              </a:solidFill>
              <a:uFillTx/>
              <a:latin typeface="微软雅黑" panose="020B0503020204020204" charset="-122"/>
              <a:ea typeface="微软雅黑" panose="020B0503020204020204" charset="-122"/>
              <a:sym typeface="+mn-ea"/>
            </a:endParaRPr>
          </a:p>
          <a:p>
            <a:pPr marL="342900" indent="-342900" algn="l" defTabSz="457200">
              <a:lnSpc>
                <a:spcPct val="150000"/>
              </a:lnSpc>
              <a:buFont typeface="Wingdings" panose="05000000000000000000" pitchFamily="2" charset="2"/>
              <a:buChar char="p"/>
              <a:defRPr sz="1800">
                <a:solidFill>
                  <a:srgbClr val="000000"/>
                </a:solidFill>
                <a:uFillTx/>
              </a:defRPr>
            </a:pPr>
            <a:r>
              <a:rPr lang="zh-CN" altLang="en-US" sz="2000" kern="0" dirty="0">
                <a:solidFill>
                  <a:srgbClr val="C00000"/>
                </a:solidFill>
                <a:uFillTx/>
                <a:latin typeface="微软雅黑" panose="020B0503020204020204" charset="-122"/>
                <a:ea typeface="微软雅黑" panose="020B0503020204020204" charset="-122"/>
                <a:sym typeface="+mn-ea"/>
              </a:rPr>
              <a:t>记录为</a:t>
            </a:r>
            <a:r>
              <a:rPr lang="zh-CN" altLang="en-US" sz="2000" kern="0" dirty="0">
                <a:solidFill>
                  <a:srgbClr val="000000"/>
                </a:solidFill>
                <a:uFillTx/>
                <a:latin typeface="微软雅黑" panose="020B0503020204020204" charset="-122"/>
                <a:ea typeface="微软雅黑" panose="020B0503020204020204" charset="-122"/>
                <a:sym typeface="+mn-ea"/>
              </a:rPr>
              <a:t>：软件缺陷</a:t>
            </a:r>
            <a:endParaRPr lang="en-US" altLang="zh-CN" sz="2000" kern="0" dirty="0">
              <a:solidFill>
                <a:srgbClr val="000000"/>
              </a:solidFill>
              <a:uFillTx/>
              <a:latin typeface="微软雅黑" panose="020B0503020204020204" charset="-122"/>
              <a:ea typeface="微软雅黑" panose="020B0503020204020204" charset="-122"/>
              <a:sym typeface="+mn-ea"/>
            </a:endParaRPr>
          </a:p>
          <a:p>
            <a:pPr marL="342900" indent="-342900" algn="l" defTabSz="457200">
              <a:lnSpc>
                <a:spcPct val="150000"/>
              </a:lnSpc>
              <a:buFont typeface="Wingdings" panose="05000000000000000000" pitchFamily="2" charset="2"/>
              <a:buChar char="p"/>
              <a:defRPr sz="1800">
                <a:solidFill>
                  <a:srgbClr val="000000"/>
                </a:solidFill>
                <a:uFillTx/>
              </a:defRPr>
            </a:pPr>
            <a:r>
              <a:rPr lang="zh-CN" altLang="en-US" sz="2000" kern="0" dirty="0">
                <a:solidFill>
                  <a:srgbClr val="C00000"/>
                </a:solidFill>
                <a:uFillTx/>
                <a:latin typeface="微软雅黑" panose="020B0503020204020204" charset="-122"/>
                <a:ea typeface="微软雅黑" panose="020B0503020204020204" charset="-122"/>
                <a:sym typeface="+mn-ea"/>
              </a:rPr>
              <a:t>严重级别</a:t>
            </a:r>
            <a:r>
              <a:rPr lang="zh-CN" altLang="en-US" sz="2000" kern="0" dirty="0">
                <a:solidFill>
                  <a:srgbClr val="000000"/>
                </a:solidFill>
                <a:uFillTx/>
                <a:latin typeface="微软雅黑" panose="020B0503020204020204" charset="-122"/>
                <a:ea typeface="微软雅黑" panose="020B0503020204020204" charset="-122"/>
                <a:sym typeface="+mn-ea"/>
              </a:rPr>
              <a:t>：高</a:t>
            </a:r>
            <a:endParaRPr lang="zh-CN" altLang="zh-CN" sz="2000" kern="0" dirty="0">
              <a:solidFill>
                <a:srgbClr val="000000"/>
              </a:solidFill>
              <a:uFillTx/>
              <a:latin typeface="微软雅黑" panose="020B0503020204020204" charset="-122"/>
              <a:ea typeface="微软雅黑" panose="020B0503020204020204" charset="-122"/>
            </a:endParaRPr>
          </a:p>
        </p:txBody>
      </p:sp>
      <p:grpSp>
        <p:nvGrpSpPr>
          <p:cNvPr id="27" name="组合 26"/>
          <p:cNvGrpSpPr/>
          <p:nvPr/>
        </p:nvGrpSpPr>
        <p:grpSpPr>
          <a:xfrm>
            <a:off x="932816" y="1419000"/>
            <a:ext cx="4643986" cy="1770203"/>
            <a:chOff x="315919" y="1560621"/>
            <a:chExt cx="4643986" cy="1805502"/>
          </a:xfrm>
        </p:grpSpPr>
        <p:grpSp>
          <p:nvGrpSpPr>
            <p:cNvPr id="28" name="组合 27"/>
            <p:cNvGrpSpPr/>
            <p:nvPr/>
          </p:nvGrpSpPr>
          <p:grpSpPr>
            <a:xfrm>
              <a:off x="2905509" y="1560621"/>
              <a:ext cx="2054396" cy="1805501"/>
              <a:chOff x="1330231" y="2854821"/>
              <a:chExt cx="2204914" cy="1805501"/>
            </a:xfrm>
          </p:grpSpPr>
          <p:sp>
            <p:nvSpPr>
              <p:cNvPr id="31" name="矩形 30"/>
              <p:cNvSpPr/>
              <p:nvPr/>
            </p:nvSpPr>
            <p:spPr>
              <a:xfrm>
                <a:off x="1330231" y="2854821"/>
                <a:ext cx="2204914" cy="487785"/>
              </a:xfrm>
              <a:prstGeom prst="rect">
                <a:avLst/>
              </a:prstGeom>
              <a:solidFill>
                <a:srgbClr val="DEEBF7"/>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微软雅黑" panose="020B0503020204020204" charset="-122"/>
                    <a:ea typeface="微软雅黑" panose="020B0503020204020204" charset="-122"/>
                  </a:rPr>
                  <a:t>订单模型测试</a:t>
                </a:r>
                <a:endParaRPr lang="zh-CN" altLang="en-US" b="1" dirty="0">
                  <a:solidFill>
                    <a:schemeClr val="tx1"/>
                  </a:solidFill>
                  <a:latin typeface="微软雅黑" panose="020B0503020204020204" charset="-122"/>
                  <a:ea typeface="微软雅黑" panose="020B0503020204020204" charset="-122"/>
                </a:endParaRPr>
              </a:p>
            </p:txBody>
          </p:sp>
          <p:sp>
            <p:nvSpPr>
              <p:cNvPr id="32" name="矩形 31"/>
              <p:cNvSpPr/>
              <p:nvPr/>
            </p:nvSpPr>
            <p:spPr>
              <a:xfrm>
                <a:off x="1330231" y="3513678"/>
                <a:ext cx="2204914" cy="487786"/>
              </a:xfrm>
              <a:prstGeom prst="rect">
                <a:avLst/>
              </a:prstGeom>
              <a:solidFill>
                <a:srgbClr val="DEEBF7"/>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微软雅黑" panose="020B0503020204020204" charset="-122"/>
                    <a:ea typeface="微软雅黑" panose="020B0503020204020204" charset="-122"/>
                  </a:rPr>
                  <a:t>订单视图测试</a:t>
                </a:r>
                <a:endParaRPr lang="zh-CN" altLang="en-US" b="1" dirty="0">
                  <a:solidFill>
                    <a:schemeClr val="tx1"/>
                  </a:solidFill>
                  <a:latin typeface="微软雅黑" panose="020B0503020204020204" charset="-122"/>
                  <a:ea typeface="微软雅黑" panose="020B0503020204020204" charset="-122"/>
                </a:endParaRPr>
              </a:p>
            </p:txBody>
          </p:sp>
          <p:sp>
            <p:nvSpPr>
              <p:cNvPr id="33" name="矩形 32"/>
              <p:cNvSpPr/>
              <p:nvPr/>
            </p:nvSpPr>
            <p:spPr>
              <a:xfrm>
                <a:off x="1330231" y="4172536"/>
                <a:ext cx="2204914" cy="487786"/>
              </a:xfrm>
              <a:prstGeom prst="rect">
                <a:avLst/>
              </a:prstGeom>
              <a:solidFill>
                <a:srgbClr val="DEEBF7"/>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C00000"/>
                    </a:solidFill>
                    <a:latin typeface="微软雅黑" panose="020B0503020204020204" charset="-122"/>
                    <a:ea typeface="微软雅黑" panose="020B0503020204020204" charset="-122"/>
                  </a:rPr>
                  <a:t>用户功能测试</a:t>
                </a:r>
                <a:endParaRPr lang="zh-CN" altLang="en-US" b="1" dirty="0">
                  <a:solidFill>
                    <a:srgbClr val="C00000"/>
                  </a:solidFill>
                  <a:latin typeface="微软雅黑" panose="020B0503020204020204" charset="-122"/>
                  <a:ea typeface="微软雅黑" panose="020B0503020204020204" charset="-122"/>
                </a:endParaRPr>
              </a:p>
            </p:txBody>
          </p:sp>
        </p:grpSp>
        <p:sp>
          <p:nvSpPr>
            <p:cNvPr id="29" name="矩形: 圆角 28"/>
            <p:cNvSpPr/>
            <p:nvPr/>
          </p:nvSpPr>
          <p:spPr>
            <a:xfrm>
              <a:off x="315919" y="2185501"/>
              <a:ext cx="1737244" cy="549369"/>
            </a:xfrm>
            <a:prstGeom prst="roundRect">
              <a:avLst/>
            </a:prstGeom>
            <a:solidFill>
              <a:srgbClr val="E7E6E6"/>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2F5597"/>
                  </a:solidFill>
                  <a:latin typeface="微软雅黑" panose="020B0503020204020204" charset="-122"/>
                  <a:ea typeface="微软雅黑" panose="020B0503020204020204" charset="-122"/>
                </a:rPr>
                <a:t>测试内容</a:t>
              </a:r>
              <a:endParaRPr lang="zh-CN" altLang="en-US" sz="2400" b="1" dirty="0">
                <a:solidFill>
                  <a:srgbClr val="2F5597"/>
                </a:solidFill>
                <a:latin typeface="微软雅黑" panose="020B0503020204020204" charset="-122"/>
                <a:ea typeface="微软雅黑" panose="020B0503020204020204" charset="-122"/>
              </a:endParaRPr>
            </a:p>
          </p:txBody>
        </p:sp>
        <p:sp>
          <p:nvSpPr>
            <p:cNvPr id="30" name="左大括号 29"/>
            <p:cNvSpPr/>
            <p:nvPr/>
          </p:nvSpPr>
          <p:spPr>
            <a:xfrm>
              <a:off x="2361075" y="1560622"/>
              <a:ext cx="311650" cy="1805501"/>
            </a:xfrm>
            <a:prstGeom prst="leftBrace">
              <a:avLst>
                <a:gd name="adj1" fmla="val 52850"/>
                <a:gd name="adj2" fmla="val 50000"/>
              </a:avLst>
            </a:prstGeom>
            <a:ln w="127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9685" y="1826895"/>
            <a:ext cx="12221210" cy="2751455"/>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 name="组合 14"/>
          <p:cNvGrpSpPr/>
          <p:nvPr/>
        </p:nvGrpSpPr>
        <p:grpSpPr>
          <a:xfrm rot="840000">
            <a:off x="2648222" y="2162808"/>
            <a:ext cx="1192471" cy="2079625"/>
            <a:chOff x="6293" y="1109"/>
            <a:chExt cx="1712" cy="3058"/>
          </a:xfrm>
        </p:grpSpPr>
        <p:sp>
          <p:nvSpPr>
            <p:cNvPr id="8" name="圆角矩形 7"/>
            <p:cNvSpPr/>
            <p:nvPr/>
          </p:nvSpPr>
          <p:spPr>
            <a:xfrm>
              <a:off x="6293" y="1109"/>
              <a:ext cx="1549" cy="3058"/>
            </a:xfrm>
            <a:prstGeom prst="roundRect">
              <a:avLst>
                <a:gd name="adj" fmla="val 9795"/>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圆角矩形 8"/>
            <p:cNvSpPr/>
            <p:nvPr/>
          </p:nvSpPr>
          <p:spPr>
            <a:xfrm>
              <a:off x="6342" y="1158"/>
              <a:ext cx="1450" cy="2959"/>
            </a:xfrm>
            <a:prstGeom prst="roundRect">
              <a:avLst>
                <a:gd name="adj" fmla="val 9795"/>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6323" y="1608"/>
              <a:ext cx="1682" cy="1492"/>
            </a:xfrm>
            <a:prstGeom prst="rect">
              <a:avLst/>
            </a:prstGeom>
            <a:noFill/>
          </p:spPr>
          <p:txBody>
            <a:bodyPr wrap="square" rtlCol="0">
              <a:spAutoFit/>
            </a:bodyPr>
            <a:lstStyle/>
            <a:p>
              <a:r>
                <a:rPr lang="en-US" altLang="zh-CN" sz="6000" dirty="0">
                  <a:solidFill>
                    <a:schemeClr val="bg1"/>
                  </a:solidFill>
                  <a:latin typeface="Times New Roman" panose="02020603050405020304" pitchFamily="18" charset="0"/>
                  <a:ea typeface="Kozuka Gothic Pr6N H" panose="020B0800000000000000" charset="-128"/>
                  <a:cs typeface="Times New Roman" panose="02020603050405020304" pitchFamily="18" charset="0"/>
                </a:rPr>
                <a:t>05</a:t>
              </a:r>
              <a:endParaRPr lang="en-US" altLang="zh-CN" sz="6000" dirty="0">
                <a:solidFill>
                  <a:schemeClr val="bg1"/>
                </a:solidFill>
                <a:latin typeface="Times New Roman" panose="02020603050405020304" pitchFamily="18" charset="0"/>
                <a:ea typeface="Kozuka Gothic Pr6N H" panose="020B0800000000000000" charset="-128"/>
                <a:cs typeface="Times New Roman" panose="02020603050405020304" pitchFamily="18" charset="0"/>
              </a:endParaRPr>
            </a:p>
          </p:txBody>
        </p:sp>
        <p:sp>
          <p:nvSpPr>
            <p:cNvPr id="11" name="椭圆 10"/>
            <p:cNvSpPr/>
            <p:nvPr/>
          </p:nvSpPr>
          <p:spPr>
            <a:xfrm>
              <a:off x="6870" y="3721"/>
              <a:ext cx="300" cy="300"/>
            </a:xfrm>
            <a:prstGeom prst="ellipse">
              <a:avLst/>
            </a:prstGeom>
            <a:solidFill>
              <a:schemeClr val="bg1">
                <a:lumMod val="95000"/>
              </a:schemeClr>
            </a:solidFill>
            <a:ln>
              <a:noFill/>
            </a:ln>
            <a:effectLst>
              <a:innerShdw>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6751" y="1199"/>
              <a:ext cx="120" cy="120"/>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6897" y="1199"/>
              <a:ext cx="120" cy="120"/>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文本框 15"/>
          <p:cNvSpPr txBox="1"/>
          <p:nvPr/>
        </p:nvSpPr>
        <p:spPr>
          <a:xfrm>
            <a:off x="4076997" y="2820722"/>
            <a:ext cx="3780537" cy="830997"/>
          </a:xfrm>
          <a:prstGeom prst="rect">
            <a:avLst/>
          </a:prstGeom>
          <a:noFill/>
        </p:spPr>
        <p:txBody>
          <a:bodyPr wrap="square" rtlCol="0">
            <a:spAutoFit/>
          </a:bodyPr>
          <a:lstStyle/>
          <a:p>
            <a:pPr algn="dist"/>
            <a:r>
              <a:rPr lang="zh-CN" altLang="en-US" sz="4800" dirty="0">
                <a:solidFill>
                  <a:schemeClr val="bg1"/>
                </a:solidFill>
              </a:rPr>
              <a:t>测试总结</a:t>
            </a:r>
            <a:endParaRPr lang="zh-CN" altLang="en-US" sz="4800" dirty="0">
              <a:solidFill>
                <a:schemeClr val="bg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33655" y="306269"/>
            <a:ext cx="3891091" cy="730685"/>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a:p>
        </p:txBody>
      </p:sp>
      <p:sp>
        <p:nvSpPr>
          <p:cNvPr id="11" name="矩形 10"/>
          <p:cNvSpPr/>
          <p:nvPr/>
        </p:nvSpPr>
        <p:spPr>
          <a:xfrm>
            <a:off x="-33655" y="-63062"/>
            <a:ext cx="212574" cy="369331"/>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190994" y="-37583"/>
            <a:ext cx="1757623" cy="369332"/>
          </a:xfrm>
          <a:prstGeom prst="rect">
            <a:avLst/>
          </a:prstGeom>
          <a:noFill/>
        </p:spPr>
        <p:txBody>
          <a:bodyPr wrap="square" rtlCol="0">
            <a:spAutoFit/>
          </a:bodyPr>
          <a:lstStyle/>
          <a:p>
            <a:r>
              <a:rPr lang="zh-CN" altLang="en-US" b="1" dirty="0"/>
              <a:t>测试总结</a:t>
            </a:r>
            <a:endParaRPr lang="zh-CN" altLang="en-US" b="1" dirty="0"/>
          </a:p>
        </p:txBody>
      </p:sp>
      <p:sp>
        <p:nvSpPr>
          <p:cNvPr id="13" name="文本框 12"/>
          <p:cNvSpPr txBox="1"/>
          <p:nvPr/>
        </p:nvSpPr>
        <p:spPr>
          <a:xfrm>
            <a:off x="932816" y="410210"/>
            <a:ext cx="2705866" cy="523220"/>
          </a:xfrm>
          <a:prstGeom prst="rect">
            <a:avLst/>
          </a:prstGeom>
          <a:noFill/>
        </p:spPr>
        <p:txBody>
          <a:bodyPr wrap="square" rtlCol="0">
            <a:spAutoFit/>
          </a:bodyPr>
          <a:lstStyle/>
          <a:p>
            <a:pPr algn="l"/>
            <a:r>
              <a:rPr lang="zh-CN" altLang="en-US" sz="2800" b="1" dirty="0">
                <a:solidFill>
                  <a:schemeClr val="bg1"/>
                </a:solidFill>
                <a:sym typeface="+mn-ea"/>
              </a:rPr>
              <a:t>测试总结</a:t>
            </a:r>
            <a:endParaRPr lang="zh-CN" altLang="en-US" sz="2800" b="1" dirty="0">
              <a:solidFill>
                <a:schemeClr val="bg1"/>
              </a:solidFill>
              <a:sym typeface="+mn-ea"/>
            </a:endParaRPr>
          </a:p>
        </p:txBody>
      </p:sp>
      <p:sp>
        <p:nvSpPr>
          <p:cNvPr id="14" name="等腰三角形 13"/>
          <p:cNvSpPr/>
          <p:nvPr/>
        </p:nvSpPr>
        <p:spPr>
          <a:xfrm rot="5400000">
            <a:off x="309245" y="503555"/>
            <a:ext cx="445770" cy="334645"/>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Shape 4036"/>
          <p:cNvSpPr/>
          <p:nvPr/>
        </p:nvSpPr>
        <p:spPr>
          <a:xfrm>
            <a:off x="2369577" y="2580771"/>
            <a:ext cx="6982528" cy="1366389"/>
          </a:xfrm>
          <a:prstGeom prst="rect">
            <a:avLst/>
          </a:prstGeom>
          <a:noFill/>
          <a:ln w="12700" cap="flat">
            <a:noFill/>
            <a:miter lim="400000"/>
          </a:ln>
          <a:effectLst/>
        </p:spPr>
        <p:txBody>
          <a:bodyPr wrap="square" lIns="0" tIns="0" rIns="0" bIns="0" numCol="1" anchor="t">
            <a:noAutofit/>
          </a:bodyPr>
          <a:lstStyle>
            <a:lvl1pPr defTabSz="914400">
              <a:spcBef>
                <a:spcPts val="200"/>
              </a:spcBef>
              <a:defRPr sz="900">
                <a:solidFill>
                  <a:srgbClr val="808080"/>
                </a:solidFill>
                <a:uFill>
                  <a:solidFill>
                    <a:srgbClr val="808080"/>
                  </a:solidFill>
                </a:uFill>
                <a:latin typeface="Roboto condensed"/>
                <a:ea typeface="Roboto condensed"/>
                <a:cs typeface="Roboto condensed"/>
                <a:sym typeface="Roboto condensed"/>
              </a:defRPr>
            </a:lvl1pPr>
          </a:lstStyle>
          <a:p>
            <a:pPr indent="457200" defTabSz="457200">
              <a:lnSpc>
                <a:spcPct val="130000"/>
              </a:lnSpc>
              <a:spcBef>
                <a:spcPts val="0"/>
              </a:spcBef>
              <a:defRPr sz="1800">
                <a:solidFill>
                  <a:srgbClr val="000000"/>
                </a:solidFill>
                <a:uFillTx/>
              </a:defRPr>
            </a:pPr>
            <a:r>
              <a:rPr lang="zh-CN" altLang="en-US" sz="2000" kern="0" dirty="0">
                <a:solidFill>
                  <a:srgbClr val="000000"/>
                </a:solidFill>
                <a:uFillTx/>
                <a:latin typeface="微软雅黑" panose="020B0503020204020204" charset="-122"/>
                <a:ea typeface="微软雅黑" panose="020B0503020204020204" charset="-122"/>
                <a:cs typeface="+mn-cs"/>
              </a:rPr>
              <a:t>本次测试表明，系统基本功能运行正常，核心流程通过了单元测试。但我们也发现了一些功能性与逻辑性缺陷，尤其是前端交互与后端校验的衔接问题。后续我们将继续完善测试用例，加强对边界条件和异常处理的测试，并进一步引入</a:t>
            </a:r>
            <a:r>
              <a:rPr lang="en-US" altLang="zh-CN" sz="2000" kern="0" dirty="0">
                <a:solidFill>
                  <a:srgbClr val="000000"/>
                </a:solidFill>
                <a:uFillTx/>
                <a:latin typeface="微软雅黑" panose="020B0503020204020204" charset="-122"/>
                <a:ea typeface="微软雅黑" panose="020B0503020204020204" charset="-122"/>
                <a:cs typeface="+mn-cs"/>
              </a:rPr>
              <a:t> AI </a:t>
            </a:r>
            <a:r>
              <a:rPr lang="zh-CN" altLang="en-US" sz="2000" kern="0" dirty="0">
                <a:solidFill>
                  <a:srgbClr val="000000"/>
                </a:solidFill>
                <a:uFillTx/>
                <a:latin typeface="微软雅黑" panose="020B0503020204020204" charset="-122"/>
                <a:ea typeface="微软雅黑" panose="020B0503020204020204" charset="-122"/>
                <a:cs typeface="+mn-cs"/>
              </a:rPr>
              <a:t>辅助测试，提升系统稳定性和用户体验。</a:t>
            </a:r>
            <a:endParaRPr lang="zh-CN" altLang="en-US" sz="2000" kern="0" dirty="0">
              <a:solidFill>
                <a:srgbClr val="000000"/>
              </a:solidFill>
              <a:uFillTx/>
              <a:latin typeface="微软雅黑" panose="020B0503020204020204" charset="-122"/>
              <a:ea typeface="微软雅黑" panose="020B0503020204020204" charset="-122"/>
              <a:cs typeface="+mn-cs"/>
            </a:endParaRPr>
          </a:p>
        </p:txBody>
      </p:sp>
      <p:sp>
        <p:nvSpPr>
          <p:cNvPr id="6" name="矩形: 圆角 5"/>
          <p:cNvSpPr/>
          <p:nvPr/>
        </p:nvSpPr>
        <p:spPr>
          <a:xfrm>
            <a:off x="1443990" y="2263775"/>
            <a:ext cx="9068435" cy="2660015"/>
          </a:xfrm>
          <a:prstGeom prst="roundRect">
            <a:avLst/>
          </a:prstGeom>
          <a:noFill/>
          <a:ln w="28575">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7145" y="1409701"/>
            <a:ext cx="12209145" cy="2873058"/>
          </a:xfrm>
          <a:prstGeom prst="rect">
            <a:avLst/>
          </a:pr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3083082" y="2192020"/>
            <a:ext cx="6006783" cy="1107996"/>
          </a:xfrm>
          <a:prstGeom prst="rect">
            <a:avLst/>
          </a:prstGeom>
          <a:noFill/>
        </p:spPr>
        <p:txBody>
          <a:bodyPr wrap="square" rtlCol="0">
            <a:spAutoFit/>
          </a:bodyPr>
          <a:lstStyle/>
          <a:p>
            <a:pPr algn="dist"/>
            <a:r>
              <a:rPr lang="zh-CN" altLang="en-US" sz="6600" b="1" dirty="0">
                <a:solidFill>
                  <a:schemeClr val="bg1"/>
                </a:solidFill>
              </a:rPr>
              <a:t>感谢观看</a:t>
            </a:r>
            <a:endParaRPr lang="zh-CN" altLang="en-US" sz="6600" b="1" dirty="0">
              <a:solidFill>
                <a:schemeClr val="bg1"/>
              </a:solidFill>
            </a:endParaRPr>
          </a:p>
        </p:txBody>
      </p:sp>
      <p:grpSp>
        <p:nvGrpSpPr>
          <p:cNvPr id="11" name="组合 10"/>
          <p:cNvGrpSpPr/>
          <p:nvPr/>
        </p:nvGrpSpPr>
        <p:grpSpPr>
          <a:xfrm>
            <a:off x="2809556" y="4799964"/>
            <a:ext cx="6501765" cy="426085"/>
            <a:chOff x="5266" y="8231"/>
            <a:chExt cx="10239" cy="671"/>
          </a:xfrm>
        </p:grpSpPr>
        <p:sp>
          <p:nvSpPr>
            <p:cNvPr id="7" name="圆角矩形 6"/>
            <p:cNvSpPr/>
            <p:nvPr/>
          </p:nvSpPr>
          <p:spPr>
            <a:xfrm>
              <a:off x="5266" y="8237"/>
              <a:ext cx="1834" cy="665"/>
            </a:xfrm>
            <a:prstGeom prst="round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小组成员</a:t>
              </a:r>
              <a:endParaRPr lang="zh-CN" altLang="en-US" dirty="0"/>
            </a:p>
          </p:txBody>
        </p:sp>
        <p:sp>
          <p:nvSpPr>
            <p:cNvPr id="9" name="文本框 8"/>
            <p:cNvSpPr txBox="1"/>
            <p:nvPr/>
          </p:nvSpPr>
          <p:spPr>
            <a:xfrm>
              <a:off x="7217" y="8231"/>
              <a:ext cx="8288" cy="582"/>
            </a:xfrm>
            <a:prstGeom prst="rect">
              <a:avLst/>
            </a:prstGeom>
            <a:noFill/>
          </p:spPr>
          <p:txBody>
            <a:bodyPr wrap="none" rtlCol="0">
              <a:spAutoFit/>
            </a:bodyPr>
            <a:lstStyle/>
            <a:p>
              <a:r>
                <a:rPr lang="zh-CN" altLang="en-US" dirty="0"/>
                <a:t>黄世龙、杨冠楠、徐梓镱、周宇航、熊丁、马宇杰</a:t>
              </a:r>
              <a:endParaRPr lang="en-US" altLang="zh-CN" dirty="0"/>
            </a:p>
          </p:txBody>
        </p:sp>
      </p:grpSp>
      <p:grpSp>
        <p:nvGrpSpPr>
          <p:cNvPr id="12" name="组合 11"/>
          <p:cNvGrpSpPr/>
          <p:nvPr/>
        </p:nvGrpSpPr>
        <p:grpSpPr>
          <a:xfrm>
            <a:off x="2809556" y="5615940"/>
            <a:ext cx="2437765" cy="422275"/>
            <a:chOff x="3859" y="9811"/>
            <a:chExt cx="3839" cy="665"/>
          </a:xfrm>
        </p:grpSpPr>
        <p:sp>
          <p:nvSpPr>
            <p:cNvPr id="13" name="圆角矩形 12"/>
            <p:cNvSpPr/>
            <p:nvPr/>
          </p:nvSpPr>
          <p:spPr>
            <a:xfrm>
              <a:off x="3859" y="9811"/>
              <a:ext cx="1834" cy="665"/>
            </a:xfrm>
            <a:prstGeom prst="round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指导老师</a:t>
              </a:r>
              <a:endParaRPr lang="zh-CN" altLang="en-US" dirty="0"/>
            </a:p>
          </p:txBody>
        </p:sp>
        <p:cxnSp>
          <p:nvCxnSpPr>
            <p:cNvPr id="15" name="直接连接符 14"/>
            <p:cNvCxnSpPr>
              <a:stCxn id="13" idx="2"/>
            </p:cNvCxnSpPr>
            <p:nvPr/>
          </p:nvCxnSpPr>
          <p:spPr>
            <a:xfrm>
              <a:off x="4776" y="10476"/>
              <a:ext cx="2922" cy="0"/>
            </a:xfrm>
            <a:prstGeom prst="line">
              <a:avLst/>
            </a:prstGeom>
            <a:ln>
              <a:solidFill>
                <a:srgbClr val="1F4E79"/>
              </a:solidFill>
            </a:ln>
          </p:spPr>
          <p:style>
            <a:lnRef idx="1">
              <a:schemeClr val="accent1"/>
            </a:lnRef>
            <a:fillRef idx="0">
              <a:schemeClr val="accent1"/>
            </a:fillRef>
            <a:effectRef idx="0">
              <a:schemeClr val="accent1"/>
            </a:effectRef>
            <a:fontRef idx="minor">
              <a:schemeClr val="tx1"/>
            </a:fontRef>
          </p:style>
        </p:cxnSp>
      </p:grpSp>
      <p:sp>
        <p:nvSpPr>
          <p:cNvPr id="4" name="文本框 3"/>
          <p:cNvSpPr txBox="1"/>
          <p:nvPr/>
        </p:nvSpPr>
        <p:spPr>
          <a:xfrm>
            <a:off x="3033711" y="3429000"/>
            <a:ext cx="6105524" cy="523220"/>
          </a:xfrm>
          <a:prstGeom prst="rect">
            <a:avLst/>
          </a:prstGeom>
          <a:noFill/>
        </p:spPr>
        <p:txBody>
          <a:bodyPr wrap="square">
            <a:spAutoFit/>
          </a:bodyPr>
          <a:lstStyle/>
          <a:p>
            <a:pPr algn="ctr" eaLnBrk="1" fontAlgn="base" hangingPunct="1">
              <a:spcBef>
                <a:spcPct val="0"/>
              </a:spcBef>
              <a:spcAft>
                <a:spcPct val="0"/>
              </a:spcAft>
              <a:buFont typeface="Arial" panose="020B0604020202020204" pitchFamily="34" charset="0"/>
              <a:buNone/>
            </a:pPr>
            <a:r>
              <a:rPr lang="zh-CN" altLang="en-US" sz="2800" dirty="0">
                <a:solidFill>
                  <a:srgbClr val="FFFFFF"/>
                </a:solidFill>
                <a:latin typeface="微软雅黑" panose="020B0503020204020204" charset="-122"/>
                <a:ea typeface="微软雅黑" panose="020B0503020204020204" charset="-122"/>
              </a:rPr>
              <a:t>软件测试演示</a:t>
            </a:r>
            <a:endParaRPr lang="zh-CN" altLang="zh-CN" sz="2800" dirty="0">
              <a:solidFill>
                <a:srgbClr val="FFFFFF"/>
              </a:solidFill>
              <a:latin typeface="微软雅黑" panose="020B0503020204020204" charset="-122"/>
              <a:ea typeface="微软雅黑" panose="020B0503020204020204" charset="-122"/>
            </a:endParaRPr>
          </a:p>
        </p:txBody>
      </p:sp>
      <p:cxnSp>
        <p:nvCxnSpPr>
          <p:cNvPr id="2" name="直接连接符 1"/>
          <p:cNvCxnSpPr/>
          <p:nvPr/>
        </p:nvCxnSpPr>
        <p:spPr>
          <a:xfrm>
            <a:off x="3458864" y="5230275"/>
            <a:ext cx="1855470" cy="0"/>
          </a:xfrm>
          <a:prstGeom prst="line">
            <a:avLst/>
          </a:prstGeom>
          <a:ln>
            <a:solidFill>
              <a:srgbClr val="1F4E79"/>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4262852" y="5642292"/>
            <a:ext cx="869315" cy="369570"/>
          </a:xfrm>
          <a:prstGeom prst="rect">
            <a:avLst/>
          </a:prstGeom>
          <a:noFill/>
        </p:spPr>
        <p:txBody>
          <a:bodyPr wrap="none" rtlCol="0">
            <a:spAutoFit/>
          </a:bodyPr>
          <a:lstStyle/>
          <a:p>
            <a:r>
              <a:rPr lang="zh-CN" altLang="en-US" dirty="0"/>
              <a:t>武剑洁</a:t>
            </a:r>
            <a:endParaRPr lang="en-US" altLang="zh-CN" dirty="0"/>
          </a:p>
        </p:txBody>
      </p:sp>
    </p:spTree>
  </p:cSld>
  <p:clrMapOvr>
    <a:masterClrMapping/>
  </p:clrMapOvr>
</p:sld>
</file>

<file path=ppt/tags/tag1.xml><?xml version="1.0" encoding="utf-8"?>
<p:tagLst xmlns:p="http://schemas.openxmlformats.org/presentationml/2006/main">
  <p:tag name="TYPE" val="icon"/>
</p:tagLst>
</file>

<file path=ppt/tags/tag2.xml><?xml version="1.0" encoding="utf-8"?>
<p:tagLst xmlns:p="http://schemas.openxmlformats.org/presentationml/2006/main">
  <p:tag name="TYPE" val="icon"/>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1903</Words>
  <Application>WPS 演示</Application>
  <PresentationFormat>宽屏</PresentationFormat>
  <Paragraphs>462</Paragraphs>
  <Slides>27</Slides>
  <Notes>0</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27</vt:i4>
      </vt:variant>
    </vt:vector>
  </HeadingPairs>
  <TitlesOfParts>
    <vt:vector size="44" baseType="lpstr">
      <vt:lpstr>Arial</vt:lpstr>
      <vt:lpstr>宋体</vt:lpstr>
      <vt:lpstr>Wingdings</vt:lpstr>
      <vt:lpstr>微软雅黑</vt:lpstr>
      <vt:lpstr>汉仪旗黑</vt:lpstr>
      <vt:lpstr>Times New Roman</vt:lpstr>
      <vt:lpstr>Adobe Gothic Std B</vt:lpstr>
      <vt:lpstr>苹方-简</vt:lpstr>
      <vt:lpstr>Kozuka Gothic Pr6N H</vt:lpstr>
      <vt:lpstr>Calibri</vt:lpstr>
      <vt:lpstr>Roboto condensed</vt:lpstr>
      <vt:lpstr>Thonburi</vt:lpstr>
      <vt:lpstr>Helvetica Neue</vt:lpstr>
      <vt:lpstr>汉仪书宋二KW</vt:lpstr>
      <vt:lpstr>宋体</vt:lpstr>
      <vt:lpstr>Arial Unicode MS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黄米米</cp:lastModifiedBy>
  <cp:revision>115</cp:revision>
  <dcterms:created xsi:type="dcterms:W3CDTF">2025-10-07T06:57:55Z</dcterms:created>
  <dcterms:modified xsi:type="dcterms:W3CDTF">2025-10-07T06:57:55Z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2052-5.5.1.7991</vt:lpwstr>
  </property>
  <property fmtid="{D5CDD505-2E9C-101B-9397-08002B2CF9AE}" pid="3" name="ICV">
    <vt:lpwstr>038121D532A9B68AF3B9E4689F07702F_43</vt:lpwstr>
  </property>
</Properties>
</file>