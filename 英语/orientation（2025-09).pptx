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2"/>
    <p:sldId id="288" r:id="rId3"/>
    <p:sldId id="262" r:id="rId4"/>
    <p:sldId id="277" r:id="rId5"/>
    <p:sldId id="289" r:id="rId6"/>
    <p:sldId id="263" r:id="rId7"/>
    <p:sldId id="278" r:id="rId8"/>
    <p:sldId id="295" r:id="rId9"/>
    <p:sldId id="294" r:id="rId10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00"/>
    <a:srgbClr val="4D4D4D"/>
    <a:srgbClr val="777777"/>
    <a:srgbClr val="458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>
            <p:ph type="ctrTitle"/>
          </p:nvPr>
        </p:nvSpPr>
        <p:spPr>
          <a:xfrm>
            <a:off x="1295400" y="3048000"/>
            <a:ext cx="58674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 algn="l">
              <a:defRPr sz="3600" kern="1200">
                <a:solidFill>
                  <a:srgbClr val="45855A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051" name="副标题 2050"/>
          <p:cNvSpPr>
            <a:spLocks noGrp="1"/>
          </p:cNvSpPr>
          <p:nvPr>
            <p:ph type="subTitle" idx="1"/>
          </p:nvPr>
        </p:nvSpPr>
        <p:spPr>
          <a:xfrm>
            <a:off x="1295400" y="3733800"/>
            <a:ext cx="5486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>
              <a:buNone/>
              <a:defRPr sz="2000" kern="1200">
                <a:solidFill>
                  <a:schemeClr val="tx1"/>
                </a:solidFill>
              </a:defRPr>
            </a:lvl1pPr>
            <a:lvl2pPr marL="457200" lvl="1" indent="-457200" algn="ctr">
              <a:buNone/>
              <a:defRPr sz="2000" kern="1200">
                <a:solidFill>
                  <a:schemeClr val="tx1"/>
                </a:solidFill>
              </a:defRPr>
            </a:lvl2pPr>
            <a:lvl3pPr marL="914400" lvl="2" indent="-914400" algn="ctr">
              <a:buNone/>
              <a:defRPr sz="2000" kern="1200">
                <a:solidFill>
                  <a:schemeClr val="tx1"/>
                </a:solidFill>
              </a:defRPr>
            </a:lvl3pPr>
            <a:lvl4pPr marL="1371600" lvl="3" indent="-1371600" algn="ctr">
              <a:buNone/>
              <a:defRPr sz="2000" kern="1200">
                <a:solidFill>
                  <a:schemeClr val="tx1"/>
                </a:solidFill>
              </a:defRPr>
            </a:lvl4pPr>
            <a:lvl5pPr marL="1828800" lvl="4" indent="-1828800" algn="ctr">
              <a:buNone/>
              <a:defRPr sz="2000" kern="1200">
                <a:solidFill>
                  <a:schemeClr val="tx1"/>
                </a:solidFill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2051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052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2053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1600200"/>
            <a:ext cx="3584448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1352" y="1600200"/>
            <a:ext cx="3584448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5293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990600" y="1600200"/>
            <a:ext cx="73152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 noProof="1" dirty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 noProof="1" dirty="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bg1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8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8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8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1800" b="0" i="0" u="none" kern="1200" baseline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内容占位符 4"/>
          <p:cNvSpPr>
            <a:spLocks noGrp="1"/>
          </p:cNvSpPr>
          <p:nvPr>
            <p:ph idx="1"/>
          </p:nvPr>
        </p:nvSpPr>
        <p:spPr>
          <a:xfrm>
            <a:off x="788988" y="1165225"/>
            <a:ext cx="7683500" cy="4525963"/>
          </a:xfrm>
        </p:spPr>
        <p:txBody>
          <a:bodyPr anchor="t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44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English for Postgraduates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44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Integrated Course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4400" b="1" i="0" u="none" strike="noStrike" kern="1200" cap="none" spc="0" normalizeH="0" baseline="0" noProof="1">
              <a:solidFill>
                <a:srgbClr val="FFC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40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Orientation</a:t>
            </a:r>
            <a:endParaRPr kumimoji="0" lang="en-US" altLang="zh-CN" sz="4400" b="1" i="0" u="none" strike="noStrike" kern="1200" cap="none" spc="0" normalizeH="0" baseline="0" noProof="1">
              <a:solidFill>
                <a:srgbClr val="FFC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zh-CN" sz="4400" b="1" i="0" u="none" strike="noStrike" kern="1200" cap="none" spc="0" normalizeH="0" baseline="0" noProof="1">
              <a:solidFill>
                <a:srgbClr val="FFC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44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384175" y="246063"/>
            <a:ext cx="8221663" cy="838200"/>
          </a:xfrm>
        </p:spPr>
        <p:txBody>
          <a:bodyPr anchor="ctr" anchorCtr="0"/>
          <a:lstStyle/>
          <a:p>
            <a:r>
              <a:rPr lang="en-US" altLang="zh-CN" b="1">
                <a:solidFill>
                  <a:srgbClr val="FFC000"/>
                </a:solidFill>
                <a:latin typeface="Arial" panose="020B0604020202020204" pitchFamily="34" charset="0"/>
              </a:rPr>
              <a:t>Contents</a:t>
            </a:r>
          </a:p>
        </p:txBody>
      </p:sp>
      <p:sp>
        <p:nvSpPr>
          <p:cNvPr id="4098" name="内容占位符 2"/>
          <p:cNvSpPr>
            <a:spLocks noGrp="1"/>
          </p:cNvSpPr>
          <p:nvPr>
            <p:ph idx="1"/>
          </p:nvPr>
        </p:nvSpPr>
        <p:spPr>
          <a:xfrm>
            <a:off x="3074988" y="1608138"/>
            <a:ext cx="4354512" cy="4348162"/>
          </a:xfrm>
        </p:spPr>
        <p:txBody>
          <a:bodyPr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b="1">
                <a:solidFill>
                  <a:srgbClr val="FFC000"/>
                </a:solidFill>
                <a:latin typeface="Arial" panose="020B0604020202020204" pitchFamily="34" charset="0"/>
              </a:rPr>
              <a:t>Teaching Goals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b="1">
                <a:solidFill>
                  <a:srgbClr val="FFC000"/>
                </a:solidFill>
                <a:latin typeface="Arial" panose="020B0604020202020204" pitchFamily="34" charset="0"/>
              </a:rPr>
              <a:t>Teaching plan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b="1">
                <a:solidFill>
                  <a:srgbClr val="FFC000"/>
                </a:solidFill>
                <a:latin typeface="Arial" panose="020B0604020202020204" pitchFamily="34" charset="0"/>
              </a:rPr>
              <a:t>Assessments</a:t>
            </a:r>
          </a:p>
          <a:p>
            <a:pPr>
              <a:buNone/>
            </a:pPr>
            <a:endParaRPr lang="en-US" altLang="zh-CN" sz="3200" b="1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6145"/>
          <p:cNvSpPr>
            <a:spLocks noGrp="1"/>
          </p:cNvSpPr>
          <p:nvPr>
            <p:ph type="title"/>
          </p:nvPr>
        </p:nvSpPr>
        <p:spPr>
          <a:xfrm>
            <a:off x="276225" y="152400"/>
            <a:ext cx="8229600" cy="9906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60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Teaching Goals</a:t>
            </a:r>
          </a:p>
        </p:txBody>
      </p:sp>
      <p:sp>
        <p:nvSpPr>
          <p:cNvPr id="6147" name="内容占位符 6146"/>
          <p:cNvSpPr>
            <a:spLocks noGrp="1"/>
          </p:cNvSpPr>
          <p:nvPr>
            <p:ph idx="1"/>
          </p:nvPr>
        </p:nvSpPr>
        <p:spPr>
          <a:xfrm>
            <a:off x="569913" y="1143000"/>
            <a:ext cx="7935913" cy="4868863"/>
          </a:xfrm>
        </p:spPr>
        <p:txBody>
          <a:bodyPr vert="horz" wrap="square" lIns="91440" tIns="45720" rIns="91440" bIns="45720" anchor="t"/>
          <a:lstStyle/>
          <a:p>
            <a:pPr marL="533400" marR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Speaking</a:t>
            </a:r>
            <a:endParaRPr kumimoji="0" lang="en-US" altLang="zh-CN" sz="28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Presentation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Group discussion</a:t>
            </a:r>
            <a:endParaRPr kumimoji="0" lang="en-US" altLang="zh-CN" sz="2800" b="1" i="0" u="sng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533400" marR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Writing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Practical Writing</a:t>
            </a:r>
            <a:endParaRPr kumimoji="0" lang="en-US" altLang="zh-CN" sz="2800" b="1" i="0" u="none" strike="noStrike" kern="1200" cap="none" spc="0" normalizeH="0" baseline="0" noProof="1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Invitation letter and reply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Inquiry letter and reply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Academic Writing</a:t>
            </a:r>
            <a:endParaRPr kumimoji="0" lang="en-US" altLang="zh-CN" sz="2800" b="0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Abstract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Summary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28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533400" marR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28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533400" marR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zh-CN" sz="28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7169"/>
          <p:cNvSpPr>
            <a:spLocks noGrp="1"/>
          </p:cNvSpPr>
          <p:nvPr>
            <p:ph type="ctrTitle"/>
          </p:nvPr>
        </p:nvSpPr>
        <p:spPr>
          <a:xfrm>
            <a:off x="625475" y="269875"/>
            <a:ext cx="5867400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 typeface="Arial" panose="020B0604020202020204" pitchFamily="34" charset="0"/>
            </a:pPr>
            <a:r>
              <a:rPr lang="en-US" altLang="zh-CN" b="1" kern="120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+mj-cs"/>
              </a:rPr>
              <a:t>Teaching Plan</a:t>
            </a:r>
          </a:p>
        </p:txBody>
      </p:sp>
      <p:sp>
        <p:nvSpPr>
          <p:cNvPr id="6146" name="副标题 7170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</a:pPr>
            <a:endParaRPr lang="en-US" altLang="zh-CN" b="1" kern="1200" dirty="0">
              <a:latin typeface="+mn-lt"/>
              <a:ea typeface="宋体" panose="02010600030101010101" pitchFamily="2" charset="-122"/>
              <a:cs typeface="+mn-cs"/>
            </a:endParaRPr>
          </a:p>
          <a:p>
            <a:pPr eaLnBrk="1" hangingPunct="1">
              <a:buClrTx/>
              <a:buSzTx/>
            </a:pPr>
            <a:endParaRPr lang="en-US" altLang="zh-CN" kern="120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文本框 1"/>
          <p:cNvSpPr txBox="1"/>
          <p:nvPr/>
        </p:nvSpPr>
        <p:spPr>
          <a:xfrm>
            <a:off x="4614863" y="1439863"/>
            <a:ext cx="4200525" cy="45227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Textbook</a:t>
            </a:r>
          </a:p>
          <a:p>
            <a:r>
              <a:rPr lang="zh-CN" altLang="en-US" sz="2400" b="0">
                <a:solidFill>
                  <a:schemeClr val="bg1"/>
                </a:solidFill>
                <a:latin typeface="Arial" panose="020B0604020202020204" pitchFamily="34" charset="0"/>
              </a:rPr>
              <a:t>研究生英语综合教程（上）熊海虹等 外语教学与研究出版社，2018</a:t>
            </a:r>
          </a:p>
          <a:p>
            <a:endParaRPr lang="zh-CN" altLang="en-US" sz="24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Reference</a:t>
            </a:r>
          </a:p>
          <a:p>
            <a:r>
              <a:rPr lang="zh-CN" altLang="en-US" sz="2400" b="0">
                <a:solidFill>
                  <a:schemeClr val="bg1"/>
                </a:solidFill>
                <a:latin typeface="Arial" panose="020B0604020202020204" pitchFamily="34" charset="0"/>
              </a:rPr>
              <a:t>研究生英语听说教程（下）周炳兰 李萌涛 外语教学与研究出版社，2018</a:t>
            </a:r>
            <a:endParaRPr lang="zh-CN" altLang="en-US" sz="2400" b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endParaRPr lang="zh-CN" altLang="en-US" sz="24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Supplementary </a:t>
            </a:r>
          </a:p>
          <a:p>
            <a:r>
              <a:rPr lang="en-US" altLang="zh-CN" sz="2400" b="0">
                <a:solidFill>
                  <a:schemeClr val="bg1"/>
                </a:solidFill>
                <a:latin typeface="Arial" panose="020B0604020202020204" pitchFamily="34" charset="0"/>
              </a:rPr>
              <a:t>Handouts</a:t>
            </a:r>
          </a:p>
        </p:txBody>
      </p:sp>
      <p:pic>
        <p:nvPicPr>
          <p:cNvPr id="6148" name="图片 1" descr="TIM图片20190911104524"/>
          <p:cNvPicPr>
            <a:picLocks noChangeAspect="1"/>
          </p:cNvPicPr>
          <p:nvPr/>
        </p:nvPicPr>
        <p:blipFill>
          <a:blip r:embed="rId2"/>
          <a:srcRect l="12903" t="2339" r="12257" b="-584"/>
          <a:stretch>
            <a:fillRect/>
          </a:stretch>
        </p:blipFill>
        <p:spPr>
          <a:xfrm>
            <a:off x="625475" y="1244600"/>
            <a:ext cx="3570288" cy="5168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7169"/>
          <p:cNvSpPr>
            <a:spLocks noGrp="1"/>
          </p:cNvSpPr>
          <p:nvPr/>
        </p:nvSpPr>
        <p:spPr>
          <a:xfrm>
            <a:off x="625475" y="269875"/>
            <a:ext cx="5867400" cy="762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/>
          <a:p>
            <a:pPr>
              <a:buSzTx/>
            </a:pPr>
            <a:r>
              <a:rPr lang="en-US" altLang="zh-CN" sz="360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Teaching Plan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23900" y="1169035"/>
          <a:ext cx="8079740" cy="482473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955675"/>
                <a:gridCol w="1078865"/>
                <a:gridCol w="2019935"/>
                <a:gridCol w="2066925"/>
                <a:gridCol w="1958340"/>
              </a:tblGrid>
              <a:tr h="4375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Week </a:t>
                      </a:r>
                      <a:endParaRPr lang="en-US" altLang="en-US" sz="20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Unit</a:t>
                      </a:r>
                      <a:endParaRPr lang="en-US" altLang="en-US" sz="20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altLang="en-US" sz="20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Writing skills</a:t>
                      </a:r>
                      <a:endParaRPr lang="en-US" altLang="en-US" sz="20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Speaking skills</a:t>
                      </a:r>
                      <a:endParaRPr lang="en-US" altLang="en-US" sz="20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  <a:tr h="375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Orientation</a:t>
                      </a:r>
                      <a:endParaRPr lang="en-US" altLang="en-US" sz="1800" b="1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Basics of letter writing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Presentation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3-5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1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Planning your future career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Invitation letter and reply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6-7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Leisure activities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Inquiry letter and reply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8-9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4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Love and marriage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Abstract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10-11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5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Living a healthier life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Discussion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12-13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8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Smarter transportation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Summary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</a:tcPr>
                </a:tc>
              </a:tr>
              <a:tr h="562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14-15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10 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The role of education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16-17</a:t>
                      </a:r>
                      <a:endParaRPr lang="en-US" altLang="en-US" sz="1800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Oral Exam</a:t>
                      </a:r>
                      <a:endParaRPr lang="en-US" altLang="en-US" sz="1800" b="1">
                        <a:solidFill>
                          <a:schemeClr val="tx2"/>
                        </a:solidFill>
                      </a:endParaRPr>
                    </a:p>
                  </a:txBody>
                  <a:tcPr marL="68580" marR="6858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占位符 10242"/>
          <p:cNvSpPr>
            <a:spLocks noGrp="1"/>
          </p:cNvSpPr>
          <p:nvPr>
            <p:ph idx="1"/>
          </p:nvPr>
        </p:nvSpPr>
        <p:spPr>
          <a:xfrm>
            <a:off x="771525" y="1108075"/>
            <a:ext cx="7456488" cy="5272088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Topics for group presentations</a:t>
            </a:r>
            <a:endParaRPr kumimoji="0" lang="en-US" altLang="zh-CN" sz="2800" b="0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971550" marR="0" lvl="1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Job and career</a:t>
            </a:r>
          </a:p>
          <a:p>
            <a:pPr marL="971550" marR="0" lvl="1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Leisure activities</a:t>
            </a:r>
          </a:p>
          <a:p>
            <a:pPr marL="971550" marR="0" lvl="1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Love and marriage</a:t>
            </a:r>
          </a:p>
          <a:p>
            <a:pPr marL="971550" marR="0" lvl="1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Living a healthier life</a:t>
            </a:r>
          </a:p>
          <a:p>
            <a:pPr marL="971550" marR="0" lvl="1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Smart transportation</a:t>
            </a:r>
          </a:p>
          <a:p>
            <a:pPr marL="971550" marR="0" lvl="1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zh-CN" sz="2800" b="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role of education</a:t>
            </a: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2800" b="0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194" name="标题 7169"/>
          <p:cNvSpPr>
            <a:spLocks noGrp="1"/>
          </p:cNvSpPr>
          <p:nvPr/>
        </p:nvSpPr>
        <p:spPr>
          <a:xfrm>
            <a:off x="625475" y="269875"/>
            <a:ext cx="5867400" cy="762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/>
          <a:p>
            <a:pPr>
              <a:buSzTx/>
            </a:pPr>
            <a:r>
              <a:rPr lang="en-US" altLang="zh-CN" sz="360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Teaching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8193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9906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6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Assessments</a:t>
            </a:r>
          </a:p>
        </p:txBody>
      </p:sp>
      <p:sp>
        <p:nvSpPr>
          <p:cNvPr id="7170" name="文本占位符 8194"/>
          <p:cNvSpPr>
            <a:spLocks noGrp="1"/>
          </p:cNvSpPr>
          <p:nvPr>
            <p:ph idx="1"/>
          </p:nvPr>
        </p:nvSpPr>
        <p:spPr>
          <a:xfrm>
            <a:off x="659130" y="1295400"/>
            <a:ext cx="7968615" cy="5172710"/>
          </a:xfrm>
        </p:spPr>
        <p:txBody>
          <a:bodyPr vert="horz" wrap="square" lIns="91440" tIns="45720" rIns="91440" bIns="45720" anchor="t"/>
          <a:lstStyle/>
          <a:p>
            <a:pPr marL="34290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Course Participation ( </a:t>
            </a:r>
            <a:r>
              <a:rPr kumimoji="0" lang="en-US" altLang="zh-CN" sz="2800" b="1" i="0" u="none" strike="noStrike" kern="1200" cap="none" spc="0" normalizeH="0" baseline="0" noProof="1" smtClean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15%)</a:t>
            </a:r>
          </a:p>
          <a:p>
            <a:pPr marL="34290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 noProof="1" smtClean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MOOC Study </a:t>
            </a:r>
            <a:r>
              <a:rPr lang="zh-CN" altLang="en-US" b="1" noProof="1" smtClean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b="1" noProof="1" smtClean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15%</a:t>
            </a:r>
            <a:r>
              <a:rPr lang="zh-CN" altLang="en-US" b="1" noProof="1" smtClean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b="1" noProof="1" smtClean="0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altLang="zh-CN" noProof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Units 1-5</a:t>
            </a:r>
            <a:endParaRPr lang="en-US" altLang="zh-CN" noProof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1" i="0" u="none" strike="noStrike" kern="1200" cap="none" spc="0" normalizeH="0" baseline="0" noProof="1" smtClean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Oral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English Test (20%)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Presentation (10 points)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Group discussion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(10 points)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800" b="1" i="0" u="none" strike="noStrike" kern="1200" cap="none" spc="0" normalizeH="0" baseline="0" noProof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Writing Test (50%)</a:t>
            </a:r>
            <a:endParaRPr kumimoji="0" lang="en-US" altLang="zh-CN" sz="32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zh-CN" sz="3200" b="1" i="0" u="none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308" y="228684"/>
            <a:ext cx="8229600" cy="685782"/>
          </a:xfrm>
        </p:spPr>
        <p:txBody>
          <a:bodyPr/>
          <a:lstStyle/>
          <a:p>
            <a:r>
              <a:rPr lang="en-US" altLang="zh-CN" b="1" noProof="1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MOOC Study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318" y="917840"/>
            <a:ext cx="8838968" cy="5787673"/>
          </a:xfrm>
        </p:spPr>
        <p:txBody>
          <a:bodyPr/>
          <a:lstStyle/>
          <a:p>
            <a:r>
              <a:rPr lang="zh-CN" altLang="en-US" sz="2600" dirty="0" smtClean="0"/>
              <a:t>课程名称：学术英语读写</a:t>
            </a:r>
            <a:endParaRPr lang="en-US" altLang="zh-CN" sz="2600" dirty="0" smtClean="0"/>
          </a:p>
          <a:p>
            <a:endParaRPr lang="en-US" altLang="zh-CN" sz="2600" dirty="0" smtClean="0"/>
          </a:p>
          <a:p>
            <a:r>
              <a:rPr lang="zh-CN" altLang="en-US" sz="2600" dirty="0" smtClean="0"/>
              <a:t>学</a:t>
            </a:r>
            <a:r>
              <a:rPr lang="zh-CN" altLang="en-US" sz="2600" dirty="0"/>
              <a:t>生账号已开通，登录账号为</a:t>
            </a:r>
            <a:r>
              <a:rPr lang="en-US" altLang="zh-CN" sz="2600" dirty="0" err="1"/>
              <a:t>hust</a:t>
            </a:r>
            <a:r>
              <a:rPr lang="en-US" altLang="zh-CN" sz="2600" dirty="0"/>
              <a:t>+</a:t>
            </a:r>
            <a:r>
              <a:rPr lang="zh-CN" altLang="en-US" sz="2600" dirty="0"/>
              <a:t>学号（输入的时候不用输入</a:t>
            </a:r>
            <a:r>
              <a:rPr lang="en-US" altLang="zh-CN" sz="2600" dirty="0"/>
              <a:t>+</a:t>
            </a:r>
            <a:r>
              <a:rPr lang="zh-CN" altLang="en-US" sz="2600" dirty="0" smtClean="0"/>
              <a:t>号）</a:t>
            </a:r>
            <a:r>
              <a:rPr lang="zh-CN" altLang="en-US" sz="2600" dirty="0"/>
              <a:t/>
            </a:r>
            <a:br>
              <a:rPr lang="zh-CN" altLang="en-US" sz="2600" dirty="0"/>
            </a:br>
            <a:r>
              <a:rPr lang="zh-CN" altLang="en-US" sz="2600" dirty="0"/>
              <a:t>初始密码为</a:t>
            </a:r>
            <a:r>
              <a:rPr lang="en-US" altLang="zh-CN" sz="2600" dirty="0"/>
              <a:t>Yxy123456</a:t>
            </a:r>
            <a:br>
              <a:rPr lang="en-US" altLang="zh-CN" sz="2600" dirty="0"/>
            </a:br>
            <a:r>
              <a:rPr lang="en-US" altLang="zh-CN" sz="2600" dirty="0"/>
              <a:t/>
            </a:r>
            <a:br>
              <a:rPr lang="en-US" altLang="zh-CN" sz="2600" dirty="0"/>
            </a:br>
            <a:r>
              <a:rPr lang="en-US" altLang="zh-CN" sz="2600" dirty="0" err="1"/>
              <a:t>ulearning</a:t>
            </a:r>
            <a:r>
              <a:rPr lang="zh-CN" altLang="en-US" sz="2600" dirty="0"/>
              <a:t>优学院登录方式：</a:t>
            </a:r>
            <a:br>
              <a:rPr lang="zh-CN" altLang="en-US" sz="2600" dirty="0"/>
            </a:br>
            <a:r>
              <a:rPr lang="zh-CN" altLang="en-US" sz="2600" dirty="0"/>
              <a:t>电脑端：优学院</a:t>
            </a:r>
            <a:r>
              <a:rPr lang="en-US" altLang="zh-CN" sz="2600" dirty="0"/>
              <a:t>www.ulearning.cn</a:t>
            </a:r>
            <a:r>
              <a:rPr lang="zh-CN" altLang="en-US" sz="2600" dirty="0"/>
              <a:t>（建议谷歌</a:t>
            </a:r>
            <a:r>
              <a:rPr lang="en-US" altLang="zh-CN" sz="2600" dirty="0"/>
              <a:t>chrome</a:t>
            </a:r>
            <a:r>
              <a:rPr lang="zh-CN" altLang="en-US" sz="2600" dirty="0"/>
              <a:t>浏览器，或</a:t>
            </a:r>
            <a:r>
              <a:rPr lang="en-US" altLang="zh-CN" sz="2600" dirty="0"/>
              <a:t>360</a:t>
            </a:r>
            <a:r>
              <a:rPr lang="zh-CN" altLang="en-US" sz="2600" dirty="0"/>
              <a:t>极速浏览器）</a:t>
            </a:r>
            <a:br>
              <a:rPr lang="zh-CN" altLang="en-US" sz="2600" dirty="0"/>
            </a:br>
            <a:r>
              <a:rPr lang="zh-CN" altLang="en-US" sz="2600" dirty="0"/>
              <a:t>手机端：在应用商店下载“优学院</a:t>
            </a:r>
            <a:r>
              <a:rPr lang="en-US" altLang="zh-CN" sz="2600" dirty="0"/>
              <a:t>2.0”app</a:t>
            </a:r>
            <a:br>
              <a:rPr lang="en-US" altLang="zh-CN" sz="2600" dirty="0"/>
            </a:br>
            <a:r>
              <a:rPr lang="en-US" altLang="zh-CN" sz="2600" dirty="0"/>
              <a:t/>
            </a:r>
            <a:br>
              <a:rPr lang="en-US" altLang="zh-CN" sz="2600" dirty="0"/>
            </a:br>
            <a:r>
              <a:rPr lang="en-US" altLang="zh-CN" sz="2600" dirty="0"/>
              <a:t> </a:t>
            </a:r>
            <a:r>
              <a:rPr lang="zh-CN" altLang="en-US" sz="2600" dirty="0"/>
              <a:t>登录账号→点击</a:t>
            </a:r>
            <a:r>
              <a:rPr lang="en-US" altLang="zh-CN" sz="2600" dirty="0"/>
              <a:t>【</a:t>
            </a:r>
            <a:r>
              <a:rPr lang="zh-CN" altLang="en-US" sz="2600" dirty="0"/>
              <a:t>课程</a:t>
            </a:r>
            <a:r>
              <a:rPr lang="en-US" altLang="zh-CN" sz="2600" dirty="0"/>
              <a:t>】→ </a:t>
            </a:r>
            <a:r>
              <a:rPr lang="zh-CN" altLang="en-US" sz="2600" dirty="0"/>
              <a:t>点击</a:t>
            </a:r>
            <a:r>
              <a:rPr lang="en-US" altLang="zh-CN" sz="2600" dirty="0"/>
              <a:t>【</a:t>
            </a:r>
            <a:r>
              <a:rPr lang="zh-CN" altLang="en-US" sz="2600" dirty="0"/>
              <a:t>课件</a:t>
            </a:r>
            <a:r>
              <a:rPr lang="en-US" altLang="zh-CN" sz="2600" dirty="0"/>
              <a:t>】</a:t>
            </a:r>
            <a:r>
              <a:rPr lang="zh-CN" altLang="en-US" sz="2600" dirty="0"/>
              <a:t>，学习考</a:t>
            </a:r>
            <a:r>
              <a:rPr lang="zh-CN" altLang="en-US" dirty="0"/>
              <a:t>核的单元内容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/>
            </a:r>
            <a:b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</a:b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Writing Test (50%)</a:t>
            </a:r>
            <a:r>
              <a:rPr kumimoji="0" lang="en-US" altLang="zh-CN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br>
              <a:rPr kumimoji="0" lang="en-US" altLang="zh-CN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485" y="1752600"/>
            <a:ext cx="8495030" cy="4526280"/>
          </a:xfrm>
        </p:spPr>
        <p:txBody>
          <a:bodyPr/>
          <a:lstStyle/>
          <a:p>
            <a:pPr lvl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Reading comprehension (20 Points)</a:t>
            </a:r>
          </a:p>
          <a:p>
            <a:pPr lvl="1" algn="l" defTabSz="914400">
              <a:spcBef>
                <a:spcPts val="0"/>
              </a:spcBef>
              <a:spcAft>
                <a:spcPts val="1200"/>
              </a:spcAft>
              <a:buClrTx/>
              <a:buSzTx/>
              <a:buChar char="•"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algn="l" defTabSz="914400">
              <a:spcBef>
                <a:spcPts val="0"/>
              </a:spcBef>
              <a:spcAft>
                <a:spcPts val="1200"/>
              </a:spcAft>
              <a:buClrTx/>
              <a:buSzTx/>
              <a:buChar char="•"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Reordering an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abstract (10 Points)</a:t>
            </a:r>
          </a:p>
          <a:p>
            <a:pPr lvl="1" algn="l" defTabSz="914400">
              <a:spcBef>
                <a:spcPts val="0"/>
              </a:spcBef>
              <a:spcAft>
                <a:spcPts val="1200"/>
              </a:spcAft>
              <a:buClrTx/>
              <a:buSzTx/>
              <a:buChar char="•"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Letter Writing (10 Points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algn="l" defTabSz="914400">
              <a:spcBef>
                <a:spcPts val="0"/>
              </a:spcBef>
              <a:spcAft>
                <a:spcPts val="1200"/>
              </a:spcAft>
              <a:buClrTx/>
              <a:buSzTx/>
              <a:buChar char="•"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Summary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Writing (10 Points)</a:t>
            </a:r>
          </a:p>
          <a:p>
            <a:pPr lvl="1" algn="l" defTabSz="914400">
              <a:spcBef>
                <a:spcPts val="0"/>
              </a:spcBef>
              <a:spcAft>
                <a:spcPts val="1200"/>
              </a:spcAft>
              <a:buClrTx/>
              <a:buSzTx/>
              <a:buChar char="•"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IzNzQwNzJlNWRkMTI5OTcxMWY4OTJmNDk3NGZmZ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1232dce-1b43-4525-b1b1-659db0561db7}"/>
</p:tagLst>
</file>

<file path=ppt/theme/theme1.xml><?xml version="1.0" encoding="utf-8"?>
<a:theme xmlns:a="http://schemas.openxmlformats.org/drawingml/2006/main" name="14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F:\新建文件夹\ppt background pictures\14.pot</Template>
  <TotalTime>7</TotalTime>
  <Words>251</Words>
  <Application>Microsoft Office PowerPoint</Application>
  <PresentationFormat>全屏显示(4:3)</PresentationFormat>
  <Paragraphs>92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宋体</vt:lpstr>
      <vt:lpstr>Arial</vt:lpstr>
      <vt:lpstr>Times New Roman</vt:lpstr>
      <vt:lpstr>14</vt:lpstr>
      <vt:lpstr>PowerPoint 演示文稿</vt:lpstr>
      <vt:lpstr>Contents</vt:lpstr>
      <vt:lpstr> Teaching Goals</vt:lpstr>
      <vt:lpstr>Teaching Plan</vt:lpstr>
      <vt:lpstr>PowerPoint 演示文稿</vt:lpstr>
      <vt:lpstr>PowerPoint 演示文稿</vt:lpstr>
      <vt:lpstr>Assessments</vt:lpstr>
      <vt:lpstr>MOOC Study</vt:lpstr>
      <vt:lpstr> Writing Test (50%) </vt:lpstr>
    </vt:vector>
  </TitlesOfParts>
  <Company>2ndSpAcE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CONVEX CONCAVE</dc:title>
  <dc:creator>Image</dc:creator>
  <cp:lastModifiedBy>THINKCENTRE</cp:lastModifiedBy>
  <cp:revision>93</cp:revision>
  <dcterms:created xsi:type="dcterms:W3CDTF">2008-09-07T14:19:00Z</dcterms:created>
  <dcterms:modified xsi:type="dcterms:W3CDTF">2025-09-04T23:41:20Z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4A909533B6054959958EDD7C3C11DBA9</vt:lpwstr>
  </property>
</Properties>
</file>