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  <p:sldMasterId id="2147483672" r:id="rId3"/>
    <p:sldMasterId id="2147483685" r:id="rId4"/>
    <p:sldMasterId id="2147483698" r:id="rId5"/>
    <p:sldMasterId id="2147483710" r:id="rId6"/>
    <p:sldMasterId id="2147483722" r:id="rId7"/>
    <p:sldMasterId id="2147483735" r:id="rId8"/>
  </p:sldMasterIdLst>
  <p:notesMasterIdLst>
    <p:notesMasterId r:id="rId16"/>
  </p:notesMasterIdLst>
  <p:sldIdLst>
    <p:sldId id="662" r:id="rId9"/>
    <p:sldId id="445" r:id="rId10"/>
    <p:sldId id="700" r:id="rId11"/>
    <p:sldId id="703" r:id="rId12"/>
    <p:sldId id="871" r:id="rId13"/>
    <p:sldId id="271" r:id="rId14"/>
    <p:sldId id="661" r:id="rId15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28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6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AEAEA"/>
    <a:srgbClr val="0000CC"/>
    <a:srgbClr val="FF0000"/>
    <a:srgbClr val="8443B9"/>
    <a:srgbClr val="00FF00"/>
    <a:srgbClr val="547EAC"/>
    <a:srgbClr val="DDDDDD"/>
    <a:srgbClr val="CDC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07" autoAdjust="0"/>
    <p:restoredTop sz="94641" autoAdjust="0"/>
  </p:normalViewPr>
  <p:slideViewPr>
    <p:cSldViewPr snapToGrid="0" showGuides="1">
      <p:cViewPr varScale="1">
        <p:scale>
          <a:sx n="108" d="100"/>
          <a:sy n="108" d="100"/>
        </p:scale>
        <p:origin x="1986" y="96"/>
      </p:cViewPr>
      <p:guideLst>
        <p:guide orient="horz" pos="2157"/>
        <p:guide pos="28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-1968" y="-84"/>
      </p:cViewPr>
      <p:guideLst>
        <p:guide orient="horz" pos="2876"/>
        <p:guide pos="2168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30F45E9-B95B-4C54-B948-2761DCBCDD75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灯片编号占位符 5"/>
          <p:cNvSpPr txBox="1"/>
          <p:nvPr userDrawn="1"/>
        </p:nvSpPr>
        <p:spPr bwMode="auto">
          <a:xfrm>
            <a:off x="6415311" y="6332309"/>
            <a:ext cx="2489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1EAE80-4C3E-406A-9A5C-1737044C3367}" type="slidenum">
              <a:rPr kumimoji="1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5"/>
          <p:cNvSpPr txBox="1"/>
          <p:nvPr userDrawn="1"/>
        </p:nvSpPr>
        <p:spPr bwMode="auto">
          <a:xfrm>
            <a:off x="6415311" y="6245225"/>
            <a:ext cx="2489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1EAE80-4C3E-406A-9A5C-1737044C3367}" type="slidenum">
              <a:rPr kumimoji="1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标题和两项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3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 userDrawn="1"/>
        </p:nvSpPr>
        <p:spPr bwMode="auto">
          <a:xfrm>
            <a:off x="685800" y="3248025"/>
            <a:ext cx="7772400" cy="109538"/>
          </a:xfrm>
          <a:custGeom>
            <a:avLst/>
            <a:gdLst>
              <a:gd name="T0" fmla="*/ 0 w 1000"/>
              <a:gd name="T1" fmla="*/ 0 h 1000"/>
              <a:gd name="T2" fmla="*/ 4803343 w 1000"/>
              <a:gd name="T3" fmla="*/ 0 h 1000"/>
              <a:gd name="T4" fmla="*/ 4803343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7724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92150"/>
            <a:ext cx="7772400" cy="2339975"/>
          </a:xfrm>
        </p:spPr>
        <p:txBody>
          <a:bodyPr/>
          <a:lstStyle>
            <a:lvl1pPr algn="ctr">
              <a:defRPr sz="34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01675" y="3573463"/>
            <a:ext cx="7756525" cy="1600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0006E17B-787D-4E37-BFDF-82940852374F}" type="slidenum">
              <a:rPr lang="en-US" altLang="zh-CN" b="0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2pPr>
              <a:defRPr>
                <a:latin typeface="+mn-ea"/>
                <a:ea typeface="+mn-ea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5"/>
          <p:cNvSpPr txBox="1"/>
          <p:nvPr userDrawn="1"/>
        </p:nvSpPr>
        <p:spPr bwMode="auto">
          <a:xfrm>
            <a:off x="6415311" y="6245225"/>
            <a:ext cx="2489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1EAE80-4C3E-406A-9A5C-1737044C3367}" type="slidenum">
              <a:rPr kumimoji="1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 txBox="1"/>
          <p:nvPr userDrawn="1"/>
        </p:nvSpPr>
        <p:spPr bwMode="auto">
          <a:xfrm>
            <a:off x="6415311" y="6332309"/>
            <a:ext cx="2489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1EAE80-4C3E-406A-9A5C-1737044C3367}" type="slidenum">
              <a:rPr kumimoji="1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04800"/>
            <a:ext cx="8001000" cy="5715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136EA6-6073-5B4B-A74A-E18C80FC697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vmlDrawing" Target="../drawings/vmlDrawing1.v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1.GI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18" Type="http://schemas.openxmlformats.org/officeDocument/2006/relationships/image" Target="../media/image1.GIF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4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vmlDrawing" Target="../drawings/vmlDrawing2.v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18" Type="http://schemas.openxmlformats.org/officeDocument/2006/relationships/image" Target="../media/image1.GIF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36.xml"/><Relationship Id="rId16" Type="http://schemas.openxmlformats.org/officeDocument/2006/relationships/oleObject" Target="../embeddings/oleObject3.bin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vmlDrawing" Target="../drawings/vmlDrawing3.v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vmlDrawing" Target="../drawings/vmlDrawing4.v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17" Type="http://schemas.openxmlformats.org/officeDocument/2006/relationships/image" Target="../media/image1.GIF"/><Relationship Id="rId2" Type="http://schemas.openxmlformats.org/officeDocument/2006/relationships/slideLayout" Target="../slideLayouts/slideLayout48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5" Type="http://schemas.openxmlformats.org/officeDocument/2006/relationships/oleObject" Target="../embeddings/oleObject4.bin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4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vmlDrawing" Target="../drawings/vmlDrawing5.v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17" Type="http://schemas.openxmlformats.org/officeDocument/2006/relationships/image" Target="../media/image1.GIF"/><Relationship Id="rId2" Type="http://schemas.openxmlformats.org/officeDocument/2006/relationships/slideLayout" Target="../slideLayouts/slideLayout59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oleObject" Target="../embeddings/oleObject5.bin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theme" Target="../theme/theme7.xml"/><Relationship Id="rId18" Type="http://schemas.openxmlformats.org/officeDocument/2006/relationships/image" Target="../media/image1.GIF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70.xml"/><Relationship Id="rId16" Type="http://schemas.openxmlformats.org/officeDocument/2006/relationships/oleObject" Target="../embeddings/oleObject6.bin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7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vmlDrawing" Target="../drawings/vmlDrawing6.v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GIF-378"/>
          <p:cNvPicPr>
            <a:picLocks noChangeAspect="1" noChangeArrowheads="1" noCrop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 flipH="1">
            <a:off x="8616950" y="95250"/>
            <a:ext cx="25241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2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2450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3" descr="xsf"/>
          <p:cNvPicPr>
            <a:picLocks noChangeAspect="1" noChangeArrowheads="1"/>
          </p:cNvPicPr>
          <p:nvPr/>
        </p:nvPicPr>
        <p:blipFill>
          <a:blip r:embed="rId14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6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7" descr="xsf"/>
          <p:cNvPicPr>
            <a:picLocks noChangeAspect="1" noChangeArrowheads="1"/>
          </p:cNvPicPr>
          <p:nvPr/>
        </p:nvPicPr>
        <p:blipFill>
          <a:blip r:embed="rId14">
            <a:lum bright="100000" contrast="-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0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1" descr="xsf"/>
          <p:cNvPicPr>
            <a:picLocks noChangeAspect="1" noChangeArrowheads="1"/>
          </p:cNvPicPr>
          <p:nvPr/>
        </p:nvPicPr>
        <p:blipFill>
          <a:blip r:embed="rId14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2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23" descr="xsf"/>
          <p:cNvPicPr>
            <a:picLocks noChangeAspect="1" noChangeArrowheads="1"/>
          </p:cNvPicPr>
          <p:nvPr/>
        </p:nvPicPr>
        <p:blipFill>
          <a:blip r:embed="rId14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26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49561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27" descr="xsf"/>
          <p:cNvPicPr>
            <a:picLocks noChangeAspect="1" noChangeArrowheads="1"/>
          </p:cNvPicPr>
          <p:nvPr/>
        </p:nvPicPr>
        <p:blipFill>
          <a:blip r:embed="rId14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49545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9pPr>
    </p:titleStyle>
    <p:bodyStyle>
      <a:lvl1pPr marL="284480" indent="-2844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A31221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622300" indent="-22415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800">
          <a:solidFill>
            <a:srgbClr val="000000"/>
          </a:solidFill>
          <a:latin typeface="+mn-lt"/>
          <a:ea typeface="+mn-ea"/>
        </a:defRPr>
      </a:lvl2pPr>
      <a:lvl3pPr marL="916305" indent="-17970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400">
          <a:solidFill>
            <a:srgbClr val="000000"/>
          </a:solidFill>
          <a:latin typeface="+mn-lt"/>
          <a:ea typeface="+mn-ea"/>
        </a:defRPr>
      </a:lvl3pPr>
      <a:lvl4pPr marL="120015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4pPr>
      <a:lvl5pPr marL="148463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5pPr>
      <a:lvl6pPr marL="19418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6pPr>
      <a:lvl7pPr marL="23990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7pPr>
      <a:lvl8pPr marL="28562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8pPr>
      <a:lvl9pPr marL="33134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5981700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ChangeArrowheads="1"/>
          </p:cNvSpPr>
          <p:nvPr/>
        </p:nvSpPr>
        <p:spPr bwMode="ltGray">
          <a:xfrm rot="5400000">
            <a:off x="-3199606" y="3190081"/>
            <a:ext cx="6858000" cy="477838"/>
          </a:xfrm>
          <a:prstGeom prst="rect">
            <a:avLst/>
          </a:prstGeom>
          <a:gradFill rotWithShape="1">
            <a:gsLst>
              <a:gs pos="0">
                <a:srgbClr val="B4CDDE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ltGray">
          <a:xfrm>
            <a:off x="0" y="0"/>
            <a:ext cx="9144000" cy="468313"/>
          </a:xfrm>
          <a:prstGeom prst="rect">
            <a:avLst/>
          </a:prstGeom>
          <a:gradFill rotWithShape="1">
            <a:gsLst>
              <a:gs pos="0">
                <a:srgbClr val="B4CDDE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607425" y="6415088"/>
            <a:ext cx="403225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defRPr/>
            </a:pPr>
            <a:fld id="{5D188827-2F4A-45F0-8998-4DD17A9504FE}" type="slidenum">
              <a:rPr lang="zh-CN" altLang="en-US" smtClean="0">
                <a:solidFill>
                  <a:srgbClr val="CC33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54" name="Object 6"/>
          <p:cNvGraphicFramePr>
            <a:graphicFrameLocks noChangeAspect="1"/>
          </p:cNvGraphicFramePr>
          <p:nvPr/>
        </p:nvGraphicFramePr>
        <p:xfrm>
          <a:off x="8288338" y="9525"/>
          <a:ext cx="8397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" name="位图图像" r:id="rId15" imgW="1457325" imgH="762000" progId="Paint.Picture">
                  <p:embed/>
                </p:oleObj>
              </mc:Choice>
              <mc:Fallback>
                <p:oleObj name="位图图像" r:id="rId15" imgW="1457325" imgH="762000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8288338" y="9525"/>
                        <a:ext cx="83978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Line 7"/>
          <p:cNvSpPr>
            <a:spLocks noChangeShapeType="1"/>
          </p:cNvSpPr>
          <p:nvPr/>
        </p:nvSpPr>
        <p:spPr bwMode="ltGray">
          <a:xfrm>
            <a:off x="461963" y="-9525"/>
            <a:ext cx="0" cy="6867525"/>
          </a:xfrm>
          <a:prstGeom prst="line">
            <a:avLst/>
          </a:prstGeom>
          <a:noFill/>
          <a:ln w="3175">
            <a:solidFill>
              <a:srgbClr val="331B4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056" name="Picture 8" descr="GIF-378"/>
          <p:cNvPicPr>
            <a:picLocks noChangeAspect="1" noChangeArrowheads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245475" y="9525"/>
            <a:ext cx="25241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7" name="Line 9"/>
          <p:cNvSpPr>
            <a:spLocks noChangeShapeType="1"/>
          </p:cNvSpPr>
          <p:nvPr/>
        </p:nvSpPr>
        <p:spPr bwMode="ltGray">
          <a:xfrm>
            <a:off x="0" y="463550"/>
            <a:ext cx="9144000" cy="0"/>
          </a:xfrm>
          <a:prstGeom prst="line">
            <a:avLst/>
          </a:prstGeom>
          <a:noFill/>
          <a:ln w="3175">
            <a:solidFill>
              <a:srgbClr val="10186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ltGray">
          <a:xfrm>
            <a:off x="17463" y="725488"/>
            <a:ext cx="365125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0" rIns="0" bIns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ctr">
              <a:buClr>
                <a:srgbClr val="B2B2B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b="0">
                <a:solidFill>
                  <a:schemeClr val="folHlink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第一章    复数与复变函数      </a:t>
            </a:r>
          </a:p>
        </p:txBody>
      </p:sp>
      <p:pic>
        <p:nvPicPr>
          <p:cNvPr id="2059" name="Picture 11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200275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0" name="Picture 12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1" name="Picture 13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2450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2" name="Picture 14" descr="xsf"/>
          <p:cNvPicPr>
            <a:picLocks noChangeAspect="1" noChangeArrowheads="1"/>
          </p:cNvPicPr>
          <p:nvPr/>
        </p:nvPicPr>
        <p:blipFill>
          <a:blip r:embed="rId1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3" name="Picture 15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5100" y="314642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4" name="Picture 16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5100" y="31448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5" name="Picture 17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6" name="Picture 18" descr="xsf"/>
          <p:cNvPicPr>
            <a:picLocks noChangeAspect="1" noChangeArrowheads="1"/>
          </p:cNvPicPr>
          <p:nvPr/>
        </p:nvPicPr>
        <p:blipFill>
          <a:blip r:embed="rId18">
            <a:lum bright="100000" contrast="-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7" name="Picture 19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8" name="Picture 20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5927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9" name="Picture 21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0" name="Picture 22" descr="xsf"/>
          <p:cNvPicPr>
            <a:picLocks noChangeAspect="1" noChangeArrowheads="1"/>
          </p:cNvPicPr>
          <p:nvPr/>
        </p:nvPicPr>
        <p:blipFill>
          <a:blip r:embed="rId1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1" name="Picture 23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2" name="Picture 24" descr="xsf"/>
          <p:cNvPicPr>
            <a:picLocks noChangeAspect="1" noChangeArrowheads="1"/>
          </p:cNvPicPr>
          <p:nvPr/>
        </p:nvPicPr>
        <p:blipFill>
          <a:blip r:embed="rId1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3" name="Picture 25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4" name="Picture 26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59275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5" name="Picture 27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49561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6" name="Picture 28" descr="xsf"/>
          <p:cNvPicPr>
            <a:picLocks noChangeAspect="1" noChangeArrowheads="1"/>
          </p:cNvPicPr>
          <p:nvPr/>
        </p:nvPicPr>
        <p:blipFill>
          <a:blip r:embed="rId1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49545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7" name="Picture 29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700" y="49530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8" name="Picture 30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5981700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9" name="Picture 31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5980113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9pPr>
    </p:titleStyle>
    <p:bodyStyle>
      <a:lvl1pPr marL="284480" indent="-2844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A31221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622300" indent="-22415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800">
          <a:solidFill>
            <a:srgbClr val="000000"/>
          </a:solidFill>
          <a:latin typeface="+mn-lt"/>
          <a:ea typeface="+mn-ea"/>
        </a:defRPr>
      </a:lvl2pPr>
      <a:lvl3pPr marL="916305" indent="-17970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400">
          <a:solidFill>
            <a:srgbClr val="000000"/>
          </a:solidFill>
          <a:latin typeface="+mn-lt"/>
          <a:ea typeface="+mn-ea"/>
        </a:defRPr>
      </a:lvl3pPr>
      <a:lvl4pPr marL="120015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4pPr>
      <a:lvl5pPr marL="148463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5pPr>
      <a:lvl6pPr marL="19418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6pPr>
      <a:lvl7pPr marL="23990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7pPr>
      <a:lvl8pPr marL="28562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8pPr>
      <a:lvl9pPr marL="33134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xsf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5980113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ChangeArrowheads="1"/>
          </p:cNvSpPr>
          <p:nvPr/>
        </p:nvSpPr>
        <p:spPr bwMode="ltGray">
          <a:xfrm rot="5400000">
            <a:off x="-3199606" y="3190081"/>
            <a:ext cx="6858000" cy="477838"/>
          </a:xfrm>
          <a:prstGeom prst="rect">
            <a:avLst/>
          </a:prstGeom>
          <a:gradFill rotWithShape="1">
            <a:gsLst>
              <a:gs pos="0">
                <a:srgbClr val="B4CDDE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ltGray">
          <a:xfrm>
            <a:off x="0" y="0"/>
            <a:ext cx="9144000" cy="468313"/>
          </a:xfrm>
          <a:prstGeom prst="rect">
            <a:avLst/>
          </a:prstGeom>
          <a:gradFill rotWithShape="1">
            <a:gsLst>
              <a:gs pos="0">
                <a:srgbClr val="B4CDDE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8607425" y="6415088"/>
            <a:ext cx="403225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defRPr/>
            </a:pPr>
            <a:fld id="{05CC842F-D103-4AB0-BD89-46E388A74F0E}" type="slidenum">
              <a:rPr lang="zh-CN" altLang="en-US" smtClean="0">
                <a:solidFill>
                  <a:srgbClr val="CC33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8288338" y="9525"/>
          <a:ext cx="8397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6" name="位图图像" r:id="rId16" imgW="1457325" imgH="762000" progId="Paint.Picture">
                  <p:embed/>
                </p:oleObj>
              </mc:Choice>
              <mc:Fallback>
                <p:oleObj name="位图图像" r:id="rId16" imgW="1457325" imgH="762000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8288338" y="9525"/>
                        <a:ext cx="83978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Line 7"/>
          <p:cNvSpPr>
            <a:spLocks noChangeShapeType="1"/>
          </p:cNvSpPr>
          <p:nvPr/>
        </p:nvSpPr>
        <p:spPr bwMode="ltGray">
          <a:xfrm>
            <a:off x="461963" y="-9525"/>
            <a:ext cx="0" cy="6867525"/>
          </a:xfrm>
          <a:prstGeom prst="line">
            <a:avLst/>
          </a:prstGeom>
          <a:noFill/>
          <a:ln w="3175">
            <a:solidFill>
              <a:srgbClr val="331B4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080" name="Picture 8" descr="GIF-378"/>
          <p:cNvPicPr>
            <a:picLocks noChangeAspect="1" noChangeArrowheads="1" noCrop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245475" y="9525"/>
            <a:ext cx="25241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1" name="Line 9"/>
          <p:cNvSpPr>
            <a:spLocks noChangeShapeType="1"/>
          </p:cNvSpPr>
          <p:nvPr/>
        </p:nvSpPr>
        <p:spPr bwMode="ltGray">
          <a:xfrm>
            <a:off x="0" y="463550"/>
            <a:ext cx="9144000" cy="0"/>
          </a:xfrm>
          <a:prstGeom prst="line">
            <a:avLst/>
          </a:prstGeom>
          <a:noFill/>
          <a:ln w="3175">
            <a:solidFill>
              <a:srgbClr val="10186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ltGray">
          <a:xfrm>
            <a:off x="17463" y="725488"/>
            <a:ext cx="365125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0" rIns="0" bIns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ctr">
              <a:buClr>
                <a:srgbClr val="B2B2B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b="0">
                <a:solidFill>
                  <a:schemeClr val="folHlink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第一章    复数与复变函数   </a:t>
            </a: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528638" y="60325"/>
            <a:ext cx="23590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fontAlgn="ctr" hangingPunct="1">
              <a:buClr>
                <a:srgbClr val="FF3300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folHlink"/>
                </a:solidFill>
                <a:ea typeface="华文新魏" panose="02010800040101010101" pitchFamily="2" charset="-122"/>
                <a:cs typeface="Times New Roman" panose="02020603050405020304" pitchFamily="18" charset="0"/>
              </a:rPr>
              <a:t>§1.1  </a:t>
            </a:r>
            <a:r>
              <a:rPr lang="zh-CN" altLang="en-US" b="0">
                <a:solidFill>
                  <a:schemeClr val="folHlink"/>
                </a:solidFill>
                <a:latin typeface="Arial" panose="020B0604020202020204" pitchFamily="34" charset="0"/>
                <a:ea typeface="华文新魏" panose="02010800040101010101" pitchFamily="2" charset="-122"/>
                <a:cs typeface="Times New Roman" panose="02020603050405020304" pitchFamily="18" charset="0"/>
              </a:rPr>
              <a:t>复数   </a:t>
            </a:r>
            <a:endParaRPr lang="zh-CN" altLang="en-US" b="0">
              <a:solidFill>
                <a:schemeClr val="folHlink"/>
              </a:solidFill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084" name="Picture 12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200275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Picture 13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6" name="Picture 14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2450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7" name="Picture 15" descr="xsf"/>
          <p:cNvPicPr>
            <a:picLocks noChangeAspect="1" noChangeArrowheads="1"/>
          </p:cNvPicPr>
          <p:nvPr/>
        </p:nvPicPr>
        <p:blipFill>
          <a:blip r:embed="rId19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8" name="Picture 16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5100" y="314642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9" name="Picture 17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5100" y="31448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0" name="Picture 18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1" name="Picture 19" descr="xsf"/>
          <p:cNvPicPr>
            <a:picLocks noChangeAspect="1" noChangeArrowheads="1"/>
          </p:cNvPicPr>
          <p:nvPr/>
        </p:nvPicPr>
        <p:blipFill>
          <a:blip r:embed="rId19">
            <a:lum bright="100000" contrast="-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2" name="Picture 20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3" name="Picture 21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5927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4" name="Picture 22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5" name="Picture 23" descr="xsf"/>
          <p:cNvPicPr>
            <a:picLocks noChangeAspect="1" noChangeArrowheads="1"/>
          </p:cNvPicPr>
          <p:nvPr/>
        </p:nvPicPr>
        <p:blipFill>
          <a:blip r:embed="rId19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6" name="Picture 24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7" name="Picture 25" descr="xsf"/>
          <p:cNvPicPr>
            <a:picLocks noChangeAspect="1" noChangeArrowheads="1"/>
          </p:cNvPicPr>
          <p:nvPr/>
        </p:nvPicPr>
        <p:blipFill>
          <a:blip r:embed="rId19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8" name="Picture 26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9" name="Picture 27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59275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00" name="Picture 28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49561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01" name="Picture 29" descr="xsf"/>
          <p:cNvPicPr>
            <a:picLocks noChangeAspect="1" noChangeArrowheads="1"/>
          </p:cNvPicPr>
          <p:nvPr/>
        </p:nvPicPr>
        <p:blipFill>
          <a:blip r:embed="rId19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49545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02" name="Picture 30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700" y="49530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03" name="Picture 31" descr="xsf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5981700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04" name="Picture 32" descr="xsf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5980113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ransition/>
  <p:hf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9pPr>
    </p:titleStyle>
    <p:bodyStyle>
      <a:lvl1pPr marL="284480" indent="-2844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A31221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622300" indent="-22415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800">
          <a:solidFill>
            <a:srgbClr val="000000"/>
          </a:solidFill>
          <a:latin typeface="+mn-lt"/>
          <a:ea typeface="+mn-ea"/>
        </a:defRPr>
      </a:lvl2pPr>
      <a:lvl3pPr marL="916305" indent="-17970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400">
          <a:solidFill>
            <a:srgbClr val="000000"/>
          </a:solidFill>
          <a:latin typeface="+mn-lt"/>
          <a:ea typeface="+mn-ea"/>
        </a:defRPr>
      </a:lvl3pPr>
      <a:lvl4pPr marL="120015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4pPr>
      <a:lvl5pPr marL="148463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5pPr>
      <a:lvl6pPr marL="19418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6pPr>
      <a:lvl7pPr marL="23990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7pPr>
      <a:lvl8pPr marL="28562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8pPr>
      <a:lvl9pPr marL="33134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xsf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5980113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ChangeArrowheads="1"/>
          </p:cNvSpPr>
          <p:nvPr/>
        </p:nvSpPr>
        <p:spPr bwMode="ltGray">
          <a:xfrm rot="5400000">
            <a:off x="-3199606" y="3190081"/>
            <a:ext cx="6858000" cy="477838"/>
          </a:xfrm>
          <a:prstGeom prst="rect">
            <a:avLst/>
          </a:prstGeom>
          <a:gradFill rotWithShape="1">
            <a:gsLst>
              <a:gs pos="0">
                <a:srgbClr val="B4CDDE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ltGray">
          <a:xfrm>
            <a:off x="0" y="0"/>
            <a:ext cx="9144000" cy="468313"/>
          </a:xfrm>
          <a:prstGeom prst="rect">
            <a:avLst/>
          </a:prstGeom>
          <a:gradFill rotWithShape="1">
            <a:gsLst>
              <a:gs pos="0">
                <a:srgbClr val="B4CDDE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8607425" y="6415088"/>
            <a:ext cx="403225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defRPr/>
            </a:pPr>
            <a:fld id="{4C8E081F-39CA-46A6-8E92-2513584EFCC9}" type="slidenum">
              <a:rPr lang="zh-CN" altLang="en-US" smtClean="0">
                <a:solidFill>
                  <a:srgbClr val="CC33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8288338" y="9525"/>
          <a:ext cx="8397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0" name="位图图像" r:id="rId16" imgW="1457325" imgH="762000" progId="Paint.Picture">
                  <p:embed/>
                </p:oleObj>
              </mc:Choice>
              <mc:Fallback>
                <p:oleObj name="位图图像" r:id="rId16" imgW="1457325" imgH="762000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8288338" y="9525"/>
                        <a:ext cx="83978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Line 7"/>
          <p:cNvSpPr>
            <a:spLocks noChangeShapeType="1"/>
          </p:cNvSpPr>
          <p:nvPr/>
        </p:nvSpPr>
        <p:spPr bwMode="ltGray">
          <a:xfrm>
            <a:off x="461963" y="-9525"/>
            <a:ext cx="0" cy="6867525"/>
          </a:xfrm>
          <a:prstGeom prst="line">
            <a:avLst/>
          </a:prstGeom>
          <a:noFill/>
          <a:ln w="3175">
            <a:solidFill>
              <a:srgbClr val="331B4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104" name="Picture 8" descr="GIF-378"/>
          <p:cNvPicPr>
            <a:picLocks noChangeAspect="1" noChangeArrowheads="1" noCrop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245475" y="9525"/>
            <a:ext cx="25241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5" name="Line 9"/>
          <p:cNvSpPr>
            <a:spLocks noChangeShapeType="1"/>
          </p:cNvSpPr>
          <p:nvPr/>
        </p:nvSpPr>
        <p:spPr bwMode="ltGray">
          <a:xfrm>
            <a:off x="0" y="463550"/>
            <a:ext cx="9144000" cy="0"/>
          </a:xfrm>
          <a:prstGeom prst="line">
            <a:avLst/>
          </a:prstGeom>
          <a:noFill/>
          <a:ln w="3175">
            <a:solidFill>
              <a:srgbClr val="10186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ltGray">
          <a:xfrm>
            <a:off x="17463" y="725488"/>
            <a:ext cx="365125" cy="384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0" tIns="0" rIns="0" bIns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ctr">
              <a:buClr>
                <a:srgbClr val="B2B2B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b="0">
                <a:solidFill>
                  <a:schemeClr val="folHlink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第一章    复数与复变函数   </a:t>
            </a:r>
            <a:endParaRPr lang="en-US" altLang="zh-CN" b="0">
              <a:solidFill>
                <a:schemeClr val="folHlink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528638" y="60325"/>
            <a:ext cx="42005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fontAlgn="ctr" hangingPunct="1">
              <a:buClr>
                <a:srgbClr val="FF3300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folHlink"/>
                </a:solidFill>
                <a:ea typeface="华文新魏" panose="02010800040101010101" pitchFamily="2" charset="-122"/>
                <a:cs typeface="Times New Roman" panose="02020603050405020304" pitchFamily="18" charset="0"/>
              </a:rPr>
              <a:t>§1.2  </a:t>
            </a:r>
            <a:r>
              <a:rPr lang="zh-CN" altLang="en-US" b="0">
                <a:solidFill>
                  <a:schemeClr val="folHlink"/>
                </a:solidFill>
                <a:latin typeface="Arial" panose="020B0604020202020204" pitchFamily="34" charset="0"/>
                <a:ea typeface="华文新魏" panose="02010800040101010101" pitchFamily="2" charset="-122"/>
                <a:cs typeface="Times New Roman" panose="02020603050405020304" pitchFamily="18" charset="0"/>
              </a:rPr>
              <a:t>复数的几种表示   </a:t>
            </a:r>
            <a:endParaRPr lang="en-US" altLang="zh-CN" b="0">
              <a:solidFill>
                <a:schemeClr val="folHlink"/>
              </a:solidFill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8" name="Picture 12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200275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9" name="Picture 13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0" name="Picture 14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2450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1" name="Picture 15" descr="xsf"/>
          <p:cNvPicPr>
            <a:picLocks noChangeAspect="1" noChangeArrowheads="1"/>
          </p:cNvPicPr>
          <p:nvPr/>
        </p:nvPicPr>
        <p:blipFill>
          <a:blip r:embed="rId19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2" name="Picture 16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5100" y="314642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3" name="Picture 17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5100" y="31448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4" name="Picture 18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5" name="Picture 19" descr="xsf"/>
          <p:cNvPicPr>
            <a:picLocks noChangeAspect="1" noChangeArrowheads="1"/>
          </p:cNvPicPr>
          <p:nvPr/>
        </p:nvPicPr>
        <p:blipFill>
          <a:blip r:embed="rId19">
            <a:lum bright="100000" contrast="-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6" name="Picture 20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7" name="Picture 21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5927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8" name="Picture 22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9" name="Picture 23" descr="xsf"/>
          <p:cNvPicPr>
            <a:picLocks noChangeAspect="1" noChangeArrowheads="1"/>
          </p:cNvPicPr>
          <p:nvPr/>
        </p:nvPicPr>
        <p:blipFill>
          <a:blip r:embed="rId19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20" name="Picture 24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21" name="Picture 25" descr="xsf"/>
          <p:cNvPicPr>
            <a:picLocks noChangeAspect="1" noChangeArrowheads="1"/>
          </p:cNvPicPr>
          <p:nvPr/>
        </p:nvPicPr>
        <p:blipFill>
          <a:blip r:embed="rId19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22" name="Picture 26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23" name="Picture 27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59275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24" name="Picture 28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49561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25" name="Picture 29" descr="xsf"/>
          <p:cNvPicPr>
            <a:picLocks noChangeAspect="1" noChangeArrowheads="1"/>
          </p:cNvPicPr>
          <p:nvPr/>
        </p:nvPicPr>
        <p:blipFill>
          <a:blip r:embed="rId19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49545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26" name="Picture 30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700" y="49530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27" name="Picture 31" descr="xsf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5981700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28" name="Picture 32" descr="xsf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5980113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ransition/>
  <p:hf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9pPr>
    </p:titleStyle>
    <p:bodyStyle>
      <a:lvl1pPr marL="284480" indent="-2844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A31221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622300" indent="-22415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800">
          <a:solidFill>
            <a:srgbClr val="000000"/>
          </a:solidFill>
          <a:latin typeface="+mn-lt"/>
          <a:ea typeface="+mn-ea"/>
        </a:defRPr>
      </a:lvl2pPr>
      <a:lvl3pPr marL="916305" indent="-17970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400">
          <a:solidFill>
            <a:srgbClr val="000000"/>
          </a:solidFill>
          <a:latin typeface="+mn-lt"/>
          <a:ea typeface="+mn-ea"/>
        </a:defRPr>
      </a:lvl3pPr>
      <a:lvl4pPr marL="120015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4pPr>
      <a:lvl5pPr marL="148463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5pPr>
      <a:lvl6pPr marL="19418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6pPr>
      <a:lvl7pPr marL="23990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7pPr>
      <a:lvl8pPr marL="28562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8pPr>
      <a:lvl9pPr marL="33134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5980113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ChangeArrowheads="1"/>
          </p:cNvSpPr>
          <p:nvPr/>
        </p:nvSpPr>
        <p:spPr bwMode="ltGray">
          <a:xfrm rot="5400000">
            <a:off x="-3199606" y="3190081"/>
            <a:ext cx="6858000" cy="477838"/>
          </a:xfrm>
          <a:prstGeom prst="rect">
            <a:avLst/>
          </a:prstGeom>
          <a:gradFill rotWithShape="1">
            <a:gsLst>
              <a:gs pos="0">
                <a:srgbClr val="B4CDDE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ltGray">
          <a:xfrm>
            <a:off x="0" y="0"/>
            <a:ext cx="9144000" cy="468313"/>
          </a:xfrm>
          <a:prstGeom prst="rect">
            <a:avLst/>
          </a:prstGeom>
          <a:gradFill rotWithShape="1">
            <a:gsLst>
              <a:gs pos="0">
                <a:srgbClr val="B4CDDE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8607425" y="6415088"/>
            <a:ext cx="403225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defRPr/>
            </a:pPr>
            <a:fld id="{BADE5AAF-751D-4C86-9E0A-B6C07FEB9377}" type="slidenum">
              <a:rPr lang="zh-CN" altLang="en-US" smtClean="0">
                <a:solidFill>
                  <a:srgbClr val="CC33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8288338" y="9525"/>
          <a:ext cx="8397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4" name="位图图像" r:id="rId15" imgW="1457325" imgH="762000" progId="Paint.Picture">
                  <p:embed/>
                </p:oleObj>
              </mc:Choice>
              <mc:Fallback>
                <p:oleObj name="位图图像" r:id="rId15" imgW="1457325" imgH="762000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8288338" y="9525"/>
                        <a:ext cx="83978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Line 7"/>
          <p:cNvSpPr>
            <a:spLocks noChangeShapeType="1"/>
          </p:cNvSpPr>
          <p:nvPr/>
        </p:nvSpPr>
        <p:spPr bwMode="ltGray">
          <a:xfrm>
            <a:off x="461963" y="-9525"/>
            <a:ext cx="0" cy="6867525"/>
          </a:xfrm>
          <a:prstGeom prst="line">
            <a:avLst/>
          </a:prstGeom>
          <a:noFill/>
          <a:ln w="3175">
            <a:solidFill>
              <a:srgbClr val="331B4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5128" name="Picture 8" descr="GIF-378"/>
          <p:cNvPicPr>
            <a:picLocks noChangeAspect="1" noChangeArrowheads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245475" y="9525"/>
            <a:ext cx="25241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9" name="Line 9"/>
          <p:cNvSpPr>
            <a:spLocks noChangeShapeType="1"/>
          </p:cNvSpPr>
          <p:nvPr/>
        </p:nvSpPr>
        <p:spPr bwMode="ltGray">
          <a:xfrm>
            <a:off x="0" y="463550"/>
            <a:ext cx="9144000" cy="0"/>
          </a:xfrm>
          <a:prstGeom prst="line">
            <a:avLst/>
          </a:prstGeom>
          <a:noFill/>
          <a:ln w="3175">
            <a:solidFill>
              <a:srgbClr val="10186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ltGray">
          <a:xfrm>
            <a:off x="17463" y="725488"/>
            <a:ext cx="365125" cy="376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0" tIns="0" rIns="0" bIns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ctr">
              <a:buClr>
                <a:srgbClr val="B2B2B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b="0">
                <a:solidFill>
                  <a:schemeClr val="folHlink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第一章    复数与复变函数  </a:t>
            </a:r>
          </a:p>
        </p:txBody>
      </p:sp>
      <p:sp>
        <p:nvSpPr>
          <p:cNvPr id="5131" name="Rectangle 11"/>
          <p:cNvSpPr>
            <a:spLocks noChangeArrowheads="1"/>
          </p:cNvSpPr>
          <p:nvPr/>
        </p:nvSpPr>
        <p:spPr bwMode="auto">
          <a:xfrm>
            <a:off x="528638" y="60325"/>
            <a:ext cx="3833812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fontAlgn="ctr" hangingPunct="1">
              <a:buClr>
                <a:srgbClr val="FF3300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folHlink"/>
                </a:solidFill>
                <a:ea typeface="华文新魏" panose="02010800040101010101" pitchFamily="2" charset="-122"/>
                <a:cs typeface="Times New Roman" panose="02020603050405020304" pitchFamily="18" charset="0"/>
              </a:rPr>
              <a:t>§1.3  </a:t>
            </a:r>
            <a:r>
              <a:rPr lang="zh-CN" altLang="en-US" b="0">
                <a:solidFill>
                  <a:schemeClr val="folHlink"/>
                </a:solidFill>
                <a:latin typeface="Arial" panose="020B0604020202020204" pitchFamily="34" charset="0"/>
                <a:ea typeface="华文新魏" panose="02010800040101010101" pitchFamily="2" charset="-122"/>
                <a:cs typeface="Times New Roman" panose="02020603050405020304" pitchFamily="18" charset="0"/>
              </a:rPr>
              <a:t>平面点集的一般概念   </a:t>
            </a:r>
            <a:endParaRPr lang="zh-CN" altLang="en-US" b="0">
              <a:solidFill>
                <a:schemeClr val="folHlink"/>
              </a:solidFill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132" name="Picture 12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200275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3" name="Picture 13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4" name="Picture 14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2450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5" name="Picture 15" descr="xsf"/>
          <p:cNvPicPr>
            <a:picLocks noChangeAspect="1" noChangeArrowheads="1"/>
          </p:cNvPicPr>
          <p:nvPr/>
        </p:nvPicPr>
        <p:blipFill>
          <a:blip r:embed="rId1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6" name="Picture 16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5100" y="314642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7" name="Picture 17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5100" y="31448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8" name="Picture 18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9" name="Picture 19" descr="xsf"/>
          <p:cNvPicPr>
            <a:picLocks noChangeAspect="1" noChangeArrowheads="1"/>
          </p:cNvPicPr>
          <p:nvPr/>
        </p:nvPicPr>
        <p:blipFill>
          <a:blip r:embed="rId18">
            <a:lum bright="100000" contrast="-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0" name="Picture 20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1" name="Picture 21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5927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2" name="Picture 22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3" name="Picture 23" descr="xsf"/>
          <p:cNvPicPr>
            <a:picLocks noChangeAspect="1" noChangeArrowheads="1"/>
          </p:cNvPicPr>
          <p:nvPr/>
        </p:nvPicPr>
        <p:blipFill>
          <a:blip r:embed="rId1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4" name="Picture 24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5" name="Picture 25" descr="xsf"/>
          <p:cNvPicPr>
            <a:picLocks noChangeAspect="1" noChangeArrowheads="1"/>
          </p:cNvPicPr>
          <p:nvPr/>
        </p:nvPicPr>
        <p:blipFill>
          <a:blip r:embed="rId1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6" name="Picture 26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7" name="Picture 27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59275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8" name="Picture 28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49561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9" name="Picture 29" descr="xsf"/>
          <p:cNvPicPr>
            <a:picLocks noChangeAspect="1" noChangeArrowheads="1"/>
          </p:cNvPicPr>
          <p:nvPr/>
        </p:nvPicPr>
        <p:blipFill>
          <a:blip r:embed="rId1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49545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50" name="Picture 30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700" y="49530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51" name="Picture 31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5981700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52" name="Picture 32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5980113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/>
  <p:hf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9pPr>
    </p:titleStyle>
    <p:bodyStyle>
      <a:lvl1pPr marL="284480" indent="-2844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A31221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622300" indent="-22415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800">
          <a:solidFill>
            <a:srgbClr val="000000"/>
          </a:solidFill>
          <a:latin typeface="+mn-lt"/>
          <a:ea typeface="+mn-ea"/>
        </a:defRPr>
      </a:lvl2pPr>
      <a:lvl3pPr marL="916305" indent="-17970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400">
          <a:solidFill>
            <a:srgbClr val="000000"/>
          </a:solidFill>
          <a:latin typeface="+mn-lt"/>
          <a:ea typeface="+mn-ea"/>
        </a:defRPr>
      </a:lvl3pPr>
      <a:lvl4pPr marL="120015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4pPr>
      <a:lvl5pPr marL="148463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5pPr>
      <a:lvl6pPr marL="19418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6pPr>
      <a:lvl7pPr marL="23990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7pPr>
      <a:lvl8pPr marL="28562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8pPr>
      <a:lvl9pPr marL="33134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5980113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3"/>
          <p:cNvSpPr>
            <a:spLocks noChangeArrowheads="1"/>
          </p:cNvSpPr>
          <p:nvPr/>
        </p:nvSpPr>
        <p:spPr bwMode="ltGray">
          <a:xfrm rot="5400000">
            <a:off x="-3199606" y="3190081"/>
            <a:ext cx="6858000" cy="477838"/>
          </a:xfrm>
          <a:prstGeom prst="rect">
            <a:avLst/>
          </a:prstGeom>
          <a:gradFill rotWithShape="1">
            <a:gsLst>
              <a:gs pos="0">
                <a:srgbClr val="B4CDDE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ltGray">
          <a:xfrm>
            <a:off x="0" y="0"/>
            <a:ext cx="9144000" cy="468313"/>
          </a:xfrm>
          <a:prstGeom prst="rect">
            <a:avLst/>
          </a:prstGeom>
          <a:gradFill rotWithShape="1">
            <a:gsLst>
              <a:gs pos="0">
                <a:srgbClr val="B4CDDE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8607425" y="6415088"/>
            <a:ext cx="403225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defRPr/>
            </a:pPr>
            <a:fld id="{D4953060-E2AD-4A6A-A92E-011CABC62C06}" type="slidenum">
              <a:rPr lang="zh-CN" altLang="en-US" smtClean="0">
                <a:solidFill>
                  <a:srgbClr val="CC33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8288338" y="9525"/>
          <a:ext cx="8397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8" name="位图图像" r:id="rId15" imgW="1457325" imgH="762000" progId="Paint.Picture">
                  <p:embed/>
                </p:oleObj>
              </mc:Choice>
              <mc:Fallback>
                <p:oleObj name="位图图像" r:id="rId15" imgW="1457325" imgH="762000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8288338" y="9525"/>
                        <a:ext cx="83978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Line 7"/>
          <p:cNvSpPr>
            <a:spLocks noChangeShapeType="1"/>
          </p:cNvSpPr>
          <p:nvPr/>
        </p:nvSpPr>
        <p:spPr bwMode="ltGray">
          <a:xfrm>
            <a:off x="461963" y="-9525"/>
            <a:ext cx="0" cy="6867525"/>
          </a:xfrm>
          <a:prstGeom prst="line">
            <a:avLst/>
          </a:prstGeom>
          <a:noFill/>
          <a:ln w="3175">
            <a:solidFill>
              <a:srgbClr val="331B4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152" name="Picture 8" descr="GIF-378"/>
          <p:cNvPicPr>
            <a:picLocks noChangeAspect="1" noChangeArrowheads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245475" y="9525"/>
            <a:ext cx="25241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3" name="Line 9"/>
          <p:cNvSpPr>
            <a:spLocks noChangeShapeType="1"/>
          </p:cNvSpPr>
          <p:nvPr/>
        </p:nvSpPr>
        <p:spPr bwMode="ltGray">
          <a:xfrm>
            <a:off x="0" y="463550"/>
            <a:ext cx="9144000" cy="0"/>
          </a:xfrm>
          <a:prstGeom prst="line">
            <a:avLst/>
          </a:prstGeom>
          <a:noFill/>
          <a:ln w="3175">
            <a:solidFill>
              <a:srgbClr val="10186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ltGray">
          <a:xfrm>
            <a:off x="17463" y="725488"/>
            <a:ext cx="365125" cy="384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0" tIns="0" rIns="0" bIns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ctr">
              <a:buClr>
                <a:srgbClr val="B2B2B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b="0">
                <a:solidFill>
                  <a:schemeClr val="folHlink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第一章    复数与复变函数   </a:t>
            </a:r>
            <a:endParaRPr lang="en-US" altLang="zh-CN" b="0">
              <a:solidFill>
                <a:schemeClr val="folHlink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528638" y="60325"/>
            <a:ext cx="3529012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fontAlgn="ctr" hangingPunct="1">
              <a:buClr>
                <a:srgbClr val="FF3300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folHlink"/>
                </a:solidFill>
                <a:ea typeface="华文新魏" panose="02010800040101010101" pitchFamily="2" charset="-122"/>
                <a:cs typeface="Times New Roman" panose="02020603050405020304" pitchFamily="18" charset="0"/>
              </a:rPr>
              <a:t>§1.4  </a:t>
            </a:r>
            <a:r>
              <a:rPr lang="zh-CN" altLang="en-US" b="0">
                <a:solidFill>
                  <a:schemeClr val="folHlink"/>
                </a:solidFill>
                <a:latin typeface="Arial" panose="020B0604020202020204" pitchFamily="34" charset="0"/>
                <a:ea typeface="华文新魏" panose="02010800040101010101" pitchFamily="2" charset="-122"/>
                <a:cs typeface="Times New Roman" panose="02020603050405020304" pitchFamily="18" charset="0"/>
              </a:rPr>
              <a:t>无穷大与无穷远点   </a:t>
            </a:r>
            <a:endParaRPr lang="zh-CN" altLang="en-US" b="0">
              <a:solidFill>
                <a:schemeClr val="folHlink"/>
              </a:solidFill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156" name="Picture 12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200275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7" name="Picture 13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8" name="Picture 14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2450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9" name="Picture 15" descr="xsf"/>
          <p:cNvPicPr>
            <a:picLocks noChangeAspect="1" noChangeArrowheads="1"/>
          </p:cNvPicPr>
          <p:nvPr/>
        </p:nvPicPr>
        <p:blipFill>
          <a:blip r:embed="rId1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0" name="Picture 16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5100" y="314642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1" name="Picture 17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5100" y="31448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2" name="Picture 18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3" name="Picture 19" descr="xsf"/>
          <p:cNvPicPr>
            <a:picLocks noChangeAspect="1" noChangeArrowheads="1"/>
          </p:cNvPicPr>
          <p:nvPr/>
        </p:nvPicPr>
        <p:blipFill>
          <a:blip r:embed="rId18">
            <a:lum bright="100000" contrast="-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4" name="Picture 20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5" name="Picture 21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5927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6" name="Picture 22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7" name="Picture 23" descr="xsf"/>
          <p:cNvPicPr>
            <a:picLocks noChangeAspect="1" noChangeArrowheads="1"/>
          </p:cNvPicPr>
          <p:nvPr/>
        </p:nvPicPr>
        <p:blipFill>
          <a:blip r:embed="rId1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8" name="Picture 24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9" name="Picture 25" descr="xsf"/>
          <p:cNvPicPr>
            <a:picLocks noChangeAspect="1" noChangeArrowheads="1"/>
          </p:cNvPicPr>
          <p:nvPr/>
        </p:nvPicPr>
        <p:blipFill>
          <a:blip r:embed="rId1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0" name="Picture 26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1" name="Picture 27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59275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2" name="Picture 28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49561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3" name="Picture 29" descr="xsf"/>
          <p:cNvPicPr>
            <a:picLocks noChangeAspect="1" noChangeArrowheads="1"/>
          </p:cNvPicPr>
          <p:nvPr/>
        </p:nvPicPr>
        <p:blipFill>
          <a:blip r:embed="rId18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49545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4" name="Picture 30" descr="xsf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700" y="49530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5" name="Picture 31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5981700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6" name="Picture 32" descr="xs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5980113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/>
  <p:hf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9pPr>
    </p:titleStyle>
    <p:bodyStyle>
      <a:lvl1pPr marL="284480" indent="-2844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A31221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622300" indent="-22415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800">
          <a:solidFill>
            <a:srgbClr val="000000"/>
          </a:solidFill>
          <a:latin typeface="+mn-lt"/>
          <a:ea typeface="+mn-ea"/>
        </a:defRPr>
      </a:lvl2pPr>
      <a:lvl3pPr marL="916305" indent="-17970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400">
          <a:solidFill>
            <a:srgbClr val="000000"/>
          </a:solidFill>
          <a:latin typeface="+mn-lt"/>
          <a:ea typeface="+mn-ea"/>
        </a:defRPr>
      </a:lvl3pPr>
      <a:lvl4pPr marL="120015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4pPr>
      <a:lvl5pPr marL="148463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5pPr>
      <a:lvl6pPr marL="19418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6pPr>
      <a:lvl7pPr marL="23990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7pPr>
      <a:lvl8pPr marL="28562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8pPr>
      <a:lvl9pPr marL="33134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xsf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5980113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3"/>
          <p:cNvSpPr>
            <a:spLocks noChangeArrowheads="1"/>
          </p:cNvSpPr>
          <p:nvPr/>
        </p:nvSpPr>
        <p:spPr bwMode="ltGray">
          <a:xfrm rot="5400000">
            <a:off x="-3199606" y="3190081"/>
            <a:ext cx="6858000" cy="477838"/>
          </a:xfrm>
          <a:prstGeom prst="rect">
            <a:avLst/>
          </a:prstGeom>
          <a:gradFill rotWithShape="1">
            <a:gsLst>
              <a:gs pos="0">
                <a:srgbClr val="B4CDDE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ltGray">
          <a:xfrm>
            <a:off x="0" y="0"/>
            <a:ext cx="9144000" cy="468313"/>
          </a:xfrm>
          <a:prstGeom prst="rect">
            <a:avLst/>
          </a:prstGeom>
          <a:gradFill rotWithShape="1">
            <a:gsLst>
              <a:gs pos="0">
                <a:srgbClr val="B4CDDE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8607425" y="6415088"/>
            <a:ext cx="403225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defRPr/>
            </a:pPr>
            <a:fld id="{E67B9499-4C54-4047-94E2-F267B6384A2C}" type="slidenum">
              <a:rPr lang="zh-CN" altLang="en-US" smtClean="0">
                <a:solidFill>
                  <a:srgbClr val="CC33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CC33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8288338" y="9525"/>
          <a:ext cx="8397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2" name="位图图像" r:id="rId16" imgW="1457325" imgH="762000" progId="Paint.Picture">
                  <p:embed/>
                </p:oleObj>
              </mc:Choice>
              <mc:Fallback>
                <p:oleObj name="位图图像" r:id="rId16" imgW="1457325" imgH="762000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8288338" y="9525"/>
                        <a:ext cx="83978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Line 7"/>
          <p:cNvSpPr>
            <a:spLocks noChangeShapeType="1"/>
          </p:cNvSpPr>
          <p:nvPr/>
        </p:nvSpPr>
        <p:spPr bwMode="ltGray">
          <a:xfrm>
            <a:off x="461963" y="-9525"/>
            <a:ext cx="0" cy="6867525"/>
          </a:xfrm>
          <a:prstGeom prst="line">
            <a:avLst/>
          </a:prstGeom>
          <a:noFill/>
          <a:ln w="3175">
            <a:solidFill>
              <a:srgbClr val="331B4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176" name="Picture 8" descr="GIF-378"/>
          <p:cNvPicPr>
            <a:picLocks noChangeAspect="1" noChangeArrowheads="1" noCrop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245475" y="9525"/>
            <a:ext cx="25241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7" name="Line 9"/>
          <p:cNvSpPr>
            <a:spLocks noChangeShapeType="1"/>
          </p:cNvSpPr>
          <p:nvPr/>
        </p:nvSpPr>
        <p:spPr bwMode="ltGray">
          <a:xfrm>
            <a:off x="0" y="463550"/>
            <a:ext cx="9144000" cy="0"/>
          </a:xfrm>
          <a:prstGeom prst="line">
            <a:avLst/>
          </a:prstGeom>
          <a:noFill/>
          <a:ln w="3175">
            <a:solidFill>
              <a:srgbClr val="10186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ltGray">
          <a:xfrm>
            <a:off x="17463" y="725488"/>
            <a:ext cx="365125" cy="384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0" tIns="0" rIns="0" bIns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ctr">
              <a:buClr>
                <a:srgbClr val="B2B2B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b="0">
                <a:solidFill>
                  <a:schemeClr val="folHlink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第一章    复数与复变函数   </a:t>
            </a: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528638" y="60325"/>
            <a:ext cx="2309812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fontAlgn="ctr" hangingPunct="1">
              <a:buClr>
                <a:srgbClr val="FF3300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folHlink"/>
                </a:solidFill>
                <a:ea typeface="华文新魏" panose="02010800040101010101" pitchFamily="2" charset="-122"/>
                <a:cs typeface="Times New Roman" panose="02020603050405020304" pitchFamily="18" charset="0"/>
              </a:rPr>
              <a:t>§1.5  </a:t>
            </a:r>
            <a:r>
              <a:rPr lang="zh-CN" altLang="en-US" b="0">
                <a:solidFill>
                  <a:schemeClr val="folHlink"/>
                </a:solidFill>
                <a:latin typeface="Arial" panose="020B0604020202020204" pitchFamily="34" charset="0"/>
                <a:ea typeface="华文新魏" panose="02010800040101010101" pitchFamily="2" charset="-122"/>
                <a:cs typeface="Times New Roman" panose="02020603050405020304" pitchFamily="18" charset="0"/>
              </a:rPr>
              <a:t>复变函数   </a:t>
            </a:r>
            <a:endParaRPr lang="zh-CN" altLang="en-US" b="0">
              <a:solidFill>
                <a:schemeClr val="folHlink"/>
              </a:solidFill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180" name="Picture 12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200275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1" name="Picture 13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2" name="Picture 14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2450" y="31575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3" name="Picture 15" descr="xsf"/>
          <p:cNvPicPr>
            <a:picLocks noChangeAspect="1" noChangeArrowheads="1"/>
          </p:cNvPicPr>
          <p:nvPr/>
        </p:nvPicPr>
        <p:blipFill>
          <a:blip r:embed="rId19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31559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4" name="Picture 16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5100" y="314642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5" name="Picture 17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5100" y="314483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6" name="Picture 18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7" name="Picture 19" descr="xsf"/>
          <p:cNvPicPr>
            <a:picLocks noChangeAspect="1" noChangeArrowheads="1"/>
          </p:cNvPicPr>
          <p:nvPr/>
        </p:nvPicPr>
        <p:blipFill>
          <a:blip r:embed="rId19">
            <a:lum bright="100000" contrast="-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8" name="Picture 20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9" name="Picture 21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5927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90" name="Picture 22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17176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91" name="Picture 23" descr="xsf"/>
          <p:cNvPicPr>
            <a:picLocks noChangeAspect="1" noChangeArrowheads="1"/>
          </p:cNvPicPr>
          <p:nvPr/>
        </p:nvPicPr>
        <p:blipFill>
          <a:blip r:embed="rId19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17160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92" name="Picture 24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8688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93" name="Picture 25" descr="xsf"/>
          <p:cNvPicPr>
            <a:picLocks noChangeAspect="1" noChangeArrowheads="1"/>
          </p:cNvPicPr>
          <p:nvPr/>
        </p:nvPicPr>
        <p:blipFill>
          <a:blip r:embed="rId19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2197100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94" name="Picture 26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60863" y="494665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95" name="Picture 27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4359275" y="4945063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96" name="Picture 28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3513" y="4956175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97" name="Picture 29" descr="xsf"/>
          <p:cNvPicPr>
            <a:picLocks noChangeAspect="1" noChangeArrowheads="1"/>
          </p:cNvPicPr>
          <p:nvPr/>
        </p:nvPicPr>
        <p:blipFill>
          <a:blip r:embed="rId19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700000">
            <a:off x="6511925" y="4954588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98" name="Picture 30" descr="xsf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700" y="495300"/>
            <a:ext cx="8382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99" name="Picture 31" descr="xsf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5981700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00" name="Picture 32" descr="xsf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5980113"/>
            <a:ext cx="2190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ransition/>
  <p:hf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rgbClr val="A31221"/>
          </a:solidFill>
          <a:latin typeface="华文细黑" panose="02010600040101010101" pitchFamily="2" charset="-122"/>
          <a:ea typeface="宋体" panose="02010600030101010101" pitchFamily="2" charset="-122"/>
        </a:defRPr>
      </a:lvl9pPr>
    </p:titleStyle>
    <p:bodyStyle>
      <a:lvl1pPr marL="284480" indent="-2844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A31221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622300" indent="-22415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800">
          <a:solidFill>
            <a:srgbClr val="000000"/>
          </a:solidFill>
          <a:latin typeface="+mn-lt"/>
          <a:ea typeface="+mn-ea"/>
        </a:defRPr>
      </a:lvl2pPr>
      <a:lvl3pPr marL="916305" indent="-179705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400">
          <a:solidFill>
            <a:srgbClr val="000000"/>
          </a:solidFill>
          <a:latin typeface="+mn-lt"/>
          <a:ea typeface="+mn-ea"/>
        </a:defRPr>
      </a:lvl3pPr>
      <a:lvl4pPr marL="120015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4pPr>
      <a:lvl5pPr marL="1484630" indent="-170180" algn="l" defTabSz="346075" rtl="0" eaLnBrk="0" fontAlgn="base" hangingPunct="0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5pPr>
      <a:lvl6pPr marL="19418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6pPr>
      <a:lvl7pPr marL="23990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7pPr>
      <a:lvl8pPr marL="28562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8pPr>
      <a:lvl9pPr marL="3313430" indent="-170180" algn="l" defTabSz="346075" rtl="0" fontAlgn="base">
        <a:lnSpc>
          <a:spcPct val="90000"/>
        </a:lnSpc>
        <a:spcBef>
          <a:spcPct val="0"/>
        </a:spcBef>
        <a:spcAft>
          <a:spcPct val="50000"/>
        </a:spcAft>
        <a:buClr>
          <a:srgbClr val="838487"/>
        </a:buClr>
        <a:buSzPct val="75000"/>
        <a:buFont typeface="Wingdings 3" panose="05040102010807070707" pitchFamily="18" charset="2"/>
        <a:buChar char="u"/>
        <a:tabLst>
          <a:tab pos="1260475" algn="l"/>
        </a:tabLst>
        <a:defRPr sz="2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341438"/>
            <a:ext cx="8001000" cy="49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574675" y="105251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7 h 1000"/>
              <a:gd name="T6" fmla="*/ 0 w 1000"/>
              <a:gd name="T7" fmla="*/ 109537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87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91375" y="6381750"/>
            <a:ext cx="195262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D1F09D47-996D-4BAC-94E1-E72D20F7DE60}" type="slidenum">
              <a:rPr lang="en-US" altLang="zh-CN" b="0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</p:sldLayoutIdLst>
  <p:transition/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anose="02020603050405020304" pitchFamily="18" charset="0"/>
          <a:ea typeface="黑体" panose="02010609060101010101" pitchFamily="2" charset="-122"/>
        </a:defRPr>
      </a:lvl9pPr>
    </p:titleStyle>
    <p:bodyStyle>
      <a:lvl1pPr marL="469900" indent="-46990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j-ea"/>
        </a:defRPr>
      </a:lvl2pPr>
      <a:lvl3pPr marL="1304925" indent="-395605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p"/>
        <a:defRPr sz="2400">
          <a:solidFill>
            <a:srgbClr val="009900"/>
          </a:solidFill>
          <a:latin typeface="+mn-lt"/>
          <a:ea typeface="+mj-ea"/>
        </a:defRPr>
      </a:lvl3pPr>
      <a:lvl4pPr marL="1694180" indent="-387350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j-ea"/>
        </a:defRPr>
      </a:lvl4pPr>
      <a:lvl5pPr marL="2094230" indent="-398780" algn="l" rtl="0" eaLnBrk="0" fontAlgn="base" hangingPunct="0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j-ea"/>
        </a:defRPr>
      </a:lvl5pPr>
      <a:lvl6pPr marL="2551430" indent="-398780" algn="l" rtl="0" fontAlgn="base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j-ea"/>
        </a:defRPr>
      </a:lvl6pPr>
      <a:lvl7pPr marL="3008630" indent="-398780" algn="l" rtl="0" fontAlgn="base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j-ea"/>
        </a:defRPr>
      </a:lvl7pPr>
      <a:lvl8pPr marL="3465830" indent="-398780" algn="l" rtl="0" fontAlgn="base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j-ea"/>
        </a:defRPr>
      </a:lvl8pPr>
      <a:lvl9pPr marL="3923030" indent="-398780" algn="l" rtl="0" fontAlgn="base">
        <a:spcBef>
          <a:spcPct val="1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j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2"/>
          <p:cNvSpPr>
            <a:spLocks noChangeArrowheads="1"/>
          </p:cNvSpPr>
          <p:nvPr/>
        </p:nvSpPr>
        <p:spPr bwMode="auto">
          <a:xfrm>
            <a:off x="254000" y="561717"/>
            <a:ext cx="8636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3600" b="1" u="none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考试安排  </a:t>
            </a:r>
          </a:p>
        </p:txBody>
      </p:sp>
      <p:grpSp>
        <p:nvGrpSpPr>
          <p:cNvPr id="8" name="Group 62"/>
          <p:cNvGrpSpPr/>
          <p:nvPr/>
        </p:nvGrpSpPr>
        <p:grpSpPr bwMode="auto">
          <a:xfrm>
            <a:off x="563210" y="2406031"/>
            <a:ext cx="6635750" cy="1068385"/>
            <a:chOff x="337" y="893"/>
            <a:chExt cx="4180" cy="673"/>
          </a:xfrm>
        </p:grpSpPr>
        <p:sp>
          <p:nvSpPr>
            <p:cNvPr id="15" name="Rectangle 44"/>
            <p:cNvSpPr>
              <a:spLocks noChangeArrowheads="1"/>
            </p:cNvSpPr>
            <p:nvPr/>
          </p:nvSpPr>
          <p:spPr bwMode="auto">
            <a:xfrm>
              <a:off x="723" y="1275"/>
              <a:ext cx="1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b="1" u="none">
                  <a:solidFill>
                    <a:srgbClr val="0000FF"/>
                  </a:solidFill>
                </a:rPr>
                <a:t>考试地点</a:t>
              </a:r>
              <a:r>
                <a:rPr lang="en-US" altLang="zh-CN" b="1" u="none">
                  <a:solidFill>
                    <a:srgbClr val="0000FF"/>
                  </a:solidFill>
                </a:rPr>
                <a:t>:    </a:t>
              </a:r>
            </a:p>
          </p:txBody>
        </p:sp>
        <p:sp>
          <p:nvSpPr>
            <p:cNvPr id="16" name="Rectangle 45"/>
            <p:cNvSpPr>
              <a:spLocks noChangeArrowheads="1"/>
            </p:cNvSpPr>
            <p:nvPr/>
          </p:nvSpPr>
          <p:spPr bwMode="auto">
            <a:xfrm>
              <a:off x="1722" y="1275"/>
              <a:ext cx="6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altLang="zh-CN" b="1" u="none">
                  <a:latin typeface="宋体" panose="02010600030101010101" pitchFamily="2" charset="-122"/>
                </a:rPr>
                <a:t>(</a:t>
              </a:r>
              <a:r>
                <a:rPr lang="zh-CN" altLang="en-US" b="1" u="none">
                  <a:latin typeface="楷体" panose="02010609060101010101" pitchFamily="49" charset="-122"/>
                  <a:ea typeface="楷体" panose="02010609060101010101" pitchFamily="49" charset="-122"/>
                </a:rPr>
                <a:t>略</a:t>
              </a:r>
              <a:r>
                <a:rPr lang="en-US" altLang="zh-CN" b="1" u="none">
                  <a:latin typeface="宋体" panose="02010600030101010101" pitchFamily="2" charset="-122"/>
                </a:rPr>
                <a:t>)</a:t>
              </a:r>
              <a:r>
                <a:rPr lang="en-US" altLang="zh-CN" b="1" u="none"/>
                <a:t>  </a:t>
              </a:r>
            </a:p>
          </p:txBody>
        </p:sp>
        <p:sp>
          <p:nvSpPr>
            <p:cNvPr id="17" name="Rectangle 47"/>
            <p:cNvSpPr>
              <a:spLocks noChangeArrowheads="1"/>
            </p:cNvSpPr>
            <p:nvPr/>
          </p:nvSpPr>
          <p:spPr bwMode="auto">
            <a:xfrm>
              <a:off x="337" y="893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b="1" u="none">
                  <a:solidFill>
                    <a:srgbClr val="0000FF"/>
                  </a:solidFill>
                </a:rPr>
                <a:t>一、  </a:t>
              </a:r>
            </a:p>
          </p:txBody>
        </p:sp>
        <p:sp>
          <p:nvSpPr>
            <p:cNvPr id="18" name="Rectangle 48"/>
            <p:cNvSpPr>
              <a:spLocks noChangeArrowheads="1"/>
            </p:cNvSpPr>
            <p:nvPr/>
          </p:nvSpPr>
          <p:spPr bwMode="auto">
            <a:xfrm>
              <a:off x="1722" y="893"/>
              <a:ext cx="6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altLang="zh-CN" b="1" u="none">
                  <a:latin typeface="宋体" panose="02010600030101010101" pitchFamily="2" charset="-122"/>
                </a:rPr>
                <a:t>(</a:t>
              </a:r>
              <a:r>
                <a:rPr lang="zh-CN" altLang="en-US" b="1" u="none">
                  <a:ea typeface="楷体" panose="02010609060101010101" pitchFamily="49" charset="-122"/>
                </a:rPr>
                <a:t>略</a:t>
              </a:r>
              <a:r>
                <a:rPr lang="en-US" altLang="zh-CN" b="1" u="none">
                  <a:latin typeface="宋体" panose="02010600030101010101" pitchFamily="2" charset="-122"/>
                </a:rPr>
                <a:t>)</a:t>
              </a:r>
              <a:r>
                <a:rPr lang="en-US" altLang="zh-CN" b="1" u="none"/>
                <a:t>  </a:t>
              </a:r>
              <a:endParaRPr lang="en-US" altLang="zh-CN" sz="2000" b="1" u="none">
                <a:ea typeface="仿宋" panose="02010609060101010101" pitchFamily="49" charset="-122"/>
              </a:endParaRPr>
            </a:p>
          </p:txBody>
        </p:sp>
        <p:sp>
          <p:nvSpPr>
            <p:cNvPr id="19" name="Rectangle 49"/>
            <p:cNvSpPr>
              <a:spLocks noChangeArrowheads="1"/>
            </p:cNvSpPr>
            <p:nvPr/>
          </p:nvSpPr>
          <p:spPr bwMode="auto">
            <a:xfrm>
              <a:off x="2159" y="1117"/>
              <a:ext cx="23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altLang="zh-CN" b="1" u="none">
                  <a:solidFill>
                    <a:srgbClr val="C00000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b="1" u="none">
                  <a:solidFill>
                    <a:srgbClr val="C00000"/>
                  </a:solidFill>
                  <a:ea typeface="楷体" panose="02010609060101010101" pitchFamily="49" charset="-122"/>
                </a:rPr>
                <a:t>以各学院正式通知为准</a:t>
              </a:r>
              <a:r>
                <a:rPr lang="en-US" altLang="zh-CN" b="1" u="none">
                  <a:solidFill>
                    <a:srgbClr val="C00000"/>
                  </a:solidFill>
                  <a:latin typeface="宋体" panose="02010600030101010101" pitchFamily="2" charset="-122"/>
                </a:rPr>
                <a:t>)</a:t>
              </a:r>
              <a:r>
                <a:rPr lang="en-US" altLang="zh-CN" b="1" u="none">
                  <a:solidFill>
                    <a:srgbClr val="C00000"/>
                  </a:solidFill>
                </a:rPr>
                <a:t>  </a:t>
              </a:r>
            </a:p>
          </p:txBody>
        </p:sp>
        <p:sp>
          <p:nvSpPr>
            <p:cNvPr id="20" name="Rectangle 59"/>
            <p:cNvSpPr>
              <a:spLocks noChangeArrowheads="1"/>
            </p:cNvSpPr>
            <p:nvPr/>
          </p:nvSpPr>
          <p:spPr bwMode="auto">
            <a:xfrm>
              <a:off x="723" y="893"/>
              <a:ext cx="1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b="1" u="none">
                  <a:solidFill>
                    <a:srgbClr val="0000FF"/>
                  </a:solidFill>
                </a:rPr>
                <a:t>考试时间</a:t>
              </a:r>
              <a:r>
                <a:rPr lang="en-US" altLang="zh-CN" b="1" u="none">
                  <a:solidFill>
                    <a:srgbClr val="0000FF"/>
                  </a:solidFill>
                </a:rPr>
                <a:t>:    </a:t>
              </a:r>
            </a:p>
          </p:txBody>
        </p:sp>
      </p:grpSp>
      <p:sp>
        <p:nvSpPr>
          <p:cNvPr id="10" name="矩形 9"/>
          <p:cNvSpPr/>
          <p:nvPr/>
        </p:nvSpPr>
        <p:spPr>
          <a:xfrm>
            <a:off x="1884541" y="1877347"/>
            <a:ext cx="6558206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  <a:ea typeface="楷体" panose="02010609060101010101" pitchFamily="49" charset="-122"/>
              </a:rPr>
              <a:t>拟：</a:t>
            </a:r>
            <a:r>
              <a:rPr lang="en-US" altLang="zh-CN" b="1" u="none">
                <a:solidFill>
                  <a:srgbClr val="FF0000"/>
                </a:solidFill>
                <a:ea typeface="楷体" panose="02010609060101010101" pitchFamily="49" charset="-122"/>
              </a:rPr>
              <a:t>2026 -</a:t>
            </a:r>
            <a:r>
              <a:rPr lang="zh-CN" altLang="en-US" b="1" u="none">
                <a:solidFill>
                  <a:srgbClr val="FF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b="1" u="none">
                <a:solidFill>
                  <a:srgbClr val="FF0000"/>
                </a:solidFill>
                <a:ea typeface="楷体" panose="02010609060101010101" pitchFamily="49" charset="-122"/>
              </a:rPr>
              <a:t>01 -</a:t>
            </a:r>
            <a:r>
              <a:rPr lang="zh-CN" altLang="en-US" b="1" u="none">
                <a:solidFill>
                  <a:srgbClr val="FF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b="1" u="none">
                <a:solidFill>
                  <a:srgbClr val="FF0000"/>
                </a:solidFill>
                <a:ea typeface="楷体" panose="02010609060101010101" pitchFamily="49" charset="-122"/>
              </a:rPr>
              <a:t>13</a:t>
            </a:r>
            <a:r>
              <a:rPr lang="zh-CN" altLang="en-US">
                <a:solidFill>
                  <a:srgbClr val="FF0000"/>
                </a:solidFill>
                <a:ea typeface="楷体" panose="02010609060101010101" pitchFamily="49" charset="-122"/>
              </a:rPr>
              <a:t>（第</a:t>
            </a:r>
            <a:r>
              <a:rPr lang="en-US" altLang="zh-CN">
                <a:solidFill>
                  <a:srgbClr val="FF0000"/>
                </a:solidFill>
                <a:ea typeface="楷体" panose="02010609060101010101" pitchFamily="49" charset="-122"/>
              </a:rPr>
              <a:t>20</a:t>
            </a:r>
            <a:r>
              <a:rPr lang="zh-CN" altLang="en-US">
                <a:solidFill>
                  <a:srgbClr val="FF0000"/>
                </a:solidFill>
                <a:ea typeface="楷体" panose="02010609060101010101" pitchFamily="49" charset="-122"/>
              </a:rPr>
              <a:t>周周二）</a:t>
            </a:r>
            <a:r>
              <a:rPr lang="en-US" altLang="zh-CN">
                <a:solidFill>
                  <a:srgbClr val="FF0000"/>
                </a:solidFill>
                <a:ea typeface="楷体" panose="02010609060101010101" pitchFamily="49" charset="-122"/>
              </a:rPr>
              <a:t>19:00-21:30</a:t>
            </a:r>
            <a:r>
              <a:rPr lang="zh-CN" altLang="en-US" b="1" u="none">
                <a:solidFill>
                  <a:srgbClr val="FF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b="1" u="none">
                <a:solidFill>
                  <a:srgbClr val="FF0000"/>
                </a:solidFill>
                <a:ea typeface="楷体" panose="02010609060101010101" pitchFamily="49" charset="-122"/>
              </a:rPr>
              <a:t>  </a:t>
            </a:r>
            <a:r>
              <a:rPr lang="zh-CN" altLang="en-US" b="1" u="none">
                <a:solidFill>
                  <a:srgbClr val="FF0000"/>
                </a:solidFill>
                <a:ea typeface="楷体" panose="02010609060101010101" pitchFamily="49" charset="-122"/>
              </a:rPr>
              <a:t> </a:t>
            </a:r>
            <a:endParaRPr lang="zh-CN" altLang="en-US">
              <a:solidFill>
                <a:srgbClr val="FF0000"/>
              </a:solidFill>
            </a:endParaRPr>
          </a:p>
        </p:txBody>
      </p:sp>
      <p:grpSp>
        <p:nvGrpSpPr>
          <p:cNvPr id="11" name="Group 63"/>
          <p:cNvGrpSpPr/>
          <p:nvPr/>
        </p:nvGrpSpPr>
        <p:grpSpPr bwMode="auto">
          <a:xfrm>
            <a:off x="563527" y="3855703"/>
            <a:ext cx="2352675" cy="460423"/>
            <a:chOff x="337" y="1806"/>
            <a:chExt cx="1482" cy="862"/>
          </a:xfrm>
        </p:grpSpPr>
        <p:sp>
          <p:nvSpPr>
            <p:cNvPr id="13" name="Rectangle 38"/>
            <p:cNvSpPr>
              <a:spLocks noChangeArrowheads="1"/>
            </p:cNvSpPr>
            <p:nvPr/>
          </p:nvSpPr>
          <p:spPr bwMode="auto">
            <a:xfrm>
              <a:off x="337" y="1806"/>
              <a:ext cx="598" cy="8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b="1" u="none">
                  <a:solidFill>
                    <a:srgbClr val="0000FF"/>
                  </a:solidFill>
                </a:rPr>
                <a:t>二、  </a:t>
              </a:r>
            </a:p>
          </p:txBody>
        </p:sp>
        <p:sp>
          <p:nvSpPr>
            <p:cNvPr id="14" name="Rectangle 60"/>
            <p:cNvSpPr>
              <a:spLocks noChangeArrowheads="1"/>
            </p:cNvSpPr>
            <p:nvPr/>
          </p:nvSpPr>
          <p:spPr bwMode="auto">
            <a:xfrm>
              <a:off x="723" y="1806"/>
              <a:ext cx="1096" cy="8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b="1" u="none">
                  <a:solidFill>
                    <a:srgbClr val="0000FF"/>
                  </a:solidFill>
                </a:rPr>
                <a:t>答疑（</a:t>
              </a:r>
              <a:r>
                <a:rPr lang="zh-CN" altLang="en-US">
                  <a:solidFill>
                    <a:srgbClr val="FF0000"/>
                  </a:solidFill>
                  <a:ea typeface="楷体" panose="02010609060101010101" pitchFamily="49" charset="-122"/>
                </a:rPr>
                <a:t>拟</a:t>
              </a:r>
              <a:r>
                <a:rPr lang="zh-CN" altLang="en-US" b="1" u="none">
                  <a:solidFill>
                    <a:srgbClr val="0000FF"/>
                  </a:solidFill>
                </a:rPr>
                <a:t>）</a:t>
              </a:r>
              <a:r>
                <a:rPr lang="en-US" altLang="zh-CN" b="1" u="none">
                  <a:solidFill>
                    <a:srgbClr val="0000FF"/>
                  </a:solidFill>
                </a:rPr>
                <a:t>   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884541" y="4192082"/>
            <a:ext cx="6247405" cy="1499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>
                <a:solidFill>
                  <a:srgbClr val="FF0000"/>
                </a:solidFill>
                <a:ea typeface="楷体" panose="02010609060101010101" pitchFamily="49" charset="-122"/>
              </a:rPr>
              <a:t>  </a:t>
            </a:r>
            <a:endParaRPr kumimoji="1" lang="en-US" altLang="zh-CN">
              <a:solidFill>
                <a:srgbClr val="FF0000"/>
              </a:solidFill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>
                <a:solidFill>
                  <a:srgbClr val="FF0000"/>
                </a:solidFill>
                <a:ea typeface="楷体" panose="02010609060101010101" pitchFamily="49" charset="-122"/>
              </a:rPr>
              <a:t>时间：</a:t>
            </a:r>
            <a:r>
              <a:rPr kumimoji="1" lang="en-US" altLang="zh-CN">
                <a:solidFill>
                  <a:srgbClr val="FF0000"/>
                </a:solidFill>
                <a:ea typeface="楷体" panose="02010609060101010101" pitchFamily="49" charset="-122"/>
              </a:rPr>
              <a:t> 2025-01-08   09:00-16:00   </a:t>
            </a:r>
          </a:p>
          <a:p>
            <a:pPr>
              <a:lnSpc>
                <a:spcPct val="150000"/>
              </a:lnSpc>
            </a:pPr>
            <a:r>
              <a:rPr kumimoji="1" lang="zh-CN" altLang="en-US">
                <a:solidFill>
                  <a:srgbClr val="FF0000"/>
                </a:solidFill>
                <a:ea typeface="楷体" panose="02010609060101010101" pitchFamily="49" charset="-122"/>
              </a:rPr>
              <a:t>地点：科技楼南 </a:t>
            </a:r>
            <a:r>
              <a:rPr kumimoji="1" lang="en-US" altLang="zh-CN">
                <a:solidFill>
                  <a:srgbClr val="FF0000"/>
                </a:solidFill>
                <a:ea typeface="楷体" panose="02010609060101010101" pitchFamily="49" charset="-122"/>
              </a:rPr>
              <a:t>706 </a:t>
            </a:r>
            <a:r>
              <a:rPr kumimoji="1" lang="zh-CN" altLang="en-US">
                <a:solidFill>
                  <a:srgbClr val="FF0000"/>
                </a:solidFill>
                <a:ea typeface="楷体" panose="02010609060101010101" pitchFamily="49" charset="-122"/>
              </a:rPr>
              <a:t>会议室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3"/>
          <p:cNvSpPr txBox="1">
            <a:spLocks noChangeArrowheads="1"/>
          </p:cNvSpPr>
          <p:nvPr/>
        </p:nvSpPr>
        <p:spPr bwMode="auto">
          <a:xfrm>
            <a:off x="1283470" y="1278955"/>
            <a:ext cx="42402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b="1" u="none">
                <a:solidFill>
                  <a:srgbClr val="0000FF"/>
                </a:solidFill>
              </a:rPr>
              <a:t>一、判断题  </a:t>
            </a:r>
            <a:r>
              <a:rPr lang="en-US" altLang="zh-CN" b="1" u="none">
                <a:solidFill>
                  <a:srgbClr val="0000FF"/>
                </a:solidFill>
              </a:rPr>
              <a:t>( 10  </a:t>
            </a:r>
            <a:r>
              <a:rPr lang="zh-CN" altLang="en-US" b="1" u="none">
                <a:solidFill>
                  <a:srgbClr val="0000FF"/>
                </a:solidFill>
              </a:rPr>
              <a:t>小题  </a:t>
            </a:r>
            <a:r>
              <a:rPr lang="en-US" altLang="zh-CN" b="1" u="none">
                <a:solidFill>
                  <a:srgbClr val="0000FF"/>
                </a:solidFill>
              </a:rPr>
              <a:t>20</a:t>
            </a:r>
            <a:r>
              <a:rPr lang="zh-CN" altLang="en-US" b="1" u="none">
                <a:solidFill>
                  <a:srgbClr val="0000FF"/>
                </a:solidFill>
              </a:rPr>
              <a:t>分 </a:t>
            </a:r>
            <a:r>
              <a:rPr lang="en-US" altLang="zh-CN" b="1" u="none">
                <a:solidFill>
                  <a:srgbClr val="0000FF"/>
                </a:solidFill>
              </a:rPr>
              <a:t>)</a:t>
            </a:r>
            <a:r>
              <a:rPr lang="zh-CN" altLang="en-US" b="1" u="none">
                <a:solidFill>
                  <a:srgbClr val="0000FF"/>
                </a:solidFill>
              </a:rPr>
              <a:t>  </a:t>
            </a:r>
            <a:endParaRPr lang="zh-CN" altLang="en-US" b="1">
              <a:solidFill>
                <a:srgbClr val="0000FF"/>
              </a:solidFill>
            </a:endParaRPr>
          </a:p>
        </p:txBody>
      </p:sp>
      <p:sp>
        <p:nvSpPr>
          <p:cNvPr id="6" name="Text Box 34"/>
          <p:cNvSpPr txBox="1">
            <a:spLocks noChangeArrowheads="1"/>
          </p:cNvSpPr>
          <p:nvPr/>
        </p:nvSpPr>
        <p:spPr bwMode="auto">
          <a:xfrm>
            <a:off x="1283470" y="1844105"/>
            <a:ext cx="41729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b="1" u="none">
                <a:solidFill>
                  <a:srgbClr val="0000FF"/>
                </a:solidFill>
              </a:rPr>
              <a:t>二、填空题  </a:t>
            </a:r>
            <a:r>
              <a:rPr lang="en-US" altLang="zh-CN">
                <a:solidFill>
                  <a:srgbClr val="0000FF"/>
                </a:solidFill>
              </a:rPr>
              <a:t>( 10  </a:t>
            </a:r>
            <a:r>
              <a:rPr lang="zh-CN" altLang="en-US">
                <a:solidFill>
                  <a:srgbClr val="0000FF"/>
                </a:solidFill>
              </a:rPr>
              <a:t>小题  </a:t>
            </a:r>
            <a:r>
              <a:rPr lang="en-US" altLang="zh-CN">
                <a:solidFill>
                  <a:srgbClr val="0000FF"/>
                </a:solidFill>
              </a:rPr>
              <a:t>30</a:t>
            </a:r>
            <a:r>
              <a:rPr lang="zh-CN" altLang="en-US">
                <a:solidFill>
                  <a:srgbClr val="0000FF"/>
                </a:solidFill>
              </a:rPr>
              <a:t>分 </a:t>
            </a:r>
            <a:r>
              <a:rPr lang="en-US" altLang="zh-CN" b="1" u="none">
                <a:solidFill>
                  <a:srgbClr val="0000FF"/>
                </a:solidFill>
              </a:rPr>
              <a:t>)</a:t>
            </a:r>
            <a:r>
              <a:rPr lang="zh-CN" altLang="en-US" b="1" u="none">
                <a:solidFill>
                  <a:srgbClr val="0000FF"/>
                </a:solidFill>
              </a:rPr>
              <a:t> </a:t>
            </a:r>
            <a:endParaRPr lang="zh-CN" altLang="en-US" b="1">
              <a:solidFill>
                <a:srgbClr val="0000FF"/>
              </a:solidFill>
            </a:endParaRPr>
          </a:p>
        </p:txBody>
      </p:sp>
      <p:sp>
        <p:nvSpPr>
          <p:cNvPr id="7" name="Rectangle 42"/>
          <p:cNvSpPr>
            <a:spLocks noChangeArrowheads="1"/>
          </p:cNvSpPr>
          <p:nvPr/>
        </p:nvSpPr>
        <p:spPr bwMode="auto">
          <a:xfrm>
            <a:off x="258240" y="560171"/>
            <a:ext cx="86275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360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考试题型  </a:t>
            </a:r>
          </a:p>
        </p:txBody>
      </p: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1280295" y="2453136"/>
            <a:ext cx="41132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u="none">
                <a:solidFill>
                  <a:srgbClr val="0000FF"/>
                </a:solidFill>
              </a:rPr>
              <a:t>三、计算题  </a:t>
            </a:r>
            <a:r>
              <a:rPr lang="en-US" altLang="zh-CN">
                <a:solidFill>
                  <a:srgbClr val="0000FF"/>
                </a:solidFill>
              </a:rPr>
              <a:t>(  5   </a:t>
            </a:r>
            <a:r>
              <a:rPr lang="zh-CN" altLang="en-US">
                <a:solidFill>
                  <a:srgbClr val="0000FF"/>
                </a:solidFill>
              </a:rPr>
              <a:t>大题  </a:t>
            </a:r>
            <a:r>
              <a:rPr lang="en-US" altLang="zh-CN">
                <a:solidFill>
                  <a:srgbClr val="0000FF"/>
                </a:solidFill>
              </a:rPr>
              <a:t>40</a:t>
            </a:r>
            <a:r>
              <a:rPr lang="zh-CN" altLang="en-US">
                <a:solidFill>
                  <a:srgbClr val="0000FF"/>
                </a:solidFill>
              </a:rPr>
              <a:t>分 </a:t>
            </a:r>
            <a:r>
              <a:rPr lang="en-US" altLang="zh-CN" b="1" u="none">
                <a:solidFill>
                  <a:srgbClr val="0000FF"/>
                </a:solidFill>
              </a:rPr>
              <a:t>)</a:t>
            </a:r>
            <a:endParaRPr lang="zh-CN" altLang="en-US" b="1" u="none">
              <a:solidFill>
                <a:srgbClr val="0000FF"/>
              </a:solidFill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282527" y="5535209"/>
            <a:ext cx="572295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1" i="0" u="none" strike="noStrike" kern="0" cap="none" spc="0" normalizeH="0" baseline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defRPr>
            </a:lvl1pPr>
          </a:lstStyle>
          <a:p>
            <a:r>
              <a:rPr kumimoji="1" lang="zh-CN" altLang="en-US" sz="2400" kern="1200">
                <a:ea typeface="宋体" panose="02010600030101010101" pitchFamily="2" charset="-122"/>
              </a:rPr>
              <a:t>四、 证明题  </a:t>
            </a:r>
            <a:r>
              <a:rPr kumimoji="1" lang="en-US" altLang="zh-CN" sz="2400" kern="1200">
                <a:ea typeface="宋体" panose="02010600030101010101" pitchFamily="2" charset="-122"/>
              </a:rPr>
              <a:t>(  1  </a:t>
            </a:r>
            <a:r>
              <a:rPr kumimoji="1" lang="zh-CN" altLang="en-US" sz="2400" kern="1200">
                <a:ea typeface="宋体" panose="02010600030101010101" pitchFamily="2" charset="-122"/>
              </a:rPr>
              <a:t>大题  </a:t>
            </a:r>
            <a:r>
              <a:rPr kumimoji="1" lang="en-US" altLang="zh-CN" sz="2400" kern="1200">
                <a:ea typeface="宋体" panose="02010600030101010101" pitchFamily="2" charset="-122"/>
              </a:rPr>
              <a:t>10</a:t>
            </a:r>
            <a:r>
              <a:rPr kumimoji="1" lang="zh-CN" altLang="en-US" sz="2400" kern="1200">
                <a:ea typeface="宋体" panose="02010600030101010101" pitchFamily="2" charset="-122"/>
              </a:rPr>
              <a:t>分 </a:t>
            </a:r>
            <a:r>
              <a:rPr kumimoji="1" lang="en-US" altLang="zh-CN" sz="2400" kern="1200">
                <a:ea typeface="宋体" panose="02010600030101010101" pitchFamily="2" charset="-122"/>
              </a:rPr>
              <a:t>)</a:t>
            </a:r>
            <a:endParaRPr kumimoji="1" lang="zh-CN" altLang="en-US" sz="2400" kern="1200">
              <a:ea typeface="宋体" panose="02010600030101010101" pitchFamily="2" charset="-122"/>
            </a:endParaRPr>
          </a:p>
        </p:txBody>
      </p:sp>
      <p:grpSp>
        <p:nvGrpSpPr>
          <p:cNvPr id="10" name="Group 28"/>
          <p:cNvGrpSpPr/>
          <p:nvPr/>
        </p:nvGrpSpPr>
        <p:grpSpPr bwMode="auto">
          <a:xfrm>
            <a:off x="3656718" y="3099397"/>
            <a:ext cx="5170488" cy="2124076"/>
            <a:chOff x="1629" y="1373"/>
            <a:chExt cx="3257" cy="1338"/>
          </a:xfrm>
        </p:grpSpPr>
        <p:sp>
          <p:nvSpPr>
            <p:cNvPr id="13" name="Text Box 19"/>
            <p:cNvSpPr txBox="1">
              <a:spLocks noChangeArrowheads="1"/>
            </p:cNvSpPr>
            <p:nvPr/>
          </p:nvSpPr>
          <p:spPr bwMode="auto">
            <a:xfrm>
              <a:off x="1630" y="1373"/>
              <a:ext cx="22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Blip>
                  <a:blip r:embed="rId2"/>
                </a:buBlip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 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矩阵论</a:t>
              </a:r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1629" y="1918"/>
              <a:ext cx="325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Blip>
                  <a:blip r:embed="rId2"/>
                </a:buBlip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 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数值分析</a:t>
              </a:r>
            </a:p>
          </p:txBody>
        </p:sp>
        <p:sp>
          <p:nvSpPr>
            <p:cNvPr id="18" name="Rectangle 22"/>
            <p:cNvSpPr>
              <a:spLocks noChangeArrowheads="1"/>
            </p:cNvSpPr>
            <p:nvPr/>
          </p:nvSpPr>
          <p:spPr bwMode="auto">
            <a:xfrm>
              <a:off x="1630" y="2459"/>
              <a:ext cx="260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Blip>
                  <a:blip r:embed="rId2"/>
                </a:buBlip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 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数理统计</a:t>
              </a: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8576" y="436044"/>
            <a:ext cx="86468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3200">
                <a:solidFill>
                  <a:srgbClr val="A31221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第一部分：矩阵论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AA630F-6760-49CA-BE37-0CDCF5B48F96}"/>
              </a:ext>
            </a:extLst>
          </p:cNvPr>
          <p:cNvSpPr/>
          <p:nvPr/>
        </p:nvSpPr>
        <p:spPr>
          <a:xfrm>
            <a:off x="332912" y="1199838"/>
            <a:ext cx="8478176" cy="5012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/>
              <a:t> 线性空间与线性变换，线性组合，线性相关与线性无关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/>
              <a:t> 线性空间的基底，维数，坐标，基底之间的变换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/>
              <a:t> 子空间，子空间的运算，不变子空间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/>
              <a:t> 线性变换，线性变换的矩阵表示，线性变换的核与值域，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/>
              <a:t> 线性变换的对角阵表示， 线性变换的特征子空间，</a:t>
            </a:r>
            <a:endParaRPr lang="en-US" altLang="zh-CN" b="0"/>
          </a:p>
          <a:p>
            <a:pPr>
              <a:lnSpc>
                <a:spcPct val="150000"/>
              </a:lnSpc>
            </a:pPr>
            <a:r>
              <a:rPr lang="zh-CN" altLang="en-US" b="0"/>
              <a:t>     线性变换的对角化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0"/>
              <a:t>Jordan</a:t>
            </a:r>
            <a:r>
              <a:rPr lang="zh-CN" altLang="en-US" b="0"/>
              <a:t>阵，最小多项式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/>
              <a:t>矩阵的分解：三角分解，满秩分解，</a:t>
            </a:r>
            <a:r>
              <a:rPr lang="en-US" altLang="zh-CN" b="0"/>
              <a:t>UR</a:t>
            </a:r>
            <a:r>
              <a:rPr lang="zh-CN" altLang="en-US" b="0"/>
              <a:t>分解，</a:t>
            </a:r>
            <a:r>
              <a:rPr lang="en-US" altLang="zh-CN" b="0"/>
              <a:t>SVD</a:t>
            </a:r>
            <a:r>
              <a:rPr lang="zh-CN" altLang="en-US" b="0"/>
              <a:t>分解，</a:t>
            </a:r>
          </a:p>
          <a:p>
            <a:pPr>
              <a:lnSpc>
                <a:spcPct val="150000"/>
              </a:lnSpc>
            </a:pPr>
            <a:r>
              <a:rPr lang="zh-CN" altLang="en-US" b="0"/>
              <a:t>    正规矩阵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8576" y="436044"/>
            <a:ext cx="86468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3200">
                <a:solidFill>
                  <a:srgbClr val="A31221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第二部分：数值分析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A5FE142-DC52-426E-BE70-0EDA2BF949AE}"/>
                  </a:ext>
                </a:extLst>
              </p:cNvPr>
              <p:cNvSpPr/>
              <p:nvPr/>
            </p:nvSpPr>
            <p:spPr>
              <a:xfrm>
                <a:off x="18212" y="1410007"/>
                <a:ext cx="9125788" cy="39048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0"/>
                  <a:t>线性方程组的解法：</a:t>
                </a:r>
                <a:r>
                  <a:rPr lang="en-US" altLang="zh-CN" b="0"/>
                  <a:t>Gauss</a:t>
                </a:r>
                <a:r>
                  <a:rPr lang="zh-CN" altLang="en-US" b="0"/>
                  <a:t>消元法，</a:t>
                </a:r>
                <a:r>
                  <a:rPr lang="en-US" altLang="zh-CN" b="0"/>
                  <a:t>LU</a:t>
                </a:r>
                <a:r>
                  <a:rPr lang="zh-CN" altLang="en-US" b="0"/>
                  <a:t>分解，</a:t>
                </a:r>
                <a:r>
                  <a:rPr lang="en-US" altLang="zh-CN" b="0"/>
                  <a:t>Cholesky</a:t>
                </a:r>
                <a:r>
                  <a:rPr lang="zh-CN" altLang="en-US" b="0"/>
                  <a:t>分解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0"/>
                  <a:t>误差分析，条件数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0"/>
                  <a:t>迭代法：</a:t>
                </a:r>
                <a:r>
                  <a:rPr lang="en-US" altLang="zh-CN" b="0"/>
                  <a:t>Jacobi </a:t>
                </a:r>
                <a:r>
                  <a:rPr lang="zh-CN" altLang="en-US" b="0"/>
                  <a:t>迭代，</a:t>
                </a:r>
                <a:r>
                  <a:rPr lang="en-US" altLang="zh-CN" b="0"/>
                  <a:t>Gauss-Seidel</a:t>
                </a:r>
                <a:r>
                  <a:rPr lang="zh-CN" altLang="en-US" b="0"/>
                  <a:t>迭代，迭代法的收敛分析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0"/>
                  <a:t>非线性方程迭代求根；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b="0"/>
                  <a:t>阶收敛，</a:t>
                </a:r>
                <a:r>
                  <a:rPr lang="en-US" altLang="zh-CN" b="0"/>
                  <a:t>Newton</a:t>
                </a:r>
                <a:r>
                  <a:rPr lang="zh-CN" altLang="en-US" b="0"/>
                  <a:t>迭代法；</a:t>
                </a:r>
                <a:r>
                  <a:rPr lang="en-US" altLang="zh-CN" b="0"/>
                  <a:t>Newton</a:t>
                </a:r>
                <a:r>
                  <a:rPr lang="zh-CN" altLang="en-US" b="0"/>
                  <a:t>弦截法</a:t>
                </a:r>
                <a:endParaRPr lang="en-US" altLang="zh-CN" b="0"/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0"/>
                  <a:t>插值法：</a:t>
                </a:r>
                <a:r>
                  <a:rPr lang="en-US" altLang="zh-CN" b="0"/>
                  <a:t>Lagrange </a:t>
                </a:r>
                <a:r>
                  <a:rPr lang="zh-CN" altLang="en-US" b="0"/>
                  <a:t>插值，</a:t>
                </a:r>
                <a:r>
                  <a:rPr lang="en-US" altLang="zh-CN" b="0"/>
                  <a:t>Newton</a:t>
                </a:r>
                <a:r>
                  <a:rPr lang="zh-CN" altLang="en-US" b="0"/>
                  <a:t>插值，等距节点</a:t>
                </a:r>
                <a:r>
                  <a:rPr lang="en-US" altLang="zh-CN" b="0"/>
                  <a:t>Newton</a:t>
                </a:r>
                <a:r>
                  <a:rPr lang="zh-CN" altLang="en-US" b="0"/>
                  <a:t>插值，</a:t>
                </a:r>
                <a:r>
                  <a:rPr lang="en-US" altLang="zh-CN" b="0"/>
                  <a:t>Hermite</a:t>
                </a:r>
                <a:r>
                  <a:rPr lang="zh-CN" altLang="en-US" b="0"/>
                  <a:t>插值，龙格现象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0"/>
                  <a:t> 带权内积，最佳二次（平方）逼近，正交多项式</a:t>
                </a:r>
                <a:endParaRPr lang="en-US" altLang="zh-CN" b="0"/>
              </a:p>
            </p:txBody>
          </p:sp>
        </mc:Choice>
        <mc:Fallback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A5FE142-DC52-426E-BE70-0EDA2BF949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2" y="1410007"/>
                <a:ext cx="9125788" cy="3904852"/>
              </a:xfrm>
              <a:prstGeom prst="rect">
                <a:avLst/>
              </a:prstGeom>
              <a:blipFill>
                <a:blip r:embed="rId2"/>
                <a:stretch>
                  <a:fillRect l="-935" b="-26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8576" y="436044"/>
            <a:ext cx="86468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3200">
                <a:solidFill>
                  <a:srgbClr val="A31221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第二部分：数值分析</a:t>
            </a:r>
            <a:r>
              <a:rPr lang="en-US" altLang="zh-CN" sz="3200">
                <a:solidFill>
                  <a:srgbClr val="A31221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-</a:t>
            </a:r>
            <a:r>
              <a:rPr lang="zh-CN" altLang="en-US" sz="3200">
                <a:solidFill>
                  <a:srgbClr val="A31221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续</a:t>
            </a:r>
          </a:p>
        </p:txBody>
      </p:sp>
      <p:sp>
        <p:nvSpPr>
          <p:cNvPr id="8" name="Rectangle 82"/>
          <p:cNvSpPr/>
          <p:nvPr/>
        </p:nvSpPr>
        <p:spPr>
          <a:xfrm>
            <a:off x="6458788" y="90435"/>
            <a:ext cx="2667000" cy="304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</a:rPr>
              <a:t>第二部分：数值分析</a:t>
            </a:r>
            <a:endParaRPr lang="en-US" altLang="zh-CN" sz="1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5FE142-DC52-426E-BE70-0EDA2BF949AE}"/>
              </a:ext>
            </a:extLst>
          </p:cNvPr>
          <p:cNvSpPr/>
          <p:nvPr/>
        </p:nvSpPr>
        <p:spPr>
          <a:xfrm>
            <a:off x="488273" y="1186364"/>
            <a:ext cx="8273987" cy="5012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/>
              <a:t>曲线拟合的最小二乘法，正交多项式的最佳二次逼近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/>
              <a:t> 梯形，</a:t>
            </a:r>
            <a:r>
              <a:rPr lang="en-US" altLang="zh-CN" b="0"/>
              <a:t>Simpson</a:t>
            </a:r>
            <a:r>
              <a:rPr lang="zh-CN" altLang="en-US" b="0"/>
              <a:t>积分公式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/>
              <a:t> 插值型求积公式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/>
              <a:t> 求积公式的收敛性与稳定性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/>
              <a:t> </a:t>
            </a:r>
            <a:r>
              <a:rPr lang="en-US" altLang="zh-CN" b="0"/>
              <a:t>Newton-Cotes</a:t>
            </a:r>
            <a:r>
              <a:rPr lang="zh-CN" altLang="en-US" b="0"/>
              <a:t>求积公式</a:t>
            </a:r>
            <a:endParaRPr lang="en-US" altLang="zh-CN" b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0"/>
              <a:t>Euler </a:t>
            </a:r>
            <a:r>
              <a:rPr lang="zh-CN" altLang="en-US" b="0"/>
              <a:t>格式求</a:t>
            </a:r>
            <a:r>
              <a:rPr lang="en-US" altLang="zh-CN" b="0"/>
              <a:t>ODE</a:t>
            </a:r>
            <a:r>
              <a:rPr lang="zh-CN" altLang="en-US" b="0"/>
              <a:t>，改进</a:t>
            </a:r>
            <a:r>
              <a:rPr lang="en-US" altLang="zh-CN" b="0"/>
              <a:t>Euler</a:t>
            </a:r>
            <a:r>
              <a:rPr lang="zh-CN" altLang="en-US" b="0"/>
              <a:t>法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0"/>
              <a:t>ODE</a:t>
            </a:r>
            <a:r>
              <a:rPr lang="zh-CN" altLang="en-US" b="0"/>
              <a:t>数值求解的误差与计算精度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0"/>
              <a:t>Runge-Kutta</a:t>
            </a:r>
            <a:r>
              <a:rPr lang="zh-CN" altLang="en-US" b="0"/>
              <a:t>方法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0"/>
              <a:t>ODE</a:t>
            </a:r>
            <a:r>
              <a:rPr lang="zh-CN" altLang="en-US" b="0"/>
              <a:t>单步法的收敛性与稳定性</a:t>
            </a:r>
          </a:p>
        </p:txBody>
      </p:sp>
    </p:spTree>
    <p:extLst>
      <p:ext uri="{BB962C8B-B14F-4D97-AF65-F5344CB8AC3E}">
        <p14:creationId xmlns:p14="http://schemas.microsoft.com/office/powerpoint/2010/main" val="47827983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0059" y="410694"/>
            <a:ext cx="86322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 eaLnBrk="0" hangingPunct="0"/>
            <a:r>
              <a:rPr lang="zh-CN" altLang="en-US" sz="3200">
                <a:solidFill>
                  <a:srgbClr val="A31221"/>
                </a:solidFill>
                <a:latin typeface="Arial" panose="020B0604020202020204" pitchFamily="34" charset="0"/>
                <a:ea typeface="隶书" panose="02010509060101010101" pitchFamily="49" charset="-122"/>
                <a:cs typeface="Arial" panose="020B0604020202020204" pitchFamily="34" charset="0"/>
              </a:rPr>
              <a:t>第三部分：数理统计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62F65A0-7573-4A10-BADD-A7D0D693581C}"/>
                  </a:ext>
                </a:extLst>
              </p:cNvPr>
              <p:cNvSpPr/>
              <p:nvPr/>
            </p:nvSpPr>
            <p:spPr>
              <a:xfrm>
                <a:off x="0" y="1324823"/>
                <a:ext cx="9081855" cy="40386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0">
                    <a:latin typeface="+mn-lt"/>
                  </a:rPr>
                  <a:t>样本及抽样，经验函数，统计量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0">
                    <a:latin typeface="+mn-lt"/>
                  </a:rPr>
                  <a:t>抽样分布，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b="0">
                    <a:latin typeface="+mn-lt"/>
                  </a:rPr>
                  <a:t> 分布，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+mn-lt"/>
                      </a:rPr>
                      <m:t>𝑡</m:t>
                    </m:r>
                  </m:oMath>
                </a14:m>
                <a:r>
                  <a:rPr lang="zh-CN" altLang="en-US" b="0">
                    <a:latin typeface="+mn-lt"/>
                  </a:rPr>
                  <a:t> 分布，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+mn-lt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0">
                    <a:latin typeface="+mn-lt"/>
                  </a:rPr>
                  <a:t>分布，分位数，抽样分布定理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0">
                    <a:latin typeface="+mn-lt"/>
                  </a:rPr>
                  <a:t>参数估计：矩估计，极大似然估计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0">
                    <a:latin typeface="+mn-lt"/>
                  </a:rPr>
                  <a:t>估计量的评选标准：无偏性，有效性，</a:t>
                </a:r>
                <a:r>
                  <a:rPr lang="en-US" altLang="zh-CN" b="0">
                    <a:latin typeface="+mn-lt"/>
                  </a:rPr>
                  <a:t>Rao-Cramer</a:t>
                </a:r>
                <a:r>
                  <a:rPr lang="zh-CN" altLang="en-US" b="0">
                    <a:latin typeface="+mn-lt"/>
                  </a:rPr>
                  <a:t>定理，一致性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0">
                    <a:latin typeface="+mn-lt"/>
                  </a:rPr>
                  <a:t>单个正态总体的均值，方差区间估计：双侧置信区间，单侧置信区间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0">
                    <a:latin typeface="+mn-lt"/>
                  </a:rPr>
                  <a:t>假设检验：单一正态总体的均值，方差的假设检验（单侧，双侧）</a:t>
                </a:r>
              </a:p>
            </p:txBody>
          </p:sp>
        </mc:Choice>
        <mc:Fallback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62F65A0-7573-4A10-BADD-A7D0D69358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24823"/>
                <a:ext cx="9081855" cy="4038670"/>
              </a:xfrm>
              <a:prstGeom prst="rect">
                <a:avLst/>
              </a:prstGeom>
              <a:blipFill>
                <a:blip r:embed="rId2"/>
                <a:stretch>
                  <a:fillRect l="-872" r="-4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938" y="6349655"/>
            <a:ext cx="170703" cy="243861"/>
          </a:xfrm>
          <a:prstGeom prst="rect">
            <a:avLst/>
          </a:prstGeom>
        </p:spPr>
      </p:pic>
      <p:pic>
        <p:nvPicPr>
          <p:cNvPr id="7" name="Picture 26" descr="aa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22" y="548922"/>
            <a:ext cx="8677275" cy="5750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8d14056-e658-41a5-80b1-d2d628a2c852"/>
  <p:tag name="COMMONDATA" val="eyJoZGlkIjoiZDBkNzNjNmIyZjNjZGZhYmQxMjc3YWJlZDI5MmQzMWMifQ=="/>
</p:tagLst>
</file>

<file path=ppt/theme/theme1.xml><?xml version="1.0" encoding="utf-8"?>
<a:theme xmlns:a="http://schemas.openxmlformats.org/drawingml/2006/main" name="2_004">
  <a:themeElements>
    <a:clrScheme name="2_004 5">
      <a:dk1>
        <a:srgbClr val="000000"/>
      </a:dk1>
      <a:lt1>
        <a:srgbClr val="FFFFFF"/>
      </a:lt1>
      <a:dk2>
        <a:srgbClr val="000000"/>
      </a:dk2>
      <a:lt2>
        <a:srgbClr val="4D4D4D"/>
      </a:lt2>
      <a:accent1>
        <a:srgbClr val="336699"/>
      </a:accent1>
      <a:accent2>
        <a:srgbClr val="FFC94E"/>
      </a:accent2>
      <a:accent3>
        <a:srgbClr val="FFFFFF"/>
      </a:accent3>
      <a:accent4>
        <a:srgbClr val="000000"/>
      </a:accent4>
      <a:accent5>
        <a:srgbClr val="ADB8CA"/>
      </a:accent5>
      <a:accent6>
        <a:srgbClr val="E7B646"/>
      </a:accent6>
      <a:hlink>
        <a:srgbClr val="005F94"/>
      </a:hlink>
      <a:folHlink>
        <a:srgbClr val="526400"/>
      </a:folHlink>
    </a:clrScheme>
    <a:fontScheme name="2_004">
      <a:majorFont>
        <a:latin typeface="华文细黑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2_004 1">
        <a:dk1>
          <a:srgbClr val="000000"/>
        </a:dk1>
        <a:lt1>
          <a:srgbClr val="FFFFFF"/>
        </a:lt1>
        <a:dk2>
          <a:srgbClr val="A31221"/>
        </a:dk2>
        <a:lt2>
          <a:srgbClr val="E48518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04 2">
        <a:dk1>
          <a:srgbClr val="000000"/>
        </a:dk1>
        <a:lt1>
          <a:srgbClr val="FFFFFF"/>
        </a:lt1>
        <a:dk2>
          <a:srgbClr val="A31221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04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04 4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04 5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336699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ADB8CA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004">
  <a:themeElements>
    <a:clrScheme name="4_004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FFC94E"/>
      </a:accent2>
      <a:accent3>
        <a:srgbClr val="FFFFFF"/>
      </a:accent3>
      <a:accent4>
        <a:srgbClr val="000000"/>
      </a:accent4>
      <a:accent5>
        <a:srgbClr val="FFFFFF"/>
      </a:accent5>
      <a:accent6>
        <a:srgbClr val="E7B646"/>
      </a:accent6>
      <a:hlink>
        <a:srgbClr val="005F94"/>
      </a:hlink>
      <a:folHlink>
        <a:srgbClr val="526400"/>
      </a:folHlink>
    </a:clrScheme>
    <a:fontScheme name="4_004">
      <a:majorFont>
        <a:latin typeface="华文细黑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4_004 1">
        <a:dk1>
          <a:srgbClr val="000000"/>
        </a:dk1>
        <a:lt1>
          <a:srgbClr val="FFFFFF"/>
        </a:lt1>
        <a:dk2>
          <a:srgbClr val="A31221"/>
        </a:dk2>
        <a:lt2>
          <a:srgbClr val="E48518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004 2">
        <a:dk1>
          <a:srgbClr val="000000"/>
        </a:dk1>
        <a:lt1>
          <a:srgbClr val="FFFFFF"/>
        </a:lt1>
        <a:dk2>
          <a:srgbClr val="A31221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004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004 4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004 5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336699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ADB8CA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004">
  <a:themeElements>
    <a:clrScheme name="5_004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FFC94E"/>
      </a:accent2>
      <a:accent3>
        <a:srgbClr val="FFFFFF"/>
      </a:accent3>
      <a:accent4>
        <a:srgbClr val="000000"/>
      </a:accent4>
      <a:accent5>
        <a:srgbClr val="FFFFFF"/>
      </a:accent5>
      <a:accent6>
        <a:srgbClr val="E7B646"/>
      </a:accent6>
      <a:hlink>
        <a:srgbClr val="005F94"/>
      </a:hlink>
      <a:folHlink>
        <a:srgbClr val="526400"/>
      </a:folHlink>
    </a:clrScheme>
    <a:fontScheme name="5_004">
      <a:majorFont>
        <a:latin typeface="华文细黑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5_004 1">
        <a:dk1>
          <a:srgbClr val="000000"/>
        </a:dk1>
        <a:lt1>
          <a:srgbClr val="FFFFFF"/>
        </a:lt1>
        <a:dk2>
          <a:srgbClr val="A31221"/>
        </a:dk2>
        <a:lt2>
          <a:srgbClr val="E48518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004 2">
        <a:dk1>
          <a:srgbClr val="000000"/>
        </a:dk1>
        <a:lt1>
          <a:srgbClr val="FFFFFF"/>
        </a:lt1>
        <a:dk2>
          <a:srgbClr val="A31221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004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004 4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004 5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336699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ADB8CA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004">
  <a:themeElements>
    <a:clrScheme name="6_004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FFC94E"/>
      </a:accent2>
      <a:accent3>
        <a:srgbClr val="FFFFFF"/>
      </a:accent3>
      <a:accent4>
        <a:srgbClr val="000000"/>
      </a:accent4>
      <a:accent5>
        <a:srgbClr val="FFFFFF"/>
      </a:accent5>
      <a:accent6>
        <a:srgbClr val="E7B646"/>
      </a:accent6>
      <a:hlink>
        <a:srgbClr val="005F94"/>
      </a:hlink>
      <a:folHlink>
        <a:srgbClr val="526400"/>
      </a:folHlink>
    </a:clrScheme>
    <a:fontScheme name="6_004">
      <a:majorFont>
        <a:latin typeface="华文细黑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6_004 1">
        <a:dk1>
          <a:srgbClr val="000000"/>
        </a:dk1>
        <a:lt1>
          <a:srgbClr val="FFFFFF"/>
        </a:lt1>
        <a:dk2>
          <a:srgbClr val="A31221"/>
        </a:dk2>
        <a:lt2>
          <a:srgbClr val="E48518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004 2">
        <a:dk1>
          <a:srgbClr val="000000"/>
        </a:dk1>
        <a:lt1>
          <a:srgbClr val="FFFFFF"/>
        </a:lt1>
        <a:dk2>
          <a:srgbClr val="A31221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004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004 4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004 5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336699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ADB8CA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004">
  <a:themeElements>
    <a:clrScheme name="7_004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FFC94E"/>
      </a:accent2>
      <a:accent3>
        <a:srgbClr val="FFFFFF"/>
      </a:accent3>
      <a:accent4>
        <a:srgbClr val="000000"/>
      </a:accent4>
      <a:accent5>
        <a:srgbClr val="FFFFFF"/>
      </a:accent5>
      <a:accent6>
        <a:srgbClr val="E7B646"/>
      </a:accent6>
      <a:hlink>
        <a:srgbClr val="005F94"/>
      </a:hlink>
      <a:folHlink>
        <a:srgbClr val="526400"/>
      </a:folHlink>
    </a:clrScheme>
    <a:fontScheme name="7_004">
      <a:majorFont>
        <a:latin typeface="华文细黑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7_004 1">
        <a:dk1>
          <a:srgbClr val="000000"/>
        </a:dk1>
        <a:lt1>
          <a:srgbClr val="FFFFFF"/>
        </a:lt1>
        <a:dk2>
          <a:srgbClr val="A31221"/>
        </a:dk2>
        <a:lt2>
          <a:srgbClr val="E48518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004 2">
        <a:dk1>
          <a:srgbClr val="000000"/>
        </a:dk1>
        <a:lt1>
          <a:srgbClr val="FFFFFF"/>
        </a:lt1>
        <a:dk2>
          <a:srgbClr val="A31221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004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004 4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004 5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336699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ADB8CA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8_004">
  <a:themeElements>
    <a:clrScheme name="8_004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FFC94E"/>
      </a:accent2>
      <a:accent3>
        <a:srgbClr val="FFFFFF"/>
      </a:accent3>
      <a:accent4>
        <a:srgbClr val="000000"/>
      </a:accent4>
      <a:accent5>
        <a:srgbClr val="FFFFFF"/>
      </a:accent5>
      <a:accent6>
        <a:srgbClr val="E7B646"/>
      </a:accent6>
      <a:hlink>
        <a:srgbClr val="005F94"/>
      </a:hlink>
      <a:folHlink>
        <a:srgbClr val="526400"/>
      </a:folHlink>
    </a:clrScheme>
    <a:fontScheme name="8_004">
      <a:majorFont>
        <a:latin typeface="华文细黑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8_004 1">
        <a:dk1>
          <a:srgbClr val="000000"/>
        </a:dk1>
        <a:lt1>
          <a:srgbClr val="FFFFFF"/>
        </a:lt1>
        <a:dk2>
          <a:srgbClr val="A31221"/>
        </a:dk2>
        <a:lt2>
          <a:srgbClr val="E48518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004 2">
        <a:dk1>
          <a:srgbClr val="000000"/>
        </a:dk1>
        <a:lt1>
          <a:srgbClr val="FFFFFF"/>
        </a:lt1>
        <a:dk2>
          <a:srgbClr val="A31221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004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004 4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004 5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336699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ADB8CA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9_004">
  <a:themeElements>
    <a:clrScheme name="9_004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FFC94E"/>
      </a:accent2>
      <a:accent3>
        <a:srgbClr val="FFFFFF"/>
      </a:accent3>
      <a:accent4>
        <a:srgbClr val="000000"/>
      </a:accent4>
      <a:accent5>
        <a:srgbClr val="FFFFFF"/>
      </a:accent5>
      <a:accent6>
        <a:srgbClr val="E7B646"/>
      </a:accent6>
      <a:hlink>
        <a:srgbClr val="005F94"/>
      </a:hlink>
      <a:folHlink>
        <a:srgbClr val="526400"/>
      </a:folHlink>
    </a:clrScheme>
    <a:fontScheme name="9_004">
      <a:majorFont>
        <a:latin typeface="华文细黑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9_004 1">
        <a:dk1>
          <a:srgbClr val="000000"/>
        </a:dk1>
        <a:lt1>
          <a:srgbClr val="FFFFFF"/>
        </a:lt1>
        <a:dk2>
          <a:srgbClr val="A31221"/>
        </a:dk2>
        <a:lt2>
          <a:srgbClr val="E48518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004 2">
        <a:dk1>
          <a:srgbClr val="000000"/>
        </a:dk1>
        <a:lt1>
          <a:srgbClr val="FFFFFF"/>
        </a:lt1>
        <a:dk2>
          <a:srgbClr val="A31221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004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AC4A8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E1DED1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004 4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004 5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336699"/>
        </a:accent1>
        <a:accent2>
          <a:srgbClr val="FFC94E"/>
        </a:accent2>
        <a:accent3>
          <a:srgbClr val="FFFFFF"/>
        </a:accent3>
        <a:accent4>
          <a:srgbClr val="000000"/>
        </a:accent4>
        <a:accent5>
          <a:srgbClr val="ADB8CA"/>
        </a:accent5>
        <a:accent6>
          <a:srgbClr val="E7B646"/>
        </a:accent6>
        <a:hlink>
          <a:srgbClr val="005F94"/>
        </a:hlink>
        <a:folHlink>
          <a:srgbClr val="5264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Profile">
  <a:themeElements>
    <a:clrScheme name="1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1_Profile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425</Words>
  <Application>Microsoft Office PowerPoint</Application>
  <PresentationFormat>全屏显示(4:3)</PresentationFormat>
  <Paragraphs>56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2" baseType="lpstr">
      <vt:lpstr>仿宋</vt:lpstr>
      <vt:lpstr>黑体</vt:lpstr>
      <vt:lpstr>华文细黑</vt:lpstr>
      <vt:lpstr>华文新魏</vt:lpstr>
      <vt:lpstr>华文行楷</vt:lpstr>
      <vt:lpstr>楷体</vt:lpstr>
      <vt:lpstr>楷体_GB2312</vt:lpstr>
      <vt:lpstr>隶书</vt:lpstr>
      <vt:lpstr>宋体</vt:lpstr>
      <vt:lpstr>Arial</vt:lpstr>
      <vt:lpstr>Cambria Math</vt:lpstr>
      <vt:lpstr>Tahoma</vt:lpstr>
      <vt:lpstr>Times New Roman</vt:lpstr>
      <vt:lpstr>Verdana</vt:lpstr>
      <vt:lpstr>Wingdings</vt:lpstr>
      <vt:lpstr>Wingdings 3</vt:lpstr>
      <vt:lpstr>2_004</vt:lpstr>
      <vt:lpstr>4_004</vt:lpstr>
      <vt:lpstr>5_004</vt:lpstr>
      <vt:lpstr>6_004</vt:lpstr>
      <vt:lpstr>7_004</vt:lpstr>
      <vt:lpstr>8_004</vt:lpstr>
      <vt:lpstr>9_004</vt:lpstr>
      <vt:lpstr>3_Profile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ZHLu</dc:creator>
  <cp:lastModifiedBy>Shi</cp:lastModifiedBy>
  <cp:revision>720</cp:revision>
  <dcterms:created xsi:type="dcterms:W3CDTF">2113-01-01T00:00:00Z</dcterms:created>
  <dcterms:modified xsi:type="dcterms:W3CDTF">2025-12-23T14:16:23Z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0696717D5FE84E5FA64CB3EF9A6D93F4</vt:lpwstr>
  </property>
  <property fmtid="{D5CDD505-2E9C-101B-9397-08002B2CF9AE}" pid="3" name="KSOProductBuildVer">
    <vt:lpwstr>2052-12.1.0.19302</vt:lpwstr>
  </property>
</Properties>
</file>